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7"/>
  </p:notesMasterIdLst>
  <p:handoutMasterIdLst>
    <p:handoutMasterId r:id="rId28"/>
  </p:handoutMasterIdLst>
  <p:sldIdLst>
    <p:sldId id="3459" r:id="rId2"/>
    <p:sldId id="3472" r:id="rId3"/>
    <p:sldId id="3555" r:id="rId4"/>
    <p:sldId id="3554" r:id="rId5"/>
    <p:sldId id="3548" r:id="rId6"/>
    <p:sldId id="3547" r:id="rId7"/>
    <p:sldId id="3572" r:id="rId8"/>
    <p:sldId id="3571" r:id="rId9"/>
    <p:sldId id="3577" r:id="rId10"/>
    <p:sldId id="3576" r:id="rId11"/>
    <p:sldId id="3482" r:id="rId12"/>
    <p:sldId id="3573" r:id="rId13"/>
    <p:sldId id="3537" r:id="rId14"/>
    <p:sldId id="3558" r:id="rId15"/>
    <p:sldId id="3564" r:id="rId16"/>
    <p:sldId id="3557" r:id="rId17"/>
    <p:sldId id="3544" r:id="rId18"/>
    <p:sldId id="3540" r:id="rId19"/>
    <p:sldId id="3543" r:id="rId20"/>
    <p:sldId id="3545" r:id="rId21"/>
    <p:sldId id="3539" r:id="rId22"/>
    <p:sldId id="3542" r:id="rId23"/>
    <p:sldId id="3538" r:id="rId24"/>
    <p:sldId id="3560" r:id="rId25"/>
    <p:sldId id="3549" r:id="rId26"/>
  </p:sldIdLst>
  <p:sldSz cx="9144000" cy="6858000" type="screen4x3"/>
  <p:notesSz cx="6797675" cy="992505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genda" id="{30F6892D-1922-4A88-A82D-8CD0653C5411}">
          <p14:sldIdLst>
            <p14:sldId id="3459"/>
            <p14:sldId id="3472"/>
          </p14:sldIdLst>
        </p14:section>
        <p14:section name="Reinforcement Learning" id="{6A51FF52-3944-402B-A9B9-75E228335DE4}">
          <p14:sldIdLst>
            <p14:sldId id="3555"/>
            <p14:sldId id="3554"/>
          </p14:sldIdLst>
        </p14:section>
        <p14:section name="Distillation" id="{7EB38C31-A2B8-4354-A21C-A4C807EDE2C4}">
          <p14:sldIdLst>
            <p14:sldId id="3548"/>
            <p14:sldId id="3547"/>
          </p14:sldIdLst>
        </p14:section>
        <p14:section name="Position Encoding" id="{23BF021E-8044-46FD-9989-ED85BB2577B3}">
          <p14:sldIdLst>
            <p14:sldId id="3572"/>
            <p14:sldId id="3571"/>
          </p14:sldIdLst>
        </p14:section>
        <p14:section name="Attention" id="{F4A70ED6-EB89-4CD0-B015-FE550DC91F1A}">
          <p14:sldIdLst>
            <p14:sldId id="3577"/>
            <p14:sldId id="3576"/>
            <p14:sldId id="3482"/>
            <p14:sldId id="3573"/>
          </p14:sldIdLst>
        </p14:section>
        <p14:section name="Deepseek" id="{8CC3907E-2537-4761-B8B4-20CC1D391E20}">
          <p14:sldIdLst>
            <p14:sldId id="3537"/>
            <p14:sldId id="3558"/>
            <p14:sldId id="3564"/>
            <p14:sldId id="3557"/>
            <p14:sldId id="3544"/>
            <p14:sldId id="3540"/>
            <p14:sldId id="3543"/>
            <p14:sldId id="3545"/>
            <p14:sldId id="3539"/>
            <p14:sldId id="3542"/>
            <p14:sldId id="3538"/>
          </p14:sldIdLst>
        </p14:section>
        <p14:section name="Conclusion" id="{D9E6914C-A73F-4176-B0F8-3F87EAC09119}">
          <p14:sldIdLst>
            <p14:sldId id="3560"/>
            <p14:sldId id="3549"/>
          </p14:sldIdLst>
        </p14:section>
      </p14:sectionLst>
    </p:ext>
    <p:ext uri="{EFAFB233-063F-42B5-8137-9DF3F51BA10A}">
      <p15:sldGuideLst xmlns:p15="http://schemas.microsoft.com/office/powerpoint/2012/main">
        <p15:guide id="1" orient="horz" pos="2160">
          <p15:clr>
            <a:srgbClr val="A4A3A4"/>
          </p15:clr>
        </p15:guide>
        <p15:guide id="2" pos="1474"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EF1DDEA-D49D-B2A5-9D83-8BDFFC6C721F}" name="Allen Ni(倪士凱)" initials="AN" userId="S::ani@centrilliontech.com.tw::64a9ee61-01eb-41d1-8925-9f522fa76fb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3DB"/>
    <a:srgbClr val="2260DC"/>
    <a:srgbClr val="F0F0F0"/>
    <a:srgbClr val="F8D462"/>
    <a:srgbClr val="4C6BFF"/>
    <a:srgbClr val="FF9900"/>
    <a:srgbClr val="FEC203"/>
    <a:srgbClr val="3079EF"/>
    <a:srgbClr val="B8EACA"/>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F1AB2-1976-4502-BF36-3FF5EA218861}" styleName="中等深淺樣式 4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0" autoAdjust="0"/>
    <p:restoredTop sz="35887" autoAdjust="0"/>
  </p:normalViewPr>
  <p:slideViewPr>
    <p:cSldViewPr>
      <p:cViewPr varScale="1">
        <p:scale>
          <a:sx n="129" d="100"/>
          <a:sy n="129" d="100"/>
        </p:scale>
        <p:origin x="774" y="126"/>
      </p:cViewPr>
      <p:guideLst>
        <p:guide orient="horz" pos="2160"/>
        <p:guide pos="1474"/>
      </p:guideLst>
    </p:cSldViewPr>
  </p:slideViewPr>
  <p:outlineViewPr>
    <p:cViewPr>
      <p:scale>
        <a:sx n="33" d="100"/>
        <a:sy n="33" d="100"/>
      </p:scale>
      <p:origin x="0" y="-1075"/>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96" d="100"/>
          <a:sy n="96" d="100"/>
        </p:scale>
        <p:origin x="2784" y="9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8509AA70-DCA8-F2B3-665C-D289623E1626}"/>
              </a:ext>
            </a:extLst>
          </p:cNvPr>
          <p:cNvSpPr>
            <a:spLocks noGrp="1"/>
          </p:cNvSpPr>
          <p:nvPr>
            <p:ph type="hdr" sz="quarter"/>
          </p:nvPr>
        </p:nvSpPr>
        <p:spPr>
          <a:xfrm>
            <a:off x="2" y="0"/>
            <a:ext cx="2945659" cy="497976"/>
          </a:xfrm>
          <a:prstGeom prst="rect">
            <a:avLst/>
          </a:prstGeom>
        </p:spPr>
        <p:txBody>
          <a:bodyPr vert="horz" lIns="91430" tIns="45714" rIns="91430" bIns="45714" rtlCol="0"/>
          <a:lstStyle>
            <a:lvl1pPr algn="l">
              <a:defRPr sz="1200"/>
            </a:lvl1pPr>
          </a:lstStyle>
          <a:p>
            <a:endParaRPr lang="zh-TW" altLang="en-US"/>
          </a:p>
        </p:txBody>
      </p:sp>
      <p:sp>
        <p:nvSpPr>
          <p:cNvPr id="3" name="日期版面配置區 2">
            <a:extLst>
              <a:ext uri="{FF2B5EF4-FFF2-40B4-BE49-F238E27FC236}">
                <a16:creationId xmlns:a16="http://schemas.microsoft.com/office/drawing/2014/main" id="{260D9017-2A20-36CB-3124-1CE24A164FFA}"/>
              </a:ext>
            </a:extLst>
          </p:cNvPr>
          <p:cNvSpPr>
            <a:spLocks noGrp="1"/>
          </p:cNvSpPr>
          <p:nvPr>
            <p:ph type="dt" sz="quarter" idx="1"/>
          </p:nvPr>
        </p:nvSpPr>
        <p:spPr>
          <a:xfrm>
            <a:off x="3850445" y="0"/>
            <a:ext cx="2945659" cy="497976"/>
          </a:xfrm>
          <a:prstGeom prst="rect">
            <a:avLst/>
          </a:prstGeom>
        </p:spPr>
        <p:txBody>
          <a:bodyPr vert="horz" lIns="91430" tIns="45714" rIns="91430" bIns="45714" rtlCol="0"/>
          <a:lstStyle>
            <a:lvl1pPr algn="r">
              <a:defRPr sz="1200"/>
            </a:lvl1pPr>
          </a:lstStyle>
          <a:p>
            <a:fld id="{982F7CBC-87DD-4F69-8F50-7ED68F7FF790}" type="datetimeFigureOut">
              <a:rPr lang="zh-TW" altLang="en-US" smtClean="0"/>
              <a:t>2026/9/18</a:t>
            </a:fld>
            <a:endParaRPr lang="zh-TW" altLang="en-US"/>
          </a:p>
        </p:txBody>
      </p:sp>
      <p:sp>
        <p:nvSpPr>
          <p:cNvPr id="4" name="頁尾版面配置區 3">
            <a:extLst>
              <a:ext uri="{FF2B5EF4-FFF2-40B4-BE49-F238E27FC236}">
                <a16:creationId xmlns:a16="http://schemas.microsoft.com/office/drawing/2014/main" id="{72E2BC4B-E97F-2930-F9D4-22EF7E0E14E0}"/>
              </a:ext>
            </a:extLst>
          </p:cNvPr>
          <p:cNvSpPr>
            <a:spLocks noGrp="1"/>
          </p:cNvSpPr>
          <p:nvPr>
            <p:ph type="ftr" sz="quarter" idx="2"/>
          </p:nvPr>
        </p:nvSpPr>
        <p:spPr>
          <a:xfrm>
            <a:off x="2" y="9427077"/>
            <a:ext cx="2945659" cy="497975"/>
          </a:xfrm>
          <a:prstGeom prst="rect">
            <a:avLst/>
          </a:prstGeom>
        </p:spPr>
        <p:txBody>
          <a:bodyPr vert="horz" lIns="91430" tIns="45714" rIns="91430" bIns="45714" rtlCol="0" anchor="b"/>
          <a:lstStyle>
            <a:lvl1pPr algn="l">
              <a:defRPr sz="1200"/>
            </a:lvl1pPr>
          </a:lstStyle>
          <a:p>
            <a:endParaRPr lang="zh-TW" altLang="en-US"/>
          </a:p>
        </p:txBody>
      </p:sp>
      <p:sp>
        <p:nvSpPr>
          <p:cNvPr id="5" name="投影片編號版面配置區 4">
            <a:extLst>
              <a:ext uri="{FF2B5EF4-FFF2-40B4-BE49-F238E27FC236}">
                <a16:creationId xmlns:a16="http://schemas.microsoft.com/office/drawing/2014/main" id="{F9105500-21C2-E70A-A08C-9E9E3094A4E0}"/>
              </a:ext>
            </a:extLst>
          </p:cNvPr>
          <p:cNvSpPr>
            <a:spLocks noGrp="1"/>
          </p:cNvSpPr>
          <p:nvPr>
            <p:ph type="sldNum" sz="quarter" idx="3"/>
          </p:nvPr>
        </p:nvSpPr>
        <p:spPr>
          <a:xfrm>
            <a:off x="3850445" y="9427077"/>
            <a:ext cx="2945659" cy="497975"/>
          </a:xfrm>
          <a:prstGeom prst="rect">
            <a:avLst/>
          </a:prstGeom>
        </p:spPr>
        <p:txBody>
          <a:bodyPr vert="horz" lIns="91430" tIns="45714" rIns="91430" bIns="45714" rtlCol="0" anchor="b"/>
          <a:lstStyle>
            <a:lvl1pPr algn="r">
              <a:defRPr sz="1200"/>
            </a:lvl1pPr>
          </a:lstStyle>
          <a:p>
            <a:fld id="{30EF305C-901E-49EC-B839-B172F9488209}" type="slidenum">
              <a:rPr lang="zh-TW" altLang="en-US" smtClean="0"/>
              <a:t>‹#›</a:t>
            </a:fld>
            <a:endParaRPr lang="zh-TW" altLang="en-US"/>
          </a:p>
        </p:txBody>
      </p:sp>
    </p:spTree>
    <p:extLst>
      <p:ext uri="{BB962C8B-B14F-4D97-AF65-F5344CB8AC3E}">
        <p14:creationId xmlns:p14="http://schemas.microsoft.com/office/powerpoint/2010/main" val="1951901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2" y="1"/>
            <a:ext cx="2945659" cy="496253"/>
          </a:xfrm>
          <a:prstGeom prst="rect">
            <a:avLst/>
          </a:prstGeom>
        </p:spPr>
        <p:txBody>
          <a:bodyPr vert="horz" lIns="91430" tIns="45714" rIns="91430" bIns="45714" rtlCol="0"/>
          <a:lstStyle>
            <a:lvl1pPr algn="l">
              <a:defRPr sz="1200"/>
            </a:lvl1pPr>
          </a:lstStyle>
          <a:p>
            <a:endParaRPr lang="zh-TW" altLang="en-US"/>
          </a:p>
        </p:txBody>
      </p:sp>
      <p:sp>
        <p:nvSpPr>
          <p:cNvPr id="3" name="日期版面配置區 2"/>
          <p:cNvSpPr>
            <a:spLocks noGrp="1"/>
          </p:cNvSpPr>
          <p:nvPr>
            <p:ph type="dt" idx="1"/>
          </p:nvPr>
        </p:nvSpPr>
        <p:spPr>
          <a:xfrm>
            <a:off x="3850445" y="1"/>
            <a:ext cx="2945659" cy="496253"/>
          </a:xfrm>
          <a:prstGeom prst="rect">
            <a:avLst/>
          </a:prstGeom>
        </p:spPr>
        <p:txBody>
          <a:bodyPr vert="horz" lIns="91430" tIns="45714" rIns="91430" bIns="45714" rtlCol="0"/>
          <a:lstStyle>
            <a:lvl1pPr algn="r">
              <a:defRPr sz="1200"/>
            </a:lvl1pPr>
          </a:lstStyle>
          <a:p>
            <a:fld id="{863167AA-796B-4B6A-95ED-1C0BCB3E5802}" type="datetimeFigureOut">
              <a:rPr lang="zh-TW" altLang="en-US" smtClean="0"/>
              <a:t>2026/9/18</a:t>
            </a:fld>
            <a:endParaRPr lang="zh-TW" altLang="en-US"/>
          </a:p>
        </p:txBody>
      </p:sp>
      <p:sp>
        <p:nvSpPr>
          <p:cNvPr id="4" name="投影片圖像版面配置區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30" tIns="45714" rIns="91430" bIns="45714" rtlCol="0" anchor="ctr"/>
          <a:lstStyle/>
          <a:p>
            <a:endParaRPr lang="zh-TW" altLang="en-US"/>
          </a:p>
        </p:txBody>
      </p:sp>
      <p:sp>
        <p:nvSpPr>
          <p:cNvPr id="5" name="備忘稿版面配置區 4"/>
          <p:cNvSpPr>
            <a:spLocks noGrp="1"/>
          </p:cNvSpPr>
          <p:nvPr>
            <p:ph type="body" sz="quarter" idx="3"/>
          </p:nvPr>
        </p:nvSpPr>
        <p:spPr>
          <a:xfrm>
            <a:off x="679768" y="4714400"/>
            <a:ext cx="5438140" cy="4466272"/>
          </a:xfrm>
          <a:prstGeom prst="rect">
            <a:avLst/>
          </a:prstGeom>
        </p:spPr>
        <p:txBody>
          <a:bodyPr vert="horz" lIns="91430" tIns="45714" rIns="91430" bIns="45714" rtlCol="0"/>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6" name="頁尾版面配置區 5"/>
          <p:cNvSpPr>
            <a:spLocks noGrp="1"/>
          </p:cNvSpPr>
          <p:nvPr>
            <p:ph type="ftr" sz="quarter" idx="4"/>
          </p:nvPr>
        </p:nvSpPr>
        <p:spPr>
          <a:xfrm>
            <a:off x="2" y="9427075"/>
            <a:ext cx="2945659" cy="496253"/>
          </a:xfrm>
          <a:prstGeom prst="rect">
            <a:avLst/>
          </a:prstGeom>
        </p:spPr>
        <p:txBody>
          <a:bodyPr vert="horz" lIns="91430" tIns="45714" rIns="91430" bIns="45714"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50445" y="9427075"/>
            <a:ext cx="2945659" cy="496253"/>
          </a:xfrm>
          <a:prstGeom prst="rect">
            <a:avLst/>
          </a:prstGeom>
        </p:spPr>
        <p:txBody>
          <a:bodyPr vert="horz" lIns="91430" tIns="45714" rIns="91430" bIns="45714" rtlCol="0" anchor="b"/>
          <a:lstStyle>
            <a:lvl1pPr algn="r">
              <a:defRPr sz="1200"/>
            </a:lvl1pPr>
          </a:lstStyle>
          <a:p>
            <a:fld id="{E3A6CE5E-F349-486D-8749-82EF2AD71FA8}" type="slidenum">
              <a:rPr lang="zh-TW" altLang="en-US" smtClean="0"/>
              <a:t>‹#›</a:t>
            </a:fld>
            <a:endParaRPr lang="zh-TW" altLang="en-US"/>
          </a:p>
        </p:txBody>
      </p:sp>
    </p:spTree>
    <p:extLst>
      <p:ext uri="{BB962C8B-B14F-4D97-AF65-F5344CB8AC3E}">
        <p14:creationId xmlns:p14="http://schemas.microsoft.com/office/powerpoint/2010/main" val="33360095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1</a:t>
            </a:fld>
            <a:endParaRPr lang="zh-TW" altLang="en-US"/>
          </a:p>
        </p:txBody>
      </p:sp>
    </p:spTree>
    <p:extLst>
      <p:ext uri="{BB962C8B-B14F-4D97-AF65-F5344CB8AC3E}">
        <p14:creationId xmlns:p14="http://schemas.microsoft.com/office/powerpoint/2010/main" val="14197421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4B811-902A-94AB-AABB-4CC1382C733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B32B768C-5222-29ED-3563-1AFFE32A73F1}"/>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A1FC8048-7B6E-7E1E-EC2B-CCC4CC9FF30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endParaRPr kumimoji="0" lang="en-US" altLang="zh-TW" sz="2000" b="0" i="0" u="none" strike="noStrike" kern="1200" cap="none" spc="0" normalizeH="0" baseline="0" noProof="0" dirty="0">
              <a:ln>
                <a:noFill/>
              </a:ln>
              <a:solidFill>
                <a:prstClr val="white">
                  <a:lumMod val="50000"/>
                </a:prstClr>
              </a:solidFill>
              <a:effectLst/>
              <a:uLnTx/>
              <a:uFillTx/>
              <a:latin typeface="+mn-lt"/>
              <a:ea typeface="+mn-ea"/>
              <a:cs typeface="+mn-cs"/>
            </a:endParaRPr>
          </a:p>
        </p:txBody>
      </p:sp>
      <p:sp>
        <p:nvSpPr>
          <p:cNvPr id="4" name="投影片編號版面配置區 3">
            <a:extLst>
              <a:ext uri="{FF2B5EF4-FFF2-40B4-BE49-F238E27FC236}">
                <a16:creationId xmlns:a16="http://schemas.microsoft.com/office/drawing/2014/main" id="{94A622D0-F740-070B-33AA-93A0D57A4D76}"/>
              </a:ext>
            </a:extLst>
          </p:cNvPr>
          <p:cNvSpPr>
            <a:spLocks noGrp="1"/>
          </p:cNvSpPr>
          <p:nvPr>
            <p:ph type="sldNum" sz="quarter" idx="5"/>
          </p:nvPr>
        </p:nvSpPr>
        <p:spPr/>
        <p:txBody>
          <a:bodyPr/>
          <a:lstStyle/>
          <a:p>
            <a:fld id="{E3A6CE5E-F349-486D-8749-82EF2AD71FA8}" type="slidenum">
              <a:rPr lang="zh-TW" altLang="en-US" smtClean="0"/>
              <a:t>2</a:t>
            </a:fld>
            <a:endParaRPr lang="zh-TW" altLang="en-US"/>
          </a:p>
        </p:txBody>
      </p:sp>
    </p:spTree>
    <p:extLst>
      <p:ext uri="{BB962C8B-B14F-4D97-AF65-F5344CB8AC3E}">
        <p14:creationId xmlns:p14="http://schemas.microsoft.com/office/powerpoint/2010/main" val="8943567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8A0C2-F10F-41F2-4901-D00B23DA82B0}"/>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C309C615-DC37-D33D-FC81-B6B7E8E51624}"/>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124B19ED-2691-D788-2378-E6045F29620F}"/>
              </a:ext>
            </a:extLst>
          </p:cNvPr>
          <p:cNvSpPr>
            <a:spLocks noGrp="1"/>
          </p:cNvSpPr>
          <p:nvPr>
            <p:ph type="body" idx="1"/>
          </p:nvPr>
        </p:nvSpPr>
        <p:spPr/>
        <p:txBody>
          <a:bodyPr/>
          <a:lstStyle/>
          <a:p>
            <a:r>
              <a:rPr lang="zh-TW" altLang="zh-TW" sz="1200" b="1" u="none" strike="noStrike" kern="1200" dirty="0">
                <a:solidFill>
                  <a:schemeClr val="tx1"/>
                </a:solidFill>
                <a:effectLst/>
                <a:latin typeface="+mn-lt"/>
                <a:ea typeface="+mn-ea"/>
                <a:cs typeface="+mn-cs"/>
              </a:rPr>
              <a:t>模型初始化與蒸餾階段（Initialization / Knowledge Distillation）── </a:t>
            </a:r>
            <a:r>
              <a:rPr lang="zh-TW" altLang="zh-TW" sz="1200" b="1" i="1" u="none" strike="noStrike" kern="1200" dirty="0">
                <a:solidFill>
                  <a:schemeClr val="tx1"/>
                </a:solidFill>
                <a:effectLst/>
                <a:latin typeface="+mn-lt"/>
                <a:ea typeface="+mn-ea"/>
                <a:cs typeface="+mn-cs"/>
              </a:rPr>
              <a:t>非必須，可選</a:t>
            </a:r>
            <a:endParaRPr lang="zh-TW" altLang="zh-TW" sz="1200" b="1" u="none" strike="noStrike" kern="1200" dirty="0">
              <a:solidFill>
                <a:schemeClr val="tx1"/>
              </a:solidFill>
              <a:effectLst/>
              <a:latin typeface="+mn-lt"/>
              <a:ea typeface="+mn-ea"/>
              <a:cs typeface="+mn-cs"/>
            </a:endParaRPr>
          </a:p>
          <a:p>
            <a:r>
              <a:rPr lang="zh-TW" altLang="zh-TW" sz="1200" b="0" u="none" strike="noStrike" kern="1200" dirty="0">
                <a:solidFill>
                  <a:schemeClr val="tx1"/>
                </a:solidFill>
                <a:effectLst/>
                <a:latin typeface="+mn-lt"/>
                <a:ea typeface="+mn-ea"/>
                <a:cs typeface="+mn-cs"/>
              </a:rPr>
              <a:t>當科學家研發出一個像 Kimi Linear 這樣的架構時，如果從頭開始盲目訓練（Train from scratch），會消耗巨額的算力成本。 </a:t>
            </a:r>
          </a:p>
          <a:p>
            <a:pPr lvl="0"/>
            <a:r>
              <a:rPr lang="zh-TW" altLang="zh-TW" sz="1200" b="1" u="none" strike="noStrike" kern="1200" dirty="0">
                <a:solidFill>
                  <a:schemeClr val="tx1"/>
                </a:solidFill>
                <a:effectLst/>
                <a:latin typeface="+mn-lt"/>
                <a:ea typeface="+mn-ea"/>
                <a:cs typeface="+mn-cs"/>
              </a:rPr>
              <a:t>作法</a:t>
            </a:r>
            <a:r>
              <a:rPr lang="zh-TW" altLang="zh-TW" sz="1200" b="0" u="none" strike="noStrike" kern="1200" dirty="0">
                <a:solidFill>
                  <a:schemeClr val="tx1"/>
                </a:solidFill>
                <a:effectLst/>
                <a:latin typeface="+mn-lt"/>
                <a:ea typeface="+mn-ea"/>
                <a:cs typeface="+mn-cs"/>
              </a:rPr>
              <a:t>：工程師會希望把一個現成的、已經訓好的</a:t>
            </a:r>
            <a:r>
              <a:rPr lang="zh-TW" altLang="zh-TW" sz="1200" b="1" u="none" strike="noStrike" kern="1200" dirty="0">
                <a:solidFill>
                  <a:schemeClr val="tx1"/>
                </a:solidFill>
                <a:effectLst/>
                <a:latin typeface="+mn-lt"/>
                <a:ea typeface="+mn-ea"/>
                <a:cs typeface="+mn-cs"/>
              </a:rPr>
              <a:t>標準 Transformer（Full Attention，擁有 </a:t>
            </a:r>
            <a:r>
              <a:rPr lang="zh-TW" altLang="zh-TW" sz="1200" b="0" u="none" strike="noStrike" kern="1200" dirty="0">
                <a:solidFill>
                  <a:schemeClr val="tx1"/>
                </a:solidFill>
                <a:effectLst/>
                <a:latin typeface="+mn-lt"/>
                <a:ea typeface="+mn-ea"/>
                <a:cs typeface="+mn-cs"/>
              </a:rPr>
              <a:t>\(\mathcal{O}(L^2)\)</a:t>
            </a:r>
            <a:r>
              <a:rPr lang="zh-TW" altLang="zh-TW" sz="1200" b="1" u="none" strike="noStrike" kern="1200" dirty="0">
                <a:solidFill>
                  <a:schemeClr val="tx1"/>
                </a:solidFill>
                <a:effectLst/>
                <a:latin typeface="+mn-lt"/>
                <a:ea typeface="+mn-ea"/>
                <a:cs typeface="+mn-cs"/>
              </a:rPr>
              <a:t> 的大權重矩陣 </a:t>
            </a:r>
            <a:r>
              <a:rPr lang="zh-TW" altLang="zh-TW" sz="1200" b="0" u="none" strike="noStrike" kern="1200" dirty="0">
                <a:solidFill>
                  <a:schemeClr val="tx1"/>
                </a:solidFill>
                <a:effectLst/>
                <a:latin typeface="+mn-lt"/>
                <a:ea typeface="+mn-ea"/>
                <a:cs typeface="+mn-cs"/>
              </a:rPr>
              <a:t>\(W\)</a:t>
            </a:r>
            <a:r>
              <a:rPr lang="zh-TW" altLang="zh-TW" sz="1200" b="1"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直接「瘦身」轉化為線性注意力模型。 </a:t>
            </a:r>
          </a:p>
          <a:p>
            <a:pPr lvl="0"/>
            <a:r>
              <a:rPr lang="zh-TW" altLang="zh-TW" sz="1200" b="1" u="none" strike="noStrike" kern="1200" dirty="0">
                <a:solidFill>
                  <a:schemeClr val="tx1"/>
                </a:solidFill>
                <a:effectLst/>
                <a:latin typeface="+mn-lt"/>
                <a:ea typeface="+mn-ea"/>
                <a:cs typeface="+mn-cs"/>
              </a:rPr>
              <a:t>SVD 登場</a:t>
            </a:r>
            <a:r>
              <a:rPr lang="zh-TW" altLang="zh-TW" sz="1200" b="0" u="none" strike="noStrike" kern="1200" dirty="0">
                <a:solidFill>
                  <a:schemeClr val="tx1"/>
                </a:solidFill>
                <a:effectLst/>
                <a:latin typeface="+mn-lt"/>
                <a:ea typeface="+mn-ea"/>
                <a:cs typeface="+mn-cs"/>
              </a:rPr>
              <a:t>：在這個</a:t>
            </a:r>
            <a:r>
              <a:rPr lang="zh-TW" altLang="zh-TW" sz="1200" b="1" u="none" strike="noStrike" kern="1200" dirty="0">
                <a:solidFill>
                  <a:schemeClr val="tx1"/>
                </a:solidFill>
                <a:effectLst/>
                <a:latin typeface="+mn-lt"/>
                <a:ea typeface="+mn-ea"/>
                <a:cs typeface="+mn-cs"/>
              </a:rPr>
              <a:t>初始化轉換階段</a:t>
            </a:r>
            <a:r>
              <a:rPr lang="zh-TW" altLang="zh-TW" sz="1200" b="0" u="none" strike="noStrike" kern="1200" dirty="0">
                <a:solidFill>
                  <a:schemeClr val="tx1"/>
                </a:solidFill>
                <a:effectLst/>
                <a:latin typeface="+mn-lt"/>
                <a:ea typeface="+mn-ea"/>
                <a:cs typeface="+mn-cs"/>
              </a:rPr>
              <a:t>，會對原始模型的 \(W_q, W_k\) 矩陣執行 </a:t>
            </a:r>
            <a:r>
              <a:rPr lang="zh-TW" altLang="zh-TW" sz="1200" b="1" u="none" strike="noStrike" kern="1200" dirty="0">
                <a:solidFill>
                  <a:schemeClr val="tx1"/>
                </a:solidFill>
                <a:effectLst/>
                <a:latin typeface="+mn-lt"/>
                <a:ea typeface="+mn-ea"/>
                <a:cs typeface="+mn-cs"/>
              </a:rPr>
              <a:t>SVD 分解並進行低秩截斷</a:t>
            </a:r>
            <a:r>
              <a:rPr lang="zh-TW" altLang="zh-TW" sz="1200" b="0" u="none" strike="noStrike" kern="1200" dirty="0">
                <a:solidFill>
                  <a:schemeClr val="tx1"/>
                </a:solidFill>
                <a:effectLst/>
                <a:latin typeface="+mn-lt"/>
                <a:ea typeface="+mn-ea"/>
                <a:cs typeface="+mn-cs"/>
              </a:rPr>
              <a:t>，將提煉出來的正交基底向量（Orthogonal Bases）當作線性注意力層的</a:t>
            </a:r>
            <a:r>
              <a:rPr lang="zh-TW" altLang="zh-TW" sz="1200" b="1" u="none" strike="noStrike" kern="1200" dirty="0">
                <a:solidFill>
                  <a:schemeClr val="tx1"/>
                </a:solidFill>
                <a:effectLst/>
                <a:latin typeface="+mn-lt"/>
                <a:ea typeface="+mn-ea"/>
                <a:cs typeface="+mn-cs"/>
              </a:rPr>
              <a:t>權重初始值</a:t>
            </a:r>
            <a:r>
              <a:rPr lang="zh-TW" altLang="zh-TW" sz="1200" b="0" u="none" strike="noStrike" kern="1200" dirty="0">
                <a:solidFill>
                  <a:schemeClr val="tx1"/>
                </a:solidFill>
                <a:effectLst/>
                <a:latin typeface="+mn-lt"/>
                <a:ea typeface="+mn-ea"/>
                <a:cs typeface="+mn-cs"/>
              </a:rPr>
              <a:t>，讓新模型在起跑點就繼承舊模型的知識。</a:t>
            </a:r>
            <a:br>
              <a:rPr lang="zh-TW" altLang="zh-TW" sz="1200" b="0" u="none" strike="noStrike" kern="1200" dirty="0">
                <a:solidFill>
                  <a:schemeClr val="tx1"/>
                </a:solidFill>
                <a:effectLst/>
                <a:latin typeface="+mn-lt"/>
                <a:ea typeface="+mn-ea"/>
                <a:cs typeface="+mn-cs"/>
              </a:rPr>
            </a:br>
            <a:r>
              <a:rPr lang="zh-TW" altLang="zh-TW" sz="1200" b="0" i="1" u="none" strike="noStrike" kern="1200" dirty="0">
                <a:solidFill>
                  <a:schemeClr val="tx1"/>
                </a:solidFill>
                <a:effectLst/>
                <a:latin typeface="+mn-lt"/>
                <a:ea typeface="+mn-ea"/>
                <a:cs typeface="+mn-cs"/>
              </a:rPr>
              <a:t>(註：有些最新的實驗發現，直接用隨機初始化配合 Warmup 也能達到類似效果，因此這屬於可選方案)。</a:t>
            </a:r>
            <a:endParaRPr lang="zh-TW" altLang="zh-TW" sz="1200" b="0" u="none" strike="noStrike" kern="1200" dirty="0">
              <a:solidFill>
                <a:schemeClr val="tx1"/>
              </a:solidFill>
              <a:effectLst/>
              <a:latin typeface="+mn-lt"/>
              <a:ea typeface="+mn-ea"/>
              <a:cs typeface="+mn-cs"/>
            </a:endParaRPr>
          </a:p>
          <a:p>
            <a:endParaRPr lang="zh-TW" altLang="en-US" dirty="0"/>
          </a:p>
        </p:txBody>
      </p:sp>
      <p:sp>
        <p:nvSpPr>
          <p:cNvPr id="4" name="投影片編號版面配置區 3">
            <a:extLst>
              <a:ext uri="{FF2B5EF4-FFF2-40B4-BE49-F238E27FC236}">
                <a16:creationId xmlns:a16="http://schemas.microsoft.com/office/drawing/2014/main" id="{74594A81-2AB8-1C7D-0016-4C3AEAD9A2B0}"/>
              </a:ext>
            </a:extLst>
          </p:cNvPr>
          <p:cNvSpPr>
            <a:spLocks noGrp="1"/>
          </p:cNvSpPr>
          <p:nvPr>
            <p:ph type="sldNum" sz="quarter" idx="5"/>
          </p:nvPr>
        </p:nvSpPr>
        <p:spPr/>
        <p:txBody>
          <a:bodyPr/>
          <a:lstStyle/>
          <a:p>
            <a:fld id="{E3A6CE5E-F349-486D-8749-82EF2AD71FA8}" type="slidenum">
              <a:rPr lang="zh-TW" altLang="en-US" smtClean="0"/>
              <a:t>5</a:t>
            </a:fld>
            <a:endParaRPr lang="zh-TW" altLang="en-US"/>
          </a:p>
        </p:txBody>
      </p:sp>
    </p:spTree>
    <p:extLst>
      <p:ext uri="{BB962C8B-B14F-4D97-AF65-F5344CB8AC3E}">
        <p14:creationId xmlns:p14="http://schemas.microsoft.com/office/powerpoint/2010/main" val="25534335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4926C-9EED-C470-ED03-7E77F765696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57F5C9E-88DB-47B1-6582-F37455330CF3}"/>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D42B8BCA-D2D3-D8F3-5EF4-B9A54DB6AD62}"/>
              </a:ext>
            </a:extLst>
          </p:cNvPr>
          <p:cNvSpPr>
            <a:spLocks noGrp="1"/>
          </p:cNvSpPr>
          <p:nvPr>
            <p:ph type="body" idx="1"/>
          </p:nvPr>
        </p:nvSpPr>
        <p:spPr/>
        <p:txBody>
          <a:bodyPr/>
          <a:lstStyle/>
          <a:p>
            <a:r>
              <a:rPr lang="zh-TW" altLang="zh-TW" dirty="0"/>
              <a:t>在傳統的 Transformer 架構中，模型運作會面臨兩個維度的資訊損耗：</a:t>
            </a:r>
            <a:endParaRPr lang="en-US" altLang="zh-TW" dirty="0"/>
          </a:p>
          <a:p>
            <a:r>
              <a:rPr lang="zh-TW" altLang="zh-TW" dirty="0"/>
              <a:t>一個是文字序列越長，記憶體越容易爆掉（水平瓶頸）；</a:t>
            </a:r>
            <a:endParaRPr lang="en-US" altLang="zh-TW" dirty="0"/>
          </a:p>
          <a:p>
            <a:r>
              <a:rPr lang="zh-TW" altLang="zh-TW" dirty="0"/>
              <a:t>另一個是神經網路層數越深，早期的重要訊號越容易被後面的層沖淡（垂直瓶頸）。</a:t>
            </a:r>
            <a:endParaRPr lang="en-US" altLang="zh-TW" dirty="0"/>
          </a:p>
          <a:p>
            <a:r>
              <a:rPr lang="zh-TW" altLang="zh-TW" dirty="0"/>
              <a:t>Kimi 的解法是將「注意力機制」同時應用在這兩個維度：</a:t>
            </a:r>
            <a:endParaRPr lang="zh-TW" altLang="en-US" dirty="0"/>
          </a:p>
        </p:txBody>
      </p:sp>
      <p:sp>
        <p:nvSpPr>
          <p:cNvPr id="4" name="投影片編號版面配置區 3">
            <a:extLst>
              <a:ext uri="{FF2B5EF4-FFF2-40B4-BE49-F238E27FC236}">
                <a16:creationId xmlns:a16="http://schemas.microsoft.com/office/drawing/2014/main" id="{3B417082-2C85-C436-A2CB-60D654461411}"/>
              </a:ext>
            </a:extLst>
          </p:cNvPr>
          <p:cNvSpPr>
            <a:spLocks noGrp="1"/>
          </p:cNvSpPr>
          <p:nvPr>
            <p:ph type="sldNum" sz="quarter" idx="5"/>
          </p:nvPr>
        </p:nvSpPr>
        <p:spPr/>
        <p:txBody>
          <a:bodyPr/>
          <a:lstStyle/>
          <a:p>
            <a:fld id="{E3A6CE5E-F349-486D-8749-82EF2AD71FA8}" type="slidenum">
              <a:rPr lang="zh-TW" altLang="en-US" smtClean="0"/>
              <a:t>6</a:t>
            </a:fld>
            <a:endParaRPr lang="zh-TW" altLang="en-US"/>
          </a:p>
        </p:txBody>
      </p:sp>
    </p:spTree>
    <p:extLst>
      <p:ext uri="{BB962C8B-B14F-4D97-AF65-F5344CB8AC3E}">
        <p14:creationId xmlns:p14="http://schemas.microsoft.com/office/powerpoint/2010/main" val="38796012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C3C77-88E5-55AA-094A-F389F8660C72}"/>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B88DF128-2C66-7F55-1842-68AEC209BF15}"/>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1462F23B-7F71-0367-8D5F-C3566848B944}"/>
              </a:ext>
            </a:extLst>
          </p:cNvPr>
          <p:cNvSpPr>
            <a:spLocks noGrp="1"/>
          </p:cNvSpPr>
          <p:nvPr>
            <p:ph type="body" idx="1"/>
          </p:nvPr>
        </p:nvSpPr>
        <p:spPr/>
        <p:txBody>
          <a:bodyPr/>
          <a:lstStyle/>
          <a:p>
            <a:pPr marL="0" marR="0">
              <a:lnSpc>
                <a:spcPts val="1400"/>
              </a:lnSpc>
              <a:buNone/>
            </a:pPr>
            <a:r>
              <a:rPr lang="zh-TW" altLang="zh-TW" sz="1200" b="0" u="none" strike="noStrike" dirty="0">
                <a:effectLst/>
                <a:latin typeface="+mn-lt"/>
              </a:rPr>
              <a:t>DeepSeek 的 </a:t>
            </a:r>
            <a:r>
              <a:rPr lang="zh-TW" altLang="zh-TW" sz="1200" b="1" u="none" strike="noStrike" dirty="0">
                <a:effectLst/>
                <a:latin typeface="+mn-lt"/>
              </a:rPr>
              <a:t>NoPE（No Positional Embedding）</a:t>
            </a:r>
            <a:r>
              <a:rPr lang="zh-TW" altLang="zh-TW" sz="1200" b="0" u="none" strike="noStrike" dirty="0">
                <a:effectLst/>
                <a:latin typeface="+mn-lt"/>
              </a:rPr>
              <a:t> 運作原理，核心在於</a:t>
            </a:r>
            <a:r>
              <a:rPr lang="zh-TW" altLang="zh-TW" sz="1200" b="1" u="none" strike="noStrike" dirty="0">
                <a:effectLst/>
                <a:latin typeface="+mn-lt"/>
              </a:rPr>
              <a:t>「解耦（Decoupling）」</a:t>
            </a:r>
            <a:r>
              <a:rPr lang="zh-TW" altLang="zh-TW" sz="1200" b="0" u="none" strike="noStrike" dirty="0">
                <a:effectLst/>
                <a:latin typeface="+mn-lt"/>
              </a:rPr>
              <a:t>。</a:t>
            </a:r>
          </a:p>
          <a:p>
            <a:pPr marL="0" marR="0">
              <a:lnSpc>
                <a:spcPts val="1400"/>
              </a:lnSpc>
              <a:buNone/>
            </a:pPr>
            <a:r>
              <a:rPr lang="zh-TW" altLang="zh-TW" sz="1200" b="0" u="none" strike="noStrike" dirty="0">
                <a:effectLst/>
                <a:latin typeface="+mn-lt"/>
              </a:rPr>
              <a:t>傳統 Transformer（如 LLaMA）會把位置資訊（RoPE）直接融入到 Query（Q）和 Key（K）的每一個維度中。</a:t>
            </a:r>
            <a:endParaRPr lang="en-US" altLang="zh-TW" sz="1200" b="0" u="none" strike="noStrike" dirty="0">
              <a:effectLst/>
              <a:latin typeface="+mn-lt"/>
            </a:endParaRPr>
          </a:p>
          <a:p>
            <a:pPr marL="0" marR="0">
              <a:lnSpc>
                <a:spcPts val="1400"/>
              </a:lnSpc>
              <a:buNone/>
            </a:pPr>
            <a:r>
              <a:rPr lang="zh-TW" altLang="zh-TW" sz="1200" b="0" u="none" strike="noStrike" dirty="0">
                <a:effectLst/>
                <a:latin typeface="+mn-lt"/>
              </a:rPr>
              <a:t>但 DeepSeek 為了大幅壓縮 KV 快取（KV Cache），開發了 MLA</a:t>
            </a:r>
            <a:r>
              <a:rPr lang="en-US" altLang="zh-TW" sz="1200" b="0" u="none" strike="noStrike" dirty="0">
                <a:effectLst/>
                <a:latin typeface="+mn-lt"/>
              </a:rPr>
              <a:t>(</a:t>
            </a:r>
            <a:r>
              <a:rPr lang="zh-TW" altLang="zh-TW" sz="1200" b="0" u="none" strike="noStrike" dirty="0">
                <a:effectLst/>
                <a:latin typeface="+mn-lt"/>
              </a:rPr>
              <a:t>Multi-head Latent Attention</a:t>
            </a:r>
            <a:r>
              <a:rPr lang="en-US" altLang="zh-TW" sz="1200" b="0" u="none" strike="noStrike" dirty="0">
                <a:effectLst/>
                <a:latin typeface="+mn-lt"/>
              </a:rPr>
              <a:t>)</a:t>
            </a:r>
            <a:r>
              <a:rPr lang="zh-TW" altLang="zh-TW" sz="1200" b="0" u="none" strike="noStrike" dirty="0">
                <a:effectLst/>
                <a:latin typeface="+mn-lt"/>
              </a:rPr>
              <a:t>架構。</a:t>
            </a:r>
            <a:endParaRPr lang="en-US" altLang="zh-TW" sz="1200" b="0" u="none" strike="noStrike" dirty="0">
              <a:effectLst/>
              <a:latin typeface="+mn-lt"/>
            </a:endParaRPr>
          </a:p>
          <a:p>
            <a:pPr marL="0" marR="0">
              <a:lnSpc>
                <a:spcPts val="1400"/>
              </a:lnSpc>
              <a:buNone/>
            </a:pPr>
            <a:endParaRPr lang="zh-TW" altLang="zh-TW" sz="1200" b="0" u="none" strike="noStrike" dirty="0">
              <a:effectLst/>
              <a:latin typeface="+mn-lt"/>
            </a:endParaRPr>
          </a:p>
          <a:p>
            <a:pPr marL="0" marR="0">
              <a:lnSpc>
                <a:spcPts val="1400"/>
              </a:lnSpc>
              <a:buNone/>
            </a:pPr>
            <a:r>
              <a:rPr lang="zh-TW" altLang="zh-TW" sz="1200" b="0" u="none" strike="noStrike" dirty="0">
                <a:effectLst/>
                <a:latin typeface="+mn-lt"/>
              </a:rPr>
              <a:t>在 MLA 中，RoPE 如果與壓縮矩陣混在一起，會破壞矩陣乘法的優化（無法進行吸收）。因此，DeepSeek 選擇將 Q 和 K 的維度</a:t>
            </a:r>
            <a:r>
              <a:rPr lang="zh-TW" altLang="zh-TW" sz="1200" b="1" u="none" strike="noStrike" dirty="0">
                <a:effectLst/>
                <a:latin typeface="+mn-lt"/>
              </a:rPr>
              <a:t>拆成兩部分</a:t>
            </a:r>
            <a:r>
              <a:rPr lang="en-US" altLang="zh-TW" sz="1200" b="1" u="none" strike="noStrike" dirty="0">
                <a:effectLst/>
                <a:latin typeface="+mn-lt"/>
              </a:rPr>
              <a:t>:</a:t>
            </a:r>
          </a:p>
          <a:p>
            <a:pPr marL="0" marR="0">
              <a:lnSpc>
                <a:spcPts val="1400"/>
              </a:lnSpc>
              <a:buNone/>
            </a:pPr>
            <a:r>
              <a:rPr lang="zh-TW" altLang="zh-TW" sz="1200" b="0" u="none" strike="noStrike" dirty="0">
                <a:effectLst/>
                <a:latin typeface="+mn-lt"/>
              </a:rPr>
              <a:t>一部分</a:t>
            </a:r>
            <a:r>
              <a:rPr lang="zh-TW" altLang="zh-TW" sz="1200" b="1" u="none" strike="noStrike" dirty="0">
                <a:effectLst/>
                <a:latin typeface="+mn-lt"/>
              </a:rPr>
              <a:t>完全不帶位置資訊（NoPE）</a:t>
            </a:r>
            <a:r>
              <a:rPr lang="zh-TW" altLang="zh-TW" sz="1200" b="0" u="none" strike="noStrike" dirty="0">
                <a:effectLst/>
                <a:latin typeface="+mn-lt"/>
              </a:rPr>
              <a:t>，另一部分</a:t>
            </a:r>
            <a:r>
              <a:rPr lang="zh-TW" altLang="zh-TW" sz="1200" b="1" u="none" strike="noStrike" dirty="0">
                <a:effectLst/>
                <a:latin typeface="+mn-lt"/>
              </a:rPr>
              <a:t>專門用來帶位置資訊（RoPE）</a:t>
            </a:r>
            <a:r>
              <a:rPr lang="zh-TW" altLang="zh-TW" sz="1200" b="0" u="none" strike="noStrike" dirty="0">
                <a:effectLst/>
                <a:latin typeface="+mn-lt"/>
              </a:rPr>
              <a:t>。</a:t>
            </a:r>
            <a:endParaRPr lang="en-US" altLang="zh-TW" sz="1200" b="0" u="none" strike="noStrike" dirty="0">
              <a:effectLst/>
              <a:latin typeface="+mn-lt"/>
            </a:endParaRPr>
          </a:p>
          <a:p>
            <a:pPr marL="0" marR="0">
              <a:lnSpc>
                <a:spcPts val="1400"/>
              </a:lnSpc>
              <a:buNone/>
            </a:pPr>
            <a:endParaRPr lang="zh-TW" altLang="zh-TW" sz="1200" b="0" u="none" strike="noStrike" dirty="0">
              <a:effectLst/>
              <a:latin typeface="+mn-lt"/>
            </a:endParaRPr>
          </a:p>
          <a:p>
            <a:pPr marL="0" marR="0">
              <a:lnSpc>
                <a:spcPts val="1400"/>
              </a:lnSpc>
              <a:buNone/>
            </a:pPr>
            <a:r>
              <a:rPr lang="zh-TW" altLang="zh-TW" sz="1200" b="0" u="none" strike="noStrike" dirty="0">
                <a:effectLst/>
                <a:latin typeface="+mn-lt"/>
              </a:rPr>
              <a:t>以下是 NoPE 在注意力機制中的核心運作步驟：</a:t>
            </a:r>
          </a:p>
          <a:p>
            <a:pPr marL="0" marR="0">
              <a:lnSpc>
                <a:spcPts val="1400"/>
              </a:lnSpc>
              <a:buNone/>
            </a:pPr>
            <a:r>
              <a:rPr lang="zh-TW" altLang="zh-TW" sz="1200" b="1" u="none" strike="noStrike" dirty="0">
                <a:effectLst/>
                <a:latin typeface="+mn-lt"/>
              </a:rPr>
              <a:t>1. 維度拆分（Splitting）</a:t>
            </a:r>
          </a:p>
          <a:p>
            <a:pPr marL="0" marR="0">
              <a:lnSpc>
                <a:spcPts val="1400"/>
              </a:lnSpc>
              <a:buNone/>
            </a:pPr>
            <a:r>
              <a:rPr lang="zh-TW" altLang="zh-TW" sz="1200" b="0" u="none" strike="noStrike" dirty="0">
                <a:effectLst/>
                <a:latin typeface="+mn-lt"/>
              </a:rPr>
              <a:t>當模型生成 Query (q) 和 Key (k) 時，它們的向量維度被強制拆分為兩個獨立的口袋：</a:t>
            </a:r>
          </a:p>
          <a:p>
            <a:pPr marL="342900" marR="0" lvl="0" indent="-342900">
              <a:lnSpc>
                <a:spcPts val="1400"/>
              </a:lnSpc>
              <a:buFont typeface="Arial" panose="020B0604020202020204" pitchFamily="34" charset="0"/>
              <a:buChar char="•"/>
            </a:pPr>
            <a:r>
              <a:rPr lang="en-US" altLang="zh-TW" sz="1200" b="1" u="none" strike="noStrike" dirty="0">
                <a:effectLst/>
                <a:latin typeface="+mn-lt"/>
              </a:rPr>
              <a:t>q_</a:t>
            </a:r>
            <a:r>
              <a:rPr lang="zh-TW" altLang="zh-TW" sz="1200" b="1" u="none" strike="noStrike" dirty="0">
                <a:effectLst/>
                <a:latin typeface="+mn-lt"/>
              </a:rPr>
              <a:t>NoPE</a:t>
            </a:r>
            <a:r>
              <a:rPr lang="en-US" altLang="zh-TW" sz="1200" b="1" u="none" strike="noStrike" dirty="0">
                <a:effectLst/>
                <a:latin typeface="+mn-lt"/>
              </a:rPr>
              <a:t>, k_</a:t>
            </a:r>
            <a:r>
              <a:rPr lang="zh-TW" altLang="zh-TW" sz="1200" b="1" u="none" strike="noStrike" dirty="0">
                <a:effectLst/>
                <a:latin typeface="+mn-lt"/>
              </a:rPr>
              <a:t>NoPE</a:t>
            </a:r>
            <a:r>
              <a:rPr lang="zh-TW" altLang="zh-TW" sz="1200" b="0" u="none" strike="noStrike" dirty="0">
                <a:effectLst/>
                <a:latin typeface="+mn-lt"/>
              </a:rPr>
              <a:t>：佔絕大部分維度（例如 128 維中的 64 或 96 維）。這裡</a:t>
            </a:r>
            <a:r>
              <a:rPr lang="zh-TW" altLang="zh-TW" sz="1200" b="1" u="none" strike="noStrike" dirty="0">
                <a:effectLst/>
                <a:latin typeface="+mn-lt"/>
              </a:rPr>
              <a:t>只包含純粹的語義資訊</a:t>
            </a:r>
            <a:r>
              <a:rPr lang="zh-TW" altLang="zh-TW" sz="1200" b="0" u="none" strike="noStrike" dirty="0">
                <a:effectLst/>
                <a:latin typeface="+mn-lt"/>
              </a:rPr>
              <a:t>，完全不注入任何位置編碼。</a:t>
            </a:r>
            <a:endParaRPr lang="en-US" altLang="zh-TW" sz="1200" b="0" u="none" strike="noStrike" dirty="0">
              <a:effectLst/>
              <a:latin typeface="+mn-lt"/>
            </a:endParaRPr>
          </a:p>
          <a:p>
            <a:pPr marL="342900" marR="0" lvl="0" indent="-342900">
              <a:lnSpc>
                <a:spcPts val="1400"/>
              </a:lnSpc>
              <a:buFont typeface="Arial" panose="020B0604020202020204" pitchFamily="34" charset="0"/>
              <a:buChar char="•"/>
            </a:pPr>
            <a:r>
              <a:rPr lang="en-US" altLang="zh-TW" sz="1200" b="1" u="none" strike="noStrike" dirty="0">
                <a:effectLst/>
                <a:latin typeface="+mn-lt"/>
              </a:rPr>
              <a:t>Q_R</a:t>
            </a:r>
            <a:r>
              <a:rPr lang="zh-TW" altLang="zh-TW" sz="1200" b="1" u="none" strike="noStrike" dirty="0">
                <a:effectLst/>
                <a:latin typeface="+mn-lt"/>
              </a:rPr>
              <a:t>oPE</a:t>
            </a:r>
            <a:r>
              <a:rPr lang="en-US" altLang="zh-TW" sz="1200" b="1" u="none" strike="noStrike" dirty="0">
                <a:effectLst/>
                <a:latin typeface="+mn-lt"/>
              </a:rPr>
              <a:t>, </a:t>
            </a:r>
            <a:r>
              <a:rPr lang="zh-TW" altLang="zh-TW" sz="1200" b="1" u="none" strike="noStrike" dirty="0">
                <a:effectLst/>
                <a:latin typeface="+mn-lt"/>
              </a:rPr>
              <a:t>k</a:t>
            </a:r>
            <a:r>
              <a:rPr lang="en-US" altLang="zh-TW" sz="1200" b="1" u="none" strike="noStrike" dirty="0">
                <a:effectLst/>
                <a:latin typeface="+mn-lt"/>
              </a:rPr>
              <a:t>_</a:t>
            </a:r>
            <a:r>
              <a:rPr lang="zh-TW" altLang="zh-TW" sz="1200" b="1" u="none" strike="noStrike" dirty="0">
                <a:effectLst/>
                <a:latin typeface="+mn-lt"/>
              </a:rPr>
              <a:t>RoPE</a:t>
            </a:r>
            <a:r>
              <a:rPr lang="zh-TW" altLang="zh-TW" sz="1200" b="0" u="none" strike="noStrike" dirty="0">
                <a:effectLst/>
                <a:latin typeface="+mn-lt"/>
              </a:rPr>
              <a:t>：佔極小的維度（例如 32 維或 64 維）。這裡</a:t>
            </a:r>
            <a:r>
              <a:rPr lang="zh-TW" altLang="zh-TW" sz="1200" b="1" u="none" strike="noStrike" dirty="0">
                <a:effectLst/>
                <a:latin typeface="+mn-lt"/>
              </a:rPr>
              <a:t>專門注入旋轉位置編碼</a:t>
            </a:r>
            <a:r>
              <a:rPr lang="en-US" altLang="zh-TW" sz="1200" b="1" u="none" strike="noStrike" dirty="0">
                <a:effectLst/>
                <a:latin typeface="+mn-lt"/>
              </a:rPr>
              <a:t>(</a:t>
            </a:r>
            <a:r>
              <a:rPr lang="zh-TW" altLang="zh-TW" sz="1200" b="1" u="none" strike="noStrike" dirty="0">
                <a:effectLst/>
                <a:latin typeface="+mn-lt"/>
              </a:rPr>
              <a:t>RoPE</a:t>
            </a:r>
            <a:r>
              <a:rPr lang="en-US" altLang="zh-TW" sz="1200" b="1" u="none" strike="noStrike" dirty="0">
                <a:effectLst/>
                <a:latin typeface="+mn-lt"/>
              </a:rPr>
              <a:t>)</a:t>
            </a:r>
            <a:r>
              <a:rPr lang="zh-TW" altLang="zh-TW" sz="1200" b="0" u="none" strike="noStrike" dirty="0">
                <a:effectLst/>
                <a:latin typeface="+mn-lt"/>
              </a:rPr>
              <a:t>。</a:t>
            </a:r>
            <a:endParaRPr lang="en-US" altLang="zh-TW" sz="1200" b="0" u="none" strike="noStrike" dirty="0">
              <a:effectLst/>
              <a:latin typeface="+mn-lt"/>
            </a:endParaRPr>
          </a:p>
          <a:p>
            <a:pPr marL="342900" marR="0" lvl="0" indent="-342900">
              <a:lnSpc>
                <a:spcPts val="1400"/>
              </a:lnSpc>
              <a:buFont typeface="Arial" panose="020B0604020202020204" pitchFamily="34" charset="0"/>
              <a:buChar char="•"/>
            </a:pPr>
            <a:endParaRPr lang="zh-TW" altLang="zh-TW" sz="1200" b="0" u="none" strike="noStrike" dirty="0">
              <a:effectLst/>
              <a:latin typeface="+mn-lt"/>
            </a:endParaRPr>
          </a:p>
          <a:p>
            <a:pPr marL="0" marR="0">
              <a:lnSpc>
                <a:spcPts val="1400"/>
              </a:lnSpc>
              <a:buNone/>
            </a:pPr>
            <a:r>
              <a:rPr lang="zh-TW" altLang="zh-TW" sz="1200" b="1" u="none" strike="noStrike" dirty="0">
                <a:effectLst/>
                <a:latin typeface="+mn-lt"/>
              </a:rPr>
              <a:t>2. 獨立進行 KV 快取壓縮</a:t>
            </a:r>
          </a:p>
          <a:p>
            <a:pPr marL="0" marR="0">
              <a:lnSpc>
                <a:spcPts val="1400"/>
              </a:lnSpc>
              <a:buNone/>
            </a:pPr>
            <a:r>
              <a:rPr lang="zh-TW" altLang="zh-TW" sz="1200" b="0" u="none" strike="noStrike" dirty="0">
                <a:effectLst/>
                <a:latin typeface="+mn-lt"/>
              </a:rPr>
              <a:t>因為</a:t>
            </a:r>
            <a:r>
              <a:rPr lang="en-US" altLang="zh-TW" sz="1200" b="0" u="none" strike="noStrike" dirty="0">
                <a:effectLst/>
                <a:latin typeface="+mn-lt"/>
              </a:rPr>
              <a:t> </a:t>
            </a:r>
            <a:r>
              <a:rPr lang="zh-TW" altLang="zh-TW" sz="1200" b="0" u="none" strike="noStrike" dirty="0">
                <a:effectLst/>
                <a:latin typeface="+mn-lt"/>
              </a:rPr>
              <a:t>k</a:t>
            </a:r>
            <a:r>
              <a:rPr lang="en-US" altLang="zh-TW" sz="1200" b="0" u="none" strike="noStrike" dirty="0">
                <a:effectLst/>
                <a:latin typeface="+mn-lt"/>
              </a:rPr>
              <a:t>_</a:t>
            </a:r>
            <a:r>
              <a:rPr lang="zh-TW" altLang="zh-TW" sz="1200" b="0" u="none" strike="noStrike" dirty="0">
                <a:effectLst/>
                <a:latin typeface="+mn-lt"/>
              </a:rPr>
              <a:t>NoPE 裡面沒有位置干擾，它是純粹的語義特徵，DeepSeek 就可以放心地使用低秩矩陣</a:t>
            </a:r>
            <a:r>
              <a:rPr lang="en-US" altLang="zh-TW" sz="1200" b="0" u="none" strike="noStrike" dirty="0">
                <a:effectLst/>
                <a:latin typeface="+mn-lt"/>
              </a:rPr>
              <a:t>(</a:t>
            </a:r>
            <a:r>
              <a:rPr lang="zh-TW" altLang="zh-TW" sz="1200" b="0" u="none" strike="noStrike" dirty="0">
                <a:effectLst/>
                <a:latin typeface="+mn-lt"/>
              </a:rPr>
              <a:t>Low-rank Projection</a:t>
            </a:r>
            <a:r>
              <a:rPr lang="en-US" altLang="zh-TW" sz="1200" b="0" u="none" strike="noStrike" dirty="0">
                <a:effectLst/>
                <a:latin typeface="+mn-lt"/>
              </a:rPr>
              <a:t>)</a:t>
            </a:r>
            <a:r>
              <a:rPr lang="zh-TW" altLang="zh-TW" sz="1200" b="0" u="none" strike="noStrike" dirty="0">
                <a:effectLst/>
                <a:latin typeface="+mn-lt"/>
              </a:rPr>
              <a:t>將所有 Token 的 NoPE 特徵壓縮成一個極小的潛在向量Latent Vector c_t</a:t>
            </a:r>
            <a:r>
              <a:rPr lang="en-US" altLang="zh-TW" sz="1200" b="0" u="none" strike="noStrike" dirty="0">
                <a:effectLst/>
                <a:latin typeface="+mn-lt"/>
              </a:rPr>
              <a:t> </a:t>
            </a:r>
            <a:r>
              <a:rPr lang="zh-TW" altLang="zh-TW" sz="1200" b="0" u="none" strike="noStrike" dirty="0">
                <a:effectLst/>
                <a:latin typeface="+mn-lt"/>
              </a:rPr>
              <a:t>存入 KV Cache。</a:t>
            </a:r>
          </a:p>
          <a:p>
            <a:pPr marL="342900" marR="0" lvl="0" indent="-342900">
              <a:lnSpc>
                <a:spcPts val="1400"/>
              </a:lnSpc>
              <a:buFont typeface="Arial" panose="020B0604020202020204" pitchFamily="34" charset="0"/>
              <a:buChar char="•"/>
            </a:pPr>
            <a:r>
              <a:rPr lang="zh-TW" altLang="zh-TW" sz="1200" b="1" u="none" strike="noStrike" dirty="0">
                <a:effectLst/>
                <a:latin typeface="+mn-lt"/>
              </a:rPr>
              <a:t>好處</a:t>
            </a:r>
            <a:r>
              <a:rPr lang="zh-TW" altLang="zh-TW" sz="1200" b="0" u="none" strike="noStrike" dirty="0">
                <a:effectLst/>
                <a:latin typeface="+mn-lt"/>
              </a:rPr>
              <a:t>：KV 快取體積暴減至原本的數分之一。</a:t>
            </a:r>
          </a:p>
          <a:p>
            <a:pPr marL="342900" marR="0" lvl="0" indent="-342900">
              <a:lnSpc>
                <a:spcPts val="1400"/>
              </a:lnSpc>
              <a:buFont typeface="Arial" panose="020B0604020202020204" pitchFamily="34" charset="0"/>
              <a:buChar char="•"/>
            </a:pPr>
            <a:r>
              <a:rPr lang="zh-TW" altLang="zh-TW" sz="1200" b="1" u="none" strike="noStrike" dirty="0">
                <a:effectLst/>
                <a:latin typeface="+mn-lt"/>
              </a:rPr>
              <a:t>位置怎麼辦？</a:t>
            </a:r>
            <a:r>
              <a:rPr lang="zh-TW" altLang="zh-TW" sz="1200" b="0" u="none" strike="noStrike" dirty="0">
                <a:effectLst/>
                <a:latin typeface="+mn-lt"/>
              </a:rPr>
              <a:t>：只有那部分小小的 k</a:t>
            </a:r>
            <a:r>
              <a:rPr lang="en-US" altLang="zh-TW" sz="1200" b="0" u="none" strike="noStrike" dirty="0">
                <a:effectLst/>
                <a:latin typeface="+mn-lt"/>
              </a:rPr>
              <a:t>_R</a:t>
            </a:r>
            <a:r>
              <a:rPr lang="zh-TW" altLang="zh-TW" sz="1200" b="0" u="none" strike="noStrike" dirty="0">
                <a:effectLst/>
                <a:latin typeface="+mn-lt"/>
              </a:rPr>
              <a:t>oPE 需要被獨立記錄位置並存下來，兩者互不干擾。</a:t>
            </a:r>
            <a:endParaRPr lang="en-US" altLang="zh-TW" sz="1200" b="0" u="none" strike="noStrike" dirty="0">
              <a:effectLst/>
              <a:latin typeface="+mn-lt"/>
            </a:endParaRPr>
          </a:p>
          <a:p>
            <a:pPr marL="342900" marR="0" lvl="0" indent="-342900">
              <a:lnSpc>
                <a:spcPts val="1400"/>
              </a:lnSpc>
              <a:buFont typeface="Arial" panose="020B0604020202020204" pitchFamily="34" charset="0"/>
              <a:buChar char="•"/>
            </a:pPr>
            <a:endParaRPr lang="zh-TW" altLang="zh-TW" sz="1200" b="0" u="none" strike="noStrike" dirty="0">
              <a:effectLst/>
              <a:latin typeface="+mn-lt"/>
            </a:endParaRPr>
          </a:p>
          <a:p>
            <a:pPr marL="0" marR="0">
              <a:lnSpc>
                <a:spcPts val="1400"/>
              </a:lnSpc>
              <a:buNone/>
            </a:pPr>
            <a:r>
              <a:rPr lang="zh-TW" altLang="zh-TW" sz="1200" b="1" u="none" strike="noStrike" dirty="0">
                <a:effectLst/>
                <a:latin typeface="+mn-lt"/>
              </a:rPr>
              <a:t>3. 注意力分數計算（解耦注意力）</a:t>
            </a:r>
          </a:p>
          <a:p>
            <a:pPr marL="0" marR="0">
              <a:lnSpc>
                <a:spcPts val="1400"/>
              </a:lnSpc>
              <a:buNone/>
            </a:pPr>
            <a:r>
              <a:rPr lang="zh-TW" altLang="zh-TW" sz="1200" b="0" u="none" strike="noStrike" dirty="0">
                <a:effectLst/>
                <a:latin typeface="+mn-lt"/>
              </a:rPr>
              <a:t>在計算 Query 和 Key 的點積（Attention Score）時，運作公式變成了</a:t>
            </a:r>
            <a:r>
              <a:rPr lang="zh-TW" altLang="zh-TW" sz="1200" b="1" u="none" strike="noStrike" dirty="0">
                <a:effectLst/>
                <a:latin typeface="+mn-lt"/>
              </a:rPr>
              <a:t>兩部分相加</a:t>
            </a:r>
            <a:r>
              <a:rPr lang="zh-TW" altLang="zh-TW" sz="1200" b="0" u="none" strike="noStrike" dirty="0">
                <a:effectLst/>
                <a:latin typeface="+mn-lt"/>
              </a:rPr>
              <a:t>：Attention</a:t>
            </a:r>
            <a:r>
              <a:rPr lang="en-US" altLang="zh-TW" sz="1200" b="0" u="none" strike="noStrike" dirty="0">
                <a:effectLst/>
                <a:latin typeface="+mn-lt"/>
              </a:rPr>
              <a:t>_</a:t>
            </a:r>
            <a:r>
              <a:rPr lang="zh-TW" altLang="zh-TW" sz="1200" b="0" u="none" strike="noStrike" dirty="0">
                <a:effectLst/>
                <a:latin typeface="+mn-lt"/>
              </a:rPr>
              <a:t>Score</a:t>
            </a:r>
            <a:r>
              <a:rPr lang="en-US" altLang="zh-TW" sz="1200" b="0" u="none" strike="noStrike" dirty="0">
                <a:effectLst/>
                <a:latin typeface="+mn-lt"/>
              </a:rPr>
              <a:t> </a:t>
            </a:r>
            <a:r>
              <a:rPr lang="zh-TW" altLang="zh-TW" sz="1200" b="0" u="none" strike="noStrike" dirty="0">
                <a:effectLst/>
                <a:latin typeface="+mn-lt"/>
              </a:rPr>
              <a:t>=</a:t>
            </a:r>
            <a:r>
              <a:rPr lang="en-US" altLang="zh-TW" sz="1200" b="0" u="none" strike="noStrike" dirty="0">
                <a:effectLst/>
                <a:latin typeface="+mn-lt"/>
              </a:rPr>
              <a:t> </a:t>
            </a:r>
            <a:r>
              <a:rPr lang="zh-TW" altLang="zh-TW" sz="1200" b="0" u="none" strike="noStrike" dirty="0">
                <a:effectLst/>
                <a:latin typeface="+mn-lt"/>
              </a:rPr>
              <a:t>(q</a:t>
            </a:r>
            <a:r>
              <a:rPr lang="en-US" altLang="zh-TW" sz="1200" b="0" u="none" strike="noStrike" dirty="0">
                <a:effectLst/>
                <a:latin typeface="+mn-lt"/>
              </a:rPr>
              <a:t>_</a:t>
            </a:r>
            <a:r>
              <a:rPr lang="zh-TW" altLang="zh-TW" sz="1200" b="0" u="none" strike="noStrike" dirty="0">
                <a:effectLst/>
                <a:latin typeface="+mn-lt"/>
              </a:rPr>
              <a:t>NoPE</a:t>
            </a:r>
            <a:r>
              <a:rPr lang="en-US" altLang="zh-TW" sz="1200" b="0" u="none" strike="noStrike" dirty="0">
                <a:effectLst/>
                <a:latin typeface="+mn-lt"/>
              </a:rPr>
              <a:t> *</a:t>
            </a:r>
            <a:r>
              <a:rPr lang="zh-TW" altLang="zh-TW" sz="1200" b="0" u="none" strike="noStrike" dirty="0">
                <a:effectLst/>
                <a:latin typeface="+mn-lt"/>
              </a:rPr>
              <a:t> k</a:t>
            </a:r>
            <a:r>
              <a:rPr lang="en-US" altLang="zh-TW" sz="1200" b="0" u="none" strike="noStrike" dirty="0">
                <a:effectLst/>
                <a:latin typeface="+mn-lt"/>
              </a:rPr>
              <a:t>_</a:t>
            </a:r>
            <a:r>
              <a:rPr lang="zh-TW" altLang="zh-TW" sz="1200" b="0" u="none" strike="noStrike" dirty="0">
                <a:effectLst/>
                <a:latin typeface="+mn-lt"/>
              </a:rPr>
              <a:t>NoPE)</a:t>
            </a:r>
            <a:r>
              <a:rPr lang="en-US" altLang="zh-TW" sz="1200" b="0" u="none" strike="noStrike" dirty="0">
                <a:effectLst/>
                <a:latin typeface="+mn-lt"/>
              </a:rPr>
              <a:t> </a:t>
            </a:r>
            <a:r>
              <a:rPr lang="zh-TW" altLang="zh-TW" sz="1200" b="0" u="none" strike="noStrike" dirty="0">
                <a:effectLst/>
                <a:latin typeface="+mn-lt"/>
              </a:rPr>
              <a:t>+</a:t>
            </a:r>
            <a:r>
              <a:rPr lang="en-US" altLang="zh-TW" sz="1200" b="0" u="none" strike="noStrike" dirty="0">
                <a:effectLst/>
                <a:latin typeface="+mn-lt"/>
              </a:rPr>
              <a:t> </a:t>
            </a:r>
            <a:r>
              <a:rPr lang="zh-TW" altLang="zh-TW" sz="1200" b="0" u="none" strike="noStrike" dirty="0">
                <a:effectLst/>
                <a:latin typeface="+mn-lt"/>
              </a:rPr>
              <a:t>(q</a:t>
            </a:r>
            <a:r>
              <a:rPr lang="en-US" altLang="zh-TW" sz="1200" b="0" u="none" strike="noStrike" dirty="0">
                <a:effectLst/>
                <a:latin typeface="+mn-lt"/>
              </a:rPr>
              <a:t>_</a:t>
            </a:r>
            <a:r>
              <a:rPr lang="zh-TW" altLang="zh-TW" sz="1200" b="0" u="none" strike="noStrike" dirty="0">
                <a:effectLst/>
                <a:latin typeface="+mn-lt"/>
              </a:rPr>
              <a:t>RoPE</a:t>
            </a:r>
            <a:r>
              <a:rPr lang="en-US" altLang="zh-TW" sz="1200" b="0" u="none" strike="noStrike" dirty="0">
                <a:effectLst/>
                <a:latin typeface="+mn-lt"/>
              </a:rPr>
              <a:t> * k_</a:t>
            </a:r>
            <a:r>
              <a:rPr lang="zh-TW" altLang="zh-TW" sz="1200" b="0" u="none" strike="noStrike" dirty="0">
                <a:effectLst/>
                <a:latin typeface="+mn-lt"/>
              </a:rPr>
              <a:t>RoPE)</a:t>
            </a:r>
            <a:endParaRPr lang="en-US" altLang="zh-TW" sz="1200" b="0" u="none" strike="noStrike" dirty="0">
              <a:effectLst/>
              <a:latin typeface="+mn-lt"/>
            </a:endParaRPr>
          </a:p>
          <a:p>
            <a:pPr marL="0" marR="0">
              <a:lnSpc>
                <a:spcPts val="1400"/>
              </a:lnSpc>
              <a:buNone/>
            </a:pPr>
            <a:endParaRPr lang="zh-TW" altLang="zh-TW" sz="1200" b="0" u="none" strike="noStrike" dirty="0">
              <a:effectLst/>
              <a:latin typeface="+mn-lt"/>
            </a:endParaRPr>
          </a:p>
          <a:p>
            <a:pPr marL="342900" marR="0" lvl="0" indent="-342900">
              <a:lnSpc>
                <a:spcPts val="1400"/>
              </a:lnSpc>
              <a:buFont typeface="+mj-lt"/>
              <a:buAutoNum type="arabicPeriod"/>
            </a:pPr>
            <a:r>
              <a:rPr lang="zh-TW" altLang="zh-TW" sz="1200" b="1" u="none" strike="noStrike" dirty="0">
                <a:effectLst/>
                <a:latin typeface="+mn-lt"/>
              </a:rPr>
              <a:t>語義比對</a:t>
            </a:r>
            <a:r>
              <a:rPr lang="en-US" altLang="zh-TW" sz="1200" b="1" u="none" strike="noStrike" dirty="0">
                <a:effectLst/>
                <a:latin typeface="+mn-lt"/>
              </a:rPr>
              <a:t>(</a:t>
            </a:r>
            <a:r>
              <a:rPr lang="zh-TW" altLang="zh-TW" sz="1200" b="1" u="none" strike="noStrike" dirty="0">
                <a:effectLst/>
                <a:latin typeface="+mn-lt"/>
              </a:rPr>
              <a:t>NoPE 部分</a:t>
            </a:r>
            <a:r>
              <a:rPr lang="en-US" altLang="zh-TW" sz="1200" b="1" u="none" strike="noStrike" dirty="0">
                <a:effectLst/>
                <a:latin typeface="+mn-lt"/>
              </a:rPr>
              <a:t>): </a:t>
            </a:r>
            <a:r>
              <a:rPr lang="zh-TW" altLang="zh-TW" sz="1200" b="0" u="none" strike="noStrike" dirty="0">
                <a:effectLst/>
                <a:latin typeface="+mn-lt"/>
              </a:rPr>
              <a:t>「這兩個字的意思像不像」</a:t>
            </a:r>
            <a:r>
              <a:rPr lang="en-US" altLang="zh-TW" sz="1200" b="0" u="none" strike="noStrike" dirty="0">
                <a:effectLst/>
                <a:latin typeface="+mn-lt"/>
              </a:rPr>
              <a:t>, </a:t>
            </a:r>
            <a:r>
              <a:rPr lang="zh-TW" altLang="zh-TW" sz="1200" b="0" u="none" strike="noStrike" dirty="0">
                <a:effectLst/>
                <a:latin typeface="+mn-lt"/>
              </a:rPr>
              <a:t>並在推理時透過矩陣變換直接與壓縮快取計算，速度極快。</a:t>
            </a:r>
          </a:p>
          <a:p>
            <a:pPr marL="342900" marR="0" lvl="0" indent="-342900">
              <a:lnSpc>
                <a:spcPts val="1400"/>
              </a:lnSpc>
              <a:buFont typeface="+mj-lt"/>
              <a:buAutoNum type="arabicPeriod"/>
            </a:pPr>
            <a:r>
              <a:rPr lang="zh-TW" altLang="zh-TW" sz="1200" b="1" u="none" strike="noStrike" dirty="0">
                <a:effectLst/>
                <a:latin typeface="+mn-lt"/>
              </a:rPr>
              <a:t>位置比對</a:t>
            </a:r>
            <a:r>
              <a:rPr lang="en-US" altLang="zh-TW" sz="1200" b="1" u="none" strike="noStrike" dirty="0">
                <a:effectLst/>
                <a:latin typeface="+mn-lt"/>
              </a:rPr>
              <a:t>(</a:t>
            </a:r>
            <a:r>
              <a:rPr lang="zh-TW" altLang="zh-TW" sz="1200" b="1" u="none" strike="noStrike" dirty="0">
                <a:effectLst/>
                <a:latin typeface="+mn-lt"/>
              </a:rPr>
              <a:t>RoPE 部分</a:t>
            </a:r>
            <a:r>
              <a:rPr lang="en-US" altLang="zh-TW" sz="1200" b="1" u="none" strike="noStrike" dirty="0">
                <a:effectLst/>
                <a:latin typeface="+mn-lt"/>
              </a:rPr>
              <a:t>)</a:t>
            </a:r>
            <a:r>
              <a:rPr lang="en-US" altLang="zh-TW" sz="1200" b="0" u="none" strike="noStrike" dirty="0">
                <a:effectLst/>
                <a:latin typeface="+mn-lt"/>
              </a:rPr>
              <a:t>: </a:t>
            </a:r>
            <a:r>
              <a:rPr lang="zh-TW" altLang="zh-TW" sz="1200" b="0" u="none" strike="noStrike" dirty="0">
                <a:effectLst/>
                <a:latin typeface="+mn-lt"/>
              </a:rPr>
              <a:t>專門計算「這兩個字在空間/時間上的距離與相對關係」。</a:t>
            </a:r>
            <a:endParaRPr lang="zh-TW" altLang="zh-TW" sz="1200" b="0" u="none" strike="noStrike" dirty="0">
              <a:effectLst/>
              <a:latin typeface="Google Sans"/>
            </a:endParaRPr>
          </a:p>
          <a:p>
            <a:endParaRPr lang="en-US"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總結</a:t>
            </a:r>
          </a:p>
          <a:p>
            <a:r>
              <a:rPr lang="zh-TW" altLang="zh-TW" sz="1200" b="0" u="none" strike="noStrike" kern="1200" dirty="0">
                <a:solidFill>
                  <a:schemeClr val="tx1"/>
                </a:solidFill>
                <a:effectLst/>
                <a:latin typeface="+mn-lt"/>
                <a:ea typeface="+mn-ea"/>
                <a:cs typeface="+mn-cs"/>
              </a:rPr>
              <a:t>NoPE 的原理就是</a:t>
            </a:r>
            <a:r>
              <a:rPr lang="zh-TW" altLang="zh-TW" sz="1200" b="1" u="none" strike="noStrike" kern="1200" dirty="0">
                <a:solidFill>
                  <a:schemeClr val="tx1"/>
                </a:solidFill>
                <a:effectLst/>
                <a:latin typeface="+mn-lt"/>
                <a:ea typeface="+mn-ea"/>
                <a:cs typeface="+mn-cs"/>
              </a:rPr>
              <a:t>「讓上帝的歸上帝，凱撒的歸凱撒」</a:t>
            </a:r>
            <a:r>
              <a:rPr lang="zh-TW" altLang="zh-TW" sz="1200" b="0" u="none" strike="noStrike" kern="1200" dirty="0">
                <a:solidFill>
                  <a:schemeClr val="tx1"/>
                </a:solidFill>
                <a:effectLst/>
                <a:latin typeface="+mn-lt"/>
                <a:ea typeface="+mn-ea"/>
                <a:cs typeface="+mn-cs"/>
              </a:rPr>
              <a:t>。語義歸語義（NoPE），位置歸位置（RoPE）。</a:t>
            </a:r>
          </a:p>
          <a:p>
            <a:r>
              <a:rPr lang="zh-TW" altLang="zh-TW" sz="1200" b="0" u="none" strike="noStrike" kern="1200" dirty="0">
                <a:solidFill>
                  <a:schemeClr val="tx1"/>
                </a:solidFill>
                <a:effectLst/>
                <a:latin typeface="+mn-lt"/>
                <a:ea typeface="+mn-ea"/>
                <a:cs typeface="+mn-cs"/>
              </a:rPr>
              <a:t>透過這種解耦方式，DeepSeek 既保留了 RoPE 強大的長文本位置感知能力，又成功把語義部分徹底壓縮，達成了極高的推理效率與超低的記憶體佔用。</a:t>
            </a:r>
          </a:p>
        </p:txBody>
      </p:sp>
      <p:sp>
        <p:nvSpPr>
          <p:cNvPr id="4" name="投影片編號版面配置區 3">
            <a:extLst>
              <a:ext uri="{FF2B5EF4-FFF2-40B4-BE49-F238E27FC236}">
                <a16:creationId xmlns:a16="http://schemas.microsoft.com/office/drawing/2014/main" id="{A7B670E2-071D-C48E-BF2C-3BA92B3B94A9}"/>
              </a:ext>
            </a:extLst>
          </p:cNvPr>
          <p:cNvSpPr>
            <a:spLocks noGrp="1"/>
          </p:cNvSpPr>
          <p:nvPr>
            <p:ph type="sldNum" sz="quarter" idx="5"/>
          </p:nvPr>
        </p:nvSpPr>
        <p:spPr/>
        <p:txBody>
          <a:bodyPr/>
          <a:lstStyle/>
          <a:p>
            <a:fld id="{E3A6CE5E-F349-486D-8749-82EF2AD71FA8}" type="slidenum">
              <a:rPr lang="zh-TW" altLang="en-US" smtClean="0"/>
              <a:t>7</a:t>
            </a:fld>
            <a:endParaRPr lang="zh-TW" altLang="en-US"/>
          </a:p>
        </p:txBody>
      </p:sp>
    </p:spTree>
    <p:extLst>
      <p:ext uri="{BB962C8B-B14F-4D97-AF65-F5344CB8AC3E}">
        <p14:creationId xmlns:p14="http://schemas.microsoft.com/office/powerpoint/2010/main" val="16204912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endParaRPr lang="en-US" altLang="zh-TW" sz="1200" b="0" u="none" strike="noStrike" kern="1200" dirty="0">
              <a:solidFill>
                <a:schemeClr val="tx1"/>
              </a:solidFill>
              <a:effectLst/>
              <a:latin typeface="+mn-lt"/>
              <a:ea typeface="+mn-ea"/>
              <a:cs typeface="+mn-cs"/>
            </a:endParaRPr>
          </a:p>
          <a:p>
            <a:r>
              <a:rPr lang="en-US" altLang="zh-TW" sz="1200" b="1" u="none" strike="noStrike" kern="1200" dirty="0">
                <a:solidFill>
                  <a:schemeClr val="tx1"/>
                </a:solidFill>
                <a:effectLst/>
                <a:latin typeface="+mn-lt"/>
                <a:ea typeface="+mn-ea"/>
                <a:cs typeface="+mn-cs"/>
              </a:rPr>
              <a:t>* </a:t>
            </a:r>
            <a:r>
              <a:rPr lang="zh-TW" altLang="zh-TW" sz="1200" b="1" u="none" strike="noStrike" kern="1200" dirty="0">
                <a:solidFill>
                  <a:schemeClr val="tx1"/>
                </a:solidFill>
                <a:effectLst/>
                <a:latin typeface="+mn-lt"/>
                <a:ea typeface="+mn-ea"/>
                <a:cs typeface="+mn-cs"/>
              </a:rPr>
              <a:t>全面替代派</a:t>
            </a:r>
            <a:endParaRPr lang="en-US" altLang="zh-TW" sz="1200" b="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200" b="0" u="none" strike="noStrike" kern="1200" dirty="0">
                <a:solidFill>
                  <a:schemeClr val="tx1"/>
                </a:solidFill>
                <a:effectLst/>
                <a:latin typeface="+mn-lt"/>
                <a:ea typeface="+mn-ea"/>
                <a:cs typeface="+mn-cs"/>
              </a:rPr>
              <a:t>Moonshot 在 </a:t>
            </a:r>
            <a:r>
              <a:rPr lang="zh-TW" altLang="zh-TW" sz="1200" b="1" u="none" strike="noStrike" kern="1200" dirty="0">
                <a:solidFill>
                  <a:schemeClr val="tx1"/>
                </a:solidFill>
                <a:effectLst/>
                <a:latin typeface="+mn-lt"/>
                <a:ea typeface="+mn-ea"/>
                <a:cs typeface="+mn-cs"/>
              </a:rPr>
              <a:t>2025 年 10 月</a:t>
            </a:r>
            <a:r>
              <a:rPr lang="zh-TW" altLang="zh-TW" sz="1200" b="0" u="none" strike="noStrike" kern="1200" dirty="0">
                <a:solidFill>
                  <a:schemeClr val="tx1"/>
                </a:solidFill>
                <a:effectLst/>
                <a:latin typeface="+mn-lt"/>
                <a:ea typeface="+mn-ea"/>
                <a:cs typeface="+mn-cs"/>
              </a:rPr>
              <a:t> 發表關於 </a:t>
            </a:r>
            <a:r>
              <a:rPr lang="zh-TW" altLang="zh-TW" sz="1200" b="1" u="none" strike="noStrike" kern="1200" dirty="0">
                <a:solidFill>
                  <a:schemeClr val="tx1"/>
                </a:solidFill>
                <a:effectLst/>
                <a:latin typeface="+mn-lt"/>
                <a:ea typeface="+mn-ea"/>
                <a:cs typeface="+mn-cs"/>
              </a:rPr>
              <a:t>Kimi Linear</a:t>
            </a:r>
            <a:r>
              <a:rPr lang="zh-TW" altLang="zh-TW" sz="1200" b="0" u="none" strike="noStrike" kern="1200" dirty="0">
                <a:solidFill>
                  <a:schemeClr val="tx1"/>
                </a:solidFill>
                <a:effectLst/>
                <a:latin typeface="+mn-lt"/>
                <a:ea typeface="+mn-ea"/>
                <a:cs typeface="+mn-cs"/>
              </a:rPr>
              <a:t> 的技術論文。</a:t>
            </a:r>
            <a:r>
              <a:rPr lang="zh-TW" altLang="zh-TW" dirty="0"/>
              <a:t>將 NoPE 概念推向了更極致的 Everywhere 階段。</a:t>
            </a:r>
            <a:endParaRPr lang="zh-TW" altLang="zh-TW" sz="1200" b="0" u="none" strike="noStrike" kern="1200" dirty="0">
              <a:solidFill>
                <a:schemeClr val="tx1"/>
              </a:solidFill>
              <a:effectLst/>
              <a:latin typeface="+mn-lt"/>
              <a:ea typeface="+mn-ea"/>
              <a:cs typeface="+mn-cs"/>
            </a:endParaRPr>
          </a:p>
          <a:p>
            <a:pPr lvl="0"/>
            <a:r>
              <a:rPr lang="zh-TW" altLang="zh-TW" sz="1200" b="1" u="none" strike="noStrike" kern="1200" dirty="0">
                <a:solidFill>
                  <a:schemeClr val="tx1"/>
                </a:solidFill>
                <a:effectLst/>
                <a:latin typeface="+mn-lt"/>
                <a:ea typeface="+mn-ea"/>
                <a:cs typeface="+mn-cs"/>
              </a:rPr>
              <a:t>承接與進化：</a:t>
            </a:r>
            <a:r>
              <a:rPr lang="zh-TW" altLang="zh-TW" sz="1200" b="0" u="none" strike="noStrike" kern="1200" dirty="0">
                <a:solidFill>
                  <a:schemeClr val="tx1"/>
                </a:solidFill>
                <a:effectLst/>
                <a:latin typeface="+mn-lt"/>
                <a:ea typeface="+mn-ea"/>
                <a:cs typeface="+mn-cs"/>
              </a:rPr>
              <a:t> Kimi 在設計其線性注意力（Linear Attention）時</a:t>
            </a:r>
            <a:r>
              <a:rPr lang="en-US"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Kimi 研發了全新的 KDA</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Kimi Delta Attention</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機制來隱式處理位置資訊，他們在部分層中直接將位置編碼完全剝離，實現了比 DeepSeek 更激進的「全 NoPE」設計（NoPE for MLA layers）。</a:t>
            </a:r>
          </a:p>
          <a:p>
            <a:endParaRPr lang="en-US" altLang="zh-TW" dirty="0"/>
          </a:p>
          <a:p>
            <a:pPr lvl="0"/>
            <a:r>
              <a:rPr lang="en-US" altLang="zh-TW" sz="1200" b="1" u="none" strike="noStrike" kern="1200" dirty="0">
                <a:solidFill>
                  <a:schemeClr val="tx1"/>
                </a:solidFill>
                <a:effectLst/>
                <a:latin typeface="+mn-lt"/>
                <a:ea typeface="+mn-ea"/>
                <a:cs typeface="+mn-cs"/>
              </a:rPr>
              <a:t>* </a:t>
            </a:r>
            <a:r>
              <a:rPr lang="zh-TW" altLang="zh-TW" sz="1200" b="1" u="none" strike="noStrike" kern="1200" dirty="0">
                <a:solidFill>
                  <a:schemeClr val="tx1"/>
                </a:solidFill>
                <a:effectLst/>
                <a:latin typeface="+mn-lt"/>
                <a:ea typeface="+mn-ea"/>
                <a:cs typeface="+mn-cs"/>
              </a:rPr>
              <a:t>Kimi / Moonshot：做法：</a:t>
            </a:r>
            <a:r>
              <a:rPr lang="zh-TW" altLang="zh-TW" sz="1200" b="0" u="none" strike="noStrike" kern="1200" dirty="0">
                <a:solidFill>
                  <a:schemeClr val="tx1"/>
                </a:solidFill>
                <a:effectLst/>
                <a:latin typeface="+mn-lt"/>
                <a:ea typeface="+mn-ea"/>
                <a:cs typeface="+mn-cs"/>
              </a:rPr>
              <a:t> 在 </a:t>
            </a:r>
            <a:r>
              <a:rPr lang="zh-TW" altLang="zh-TW" sz="1200" b="1" u="none" strike="noStrike" kern="1200" dirty="0">
                <a:solidFill>
                  <a:schemeClr val="tx1"/>
                </a:solidFill>
                <a:effectLst/>
                <a:latin typeface="+mn-lt"/>
                <a:ea typeface="+mn-ea"/>
                <a:cs typeface="+mn-cs"/>
              </a:rPr>
              <a:t>Kimi Linear</a:t>
            </a:r>
            <a:r>
              <a:rPr lang="zh-TW" altLang="zh-TW" sz="1200" b="0" u="none" strike="noStrike" kern="1200" dirty="0">
                <a:solidFill>
                  <a:schemeClr val="tx1"/>
                </a:solidFill>
                <a:effectLst/>
                <a:latin typeface="+mn-lt"/>
                <a:ea typeface="+mn-ea"/>
                <a:cs typeface="+mn-cs"/>
              </a:rPr>
              <a:t> 或最新的旗艦 </a:t>
            </a:r>
            <a:r>
              <a:rPr lang="zh-TW" altLang="zh-TW" sz="1200" b="1" u="none" strike="noStrike" kern="1200" dirty="0">
                <a:solidFill>
                  <a:schemeClr val="tx1"/>
                </a:solidFill>
                <a:effectLst/>
                <a:latin typeface="+mn-lt"/>
                <a:ea typeface="+mn-ea"/>
                <a:cs typeface="+mn-cs"/>
              </a:rPr>
              <a:t>Kimi K3</a:t>
            </a:r>
            <a:r>
              <a:rPr lang="zh-TW" altLang="zh-TW" sz="1200" b="0" u="none" strike="noStrike" kern="1200" dirty="0">
                <a:solidFill>
                  <a:schemeClr val="tx1"/>
                </a:solidFill>
                <a:effectLst/>
                <a:latin typeface="+mn-lt"/>
                <a:ea typeface="+mn-ea"/>
                <a:cs typeface="+mn-cs"/>
              </a:rPr>
              <a:t> 中，直接徹底拔除了傳統的 RoPE 旋轉位置編碼層，大膽做到 </a:t>
            </a:r>
            <a:r>
              <a:rPr lang="zh-TW" altLang="zh-TW" sz="1200" b="1" u="none" strike="noStrike" kern="1200" dirty="0">
                <a:solidFill>
                  <a:schemeClr val="tx1"/>
                </a:solidFill>
                <a:effectLst/>
                <a:latin typeface="+mn-lt"/>
                <a:ea typeface="+mn-ea"/>
                <a:cs typeface="+mn-cs"/>
              </a:rPr>
              <a:t>NoPE Everywhere</a:t>
            </a:r>
            <a:r>
              <a:rPr lang="en-US" altLang="zh-TW" sz="1200" b="1" u="none" strike="noStrike" kern="1200" dirty="0">
                <a:solidFill>
                  <a:schemeClr val="tx1"/>
                </a:solidFill>
                <a:effectLst/>
                <a:latin typeface="+mn-lt"/>
                <a:ea typeface="+mn-ea"/>
                <a:cs typeface="+mn-cs"/>
              </a:rPr>
              <a:t> (</a:t>
            </a:r>
            <a:r>
              <a:rPr lang="zh-TW" altLang="zh-TW" sz="1200" b="1" u="none" strike="noStrike" kern="1200" dirty="0">
                <a:solidFill>
                  <a:schemeClr val="tx1"/>
                </a:solidFill>
                <a:effectLst/>
                <a:latin typeface="+mn-lt"/>
                <a:ea typeface="+mn-ea"/>
                <a:cs typeface="+mn-cs"/>
              </a:rPr>
              <a:t>全模型或全全域層皆為 NoPE</a:t>
            </a:r>
            <a:r>
              <a:rPr lang="en-US" altLang="zh-TW" sz="1200" b="1"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a:t>
            </a:r>
          </a:p>
          <a:p>
            <a:pPr lvl="0"/>
            <a:r>
              <a:rPr lang="zh-TW" altLang="zh-TW" sz="1200" b="1" u="none" strike="noStrike" kern="1200" dirty="0">
                <a:solidFill>
                  <a:schemeClr val="tx1"/>
                </a:solidFill>
                <a:effectLst/>
                <a:latin typeface="+mn-lt"/>
                <a:ea typeface="+mn-ea"/>
                <a:cs typeface="+mn-cs"/>
              </a:rPr>
              <a:t>邏輯：</a:t>
            </a:r>
            <a:r>
              <a:rPr lang="zh-TW" altLang="zh-TW" sz="1200" b="0" u="none" strike="noStrike" kern="1200" dirty="0">
                <a:solidFill>
                  <a:schemeClr val="tx1"/>
                </a:solidFill>
                <a:effectLst/>
                <a:latin typeface="+mn-lt"/>
                <a:ea typeface="+mn-ea"/>
                <a:cs typeface="+mn-cs"/>
              </a:rPr>
              <a:t> 既然叫 NoPE，這幾層就真的</a:t>
            </a:r>
            <a:r>
              <a:rPr lang="zh-TW" altLang="zh-TW" sz="1200" b="1" u="none" strike="noStrike" kern="1200" dirty="0">
                <a:solidFill>
                  <a:schemeClr val="tx1"/>
                </a:solidFill>
                <a:effectLst/>
                <a:latin typeface="+mn-lt"/>
                <a:ea typeface="+mn-ea"/>
                <a:cs typeface="+mn-cs"/>
              </a:rPr>
              <a:t>完全沒有任何顯式的位置編碼</a:t>
            </a:r>
            <a:r>
              <a:rPr lang="zh-TW" altLang="zh-TW" sz="1200" b="0" u="none" strike="noStrike" kern="1200" dirty="0">
                <a:solidFill>
                  <a:schemeClr val="tx1"/>
                </a:solidFill>
                <a:effectLst/>
                <a:latin typeface="+mn-lt"/>
                <a:ea typeface="+mn-ea"/>
                <a:cs typeface="+mn-cs"/>
              </a:rPr>
              <a:t>。Kimi 改用自研的 </a:t>
            </a:r>
            <a:r>
              <a:rPr lang="zh-TW" altLang="zh-TW" sz="1200" b="1" u="none" strike="noStrike" kern="1200" dirty="0">
                <a:solidFill>
                  <a:schemeClr val="tx1"/>
                </a:solidFill>
                <a:effectLst/>
                <a:latin typeface="+mn-lt"/>
                <a:ea typeface="+mn-ea"/>
                <a:cs typeface="+mn-cs"/>
              </a:rPr>
              <a:t>KDA（Kimi Delta Attention）</a:t>
            </a:r>
            <a:r>
              <a:rPr lang="zh-TW" altLang="zh-TW" sz="1200" b="0" u="none" strike="noStrike" kern="1200" dirty="0">
                <a:solidFill>
                  <a:schemeClr val="tx1"/>
                </a:solidFill>
                <a:effectLst/>
                <a:latin typeface="+mn-lt"/>
                <a:ea typeface="+mn-ea"/>
                <a:cs typeface="+mn-cs"/>
              </a:rPr>
              <a:t> 機制。KDA 具有種類似循環神經網絡（RNN）的衰減閘門</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Decay Gate</a:t>
            </a:r>
            <a:r>
              <a:rPr lang="en-US"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會隨著序列長度動態調整時間尺度（Timescales）。</a:t>
            </a:r>
          </a:p>
          <a:p>
            <a:pPr lvl="0"/>
            <a:r>
              <a:rPr lang="zh-TW" altLang="zh-TW" sz="1200" b="1" u="none" strike="noStrike" kern="1200" dirty="0">
                <a:solidFill>
                  <a:schemeClr val="tx1"/>
                </a:solidFill>
                <a:effectLst/>
                <a:latin typeface="+mn-lt"/>
                <a:ea typeface="+mn-ea"/>
                <a:cs typeface="+mn-cs"/>
              </a:rPr>
              <a:t>定位：</a:t>
            </a:r>
            <a:r>
              <a:rPr lang="zh-TW" altLang="zh-TW" sz="1200" b="0" u="none" strike="noStrike" kern="1200" dirty="0">
                <a:solidFill>
                  <a:schemeClr val="tx1"/>
                </a:solidFill>
                <a:effectLst/>
                <a:latin typeface="+mn-lt"/>
                <a:ea typeface="+mn-ea"/>
                <a:cs typeface="+mn-cs"/>
              </a:rPr>
              <a:t> Kimi 的 NoPE 是一場</a:t>
            </a:r>
            <a:r>
              <a:rPr lang="zh-TW" altLang="zh-TW" sz="1200" b="1" u="none" strike="noStrike" kern="1200" dirty="0">
                <a:solidFill>
                  <a:schemeClr val="tx1"/>
                </a:solidFill>
                <a:effectLst/>
                <a:latin typeface="+mn-lt"/>
                <a:ea typeface="+mn-ea"/>
                <a:cs typeface="+mn-cs"/>
              </a:rPr>
              <a:t>對注意力機制的根本性簡化</a:t>
            </a:r>
            <a:endParaRPr lang="zh-TW" altLang="zh-TW" sz="1200" b="0" u="none" strike="noStrike" kern="1200" dirty="0">
              <a:solidFill>
                <a:schemeClr val="tx1"/>
              </a:solidFill>
              <a:effectLst/>
              <a:latin typeface="+mn-lt"/>
              <a:ea typeface="+mn-ea"/>
              <a:cs typeface="+mn-cs"/>
            </a:endParaRPr>
          </a:p>
          <a:p>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8</a:t>
            </a:fld>
            <a:endParaRPr lang="zh-TW" altLang="en-US"/>
          </a:p>
        </p:txBody>
      </p:sp>
    </p:spTree>
    <p:extLst>
      <p:ext uri="{BB962C8B-B14F-4D97-AF65-F5344CB8AC3E}">
        <p14:creationId xmlns:p14="http://schemas.microsoft.com/office/powerpoint/2010/main" val="34932880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D8BFB-7CCD-B713-A0D3-28C17A430CA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75E61F5-F81D-D83E-AAAD-3516131436A4}"/>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F0DB2834-7FDE-5944-2693-19B4C3EA77F8}"/>
              </a:ext>
            </a:extLst>
          </p:cNvPr>
          <p:cNvSpPr>
            <a:spLocks noGrp="1"/>
          </p:cNvSpPr>
          <p:nvPr>
            <p:ph type="body" idx="1"/>
          </p:nvPr>
        </p:nvSpPr>
        <p:spPr/>
        <p:txBody>
          <a:bodyPr/>
          <a:lstStyle/>
          <a:p>
            <a:r>
              <a:rPr lang="zh-TW" altLang="zh-TW" dirty="0"/>
              <a:t>MLA（Multi-head Latent Attention，多頭潛在注意力）是 DeepSeek 在 DeepSeek-V2 和 V3/R1 等模型中推出的核心創新架構，</a:t>
            </a:r>
            <a:endParaRPr lang="en-US" altLang="zh-TW" dirty="0"/>
          </a:p>
          <a:p>
            <a:r>
              <a:rPr lang="zh-TW" altLang="zh-TW" dirty="0"/>
              <a:t>主要用來大幅降低大模型在推理時的 KV 快取（KV Cache）記憶體佔用，同時維持甚至超越傳統多頭注意力（MHA）的效能。</a:t>
            </a:r>
            <a:endParaRPr lang="en-US" altLang="zh-TW" dirty="0"/>
          </a:p>
          <a:p>
            <a:endParaRPr lang="en-US" altLang="zh-TW" dirty="0"/>
          </a:p>
          <a:p>
            <a:r>
              <a:rPr lang="zh-TW" altLang="zh-TW" sz="1200" b="1" u="none" strike="noStrike" kern="1200" dirty="0">
                <a:solidFill>
                  <a:schemeClr val="tx1"/>
                </a:solidFill>
                <a:effectLst/>
                <a:latin typeface="+mn-lt"/>
                <a:ea typeface="+mn-ea"/>
                <a:cs typeface="+mn-cs"/>
              </a:rPr>
              <a:t>什麼是 KV Cache</a:t>
            </a:r>
            <a:r>
              <a:rPr lang="zh-TW" altLang="zh-TW" dirty="0"/>
              <a:t>：大型語言模型（LLM）在生成文字（推理）</a:t>
            </a:r>
            <a:endParaRPr lang="en-US" altLang="zh-TW" dirty="0"/>
          </a:p>
          <a:p>
            <a:r>
              <a:rPr lang="zh-TW" altLang="zh-TW" dirty="0"/>
              <a:t>時，為了不重複計算前面每個字的特徵，需要把歷史文字的 Key（鍵）和 Value（值）矩陣存放在 GPU 顯存中，這就是 KV Cache。</a:t>
            </a:r>
            <a:endParaRPr lang="en-US" altLang="zh-TW" dirty="0"/>
          </a:p>
          <a:p>
            <a:endParaRPr lang="en-US" altLang="zh-TW" dirty="0"/>
          </a:p>
          <a:p>
            <a:pPr lvl="0"/>
            <a:r>
              <a:rPr lang="zh-TW" altLang="zh-TW" sz="1200" b="1" u="none" strike="noStrike" kern="1200" dirty="0">
                <a:solidFill>
                  <a:schemeClr val="tx1"/>
                </a:solidFill>
                <a:effectLst/>
                <a:latin typeface="+mn-lt"/>
                <a:ea typeface="+mn-ea"/>
                <a:cs typeface="+mn-cs"/>
              </a:rPr>
              <a:t>記憶體爆炸</a:t>
            </a:r>
            <a:r>
              <a:rPr lang="zh-TW" altLang="zh-TW" sz="1200" b="0" u="none" strike="noStrike" kern="1200" dirty="0">
                <a:solidFill>
                  <a:schemeClr val="tx1"/>
                </a:solidFill>
                <a:effectLst/>
                <a:latin typeface="+mn-lt"/>
                <a:ea typeface="+mn-ea"/>
                <a:cs typeface="+mn-cs"/>
              </a:rPr>
              <a:t>：當處理極長文本（例如 128K 甚至更長上下文）或高併發時，KV Cache 的體積會隨著序列長度線性增長，佔滿整個 GPU 顯存，成為系統瓶頸。 </a:t>
            </a:r>
          </a:p>
          <a:p>
            <a:pPr lvl="0"/>
            <a:r>
              <a:rPr lang="zh-TW" altLang="zh-TW" sz="1200" b="1" u="none" strike="noStrike" kern="1200" dirty="0">
                <a:solidFill>
                  <a:schemeClr val="tx1"/>
                </a:solidFill>
                <a:effectLst/>
                <a:latin typeface="+mn-lt"/>
                <a:ea typeface="+mn-ea"/>
                <a:cs typeface="+mn-cs"/>
              </a:rPr>
              <a:t>傳統折衷方案的缺憾</a:t>
            </a:r>
            <a:r>
              <a:rPr lang="zh-TW" altLang="zh-TW" sz="1200" b="0" u="none" strike="noStrike" kern="1200" dirty="0">
                <a:solidFill>
                  <a:schemeClr val="tx1"/>
                </a:solidFill>
                <a:effectLst/>
                <a:latin typeface="+mn-lt"/>
                <a:ea typeface="+mn-ea"/>
                <a:cs typeface="+mn-cs"/>
              </a:rPr>
              <a:t>：過去雖有 MQA（Multi-Query Attention）或 GQA（Grouped-Query Attention）來減少快取，但往往會犧牲模型的表現能力。</a:t>
            </a:r>
          </a:p>
          <a:p>
            <a:endParaRPr lang="zh-TW" altLang="en-US" dirty="0"/>
          </a:p>
        </p:txBody>
      </p:sp>
      <p:sp>
        <p:nvSpPr>
          <p:cNvPr id="4" name="投影片編號版面配置區 3">
            <a:extLst>
              <a:ext uri="{FF2B5EF4-FFF2-40B4-BE49-F238E27FC236}">
                <a16:creationId xmlns:a16="http://schemas.microsoft.com/office/drawing/2014/main" id="{4FFA9E40-5DE7-9C2E-C798-BEA5B8327050}"/>
              </a:ext>
            </a:extLst>
          </p:cNvPr>
          <p:cNvSpPr>
            <a:spLocks noGrp="1"/>
          </p:cNvSpPr>
          <p:nvPr>
            <p:ph type="sldNum" sz="quarter" idx="5"/>
          </p:nvPr>
        </p:nvSpPr>
        <p:spPr/>
        <p:txBody>
          <a:bodyPr/>
          <a:lstStyle/>
          <a:p>
            <a:fld id="{E3A6CE5E-F349-486D-8749-82EF2AD71FA8}" type="slidenum">
              <a:rPr lang="zh-TW" altLang="en-US" smtClean="0"/>
              <a:t>9</a:t>
            </a:fld>
            <a:endParaRPr lang="zh-TW" altLang="en-US"/>
          </a:p>
        </p:txBody>
      </p:sp>
    </p:spTree>
    <p:extLst>
      <p:ext uri="{BB962C8B-B14F-4D97-AF65-F5344CB8AC3E}">
        <p14:creationId xmlns:p14="http://schemas.microsoft.com/office/powerpoint/2010/main" val="17524945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FD4D6-7E4D-EDA8-8CE4-F46CB445C38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57E7CACD-0692-25D0-2B6B-1DA20C911359}"/>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4DB8BAF1-EF90-1822-35FE-6CF042B50F74}"/>
              </a:ext>
            </a:extLst>
          </p:cNvPr>
          <p:cNvSpPr>
            <a:spLocks noGrp="1"/>
          </p:cNvSpPr>
          <p:nvPr>
            <p:ph type="body" idx="1"/>
          </p:nvPr>
        </p:nvSpPr>
        <p:spPr/>
        <p:txBody>
          <a:bodyPr/>
          <a:lstStyle/>
          <a:p>
            <a:r>
              <a:rPr lang="zh-TW" altLang="zh-TW" sz="1200" b="0" u="none" strike="noStrike" kern="1200" dirty="0">
                <a:solidFill>
                  <a:schemeClr val="tx1"/>
                </a:solidFill>
                <a:effectLst/>
                <a:latin typeface="+mn-lt"/>
                <a:ea typeface="+mn-ea"/>
                <a:cs typeface="+mn-cs"/>
              </a:rPr>
              <a:t>MLA 的核心祕密是</a:t>
            </a:r>
            <a:r>
              <a:rPr lang="zh-TW" altLang="zh-TW" sz="1200" b="1" u="none" strike="noStrike" kern="1200" dirty="0">
                <a:solidFill>
                  <a:schemeClr val="tx1"/>
                </a:solidFill>
                <a:effectLst/>
                <a:latin typeface="+mn-lt"/>
                <a:ea typeface="+mn-ea"/>
                <a:cs typeface="+mn-cs"/>
              </a:rPr>
              <a:t>低秩聯合壓縮（Low-rank Joint Compression）</a:t>
            </a:r>
            <a:r>
              <a:rPr lang="zh-TW" altLang="zh-TW" sz="1200" b="0" u="none" strike="noStrike" kern="1200" dirty="0">
                <a:solidFill>
                  <a:schemeClr val="tx1"/>
                </a:solidFill>
                <a:effectLst/>
                <a:latin typeface="+mn-lt"/>
                <a:ea typeface="+mn-ea"/>
                <a:cs typeface="+mn-cs"/>
              </a:rPr>
              <a:t>，概念類似圖像的 JPEG 壓縮 或 LoRA： </a:t>
            </a:r>
            <a:endParaRPr lang="en-US"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壓縮 KV（降維快取）</a:t>
            </a:r>
            <a:r>
              <a:rPr lang="zh-TW" altLang="zh-TW" sz="1200" b="0" u="none" strike="noStrike" kern="1200" dirty="0">
                <a:solidFill>
                  <a:schemeClr val="tx1"/>
                </a:solidFill>
                <a:effectLst/>
                <a:latin typeface="+mn-lt"/>
                <a:ea typeface="+mn-ea"/>
                <a:cs typeface="+mn-cs"/>
              </a:rPr>
              <a:t>：</a:t>
            </a:r>
            <a:endParaRPr lang="en-US" altLang="zh-TW" sz="1200" b="0" u="none" strike="noStrike" kern="1200" dirty="0">
              <a:solidFill>
                <a:schemeClr val="tx1"/>
              </a:solidFill>
              <a:effectLst/>
              <a:latin typeface="+mn-lt"/>
              <a:ea typeface="+mn-ea"/>
              <a:cs typeface="+mn-cs"/>
            </a:endParaRPr>
          </a:p>
          <a:p>
            <a:r>
              <a:rPr lang="zh-TW" altLang="zh-TW" sz="1200" b="0" u="none" strike="noStrike" kern="1200" dirty="0">
                <a:solidFill>
                  <a:schemeClr val="tx1"/>
                </a:solidFill>
                <a:effectLst/>
                <a:latin typeface="+mn-lt"/>
                <a:ea typeface="+mn-ea"/>
                <a:cs typeface="+mn-cs"/>
              </a:rPr>
              <a:t>傳統模型要把龐大的高維 Key 和 Value 完整存下來。</a:t>
            </a:r>
            <a:endParaRPr lang="en-US" altLang="zh-TW" sz="1200" b="0" u="none" strike="noStrike" kern="1200" dirty="0">
              <a:solidFill>
                <a:schemeClr val="tx1"/>
              </a:solidFill>
              <a:effectLst/>
              <a:latin typeface="+mn-lt"/>
              <a:ea typeface="+mn-ea"/>
              <a:cs typeface="+mn-cs"/>
            </a:endParaRPr>
          </a:p>
          <a:p>
            <a:r>
              <a:rPr lang="zh-TW" altLang="zh-TW" sz="1200" b="0" u="none" strike="noStrike" kern="1200" dirty="0">
                <a:solidFill>
                  <a:schemeClr val="tx1"/>
                </a:solidFill>
                <a:effectLst/>
                <a:latin typeface="+mn-lt"/>
                <a:ea typeface="+mn-ea"/>
                <a:cs typeface="+mn-cs"/>
              </a:rPr>
              <a:t>MLA 在存儲時，先用一個低秩壓縮矩陣把高維的 KV 資訊投影到一個</a:t>
            </a:r>
            <a:r>
              <a:rPr lang="zh-TW" altLang="zh-TW" sz="1200" b="1" u="none" strike="noStrike" kern="1200" dirty="0">
                <a:solidFill>
                  <a:schemeClr val="tx1"/>
                </a:solidFill>
                <a:effectLst/>
                <a:latin typeface="+mn-lt"/>
                <a:ea typeface="+mn-ea"/>
                <a:cs typeface="+mn-cs"/>
              </a:rPr>
              <a:t>極小的低維潛在空間（Latent Vector）</a:t>
            </a:r>
            <a:r>
              <a:rPr lang="zh-TW" altLang="zh-TW" sz="1200" b="0" u="none" strike="noStrike" kern="1200" dirty="0">
                <a:solidFill>
                  <a:schemeClr val="tx1"/>
                </a:solidFill>
                <a:effectLst/>
                <a:latin typeface="+mn-lt"/>
                <a:ea typeface="+mn-ea"/>
                <a:cs typeface="+mn-cs"/>
              </a:rPr>
              <a:t>中。</a:t>
            </a:r>
            <a:endParaRPr lang="en-US" altLang="zh-TW" sz="1200" b="0" u="none" strike="noStrike" kern="1200" dirty="0">
              <a:solidFill>
                <a:schemeClr val="tx1"/>
              </a:solidFill>
              <a:effectLst/>
              <a:latin typeface="+mn-lt"/>
              <a:ea typeface="+mn-ea"/>
              <a:cs typeface="+mn-cs"/>
            </a:endParaRPr>
          </a:p>
          <a:p>
            <a:r>
              <a:rPr lang="zh-TW" altLang="zh-TW" sz="1200" b="0" u="none" strike="noStrike" kern="1200" dirty="0">
                <a:solidFill>
                  <a:schemeClr val="tx1"/>
                </a:solidFill>
                <a:effectLst/>
                <a:latin typeface="+mn-lt"/>
                <a:ea typeface="+mn-ea"/>
                <a:cs typeface="+mn-cs"/>
              </a:rPr>
              <a:t>例如將原本高達數千維的特徵壓縮到幾百維，讓 </a:t>
            </a:r>
            <a:r>
              <a:rPr lang="zh-TW" altLang="zh-TW" sz="1200" b="1" u="none" strike="noStrike" kern="1200" dirty="0">
                <a:solidFill>
                  <a:schemeClr val="tx1"/>
                </a:solidFill>
                <a:effectLst/>
                <a:latin typeface="+mn-lt"/>
                <a:ea typeface="+mn-ea"/>
                <a:cs typeface="+mn-cs"/>
              </a:rPr>
              <a:t>KV 顯存佔用直接大降 90% 以上</a:t>
            </a:r>
            <a:r>
              <a:rPr lang="zh-TW" altLang="zh-TW" sz="1200" b="0" u="none" strike="noStrike" kern="1200" dirty="0">
                <a:solidFill>
                  <a:schemeClr val="tx1"/>
                </a:solidFill>
                <a:effectLst/>
                <a:latin typeface="+mn-lt"/>
                <a:ea typeface="+mn-ea"/>
                <a:cs typeface="+mn-cs"/>
              </a:rPr>
              <a:t>。</a:t>
            </a:r>
            <a:endParaRPr lang="en-US" altLang="zh-TW" sz="1200" b="0" u="none" strike="noStrike" kern="1200" dirty="0">
              <a:solidFill>
                <a:schemeClr val="tx1"/>
              </a:solidFill>
              <a:effectLst/>
              <a:latin typeface="+mn-lt"/>
              <a:ea typeface="+mn-ea"/>
              <a:cs typeface="+mn-cs"/>
            </a:endParaRPr>
          </a:p>
          <a:p>
            <a:pPr lvl="1"/>
            <a:endParaRPr lang="zh-TW" altLang="zh-TW" sz="1200" b="0" u="none" strike="noStrike" kern="1200" dirty="0">
              <a:solidFill>
                <a:schemeClr val="tx1"/>
              </a:solidFill>
              <a:effectLst/>
              <a:latin typeface="+mn-lt"/>
              <a:ea typeface="+mn-ea"/>
              <a:cs typeface="+mn-cs"/>
            </a:endParaRPr>
          </a:p>
          <a:p>
            <a:pPr lvl="0"/>
            <a:r>
              <a:rPr lang="zh-TW" altLang="zh-TW" sz="1200" b="1" u="none" strike="noStrike" kern="1200" dirty="0">
                <a:solidFill>
                  <a:schemeClr val="tx1"/>
                </a:solidFill>
                <a:effectLst/>
                <a:latin typeface="+mn-lt"/>
                <a:ea typeface="+mn-ea"/>
                <a:cs typeface="+mn-cs"/>
              </a:rPr>
              <a:t>矩陣吸收（Matrix Absorption，推理加速）</a:t>
            </a:r>
            <a:r>
              <a:rPr lang="zh-TW" altLang="zh-TW" sz="1200" b="0" u="none" strike="noStrike" kern="1200" dirty="0">
                <a:solidFill>
                  <a:schemeClr val="tx1"/>
                </a:solidFill>
                <a:effectLst/>
                <a:latin typeface="+mn-lt"/>
                <a:ea typeface="+mn-ea"/>
                <a:cs typeface="+mn-cs"/>
              </a:rPr>
              <a:t>：</a:t>
            </a:r>
            <a:endParaRPr lang="en-US" altLang="zh-TW" sz="1200" b="0" u="none" strike="noStrike" kern="1200" dirty="0">
              <a:solidFill>
                <a:schemeClr val="tx1"/>
              </a:solidFill>
              <a:effectLst/>
              <a:latin typeface="+mn-lt"/>
              <a:ea typeface="+mn-ea"/>
              <a:cs typeface="+mn-cs"/>
            </a:endParaRPr>
          </a:p>
          <a:p>
            <a:pPr lvl="0"/>
            <a:r>
              <a:rPr lang="zh-TW" altLang="zh-TW" sz="1200" b="0" u="none" strike="noStrike" kern="1200" dirty="0">
                <a:solidFill>
                  <a:schemeClr val="tx1"/>
                </a:solidFill>
                <a:effectLst/>
                <a:latin typeface="+mn-lt"/>
                <a:ea typeface="+mn-ea"/>
                <a:cs typeface="+mn-cs"/>
              </a:rPr>
              <a:t>當需要進行注意力計算時，再利用上投影矩陣把低維向量還原。更厲害的是，透過</a:t>
            </a:r>
            <a:r>
              <a:rPr lang="zh-TW" altLang="zh-TW" sz="1200" b="1" u="none" strike="noStrike" kern="1200" dirty="0">
                <a:solidFill>
                  <a:schemeClr val="tx1"/>
                </a:solidFill>
                <a:effectLst/>
                <a:latin typeface="+mn-lt"/>
                <a:ea typeface="+mn-ea"/>
                <a:cs typeface="+mn-cs"/>
              </a:rPr>
              <a:t>矩陣乘法的結合律</a:t>
            </a:r>
            <a:r>
              <a:rPr lang="zh-TW" altLang="zh-TW" sz="1200" b="0" u="none" strike="noStrike" kern="1200" dirty="0">
                <a:solidFill>
                  <a:schemeClr val="tx1"/>
                </a:solidFill>
                <a:effectLst/>
                <a:latin typeface="+mn-lt"/>
                <a:ea typeface="+mn-ea"/>
                <a:cs typeface="+mn-cs"/>
              </a:rPr>
              <a:t>，DeepSeek 巧妙地把解壓矩陣「吸收到」相鄰的查詢矩陣 \(W^{Q}\) 或輸出矩陣中，避免了額外的即時解壓計算開銷，讓推理速度更快。</a:t>
            </a:r>
          </a:p>
          <a:p>
            <a:pPr lvl="0"/>
            <a:endParaRPr lang="en-US" altLang="zh-TW" sz="1200" b="1" u="none" strike="noStrike" kern="1200" dirty="0">
              <a:solidFill>
                <a:schemeClr val="tx1"/>
              </a:solidFill>
              <a:effectLst/>
              <a:latin typeface="+mn-lt"/>
              <a:ea typeface="+mn-ea"/>
              <a:cs typeface="+mn-cs"/>
            </a:endParaRPr>
          </a:p>
          <a:p>
            <a:pPr lvl="0"/>
            <a:r>
              <a:rPr lang="zh-TW" altLang="zh-TW" sz="1200" b="1" u="none" strike="noStrike" kern="1200" dirty="0">
                <a:solidFill>
                  <a:schemeClr val="tx1"/>
                </a:solidFill>
                <a:effectLst/>
                <a:latin typeface="+mn-lt"/>
                <a:ea typeface="+mn-ea"/>
                <a:cs typeface="+mn-cs"/>
              </a:rPr>
              <a:t>解耦旋轉位置編碼（Decoupled RoPE）</a:t>
            </a:r>
            <a:r>
              <a:rPr lang="zh-TW" altLang="zh-TW" sz="1200" b="0" u="none" strike="noStrike" kern="1200" dirty="0">
                <a:solidFill>
                  <a:schemeClr val="tx1"/>
                </a:solidFill>
                <a:effectLst/>
                <a:latin typeface="+mn-lt"/>
                <a:ea typeface="+mn-ea"/>
                <a:cs typeface="+mn-cs"/>
              </a:rPr>
              <a:t>：</a:t>
            </a:r>
            <a:endParaRPr lang="en-US" altLang="zh-TW" sz="1200" b="0" u="none" strike="noStrike" kern="1200" dirty="0">
              <a:solidFill>
                <a:schemeClr val="tx1"/>
              </a:solidFill>
              <a:effectLst/>
              <a:latin typeface="+mn-lt"/>
              <a:ea typeface="+mn-ea"/>
              <a:cs typeface="+mn-cs"/>
            </a:endParaRPr>
          </a:p>
          <a:p>
            <a:pPr lvl="0"/>
            <a:r>
              <a:rPr lang="zh-TW" altLang="zh-TW" sz="1200" b="0" u="none" strike="noStrike" kern="1200" dirty="0">
                <a:solidFill>
                  <a:schemeClr val="tx1"/>
                </a:solidFill>
                <a:effectLst/>
                <a:latin typeface="+mn-lt"/>
                <a:ea typeface="+mn-ea"/>
                <a:cs typeface="+mn-cs"/>
              </a:rPr>
              <a:t>傳統位置編碼會和 Key/Value 綁定在一起，破壞了矩陣壓縮的結構。</a:t>
            </a:r>
            <a:endParaRPr lang="en-US" altLang="zh-TW" sz="1200" b="0" u="none" strike="noStrike" kern="1200" dirty="0">
              <a:solidFill>
                <a:schemeClr val="tx1"/>
              </a:solidFill>
              <a:effectLst/>
              <a:latin typeface="+mn-lt"/>
              <a:ea typeface="+mn-ea"/>
              <a:cs typeface="+mn-cs"/>
            </a:endParaRPr>
          </a:p>
          <a:p>
            <a:pPr lvl="0"/>
            <a:r>
              <a:rPr lang="zh-TW" altLang="zh-TW" sz="1200" b="0" u="none" strike="noStrike" kern="1200" dirty="0">
                <a:solidFill>
                  <a:schemeClr val="tx1"/>
                </a:solidFill>
                <a:effectLst/>
                <a:latin typeface="+mn-lt"/>
                <a:ea typeface="+mn-ea"/>
                <a:cs typeface="+mn-cs"/>
              </a:rPr>
              <a:t>MLA 獨立出一小部分專門的維度來處理位置資訊（RoPE），完美兼顧了長文本位置感知與 KV 壓縮。</a:t>
            </a:r>
            <a:endParaRPr lang="en-US" altLang="zh-TW" sz="1200" b="0" u="none" strike="noStrike" kern="1200" dirty="0">
              <a:solidFill>
                <a:schemeClr val="tx1"/>
              </a:solidFill>
              <a:effectLst/>
              <a:latin typeface="+mn-lt"/>
              <a:ea typeface="+mn-ea"/>
              <a:cs typeface="+mn-cs"/>
            </a:endParaRPr>
          </a:p>
          <a:p>
            <a:pPr lvl="1"/>
            <a:endParaRPr lang="zh-TW" altLang="zh-TW" sz="1200" b="0" u="none" strike="noStrike" kern="1200" dirty="0">
              <a:solidFill>
                <a:schemeClr val="tx1"/>
              </a:solidFill>
              <a:effectLst/>
              <a:latin typeface="+mn-lt"/>
              <a:ea typeface="+mn-ea"/>
              <a:cs typeface="+mn-cs"/>
            </a:endParaRPr>
          </a:p>
          <a:p>
            <a:endParaRPr lang="zh-TW" altLang="en-US" dirty="0"/>
          </a:p>
        </p:txBody>
      </p:sp>
      <p:sp>
        <p:nvSpPr>
          <p:cNvPr id="4" name="投影片編號版面配置區 3">
            <a:extLst>
              <a:ext uri="{FF2B5EF4-FFF2-40B4-BE49-F238E27FC236}">
                <a16:creationId xmlns:a16="http://schemas.microsoft.com/office/drawing/2014/main" id="{9240F907-B297-0DEA-8915-E5EF81224F61}"/>
              </a:ext>
            </a:extLst>
          </p:cNvPr>
          <p:cNvSpPr>
            <a:spLocks noGrp="1"/>
          </p:cNvSpPr>
          <p:nvPr>
            <p:ph type="sldNum" sz="quarter" idx="5"/>
          </p:nvPr>
        </p:nvSpPr>
        <p:spPr/>
        <p:txBody>
          <a:bodyPr/>
          <a:lstStyle/>
          <a:p>
            <a:fld id="{E3A6CE5E-F349-486D-8749-82EF2AD71FA8}" type="slidenum">
              <a:rPr lang="zh-TW" altLang="en-US" smtClean="0"/>
              <a:t>10</a:t>
            </a:fld>
            <a:endParaRPr lang="zh-TW" altLang="en-US"/>
          </a:p>
        </p:txBody>
      </p:sp>
    </p:spTree>
    <p:extLst>
      <p:ext uri="{BB962C8B-B14F-4D97-AF65-F5344CB8AC3E}">
        <p14:creationId xmlns:p14="http://schemas.microsoft.com/office/powerpoint/2010/main" val="920610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11</a:t>
            </a:fld>
            <a:endParaRPr lang="zh-TW" altLang="en-US"/>
          </a:p>
        </p:txBody>
      </p:sp>
    </p:spTree>
    <p:extLst>
      <p:ext uri="{BB962C8B-B14F-4D97-AF65-F5344CB8AC3E}">
        <p14:creationId xmlns:p14="http://schemas.microsoft.com/office/powerpoint/2010/main" val="1667434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12</a:t>
            </a:fld>
            <a:endParaRPr lang="zh-TW" altLang="en-US"/>
          </a:p>
        </p:txBody>
      </p:sp>
    </p:spTree>
    <p:extLst>
      <p:ext uri="{BB962C8B-B14F-4D97-AF65-F5344CB8AC3E}">
        <p14:creationId xmlns:p14="http://schemas.microsoft.com/office/powerpoint/2010/main" val="6669671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FFFF6-2CBF-8300-113B-EC3DDABCDE2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C9BDCECB-4022-305D-2A1D-EB19C4980CE4}"/>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645B8918-8C92-3358-81A2-2E68D560F7D9}"/>
              </a:ext>
            </a:extLst>
          </p:cNvPr>
          <p:cNvSpPr>
            <a:spLocks noGrp="1"/>
          </p:cNvSpPr>
          <p:nvPr>
            <p:ph type="body" idx="1"/>
          </p:nvPr>
        </p:nvSpPr>
        <p:spPr/>
        <p:txBody>
          <a:bodyPr/>
          <a:lstStyle/>
          <a:p>
            <a:r>
              <a:rPr lang="zh-TW" altLang="zh-TW" sz="1200" b="1" u="none" strike="noStrike" kern="1200" dirty="0">
                <a:solidFill>
                  <a:schemeClr val="tx1"/>
                </a:solidFill>
                <a:effectLst/>
                <a:latin typeface="+mn-lt"/>
                <a:ea typeface="+mn-ea"/>
                <a:cs typeface="+mn-cs"/>
              </a:rPr>
              <a:t>MLA</a:t>
            </a:r>
            <a:r>
              <a:rPr lang="en-US" altLang="zh-TW" sz="1200" b="1"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V2, V3KV Cache 顯存大小橫向：壓縮</a:t>
            </a:r>
            <a:r>
              <a:rPr lang="zh-TW" altLang="zh-TW" sz="1200" b="1" u="none" strike="noStrike" kern="1200" dirty="0">
                <a:solidFill>
                  <a:schemeClr val="tx1"/>
                </a:solidFill>
                <a:effectLst/>
                <a:latin typeface="+mn-lt"/>
                <a:ea typeface="+mn-ea"/>
                <a:cs typeface="+mn-cs"/>
              </a:rPr>
              <a:t>特徵維度</a:t>
            </a:r>
            <a:r>
              <a:rPr lang="zh-TW" altLang="zh-TW" sz="1200" b="0" u="none" strike="noStrike" kern="1200" dirty="0">
                <a:solidFill>
                  <a:schemeClr val="tx1"/>
                </a:solidFill>
                <a:effectLst/>
                <a:latin typeface="+mn-lt"/>
                <a:ea typeface="+mn-ea"/>
                <a:cs typeface="+mn-cs"/>
              </a:rPr>
              <a:t> (Dim 8192 → 512) </a:t>
            </a:r>
          </a:p>
          <a:p>
            <a:r>
              <a:rPr lang="zh-TW" altLang="zh-TW" sz="1200" b="1" u="none" strike="noStrike" kern="1200" dirty="0">
                <a:solidFill>
                  <a:schemeClr val="tx1"/>
                </a:solidFill>
                <a:effectLst/>
                <a:latin typeface="+mn-lt"/>
                <a:ea typeface="+mn-ea"/>
                <a:cs typeface="+mn-cs"/>
              </a:rPr>
              <a:t>DSA</a:t>
            </a:r>
            <a:r>
              <a:rPr lang="zh-TW" altLang="zh-TW" sz="1200" b="0" u="none" strike="noStrike" kern="1200" dirty="0">
                <a:solidFill>
                  <a:schemeClr val="tx1"/>
                </a:solidFill>
                <a:effectLst/>
                <a:latin typeface="+mn-lt"/>
                <a:ea typeface="+mn-ea"/>
                <a:cs typeface="+mn-cs"/>
              </a:rPr>
              <a:t>V3.2運算量複雜度 (O(N²))縱向：動態篩選</a:t>
            </a:r>
            <a:r>
              <a:rPr lang="zh-TW" altLang="zh-TW" sz="1200" b="1" u="none" strike="noStrike" kern="1200" dirty="0">
                <a:solidFill>
                  <a:schemeClr val="tx1"/>
                </a:solidFill>
                <a:effectLst/>
                <a:latin typeface="+mn-lt"/>
                <a:ea typeface="+mn-ea"/>
                <a:cs typeface="+mn-cs"/>
              </a:rPr>
              <a:t>單個 Token</a:t>
            </a:r>
            <a:r>
              <a:rPr lang="zh-TW" altLang="zh-TW" sz="1200" b="0" u="none" strike="noStrike" kern="1200" dirty="0">
                <a:solidFill>
                  <a:schemeClr val="tx1"/>
                </a:solidFill>
                <a:effectLst/>
                <a:latin typeface="+mn-lt"/>
                <a:ea typeface="+mn-ea"/>
                <a:cs typeface="+mn-cs"/>
              </a:rPr>
              <a:t> (Top-K)</a:t>
            </a:r>
          </a:p>
          <a:p>
            <a:r>
              <a:rPr lang="zh-TW" altLang="zh-TW" sz="1200" b="1" u="none" strike="noStrike" kern="1200" dirty="0">
                <a:solidFill>
                  <a:schemeClr val="tx1"/>
                </a:solidFill>
                <a:effectLst/>
                <a:latin typeface="+mn-lt"/>
                <a:ea typeface="+mn-ea"/>
                <a:cs typeface="+mn-cs"/>
              </a:rPr>
              <a:t>HCA</a:t>
            </a:r>
            <a:r>
              <a:rPr lang="zh-TW" altLang="zh-TW" sz="1200" b="0" u="none" strike="noStrike" kern="1200" dirty="0">
                <a:solidFill>
                  <a:schemeClr val="tx1"/>
                </a:solidFill>
                <a:effectLst/>
                <a:latin typeface="+mn-lt"/>
                <a:ea typeface="+mn-ea"/>
                <a:cs typeface="+mn-cs"/>
              </a:rPr>
              <a:t>V41M 長文本的宏觀視野縱向：重度聚合</a:t>
            </a:r>
            <a:r>
              <a:rPr lang="zh-TW" altLang="zh-TW" sz="1200" b="1" u="none" strike="noStrike" kern="1200" dirty="0">
                <a:solidFill>
                  <a:schemeClr val="tx1"/>
                </a:solidFill>
                <a:effectLst/>
                <a:latin typeface="+mn-lt"/>
                <a:ea typeface="+mn-ea"/>
                <a:cs typeface="+mn-cs"/>
              </a:rPr>
              <a:t>時間區間</a:t>
            </a:r>
            <a:r>
              <a:rPr lang="zh-TW" altLang="zh-TW" sz="1200" b="0" u="none" strike="noStrike" kern="1200" dirty="0">
                <a:solidFill>
                  <a:schemeClr val="tx1"/>
                </a:solidFill>
                <a:effectLst/>
                <a:latin typeface="+mn-lt"/>
                <a:ea typeface="+mn-ea"/>
                <a:cs typeface="+mn-cs"/>
              </a:rPr>
              <a:t> (128 → 1) </a:t>
            </a:r>
          </a:p>
          <a:p>
            <a:r>
              <a:rPr lang="zh-TW" altLang="zh-TW" sz="1200" b="1" u="none" strike="noStrike" kern="1200" dirty="0">
                <a:solidFill>
                  <a:schemeClr val="tx1"/>
                </a:solidFill>
                <a:effectLst/>
                <a:latin typeface="+mn-lt"/>
                <a:ea typeface="+mn-ea"/>
                <a:cs typeface="+mn-cs"/>
              </a:rPr>
              <a:t>CSA</a:t>
            </a:r>
            <a:r>
              <a:rPr lang="zh-TW" altLang="zh-TW" sz="1200" b="0" u="none" strike="noStrike" kern="1200" dirty="0">
                <a:solidFill>
                  <a:schemeClr val="tx1"/>
                </a:solidFill>
                <a:effectLst/>
                <a:latin typeface="+mn-lt"/>
                <a:ea typeface="+mn-ea"/>
                <a:cs typeface="+mn-cs"/>
              </a:rPr>
              <a:t>V41M 長文本的細粒度檢索縱橫結合：先 </a:t>
            </a:r>
            <a:r>
              <a:rPr lang="zh-TW" altLang="zh-TW" sz="1200" b="1" u="none" strike="noStrike" kern="1200" dirty="0">
                <a:solidFill>
                  <a:schemeClr val="tx1"/>
                </a:solidFill>
                <a:effectLst/>
                <a:latin typeface="+mn-lt"/>
                <a:ea typeface="+mn-ea"/>
                <a:cs typeface="+mn-cs"/>
              </a:rPr>
              <a:t>4:1 壓縮</a:t>
            </a:r>
            <a:r>
              <a:rPr lang="zh-TW" altLang="zh-TW" sz="1200" b="0" u="none" strike="noStrike" kern="1200" dirty="0">
                <a:solidFill>
                  <a:schemeClr val="tx1"/>
                </a:solidFill>
                <a:effectLst/>
                <a:latin typeface="+mn-lt"/>
                <a:ea typeface="+mn-ea"/>
                <a:cs typeface="+mn-cs"/>
              </a:rPr>
              <a:t>再做 </a:t>
            </a:r>
            <a:r>
              <a:rPr lang="zh-TW" altLang="zh-TW" sz="1200" b="1" u="none" strike="noStrike" kern="1200" dirty="0">
                <a:solidFill>
                  <a:schemeClr val="tx1"/>
                </a:solidFill>
                <a:effectLst/>
                <a:latin typeface="+mn-lt"/>
                <a:ea typeface="+mn-ea"/>
                <a:cs typeface="+mn-cs"/>
              </a:rPr>
              <a:t>Top-K 塊篩選</a:t>
            </a:r>
            <a:r>
              <a:rPr lang="zh-TW" altLang="zh-TW" sz="1200" b="0" u="none" strike="noStrike" kern="1200" dirty="0">
                <a:solidFill>
                  <a:schemeClr val="tx1"/>
                </a:solidFill>
                <a:effectLst/>
                <a:latin typeface="+mn-lt"/>
                <a:ea typeface="+mn-ea"/>
                <a:cs typeface="+mn-cs"/>
              </a:rPr>
              <a:t> </a:t>
            </a:r>
          </a:p>
          <a:p>
            <a:pPr lvl="0"/>
            <a:endParaRPr lang="en-US" altLang="zh-TW" sz="1200" b="0" u="none" strike="noStrike" kern="1200" dirty="0">
              <a:solidFill>
                <a:schemeClr val="tx1"/>
              </a:solidFill>
              <a:effectLst/>
              <a:latin typeface="+mn-lt"/>
              <a:ea typeface="+mn-ea"/>
              <a:cs typeface="+mn-cs"/>
            </a:endParaRPr>
          </a:p>
          <a:p>
            <a:pPr lvl="0"/>
            <a:endParaRPr lang="en-US" altLang="zh-TW" sz="1200" b="0" u="none" strike="noStrike" kern="1200" dirty="0">
              <a:solidFill>
                <a:schemeClr val="tx1"/>
              </a:solidFill>
              <a:effectLst/>
              <a:latin typeface="+mn-lt"/>
              <a:ea typeface="+mn-ea"/>
              <a:cs typeface="+mn-cs"/>
            </a:endParaRPr>
          </a:p>
          <a:p>
            <a:pPr lvl="0"/>
            <a:endParaRPr lang="en-US" altLang="zh-TW" sz="1200" b="0" u="none" strike="noStrike" kern="1200" dirty="0">
              <a:solidFill>
                <a:schemeClr val="tx1"/>
              </a:solidFill>
              <a:effectLst/>
              <a:latin typeface="+mn-lt"/>
              <a:ea typeface="+mn-ea"/>
              <a:cs typeface="+mn-cs"/>
            </a:endParaRPr>
          </a:p>
          <a:p>
            <a:pPr lvl="0"/>
            <a:endParaRPr lang="en-US" altLang="zh-TW" sz="1200" b="0" u="none" strike="noStrike" kern="1200" dirty="0">
              <a:solidFill>
                <a:schemeClr val="tx1"/>
              </a:solidFill>
              <a:effectLst/>
              <a:latin typeface="+mn-lt"/>
              <a:ea typeface="+mn-ea"/>
              <a:cs typeface="+mn-cs"/>
            </a:endParaRPr>
          </a:p>
          <a:p>
            <a:pPr lvl="0"/>
            <a:endParaRPr lang="en-US" altLang="zh-TW" sz="1200" b="0" u="none" strike="noStrike" kern="1200" dirty="0">
              <a:solidFill>
                <a:schemeClr val="tx1"/>
              </a:solidFill>
              <a:effectLst/>
              <a:latin typeface="+mn-lt"/>
              <a:ea typeface="+mn-ea"/>
              <a:cs typeface="+mn-cs"/>
            </a:endParaRPr>
          </a:p>
          <a:p>
            <a:pPr lvl="0"/>
            <a:endParaRPr lang="zh-TW" altLang="zh-TW" sz="1200" b="0" u="none" strike="noStrike" kern="1200" dirty="0">
              <a:solidFill>
                <a:schemeClr val="tx1"/>
              </a:solidFill>
              <a:effectLst/>
              <a:latin typeface="+mn-lt"/>
              <a:ea typeface="+mn-ea"/>
              <a:cs typeface="+mn-cs"/>
            </a:endParaRPr>
          </a:p>
        </p:txBody>
      </p:sp>
      <p:sp>
        <p:nvSpPr>
          <p:cNvPr id="4" name="投影片編號版面配置區 3">
            <a:extLst>
              <a:ext uri="{FF2B5EF4-FFF2-40B4-BE49-F238E27FC236}">
                <a16:creationId xmlns:a16="http://schemas.microsoft.com/office/drawing/2014/main" id="{10192911-3471-19CB-5ED9-6FC7027DB73E}"/>
              </a:ext>
            </a:extLst>
          </p:cNvPr>
          <p:cNvSpPr>
            <a:spLocks noGrp="1"/>
          </p:cNvSpPr>
          <p:nvPr>
            <p:ph type="sldNum" sz="quarter" idx="5"/>
          </p:nvPr>
        </p:nvSpPr>
        <p:spPr/>
        <p:txBody>
          <a:bodyPr/>
          <a:lstStyle/>
          <a:p>
            <a:fld id="{E3A6CE5E-F349-486D-8749-82EF2AD71FA8}" type="slidenum">
              <a:rPr lang="zh-TW" altLang="en-US" smtClean="0"/>
              <a:t>13</a:t>
            </a:fld>
            <a:endParaRPr lang="zh-TW" altLang="en-US"/>
          </a:p>
        </p:txBody>
      </p:sp>
    </p:spTree>
    <p:extLst>
      <p:ext uri="{BB962C8B-B14F-4D97-AF65-F5344CB8AC3E}">
        <p14:creationId xmlns:p14="http://schemas.microsoft.com/office/powerpoint/2010/main" val="30229445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148A7-E727-1876-EEC2-EE1FF967761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8CDA593-F947-4F86-E4E2-84C334DA1432}"/>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C6618D0F-A824-BF63-762D-700713FACC9C}"/>
              </a:ext>
            </a:extLst>
          </p:cNvPr>
          <p:cNvSpPr>
            <a:spLocks noGrp="1"/>
          </p:cNvSpPr>
          <p:nvPr>
            <p:ph type="body" idx="1"/>
          </p:nvPr>
        </p:nvSpPr>
        <p:spPr/>
        <p:txBody>
          <a:bodyPr/>
          <a:lstStyle/>
          <a:p>
            <a:endParaRPr lang="zh-TW" altLang="zh-TW" sz="1200" b="0" u="none" strike="noStrike" kern="1200" dirty="0">
              <a:solidFill>
                <a:schemeClr val="tx1"/>
              </a:solidFill>
              <a:effectLst/>
              <a:latin typeface="+mn-lt"/>
              <a:ea typeface="+mn-ea"/>
              <a:cs typeface="+mn-cs"/>
            </a:endParaRPr>
          </a:p>
        </p:txBody>
      </p:sp>
      <p:sp>
        <p:nvSpPr>
          <p:cNvPr id="4" name="投影片編號版面配置區 3">
            <a:extLst>
              <a:ext uri="{FF2B5EF4-FFF2-40B4-BE49-F238E27FC236}">
                <a16:creationId xmlns:a16="http://schemas.microsoft.com/office/drawing/2014/main" id="{A96DCFCD-5664-3FB0-02E6-0DE7A8DF9D26}"/>
              </a:ext>
            </a:extLst>
          </p:cNvPr>
          <p:cNvSpPr>
            <a:spLocks noGrp="1"/>
          </p:cNvSpPr>
          <p:nvPr>
            <p:ph type="sldNum" sz="quarter" idx="5"/>
          </p:nvPr>
        </p:nvSpPr>
        <p:spPr/>
        <p:txBody>
          <a:bodyPr/>
          <a:lstStyle/>
          <a:p>
            <a:fld id="{E3A6CE5E-F349-486D-8749-82EF2AD71FA8}" type="slidenum">
              <a:rPr lang="zh-TW" altLang="en-US" smtClean="0"/>
              <a:t>17</a:t>
            </a:fld>
            <a:endParaRPr lang="zh-TW" altLang="en-US"/>
          </a:p>
        </p:txBody>
      </p:sp>
    </p:spTree>
    <p:extLst>
      <p:ext uri="{BB962C8B-B14F-4D97-AF65-F5344CB8AC3E}">
        <p14:creationId xmlns:p14="http://schemas.microsoft.com/office/powerpoint/2010/main" val="24181901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18</a:t>
            </a:fld>
            <a:endParaRPr lang="zh-TW" altLang="en-US"/>
          </a:p>
        </p:txBody>
      </p:sp>
    </p:spTree>
    <p:extLst>
      <p:ext uri="{BB962C8B-B14F-4D97-AF65-F5344CB8AC3E}">
        <p14:creationId xmlns:p14="http://schemas.microsoft.com/office/powerpoint/2010/main" val="2557286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2529A-4EF9-2EEE-5A60-C291D7D7775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C0779BF-F829-C373-BE62-F8275D55A9B4}"/>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BB531954-A0C7-0F67-E78A-CBF9608AE9E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lang="en-US" altLang="zh-TW" dirty="0"/>
            </a:br>
            <a:r>
              <a:rPr lang="en-US" altLang="zh-TW" dirty="0"/>
              <a:t>Gemma</a:t>
            </a:r>
            <a:r>
              <a:rPr lang="zh-TW" altLang="en-US" dirty="0"/>
              <a:t> </a:t>
            </a:r>
            <a:r>
              <a:rPr lang="en-US" altLang="zh-TW" dirty="0"/>
              <a:t>4</a:t>
            </a:r>
            <a:r>
              <a:rPr lang="zh-TW" altLang="en-US" dirty="0"/>
              <a:t> </a:t>
            </a:r>
            <a:r>
              <a:rPr lang="en-US" altLang="zh-TW" dirty="0"/>
              <a:t>12B</a:t>
            </a:r>
            <a:r>
              <a:rPr lang="zh-TW" altLang="en-US" dirty="0"/>
              <a:t> 統一架構</a:t>
            </a:r>
            <a:r>
              <a:rPr lang="en-US" altLang="zh-TW" dirty="0"/>
              <a:t>,</a:t>
            </a:r>
            <a:r>
              <a:rPr lang="zh-TW" altLang="en-US" dirty="0"/>
              <a:t> </a:t>
            </a:r>
            <a:r>
              <a:rPr lang="zh-TW" altLang="zh-TW" dirty="0"/>
              <a:t>層級嵌入 PLE</a:t>
            </a:r>
            <a:endParaRPr lang="zh-TW" altLang="en-US" dirty="0"/>
          </a:p>
          <a:p>
            <a:br>
              <a:rPr lang="en-US" altLang="zh-TW" sz="1200" b="1" u="none" strike="noStrike" kern="1200" dirty="0">
                <a:solidFill>
                  <a:schemeClr val="tx1"/>
                </a:solidFill>
                <a:effectLst/>
                <a:latin typeface="+mn-lt"/>
                <a:ea typeface="+mn-ea"/>
                <a:cs typeface="+mn-cs"/>
              </a:rPr>
            </a:br>
            <a:r>
              <a:rPr lang="zh-TW" altLang="zh-TW" sz="1200" b="1" u="none" strike="noStrike" kern="1200" dirty="0">
                <a:solidFill>
                  <a:schemeClr val="tx1"/>
                </a:solidFill>
                <a:effectLst/>
                <a:latin typeface="+mn-lt"/>
                <a:ea typeface="+mn-ea"/>
                <a:cs typeface="+mn-cs"/>
              </a:rPr>
              <a:t>多模態 AI 的架構簡介（從傳統到現代）</a:t>
            </a:r>
            <a:r>
              <a:rPr lang="zh-TW" altLang="zh-TW" sz="1200" b="0" u="none" strike="noStrike" kern="1200" dirty="0">
                <a:solidFill>
                  <a:schemeClr val="tx1"/>
                </a:solidFill>
                <a:effectLst/>
                <a:latin typeface="+mn-lt"/>
                <a:ea typeface="+mn-ea"/>
                <a:cs typeface="+mn-cs"/>
              </a:rPr>
              <a:t>要在同一個 AI 模型裡同時塞入「文字、圖片、聲音」</a:t>
            </a:r>
            <a:r>
              <a:rPr lang="en-US"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技術架構經歷了兩個世代演變：</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傳統架構：橋接法 (Encoder-based Architecture)</a:t>
            </a:r>
            <a:r>
              <a:rPr lang="en-US" altLang="zh-TW" sz="1200" b="1"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以往的 LLaVA 或舊型多模態模型，就像是「拼裝車」：</a:t>
            </a:r>
          </a:p>
          <a:p>
            <a:r>
              <a:rPr lang="zh-TW" altLang="zh-TW" sz="1200" b="1" u="none" strike="noStrike" kern="1200" dirty="0">
                <a:solidFill>
                  <a:schemeClr val="tx1"/>
                </a:solidFill>
                <a:effectLst/>
                <a:latin typeface="+mn-lt"/>
                <a:ea typeface="+mn-ea"/>
                <a:cs typeface="+mn-cs"/>
              </a:rPr>
              <a:t>外掛多個編編碼器 (Encoders)</a:t>
            </a:r>
            <a:r>
              <a:rPr lang="zh-TW" altLang="zh-TW" sz="1200" b="0" u="none" strike="noStrike" kern="1200" dirty="0">
                <a:solidFill>
                  <a:schemeClr val="tx1"/>
                </a:solidFill>
                <a:effectLst/>
                <a:latin typeface="+mn-lt"/>
                <a:ea typeface="+mn-ea"/>
                <a:cs typeface="+mn-cs"/>
              </a:rPr>
              <a:t>：文字有文字的處理器、圖片有專屬的視覺編碼器（如 CLIP）、聲音有語音編碼器。</a:t>
            </a:r>
          </a:p>
          <a:p>
            <a:r>
              <a:rPr lang="zh-TW" altLang="zh-TW" sz="1200" b="1" u="none" strike="noStrike" kern="1200" dirty="0">
                <a:solidFill>
                  <a:schemeClr val="tx1"/>
                </a:solidFill>
                <a:effectLst/>
                <a:latin typeface="+mn-lt"/>
                <a:ea typeface="+mn-ea"/>
                <a:cs typeface="+mn-cs"/>
              </a:rPr>
              <a:t>對齊層 (Projection Layer)</a:t>
            </a:r>
            <a:r>
              <a:rPr lang="zh-TW" altLang="zh-TW" sz="1200" b="0" u="none" strike="noStrike" kern="1200" dirty="0">
                <a:solidFill>
                  <a:schemeClr val="tx1"/>
                </a:solidFill>
                <a:effectLst/>
                <a:latin typeface="+mn-lt"/>
                <a:ea typeface="+mn-ea"/>
                <a:cs typeface="+mn-cs"/>
              </a:rPr>
              <a:t>：中間用一個轉換層，把圖片和聲音的訊號「強行翻譯」成文字看得懂的向量。</a:t>
            </a:r>
          </a:p>
          <a:p>
            <a:r>
              <a:rPr lang="zh-TW" altLang="zh-TW" sz="1200" b="1" u="none" strike="noStrike" kern="1200" dirty="0">
                <a:solidFill>
                  <a:schemeClr val="tx1"/>
                </a:solidFill>
                <a:effectLst/>
                <a:latin typeface="+mn-lt"/>
                <a:ea typeface="+mn-ea"/>
                <a:cs typeface="+mn-cs"/>
              </a:rPr>
              <a:t>丟入 LLM</a:t>
            </a:r>
            <a:r>
              <a:rPr lang="zh-TW" altLang="zh-TW" sz="1200" b="0" u="none" strike="noStrike" kern="1200" dirty="0">
                <a:solidFill>
                  <a:schemeClr val="tx1"/>
                </a:solidFill>
                <a:effectLst/>
                <a:latin typeface="+mn-lt"/>
                <a:ea typeface="+mn-ea"/>
                <a:cs typeface="+mn-cs"/>
              </a:rPr>
              <a:t>：最後才餵給主要的大型語言模型。 </a:t>
            </a:r>
            <a:endParaRPr lang="en-US" altLang="zh-TW" sz="1200" b="0" u="none" strike="noStrike" kern="1200" dirty="0">
              <a:solidFill>
                <a:schemeClr val="tx1"/>
              </a:solidFill>
              <a:effectLst/>
              <a:latin typeface="+mn-lt"/>
              <a:ea typeface="+mn-ea"/>
              <a:cs typeface="+mn-cs"/>
            </a:endParaRPr>
          </a:p>
          <a:p>
            <a:r>
              <a:rPr lang="zh-TW" altLang="zh-TW" sz="1200" b="0" i="1" u="none" strike="noStrike" kern="1200" dirty="0">
                <a:solidFill>
                  <a:schemeClr val="tx1"/>
                </a:solidFill>
                <a:effectLst/>
                <a:latin typeface="+mn-lt"/>
                <a:ea typeface="+mn-ea"/>
                <a:cs typeface="+mn-cs"/>
              </a:rPr>
              <a:t>缺點</a:t>
            </a:r>
            <a:r>
              <a:rPr lang="zh-TW" altLang="zh-TW" sz="1200" b="0" u="none" strike="noStrike" kern="1200" dirty="0">
                <a:solidFill>
                  <a:schemeClr val="tx1"/>
                </a:solidFill>
                <a:effectLst/>
                <a:latin typeface="+mn-lt"/>
                <a:ea typeface="+mn-ea"/>
                <a:cs typeface="+mn-cs"/>
              </a:rPr>
              <a:t>：編碼器體積龐大</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數億參數</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、會卡死微調</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Fine-tuning</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的彈性</a:t>
            </a:r>
            <a:r>
              <a:rPr lang="en-US"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且在轉換過程中容易漏掉細節。 </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現代/未來架構：原生統一法 (Native Unified / Encoder-Free Architecture)</a:t>
            </a:r>
          </a:p>
          <a:p>
            <a:r>
              <a:rPr lang="zh-TW" altLang="zh-TW" sz="1200" b="0" u="none" strike="noStrike" kern="1200" dirty="0">
                <a:solidFill>
                  <a:schemeClr val="tx1"/>
                </a:solidFill>
                <a:effectLst/>
                <a:latin typeface="+mn-lt"/>
                <a:ea typeface="+mn-ea"/>
                <a:cs typeface="+mn-cs"/>
              </a:rPr>
              <a:t>這也是 </a:t>
            </a:r>
            <a:r>
              <a:rPr lang="zh-TW" altLang="zh-TW" sz="1200" b="1" u="none" strike="noStrike" kern="1200" dirty="0">
                <a:solidFill>
                  <a:schemeClr val="tx1"/>
                </a:solidFill>
                <a:effectLst/>
                <a:latin typeface="+mn-lt"/>
                <a:ea typeface="+mn-ea"/>
                <a:cs typeface="+mn-cs"/>
              </a:rPr>
              <a:t>Gemma 4 的核心突破</a:t>
            </a:r>
            <a:r>
              <a:rPr lang="zh-TW" altLang="zh-TW" sz="1200" b="0" u="none" strike="noStrike" kern="1200" dirty="0">
                <a:solidFill>
                  <a:schemeClr val="tx1"/>
                </a:solidFill>
                <a:effectLst/>
                <a:latin typeface="+mn-lt"/>
                <a:ea typeface="+mn-ea"/>
                <a:cs typeface="+mn-cs"/>
              </a:rPr>
              <a:t>！科學家發現，不需要外掛這麼多編碼器，主要的大腦</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LLM</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本質上就夠聰明了。</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直接線性投影 (Linear Projection)</a:t>
            </a:r>
            <a:r>
              <a:rPr lang="zh-TW" altLang="zh-TW" sz="1200" b="0" u="none" strike="noStrike" kern="1200" dirty="0">
                <a:solidFill>
                  <a:schemeClr val="tx1"/>
                </a:solidFill>
                <a:effectLst/>
                <a:latin typeface="+mn-lt"/>
                <a:ea typeface="+mn-ea"/>
                <a:cs typeface="+mn-cs"/>
              </a:rPr>
              <a:t>：圖片或聲音不經過外部編碼器加工，直接切碎並透過一個極輕量的線性模組轉成標記（Tokens）。</a:t>
            </a:r>
          </a:p>
          <a:p>
            <a:r>
              <a:rPr lang="zh-TW" altLang="zh-TW" sz="1200" b="1" u="none" strike="noStrike" kern="1200" dirty="0">
                <a:solidFill>
                  <a:schemeClr val="tx1"/>
                </a:solidFill>
                <a:effectLst/>
                <a:latin typeface="+mn-lt"/>
                <a:ea typeface="+mn-ea"/>
                <a:cs typeface="+mn-cs"/>
              </a:rPr>
              <a:t>一體化推論</a:t>
            </a:r>
            <a:r>
              <a:rPr lang="zh-TW" altLang="zh-TW" sz="1200" b="0" u="none" strike="noStrike" kern="1200" dirty="0">
                <a:solidFill>
                  <a:schemeClr val="tx1"/>
                </a:solidFill>
                <a:effectLst/>
                <a:latin typeface="+mn-lt"/>
                <a:ea typeface="+mn-ea"/>
                <a:cs typeface="+mn-cs"/>
              </a:rPr>
              <a:t>：多種模態的資料直接在同一個核心架構（Backbone）裡混合、計算。 </a:t>
            </a:r>
          </a:p>
          <a:p>
            <a:r>
              <a:rPr lang="zh-TW" altLang="zh-TW" sz="1200" b="0" i="1" u="none" strike="noStrike" kern="1200" dirty="0">
                <a:solidFill>
                  <a:schemeClr val="tx1"/>
                </a:solidFill>
                <a:effectLst/>
                <a:latin typeface="+mn-lt"/>
                <a:ea typeface="+mn-ea"/>
                <a:cs typeface="+mn-cs"/>
              </a:rPr>
              <a:t>優點</a:t>
            </a:r>
            <a:r>
              <a:rPr lang="zh-TW" altLang="zh-TW" sz="1200" b="0" u="none" strike="noStrike" kern="1200" dirty="0">
                <a:solidFill>
                  <a:schemeClr val="tx1"/>
                </a:solidFill>
                <a:effectLst/>
                <a:latin typeface="+mn-lt"/>
                <a:ea typeface="+mn-ea"/>
                <a:cs typeface="+mn-cs"/>
              </a:rPr>
              <a:t>：推論速度極快、模型體積大幅縮小，而且文字、圖片、音訊可以完美融合在同一個資料流中，大幅降低硬體門檻。</a:t>
            </a:r>
          </a:p>
          <a:p>
            <a:endParaRPr lang="en-US" altLang="zh-TW" dirty="0"/>
          </a:p>
          <a:p>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200" b="0" i="0" u="none" strike="noStrike" kern="1200" cap="none" spc="0" normalizeH="0" baseline="0" noProof="0" dirty="0">
                <a:ln>
                  <a:noFill/>
                </a:ln>
                <a:solidFill>
                  <a:prstClr val="white">
                    <a:lumMod val="50000"/>
                  </a:prstClr>
                </a:solidFill>
                <a:effectLst/>
                <a:uLnTx/>
                <a:uFillTx/>
                <a:latin typeface="+mn-lt"/>
                <a:ea typeface="+mn-ea"/>
                <a:cs typeface="+mn-cs"/>
              </a:rPr>
              <a:t>計算</a:t>
            </a:r>
            <a:r>
              <a:rPr kumimoji="0" lang="en-US" altLang="zh-TW" sz="1200" b="0" i="0" u="none" strike="noStrike" kern="1200" cap="none" spc="0" normalizeH="0" baseline="0" noProof="0" dirty="0">
                <a:ln>
                  <a:noFill/>
                </a:ln>
                <a:solidFill>
                  <a:prstClr val="white">
                    <a:lumMod val="50000"/>
                  </a:prstClr>
                </a:solidFill>
                <a:effectLst/>
                <a:uLnTx/>
                <a:uFillTx/>
                <a:latin typeface="+mn-lt"/>
                <a:ea typeface="+mn-ea"/>
                <a:cs typeface="+mn-cs"/>
              </a:rPr>
              <a:t>memory</a:t>
            </a:r>
            <a:r>
              <a:rPr kumimoji="0" lang="zh-TW" altLang="en-US" sz="1200" b="0" i="0" u="none" strike="noStrike" kern="1200" cap="none" spc="0" normalizeH="0" baseline="0" noProof="0" dirty="0">
                <a:ln>
                  <a:noFill/>
                </a:ln>
                <a:solidFill>
                  <a:prstClr val="white">
                    <a:lumMod val="50000"/>
                  </a:prstClr>
                </a:solidFill>
                <a:effectLst/>
                <a:uLnTx/>
                <a:uFillTx/>
                <a:latin typeface="+mn-lt"/>
                <a:ea typeface="+mn-ea"/>
                <a:cs typeface="+mn-cs"/>
              </a:rPr>
              <a:t>用量</a:t>
            </a:r>
            <a:r>
              <a:rPr kumimoji="0" lang="en-US" altLang="zh-TW" sz="1200" b="0" i="0" u="none" strike="noStrike" kern="1200" cap="none" spc="0" normalizeH="0" baseline="0" noProof="0" dirty="0">
                <a:ln>
                  <a:noFill/>
                </a:ln>
                <a:solidFill>
                  <a:prstClr val="white">
                    <a:lumMod val="50000"/>
                  </a:prstClr>
                </a:solidFill>
                <a:effectLst/>
                <a:uLnTx/>
                <a:uFillTx/>
                <a:latin typeface="+mn-lt"/>
                <a:ea typeface="+mn-ea"/>
                <a:cs typeface="+mn-cs"/>
              </a:rPr>
              <a:t>? </a:t>
            </a:r>
            <a:r>
              <a:rPr kumimoji="0" lang="zh-TW" altLang="en-US" sz="1200" b="0" i="0" u="none" strike="noStrike" kern="1200" cap="none" spc="0" normalizeH="0" baseline="0" noProof="0" dirty="0">
                <a:ln>
                  <a:noFill/>
                </a:ln>
                <a:solidFill>
                  <a:prstClr val="white">
                    <a:lumMod val="50000"/>
                  </a:prstClr>
                </a:solidFill>
                <a:effectLst/>
                <a:uLnTx/>
                <a:uFillTx/>
                <a:latin typeface="+mn-lt"/>
                <a:ea typeface="+mn-ea"/>
                <a:cs typeface="+mn-cs"/>
              </a:rPr>
              <a:t>計算用電</a:t>
            </a:r>
            <a:r>
              <a:rPr kumimoji="0" lang="en-US" altLang="zh-TW" sz="1200" b="0" i="0" u="none" strike="noStrike" kern="1200" cap="none" spc="0" normalizeH="0" baseline="0" noProof="0" dirty="0">
                <a:ln>
                  <a:noFill/>
                </a:ln>
                <a:solidFill>
                  <a:prstClr val="white">
                    <a:lumMod val="50000"/>
                  </a:prstClr>
                </a:solidFill>
                <a:effectLst/>
                <a:uLnTx/>
                <a:uFillTx/>
                <a:latin typeface="+mn-lt"/>
                <a:ea typeface="+mn-ea"/>
                <a:cs typeface="+mn-cs"/>
              </a:rPr>
              <a:t>? </a:t>
            </a:r>
            <a:r>
              <a:rPr kumimoji="0" lang="zh-TW" altLang="en-US" sz="1200" b="0" i="0" u="none" strike="noStrike" kern="1200" cap="none" spc="0" normalizeH="0" baseline="0" noProof="0" dirty="0">
                <a:ln>
                  <a:noFill/>
                </a:ln>
                <a:solidFill>
                  <a:prstClr val="white">
                    <a:lumMod val="50000"/>
                  </a:prstClr>
                </a:solidFill>
                <a:effectLst/>
                <a:uLnTx/>
                <a:uFillTx/>
                <a:latin typeface="+mn-lt"/>
                <a:ea typeface="+mn-ea"/>
                <a:cs typeface="+mn-cs"/>
              </a:rPr>
              <a:t>如何知道級距</a:t>
            </a:r>
            <a:r>
              <a:rPr kumimoji="0" lang="en-US" altLang="zh-TW" sz="1200" b="0" i="0" u="none" strike="noStrike" kern="1200" cap="none" spc="0" normalizeH="0" baseline="0" noProof="0" dirty="0">
                <a:ln>
                  <a:noFill/>
                </a:ln>
                <a:solidFill>
                  <a:prstClr val="white">
                    <a:lumMod val="50000"/>
                  </a:prstClr>
                </a:solidFill>
                <a:effectLst/>
                <a:uLnTx/>
                <a:uFillTx/>
                <a:latin typeface="+mn-lt"/>
                <a:ea typeface="+mn-ea"/>
                <a:cs typeface="+mn-cs"/>
              </a:rPr>
              <a:t>?</a:t>
            </a:r>
            <a:r>
              <a:rPr kumimoji="0" lang="zh-TW" altLang="en-US" sz="1200" b="0" i="0" u="none" strike="noStrike" kern="1200" cap="none" spc="0" normalizeH="0" baseline="0" noProof="0" dirty="0">
                <a:ln>
                  <a:noFill/>
                </a:ln>
                <a:solidFill>
                  <a:prstClr val="white">
                    <a:lumMod val="50000"/>
                  </a:prstClr>
                </a:solidFill>
                <a:effectLst/>
                <a:uLnTx/>
                <a:uFillTx/>
                <a:latin typeface="+mn-lt"/>
                <a:ea typeface="+mn-ea"/>
                <a:cs typeface="+mn-cs"/>
              </a:rPr>
              <a:t> 用雲端服務建立準線。</a:t>
            </a:r>
            <a:endParaRPr kumimoji="0" lang="en-US" altLang="zh-TW" sz="1200" b="0" i="0" u="none" strike="noStrike" kern="1200" cap="none" spc="0" normalizeH="0" baseline="0" noProof="0" dirty="0">
              <a:ln>
                <a:noFill/>
              </a:ln>
              <a:solidFill>
                <a:prstClr val="white">
                  <a:lumMod val="50000"/>
                </a:prstClr>
              </a:solidFill>
              <a:effectLst/>
              <a:uLnTx/>
              <a:uFillTx/>
              <a:latin typeface="+mn-lt"/>
              <a:ea typeface="+mn-ea"/>
              <a:cs typeface="+mn-cs"/>
            </a:endParaRPr>
          </a:p>
          <a:p>
            <a:endParaRPr lang="zh-TW" altLang="en-US" dirty="0"/>
          </a:p>
        </p:txBody>
      </p:sp>
      <p:sp>
        <p:nvSpPr>
          <p:cNvPr id="4" name="投影片編號版面配置區 3">
            <a:extLst>
              <a:ext uri="{FF2B5EF4-FFF2-40B4-BE49-F238E27FC236}">
                <a16:creationId xmlns:a16="http://schemas.microsoft.com/office/drawing/2014/main" id="{294B2211-4D24-D0CD-E8B5-6DAC6082A825}"/>
              </a:ext>
            </a:extLst>
          </p:cNvPr>
          <p:cNvSpPr>
            <a:spLocks noGrp="1"/>
          </p:cNvSpPr>
          <p:nvPr>
            <p:ph type="sldNum" sz="quarter" idx="5"/>
          </p:nvPr>
        </p:nvSpPr>
        <p:spPr/>
        <p:txBody>
          <a:bodyPr/>
          <a:lstStyle/>
          <a:p>
            <a:fld id="{E3A6CE5E-F349-486D-8749-82EF2AD71FA8}" type="slidenum">
              <a:rPr lang="zh-TW" altLang="en-US" smtClean="0"/>
              <a:t>23</a:t>
            </a:fld>
            <a:endParaRPr lang="zh-TW" altLang="en-US"/>
          </a:p>
        </p:txBody>
      </p:sp>
    </p:spTree>
    <p:extLst>
      <p:ext uri="{BB962C8B-B14F-4D97-AF65-F5344CB8AC3E}">
        <p14:creationId xmlns:p14="http://schemas.microsoft.com/office/powerpoint/2010/main" val="41377546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3DBA0-5016-15B9-B336-967BC65044C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8CEE158-7518-B36E-6B39-A56DF4E6EB9E}"/>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1AE68B9F-F26F-17C6-19AE-499CDA9202C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AI</a:t>
            </a:r>
            <a:r>
              <a:rPr lang="zh-TW" altLang="en-US" dirty="0"/>
              <a:t>的強弱</a:t>
            </a:r>
            <a:r>
              <a:rPr lang="en-US" altLang="zh-TW" dirty="0"/>
              <a:t>:</a:t>
            </a:r>
            <a:r>
              <a:rPr lang="zh-TW" altLang="en-US" dirty="0"/>
              <a:t> 取決於數據</a:t>
            </a:r>
            <a:r>
              <a:rPr lang="en-US" altLang="zh-TW" dirty="0"/>
              <a:t>(data),</a:t>
            </a:r>
            <a:r>
              <a:rPr lang="zh-TW" altLang="en-US" dirty="0"/>
              <a:t> 算法</a:t>
            </a:r>
            <a:r>
              <a:rPr lang="en-US" altLang="zh-TW" dirty="0"/>
              <a:t>(algorithm), </a:t>
            </a:r>
            <a:r>
              <a:rPr lang="zh-TW" altLang="en-US" dirty="0"/>
              <a:t>算力</a:t>
            </a:r>
            <a:r>
              <a:rPr lang="en-US" altLang="zh-TW" dirty="0"/>
              <a:t>(computing)</a:t>
            </a:r>
          </a:p>
          <a:p>
            <a:endParaRPr lang="en-US" altLang="zh-TW" dirty="0"/>
          </a:p>
          <a:p>
            <a:r>
              <a:rPr lang="en-US" altLang="zh-TW" dirty="0"/>
              <a:t>2010 </a:t>
            </a:r>
            <a:r>
              <a:rPr lang="zh-TW" altLang="en-US" dirty="0"/>
              <a:t>算力助長了一切</a:t>
            </a:r>
            <a:r>
              <a:rPr lang="en-US" altLang="zh-TW" dirty="0"/>
              <a:t>:</a:t>
            </a:r>
          </a:p>
          <a:p>
            <a:r>
              <a:rPr lang="en-US" altLang="zh-TW" dirty="0"/>
              <a:t>2018 </a:t>
            </a:r>
            <a:r>
              <a:rPr lang="zh-TW" altLang="zh-TW" dirty="0"/>
              <a:t>動態預訓練時代：上下文的「環境覺醒」 </a:t>
            </a:r>
            <a:endParaRPr lang="en-US" altLang="zh-TW" sz="1200" b="0" u="none" strike="noStrike" kern="1200" dirty="0">
              <a:solidFill>
                <a:schemeClr val="tx1"/>
              </a:solidFill>
              <a:effectLst/>
              <a:latin typeface="+mn-lt"/>
              <a:ea typeface="+mn-ea"/>
              <a:cs typeface="+mn-cs"/>
            </a:endParaRPr>
          </a:p>
          <a:p>
            <a:endParaRPr lang="en-US" altLang="zh-TW" sz="1200" b="0" u="none" strike="noStrike" kern="1200" dirty="0">
              <a:solidFill>
                <a:schemeClr val="tx1"/>
              </a:solidFill>
              <a:effectLst/>
              <a:latin typeface="+mn-lt"/>
              <a:ea typeface="+mn-ea"/>
              <a:cs typeface="+mn-cs"/>
            </a:endParaRPr>
          </a:p>
          <a:p>
            <a:endParaRPr lang="en-US" altLang="zh-TW" dirty="0"/>
          </a:p>
          <a:p>
            <a:r>
              <a:rPr lang="en-US" altLang="zh-TW" dirty="0"/>
              <a:t>CoT: Chain-of-Thought: (</a:t>
            </a:r>
            <a:r>
              <a:rPr lang="zh-TW" altLang="en-US" dirty="0"/>
              <a:t>思維鏈</a:t>
            </a:r>
            <a:r>
              <a:rPr lang="en-US" altLang="zh-TW" dirty="0"/>
              <a:t>)</a:t>
            </a:r>
            <a:r>
              <a:rPr lang="zh-TW" altLang="zh-TW" sz="1200" b="0" i="0" kern="1200" dirty="0">
                <a:solidFill>
                  <a:schemeClr val="tx1"/>
                </a:solidFill>
                <a:effectLst/>
                <a:latin typeface="+mn-lt"/>
                <a:ea typeface="+mn-ea"/>
                <a:cs typeface="+mn-cs"/>
              </a:rPr>
              <a:t>這個方法有助於大型語言模型克服一些需要邏輯思維或多個步驟來解決的推理任務</a:t>
            </a:r>
            <a:r>
              <a:rPr lang="zh-TW" altLang="en-US" sz="1200" b="0" i="0" kern="1200" dirty="0">
                <a:solidFill>
                  <a:schemeClr val="tx1"/>
                </a:solidFill>
                <a:effectLst/>
                <a:latin typeface="+mn-lt"/>
                <a:ea typeface="+mn-ea"/>
                <a:cs typeface="+mn-cs"/>
              </a:rPr>
              <a:t> </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在</a:t>
            </a:r>
            <a:r>
              <a:rPr lang="en-US" altLang="zh-TW" sz="1200" b="0" i="0" kern="1200" dirty="0">
                <a:solidFill>
                  <a:schemeClr val="tx1"/>
                </a:solidFill>
                <a:effectLst/>
                <a:latin typeface="+mn-lt"/>
                <a:ea typeface="+mn-ea"/>
                <a:cs typeface="+mn-cs"/>
              </a:rPr>
              <a:t>prompt</a:t>
            </a:r>
            <a:r>
              <a:rPr lang="zh-TW" altLang="en-US" sz="1200" b="0" i="0" kern="1200" dirty="0">
                <a:solidFill>
                  <a:schemeClr val="tx1"/>
                </a:solidFill>
                <a:effectLst/>
                <a:latin typeface="+mn-lt"/>
                <a:ea typeface="+mn-ea"/>
                <a:cs typeface="+mn-cs"/>
              </a:rPr>
              <a:t>裡面</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帶著過程</a:t>
            </a:r>
            <a:r>
              <a:rPr lang="en-US" altLang="zh-TW" sz="1200" b="0" i="0" kern="1200" dirty="0">
                <a:solidFill>
                  <a:schemeClr val="tx1"/>
                </a:solidFill>
                <a:effectLst/>
                <a:latin typeface="+mn-lt"/>
                <a:ea typeface="+mn-ea"/>
                <a:cs typeface="+mn-cs"/>
              </a:rPr>
              <a:t>)</a:t>
            </a:r>
            <a:endParaRPr lang="en-US" altLang="zh-TW" dirty="0"/>
          </a:p>
          <a:p>
            <a:endParaRPr lang="en-US" altLang="zh-TW" dirty="0"/>
          </a:p>
          <a:p>
            <a:r>
              <a:rPr lang="zh-TW" altLang="en-US" dirty="0"/>
              <a:t>預訓練</a:t>
            </a:r>
            <a:r>
              <a:rPr lang="en-US" altLang="zh-TW" dirty="0"/>
              <a:t>/</a:t>
            </a:r>
            <a:r>
              <a:rPr lang="zh-TW" altLang="en-US" dirty="0"/>
              <a:t>微調技術大躍進</a:t>
            </a:r>
            <a:endParaRPr lang="en-US" altLang="zh-TW" dirty="0"/>
          </a:p>
          <a:p>
            <a:r>
              <a:rPr lang="en-US" altLang="zh-TW" dirty="0"/>
              <a:t>Reinforcement Learning from Human Feedback (RLHF): Anthropic </a:t>
            </a:r>
            <a:r>
              <a:rPr lang="zh-TW" altLang="en-US" dirty="0"/>
              <a:t>很具里程碑意義</a:t>
            </a:r>
            <a:endParaRPr lang="en-US" altLang="zh-TW" dirty="0"/>
          </a:p>
          <a:p>
            <a:r>
              <a:rPr lang="en-US" altLang="zh-TW" dirty="0"/>
              <a:t>Direct Preference Optimization (DPO): Standford </a:t>
            </a:r>
            <a:r>
              <a:rPr lang="zh-TW" altLang="en-US" dirty="0"/>
              <a:t>簡化學習偏好</a:t>
            </a:r>
            <a:r>
              <a:rPr lang="en-US" altLang="zh-TW" dirty="0"/>
              <a:t>,</a:t>
            </a:r>
            <a:r>
              <a:rPr lang="zh-TW" altLang="en-US" dirty="0"/>
              <a:t> 免除了獎勵模型</a:t>
            </a:r>
            <a:endParaRPr lang="en-US" altLang="zh-TW" dirty="0"/>
          </a:p>
          <a:p>
            <a:r>
              <a:rPr lang="en-US" altLang="zh-TW" dirty="0"/>
              <a:t>Self-Alignment</a:t>
            </a:r>
            <a:r>
              <a:rPr lang="zh-TW" altLang="en-US" dirty="0"/>
              <a:t> </a:t>
            </a:r>
            <a:r>
              <a:rPr lang="en-US" altLang="zh-TW" dirty="0"/>
              <a:t>(SA):</a:t>
            </a:r>
            <a:r>
              <a:rPr lang="zh-TW" altLang="en-US" dirty="0"/>
              <a:t> </a:t>
            </a:r>
            <a:r>
              <a:rPr lang="en-US" altLang="zh-TW" dirty="0"/>
              <a:t>Frontier labs </a:t>
            </a:r>
            <a:r>
              <a:rPr lang="zh-TW" altLang="en-US" dirty="0"/>
              <a:t>使用最小的人類引導</a:t>
            </a:r>
            <a:r>
              <a:rPr lang="en-US" altLang="zh-TW" dirty="0"/>
              <a:t>, </a:t>
            </a:r>
            <a:r>
              <a:rPr lang="zh-TW" altLang="en-US" dirty="0"/>
              <a:t>進行模型對齊</a:t>
            </a:r>
            <a:endParaRPr lang="en-US" altLang="zh-TW" dirty="0"/>
          </a:p>
          <a:p>
            <a:endParaRPr lang="en-US" altLang="zh-TW" dirty="0"/>
          </a:p>
          <a:p>
            <a:endParaRPr lang="zh-TW" altLang="en-US" dirty="0"/>
          </a:p>
        </p:txBody>
      </p:sp>
      <p:sp>
        <p:nvSpPr>
          <p:cNvPr id="4" name="投影片編號版面配置區 3">
            <a:extLst>
              <a:ext uri="{FF2B5EF4-FFF2-40B4-BE49-F238E27FC236}">
                <a16:creationId xmlns:a16="http://schemas.microsoft.com/office/drawing/2014/main" id="{E5C4B865-7765-C3FC-A6C5-674D1B923E08}"/>
              </a:ext>
            </a:extLst>
          </p:cNvPr>
          <p:cNvSpPr>
            <a:spLocks noGrp="1"/>
          </p:cNvSpPr>
          <p:nvPr>
            <p:ph type="sldNum" sz="quarter" idx="5"/>
          </p:nvPr>
        </p:nvSpPr>
        <p:spPr/>
        <p:txBody>
          <a:bodyPr/>
          <a:lstStyle/>
          <a:p>
            <a:fld id="{E3A6CE5E-F349-486D-8749-82EF2AD71FA8}" type="slidenum">
              <a:rPr lang="zh-TW" altLang="en-US" smtClean="0"/>
              <a:t>25</a:t>
            </a:fld>
            <a:endParaRPr lang="zh-TW" altLang="en-US"/>
          </a:p>
        </p:txBody>
      </p:sp>
    </p:spTree>
    <p:extLst>
      <p:ext uri="{BB962C8B-B14F-4D97-AF65-F5344CB8AC3E}">
        <p14:creationId xmlns:p14="http://schemas.microsoft.com/office/powerpoint/2010/main" val="8031918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ne column">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87095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32101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AF25E997-4179-402B-B045-C290473E86F3}" type="datetimeFigureOut">
              <a:rPr lang="zh-TW" altLang="en-US" smtClean="0"/>
              <a:t>2026/9/18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B204A4CC-0142-4D0E-B207-47A74A717BFD}" type="slidenum">
              <a:rPr lang="zh-TW" altLang="en-US" smtClean="0"/>
              <a:t>‹#›</a:t>
            </a:fld>
            <a:endParaRPr lang="zh-TW" altLang="en-US"/>
          </a:p>
        </p:txBody>
      </p:sp>
    </p:spTree>
    <p:extLst>
      <p:ext uri="{BB962C8B-B14F-4D97-AF65-F5344CB8AC3E}">
        <p14:creationId xmlns:p14="http://schemas.microsoft.com/office/powerpoint/2010/main" val="5164688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頁尾版面配置區 4">
            <a:extLst>
              <a:ext uri="{FF2B5EF4-FFF2-40B4-BE49-F238E27FC236}">
                <a16:creationId xmlns:a16="http://schemas.microsoft.com/office/drawing/2014/main" id="{F852660B-5776-4457-897C-22F48580809B}"/>
              </a:ext>
            </a:extLst>
          </p:cNvPr>
          <p:cNvSpPr txBox="1">
            <a:spLocks/>
          </p:cNvSpPr>
          <p:nvPr userDrawn="1"/>
        </p:nvSpPr>
        <p:spPr>
          <a:xfrm>
            <a:off x="0" y="6628025"/>
            <a:ext cx="9144000" cy="235219"/>
          </a:xfrm>
          <a:prstGeom prst="rect">
            <a:avLst/>
          </a:prstGeom>
          <a:solidFill>
            <a:schemeClr val="accent3">
              <a:lumMod val="20000"/>
              <a:lumOff val="80000"/>
            </a:schemeClr>
          </a:solidFill>
        </p:spPr>
        <p:txBody>
          <a:bodyPr vert="horz" lIns="91440" tIns="45720" rIns="91440" bIns="45720" rtlCol="0" anchor="ctr"/>
          <a:lstStyle>
            <a:defPPr>
              <a:defRPr lang="zh-TW"/>
            </a:defPPr>
            <a:lvl1pPr marL="0" algn="ct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TW" altLang="en-US" dirty="0"/>
          </a:p>
        </p:txBody>
      </p:sp>
    </p:spTree>
  </p:cSld>
  <p:clrMap bg1="lt1" tx1="dk1" bg2="lt2" tx2="dk2" accent1="accent1" accent2="accent2" accent3="accent3" accent4="accent4" accent5="accent5" accent6="accent6" hlink="hlink" folHlink="folHlink"/>
  <p:sldLayoutIdLst>
    <p:sldLayoutId id="2147483659" r:id="rId1"/>
    <p:sldLayoutId id="2147483662" r:id="rId2"/>
    <p:sldLayoutId id="2147483664" r:id="rId3"/>
  </p:sldLayoutIdLst>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hf hdr="0"/>
  <p:txStyles>
    <p:titleStyle>
      <a:lvl1pPr algn="l" defTabSz="914400" rtl="0" eaLnBrk="1" latinLnBrk="0" hangingPunct="1">
        <a:spcBef>
          <a:spcPct val="0"/>
        </a:spcBef>
        <a:buNone/>
        <a:defRPr sz="2400" kern="1200">
          <a:solidFill>
            <a:schemeClr val="tx1"/>
          </a:solidFill>
          <a:latin typeface="+mj-lt"/>
          <a:ea typeface="+mj-ea"/>
          <a:cs typeface="+mj-cs"/>
        </a:defRPr>
      </a:lvl1pPr>
    </p:titleStyle>
    <p:bodyStyle>
      <a:lvl1pPr marL="360000" indent="-360000" algn="l" defTabSz="914400" rtl="0" eaLnBrk="1" latinLnBrk="0" hangingPunct="1">
        <a:spcBef>
          <a:spcPct val="20000"/>
        </a:spcBef>
        <a:buClr>
          <a:schemeClr val="tx1"/>
        </a:buClr>
        <a:buFont typeface="Calibri" pitchFamily="34" charset="0"/>
        <a:buChar char="●"/>
        <a:defRPr sz="2000" kern="1200">
          <a:solidFill>
            <a:schemeClr val="tx1"/>
          </a:solidFill>
          <a:latin typeface="+mn-lt"/>
          <a:ea typeface="+mn-ea"/>
          <a:cs typeface="+mn-cs"/>
        </a:defRPr>
      </a:lvl1pPr>
      <a:lvl2pPr marL="720000" indent="-360000" algn="l" defTabSz="914400" rtl="0" eaLnBrk="1" latinLnBrk="0" hangingPunct="1">
        <a:spcBef>
          <a:spcPct val="20000"/>
        </a:spcBef>
        <a:buClr>
          <a:schemeClr val="tx1"/>
        </a:buClr>
        <a:buFont typeface="Calibri" pitchFamily="34" charset="0"/>
        <a:buChar char="○"/>
        <a:defRPr sz="2000" kern="1200">
          <a:solidFill>
            <a:schemeClr val="tx1"/>
          </a:solidFill>
          <a:latin typeface="+mn-lt"/>
          <a:ea typeface="+mn-ea"/>
          <a:cs typeface="+mn-cs"/>
        </a:defRPr>
      </a:lvl2pPr>
      <a:lvl3pPr marL="1080000" indent="-360000" algn="l" defTabSz="914400" rtl="0" eaLnBrk="1" latinLnBrk="0" hangingPunct="1">
        <a:spcBef>
          <a:spcPct val="20000"/>
        </a:spcBef>
        <a:buClr>
          <a:schemeClr val="tx1"/>
        </a:buClr>
        <a:buFont typeface="Arial" pitchFamily="34" charset="0"/>
        <a:buChar char="–"/>
        <a:defRPr sz="2000" kern="1200">
          <a:solidFill>
            <a:schemeClr val="tx1"/>
          </a:solidFill>
          <a:latin typeface="+mn-lt"/>
          <a:ea typeface="+mn-ea"/>
          <a:cs typeface="+mn-cs"/>
        </a:defRPr>
      </a:lvl3pPr>
      <a:lvl4pPr marL="1440000" indent="-360000" algn="l" defTabSz="914400" rtl="0" eaLnBrk="1" latinLnBrk="0" hangingPunct="1">
        <a:spcBef>
          <a:spcPct val="20000"/>
        </a:spcBef>
        <a:buClr>
          <a:schemeClr val="tx1"/>
        </a:buClr>
        <a:buFont typeface="Arial" pitchFamily="34" charset="0"/>
        <a:buChar char="‒"/>
        <a:defRPr sz="2000" kern="1200">
          <a:solidFill>
            <a:schemeClr val="tx1"/>
          </a:solidFill>
          <a:latin typeface="+mn-lt"/>
          <a:ea typeface="+mn-ea"/>
          <a:cs typeface="+mn-cs"/>
        </a:defRPr>
      </a:lvl4pPr>
      <a:lvl5pPr marL="1800000" indent="-360000" algn="l" defTabSz="914400" rtl="0" eaLnBrk="1" latinLnBrk="0" hangingPunct="1">
        <a:spcBef>
          <a:spcPct val="20000"/>
        </a:spcBef>
        <a:buClr>
          <a:schemeClr val="tx1"/>
        </a:buClr>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hyperlink" Target="https://youtu.be/AIRfT41A89s?si=wd8CxmH65YRXOa75"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8.png"/><Relationship Id="rId7" Type="http://schemas.openxmlformats.org/officeDocument/2006/relationships/image" Target="../media/image44.png"/><Relationship Id="rId12" Type="http://schemas.openxmlformats.org/officeDocument/2006/relationships/image" Target="../media/image48.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43.png"/><Relationship Id="rId11" Type="http://schemas.openxmlformats.org/officeDocument/2006/relationships/image" Target="../media/image47.png"/><Relationship Id="rId5" Type="http://schemas.openxmlformats.org/officeDocument/2006/relationships/image" Target="../media/image42.png"/><Relationship Id="rId10" Type="http://schemas.openxmlformats.org/officeDocument/2006/relationships/image" Target="../media/image46.png"/><Relationship Id="rId4" Type="http://schemas.openxmlformats.org/officeDocument/2006/relationships/image" Target="../media/image41.png"/><Relationship Id="rId9" Type="http://schemas.openxmlformats.org/officeDocument/2006/relationships/image" Target="../media/image4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41754-1A01-9656-056C-4B624E45A905}"/>
            </a:ext>
          </a:extLst>
        </p:cNvPr>
        <p:cNvGrpSpPr/>
        <p:nvPr/>
      </p:nvGrpSpPr>
      <p:grpSpPr>
        <a:xfrm>
          <a:off x="0" y="0"/>
          <a:ext cx="0" cy="0"/>
          <a:chOff x="0" y="0"/>
          <a:chExt cx="0" cy="0"/>
        </a:xfrm>
      </p:grpSpPr>
      <p:sp>
        <p:nvSpPr>
          <p:cNvPr id="3" name="文字方塊 2">
            <a:extLst>
              <a:ext uri="{FF2B5EF4-FFF2-40B4-BE49-F238E27FC236}">
                <a16:creationId xmlns:a16="http://schemas.microsoft.com/office/drawing/2014/main" id="{96A5153E-BD84-CB21-D566-B888A2F168CC}"/>
              </a:ext>
            </a:extLst>
          </p:cNvPr>
          <p:cNvSpPr txBox="1"/>
          <p:nvPr/>
        </p:nvSpPr>
        <p:spPr>
          <a:xfrm>
            <a:off x="3748825" y="5118283"/>
            <a:ext cx="1646348" cy="830997"/>
          </a:xfrm>
          <a:prstGeom prst="rect">
            <a:avLst/>
          </a:prstGeom>
          <a:noFill/>
        </p:spPr>
        <p:txBody>
          <a:bodyPr wrap="none" rtlCol="0">
            <a:spAutoFit/>
          </a:bodyPr>
          <a:lstStyle/>
          <a:p>
            <a:pPr algn="ctr"/>
            <a:r>
              <a:rPr lang="en-US" altLang="zh-TW" sz="1200" b="1" dirty="0">
                <a:solidFill>
                  <a:schemeClr val="accent1"/>
                </a:solidFill>
              </a:rPr>
              <a:t>Centrillion Technology </a:t>
            </a:r>
          </a:p>
          <a:p>
            <a:pPr algn="ctr"/>
            <a:r>
              <a:rPr lang="en-US" altLang="zh-TW" sz="1200" b="1" dirty="0">
                <a:solidFill>
                  <a:schemeClr val="accent1"/>
                </a:solidFill>
              </a:rPr>
              <a:t>Bioinformation Dept. </a:t>
            </a:r>
          </a:p>
          <a:p>
            <a:pPr algn="ctr"/>
            <a:r>
              <a:rPr lang="en-US" altLang="zh-TW" sz="1400" dirty="0">
                <a:solidFill>
                  <a:schemeClr val="accent1"/>
                </a:solidFill>
              </a:rPr>
              <a:t>Allen &amp; Felix</a:t>
            </a:r>
          </a:p>
          <a:p>
            <a:pPr algn="ctr"/>
            <a:r>
              <a:rPr lang="en-US" altLang="zh-TW" sz="1000" dirty="0">
                <a:solidFill>
                  <a:schemeClr val="accent1"/>
                </a:solidFill>
              </a:rPr>
              <a:t>2026/09/03</a:t>
            </a:r>
            <a:endParaRPr lang="zh-TW" altLang="en-US" sz="1000" dirty="0">
              <a:solidFill>
                <a:schemeClr val="accent1"/>
              </a:solidFill>
            </a:endParaRPr>
          </a:p>
        </p:txBody>
      </p:sp>
      <p:sp>
        <p:nvSpPr>
          <p:cNvPr id="5" name="文字方塊 4">
            <a:extLst>
              <a:ext uri="{FF2B5EF4-FFF2-40B4-BE49-F238E27FC236}">
                <a16:creationId xmlns:a16="http://schemas.microsoft.com/office/drawing/2014/main" id="{04CB84FD-A5FC-F21A-B4BF-263FCA334053}"/>
              </a:ext>
            </a:extLst>
          </p:cNvPr>
          <p:cNvSpPr txBox="1"/>
          <p:nvPr/>
        </p:nvSpPr>
        <p:spPr>
          <a:xfrm>
            <a:off x="809581" y="2177956"/>
            <a:ext cx="7524837" cy="1467068"/>
          </a:xfrm>
          <a:prstGeom prst="rect">
            <a:avLst/>
          </a:prstGeom>
          <a:noFill/>
        </p:spPr>
        <p:txBody>
          <a:bodyPr wrap="square" rtlCol="0">
            <a:spAutoFit/>
          </a:bodyPr>
          <a:lstStyle/>
          <a:p>
            <a:pPr algn="ctr"/>
            <a:r>
              <a:rPr lang="en-US" altLang="zh-TW" sz="4000" b="1" dirty="0"/>
              <a:t>DeepSeek</a:t>
            </a:r>
            <a:r>
              <a:rPr lang="zh-TW" altLang="en-US" sz="4000" b="1" dirty="0"/>
              <a:t> </a:t>
            </a:r>
            <a:r>
              <a:rPr lang="en-US" altLang="zh-TW" sz="4000" b="1" dirty="0" err="1"/>
              <a:t>MoE</a:t>
            </a:r>
            <a:endParaRPr lang="en-US" altLang="zh-TW" sz="4000" b="1" dirty="0"/>
          </a:p>
          <a:p>
            <a:pPr defTabSz="4689475">
              <a:lnSpc>
                <a:spcPts val="400"/>
              </a:lnSpc>
            </a:pPr>
            <a:r>
              <a:rPr lang="zh-TW" altLang="en-US" sz="1000" b="1" dirty="0"/>
              <a:t> </a:t>
            </a:r>
            <a:r>
              <a:rPr lang="en-US" altLang="zh-TW" sz="1000" b="1" dirty="0"/>
              <a:t>	2026</a:t>
            </a:r>
          </a:p>
          <a:p>
            <a:pPr defTabSz="6727825">
              <a:tabLst>
                <a:tab pos="2332038" algn="l"/>
              </a:tabLst>
            </a:pPr>
            <a:endParaRPr lang="en-US" altLang="zh-TW" sz="1200" b="1" dirty="0"/>
          </a:p>
          <a:p>
            <a:pPr defTabSz="6727825">
              <a:tabLst>
                <a:tab pos="2332038" algn="l"/>
              </a:tabLst>
            </a:pPr>
            <a:endParaRPr lang="en-US" altLang="zh-TW" sz="1200" b="1" dirty="0">
              <a:solidFill>
                <a:schemeClr val="accent1">
                  <a:lumMod val="75000"/>
                </a:schemeClr>
              </a:solidFill>
            </a:endParaRPr>
          </a:p>
          <a:p>
            <a:pPr indent="541338" defTabSz="7269163">
              <a:tabLst>
                <a:tab pos="2955925" algn="l"/>
                <a:tab pos="5470525" algn="l"/>
              </a:tabLst>
            </a:pPr>
            <a:r>
              <a:rPr lang="en-US" altLang="zh-TW" sz="1200" b="1" dirty="0"/>
              <a:t>	</a:t>
            </a:r>
            <a:r>
              <a:rPr lang="en-US" altLang="zh-TW" sz="1200" b="1" dirty="0">
                <a:sym typeface="Wingdings" panose="05000000000000000000" pitchFamily="2" charset="2"/>
              </a:rPr>
              <a:t>DeepSeek	</a:t>
            </a:r>
            <a:r>
              <a:rPr lang="en-US" altLang="zh-TW" sz="1000" dirty="0">
                <a:sym typeface="Wingdings" panose="05000000000000000000" pitchFamily="2" charset="2"/>
              </a:rPr>
              <a:t>	R&amp;D Team</a:t>
            </a:r>
            <a:endParaRPr lang="zh-TW" altLang="en-US" sz="1000" dirty="0">
              <a:solidFill>
                <a:schemeClr val="accent1">
                  <a:lumMod val="75000"/>
                </a:schemeClr>
              </a:solidFill>
            </a:endParaRPr>
          </a:p>
        </p:txBody>
      </p:sp>
    </p:spTree>
    <p:extLst>
      <p:ext uri="{BB962C8B-B14F-4D97-AF65-F5344CB8AC3E}">
        <p14:creationId xmlns:p14="http://schemas.microsoft.com/office/powerpoint/2010/main" val="326760958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20B80-B722-2523-9202-3F21EBB146DE}"/>
            </a:ext>
          </a:extLst>
        </p:cNvPr>
        <p:cNvGrpSpPr/>
        <p:nvPr/>
      </p:nvGrpSpPr>
      <p:grpSpPr>
        <a:xfrm>
          <a:off x="0" y="0"/>
          <a:ext cx="0" cy="0"/>
          <a:chOff x="0" y="0"/>
          <a:chExt cx="0" cy="0"/>
        </a:xfrm>
      </p:grpSpPr>
      <p:sp>
        <p:nvSpPr>
          <p:cNvPr id="64" name="標題 1">
            <a:extLst>
              <a:ext uri="{FF2B5EF4-FFF2-40B4-BE49-F238E27FC236}">
                <a16:creationId xmlns:a16="http://schemas.microsoft.com/office/drawing/2014/main" id="{94909093-0BFB-B658-A42D-64D3192A2420}"/>
              </a:ext>
            </a:extLst>
          </p:cNvPr>
          <p:cNvSpPr txBox="1">
            <a:spLocks/>
          </p:cNvSpPr>
          <p:nvPr/>
        </p:nvSpPr>
        <p:spPr>
          <a:xfrm>
            <a:off x="179512" y="116632"/>
            <a:ext cx="2448272"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Agenda</a:t>
            </a:r>
            <a:endPar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sp>
        <p:nvSpPr>
          <p:cNvPr id="2" name="文字方塊 1">
            <a:extLst>
              <a:ext uri="{FF2B5EF4-FFF2-40B4-BE49-F238E27FC236}">
                <a16:creationId xmlns:a16="http://schemas.microsoft.com/office/drawing/2014/main" id="{5B9CD27E-9C1A-3219-6A05-1CA47876AE20}"/>
              </a:ext>
            </a:extLst>
          </p:cNvPr>
          <p:cNvSpPr txBox="1"/>
          <p:nvPr/>
        </p:nvSpPr>
        <p:spPr>
          <a:xfrm>
            <a:off x="845586" y="1268760"/>
            <a:ext cx="7452828" cy="4524315"/>
          </a:xfrm>
          <a:prstGeom prst="rect">
            <a:avLst/>
          </a:prstGeom>
          <a:noFill/>
        </p:spPr>
        <p:txBody>
          <a:bodyPr wrap="square" rtlCol="0">
            <a:spAutoFit/>
          </a:bodyPr>
          <a:lstStyle/>
          <a:p>
            <a:pPr marL="285750" indent="-285750">
              <a:buFont typeface="Wingdings" panose="05000000000000000000" pitchFamily="2" charset="2"/>
              <a:buChar char="Ø"/>
              <a:defRPr/>
            </a:pPr>
            <a:r>
              <a:rPr lang="en-US" altLang="zh-TW" sz="2400" dirty="0">
                <a:latin typeface="Noto Sans HK" panose="020B0200000000000000" pitchFamily="34" charset="-120"/>
                <a:ea typeface="Noto Sans HK" panose="020B0200000000000000" pitchFamily="34" charset="-120"/>
              </a:rPr>
              <a:t>Overview</a:t>
            </a:r>
            <a:r>
              <a:rPr lang="en-US" altLang="zh-TW" sz="1200" dirty="0">
                <a:solidFill>
                  <a:prstClr val="white">
                    <a:lumMod val="75000"/>
                  </a:prstClr>
                </a:solidFill>
                <a:latin typeface="Noto Sans HK" panose="020B0200000000000000" pitchFamily="34" charset="-120"/>
                <a:ea typeface="Noto Sans HK" panose="020B0200000000000000" pitchFamily="34" charset="-120"/>
              </a:rPr>
              <a:t> (AI Evolution from Alex</a:t>
            </a:r>
            <a:r>
              <a:rPr lang="zh-TW" altLang="en-US" sz="1200" dirty="0">
                <a:solidFill>
                  <a:prstClr val="white">
                    <a:lumMod val="75000"/>
                  </a:prstClr>
                </a:solidFill>
                <a:latin typeface="Noto Sans HK" panose="020B0200000000000000" pitchFamily="34" charset="-120"/>
                <a:ea typeface="Noto Sans HK" panose="020B0200000000000000" pitchFamily="34" charset="-120"/>
              </a:rPr>
              <a:t>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Net to GPT)</a:t>
            </a:r>
            <a:endParaRPr lang="en-US" altLang="zh-TW" sz="2400" dirty="0">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Machine Learning</a:t>
            </a:r>
            <a:r>
              <a:rPr lang="zh-TW" altLang="en-US" dirty="0">
                <a:latin typeface="Noto Sans HK" panose="020B0200000000000000" pitchFamily="34" charset="-120"/>
                <a:ea typeface="Noto Sans HK" panose="020B0200000000000000" pitchFamily="34" charset="-120"/>
              </a:rPr>
              <a:t>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(UL, semi-SL, SL, RL)</a:t>
            </a:r>
            <a:r>
              <a:rPr lang="en-US" altLang="zh-TW" sz="1400" dirty="0">
                <a:solidFill>
                  <a:schemeClr val="bg1">
                    <a:lumMod val="50000"/>
                  </a:schemeClr>
                </a:solidFill>
                <a:latin typeface="Noto Sans HK" panose="020B0200000000000000" pitchFamily="34" charset="-120"/>
                <a:ea typeface="Noto Sans HK" panose="020B0200000000000000" pitchFamily="34" charset="-120"/>
              </a:rPr>
              <a:t> </a:t>
            </a:r>
          </a:p>
          <a:p>
            <a:pPr marL="742950" lvl="1" indent="-285750">
              <a:buFont typeface="Arial" panose="020B0604020202020204" pitchFamily="34" charset="0"/>
              <a:buChar char="•"/>
            </a:pPr>
            <a:r>
              <a:rPr kumimoji="0" lang="en-US" altLang="zh-TW" sz="1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rPr>
              <a:t>LLM Training Stages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(Pre-Training, SFT, RLHF)</a:t>
            </a:r>
          </a:p>
          <a:p>
            <a:pPr marL="285750" indent="-285750">
              <a:buFont typeface="Wingdings" panose="05000000000000000000" pitchFamily="2" charset="2"/>
              <a:buChar char="Ø"/>
            </a:pPr>
            <a:r>
              <a:rPr lang="en-US" altLang="zh-TW" sz="2400" dirty="0">
                <a:latin typeface="Noto Sans HK" panose="020B0200000000000000" pitchFamily="34" charset="-120"/>
                <a:ea typeface="Noto Sans HK" panose="020B0200000000000000" pitchFamily="34" charset="-120"/>
              </a:rPr>
              <a:t>Transformer</a:t>
            </a:r>
            <a:r>
              <a:rPr kumimoji="0" lang="zh-TW" altLang="en-US" sz="1400" b="0" i="0" u="none" strike="noStrike" kern="1200" cap="none" spc="0" normalizeH="0" baseline="0" noProof="0" dirty="0">
                <a:ln>
                  <a:noFill/>
                </a:ln>
                <a:solidFill>
                  <a:prstClr val="white">
                    <a:lumMod val="50000"/>
                  </a:prstClr>
                </a:solidFill>
                <a:effectLst/>
                <a:uLnTx/>
                <a:uFillTx/>
                <a:latin typeface="Noto Sans HK" panose="020B0200000000000000" pitchFamily="34" charset="-120"/>
                <a:ea typeface="Noto Sans HK" panose="020B0200000000000000" pitchFamily="34" charset="-120"/>
              </a:rPr>
              <a:t>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(Basic model type has: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Dense and MoE</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a:t>
            </a:r>
            <a:endParaRPr lang="en-US" altLang="zh-TW" sz="1200" dirty="0">
              <a:solidFill>
                <a:schemeClr val="bg1">
                  <a:lumMod val="75000"/>
                </a:schemeClr>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Program Flow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(Embedding, PE, Self-Attention</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 FFN, LP2V</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a:t>
            </a:r>
            <a:endParaRPr lang="en-US" altLang="zh-TW" sz="1200" dirty="0">
              <a:solidFill>
                <a:schemeClr val="bg1">
                  <a:lumMod val="75000"/>
                </a:schemeClr>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Self-Attention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(Attention is all you nee)</a:t>
            </a: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Feed Forward Network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(FFN)</a:t>
            </a:r>
            <a:endParaRPr lang="en-US" altLang="zh-TW" sz="1200" dirty="0">
              <a:solidFill>
                <a:schemeClr val="bg1">
                  <a:lumMod val="75000"/>
                </a:schemeClr>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Token Embeddings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(Semantic Space)</a:t>
            </a:r>
            <a:endParaRPr lang="en-US" altLang="zh-TW" sz="1200" dirty="0">
              <a:solidFill>
                <a:schemeClr val="bg1">
                  <a:lumMod val="75000"/>
                </a:schemeClr>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Rotary of Positional Encoding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(Relative distance)</a:t>
            </a:r>
            <a:endParaRPr lang="en-US" altLang="zh-TW" sz="1200" dirty="0">
              <a:solidFill>
                <a:prstClr val="black"/>
              </a:solidFill>
              <a:latin typeface="Noto Sans HK" panose="020B0200000000000000" pitchFamily="34" charset="-120"/>
              <a:ea typeface="Noto Sans HK" panose="020B0200000000000000" pitchFamily="34" charset="-12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altLang="zh-TW" sz="2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rPr>
              <a:t>GPT</a:t>
            </a:r>
            <a:r>
              <a:rPr kumimoji="0" lang="zh-TW" altLang="en-US" sz="1400" b="0" i="0" u="none" strike="noStrike" kern="1200" cap="none" spc="0" normalizeH="0" baseline="0" noProof="0" dirty="0">
                <a:ln>
                  <a:noFill/>
                </a:ln>
                <a:solidFill>
                  <a:prstClr val="white">
                    <a:lumMod val="50000"/>
                  </a:prstClr>
                </a:solidFill>
                <a:effectLst/>
                <a:uLnTx/>
                <a:uFillTx/>
                <a:latin typeface="Noto Sans HK" panose="020B0200000000000000" pitchFamily="34" charset="-120"/>
                <a:ea typeface="Noto Sans HK" panose="020B0200000000000000" pitchFamily="34" charset="-120"/>
              </a:rPr>
              <a:t>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(How GPT predict next token?)</a:t>
            </a: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Pre-Training</a:t>
            </a:r>
            <a:r>
              <a:rPr lang="en-US" altLang="zh-TW" dirty="0">
                <a:solidFill>
                  <a:prstClr val="white">
                    <a:lumMod val="50000"/>
                  </a:prstClr>
                </a:solidFill>
                <a:latin typeface="Noto Sans HK" panose="020B0200000000000000" pitchFamily="34" charset="-120"/>
                <a:ea typeface="Noto Sans HK" panose="020B0200000000000000" pitchFamily="34" charset="-120"/>
              </a:rPr>
              <a:t>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(Output: weight matrix and parameters)</a:t>
            </a: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MLP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(Multi-Layer Perceptron)</a:t>
            </a:r>
            <a:endParaRPr lang="en-US" altLang="zh-TW" dirty="0">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Backpropagation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(Chain Rule, gradient descent)</a:t>
            </a:r>
            <a:endParaRPr lang="en-US" altLang="zh-TW" sz="1200" dirty="0">
              <a:solidFill>
                <a:prstClr val="white">
                  <a:lumMod val="75000"/>
                </a:prstClr>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defRPr/>
            </a:pPr>
            <a:r>
              <a:rPr lang="en-US" altLang="zh-TW" dirty="0">
                <a:solidFill>
                  <a:prstClr val="black"/>
                </a:solidFill>
                <a:latin typeface="Noto Sans HK" panose="020B0200000000000000" pitchFamily="34" charset="-120"/>
                <a:ea typeface="Noto Sans HK" panose="020B0200000000000000" pitchFamily="34" charset="-120"/>
              </a:rPr>
              <a:t>AI</a:t>
            </a:r>
            <a:r>
              <a:rPr lang="zh-TW" altLang="en-US" dirty="0">
                <a:solidFill>
                  <a:prstClr val="black"/>
                </a:solidFill>
                <a:latin typeface="Noto Sans HK" panose="020B0200000000000000" pitchFamily="34" charset="-120"/>
                <a:ea typeface="Noto Sans HK" panose="020B0200000000000000" pitchFamily="34" charset="-120"/>
              </a:rPr>
              <a:t> </a:t>
            </a:r>
            <a:r>
              <a:rPr lang="en-US" altLang="zh-TW" dirty="0">
                <a:solidFill>
                  <a:prstClr val="black"/>
                </a:solidFill>
                <a:latin typeface="Noto Sans HK" panose="020B0200000000000000" pitchFamily="34" charset="-120"/>
                <a:ea typeface="Noto Sans HK" panose="020B0200000000000000" pitchFamily="34" charset="-120"/>
              </a:rPr>
              <a:t>Ecosystem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(Top 20)</a:t>
            </a:r>
          </a:p>
          <a:p>
            <a:pPr marL="742950" lvl="1" indent="-285750">
              <a:buFont typeface="Arial" panose="020B0604020202020204" pitchFamily="34" charset="0"/>
              <a:buChar char="•"/>
              <a:defRPr/>
            </a:pPr>
            <a:r>
              <a:rPr lang="en-US" altLang="zh-TW" dirty="0">
                <a:solidFill>
                  <a:prstClr val="black"/>
                </a:solidFill>
                <a:latin typeface="Noto Sans HK" panose="020B0200000000000000" pitchFamily="34" charset="-120"/>
                <a:ea typeface="Noto Sans HK" panose="020B0200000000000000" pitchFamily="34" charset="-120"/>
              </a:rPr>
              <a:t>AI</a:t>
            </a:r>
            <a:r>
              <a:rPr lang="zh-TW" altLang="en-US" dirty="0">
                <a:solidFill>
                  <a:prstClr val="black"/>
                </a:solidFill>
                <a:latin typeface="Noto Sans HK" panose="020B0200000000000000" pitchFamily="34" charset="-120"/>
                <a:ea typeface="Noto Sans HK" panose="020B0200000000000000" pitchFamily="34" charset="-120"/>
              </a:rPr>
              <a:t> </a:t>
            </a:r>
            <a:r>
              <a:rPr lang="en-US" altLang="zh-TW" dirty="0">
                <a:solidFill>
                  <a:prstClr val="black"/>
                </a:solidFill>
                <a:latin typeface="Noto Sans HK" panose="020B0200000000000000" pitchFamily="34" charset="-120"/>
                <a:ea typeface="Noto Sans HK" panose="020B0200000000000000" pitchFamily="34" charset="-120"/>
              </a:rPr>
              <a:t>Training Cluster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(Cost structure analysis)</a:t>
            </a:r>
          </a:p>
        </p:txBody>
      </p:sp>
      <p:sp>
        <p:nvSpPr>
          <p:cNvPr id="5" name="文字方塊 4">
            <a:extLst>
              <a:ext uri="{FF2B5EF4-FFF2-40B4-BE49-F238E27FC236}">
                <a16:creationId xmlns:a16="http://schemas.microsoft.com/office/drawing/2014/main" id="{3786730F-13DC-7C8B-152D-46A041A29A8E}"/>
              </a:ext>
            </a:extLst>
          </p:cNvPr>
          <p:cNvSpPr txBox="1"/>
          <p:nvPr/>
        </p:nvSpPr>
        <p:spPr>
          <a:xfrm>
            <a:off x="7848364" y="44624"/>
            <a:ext cx="1240083" cy="3813095"/>
          </a:xfrm>
          <a:prstGeom prst="rect">
            <a:avLst/>
          </a:prstGeom>
          <a:noFill/>
        </p:spPr>
        <p:txBody>
          <a:bodyPr wrap="none" lIns="91440" tIns="91440" rIns="0" bIns="0">
            <a:spAutoFit/>
          </a:bodyPr>
          <a:lstStyle/>
          <a:p>
            <a:pPr defTabSz="1546225">
              <a:lnSpc>
                <a:spcPts val="1000"/>
              </a:lnSpc>
              <a:buFont typeface="Wingdings" panose="05000000000000000000" pitchFamily="2" charset="2"/>
              <a:buChar char="Ø"/>
            </a:pPr>
            <a:r>
              <a:rPr lang="en-US" altLang="zh-TW" sz="1000" b="1" u="none" strike="noStrike" dirty="0">
                <a:effectLst/>
              </a:rPr>
              <a:t> Overview</a:t>
            </a:r>
            <a:endParaRPr lang="en-US" altLang="zh-TW" sz="1000" u="none" strike="noStrike" dirty="0">
              <a:effectLst/>
            </a:endParaRPr>
          </a:p>
          <a:p>
            <a:pPr marL="111125" lvl="3">
              <a:lnSpc>
                <a:spcPts val="1000"/>
              </a:lnSpc>
              <a:buFont typeface="Arial" panose="020B0604020202020204" pitchFamily="34" charset="0"/>
              <a:buChar char="•"/>
            </a:pPr>
            <a:r>
              <a:rPr lang="zh-TW" altLang="en-US" sz="1000" dirty="0"/>
              <a:t> </a:t>
            </a:r>
            <a:r>
              <a:rPr lang="en-US" altLang="zh-TW" sz="1000" dirty="0"/>
              <a:t>ML</a:t>
            </a:r>
          </a:p>
          <a:p>
            <a:pPr marL="111125" lvl="2">
              <a:lnSpc>
                <a:spcPts val="1000"/>
              </a:lnSpc>
              <a:buFont typeface="Arial" panose="020B0604020202020204" pitchFamily="34" charset="0"/>
              <a:buChar char="•"/>
            </a:pPr>
            <a:r>
              <a:rPr lang="en-US" altLang="zh-TW" sz="1000" dirty="0"/>
              <a:t>Training Stages</a:t>
            </a:r>
            <a:endParaRPr lang="en-US" altLang="zh-TW" sz="1000" u="none" strike="noStrike" dirty="0">
              <a:effectLst/>
            </a:endParaRPr>
          </a:p>
          <a:p>
            <a:pPr>
              <a:lnSpc>
                <a:spcPts val="1000"/>
              </a:lnSpc>
              <a:buFont typeface="Wingdings" panose="05000000000000000000" pitchFamily="2" charset="2"/>
              <a:buChar char="Ø"/>
            </a:pPr>
            <a:r>
              <a:rPr lang="en-US" altLang="zh-TW" sz="1000" b="1" dirty="0"/>
              <a:t> Transformer</a:t>
            </a:r>
            <a:endParaRPr lang="en-US" altLang="zh-TW" sz="1000" dirty="0"/>
          </a:p>
          <a:p>
            <a:pPr marL="111125" lvl="2">
              <a:lnSpc>
                <a:spcPts val="1000"/>
              </a:lnSpc>
              <a:buFont typeface="Arial" panose="020B0604020202020204" pitchFamily="34" charset="0"/>
              <a:buChar char="•"/>
            </a:pPr>
            <a:r>
              <a:rPr lang="en-US" altLang="zh-TW" sz="1000" dirty="0"/>
              <a:t> Program Flow</a:t>
            </a:r>
          </a:p>
          <a:p>
            <a:pPr marL="111125" lvl="2">
              <a:lnSpc>
                <a:spcPts val="1000"/>
              </a:lnSpc>
              <a:buFont typeface="Arial" panose="020B0604020202020204" pitchFamily="34" charset="0"/>
              <a:buChar char="•"/>
            </a:pPr>
            <a:r>
              <a:rPr lang="en-US" altLang="zh-TW" sz="1000" dirty="0"/>
              <a:t> Self-Attention</a:t>
            </a:r>
          </a:p>
          <a:p>
            <a:pPr marL="111125" lvl="2">
              <a:lnSpc>
                <a:spcPts val="1000"/>
              </a:lnSpc>
              <a:buFont typeface="Arial" panose="020B0604020202020204" pitchFamily="34" charset="0"/>
              <a:buChar char="•"/>
            </a:pPr>
            <a:r>
              <a:rPr lang="en-US" altLang="zh-TW" sz="1000" dirty="0"/>
              <a:t> FFN</a:t>
            </a:r>
          </a:p>
          <a:p>
            <a:pPr marL="111125" lvl="2">
              <a:lnSpc>
                <a:spcPts val="1000"/>
              </a:lnSpc>
              <a:buFont typeface="Arial" panose="020B0604020202020204" pitchFamily="34" charset="0"/>
              <a:buChar char="•"/>
            </a:pPr>
            <a:r>
              <a:rPr lang="zh-TW" altLang="en-US" sz="1000" dirty="0"/>
              <a:t> </a:t>
            </a:r>
            <a:r>
              <a:rPr lang="en-US" altLang="zh-TW" sz="1000" dirty="0"/>
              <a:t>Embeddings</a:t>
            </a:r>
          </a:p>
          <a:p>
            <a:pPr marL="111125" lvl="2">
              <a:lnSpc>
                <a:spcPts val="1000"/>
              </a:lnSpc>
              <a:buFont typeface="Arial" panose="020B0604020202020204" pitchFamily="34" charset="0"/>
              <a:buChar char="•"/>
            </a:pPr>
            <a:r>
              <a:rPr lang="en-US" altLang="zh-TW" sz="1000" dirty="0"/>
              <a:t> Position Encoding</a:t>
            </a:r>
          </a:p>
          <a:p>
            <a:pPr>
              <a:lnSpc>
                <a:spcPts val="1000"/>
              </a:lnSpc>
              <a:buFont typeface="Wingdings" panose="05000000000000000000" pitchFamily="2" charset="2"/>
              <a:buChar char="Ø"/>
            </a:pPr>
            <a:r>
              <a:rPr lang="en-US" altLang="zh-TW" sz="1000" b="1" dirty="0"/>
              <a:t> GPT</a:t>
            </a:r>
          </a:p>
          <a:p>
            <a:pPr marL="111125" marR="0" lvl="2" algn="l" defTabSz="914400" rtl="0" eaLnBrk="1" fontAlgn="auto" latinLnBrk="0" hangingPunct="1">
              <a:lnSpc>
                <a:spcPts val="1000"/>
              </a:lnSpc>
              <a:buClrTx/>
              <a:buSzTx/>
              <a:buFont typeface="Arial" panose="020B0604020202020204" pitchFamily="34" charset="0"/>
              <a:buChar char="•"/>
              <a:defRPr/>
            </a:pPr>
            <a:r>
              <a:rPr lang="en-US" altLang="zh-TW" sz="1000" dirty="0">
                <a:solidFill>
                  <a:prstClr val="black"/>
                </a:solidFill>
                <a:latin typeface="Calibri"/>
                <a:ea typeface="新細明體" panose="02020500000000000000" pitchFamily="18" charset="-120"/>
              </a:rPr>
              <a:t> Pre-Training</a:t>
            </a:r>
          </a:p>
          <a:p>
            <a:pPr marL="111125" marR="0" lvl="2" algn="l" defTabSz="914400" rtl="0" eaLnBrk="1" fontAlgn="auto" latinLnBrk="0" hangingPunct="1">
              <a:lnSpc>
                <a:spcPts val="1000"/>
              </a:lnSpc>
              <a:buClrTx/>
              <a:buSzTx/>
              <a:buFont typeface="Arial" panose="020B0604020202020204" pitchFamily="34" charset="0"/>
              <a:buChar char="•"/>
              <a:defRPr/>
            </a:pPr>
            <a:r>
              <a:rPr lang="en-US" altLang="zh-TW" sz="1000" dirty="0">
                <a:solidFill>
                  <a:prstClr val="black"/>
                </a:solidFill>
                <a:latin typeface="Calibri"/>
                <a:ea typeface="新細明體" panose="02020500000000000000" pitchFamily="18" charset="-120"/>
              </a:rPr>
              <a:t> MLP</a:t>
            </a:r>
          </a:p>
          <a:p>
            <a:pPr marL="111125" marR="0" lvl="2" algn="l" defTabSz="914400" rtl="0" eaLnBrk="1" fontAlgn="auto" latinLnBrk="0" hangingPunct="1">
              <a:lnSpc>
                <a:spcPts val="1000"/>
              </a:lnSpc>
              <a:buClrTx/>
              <a:buSzTx/>
              <a:buFont typeface="Arial" panose="020B0604020202020204" pitchFamily="34" charset="0"/>
              <a:buChar char="•"/>
              <a:defRPr/>
            </a:pPr>
            <a:r>
              <a:rPr lang="en-US" altLang="zh-TW" sz="1000" dirty="0">
                <a:solidFill>
                  <a:prstClr val="black"/>
                </a:solidFill>
                <a:latin typeface="Calibri"/>
                <a:ea typeface="新細明體" panose="02020500000000000000" pitchFamily="18" charset="-120"/>
              </a:rPr>
              <a:t> Backpropagation</a:t>
            </a:r>
            <a:r>
              <a:rPr lang="en-US" altLang="zh-TW" sz="1000" dirty="0"/>
              <a:t> </a:t>
            </a:r>
          </a:p>
          <a:p>
            <a:pPr marL="111125" marR="0" lvl="2" algn="l" defTabSz="914400" rtl="0" eaLnBrk="1" fontAlgn="auto" latinLnBrk="0" hangingPunct="1">
              <a:lnSpc>
                <a:spcPts val="1000"/>
              </a:lnSpc>
              <a:buClrTx/>
              <a:buSzTx/>
              <a:buFont typeface="Arial" panose="020B0604020202020204" pitchFamily="34" charset="0"/>
              <a:buChar char="•"/>
              <a:defRPr/>
            </a:pPr>
            <a:r>
              <a:rPr kumimoji="0" lang="en-US" altLang="zh-TW" sz="10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 Training Cluster</a:t>
            </a:r>
          </a:p>
          <a:p>
            <a:pPr marL="111125" marR="0" lvl="2" algn="l" defTabSz="914400" rtl="0" eaLnBrk="1" fontAlgn="auto" latinLnBrk="0" hangingPunct="1">
              <a:lnSpc>
                <a:spcPts val="1000"/>
              </a:lnSpc>
              <a:buClrTx/>
              <a:buSzTx/>
              <a:buFont typeface="Arial" panose="020B0604020202020204" pitchFamily="34" charset="0"/>
              <a:buChar char="•"/>
              <a:defRPr/>
            </a:pPr>
            <a:r>
              <a:rPr lang="en-US" altLang="zh-TW" sz="1000" dirty="0">
                <a:solidFill>
                  <a:prstClr val="black"/>
                </a:solidFill>
                <a:latin typeface="Calibri"/>
                <a:ea typeface="新細明體" panose="02020500000000000000" pitchFamily="18" charset="-120"/>
              </a:rPr>
              <a:t> AI Ecosystem</a:t>
            </a:r>
            <a:endParaRPr kumimoji="0" lang="en-US" altLang="zh-TW" sz="10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endParaRPr>
          </a:p>
          <a:p>
            <a:pPr>
              <a:lnSpc>
                <a:spcPts val="1000"/>
              </a:lnSpc>
              <a:buFont typeface="Wingdings" panose="05000000000000000000" pitchFamily="2" charset="2"/>
              <a:buChar char="Ø"/>
            </a:pPr>
            <a:r>
              <a:rPr lang="en-US" altLang="zh-TW" sz="1000" b="1" dirty="0"/>
              <a:t> AI Runtime</a:t>
            </a:r>
          </a:p>
          <a:p>
            <a:pPr marL="111125" lvl="2">
              <a:lnSpc>
                <a:spcPts val="1000"/>
              </a:lnSpc>
              <a:buFont typeface="Arial" panose="020B0604020202020204" pitchFamily="34" charset="0"/>
              <a:buChar char="•"/>
              <a:defRPr/>
            </a:pPr>
            <a:r>
              <a:rPr lang="en-US" altLang="zh-TW" sz="1000" dirty="0">
                <a:solidFill>
                  <a:prstClr val="black"/>
                </a:solidFill>
              </a:rPr>
              <a:t> MCP</a:t>
            </a:r>
          </a:p>
          <a:p>
            <a:pPr marL="111125" lvl="2">
              <a:lnSpc>
                <a:spcPts val="1000"/>
              </a:lnSpc>
              <a:buFont typeface="Arial" panose="020B0604020202020204" pitchFamily="34" charset="0"/>
              <a:buChar char="•"/>
              <a:defRPr/>
            </a:pPr>
            <a:r>
              <a:rPr lang="en-US" altLang="zh-TW" sz="1000" dirty="0">
                <a:solidFill>
                  <a:prstClr val="black"/>
                </a:solidFill>
              </a:rPr>
              <a:t> Skill</a:t>
            </a:r>
          </a:p>
          <a:p>
            <a:pPr marL="111125" lvl="2">
              <a:lnSpc>
                <a:spcPts val="1000"/>
              </a:lnSpc>
              <a:buFont typeface="Arial" panose="020B0604020202020204" pitchFamily="34" charset="0"/>
              <a:buChar char="•"/>
              <a:defRPr/>
            </a:pPr>
            <a:r>
              <a:rPr lang="en-US" altLang="zh-TW" sz="1000" dirty="0">
                <a:solidFill>
                  <a:prstClr val="black"/>
                </a:solidFill>
              </a:rPr>
              <a:t> SLM Engine</a:t>
            </a:r>
          </a:p>
          <a:p>
            <a:pPr marL="111125" lvl="2">
              <a:lnSpc>
                <a:spcPts val="1000"/>
              </a:lnSpc>
              <a:buFont typeface="Arial" panose="020B0604020202020204" pitchFamily="34" charset="0"/>
              <a:buChar char="•"/>
              <a:defRPr/>
            </a:pPr>
            <a:r>
              <a:rPr lang="en-US" altLang="zh-TW" sz="1000" dirty="0"/>
              <a:t> Emerging Trends </a:t>
            </a:r>
            <a:endParaRPr lang="en-US" altLang="zh-TW" sz="1000" dirty="0">
              <a:solidFill>
                <a:prstClr val="black"/>
              </a:solidFill>
            </a:endParaRPr>
          </a:p>
          <a:p>
            <a:pPr>
              <a:lnSpc>
                <a:spcPts val="1000"/>
              </a:lnSpc>
              <a:buFont typeface="Wingdings" panose="05000000000000000000" pitchFamily="2" charset="2"/>
              <a:buChar char="Ø"/>
            </a:pPr>
            <a:r>
              <a:rPr lang="zh-TW" altLang="en-US" sz="1000" b="1" dirty="0"/>
              <a:t> </a:t>
            </a:r>
            <a:r>
              <a:rPr lang="en-US" altLang="zh-TW" sz="1000" b="1" dirty="0"/>
              <a:t>Gemma Family</a:t>
            </a:r>
          </a:p>
          <a:p>
            <a:pPr marL="111125" lvl="2">
              <a:lnSpc>
                <a:spcPts val="1000"/>
              </a:lnSpc>
              <a:buFont typeface="Arial" panose="020B0604020202020204" pitchFamily="34" charset="0"/>
              <a:buChar char="•"/>
              <a:defRPr/>
            </a:pPr>
            <a:r>
              <a:rPr lang="en-US" altLang="zh-TW" sz="1000" dirty="0"/>
              <a:t> Supervised FT</a:t>
            </a:r>
          </a:p>
          <a:p>
            <a:pPr marL="111125" lvl="2">
              <a:lnSpc>
                <a:spcPts val="1000"/>
              </a:lnSpc>
              <a:buFont typeface="Arial" panose="020B0604020202020204" pitchFamily="34" charset="0"/>
              <a:buChar char="•"/>
              <a:defRPr/>
            </a:pPr>
            <a:r>
              <a:rPr lang="en-US" altLang="zh-TW" sz="1000" dirty="0">
                <a:solidFill>
                  <a:prstClr val="black"/>
                </a:solidFill>
              </a:rPr>
              <a:t> PEFT: QLoRA</a:t>
            </a:r>
          </a:p>
          <a:p>
            <a:pPr marL="111125" lvl="2">
              <a:lnSpc>
                <a:spcPts val="1000"/>
              </a:lnSpc>
              <a:buFont typeface="Arial" panose="020B0604020202020204" pitchFamily="34" charset="0"/>
              <a:buChar char="•"/>
              <a:defRPr/>
            </a:pPr>
            <a:r>
              <a:rPr lang="en-US" altLang="zh-TW" sz="1000" dirty="0">
                <a:solidFill>
                  <a:prstClr val="black"/>
                </a:solidFill>
              </a:rPr>
              <a:t> PEFT: DoRA</a:t>
            </a:r>
          </a:p>
          <a:p>
            <a:pPr marL="111125" lvl="2">
              <a:lnSpc>
                <a:spcPts val="1000"/>
              </a:lnSpc>
              <a:buFont typeface="Arial" panose="020B0604020202020204" pitchFamily="34" charset="0"/>
              <a:buChar char="•"/>
              <a:defRPr/>
            </a:pPr>
            <a:r>
              <a:rPr lang="en-US" altLang="zh-TW" sz="1000" dirty="0">
                <a:solidFill>
                  <a:prstClr val="black"/>
                </a:solidFill>
              </a:rPr>
              <a:t> Gemma4: PLE</a:t>
            </a:r>
          </a:p>
          <a:p>
            <a:pPr marL="111125" lvl="2">
              <a:lnSpc>
                <a:spcPts val="1000"/>
              </a:lnSpc>
              <a:buFont typeface="Arial" panose="020B0604020202020204" pitchFamily="34" charset="0"/>
              <a:buChar char="•"/>
              <a:defRPr/>
            </a:pPr>
            <a:r>
              <a:rPr lang="en-US" altLang="zh-TW" sz="1000" dirty="0">
                <a:solidFill>
                  <a:prstClr val="black"/>
                </a:solidFill>
              </a:rPr>
              <a:t> Benchmarking</a:t>
            </a:r>
          </a:p>
          <a:p>
            <a:pPr>
              <a:lnSpc>
                <a:spcPts val="1000"/>
              </a:lnSpc>
              <a:buFont typeface="Wingdings" panose="05000000000000000000" pitchFamily="2" charset="2"/>
              <a:buChar char="Ø"/>
            </a:pPr>
            <a:r>
              <a:rPr lang="en-US" altLang="zh-TW" sz="1000" b="1" dirty="0"/>
              <a:t> Conclusion</a:t>
            </a:r>
          </a:p>
          <a:p>
            <a:pPr marL="111125" lvl="2">
              <a:lnSpc>
                <a:spcPts val="1000"/>
              </a:lnSpc>
              <a:buFont typeface="Arial" panose="020B0604020202020204" pitchFamily="34" charset="0"/>
              <a:buChar char="•"/>
              <a:defRPr/>
            </a:pPr>
            <a:r>
              <a:rPr lang="en-US" altLang="zh-TW" sz="1000" dirty="0"/>
              <a:t> Building the Agent</a:t>
            </a:r>
          </a:p>
          <a:p>
            <a:pPr marL="111125" lvl="2">
              <a:lnSpc>
                <a:spcPts val="1000"/>
              </a:lnSpc>
              <a:buFont typeface="Arial" panose="020B0604020202020204" pitchFamily="34" charset="0"/>
              <a:buChar char="•"/>
              <a:defRPr/>
            </a:pPr>
            <a:r>
              <a:rPr lang="en-US" altLang="zh-TW" sz="1000" dirty="0">
                <a:solidFill>
                  <a:prstClr val="black"/>
                </a:solidFill>
              </a:rPr>
              <a:t> Practice: Unsloth</a:t>
            </a:r>
          </a:p>
        </p:txBody>
      </p:sp>
    </p:spTree>
    <p:extLst>
      <p:ext uri="{BB962C8B-B14F-4D97-AF65-F5344CB8AC3E}">
        <p14:creationId xmlns:p14="http://schemas.microsoft.com/office/powerpoint/2010/main" val="45064846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grpId="0" nodeType="clickEffect">
                                  <p:stCondLst>
                                    <p:cond delay="0"/>
                                  </p:stCondLst>
                                  <p:childTnLst>
                                    <p:animClr clrSpc="rgb" dir="cw">
                                      <p:cBhvr override="childStyle">
                                        <p:cTn id="6" dur="500" fill="hold"/>
                                        <p:tgtEl>
                                          <p:spTgt spid="2">
                                            <p:txEl>
                                              <p:pRg st="0" end="0"/>
                                            </p:txEl>
                                          </p:spTgt>
                                        </p:tgtEl>
                                        <p:attrNameLst>
                                          <p:attrName>style.color</p:attrName>
                                        </p:attrNameLst>
                                      </p:cBhvr>
                                      <p:to>
                                        <a:srgbClr val="FF0000"/>
                                      </p:to>
                                    </p:animClr>
                                  </p:childTnLst>
                                  <p:subTnLst>
                                    <p:audio>
                                      <p:cMediaNode>
                                        <p:cTn display="0" masterRel="sameClick">
                                          <p:stCondLst>
                                            <p:cond evt="begin" delay="0">
                                              <p:tn val="5"/>
                                            </p:cond>
                                          </p:stCondLst>
                                          <p:endCondLst>
                                            <p:cond evt="onStopAudio" delay="0">
                                              <p:tgtEl>
                                                <p:sldTgt/>
                                              </p:tgtEl>
                                            </p:cond>
                                          </p:endCondLst>
                                        </p:cTn>
                                        <p:tgtEl>
                                          <p:sndTgt r:embed="rId3" name="type.wav"/>
                                        </p:tgtEl>
                                      </p:cMediaNode>
                                    </p:audio>
                                  </p:subTnLst>
                                </p:cTn>
                              </p:par>
                              <p:par>
                                <p:cTn id="7" presetID="3" presetClass="emph" presetSubtype="2" fill="hold" grpId="0" nodeType="withEffect">
                                  <p:stCondLst>
                                    <p:cond delay="0"/>
                                  </p:stCondLst>
                                  <p:childTnLst>
                                    <p:animClr clrSpc="rgb" dir="cw">
                                      <p:cBhvr override="childStyle">
                                        <p:cTn id="8" dur="500" fill="hold"/>
                                        <p:tgtEl>
                                          <p:spTgt spid="2">
                                            <p:txEl>
                                              <p:pRg st="1" end="1"/>
                                            </p:txEl>
                                          </p:spTgt>
                                        </p:tgtEl>
                                        <p:attrNameLst>
                                          <p:attrName>style.color</p:attrName>
                                        </p:attrNameLst>
                                      </p:cBhvr>
                                      <p:to>
                                        <a:srgbClr val="FF0000"/>
                                      </p:to>
                                    </p:animClr>
                                  </p:childTnLst>
                                  <p:subTnLst>
                                    <p:audio>
                                      <p:cMediaNode>
                                        <p:cTn display="0" masterRel="sameClick">
                                          <p:stCondLst>
                                            <p:cond evt="begin" delay="0">
                                              <p:tn val="7"/>
                                            </p:cond>
                                          </p:stCondLst>
                                          <p:endCondLst>
                                            <p:cond evt="onStopAudio" delay="0">
                                              <p:tgtEl>
                                                <p:sldTgt/>
                                              </p:tgtEl>
                                            </p:cond>
                                          </p:endCondLst>
                                        </p:cTn>
                                        <p:tgtEl>
                                          <p:sndTgt r:embed="rId3" name="type.wav"/>
                                        </p:tgtEl>
                                      </p:cMediaNode>
                                    </p:audio>
                                  </p:subTnLst>
                                </p:cTn>
                              </p:par>
                              <p:par>
                                <p:cTn id="9" presetID="3" presetClass="emph" presetSubtype="2" fill="hold" grpId="0" nodeType="withEffect">
                                  <p:stCondLst>
                                    <p:cond delay="0"/>
                                  </p:stCondLst>
                                  <p:childTnLst>
                                    <p:animClr clrSpc="rgb" dir="cw">
                                      <p:cBhvr override="childStyle">
                                        <p:cTn id="10" dur="500" fill="hold"/>
                                        <p:tgtEl>
                                          <p:spTgt spid="2">
                                            <p:txEl>
                                              <p:pRg st="2" end="2"/>
                                            </p:txEl>
                                          </p:spTgt>
                                        </p:tgtEl>
                                        <p:attrNameLst>
                                          <p:attrName>style.color</p:attrName>
                                        </p:attrNameLst>
                                      </p:cBhvr>
                                      <p:to>
                                        <a:srgbClr val="FF0000"/>
                                      </p:to>
                                    </p:animClr>
                                  </p:childTnLst>
                                  <p:subTnLst>
                                    <p:audio>
                                      <p:cMediaNode>
                                        <p:cTn display="0" masterRel="sameClick">
                                          <p:stCondLst>
                                            <p:cond evt="begin" delay="0">
                                              <p:tn val="9"/>
                                            </p:cond>
                                          </p:stCondLst>
                                          <p:endCondLst>
                                            <p:cond evt="onStopAudio" delay="0">
                                              <p:tgtEl>
                                                <p:sldTgt/>
                                              </p:tgtEl>
                                            </p:cond>
                                          </p:endCondLst>
                                        </p:cTn>
                                        <p:tgtEl>
                                          <p:sndTgt r:embed="rId3" name="type.wav"/>
                                        </p:tgtEl>
                                      </p:cMediaNode>
                                    </p:audio>
                                  </p:subTnLst>
                                </p:cTn>
                              </p:par>
                              <p:par>
                                <p:cTn id="11" presetID="3" presetClass="emph" presetSubtype="2" fill="hold" grpId="1" nodeType="withEffect">
                                  <p:stCondLst>
                                    <p:cond delay="0"/>
                                  </p:stCondLst>
                                  <p:childTnLst>
                                    <p:animClr clrSpc="rgb" dir="cw">
                                      <p:cBhvr override="childStyle">
                                        <p:cTn id="12" dur="2000" fill="hold"/>
                                        <p:tgtEl>
                                          <p:spTgt spid="2">
                                            <p:txEl>
                                              <p:pRg st="0" end="0"/>
                                            </p:txEl>
                                          </p:spTgt>
                                        </p:tgtEl>
                                        <p:attrNameLst>
                                          <p:attrName>style.color</p:attrName>
                                        </p:attrNameLst>
                                      </p:cBhvr>
                                      <p:to>
                                        <a:srgbClr val="4D4D4D"/>
                                      </p:to>
                                    </p:animClr>
                                  </p:childTnLst>
                                </p:cTn>
                              </p:par>
                              <p:par>
                                <p:cTn id="13" presetID="3" presetClass="emph" presetSubtype="2" fill="hold" grpId="1" nodeType="withEffect">
                                  <p:stCondLst>
                                    <p:cond delay="0"/>
                                  </p:stCondLst>
                                  <p:childTnLst>
                                    <p:animClr clrSpc="rgb" dir="cw">
                                      <p:cBhvr override="childStyle">
                                        <p:cTn id="14" dur="2000" fill="hold"/>
                                        <p:tgtEl>
                                          <p:spTgt spid="2">
                                            <p:txEl>
                                              <p:pRg st="1" end="1"/>
                                            </p:txEl>
                                          </p:spTgt>
                                        </p:tgtEl>
                                        <p:attrNameLst>
                                          <p:attrName>style.color</p:attrName>
                                        </p:attrNameLst>
                                      </p:cBhvr>
                                      <p:to>
                                        <a:srgbClr val="4D4D4D"/>
                                      </p:to>
                                    </p:animClr>
                                  </p:childTnLst>
                                </p:cTn>
                              </p:par>
                              <p:par>
                                <p:cTn id="15" presetID="3" presetClass="emph" presetSubtype="2" fill="hold" grpId="1" nodeType="withEffect">
                                  <p:stCondLst>
                                    <p:cond delay="0"/>
                                  </p:stCondLst>
                                  <p:childTnLst>
                                    <p:animClr clrSpc="rgb" dir="cw">
                                      <p:cBhvr override="childStyle">
                                        <p:cTn id="16" dur="2000" fill="hold"/>
                                        <p:tgtEl>
                                          <p:spTgt spid="2">
                                            <p:txEl>
                                              <p:pRg st="2" end="2"/>
                                            </p:txEl>
                                          </p:spTgt>
                                        </p:tgtEl>
                                        <p:attrNameLst>
                                          <p:attrName>style.color</p:attrName>
                                        </p:attrNameLst>
                                      </p:cBhvr>
                                      <p:to>
                                        <a:srgbClr val="4D4D4D"/>
                                      </p:to>
                                    </p:animClr>
                                  </p:childTnLst>
                                </p:cTn>
                              </p:par>
                            </p:childTnLst>
                          </p:cTn>
                        </p:par>
                      </p:childTnLst>
                    </p:cTn>
                  </p:par>
                  <p:par>
                    <p:cTn id="17" fill="hold">
                      <p:stCondLst>
                        <p:cond delay="indefinite"/>
                      </p:stCondLst>
                      <p:childTnLst>
                        <p:par>
                          <p:cTn id="18" fill="hold">
                            <p:stCondLst>
                              <p:cond delay="0"/>
                            </p:stCondLst>
                            <p:childTnLst>
                              <p:par>
                                <p:cTn id="19" presetID="3" presetClass="emph" presetSubtype="2" fill="hold" grpId="0" nodeType="clickEffect">
                                  <p:stCondLst>
                                    <p:cond delay="0"/>
                                  </p:stCondLst>
                                  <p:childTnLst>
                                    <p:animClr clrSpc="rgb" dir="cw">
                                      <p:cBhvr override="childStyle">
                                        <p:cTn id="20" dur="500" fill="hold"/>
                                        <p:tgtEl>
                                          <p:spTgt spid="2">
                                            <p:txEl>
                                              <p:pRg st="3" end="3"/>
                                            </p:txEl>
                                          </p:spTgt>
                                        </p:tgtEl>
                                        <p:attrNameLst>
                                          <p:attrName>style.color</p:attrName>
                                        </p:attrNameLst>
                                      </p:cBhvr>
                                      <p:to>
                                        <a:srgbClr val="FF0000"/>
                                      </p:to>
                                    </p:animClr>
                                  </p:childTnLst>
                                  <p:subTnLst>
                                    <p:audio>
                                      <p:cMediaNode>
                                        <p:cTn display="0" masterRel="sameClick">
                                          <p:stCondLst>
                                            <p:cond evt="begin" delay="0">
                                              <p:tn val="19"/>
                                            </p:cond>
                                          </p:stCondLst>
                                          <p:endCondLst>
                                            <p:cond evt="onStopAudio" delay="0">
                                              <p:tgtEl>
                                                <p:sldTgt/>
                                              </p:tgtEl>
                                            </p:cond>
                                          </p:endCondLst>
                                        </p:cTn>
                                        <p:tgtEl>
                                          <p:sndTgt r:embed="rId3" name="type.wav"/>
                                        </p:tgtEl>
                                      </p:cMediaNode>
                                    </p:audio>
                                  </p:subTnLst>
                                </p:cTn>
                              </p:par>
                            </p:childTnLst>
                          </p:cTn>
                        </p:par>
                      </p:childTnLst>
                    </p:cTn>
                  </p:par>
                  <p:par>
                    <p:cTn id="21" fill="hold">
                      <p:stCondLst>
                        <p:cond delay="indefinite"/>
                      </p:stCondLst>
                      <p:childTnLst>
                        <p:par>
                          <p:cTn id="22" fill="hold">
                            <p:stCondLst>
                              <p:cond delay="0"/>
                            </p:stCondLst>
                            <p:childTnLst>
                              <p:par>
                                <p:cTn id="23" presetID="3" presetClass="emph" presetSubtype="2" fill="hold" grpId="0" nodeType="clickEffect">
                                  <p:stCondLst>
                                    <p:cond delay="0"/>
                                  </p:stCondLst>
                                  <p:childTnLst>
                                    <p:animClr clrSpc="rgb" dir="cw">
                                      <p:cBhvr override="childStyle">
                                        <p:cTn id="24" dur="500" fill="hold"/>
                                        <p:tgtEl>
                                          <p:spTgt spid="2">
                                            <p:txEl>
                                              <p:pRg st="4" end="4"/>
                                            </p:txEl>
                                          </p:spTgt>
                                        </p:tgtEl>
                                        <p:attrNameLst>
                                          <p:attrName>style.color</p:attrName>
                                        </p:attrNameLst>
                                      </p:cBhvr>
                                      <p:to>
                                        <a:srgbClr val="FF0000"/>
                                      </p:to>
                                    </p:animClr>
                                  </p:childTnLst>
                                  <p:subTnLst>
                                    <p:audio>
                                      <p:cMediaNode>
                                        <p:cTn display="0" masterRel="sameClick">
                                          <p:stCondLst>
                                            <p:cond evt="begin" delay="0">
                                              <p:tn val="23"/>
                                            </p:cond>
                                          </p:stCondLst>
                                          <p:endCondLst>
                                            <p:cond evt="onStopAudio" delay="0">
                                              <p:tgtEl>
                                                <p:sldTgt/>
                                              </p:tgtEl>
                                            </p:cond>
                                          </p:endCondLst>
                                        </p:cTn>
                                        <p:tgtEl>
                                          <p:sndTgt r:embed="rId3" name="type.wav"/>
                                        </p:tgtEl>
                                      </p:cMediaNode>
                                    </p:audio>
                                  </p:subTnLst>
                                </p:cTn>
                              </p:par>
                              <p:par>
                                <p:cTn id="25" presetID="3" presetClass="emph" presetSubtype="2" fill="hold" grpId="1" nodeType="withEffect">
                                  <p:stCondLst>
                                    <p:cond delay="0"/>
                                  </p:stCondLst>
                                  <p:childTnLst>
                                    <p:animClr clrSpc="rgb" dir="cw">
                                      <p:cBhvr override="childStyle">
                                        <p:cTn id="26" dur="2000" fill="hold"/>
                                        <p:tgtEl>
                                          <p:spTgt spid="2">
                                            <p:txEl>
                                              <p:pRg st="3" end="3"/>
                                            </p:txEl>
                                          </p:spTgt>
                                        </p:tgtEl>
                                        <p:attrNameLst>
                                          <p:attrName>style.color</p:attrName>
                                        </p:attrNameLst>
                                      </p:cBhvr>
                                      <p:to>
                                        <a:srgbClr val="4D4D4D"/>
                                      </p:to>
                                    </p:animClr>
                                  </p:childTnLst>
                                </p:cTn>
                              </p:par>
                              <p:par>
                                <p:cTn id="27" presetID="3" presetClass="emph" presetSubtype="2" fill="hold" grpId="1" nodeType="withEffect">
                                  <p:stCondLst>
                                    <p:cond delay="0"/>
                                  </p:stCondLst>
                                  <p:childTnLst>
                                    <p:animClr clrSpc="rgb" dir="cw">
                                      <p:cBhvr override="childStyle">
                                        <p:cTn id="28" dur="2000" fill="hold"/>
                                        <p:tgtEl>
                                          <p:spTgt spid="2">
                                            <p:txEl>
                                              <p:pRg st="4" end="4"/>
                                            </p:txEl>
                                          </p:spTgt>
                                        </p:tgtEl>
                                        <p:attrNameLst>
                                          <p:attrName>style.color</p:attrName>
                                        </p:attrNameLst>
                                      </p:cBhvr>
                                      <p:to>
                                        <a:srgbClr val="4D4D4D"/>
                                      </p:to>
                                    </p:animClr>
                                  </p:childTnLst>
                                </p:cTn>
                              </p:par>
                            </p:childTnLst>
                          </p:cTn>
                        </p:par>
                      </p:childTnLst>
                    </p:cTn>
                  </p:par>
                  <p:par>
                    <p:cTn id="29" fill="hold">
                      <p:stCondLst>
                        <p:cond delay="indefinite"/>
                      </p:stCondLst>
                      <p:childTnLst>
                        <p:par>
                          <p:cTn id="30" fill="hold">
                            <p:stCondLst>
                              <p:cond delay="0"/>
                            </p:stCondLst>
                            <p:childTnLst>
                              <p:par>
                                <p:cTn id="31" presetID="3" presetClass="emph" presetSubtype="2" fill="hold" grpId="0" nodeType="clickEffect">
                                  <p:stCondLst>
                                    <p:cond delay="0"/>
                                  </p:stCondLst>
                                  <p:childTnLst>
                                    <p:animClr clrSpc="rgb" dir="cw">
                                      <p:cBhvr override="childStyle">
                                        <p:cTn id="32" dur="500" fill="hold"/>
                                        <p:tgtEl>
                                          <p:spTgt spid="2">
                                            <p:txEl>
                                              <p:pRg st="5" end="5"/>
                                            </p:txEl>
                                          </p:spTgt>
                                        </p:tgtEl>
                                        <p:attrNameLst>
                                          <p:attrName>style.color</p:attrName>
                                        </p:attrNameLst>
                                      </p:cBhvr>
                                      <p:to>
                                        <a:srgbClr val="FF0000"/>
                                      </p:to>
                                    </p:animClr>
                                  </p:childTnLst>
                                  <p:subTnLst>
                                    <p:audio>
                                      <p:cMediaNode>
                                        <p:cTn display="0" masterRel="sameClick">
                                          <p:stCondLst>
                                            <p:cond evt="begin" delay="0">
                                              <p:tn val="31"/>
                                            </p:cond>
                                          </p:stCondLst>
                                          <p:endCondLst>
                                            <p:cond evt="onStopAudio" delay="0">
                                              <p:tgtEl>
                                                <p:sldTgt/>
                                              </p:tgtEl>
                                            </p:cond>
                                          </p:endCondLst>
                                        </p:cTn>
                                        <p:tgtEl>
                                          <p:sndTgt r:embed="rId3" name="type.wav"/>
                                        </p:tgtEl>
                                      </p:cMediaNode>
                                    </p:audio>
                                  </p:subTnLst>
                                </p:cTn>
                              </p:par>
                            </p:childTnLst>
                          </p:cTn>
                        </p:par>
                      </p:childTnLst>
                    </p:cTn>
                  </p:par>
                  <p:par>
                    <p:cTn id="33" fill="hold">
                      <p:stCondLst>
                        <p:cond delay="indefinite"/>
                      </p:stCondLst>
                      <p:childTnLst>
                        <p:par>
                          <p:cTn id="34" fill="hold">
                            <p:stCondLst>
                              <p:cond delay="0"/>
                            </p:stCondLst>
                            <p:childTnLst>
                              <p:par>
                                <p:cTn id="35" presetID="3" presetClass="emph" presetSubtype="2" fill="hold" grpId="0" nodeType="clickEffect">
                                  <p:stCondLst>
                                    <p:cond delay="0"/>
                                  </p:stCondLst>
                                  <p:childTnLst>
                                    <p:animClr clrSpc="rgb" dir="cw">
                                      <p:cBhvr override="childStyle">
                                        <p:cTn id="36" dur="500" fill="hold"/>
                                        <p:tgtEl>
                                          <p:spTgt spid="2">
                                            <p:txEl>
                                              <p:pRg st="6" end="6"/>
                                            </p:txEl>
                                          </p:spTgt>
                                        </p:tgtEl>
                                        <p:attrNameLst>
                                          <p:attrName>style.color</p:attrName>
                                        </p:attrNameLst>
                                      </p:cBhvr>
                                      <p:to>
                                        <a:srgbClr val="FF0000"/>
                                      </p:to>
                                    </p:animClr>
                                  </p:childTnLst>
                                  <p:subTnLst>
                                    <p:audio>
                                      <p:cMediaNode>
                                        <p:cTn display="0" masterRel="sameClick">
                                          <p:stCondLst>
                                            <p:cond evt="begin" delay="0">
                                              <p:tn val="35"/>
                                            </p:cond>
                                          </p:stCondLst>
                                          <p:endCondLst>
                                            <p:cond evt="onStopAudio" delay="0">
                                              <p:tgtEl>
                                                <p:sldTgt/>
                                              </p:tgtEl>
                                            </p:cond>
                                          </p:endCondLst>
                                        </p:cTn>
                                        <p:tgtEl>
                                          <p:sndTgt r:embed="rId3" name="type.wav"/>
                                        </p:tgtEl>
                                      </p:cMediaNode>
                                    </p:audio>
                                  </p:subTnLst>
                                </p:cTn>
                              </p:par>
                              <p:par>
                                <p:cTn id="37" presetID="3" presetClass="emph" presetSubtype="2" fill="hold" grpId="1" nodeType="withEffect">
                                  <p:stCondLst>
                                    <p:cond delay="0"/>
                                  </p:stCondLst>
                                  <p:childTnLst>
                                    <p:animClr clrSpc="rgb" dir="cw">
                                      <p:cBhvr override="childStyle">
                                        <p:cTn id="38" dur="2000" fill="hold"/>
                                        <p:tgtEl>
                                          <p:spTgt spid="2">
                                            <p:txEl>
                                              <p:pRg st="5" end="5"/>
                                            </p:txEl>
                                          </p:spTgt>
                                        </p:tgtEl>
                                        <p:attrNameLst>
                                          <p:attrName>style.color</p:attrName>
                                        </p:attrNameLst>
                                      </p:cBhvr>
                                      <p:to>
                                        <a:srgbClr val="4D4D4D"/>
                                      </p:to>
                                    </p:animClr>
                                  </p:childTnLst>
                                </p:cTn>
                              </p:par>
                            </p:childTnLst>
                          </p:cTn>
                        </p:par>
                      </p:childTnLst>
                    </p:cTn>
                  </p:par>
                  <p:par>
                    <p:cTn id="39" fill="hold">
                      <p:stCondLst>
                        <p:cond delay="indefinite"/>
                      </p:stCondLst>
                      <p:childTnLst>
                        <p:par>
                          <p:cTn id="40" fill="hold">
                            <p:stCondLst>
                              <p:cond delay="0"/>
                            </p:stCondLst>
                            <p:childTnLst>
                              <p:par>
                                <p:cTn id="41" presetID="3" presetClass="emph" presetSubtype="2" fill="hold" grpId="0" nodeType="clickEffect">
                                  <p:stCondLst>
                                    <p:cond delay="0"/>
                                  </p:stCondLst>
                                  <p:childTnLst>
                                    <p:animClr clrSpc="rgb" dir="cw">
                                      <p:cBhvr override="childStyle">
                                        <p:cTn id="42" dur="500" fill="hold"/>
                                        <p:tgtEl>
                                          <p:spTgt spid="2">
                                            <p:txEl>
                                              <p:pRg st="7" end="7"/>
                                            </p:txEl>
                                          </p:spTgt>
                                        </p:tgtEl>
                                        <p:attrNameLst>
                                          <p:attrName>style.color</p:attrName>
                                        </p:attrNameLst>
                                      </p:cBhvr>
                                      <p:to>
                                        <a:srgbClr val="FF0000"/>
                                      </p:to>
                                    </p:animClr>
                                  </p:childTnLst>
                                  <p:subTnLst>
                                    <p:audio>
                                      <p:cMediaNode>
                                        <p:cTn display="0" masterRel="sameClick">
                                          <p:stCondLst>
                                            <p:cond evt="begin" delay="0">
                                              <p:tn val="41"/>
                                            </p:cond>
                                          </p:stCondLst>
                                          <p:endCondLst>
                                            <p:cond evt="onStopAudio" delay="0">
                                              <p:tgtEl>
                                                <p:sldTgt/>
                                              </p:tgtEl>
                                            </p:cond>
                                          </p:endCondLst>
                                        </p:cTn>
                                        <p:tgtEl>
                                          <p:sndTgt r:embed="rId3" name="type.wav"/>
                                        </p:tgtEl>
                                      </p:cMediaNode>
                                    </p:audio>
                                  </p:subTnLst>
                                </p:cTn>
                              </p:par>
                              <p:par>
                                <p:cTn id="43" presetID="3" presetClass="emph" presetSubtype="2" fill="hold" grpId="1" nodeType="withEffect">
                                  <p:stCondLst>
                                    <p:cond delay="0"/>
                                  </p:stCondLst>
                                  <p:childTnLst>
                                    <p:animClr clrSpc="rgb" dir="cw">
                                      <p:cBhvr override="childStyle">
                                        <p:cTn id="44" dur="2000" fill="hold"/>
                                        <p:tgtEl>
                                          <p:spTgt spid="2">
                                            <p:txEl>
                                              <p:pRg st="6" end="6"/>
                                            </p:txEl>
                                          </p:spTgt>
                                        </p:tgtEl>
                                        <p:attrNameLst>
                                          <p:attrName>style.color</p:attrName>
                                        </p:attrNameLst>
                                      </p:cBhvr>
                                      <p:to>
                                        <a:srgbClr val="4D4D4D"/>
                                      </p:to>
                                    </p:animClr>
                                  </p:childTnLst>
                                </p:cTn>
                              </p:par>
                            </p:childTnLst>
                          </p:cTn>
                        </p:par>
                      </p:childTnLst>
                    </p:cTn>
                  </p:par>
                  <p:par>
                    <p:cTn id="45" fill="hold">
                      <p:stCondLst>
                        <p:cond delay="indefinite"/>
                      </p:stCondLst>
                      <p:childTnLst>
                        <p:par>
                          <p:cTn id="46" fill="hold">
                            <p:stCondLst>
                              <p:cond delay="0"/>
                            </p:stCondLst>
                            <p:childTnLst>
                              <p:par>
                                <p:cTn id="47" presetID="3" presetClass="emph" presetSubtype="2" fill="hold" grpId="0" nodeType="clickEffect">
                                  <p:stCondLst>
                                    <p:cond delay="0"/>
                                  </p:stCondLst>
                                  <p:childTnLst>
                                    <p:animClr clrSpc="rgb" dir="cw">
                                      <p:cBhvr override="childStyle">
                                        <p:cTn id="48" dur="500" fill="hold"/>
                                        <p:tgtEl>
                                          <p:spTgt spid="2">
                                            <p:txEl>
                                              <p:pRg st="8" end="8"/>
                                            </p:txEl>
                                          </p:spTgt>
                                        </p:tgtEl>
                                        <p:attrNameLst>
                                          <p:attrName>style.color</p:attrName>
                                        </p:attrNameLst>
                                      </p:cBhvr>
                                      <p:to>
                                        <a:srgbClr val="FF0000"/>
                                      </p:to>
                                    </p:animClr>
                                  </p:childTnLst>
                                  <p:subTnLst>
                                    <p:audio>
                                      <p:cMediaNode>
                                        <p:cTn display="0" masterRel="sameClick">
                                          <p:stCondLst>
                                            <p:cond evt="begin" delay="0">
                                              <p:tn val="47"/>
                                            </p:cond>
                                          </p:stCondLst>
                                          <p:endCondLst>
                                            <p:cond evt="onStopAudio" delay="0">
                                              <p:tgtEl>
                                                <p:sldTgt/>
                                              </p:tgtEl>
                                            </p:cond>
                                          </p:endCondLst>
                                        </p:cTn>
                                        <p:tgtEl>
                                          <p:sndTgt r:embed="rId3" name="type.wav"/>
                                        </p:tgtEl>
                                      </p:cMediaNode>
                                    </p:audio>
                                  </p:subTnLst>
                                </p:cTn>
                              </p:par>
                              <p:par>
                                <p:cTn id="49" presetID="3" presetClass="emph" presetSubtype="2" fill="hold" grpId="1" nodeType="withEffect">
                                  <p:stCondLst>
                                    <p:cond delay="0"/>
                                  </p:stCondLst>
                                  <p:childTnLst>
                                    <p:animClr clrSpc="rgb" dir="cw">
                                      <p:cBhvr override="childStyle">
                                        <p:cTn id="50" dur="2000" fill="hold"/>
                                        <p:tgtEl>
                                          <p:spTgt spid="2">
                                            <p:txEl>
                                              <p:pRg st="7" end="7"/>
                                            </p:txEl>
                                          </p:spTgt>
                                        </p:tgtEl>
                                        <p:attrNameLst>
                                          <p:attrName>style.color</p:attrName>
                                        </p:attrNameLst>
                                      </p:cBhvr>
                                      <p:to>
                                        <a:srgbClr val="4D4D4D"/>
                                      </p:to>
                                    </p:animClr>
                                  </p:childTnLst>
                                </p:cTn>
                              </p:par>
                            </p:childTnLst>
                          </p:cTn>
                        </p:par>
                      </p:childTnLst>
                    </p:cTn>
                  </p:par>
                  <p:par>
                    <p:cTn id="51" fill="hold">
                      <p:stCondLst>
                        <p:cond delay="indefinite"/>
                      </p:stCondLst>
                      <p:childTnLst>
                        <p:par>
                          <p:cTn id="52" fill="hold">
                            <p:stCondLst>
                              <p:cond delay="0"/>
                            </p:stCondLst>
                            <p:childTnLst>
                              <p:par>
                                <p:cTn id="53" presetID="3" presetClass="emph" presetSubtype="2" fill="hold" grpId="0" nodeType="clickEffect">
                                  <p:stCondLst>
                                    <p:cond delay="0"/>
                                  </p:stCondLst>
                                  <p:childTnLst>
                                    <p:animClr clrSpc="rgb" dir="cw">
                                      <p:cBhvr override="childStyle">
                                        <p:cTn id="54" dur="500" fill="hold"/>
                                        <p:tgtEl>
                                          <p:spTgt spid="2">
                                            <p:txEl>
                                              <p:pRg st="9" end="9"/>
                                            </p:txEl>
                                          </p:spTgt>
                                        </p:tgtEl>
                                        <p:attrNameLst>
                                          <p:attrName>style.color</p:attrName>
                                        </p:attrNameLst>
                                      </p:cBhvr>
                                      <p:to>
                                        <a:srgbClr val="FF0000"/>
                                      </p:to>
                                    </p:animClr>
                                  </p:childTnLst>
                                  <p:subTnLst>
                                    <p:audio>
                                      <p:cMediaNode>
                                        <p:cTn display="0" masterRel="sameClick">
                                          <p:stCondLst>
                                            <p:cond evt="begin" delay="0">
                                              <p:tn val="53"/>
                                            </p:cond>
                                          </p:stCondLst>
                                          <p:endCondLst>
                                            <p:cond evt="onStopAudio" delay="0">
                                              <p:tgtEl>
                                                <p:sldTgt/>
                                              </p:tgtEl>
                                            </p:cond>
                                          </p:endCondLst>
                                        </p:cTn>
                                        <p:tgtEl>
                                          <p:sndTgt r:embed="rId3" name="type.wav"/>
                                        </p:tgtEl>
                                      </p:cMediaNode>
                                    </p:audio>
                                  </p:subTnLst>
                                </p:cTn>
                              </p:par>
                              <p:par>
                                <p:cTn id="55" presetID="3" presetClass="emph" presetSubtype="2" fill="hold" grpId="0" nodeType="withEffect">
                                  <p:stCondLst>
                                    <p:cond delay="0"/>
                                  </p:stCondLst>
                                  <p:childTnLst>
                                    <p:animClr clrSpc="rgb" dir="cw">
                                      <p:cBhvr override="childStyle">
                                        <p:cTn id="56" dur="500" fill="hold"/>
                                        <p:tgtEl>
                                          <p:spTgt spid="2">
                                            <p:txEl>
                                              <p:pRg st="10" end="10"/>
                                            </p:txEl>
                                          </p:spTgt>
                                        </p:tgtEl>
                                        <p:attrNameLst>
                                          <p:attrName>style.color</p:attrName>
                                        </p:attrNameLst>
                                      </p:cBhvr>
                                      <p:to>
                                        <a:srgbClr val="FF0000"/>
                                      </p:to>
                                    </p:animClr>
                                  </p:childTnLst>
                                  <p:subTnLst>
                                    <p:audio>
                                      <p:cMediaNode>
                                        <p:cTn display="0" masterRel="sameClick">
                                          <p:stCondLst>
                                            <p:cond evt="begin" delay="0">
                                              <p:tn val="55"/>
                                            </p:cond>
                                          </p:stCondLst>
                                          <p:endCondLst>
                                            <p:cond evt="onStopAudio" delay="0">
                                              <p:tgtEl>
                                                <p:sldTgt/>
                                              </p:tgtEl>
                                            </p:cond>
                                          </p:endCondLst>
                                        </p:cTn>
                                        <p:tgtEl>
                                          <p:sndTgt r:embed="rId3" name="type.wav"/>
                                        </p:tgtEl>
                                      </p:cMediaNode>
                                    </p:audio>
                                  </p:subTnLst>
                                </p:cTn>
                              </p:par>
                              <p:par>
                                <p:cTn id="57" presetID="3" presetClass="emph" presetSubtype="2" fill="hold" grpId="0" nodeType="withEffect">
                                  <p:stCondLst>
                                    <p:cond delay="0"/>
                                  </p:stCondLst>
                                  <p:childTnLst>
                                    <p:animClr clrSpc="rgb" dir="cw">
                                      <p:cBhvr override="childStyle">
                                        <p:cTn id="58" dur="500" fill="hold"/>
                                        <p:tgtEl>
                                          <p:spTgt spid="2">
                                            <p:txEl>
                                              <p:pRg st="11" end="11"/>
                                            </p:txEl>
                                          </p:spTgt>
                                        </p:tgtEl>
                                        <p:attrNameLst>
                                          <p:attrName>style.color</p:attrName>
                                        </p:attrNameLst>
                                      </p:cBhvr>
                                      <p:to>
                                        <a:srgbClr val="FF0000"/>
                                      </p:to>
                                    </p:animClr>
                                  </p:childTnLst>
                                  <p:subTnLst>
                                    <p:audio>
                                      <p:cMediaNode>
                                        <p:cTn display="0" masterRel="sameClick">
                                          <p:stCondLst>
                                            <p:cond evt="begin" delay="0">
                                              <p:tn val="57"/>
                                            </p:cond>
                                          </p:stCondLst>
                                          <p:endCondLst>
                                            <p:cond evt="onStopAudio" delay="0">
                                              <p:tgtEl>
                                                <p:sldTgt/>
                                              </p:tgtEl>
                                            </p:cond>
                                          </p:endCondLst>
                                        </p:cTn>
                                        <p:tgtEl>
                                          <p:sndTgt r:embed="rId3" name="type.wav"/>
                                        </p:tgtEl>
                                      </p:cMediaNode>
                                    </p:audio>
                                  </p:subTnLst>
                                </p:cTn>
                              </p:par>
                              <p:par>
                                <p:cTn id="59" presetID="3" presetClass="emph" presetSubtype="2" fill="hold" grpId="0" nodeType="withEffect">
                                  <p:stCondLst>
                                    <p:cond delay="0"/>
                                  </p:stCondLst>
                                  <p:childTnLst>
                                    <p:animClr clrSpc="rgb" dir="cw">
                                      <p:cBhvr override="childStyle">
                                        <p:cTn id="60" dur="500" fill="hold"/>
                                        <p:tgtEl>
                                          <p:spTgt spid="2">
                                            <p:txEl>
                                              <p:pRg st="12" end="12"/>
                                            </p:txEl>
                                          </p:spTgt>
                                        </p:tgtEl>
                                        <p:attrNameLst>
                                          <p:attrName>style.color</p:attrName>
                                        </p:attrNameLst>
                                      </p:cBhvr>
                                      <p:to>
                                        <a:srgbClr val="FF0000"/>
                                      </p:to>
                                    </p:animClr>
                                  </p:childTnLst>
                                  <p:subTnLst>
                                    <p:audio>
                                      <p:cMediaNode>
                                        <p:cTn display="0" masterRel="sameClick">
                                          <p:stCondLst>
                                            <p:cond evt="begin" delay="0">
                                              <p:tn val="59"/>
                                            </p:cond>
                                          </p:stCondLst>
                                          <p:endCondLst>
                                            <p:cond evt="onStopAudio" delay="0">
                                              <p:tgtEl>
                                                <p:sldTgt/>
                                              </p:tgtEl>
                                            </p:cond>
                                          </p:endCondLst>
                                        </p:cTn>
                                        <p:tgtEl>
                                          <p:sndTgt r:embed="rId3" name="type.wav"/>
                                        </p:tgtEl>
                                      </p:cMediaNode>
                                    </p:audio>
                                  </p:subTnLst>
                                </p:cTn>
                              </p:par>
                              <p:par>
                                <p:cTn id="61" presetID="3" presetClass="emph" presetSubtype="2" fill="hold" grpId="1" nodeType="withEffect">
                                  <p:stCondLst>
                                    <p:cond delay="0"/>
                                  </p:stCondLst>
                                  <p:childTnLst>
                                    <p:animClr clrSpc="rgb" dir="cw">
                                      <p:cBhvr override="childStyle">
                                        <p:cTn id="62" dur="2000" fill="hold"/>
                                        <p:tgtEl>
                                          <p:spTgt spid="2">
                                            <p:txEl>
                                              <p:pRg st="8" end="8"/>
                                            </p:txEl>
                                          </p:spTgt>
                                        </p:tgtEl>
                                        <p:attrNameLst>
                                          <p:attrName>style.color</p:attrName>
                                        </p:attrNameLst>
                                      </p:cBhvr>
                                      <p:to>
                                        <a:srgbClr val="4D4D4D"/>
                                      </p:to>
                                    </p:animClr>
                                  </p:childTnLst>
                                </p:cTn>
                              </p:par>
                              <p:par>
                                <p:cTn id="63" presetID="3" presetClass="emph" presetSubtype="2" fill="hold" grpId="1" nodeType="withEffect">
                                  <p:stCondLst>
                                    <p:cond delay="0"/>
                                  </p:stCondLst>
                                  <p:childTnLst>
                                    <p:animClr clrSpc="rgb" dir="cw">
                                      <p:cBhvr override="childStyle">
                                        <p:cTn id="64" dur="2000" fill="hold"/>
                                        <p:tgtEl>
                                          <p:spTgt spid="2">
                                            <p:txEl>
                                              <p:pRg st="9" end="9"/>
                                            </p:txEl>
                                          </p:spTgt>
                                        </p:tgtEl>
                                        <p:attrNameLst>
                                          <p:attrName>style.color</p:attrName>
                                        </p:attrNameLst>
                                      </p:cBhvr>
                                      <p:to>
                                        <a:srgbClr val="4D4D4D"/>
                                      </p:to>
                                    </p:animClr>
                                  </p:childTnLst>
                                </p:cTn>
                              </p:par>
                              <p:par>
                                <p:cTn id="65" presetID="3" presetClass="emph" presetSubtype="2" fill="hold" grpId="1" nodeType="withEffect">
                                  <p:stCondLst>
                                    <p:cond delay="0"/>
                                  </p:stCondLst>
                                  <p:childTnLst>
                                    <p:animClr clrSpc="rgb" dir="cw">
                                      <p:cBhvr override="childStyle">
                                        <p:cTn id="66" dur="2000" fill="hold"/>
                                        <p:tgtEl>
                                          <p:spTgt spid="2">
                                            <p:txEl>
                                              <p:pRg st="10" end="10"/>
                                            </p:txEl>
                                          </p:spTgt>
                                        </p:tgtEl>
                                        <p:attrNameLst>
                                          <p:attrName>style.color</p:attrName>
                                        </p:attrNameLst>
                                      </p:cBhvr>
                                      <p:to>
                                        <a:srgbClr val="4D4D4D"/>
                                      </p:to>
                                    </p:animClr>
                                  </p:childTnLst>
                                </p:cTn>
                              </p:par>
                              <p:par>
                                <p:cTn id="67" presetID="3" presetClass="emph" presetSubtype="2" fill="hold" grpId="1" nodeType="withEffect">
                                  <p:stCondLst>
                                    <p:cond delay="0"/>
                                  </p:stCondLst>
                                  <p:childTnLst>
                                    <p:animClr clrSpc="rgb" dir="cw">
                                      <p:cBhvr override="childStyle">
                                        <p:cTn id="68" dur="2000" fill="hold"/>
                                        <p:tgtEl>
                                          <p:spTgt spid="2">
                                            <p:txEl>
                                              <p:pRg st="11" end="11"/>
                                            </p:txEl>
                                          </p:spTgt>
                                        </p:tgtEl>
                                        <p:attrNameLst>
                                          <p:attrName>style.color</p:attrName>
                                        </p:attrNameLst>
                                      </p:cBhvr>
                                      <p:to>
                                        <a:srgbClr val="4D4D4D"/>
                                      </p:to>
                                    </p:animClr>
                                  </p:childTnLst>
                                </p:cTn>
                              </p:par>
                              <p:par>
                                <p:cTn id="69" presetID="3" presetClass="emph" presetSubtype="2" fill="hold" grpId="1" nodeType="withEffect">
                                  <p:stCondLst>
                                    <p:cond delay="0"/>
                                  </p:stCondLst>
                                  <p:childTnLst>
                                    <p:animClr clrSpc="rgb" dir="cw">
                                      <p:cBhvr override="childStyle">
                                        <p:cTn id="70" dur="2000" fill="hold"/>
                                        <p:tgtEl>
                                          <p:spTgt spid="2">
                                            <p:txEl>
                                              <p:pRg st="12" end="12"/>
                                            </p:txEl>
                                          </p:spTgt>
                                        </p:tgtEl>
                                        <p:attrNameLst>
                                          <p:attrName>style.color</p:attrName>
                                        </p:attrNameLst>
                                      </p:cBhvr>
                                      <p:to>
                                        <a:srgbClr val="4D4D4D"/>
                                      </p:to>
                                    </p:animClr>
                                  </p:childTnLst>
                                </p:cTn>
                              </p:par>
                              <p:par>
                                <p:cTn id="71" presetID="3" presetClass="emph" presetSubtype="2" fill="hold" grpId="0" nodeType="withEffect">
                                  <p:stCondLst>
                                    <p:cond delay="0"/>
                                  </p:stCondLst>
                                  <p:childTnLst>
                                    <p:animClr clrSpc="rgb" dir="cw">
                                      <p:cBhvr override="childStyle">
                                        <p:cTn id="72" dur="500" fill="hold"/>
                                        <p:tgtEl>
                                          <p:spTgt spid="2">
                                            <p:txEl>
                                              <p:pRg st="13" end="13"/>
                                            </p:txEl>
                                          </p:spTgt>
                                        </p:tgtEl>
                                        <p:attrNameLst>
                                          <p:attrName>style.color</p:attrName>
                                        </p:attrNameLst>
                                      </p:cBhvr>
                                      <p:to>
                                        <a:srgbClr val="FF0000"/>
                                      </p:to>
                                    </p:animClr>
                                  </p:childTnLst>
                                  <p:subTnLst>
                                    <p:audio>
                                      <p:cMediaNode>
                                        <p:cTn display="0" masterRel="sameClick">
                                          <p:stCondLst>
                                            <p:cond evt="begin" delay="0">
                                              <p:tn val="71"/>
                                            </p:cond>
                                          </p:stCondLst>
                                          <p:endCondLst>
                                            <p:cond evt="onStopAudio" delay="0">
                                              <p:tgtEl>
                                                <p:sldTgt/>
                                              </p:tgtEl>
                                            </p:cond>
                                          </p:endCondLst>
                                        </p:cTn>
                                        <p:tgtEl>
                                          <p:sndTgt r:embed="rId3" name="type.wav"/>
                                        </p:tgtEl>
                                      </p:cMediaNode>
                                    </p:audio>
                                  </p:subTnLst>
                                </p:cTn>
                              </p:par>
                              <p:par>
                                <p:cTn id="73" presetID="3" presetClass="emph" presetSubtype="2" fill="hold" grpId="0" nodeType="withEffect">
                                  <p:stCondLst>
                                    <p:cond delay="0"/>
                                  </p:stCondLst>
                                  <p:childTnLst>
                                    <p:animClr clrSpc="rgb" dir="cw">
                                      <p:cBhvr override="childStyle">
                                        <p:cTn id="74" dur="500" fill="hold"/>
                                        <p:tgtEl>
                                          <p:spTgt spid="2">
                                            <p:txEl>
                                              <p:pRg st="14" end="14"/>
                                            </p:txEl>
                                          </p:spTgt>
                                        </p:tgtEl>
                                        <p:attrNameLst>
                                          <p:attrName>style.color</p:attrName>
                                        </p:attrNameLst>
                                      </p:cBhvr>
                                      <p:to>
                                        <a:srgbClr val="FF0000"/>
                                      </p:to>
                                    </p:animClr>
                                  </p:childTnLst>
                                  <p:subTnLst>
                                    <p:audio>
                                      <p:cMediaNode>
                                        <p:cTn display="0" masterRel="sameClick">
                                          <p:stCondLst>
                                            <p:cond evt="begin" delay="0">
                                              <p:tn val="73"/>
                                            </p:cond>
                                          </p:stCondLst>
                                          <p:endCondLst>
                                            <p:cond evt="onStopAudio" delay="0">
                                              <p:tgtEl>
                                                <p:sldTgt/>
                                              </p:tgtEl>
                                            </p:cond>
                                          </p:endCondLst>
                                        </p:cTn>
                                        <p:tgtEl>
                                          <p:sndTgt r:embed="rId3" name="type.wav"/>
                                        </p:tgtEl>
                                      </p:cMediaNode>
                                    </p:audio>
                                  </p:subTnLst>
                                </p:cTn>
                              </p:par>
                              <p:par>
                                <p:cTn id="75" presetID="3" presetClass="emph" presetSubtype="2" fill="hold" grpId="1" nodeType="withEffect">
                                  <p:stCondLst>
                                    <p:cond delay="0"/>
                                  </p:stCondLst>
                                  <p:childTnLst>
                                    <p:animClr clrSpc="rgb" dir="cw">
                                      <p:cBhvr override="childStyle">
                                        <p:cTn id="76" dur="2000" fill="hold"/>
                                        <p:tgtEl>
                                          <p:spTgt spid="2">
                                            <p:txEl>
                                              <p:pRg st="13" end="13"/>
                                            </p:txEl>
                                          </p:spTgt>
                                        </p:tgtEl>
                                        <p:attrNameLst>
                                          <p:attrName>style.color</p:attrName>
                                        </p:attrNameLst>
                                      </p:cBhvr>
                                      <p:to>
                                        <a:srgbClr val="4D4D4D"/>
                                      </p:to>
                                    </p:animClr>
                                  </p:childTnLst>
                                </p:cTn>
                              </p:par>
                              <p:par>
                                <p:cTn id="77" presetID="3" presetClass="emph" presetSubtype="2" fill="hold" grpId="1" nodeType="withEffect">
                                  <p:stCondLst>
                                    <p:cond delay="0"/>
                                  </p:stCondLst>
                                  <p:childTnLst>
                                    <p:animClr clrSpc="rgb" dir="cw">
                                      <p:cBhvr override="childStyle">
                                        <p:cTn id="78" dur="2000" fill="hold"/>
                                        <p:tgtEl>
                                          <p:spTgt spid="2">
                                            <p:txEl>
                                              <p:pRg st="14" end="14"/>
                                            </p:txEl>
                                          </p:spTgt>
                                        </p:tgtEl>
                                        <p:attrNameLst>
                                          <p:attrName>style.color</p:attrName>
                                        </p:attrNameLst>
                                      </p:cBhvr>
                                      <p:to>
                                        <a:srgbClr val="4D4D4D"/>
                                      </p:to>
                                    </p:animClr>
                                  </p:childTnLst>
                                </p:cTn>
                              </p:par>
                            </p:childTnLst>
                          </p:cTn>
                        </p:par>
                      </p:childTnLst>
                    </p:cTn>
                  </p:par>
                  <p:par>
                    <p:cTn id="79" fill="hold">
                      <p:stCondLst>
                        <p:cond delay="indefinite"/>
                      </p:stCondLst>
                      <p:childTnLst>
                        <p:par>
                          <p:cTn id="80" fill="hold">
                            <p:stCondLst>
                              <p:cond delay="0"/>
                            </p:stCondLst>
                            <p:childTnLst>
                              <p:par>
                                <p:cTn id="81" presetID="1" presetClass="exit" presetSubtype="0" fill="hold" grpId="2" nodeType="clickEffect">
                                  <p:stCondLst>
                                    <p:cond delay="0"/>
                                  </p:stCondLst>
                                  <p:childTnLst>
                                    <p:set>
                                      <p:cBhvr>
                                        <p:cTn id="82" dur="1" fill="hold">
                                          <p:stCondLst>
                                            <p:cond delay="0"/>
                                          </p:stCondLst>
                                        </p:cTn>
                                        <p:tgtEl>
                                          <p:spTgt spid="2">
                                            <p:bg/>
                                          </p:spTgt>
                                        </p:tgtEl>
                                        <p:attrNameLst>
                                          <p:attrName>style.visibility</p:attrName>
                                        </p:attrNameLst>
                                      </p:cBhvr>
                                      <p:to>
                                        <p:strVal val="hidden"/>
                                      </p:to>
                                    </p:set>
                                  </p:childTnLst>
                                </p:cTn>
                              </p:par>
                            </p:childTnLst>
                          </p:cTn>
                        </p:par>
                      </p:childTnLst>
                    </p:cTn>
                  </p:par>
                  <p:par>
                    <p:cTn id="83" fill="hold">
                      <p:stCondLst>
                        <p:cond delay="indefinite"/>
                      </p:stCondLst>
                      <p:childTnLst>
                        <p:par>
                          <p:cTn id="84" fill="hold">
                            <p:stCondLst>
                              <p:cond delay="0"/>
                            </p:stCondLst>
                            <p:childTnLst>
                              <p:par>
                                <p:cTn id="85" presetID="3" presetClass="emph" presetSubtype="2" fill="hold" grpId="0" nodeType="clickEffect">
                                  <p:stCondLst>
                                    <p:cond delay="0"/>
                                  </p:stCondLst>
                                  <p:childTnLst>
                                    <p:animClr clrSpc="rgb" dir="cw">
                                      <p:cBhvr override="childStyle">
                                        <p:cTn id="86" dur="500" fill="hold"/>
                                        <p:tgtEl>
                                          <p:spTgt spid="2">
                                            <p:txEl>
                                              <p:pRg st="8" end="8"/>
                                            </p:txEl>
                                          </p:spTgt>
                                        </p:tgtEl>
                                        <p:attrNameLst>
                                          <p:attrName>style.color</p:attrName>
                                        </p:attrNameLst>
                                      </p:cBhvr>
                                      <p:to>
                                        <a:srgbClr val="FF0000"/>
                                      </p:to>
                                    </p:animClr>
                                  </p:childTnLst>
                                  <p:subTnLst>
                                    <p:audio>
                                      <p:cMediaNode>
                                        <p:cTn display="0" masterRel="sameClick">
                                          <p:stCondLst>
                                            <p:cond evt="begin" delay="0">
                                              <p:tn val="85"/>
                                            </p:cond>
                                          </p:stCondLst>
                                          <p:endCondLst>
                                            <p:cond evt="onStopAudio" delay="0">
                                              <p:tgtEl>
                                                <p:sldTgt/>
                                              </p:tgtEl>
                                            </p:cond>
                                          </p:endCondLst>
                                        </p:cTn>
                                        <p:tgtEl>
                                          <p:sndTgt r:embed="rId3" name="type.wav"/>
                                        </p:tgtEl>
                                      </p:cMediaNode>
                                    </p:audio>
                                  </p:subTnLst>
                                </p:cTn>
                              </p:par>
                            </p:childTnLst>
                          </p:cTn>
                        </p:par>
                      </p:childTnLst>
                    </p:cTn>
                  </p:par>
                  <p:par>
                    <p:cTn id="87" fill="hold">
                      <p:stCondLst>
                        <p:cond delay="indefinite"/>
                      </p:stCondLst>
                      <p:childTnLst>
                        <p:par>
                          <p:cTn id="88" fill="hold">
                            <p:stCondLst>
                              <p:cond delay="0"/>
                            </p:stCondLst>
                            <p:childTnLst>
                              <p:par>
                                <p:cTn id="89" presetID="3" presetClass="emph" presetSubtype="2" fill="hold" grpId="0" nodeType="clickEffect">
                                  <p:stCondLst>
                                    <p:cond delay="0"/>
                                  </p:stCondLst>
                                  <p:childTnLst>
                                    <p:animClr clrSpc="rgb" dir="cw">
                                      <p:cBhvr override="childStyle">
                                        <p:cTn id="90" dur="500" fill="hold"/>
                                        <p:tgtEl>
                                          <p:spTgt spid="2">
                                            <p:txEl>
                                              <p:pRg st="9" end="9"/>
                                            </p:txEl>
                                          </p:spTgt>
                                        </p:tgtEl>
                                        <p:attrNameLst>
                                          <p:attrName>style.color</p:attrName>
                                        </p:attrNameLst>
                                      </p:cBhvr>
                                      <p:to>
                                        <a:srgbClr val="FF0000"/>
                                      </p:to>
                                    </p:animClr>
                                  </p:childTnLst>
                                  <p:subTnLst>
                                    <p:audio>
                                      <p:cMediaNode>
                                        <p:cTn display="0" masterRel="sameClick">
                                          <p:stCondLst>
                                            <p:cond evt="begin" delay="0">
                                              <p:tn val="89"/>
                                            </p:cond>
                                          </p:stCondLst>
                                          <p:endCondLst>
                                            <p:cond evt="onStopAudio" delay="0">
                                              <p:tgtEl>
                                                <p:sldTgt/>
                                              </p:tgtEl>
                                            </p:cond>
                                          </p:endCondLst>
                                        </p:cTn>
                                        <p:tgtEl>
                                          <p:sndTgt r:embed="rId3" name="type.wav"/>
                                        </p:tgtEl>
                                      </p:cMediaNode>
                                    </p:audio>
                                  </p:subTnLst>
                                </p:cTn>
                              </p:par>
                              <p:par>
                                <p:cTn id="91" presetID="3" presetClass="emph" presetSubtype="2" fill="hold" grpId="0" nodeType="withEffect">
                                  <p:stCondLst>
                                    <p:cond delay="0"/>
                                  </p:stCondLst>
                                  <p:childTnLst>
                                    <p:animClr clrSpc="rgb" dir="cw">
                                      <p:cBhvr override="childStyle">
                                        <p:cTn id="92" dur="500" fill="hold"/>
                                        <p:tgtEl>
                                          <p:spTgt spid="2">
                                            <p:txEl>
                                              <p:pRg st="10" end="10"/>
                                            </p:txEl>
                                          </p:spTgt>
                                        </p:tgtEl>
                                        <p:attrNameLst>
                                          <p:attrName>style.color</p:attrName>
                                        </p:attrNameLst>
                                      </p:cBhvr>
                                      <p:to>
                                        <a:srgbClr val="FF0000"/>
                                      </p:to>
                                    </p:animClr>
                                  </p:childTnLst>
                                  <p:subTnLst>
                                    <p:audio>
                                      <p:cMediaNode>
                                        <p:cTn display="0" masterRel="sameClick">
                                          <p:stCondLst>
                                            <p:cond evt="begin" delay="0">
                                              <p:tn val="91"/>
                                            </p:cond>
                                          </p:stCondLst>
                                          <p:endCondLst>
                                            <p:cond evt="onStopAudio" delay="0">
                                              <p:tgtEl>
                                                <p:sldTgt/>
                                              </p:tgtEl>
                                            </p:cond>
                                          </p:endCondLst>
                                        </p:cTn>
                                        <p:tgtEl>
                                          <p:sndTgt r:embed="rId3" name="type.wav"/>
                                        </p:tgtEl>
                                      </p:cMediaNode>
                                    </p:audio>
                                  </p:subTnLst>
                                </p:cTn>
                              </p:par>
                              <p:par>
                                <p:cTn id="93" presetID="3" presetClass="emph" presetSubtype="2" fill="hold" grpId="0" nodeType="withEffect">
                                  <p:stCondLst>
                                    <p:cond delay="0"/>
                                  </p:stCondLst>
                                  <p:childTnLst>
                                    <p:animClr clrSpc="rgb" dir="cw">
                                      <p:cBhvr override="childStyle">
                                        <p:cTn id="94" dur="500" fill="hold"/>
                                        <p:tgtEl>
                                          <p:spTgt spid="2">
                                            <p:txEl>
                                              <p:pRg st="11" end="11"/>
                                            </p:txEl>
                                          </p:spTgt>
                                        </p:tgtEl>
                                        <p:attrNameLst>
                                          <p:attrName>style.color</p:attrName>
                                        </p:attrNameLst>
                                      </p:cBhvr>
                                      <p:to>
                                        <a:srgbClr val="FF0000"/>
                                      </p:to>
                                    </p:animClr>
                                  </p:childTnLst>
                                  <p:subTnLst>
                                    <p:audio>
                                      <p:cMediaNode>
                                        <p:cTn display="0" masterRel="sameClick">
                                          <p:stCondLst>
                                            <p:cond evt="begin" delay="0">
                                              <p:tn val="93"/>
                                            </p:cond>
                                          </p:stCondLst>
                                          <p:endCondLst>
                                            <p:cond evt="onStopAudio" delay="0">
                                              <p:tgtEl>
                                                <p:sldTgt/>
                                              </p:tgtEl>
                                            </p:cond>
                                          </p:endCondLst>
                                        </p:cTn>
                                        <p:tgtEl>
                                          <p:sndTgt r:embed="rId3" name="type.wav"/>
                                        </p:tgtEl>
                                      </p:cMediaNode>
                                    </p:audio>
                                  </p:subTnLst>
                                </p:cTn>
                              </p:par>
                              <p:par>
                                <p:cTn id="95" presetID="3" presetClass="emph" presetSubtype="2" fill="hold" grpId="0" nodeType="withEffect">
                                  <p:stCondLst>
                                    <p:cond delay="0"/>
                                  </p:stCondLst>
                                  <p:childTnLst>
                                    <p:animClr clrSpc="rgb" dir="cw">
                                      <p:cBhvr override="childStyle">
                                        <p:cTn id="96" dur="500" fill="hold"/>
                                        <p:tgtEl>
                                          <p:spTgt spid="2">
                                            <p:txEl>
                                              <p:pRg st="12" end="12"/>
                                            </p:txEl>
                                          </p:spTgt>
                                        </p:tgtEl>
                                        <p:attrNameLst>
                                          <p:attrName>style.color</p:attrName>
                                        </p:attrNameLst>
                                      </p:cBhvr>
                                      <p:to>
                                        <a:srgbClr val="FF0000"/>
                                      </p:to>
                                    </p:animClr>
                                  </p:childTnLst>
                                  <p:subTnLst>
                                    <p:audio>
                                      <p:cMediaNode>
                                        <p:cTn display="0" masterRel="sameClick">
                                          <p:stCondLst>
                                            <p:cond evt="begin" delay="0">
                                              <p:tn val="95"/>
                                            </p:cond>
                                          </p:stCondLst>
                                          <p:endCondLst>
                                            <p:cond evt="onStopAudio" delay="0">
                                              <p:tgtEl>
                                                <p:sldTgt/>
                                              </p:tgtEl>
                                            </p:cond>
                                          </p:endCondLst>
                                        </p:cTn>
                                        <p:tgtEl>
                                          <p:sndTgt r:embed="rId3" name="type.wav"/>
                                        </p:tgtEl>
                                      </p:cMediaNode>
                                    </p:audio>
                                  </p:subTnLst>
                                </p:cTn>
                              </p:par>
                              <p:par>
                                <p:cTn id="97" presetID="3" presetClass="emph" presetSubtype="2" fill="hold" grpId="1" nodeType="withEffect">
                                  <p:stCondLst>
                                    <p:cond delay="0"/>
                                  </p:stCondLst>
                                  <p:childTnLst>
                                    <p:animClr clrSpc="rgb" dir="cw">
                                      <p:cBhvr override="childStyle">
                                        <p:cTn id="98" dur="2000" fill="hold"/>
                                        <p:tgtEl>
                                          <p:spTgt spid="2">
                                            <p:txEl>
                                              <p:pRg st="7" end="7"/>
                                            </p:txEl>
                                          </p:spTgt>
                                        </p:tgtEl>
                                        <p:attrNameLst>
                                          <p:attrName>style.color</p:attrName>
                                        </p:attrNameLst>
                                      </p:cBhvr>
                                      <p:to>
                                        <a:srgbClr val="4D4D4D"/>
                                      </p:to>
                                    </p:animClr>
                                  </p:childTnLst>
                                </p:cTn>
                              </p:par>
                              <p:par>
                                <p:cTn id="99" presetID="3" presetClass="emph" presetSubtype="2" fill="hold" grpId="1" nodeType="withEffect">
                                  <p:stCondLst>
                                    <p:cond delay="0"/>
                                  </p:stCondLst>
                                  <p:childTnLst>
                                    <p:animClr clrSpc="rgb" dir="cw">
                                      <p:cBhvr override="childStyle">
                                        <p:cTn id="100" dur="2000" fill="hold"/>
                                        <p:tgtEl>
                                          <p:spTgt spid="2">
                                            <p:txEl>
                                              <p:pRg st="9" end="9"/>
                                            </p:txEl>
                                          </p:spTgt>
                                        </p:tgtEl>
                                        <p:attrNameLst>
                                          <p:attrName>style.color</p:attrName>
                                        </p:attrNameLst>
                                      </p:cBhvr>
                                      <p:to>
                                        <a:srgbClr val="4D4D4D"/>
                                      </p:to>
                                    </p:animClr>
                                  </p:childTnLst>
                                </p:cTn>
                              </p:par>
                              <p:par>
                                <p:cTn id="101" presetID="3" presetClass="emph" presetSubtype="2" fill="hold" grpId="1" nodeType="withEffect">
                                  <p:stCondLst>
                                    <p:cond delay="0"/>
                                  </p:stCondLst>
                                  <p:childTnLst>
                                    <p:animClr clrSpc="rgb" dir="cw">
                                      <p:cBhvr override="childStyle">
                                        <p:cTn id="102" dur="2000" fill="hold"/>
                                        <p:tgtEl>
                                          <p:spTgt spid="2">
                                            <p:txEl>
                                              <p:pRg st="10" end="10"/>
                                            </p:txEl>
                                          </p:spTgt>
                                        </p:tgtEl>
                                        <p:attrNameLst>
                                          <p:attrName>style.color</p:attrName>
                                        </p:attrNameLst>
                                      </p:cBhvr>
                                      <p:to>
                                        <a:srgbClr val="4D4D4D"/>
                                      </p:to>
                                    </p:animClr>
                                  </p:childTnLst>
                                </p:cTn>
                              </p:par>
                              <p:par>
                                <p:cTn id="103" presetID="3" presetClass="emph" presetSubtype="2" fill="hold" grpId="1" nodeType="withEffect">
                                  <p:stCondLst>
                                    <p:cond delay="0"/>
                                  </p:stCondLst>
                                  <p:childTnLst>
                                    <p:animClr clrSpc="rgb" dir="cw">
                                      <p:cBhvr override="childStyle">
                                        <p:cTn id="104" dur="2000" fill="hold"/>
                                        <p:tgtEl>
                                          <p:spTgt spid="2">
                                            <p:txEl>
                                              <p:pRg st="11" end="11"/>
                                            </p:txEl>
                                          </p:spTgt>
                                        </p:tgtEl>
                                        <p:attrNameLst>
                                          <p:attrName>style.color</p:attrName>
                                        </p:attrNameLst>
                                      </p:cBhvr>
                                      <p:to>
                                        <a:srgbClr val="4D4D4D"/>
                                      </p:to>
                                    </p:animClr>
                                  </p:childTnLst>
                                </p:cTn>
                              </p:par>
                              <p:par>
                                <p:cTn id="105" presetID="3" presetClass="emph" presetSubtype="2" fill="hold" grpId="1" nodeType="withEffect">
                                  <p:stCondLst>
                                    <p:cond delay="0"/>
                                  </p:stCondLst>
                                  <p:childTnLst>
                                    <p:animClr clrSpc="rgb" dir="cw">
                                      <p:cBhvr override="childStyle">
                                        <p:cTn id="106" dur="2000" fill="hold"/>
                                        <p:tgtEl>
                                          <p:spTgt spid="2">
                                            <p:txEl>
                                              <p:pRg st="12" end="12"/>
                                            </p:txEl>
                                          </p:spTgt>
                                        </p:tgtEl>
                                        <p:attrNameLst>
                                          <p:attrName>style.color</p:attrName>
                                        </p:attrNameLst>
                                      </p:cBhvr>
                                      <p:to>
                                        <a:srgbClr val="4D4D4D"/>
                                      </p:to>
                                    </p:animClr>
                                  </p:childTnLst>
                                </p:cTn>
                              </p:par>
                            </p:childTnLst>
                          </p:cTn>
                        </p:par>
                      </p:childTnLst>
                    </p:cTn>
                  </p:par>
                  <p:par>
                    <p:cTn id="107" fill="hold">
                      <p:stCondLst>
                        <p:cond delay="indefinite"/>
                      </p:stCondLst>
                      <p:childTnLst>
                        <p:par>
                          <p:cTn id="108" fill="hold">
                            <p:stCondLst>
                              <p:cond delay="0"/>
                            </p:stCondLst>
                            <p:childTnLst>
                              <p:par>
                                <p:cTn id="109" presetID="1" presetClass="exit" presetSubtype="0" fill="hold" grpId="2" nodeType="clickEffect">
                                  <p:stCondLst>
                                    <p:cond delay="0"/>
                                  </p:stCondLst>
                                  <p:childTnLst>
                                    <p:set>
                                      <p:cBhvr>
                                        <p:cTn id="110" dur="1" fill="hold">
                                          <p:stCondLst>
                                            <p:cond delay="0"/>
                                          </p:stCondLst>
                                        </p:cTn>
                                        <p:tgtEl>
                                          <p:spTgt spid="2">
                                            <p:bg/>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allAtOnce"/>
      <p:bldP spid="2" grpId="1" uiExpand="1" build="allAtOnce"/>
      <p:bldP spid="2" grpId="2" uiExpand="1" build="allAtOnce"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字方塊 6">
            <a:extLst>
              <a:ext uri="{FF2B5EF4-FFF2-40B4-BE49-F238E27FC236}">
                <a16:creationId xmlns:a16="http://schemas.microsoft.com/office/drawing/2014/main" id="{F3F95152-7A6B-16A4-22A0-4CC9A08A28E2}"/>
              </a:ext>
            </a:extLst>
          </p:cNvPr>
          <p:cNvSpPr txBox="1"/>
          <p:nvPr/>
        </p:nvSpPr>
        <p:spPr>
          <a:xfrm>
            <a:off x="2250420" y="2861623"/>
            <a:ext cx="881420" cy="756316"/>
          </a:xfrm>
          <a:prstGeom prst="rect">
            <a:avLst/>
          </a:prstGeom>
          <a:solidFill>
            <a:schemeClr val="accent2">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solidFill>
                  <a:schemeClr val="accent2"/>
                </a:solidFill>
                <a:effectLst/>
              </a:rPr>
              <a:t>Pre-Training</a:t>
            </a:r>
          </a:p>
          <a:p>
            <a:pPr algn="ctr">
              <a:lnSpc>
                <a:spcPts val="1400"/>
              </a:lnSpc>
              <a:buNone/>
            </a:pPr>
            <a:r>
              <a:rPr lang="en-US" altLang="zh-TW" sz="1200" dirty="0"/>
              <a:t>Base</a:t>
            </a:r>
          </a:p>
          <a:p>
            <a:pPr algn="ctr">
              <a:lnSpc>
                <a:spcPts val="1400"/>
              </a:lnSpc>
              <a:buNone/>
            </a:pPr>
            <a:r>
              <a:rPr lang="en-US" altLang="zh-TW" sz="1200" dirty="0"/>
              <a:t>Model</a:t>
            </a:r>
            <a:endParaRPr lang="en-US" altLang="zh-TW" sz="1200" u="none" strike="noStrike" dirty="0">
              <a:effectLst/>
            </a:endParaRPr>
          </a:p>
        </p:txBody>
      </p:sp>
      <p:sp>
        <p:nvSpPr>
          <p:cNvPr id="8" name="文字方塊 7">
            <a:extLst>
              <a:ext uri="{FF2B5EF4-FFF2-40B4-BE49-F238E27FC236}">
                <a16:creationId xmlns:a16="http://schemas.microsoft.com/office/drawing/2014/main" id="{1240326B-602C-CDBB-C0E5-72CA3E8DB14E}"/>
              </a:ext>
            </a:extLst>
          </p:cNvPr>
          <p:cNvSpPr txBox="1"/>
          <p:nvPr/>
        </p:nvSpPr>
        <p:spPr>
          <a:xfrm>
            <a:off x="3347864" y="2861623"/>
            <a:ext cx="881420" cy="756316"/>
          </a:xfrm>
          <a:prstGeom prst="rect">
            <a:avLst/>
          </a:prstGeom>
          <a:solidFill>
            <a:schemeClr val="accent6">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Distillation</a:t>
            </a:r>
          </a:p>
          <a:p>
            <a:pPr algn="ctr">
              <a:lnSpc>
                <a:spcPts val="1400"/>
              </a:lnSpc>
              <a:buNone/>
            </a:pPr>
            <a:r>
              <a:rPr lang="en-US" altLang="zh-TW" sz="1200" dirty="0"/>
              <a:t>Student</a:t>
            </a:r>
          </a:p>
          <a:p>
            <a:pPr algn="ctr">
              <a:lnSpc>
                <a:spcPts val="1400"/>
              </a:lnSpc>
              <a:buNone/>
            </a:pPr>
            <a:r>
              <a:rPr lang="en-US" altLang="zh-TW" sz="1200" dirty="0"/>
              <a:t>Model</a:t>
            </a:r>
            <a:endParaRPr lang="en-US" altLang="zh-TW" sz="1200" u="none" strike="noStrike" dirty="0">
              <a:effectLst/>
            </a:endParaRPr>
          </a:p>
        </p:txBody>
      </p:sp>
      <p:sp>
        <p:nvSpPr>
          <p:cNvPr id="9" name="文字方塊 8">
            <a:extLst>
              <a:ext uri="{FF2B5EF4-FFF2-40B4-BE49-F238E27FC236}">
                <a16:creationId xmlns:a16="http://schemas.microsoft.com/office/drawing/2014/main" id="{B13425BD-8E63-0EFC-AD98-38638AC090BD}"/>
              </a:ext>
            </a:extLst>
          </p:cNvPr>
          <p:cNvSpPr txBox="1"/>
          <p:nvPr/>
        </p:nvSpPr>
        <p:spPr>
          <a:xfrm>
            <a:off x="4410660" y="2861623"/>
            <a:ext cx="881420" cy="756316"/>
          </a:xfrm>
          <a:prstGeom prst="rect">
            <a:avLst/>
          </a:prstGeom>
          <a:solidFill>
            <a:schemeClr val="accent6">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SFT</a:t>
            </a:r>
          </a:p>
          <a:p>
            <a:pPr algn="ctr">
              <a:lnSpc>
                <a:spcPts val="1400"/>
              </a:lnSpc>
              <a:buNone/>
            </a:pPr>
            <a:r>
              <a:rPr lang="en-US" altLang="zh-TW" sz="1200" dirty="0"/>
              <a:t>Quality is</a:t>
            </a:r>
          </a:p>
          <a:p>
            <a:pPr algn="ctr">
              <a:lnSpc>
                <a:spcPts val="1400"/>
              </a:lnSpc>
              <a:buNone/>
            </a:pPr>
            <a:r>
              <a:rPr lang="en-US" altLang="zh-TW" sz="1200" dirty="0"/>
              <a:t>all you need.</a:t>
            </a:r>
          </a:p>
          <a:p>
            <a:pPr algn="ctr">
              <a:lnSpc>
                <a:spcPts val="1400"/>
              </a:lnSpc>
              <a:buNone/>
            </a:pPr>
            <a:endParaRPr lang="en-US" altLang="zh-TW" sz="1200" u="none" strike="noStrike" dirty="0">
              <a:effectLst/>
            </a:endParaRPr>
          </a:p>
        </p:txBody>
      </p:sp>
      <p:sp>
        <p:nvSpPr>
          <p:cNvPr id="10" name="文字方塊 9">
            <a:extLst>
              <a:ext uri="{FF2B5EF4-FFF2-40B4-BE49-F238E27FC236}">
                <a16:creationId xmlns:a16="http://schemas.microsoft.com/office/drawing/2014/main" id="{8A849B28-DFA9-FA7E-9B5D-244D9BBAD51A}"/>
              </a:ext>
            </a:extLst>
          </p:cNvPr>
          <p:cNvSpPr txBox="1"/>
          <p:nvPr/>
        </p:nvSpPr>
        <p:spPr>
          <a:xfrm>
            <a:off x="5490780" y="2861623"/>
            <a:ext cx="881420" cy="756316"/>
          </a:xfrm>
          <a:prstGeom prst="rect">
            <a:avLst/>
          </a:prstGeom>
          <a:solidFill>
            <a:schemeClr val="accent6">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dirty="0">
                <a:solidFill>
                  <a:schemeClr val="accent6">
                    <a:lumMod val="75000"/>
                  </a:schemeClr>
                </a:solidFill>
              </a:rPr>
              <a:t>RLHF</a:t>
            </a:r>
            <a:endParaRPr lang="en-US" altLang="zh-TW" sz="1400" b="1" u="none" strike="noStrike" dirty="0">
              <a:solidFill>
                <a:schemeClr val="accent6">
                  <a:lumMod val="75000"/>
                </a:schemeClr>
              </a:solidFill>
              <a:effectLst/>
            </a:endParaRPr>
          </a:p>
          <a:p>
            <a:pPr algn="ctr">
              <a:lnSpc>
                <a:spcPts val="1400"/>
              </a:lnSpc>
              <a:buNone/>
            </a:pPr>
            <a:r>
              <a:rPr lang="en-US" altLang="zh-TW" sz="1200" dirty="0"/>
              <a:t>Human</a:t>
            </a:r>
          </a:p>
          <a:p>
            <a:pPr algn="ctr">
              <a:lnSpc>
                <a:spcPts val="1400"/>
              </a:lnSpc>
              <a:buNone/>
            </a:pPr>
            <a:r>
              <a:rPr lang="en-US" altLang="zh-TW" sz="1200" dirty="0"/>
              <a:t>Preferences</a:t>
            </a:r>
            <a:endParaRPr lang="en-US" altLang="zh-TW" sz="1200" u="none" strike="noStrike" dirty="0">
              <a:effectLst/>
            </a:endParaRPr>
          </a:p>
        </p:txBody>
      </p:sp>
      <p:sp>
        <p:nvSpPr>
          <p:cNvPr id="11" name="文字方塊 10">
            <a:extLst>
              <a:ext uri="{FF2B5EF4-FFF2-40B4-BE49-F238E27FC236}">
                <a16:creationId xmlns:a16="http://schemas.microsoft.com/office/drawing/2014/main" id="{D0A09D4C-6DE8-BDCA-C5C0-FBA86CD4368C}"/>
              </a:ext>
            </a:extLst>
          </p:cNvPr>
          <p:cNvSpPr txBox="1"/>
          <p:nvPr/>
        </p:nvSpPr>
        <p:spPr>
          <a:xfrm>
            <a:off x="1187624" y="2865420"/>
            <a:ext cx="881420" cy="756316"/>
          </a:xfrm>
          <a:prstGeom prst="rect">
            <a:avLst/>
          </a:prstGeom>
          <a:solidFill>
            <a:schemeClr val="bg1">
              <a:lumMod val="95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effectLst/>
              </a:rPr>
              <a:t>Datasets</a:t>
            </a:r>
          </a:p>
          <a:p>
            <a:pPr algn="ctr">
              <a:lnSpc>
                <a:spcPts val="1400"/>
              </a:lnSpc>
              <a:buNone/>
            </a:pPr>
            <a:r>
              <a:rPr lang="en-US" altLang="zh-TW" sz="1200" dirty="0"/>
              <a:t>High-quality</a:t>
            </a:r>
          </a:p>
          <a:p>
            <a:pPr algn="ctr">
              <a:lnSpc>
                <a:spcPts val="1400"/>
              </a:lnSpc>
              <a:buNone/>
            </a:pPr>
            <a:r>
              <a:rPr lang="en-US" altLang="zh-TW" sz="1200" dirty="0"/>
              <a:t>data at scale</a:t>
            </a:r>
          </a:p>
        </p:txBody>
      </p:sp>
      <p:sp>
        <p:nvSpPr>
          <p:cNvPr id="12" name="右大括弧 11">
            <a:extLst>
              <a:ext uri="{FF2B5EF4-FFF2-40B4-BE49-F238E27FC236}">
                <a16:creationId xmlns:a16="http://schemas.microsoft.com/office/drawing/2014/main" id="{F7D623D8-E3EB-A23D-405F-B7C4DC6B3B36}"/>
              </a:ext>
            </a:extLst>
          </p:cNvPr>
          <p:cNvSpPr/>
          <p:nvPr/>
        </p:nvSpPr>
        <p:spPr>
          <a:xfrm rot="5400000">
            <a:off x="3154669" y="3111783"/>
            <a:ext cx="153040" cy="121952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sp>
        <p:nvSpPr>
          <p:cNvPr id="13" name="箭號: 向下 12">
            <a:extLst>
              <a:ext uri="{FF2B5EF4-FFF2-40B4-BE49-F238E27FC236}">
                <a16:creationId xmlns:a16="http://schemas.microsoft.com/office/drawing/2014/main" id="{9FAB91AB-9BC1-A45A-BFFD-61E028EE4A03}"/>
              </a:ext>
            </a:extLst>
          </p:cNvPr>
          <p:cNvSpPr/>
          <p:nvPr/>
        </p:nvSpPr>
        <p:spPr>
          <a:xfrm>
            <a:off x="5751471" y="2607970"/>
            <a:ext cx="360038" cy="288032"/>
          </a:xfrm>
          <a:prstGeom prst="downArrow">
            <a:avLst>
              <a:gd name="adj1" fmla="val 50000"/>
              <a:gd name="adj2" fmla="val 43386"/>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4" name="直線單箭頭接點 13">
            <a:extLst>
              <a:ext uri="{FF2B5EF4-FFF2-40B4-BE49-F238E27FC236}">
                <a16:creationId xmlns:a16="http://schemas.microsoft.com/office/drawing/2014/main" id="{B5EDBE07-C935-4285-720A-13592479DA23}"/>
              </a:ext>
            </a:extLst>
          </p:cNvPr>
          <p:cNvCxnSpPr>
            <a:cxnSpLocks/>
            <a:stCxn id="11" idx="3"/>
            <a:endCxn id="7" idx="1"/>
          </p:cNvCxnSpPr>
          <p:nvPr/>
        </p:nvCxnSpPr>
        <p:spPr>
          <a:xfrm flipV="1">
            <a:off x="2069044" y="3239781"/>
            <a:ext cx="181376" cy="3797"/>
          </a:xfrm>
          <a:prstGeom prst="straightConnector1">
            <a:avLst/>
          </a:prstGeom>
          <a:ln w="25400">
            <a:solidFill>
              <a:schemeClr val="bg1">
                <a:lumMod val="85000"/>
              </a:schemeClr>
            </a:solidFill>
            <a:headEnd w="med" len="lg"/>
            <a:tailEnd type="triangle"/>
          </a:ln>
        </p:spPr>
        <p:style>
          <a:lnRef idx="1">
            <a:schemeClr val="accent1"/>
          </a:lnRef>
          <a:fillRef idx="0">
            <a:schemeClr val="accent1"/>
          </a:fillRef>
          <a:effectRef idx="0">
            <a:schemeClr val="accent1"/>
          </a:effectRef>
          <a:fontRef idx="minor">
            <a:schemeClr val="tx1"/>
          </a:fontRef>
        </p:style>
      </p:cxnSp>
      <p:graphicFrame>
        <p:nvGraphicFramePr>
          <p:cNvPr id="15" name="表格 14">
            <a:extLst>
              <a:ext uri="{FF2B5EF4-FFF2-40B4-BE49-F238E27FC236}">
                <a16:creationId xmlns:a16="http://schemas.microsoft.com/office/drawing/2014/main" id="{77D26E76-0878-4BEA-0864-D931E8EE767B}"/>
              </a:ext>
            </a:extLst>
          </p:cNvPr>
          <p:cNvGraphicFramePr>
            <a:graphicFrameLocks noGrp="1"/>
          </p:cNvGraphicFramePr>
          <p:nvPr>
            <p:extLst>
              <p:ext uri="{D42A27DB-BD31-4B8C-83A1-F6EECF244321}">
                <p14:modId xmlns:p14="http://schemas.microsoft.com/office/powerpoint/2010/main" val="2344033630"/>
              </p:ext>
            </p:extLst>
          </p:nvPr>
        </p:nvGraphicFramePr>
        <p:xfrm>
          <a:off x="5490780" y="4797152"/>
          <a:ext cx="2249568" cy="788874"/>
        </p:xfrm>
        <a:graphic>
          <a:graphicData uri="http://schemas.openxmlformats.org/drawingml/2006/table">
            <a:tbl>
              <a:tblPr firstRow="1" bandRow="1">
                <a:tableStyleId>{5C22544A-7EE6-4342-B048-85BDC9FD1C3A}</a:tableStyleId>
              </a:tblPr>
              <a:tblGrid>
                <a:gridCol w="2249568">
                  <a:extLst>
                    <a:ext uri="{9D8B030D-6E8A-4147-A177-3AD203B41FA5}">
                      <a16:colId xmlns:a16="http://schemas.microsoft.com/office/drawing/2014/main" val="4512040"/>
                    </a:ext>
                  </a:extLst>
                </a:gridCol>
              </a:tblGrid>
              <a:tr h="207498">
                <a:tc>
                  <a:txBody>
                    <a:bodyPr/>
                    <a:lstStyle/>
                    <a:p>
                      <a:pPr algn="l"/>
                      <a:r>
                        <a:rPr kumimoji="0" lang="en-US" altLang="zh-TW" sz="1200" b="1" i="0" u="none" strike="noStrike" kern="1200" cap="none" spc="0" normalizeH="0" baseline="0" noProof="0" dirty="0">
                          <a:ln w="0"/>
                          <a:solidFill>
                            <a:prstClr val="black"/>
                          </a:solidFill>
                          <a:effectLst/>
                          <a:uLnTx/>
                          <a:uFillTx/>
                          <a:latin typeface="+mn-lt"/>
                          <a:ea typeface="+mn-ea"/>
                          <a:cs typeface="+mn-cs"/>
                        </a:rPr>
                        <a:t>RLHF Optimization</a:t>
                      </a:r>
                      <a:endParaRPr lang="en-US" altLang="zh-TW" sz="1200" b="1"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537252825"/>
                  </a:ext>
                </a:extLst>
              </a:tr>
              <a:tr h="207498">
                <a:tc>
                  <a:txBody>
                    <a:bodyPr/>
                    <a:lstStyle/>
                    <a:p>
                      <a:pPr algn="l"/>
                      <a:r>
                        <a:rPr kumimoji="0" lang="en-US" altLang="zh-TW" sz="1200" b="0" i="0" u="none" strike="noStrike" kern="1200" cap="none" spc="0" normalizeH="0" baseline="0" noProof="0" dirty="0">
                          <a:ln w="0"/>
                          <a:solidFill>
                            <a:prstClr val="black"/>
                          </a:solidFill>
                          <a:effectLst/>
                          <a:uLnTx/>
                          <a:uFillTx/>
                          <a:latin typeface="+mn-lt"/>
                          <a:ea typeface="+mn-ea"/>
                          <a:cs typeface="+mn-cs"/>
                        </a:rPr>
                        <a:t>PPO aligns via multiple models.</a:t>
                      </a:r>
                      <a:endParaRPr lang="en-US" altLang="zh-TW" sz="1200" b="1"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311258892"/>
                  </a:ext>
                </a:extLst>
              </a:tr>
              <a:tr h="1869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DPO aligns via direct optimization</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341340391"/>
                  </a:ext>
                </a:extLst>
              </a:tr>
              <a:tr h="1869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GRPO aligns via self-correction.</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071062206"/>
                  </a:ext>
                </a:extLst>
              </a:tr>
            </a:tbl>
          </a:graphicData>
        </a:graphic>
      </p:graphicFrame>
      <p:sp>
        <p:nvSpPr>
          <p:cNvPr id="17" name="標題 1">
            <a:extLst>
              <a:ext uri="{FF2B5EF4-FFF2-40B4-BE49-F238E27FC236}">
                <a16:creationId xmlns:a16="http://schemas.microsoft.com/office/drawing/2014/main" id="{D8E85CF9-1642-8F1D-8E65-50C63D95EB53}"/>
              </a:ext>
            </a:extLst>
          </p:cNvPr>
          <p:cNvSpPr txBox="1">
            <a:spLocks/>
          </p:cNvSpPr>
          <p:nvPr/>
        </p:nvSpPr>
        <p:spPr>
          <a:xfrm>
            <a:off x="5490780" y="3840781"/>
            <a:ext cx="881420" cy="308299"/>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dirty="0">
                <a:latin typeface="Noto Sans HK" panose="020B0200000000000000" pitchFamily="34" charset="-120"/>
                <a:ea typeface="Noto Sans HK" panose="020B0200000000000000" pitchFamily="34" charset="-120"/>
                <a:cs typeface="Arial" panose="020B0604020202020204" pitchFamily="34" charset="0"/>
              </a:rPr>
              <a:t>Reinforcement</a:t>
            </a:r>
          </a:p>
          <a:p>
            <a:pPr algn="ctr"/>
            <a:r>
              <a:rPr lang="en-US" altLang="zh-TW" sz="1000" dirty="0">
                <a:latin typeface="Noto Sans HK" panose="020B0200000000000000" pitchFamily="34" charset="-120"/>
                <a:ea typeface="Noto Sans HK" panose="020B0200000000000000" pitchFamily="34" charset="-120"/>
                <a:cs typeface="Arial" panose="020B0604020202020204" pitchFamily="34" charset="0"/>
              </a:rPr>
              <a:t>Learning</a:t>
            </a:r>
          </a:p>
        </p:txBody>
      </p:sp>
      <p:cxnSp>
        <p:nvCxnSpPr>
          <p:cNvPr id="18" name="直線接點 17">
            <a:extLst>
              <a:ext uri="{FF2B5EF4-FFF2-40B4-BE49-F238E27FC236}">
                <a16:creationId xmlns:a16="http://schemas.microsoft.com/office/drawing/2014/main" id="{FDCA2822-E0DA-5603-D3BF-22B5933F51F7}"/>
              </a:ext>
            </a:extLst>
          </p:cNvPr>
          <p:cNvCxnSpPr>
            <a:cxnSpLocks/>
            <a:stCxn id="17" idx="2"/>
          </p:cNvCxnSpPr>
          <p:nvPr/>
        </p:nvCxnSpPr>
        <p:spPr>
          <a:xfrm>
            <a:off x="5931490" y="4149080"/>
            <a:ext cx="0" cy="648072"/>
          </a:xfrm>
          <a:prstGeom prst="line">
            <a:avLst/>
          </a:prstGeom>
          <a:ln>
            <a:solidFill>
              <a:schemeClr val="bg1">
                <a:lumMod val="75000"/>
              </a:schemeClr>
            </a:solidFill>
            <a:prstDash val="dash"/>
            <a:headEnd type="none"/>
            <a:tailEnd type="triangle"/>
          </a:ln>
        </p:spPr>
        <p:style>
          <a:lnRef idx="1">
            <a:schemeClr val="accent1"/>
          </a:lnRef>
          <a:fillRef idx="0">
            <a:schemeClr val="accent1"/>
          </a:fillRef>
          <a:effectRef idx="0">
            <a:schemeClr val="accent1"/>
          </a:effectRef>
          <a:fontRef idx="minor">
            <a:schemeClr val="tx1"/>
          </a:fontRef>
        </p:style>
      </p:cxnSp>
      <p:sp>
        <p:nvSpPr>
          <p:cNvPr id="3" name="標題 1">
            <a:extLst>
              <a:ext uri="{FF2B5EF4-FFF2-40B4-BE49-F238E27FC236}">
                <a16:creationId xmlns:a16="http://schemas.microsoft.com/office/drawing/2014/main" id="{86D655F9-6A67-F151-59CE-818F721614E9}"/>
              </a:ext>
            </a:extLst>
          </p:cNvPr>
          <p:cNvSpPr txBox="1">
            <a:spLocks/>
          </p:cNvSpPr>
          <p:nvPr/>
        </p:nvSpPr>
        <p:spPr>
          <a:xfrm>
            <a:off x="179512" y="116632"/>
            <a:ext cx="8784976"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R</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einforcement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L</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earning with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H</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uman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F</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eedback</a:t>
            </a: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G- Optimizer</a:t>
            </a:r>
          </a:p>
        </p:txBody>
      </p:sp>
    </p:spTree>
    <p:extLst>
      <p:ext uri="{BB962C8B-B14F-4D97-AF65-F5344CB8AC3E}">
        <p14:creationId xmlns:p14="http://schemas.microsoft.com/office/powerpoint/2010/main" val="23906063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7D1FF4C-B981-02EC-4D4A-C61F69393A52}"/>
            </a:ext>
          </a:extLst>
        </p:cNvPr>
        <p:cNvGrpSpPr/>
        <p:nvPr/>
      </p:nvGrpSpPr>
      <p:grpSpPr>
        <a:xfrm>
          <a:off x="0" y="0"/>
          <a:ext cx="0" cy="0"/>
          <a:chOff x="0" y="0"/>
          <a:chExt cx="0" cy="0"/>
        </a:xfrm>
      </p:grpSpPr>
      <p:pic>
        <p:nvPicPr>
          <p:cNvPr id="8" name="圖片 7">
            <a:extLst>
              <a:ext uri="{FF2B5EF4-FFF2-40B4-BE49-F238E27FC236}">
                <a16:creationId xmlns:a16="http://schemas.microsoft.com/office/drawing/2014/main" id="{41B5D38C-07B4-9DDC-B79C-00F7D93127CD}"/>
              </a:ext>
            </a:extLst>
          </p:cNvPr>
          <p:cNvPicPr>
            <a:picLocks noChangeAspect="1"/>
          </p:cNvPicPr>
          <p:nvPr/>
        </p:nvPicPr>
        <p:blipFill>
          <a:blip r:embed="rId2"/>
          <a:stretch>
            <a:fillRect/>
          </a:stretch>
        </p:blipFill>
        <p:spPr>
          <a:xfrm>
            <a:off x="323528" y="1199814"/>
            <a:ext cx="8485396" cy="1725130"/>
          </a:xfrm>
          <a:prstGeom prst="rect">
            <a:avLst/>
          </a:prstGeom>
        </p:spPr>
      </p:pic>
      <p:pic>
        <p:nvPicPr>
          <p:cNvPr id="12" name="圖片 11">
            <a:extLst>
              <a:ext uri="{FF2B5EF4-FFF2-40B4-BE49-F238E27FC236}">
                <a16:creationId xmlns:a16="http://schemas.microsoft.com/office/drawing/2014/main" id="{9D135FEB-D49D-FDDE-1182-90BEDA1FC772}"/>
              </a:ext>
            </a:extLst>
          </p:cNvPr>
          <p:cNvPicPr>
            <a:picLocks noChangeAspect="1"/>
          </p:cNvPicPr>
          <p:nvPr/>
        </p:nvPicPr>
        <p:blipFill>
          <a:blip r:embed="rId3"/>
          <a:stretch>
            <a:fillRect/>
          </a:stretch>
        </p:blipFill>
        <p:spPr>
          <a:xfrm>
            <a:off x="167538" y="1772816"/>
            <a:ext cx="8808924" cy="309634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4" name="圖片 13">
            <a:extLst>
              <a:ext uri="{FF2B5EF4-FFF2-40B4-BE49-F238E27FC236}">
                <a16:creationId xmlns:a16="http://schemas.microsoft.com/office/drawing/2014/main" id="{8EE5E8E2-2325-4F12-1CBF-DFE4507E3F00}"/>
              </a:ext>
            </a:extLst>
          </p:cNvPr>
          <p:cNvPicPr>
            <a:picLocks noChangeAspect="1"/>
          </p:cNvPicPr>
          <p:nvPr/>
        </p:nvPicPr>
        <p:blipFill>
          <a:blip r:embed="rId4"/>
          <a:stretch>
            <a:fillRect/>
          </a:stretch>
        </p:blipFill>
        <p:spPr>
          <a:xfrm>
            <a:off x="6444208" y="1556792"/>
            <a:ext cx="1852871" cy="523948"/>
          </a:xfrm>
          <a:prstGeom prst="rect">
            <a:avLst/>
          </a:prstGeom>
        </p:spPr>
      </p:pic>
      <p:pic>
        <p:nvPicPr>
          <p:cNvPr id="16" name="圖片 15">
            <a:extLst>
              <a:ext uri="{FF2B5EF4-FFF2-40B4-BE49-F238E27FC236}">
                <a16:creationId xmlns:a16="http://schemas.microsoft.com/office/drawing/2014/main" id="{A340BEF9-9477-0B08-52EF-5A3DFCCDF2F7}"/>
              </a:ext>
            </a:extLst>
          </p:cNvPr>
          <p:cNvPicPr>
            <a:picLocks noChangeAspect="1"/>
          </p:cNvPicPr>
          <p:nvPr/>
        </p:nvPicPr>
        <p:blipFill>
          <a:blip r:embed="rId5"/>
          <a:stretch>
            <a:fillRect/>
          </a:stretch>
        </p:blipFill>
        <p:spPr>
          <a:xfrm>
            <a:off x="329233" y="5192779"/>
            <a:ext cx="4848902" cy="1476581"/>
          </a:xfrm>
          <a:prstGeom prst="rect">
            <a:avLst/>
          </a:prstGeom>
          <a:effectLst>
            <a:glow rad="63500">
              <a:schemeClr val="accent3">
                <a:alpha val="40000"/>
              </a:schemeClr>
            </a:glow>
          </a:effectLst>
        </p:spPr>
      </p:pic>
      <p:sp>
        <p:nvSpPr>
          <p:cNvPr id="18" name="標題 1">
            <a:extLst>
              <a:ext uri="{FF2B5EF4-FFF2-40B4-BE49-F238E27FC236}">
                <a16:creationId xmlns:a16="http://schemas.microsoft.com/office/drawing/2014/main" id="{ADE035A4-1862-F0B7-2203-B17B6499E268}"/>
              </a:ext>
            </a:extLst>
          </p:cNvPr>
          <p:cNvSpPr txBox="1">
            <a:spLocks/>
          </p:cNvSpPr>
          <p:nvPr/>
        </p:nvSpPr>
        <p:spPr>
          <a:xfrm>
            <a:off x="179512" y="116632"/>
            <a:ext cx="8784976"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G</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roup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R</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elative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P</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olicy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O</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ptimizer</a:t>
            </a: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A 2D-matrix optimizer updating strictly by orthogonalized direction, completely ignoring gradient scale.</a:t>
            </a:r>
          </a:p>
        </p:txBody>
      </p:sp>
      <p:pic>
        <p:nvPicPr>
          <p:cNvPr id="20" name="圖片 19">
            <a:extLst>
              <a:ext uri="{FF2B5EF4-FFF2-40B4-BE49-F238E27FC236}">
                <a16:creationId xmlns:a16="http://schemas.microsoft.com/office/drawing/2014/main" id="{770B7F26-EB81-3FCB-3A31-F0EFA81CC01C}"/>
              </a:ext>
            </a:extLst>
          </p:cNvPr>
          <p:cNvPicPr>
            <a:picLocks noChangeAspect="1"/>
          </p:cNvPicPr>
          <p:nvPr/>
        </p:nvPicPr>
        <p:blipFill>
          <a:blip r:embed="rId6"/>
          <a:stretch>
            <a:fillRect/>
          </a:stretch>
        </p:blipFill>
        <p:spPr>
          <a:xfrm>
            <a:off x="5022463" y="1156809"/>
            <a:ext cx="1254207" cy="454198"/>
          </a:xfrm>
          <a:prstGeom prst="rect">
            <a:avLst/>
          </a:prstGeom>
        </p:spPr>
      </p:pic>
    </p:spTree>
    <p:extLst>
      <p:ext uri="{BB962C8B-B14F-4D97-AF65-F5344CB8AC3E}">
        <p14:creationId xmlns:p14="http://schemas.microsoft.com/office/powerpoint/2010/main" val="18010112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1C088-C29C-CFDD-0766-AA0BE977073D}"/>
            </a:ext>
          </a:extLst>
        </p:cNvPr>
        <p:cNvGrpSpPr/>
        <p:nvPr/>
      </p:nvGrpSpPr>
      <p:grpSpPr>
        <a:xfrm>
          <a:off x="0" y="0"/>
          <a:ext cx="0" cy="0"/>
          <a:chOff x="0" y="0"/>
          <a:chExt cx="0" cy="0"/>
        </a:xfrm>
      </p:grpSpPr>
      <p:sp>
        <p:nvSpPr>
          <p:cNvPr id="3" name="標題 1">
            <a:extLst>
              <a:ext uri="{FF2B5EF4-FFF2-40B4-BE49-F238E27FC236}">
                <a16:creationId xmlns:a16="http://schemas.microsoft.com/office/drawing/2014/main" id="{48C5EFCD-973E-3362-6BEC-2BABEB772E5E}"/>
              </a:ext>
            </a:extLst>
          </p:cNvPr>
          <p:cNvSpPr txBox="1">
            <a:spLocks/>
          </p:cNvSpPr>
          <p:nvPr/>
        </p:nvSpPr>
        <p:spPr>
          <a:xfrm>
            <a:off x="179512" y="116632"/>
            <a:ext cx="8784976"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LLM Distillation</a:t>
            </a:r>
            <a:endPar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Injecting domain knowledge an.</a:t>
            </a:r>
          </a:p>
        </p:txBody>
      </p:sp>
      <p:sp>
        <p:nvSpPr>
          <p:cNvPr id="34" name="文字方塊 33">
            <a:extLst>
              <a:ext uri="{FF2B5EF4-FFF2-40B4-BE49-F238E27FC236}">
                <a16:creationId xmlns:a16="http://schemas.microsoft.com/office/drawing/2014/main" id="{1781F852-2D98-9DA7-ED98-B7E70CCD70A2}"/>
              </a:ext>
            </a:extLst>
          </p:cNvPr>
          <p:cNvSpPr txBox="1"/>
          <p:nvPr/>
        </p:nvSpPr>
        <p:spPr>
          <a:xfrm>
            <a:off x="2250420" y="2861623"/>
            <a:ext cx="881420" cy="756316"/>
          </a:xfrm>
          <a:prstGeom prst="rect">
            <a:avLst/>
          </a:prstGeom>
          <a:solidFill>
            <a:schemeClr val="accent2">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solidFill>
                  <a:schemeClr val="accent2"/>
                </a:solidFill>
                <a:effectLst/>
              </a:rPr>
              <a:t>Pre-Training</a:t>
            </a:r>
          </a:p>
          <a:p>
            <a:pPr algn="ctr">
              <a:lnSpc>
                <a:spcPts val="1400"/>
              </a:lnSpc>
              <a:buNone/>
            </a:pPr>
            <a:r>
              <a:rPr lang="en-US" altLang="zh-TW" sz="1200" dirty="0"/>
              <a:t>Base</a:t>
            </a:r>
          </a:p>
          <a:p>
            <a:pPr algn="ctr">
              <a:lnSpc>
                <a:spcPts val="1400"/>
              </a:lnSpc>
              <a:buNone/>
            </a:pPr>
            <a:r>
              <a:rPr lang="en-US" altLang="zh-TW" sz="1200" dirty="0"/>
              <a:t>Model</a:t>
            </a:r>
            <a:endParaRPr lang="en-US" altLang="zh-TW" sz="1200" u="none" strike="noStrike" dirty="0">
              <a:effectLst/>
            </a:endParaRPr>
          </a:p>
        </p:txBody>
      </p:sp>
      <p:sp>
        <p:nvSpPr>
          <p:cNvPr id="35" name="文字方塊 34">
            <a:extLst>
              <a:ext uri="{FF2B5EF4-FFF2-40B4-BE49-F238E27FC236}">
                <a16:creationId xmlns:a16="http://schemas.microsoft.com/office/drawing/2014/main" id="{26F1D28A-E25F-0DBE-6A0F-1F0258A77F0C}"/>
              </a:ext>
            </a:extLst>
          </p:cNvPr>
          <p:cNvSpPr txBox="1"/>
          <p:nvPr/>
        </p:nvSpPr>
        <p:spPr>
          <a:xfrm>
            <a:off x="3347864" y="2861623"/>
            <a:ext cx="881420" cy="756316"/>
          </a:xfrm>
          <a:prstGeom prst="rect">
            <a:avLst/>
          </a:prstGeom>
          <a:solidFill>
            <a:schemeClr val="accent6">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Distillation</a:t>
            </a:r>
          </a:p>
          <a:p>
            <a:pPr algn="ctr">
              <a:lnSpc>
                <a:spcPts val="1400"/>
              </a:lnSpc>
              <a:buNone/>
            </a:pPr>
            <a:r>
              <a:rPr lang="en-US" altLang="zh-TW" sz="1200" dirty="0"/>
              <a:t>Student</a:t>
            </a:r>
          </a:p>
          <a:p>
            <a:pPr algn="ctr">
              <a:lnSpc>
                <a:spcPts val="1400"/>
              </a:lnSpc>
              <a:buNone/>
            </a:pPr>
            <a:r>
              <a:rPr lang="en-US" altLang="zh-TW" sz="1200" dirty="0"/>
              <a:t>Model</a:t>
            </a:r>
            <a:endParaRPr lang="en-US" altLang="zh-TW" sz="1200" u="none" strike="noStrike" dirty="0">
              <a:effectLst/>
            </a:endParaRPr>
          </a:p>
        </p:txBody>
      </p:sp>
      <p:sp>
        <p:nvSpPr>
          <p:cNvPr id="36" name="文字方塊 35">
            <a:extLst>
              <a:ext uri="{FF2B5EF4-FFF2-40B4-BE49-F238E27FC236}">
                <a16:creationId xmlns:a16="http://schemas.microsoft.com/office/drawing/2014/main" id="{0AFB4BE5-D051-0641-2C31-9200688EF3AD}"/>
              </a:ext>
            </a:extLst>
          </p:cNvPr>
          <p:cNvSpPr txBox="1"/>
          <p:nvPr/>
        </p:nvSpPr>
        <p:spPr>
          <a:xfrm>
            <a:off x="4410660" y="2861623"/>
            <a:ext cx="881420" cy="756316"/>
          </a:xfrm>
          <a:prstGeom prst="rect">
            <a:avLst/>
          </a:prstGeom>
          <a:solidFill>
            <a:schemeClr val="accent6">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SFT</a:t>
            </a:r>
          </a:p>
          <a:p>
            <a:pPr algn="ctr">
              <a:lnSpc>
                <a:spcPts val="1400"/>
              </a:lnSpc>
              <a:buNone/>
            </a:pPr>
            <a:r>
              <a:rPr lang="en-US" altLang="zh-TW" sz="1200" dirty="0"/>
              <a:t>Quality is</a:t>
            </a:r>
          </a:p>
          <a:p>
            <a:pPr algn="ctr">
              <a:lnSpc>
                <a:spcPts val="1400"/>
              </a:lnSpc>
              <a:buNone/>
            </a:pPr>
            <a:r>
              <a:rPr lang="en-US" altLang="zh-TW" sz="1200" dirty="0"/>
              <a:t>all you need.</a:t>
            </a:r>
          </a:p>
          <a:p>
            <a:pPr algn="ctr">
              <a:lnSpc>
                <a:spcPts val="1400"/>
              </a:lnSpc>
              <a:buNone/>
            </a:pPr>
            <a:endParaRPr lang="en-US" altLang="zh-TW" sz="1200" u="none" strike="noStrike" dirty="0">
              <a:effectLst/>
            </a:endParaRPr>
          </a:p>
        </p:txBody>
      </p:sp>
      <p:sp>
        <p:nvSpPr>
          <p:cNvPr id="38" name="文字方塊 37">
            <a:extLst>
              <a:ext uri="{FF2B5EF4-FFF2-40B4-BE49-F238E27FC236}">
                <a16:creationId xmlns:a16="http://schemas.microsoft.com/office/drawing/2014/main" id="{3FA24F76-E7DA-FED8-A954-D229BCDBA889}"/>
              </a:ext>
            </a:extLst>
          </p:cNvPr>
          <p:cNvSpPr txBox="1"/>
          <p:nvPr/>
        </p:nvSpPr>
        <p:spPr>
          <a:xfrm>
            <a:off x="5490780" y="2861623"/>
            <a:ext cx="881420" cy="756316"/>
          </a:xfrm>
          <a:prstGeom prst="rect">
            <a:avLst/>
          </a:prstGeom>
          <a:solidFill>
            <a:schemeClr val="accent6">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dirty="0">
                <a:solidFill>
                  <a:schemeClr val="accent6">
                    <a:lumMod val="75000"/>
                  </a:schemeClr>
                </a:solidFill>
              </a:rPr>
              <a:t>RLHF</a:t>
            </a:r>
            <a:endParaRPr lang="en-US" altLang="zh-TW" sz="1400" b="1" u="none" strike="noStrike" dirty="0">
              <a:solidFill>
                <a:schemeClr val="accent6">
                  <a:lumMod val="75000"/>
                </a:schemeClr>
              </a:solidFill>
              <a:effectLst/>
            </a:endParaRPr>
          </a:p>
          <a:p>
            <a:pPr algn="ctr">
              <a:lnSpc>
                <a:spcPts val="1400"/>
              </a:lnSpc>
              <a:buNone/>
            </a:pPr>
            <a:r>
              <a:rPr lang="en-US" altLang="zh-TW" sz="1200" dirty="0"/>
              <a:t>Human</a:t>
            </a:r>
          </a:p>
          <a:p>
            <a:pPr algn="ctr">
              <a:lnSpc>
                <a:spcPts val="1400"/>
              </a:lnSpc>
              <a:buNone/>
            </a:pPr>
            <a:r>
              <a:rPr lang="en-US" altLang="zh-TW" sz="1200" dirty="0"/>
              <a:t>Preferences</a:t>
            </a:r>
            <a:endParaRPr lang="en-US" altLang="zh-TW" sz="1200" u="none" strike="noStrike" dirty="0">
              <a:effectLst/>
            </a:endParaRPr>
          </a:p>
        </p:txBody>
      </p:sp>
      <p:sp>
        <p:nvSpPr>
          <p:cNvPr id="46" name="文字方塊 45">
            <a:extLst>
              <a:ext uri="{FF2B5EF4-FFF2-40B4-BE49-F238E27FC236}">
                <a16:creationId xmlns:a16="http://schemas.microsoft.com/office/drawing/2014/main" id="{A4EB4070-0F17-DC28-5D50-AB16E3B247C9}"/>
              </a:ext>
            </a:extLst>
          </p:cNvPr>
          <p:cNvSpPr txBox="1"/>
          <p:nvPr/>
        </p:nvSpPr>
        <p:spPr>
          <a:xfrm>
            <a:off x="1187624" y="2865420"/>
            <a:ext cx="881420" cy="756316"/>
          </a:xfrm>
          <a:prstGeom prst="rect">
            <a:avLst/>
          </a:prstGeom>
          <a:solidFill>
            <a:schemeClr val="bg1">
              <a:lumMod val="95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effectLst/>
              </a:rPr>
              <a:t>Datasets</a:t>
            </a:r>
          </a:p>
          <a:p>
            <a:pPr algn="ctr">
              <a:lnSpc>
                <a:spcPts val="1400"/>
              </a:lnSpc>
              <a:buNone/>
            </a:pPr>
            <a:r>
              <a:rPr lang="en-US" altLang="zh-TW" sz="1200" dirty="0"/>
              <a:t>High-quality</a:t>
            </a:r>
          </a:p>
          <a:p>
            <a:pPr algn="ctr">
              <a:lnSpc>
                <a:spcPts val="1400"/>
              </a:lnSpc>
              <a:buNone/>
            </a:pPr>
            <a:r>
              <a:rPr lang="en-US" altLang="zh-TW" sz="1200" dirty="0"/>
              <a:t>data at scale</a:t>
            </a:r>
          </a:p>
        </p:txBody>
      </p:sp>
      <p:sp>
        <p:nvSpPr>
          <p:cNvPr id="4" name="文字方塊 3">
            <a:extLst>
              <a:ext uri="{FF2B5EF4-FFF2-40B4-BE49-F238E27FC236}">
                <a16:creationId xmlns:a16="http://schemas.microsoft.com/office/drawing/2014/main" id="{F3E988E6-CAF1-E8EE-5F9F-4BCC50E551D1}"/>
              </a:ext>
            </a:extLst>
          </p:cNvPr>
          <p:cNvSpPr txBox="1"/>
          <p:nvPr/>
        </p:nvSpPr>
        <p:spPr>
          <a:xfrm>
            <a:off x="7092280" y="2852936"/>
            <a:ext cx="1219522" cy="1092606"/>
          </a:xfrm>
          <a:prstGeom prst="rect">
            <a:avLst/>
          </a:prstGeom>
          <a:solidFill>
            <a:schemeClr val="accent1">
              <a:lumMod val="20000"/>
              <a:lumOff val="80000"/>
              <a:alpha val="90000"/>
            </a:schemeClr>
          </a:solidFill>
          <a:ln w="25400">
            <a:solidFill>
              <a:schemeClr val="bg1">
                <a:lumMod val="85000"/>
              </a:schemeClr>
            </a:solidFill>
          </a:ln>
        </p:spPr>
        <p:txBody>
          <a:bodyPr wrap="none" lIns="0" tIns="72000" rIns="0" bIns="36000" anchor="ctr" anchorCtr="1">
            <a:noAutofit/>
          </a:bodyPr>
          <a:lstStyle/>
          <a:p>
            <a:pPr algn="ctr">
              <a:lnSpc>
                <a:spcPts val="1400"/>
              </a:lnSpc>
              <a:buNone/>
            </a:pPr>
            <a:r>
              <a:rPr lang="en-US" altLang="zh-TW" sz="1400" b="1" u="none" strike="noStrike" dirty="0">
                <a:solidFill>
                  <a:schemeClr val="accent1">
                    <a:lumMod val="60000"/>
                    <a:lumOff val="40000"/>
                  </a:schemeClr>
                </a:solidFill>
                <a:effectLst/>
              </a:rPr>
              <a:t>LLM, RAG</a:t>
            </a:r>
          </a:p>
          <a:p>
            <a:pPr algn="ctr">
              <a:lnSpc>
                <a:spcPts val="1400"/>
              </a:lnSpc>
              <a:buNone/>
            </a:pPr>
            <a:r>
              <a:rPr lang="en-US" altLang="zh-TW" sz="1400" b="1" u="none" strike="noStrike" dirty="0">
                <a:solidFill>
                  <a:schemeClr val="accent1">
                    <a:lumMod val="60000"/>
                    <a:lumOff val="40000"/>
                  </a:schemeClr>
                </a:solidFill>
                <a:effectLst/>
              </a:rPr>
              <a:t>&amp; MCP</a:t>
            </a:r>
          </a:p>
        </p:txBody>
      </p:sp>
      <p:sp>
        <p:nvSpPr>
          <p:cNvPr id="48" name="右大括弧 47">
            <a:extLst>
              <a:ext uri="{FF2B5EF4-FFF2-40B4-BE49-F238E27FC236}">
                <a16:creationId xmlns:a16="http://schemas.microsoft.com/office/drawing/2014/main" id="{2C29EDAD-2399-6787-451D-1B76A1ECD0E1}"/>
              </a:ext>
            </a:extLst>
          </p:cNvPr>
          <p:cNvSpPr/>
          <p:nvPr/>
        </p:nvSpPr>
        <p:spPr>
          <a:xfrm rot="5400000">
            <a:off x="7618632" y="3478714"/>
            <a:ext cx="166822" cy="121952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sp>
        <p:nvSpPr>
          <p:cNvPr id="50" name="標題 1">
            <a:extLst>
              <a:ext uri="{FF2B5EF4-FFF2-40B4-BE49-F238E27FC236}">
                <a16:creationId xmlns:a16="http://schemas.microsoft.com/office/drawing/2014/main" id="{083DAC72-685D-C5C6-6BD2-4F20B57F24BD}"/>
              </a:ext>
            </a:extLst>
          </p:cNvPr>
          <p:cNvSpPr txBox="1">
            <a:spLocks/>
          </p:cNvSpPr>
          <p:nvPr/>
        </p:nvSpPr>
        <p:spPr>
          <a:xfrm>
            <a:off x="7207330" y="4198282"/>
            <a:ext cx="989422" cy="166822"/>
          </a:xfrm>
          <a:prstGeom prst="rect">
            <a:avLst/>
          </a:prstGeom>
          <a:solidFill>
            <a:schemeClr val="bg1">
              <a:alpha val="90000"/>
            </a:schemeClr>
          </a:solidFill>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200" dirty="0">
                <a:solidFill>
                  <a:schemeClr val="tx1">
                    <a:lumMod val="50000"/>
                    <a:lumOff val="50000"/>
                  </a:schemeClr>
                </a:solidFill>
                <a:latin typeface="Noto Sans HK" panose="020B0200000000000000" pitchFamily="34" charset="-120"/>
                <a:ea typeface="Noto Sans HK" panose="020B0200000000000000" pitchFamily="34" charset="-120"/>
                <a:cs typeface="Arial" panose="020B0604020202020204" pitchFamily="34" charset="0"/>
              </a:rPr>
              <a:t>AI Runtime</a:t>
            </a:r>
          </a:p>
        </p:txBody>
      </p:sp>
      <p:sp>
        <p:nvSpPr>
          <p:cNvPr id="56" name="標題 1">
            <a:extLst>
              <a:ext uri="{FF2B5EF4-FFF2-40B4-BE49-F238E27FC236}">
                <a16:creationId xmlns:a16="http://schemas.microsoft.com/office/drawing/2014/main" id="{5CB4D389-23EC-5032-9BAE-F1757CE2E800}"/>
              </a:ext>
            </a:extLst>
          </p:cNvPr>
          <p:cNvSpPr txBox="1">
            <a:spLocks/>
          </p:cNvSpPr>
          <p:nvPr/>
        </p:nvSpPr>
        <p:spPr>
          <a:xfrm>
            <a:off x="5436096" y="5250965"/>
            <a:ext cx="1219522" cy="306155"/>
          </a:xfrm>
          <a:prstGeom prst="rect">
            <a:avLst/>
          </a:prstGeom>
          <a:ln>
            <a:noFill/>
          </a:ln>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dirty="0">
                <a:latin typeface="Noto Sans HK" panose="020B0200000000000000" pitchFamily="34" charset="-120"/>
                <a:ea typeface="Noto Sans HK" panose="020B0200000000000000" pitchFamily="34" charset="-120"/>
                <a:cs typeface="Arial" panose="020B0604020202020204" pitchFamily="34" charset="0"/>
              </a:rPr>
              <a:t>Soft</a:t>
            </a:r>
            <a:r>
              <a:rPr lang="zh-TW" altLang="en-US" sz="1000" dirty="0">
                <a:latin typeface="Noto Sans HK" panose="020B0200000000000000" pitchFamily="34" charset="-120"/>
                <a:ea typeface="Noto Sans HK" panose="020B0200000000000000" pitchFamily="34" charset="-120"/>
                <a:cs typeface="Arial" panose="020B0604020202020204" pitchFamily="34" charset="0"/>
              </a:rPr>
              <a:t> </a:t>
            </a:r>
            <a:r>
              <a:rPr lang="en-US" altLang="zh-TW" sz="1000" dirty="0">
                <a:latin typeface="Noto Sans HK" panose="020B0200000000000000" pitchFamily="34" charset="-120"/>
                <a:ea typeface="Noto Sans HK" panose="020B0200000000000000" pitchFamily="34" charset="-120"/>
                <a:cs typeface="Arial" panose="020B0604020202020204" pitchFamily="34" charset="0"/>
              </a:rPr>
              <a:t>Label</a:t>
            </a:r>
          </a:p>
        </p:txBody>
      </p:sp>
      <p:sp>
        <p:nvSpPr>
          <p:cNvPr id="63" name="右大括弧 62">
            <a:extLst>
              <a:ext uri="{FF2B5EF4-FFF2-40B4-BE49-F238E27FC236}">
                <a16:creationId xmlns:a16="http://schemas.microsoft.com/office/drawing/2014/main" id="{C9DE5F9A-05EB-4691-A387-184904320C08}"/>
              </a:ext>
            </a:extLst>
          </p:cNvPr>
          <p:cNvSpPr/>
          <p:nvPr/>
        </p:nvSpPr>
        <p:spPr>
          <a:xfrm rot="5400000">
            <a:off x="3154669" y="3111783"/>
            <a:ext cx="153040" cy="121952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sp>
        <p:nvSpPr>
          <p:cNvPr id="64" name="箭號: 向下 63">
            <a:extLst>
              <a:ext uri="{FF2B5EF4-FFF2-40B4-BE49-F238E27FC236}">
                <a16:creationId xmlns:a16="http://schemas.microsoft.com/office/drawing/2014/main" id="{4223F807-D83D-59D5-DF24-6DF252EE825F}"/>
              </a:ext>
            </a:extLst>
          </p:cNvPr>
          <p:cNvSpPr/>
          <p:nvPr/>
        </p:nvSpPr>
        <p:spPr>
          <a:xfrm>
            <a:off x="5751471" y="2607970"/>
            <a:ext cx="360038" cy="288032"/>
          </a:xfrm>
          <a:prstGeom prst="downArrow">
            <a:avLst>
              <a:gd name="adj1" fmla="val 50000"/>
              <a:gd name="adj2" fmla="val 43386"/>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5" name="標題 1">
            <a:extLst>
              <a:ext uri="{FF2B5EF4-FFF2-40B4-BE49-F238E27FC236}">
                <a16:creationId xmlns:a16="http://schemas.microsoft.com/office/drawing/2014/main" id="{EA45D83D-FA42-9110-2F49-53618A9ECE91}"/>
              </a:ext>
            </a:extLst>
          </p:cNvPr>
          <p:cNvSpPr txBox="1">
            <a:spLocks/>
          </p:cNvSpPr>
          <p:nvPr/>
        </p:nvSpPr>
        <p:spPr>
          <a:xfrm>
            <a:off x="5055186" y="1027015"/>
            <a:ext cx="1752607" cy="681036"/>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Preference</a:t>
            </a:r>
            <a:r>
              <a:rPr kumimoji="0" lang="zh-TW" altLang="en-US" sz="1200" b="1"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 </a:t>
            </a:r>
            <a:r>
              <a:rPr kumimoji="0" lang="en-US" altLang="zh-TW" sz="1200" b="1"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Pair</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dirty="0">
                <a:solidFill>
                  <a:prstClr val="black"/>
                </a:solidFill>
              </a:rPr>
              <a:t>T</a:t>
            </a:r>
            <a:r>
              <a:rPr lang="zh-TW" altLang="zh-TW" sz="1200" dirty="0">
                <a:solidFill>
                  <a:prstClr val="black"/>
                </a:solidFill>
              </a:rPr>
              <a:t>he capital of France</a:t>
            </a:r>
            <a:r>
              <a:rPr lang="en-US" altLang="zh-TW" sz="1200" dirty="0">
                <a:solidFill>
                  <a:prstClr val="black"/>
                </a:solidFill>
              </a:rPr>
              <a:t>?</a:t>
            </a:r>
            <a:endParaRPr kumimoji="0" lang="en-US"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endParaRPr>
          </a:p>
          <a:p>
            <a:pPr lvl="0" algn="ctr">
              <a:spcBef>
                <a:spcPts val="0"/>
              </a:spcBef>
              <a:defRPr/>
            </a:pPr>
            <a:r>
              <a:rPr kumimoji="0" lang="en-US"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a:t>
            </a:r>
            <a:r>
              <a:rPr kumimoji="0" lang="zh-TW"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Paris</a:t>
            </a:r>
            <a:r>
              <a:rPr lang="en-US" altLang="zh-TW" sz="1200" dirty="0">
                <a:solidFill>
                  <a:prstClr val="black"/>
                </a:solidFill>
                <a:latin typeface="+mn-lt"/>
                <a:ea typeface="新細明體" panose="02020500000000000000" pitchFamily="18" charset="-120"/>
                <a:cs typeface="+mn-cs"/>
              </a:rPr>
              <a:t>.</a:t>
            </a:r>
            <a:r>
              <a:rPr kumimoji="0" lang="en-US"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a:t>
            </a:r>
            <a:r>
              <a:rPr lang="zh-TW" altLang="zh-TW" sz="1200" dirty="0"/>
              <a:t>👍</a:t>
            </a:r>
            <a:r>
              <a:rPr lang="en-US" altLang="zh-TW" sz="1200" dirty="0"/>
              <a:t>,</a:t>
            </a:r>
            <a:r>
              <a:rPr lang="en-US" altLang="zh-TW" sz="1200" dirty="0">
                <a:solidFill>
                  <a:prstClr val="black"/>
                </a:solidFill>
                <a:latin typeface="+mn-lt"/>
                <a:ea typeface="新細明體" panose="02020500000000000000" pitchFamily="18" charset="-120"/>
                <a:cs typeface="+mn-cs"/>
              </a:rPr>
              <a:t> </a:t>
            </a:r>
            <a:r>
              <a:rPr kumimoji="0" lang="en-US"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“Bonjour!“ </a:t>
            </a:r>
            <a:r>
              <a:rPr lang="zh-TW" altLang="zh-TW" sz="1200" dirty="0"/>
              <a:t>❌</a:t>
            </a:r>
            <a:endParaRPr kumimoji="0" lang="en-US" altLang="zh-TW" sz="1200" b="0" i="0" u="none" strike="noStrike" kern="1200" cap="none" spc="0" normalizeH="0" baseline="0" noProof="0" dirty="0">
              <a:ln>
                <a:noFill/>
              </a:ln>
              <a:solidFill>
                <a:prstClr val="black"/>
              </a:solidFill>
              <a:effectLst/>
              <a:uLnTx/>
              <a:uFillTx/>
              <a:latin typeface="+mn-lt"/>
              <a:ea typeface="Microsoft YaHei Mono" panose="020B0509020204020204" pitchFamily="49" charset="-120"/>
              <a:cs typeface="Arial" panose="020B0604020202020204" pitchFamily="34" charset="0"/>
            </a:endParaRPr>
          </a:p>
        </p:txBody>
      </p:sp>
      <p:cxnSp>
        <p:nvCxnSpPr>
          <p:cNvPr id="83" name="直線接點 82">
            <a:extLst>
              <a:ext uri="{FF2B5EF4-FFF2-40B4-BE49-F238E27FC236}">
                <a16:creationId xmlns:a16="http://schemas.microsoft.com/office/drawing/2014/main" id="{49C9B6FC-E00B-B93C-9597-0EFA3EC02D21}"/>
              </a:ext>
            </a:extLst>
          </p:cNvPr>
          <p:cNvCxnSpPr>
            <a:cxnSpLocks/>
            <a:stCxn id="75" idx="2"/>
            <a:endCxn id="64" idx="0"/>
          </p:cNvCxnSpPr>
          <p:nvPr/>
        </p:nvCxnSpPr>
        <p:spPr>
          <a:xfrm>
            <a:off x="5931490" y="1708051"/>
            <a:ext cx="0" cy="899919"/>
          </a:xfrm>
          <a:prstGeom prst="line">
            <a:avLst/>
          </a:prstGeom>
          <a:ln>
            <a:solidFill>
              <a:schemeClr val="bg1">
                <a:lumMod val="50000"/>
              </a:schemeClr>
            </a:solidFill>
            <a:headEnd type="oval"/>
          </a:ln>
        </p:spPr>
        <p:style>
          <a:lnRef idx="1">
            <a:schemeClr val="accent1"/>
          </a:lnRef>
          <a:fillRef idx="0">
            <a:schemeClr val="accent1"/>
          </a:fillRef>
          <a:effectRef idx="0">
            <a:schemeClr val="accent1"/>
          </a:effectRef>
          <a:fontRef idx="minor">
            <a:schemeClr val="tx1"/>
          </a:fontRef>
        </p:style>
      </p:cxnSp>
      <p:cxnSp>
        <p:nvCxnSpPr>
          <p:cNvPr id="2" name="直線單箭頭接點 1">
            <a:extLst>
              <a:ext uri="{FF2B5EF4-FFF2-40B4-BE49-F238E27FC236}">
                <a16:creationId xmlns:a16="http://schemas.microsoft.com/office/drawing/2014/main" id="{13B89021-46D2-B5A3-28F6-29345C4576EC}"/>
              </a:ext>
            </a:extLst>
          </p:cNvPr>
          <p:cNvCxnSpPr>
            <a:cxnSpLocks/>
            <a:stCxn id="46" idx="3"/>
            <a:endCxn id="34" idx="1"/>
          </p:cNvCxnSpPr>
          <p:nvPr/>
        </p:nvCxnSpPr>
        <p:spPr>
          <a:xfrm flipV="1">
            <a:off x="2069044" y="3239781"/>
            <a:ext cx="181376" cy="3797"/>
          </a:xfrm>
          <a:prstGeom prst="straightConnector1">
            <a:avLst/>
          </a:prstGeom>
          <a:ln w="25400">
            <a:solidFill>
              <a:schemeClr val="bg1">
                <a:lumMod val="85000"/>
              </a:schemeClr>
            </a:solidFill>
            <a:headEnd w="med" len="lg"/>
            <a:tailEnd type="triangle"/>
          </a:ln>
        </p:spPr>
        <p:style>
          <a:lnRef idx="1">
            <a:schemeClr val="accent1"/>
          </a:lnRef>
          <a:fillRef idx="0">
            <a:schemeClr val="accent1"/>
          </a:fillRef>
          <a:effectRef idx="0">
            <a:schemeClr val="accent1"/>
          </a:effectRef>
          <a:fontRef idx="minor">
            <a:schemeClr val="tx1"/>
          </a:fontRef>
        </p:style>
      </p:cxnSp>
      <p:graphicFrame>
        <p:nvGraphicFramePr>
          <p:cNvPr id="7" name="表格 6">
            <a:extLst>
              <a:ext uri="{FF2B5EF4-FFF2-40B4-BE49-F238E27FC236}">
                <a16:creationId xmlns:a16="http://schemas.microsoft.com/office/drawing/2014/main" id="{CA5802EE-F207-7922-1CC3-BC212577E690}"/>
              </a:ext>
            </a:extLst>
          </p:cNvPr>
          <p:cNvGraphicFramePr>
            <a:graphicFrameLocks noGrp="1"/>
          </p:cNvGraphicFramePr>
          <p:nvPr/>
        </p:nvGraphicFramePr>
        <p:xfrm>
          <a:off x="1884140" y="4365104"/>
          <a:ext cx="1219522" cy="761261"/>
        </p:xfrm>
        <a:graphic>
          <a:graphicData uri="http://schemas.openxmlformats.org/drawingml/2006/table">
            <a:tbl>
              <a:tblPr firstRow="1" bandRow="1">
                <a:tableStyleId>{5C22544A-7EE6-4342-B048-85BDC9FD1C3A}</a:tableStyleId>
              </a:tblPr>
              <a:tblGrid>
                <a:gridCol w="1219522">
                  <a:extLst>
                    <a:ext uri="{9D8B030D-6E8A-4147-A177-3AD203B41FA5}">
                      <a16:colId xmlns:a16="http://schemas.microsoft.com/office/drawing/2014/main" val="4512040"/>
                    </a:ext>
                  </a:extLst>
                </a:gridCol>
              </a:tblGrid>
              <a:tr h="212621">
                <a:tc>
                  <a:txBody>
                    <a:bodyPr/>
                    <a:lstStyle/>
                    <a:p>
                      <a:pPr algn="l"/>
                      <a:r>
                        <a:rPr lang="en-US" altLang="zh-TW" sz="1200" b="1" cap="none" spc="0" dirty="0">
                          <a:ln w="0"/>
                          <a:solidFill>
                            <a:schemeClr val="tx1"/>
                          </a:solidFill>
                          <a:effectLst/>
                        </a:rPr>
                        <a:t>Teacher Model</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11258892"/>
                  </a:ext>
                </a:extLst>
              </a:tr>
              <a:tr h="16394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Regularities of NL</a:t>
                      </a:r>
                      <a:endParaRPr kumimoji="0" lang="en-US" altLang="zh-TW" sz="1200" b="0" i="0" u="none" strike="noStrike" kern="1200" cap="none" spc="0" normalizeH="0" baseline="-2500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642474553"/>
                  </a:ext>
                </a:extLst>
              </a:tr>
              <a:tr h="16394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Reasoning</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41340391"/>
                  </a:ext>
                </a:extLst>
              </a:tr>
              <a:tr h="16394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World Fact (CAI)</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2057912659"/>
                  </a:ext>
                </a:extLst>
              </a:tr>
            </a:tbl>
          </a:graphicData>
        </a:graphic>
      </p:graphicFrame>
      <p:cxnSp>
        <p:nvCxnSpPr>
          <p:cNvPr id="8" name="直線接點 7">
            <a:extLst>
              <a:ext uri="{FF2B5EF4-FFF2-40B4-BE49-F238E27FC236}">
                <a16:creationId xmlns:a16="http://schemas.microsoft.com/office/drawing/2014/main" id="{060607E6-1136-A62E-557F-AF305E737CB5}"/>
              </a:ext>
            </a:extLst>
          </p:cNvPr>
          <p:cNvCxnSpPr>
            <a:cxnSpLocks/>
          </p:cNvCxnSpPr>
          <p:nvPr/>
        </p:nvCxnSpPr>
        <p:spPr>
          <a:xfrm>
            <a:off x="1724506" y="1455268"/>
            <a:ext cx="0" cy="502037"/>
          </a:xfrm>
          <a:prstGeom prst="line">
            <a:avLst/>
          </a:prstGeom>
          <a:ln>
            <a:solidFill>
              <a:schemeClr val="bg1">
                <a:lumMod val="75000"/>
              </a:schemeClr>
            </a:solidFill>
            <a:prstDash val="dash"/>
            <a:headEnd type="none"/>
            <a:tailEnd type="triangle"/>
          </a:ln>
        </p:spPr>
        <p:style>
          <a:lnRef idx="1">
            <a:schemeClr val="accent1"/>
          </a:lnRef>
          <a:fillRef idx="0">
            <a:schemeClr val="accent1"/>
          </a:fillRef>
          <a:effectRef idx="0">
            <a:schemeClr val="accent1"/>
          </a:effectRef>
          <a:fontRef idx="minor">
            <a:schemeClr val="tx1"/>
          </a:fontRef>
        </p:style>
      </p:cxnSp>
      <p:graphicFrame>
        <p:nvGraphicFramePr>
          <p:cNvPr id="11" name="表格 10">
            <a:extLst>
              <a:ext uri="{FF2B5EF4-FFF2-40B4-BE49-F238E27FC236}">
                <a16:creationId xmlns:a16="http://schemas.microsoft.com/office/drawing/2014/main" id="{7416325E-8B29-6B3E-B545-D3E65BB3E00D}"/>
              </a:ext>
            </a:extLst>
          </p:cNvPr>
          <p:cNvGraphicFramePr>
            <a:graphicFrameLocks noGrp="1"/>
          </p:cNvGraphicFramePr>
          <p:nvPr/>
        </p:nvGraphicFramePr>
        <p:xfrm>
          <a:off x="3352478" y="4365103"/>
          <a:ext cx="1219522" cy="761261"/>
        </p:xfrm>
        <a:graphic>
          <a:graphicData uri="http://schemas.openxmlformats.org/drawingml/2006/table">
            <a:tbl>
              <a:tblPr firstRow="1" bandRow="1">
                <a:tableStyleId>{5C22544A-7EE6-4342-B048-85BDC9FD1C3A}</a:tableStyleId>
              </a:tblPr>
              <a:tblGrid>
                <a:gridCol w="1219522">
                  <a:extLst>
                    <a:ext uri="{9D8B030D-6E8A-4147-A177-3AD203B41FA5}">
                      <a16:colId xmlns:a16="http://schemas.microsoft.com/office/drawing/2014/main" val="4512040"/>
                    </a:ext>
                  </a:extLst>
                </a:gridCol>
              </a:tblGrid>
              <a:tr h="212621">
                <a:tc>
                  <a:txBody>
                    <a:bodyPr/>
                    <a:lstStyle/>
                    <a:p>
                      <a:pPr algn="l"/>
                      <a:r>
                        <a:rPr lang="en-US" altLang="zh-TW" sz="1200" b="1" cap="none" spc="0" dirty="0">
                          <a:ln w="0"/>
                          <a:solidFill>
                            <a:schemeClr val="tx1"/>
                          </a:solidFill>
                          <a:effectLst/>
                        </a:rPr>
                        <a:t>Student Model</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11258892"/>
                  </a:ext>
                </a:extLst>
              </a:tr>
              <a:tr h="16394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Regularities of NL</a:t>
                      </a:r>
                      <a:endParaRPr kumimoji="0" lang="en-US" altLang="zh-TW" sz="1200" b="0" i="0" u="none" strike="noStrike" kern="1200" cap="none" spc="0" normalizeH="0" baseline="-2500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642474553"/>
                  </a:ext>
                </a:extLst>
              </a:tr>
              <a:tr h="16394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Reasoning</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41340391"/>
                  </a:ext>
                </a:extLst>
              </a:tr>
              <a:tr h="16394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World Fact (CAI)</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2057912659"/>
                  </a:ext>
                </a:extLst>
              </a:tr>
            </a:tbl>
          </a:graphicData>
        </a:graphic>
      </p:graphicFrame>
    </p:spTree>
    <p:extLst>
      <p:ext uri="{BB962C8B-B14F-4D97-AF65-F5344CB8AC3E}">
        <p14:creationId xmlns:p14="http://schemas.microsoft.com/office/powerpoint/2010/main" val="295082313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25999-7ECD-BA35-43AC-72ECFEE0427F}"/>
            </a:ext>
          </a:extLst>
        </p:cNvPr>
        <p:cNvGrpSpPr/>
        <p:nvPr/>
      </p:nvGrpSpPr>
      <p:grpSpPr>
        <a:xfrm>
          <a:off x="0" y="0"/>
          <a:ext cx="0" cy="0"/>
          <a:chOff x="0" y="0"/>
          <a:chExt cx="0" cy="0"/>
        </a:xfrm>
      </p:grpSpPr>
      <p:pic>
        <p:nvPicPr>
          <p:cNvPr id="11" name="圖片 10">
            <a:extLst>
              <a:ext uri="{FF2B5EF4-FFF2-40B4-BE49-F238E27FC236}">
                <a16:creationId xmlns:a16="http://schemas.microsoft.com/office/drawing/2014/main" id="{4C128F37-80EC-5B99-BE58-397074A208EE}"/>
              </a:ext>
            </a:extLst>
          </p:cNvPr>
          <p:cNvPicPr>
            <a:picLocks noChangeAspect="1"/>
          </p:cNvPicPr>
          <p:nvPr/>
        </p:nvPicPr>
        <p:blipFill>
          <a:blip r:embed="rId3"/>
          <a:stretch>
            <a:fillRect/>
          </a:stretch>
        </p:blipFill>
        <p:spPr>
          <a:xfrm>
            <a:off x="5409862" y="3788511"/>
            <a:ext cx="3676252" cy="2398497"/>
          </a:xfrm>
          <a:prstGeom prst="rect">
            <a:avLst/>
          </a:prstGeom>
        </p:spPr>
      </p:pic>
      <p:sp>
        <p:nvSpPr>
          <p:cNvPr id="8" name="文字方塊 7">
            <a:extLst>
              <a:ext uri="{FF2B5EF4-FFF2-40B4-BE49-F238E27FC236}">
                <a16:creationId xmlns:a16="http://schemas.microsoft.com/office/drawing/2014/main" id="{7EA2DA36-50F0-1369-B59B-C6FD52E9E4E0}"/>
              </a:ext>
            </a:extLst>
          </p:cNvPr>
          <p:cNvSpPr txBox="1"/>
          <p:nvPr/>
        </p:nvSpPr>
        <p:spPr>
          <a:xfrm>
            <a:off x="179510" y="1196752"/>
            <a:ext cx="7632850" cy="938719"/>
          </a:xfrm>
          <a:prstGeom prst="rect">
            <a:avLst/>
          </a:prstGeom>
          <a:solidFill>
            <a:schemeClr val="bg1">
              <a:alpha val="90000"/>
            </a:schemeClr>
          </a:solidFill>
        </p:spPr>
        <p:txBody>
          <a:bodyPr wrap="square">
            <a:spAutoFit/>
          </a:bodyPr>
          <a:lstStyle/>
          <a:p>
            <a:pPr>
              <a:lnSpc>
                <a:spcPts val="1800"/>
              </a:lnSpc>
              <a:spcBef>
                <a:spcPts val="600"/>
              </a:spcBef>
              <a:spcAft>
                <a:spcPts val="600"/>
              </a:spcAft>
              <a:buNone/>
            </a:pPr>
            <a:r>
              <a:rPr lang="en-US" altLang="zh-TW" sz="2000" b="1" u="none" strike="noStrike" dirty="0">
                <a:effectLst/>
              </a:rPr>
              <a:t>Model Extraction</a:t>
            </a:r>
          </a:p>
          <a:p>
            <a:pPr marL="285750" indent="-285750">
              <a:lnSpc>
                <a:spcPts val="1800"/>
              </a:lnSpc>
              <a:spcBef>
                <a:spcPts val="600"/>
              </a:spcBef>
              <a:spcAft>
                <a:spcPts val="600"/>
              </a:spcAft>
              <a:buFont typeface="Wingdings" panose="05000000000000000000" pitchFamily="2" charset="2"/>
              <a:buChar char="Ø"/>
            </a:pPr>
            <a:r>
              <a:rPr lang="en-US" altLang="zh-TW" sz="1600" b="1" dirty="0"/>
              <a:t>Goal:</a:t>
            </a:r>
            <a:r>
              <a:rPr lang="en-US" altLang="zh-TW" sz="1600" dirty="0"/>
              <a:t> Duplicate a functional clone model at a minimal cost purely through API queries, without accessing its weights.</a:t>
            </a:r>
          </a:p>
        </p:txBody>
      </p:sp>
      <p:sp>
        <p:nvSpPr>
          <p:cNvPr id="5" name="標題 1">
            <a:extLst>
              <a:ext uri="{FF2B5EF4-FFF2-40B4-BE49-F238E27FC236}">
                <a16:creationId xmlns:a16="http://schemas.microsoft.com/office/drawing/2014/main" id="{A309682D-9AD4-069E-1FFF-B4F842C47A94}"/>
              </a:ext>
            </a:extLst>
          </p:cNvPr>
          <p:cNvSpPr txBox="1">
            <a:spLocks/>
          </p:cNvSpPr>
          <p:nvPr/>
        </p:nvSpPr>
        <p:spPr>
          <a:xfrm>
            <a:off x="179511" y="116632"/>
            <a:ext cx="7920881"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LLM Distillation Attack</a:t>
            </a:r>
            <a:br>
              <a:rPr lang="en-US" altLang="zh-TW" sz="2800" dirty="0">
                <a:latin typeface="Noto Sans HK" panose="020B0200000000000000" pitchFamily="34" charset="-120"/>
                <a:ea typeface="Noto Sans HK" panose="020B0200000000000000" pitchFamily="34" charset="-120"/>
                <a:cs typeface="Aharoni" panose="020F0502020204030204" pitchFamily="2" charset="-79"/>
              </a:rPr>
            </a:b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No LLM is safe, if it can be prompted.</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Involve extracting knowledge, from a LLM, extensively, querying it, through prompts.</a:t>
            </a:r>
          </a:p>
        </p:txBody>
      </p:sp>
      <p:pic>
        <p:nvPicPr>
          <p:cNvPr id="31" name="圖片 30">
            <a:extLst>
              <a:ext uri="{FF2B5EF4-FFF2-40B4-BE49-F238E27FC236}">
                <a16:creationId xmlns:a16="http://schemas.microsoft.com/office/drawing/2014/main" id="{AC21CB44-2E1A-CB98-7935-56713A15F8A8}"/>
              </a:ext>
            </a:extLst>
          </p:cNvPr>
          <p:cNvPicPr>
            <a:picLocks noChangeAspect="1"/>
          </p:cNvPicPr>
          <p:nvPr/>
        </p:nvPicPr>
        <p:blipFill>
          <a:blip r:embed="rId4"/>
          <a:stretch>
            <a:fillRect/>
          </a:stretch>
        </p:blipFill>
        <p:spPr>
          <a:xfrm>
            <a:off x="8406510" y="116632"/>
            <a:ext cx="552628" cy="548681"/>
          </a:xfrm>
          <a:prstGeom prst="rect">
            <a:avLst/>
          </a:prstGeom>
        </p:spPr>
      </p:pic>
      <p:sp>
        <p:nvSpPr>
          <p:cNvPr id="37" name="標題 1">
            <a:extLst>
              <a:ext uri="{FF2B5EF4-FFF2-40B4-BE49-F238E27FC236}">
                <a16:creationId xmlns:a16="http://schemas.microsoft.com/office/drawing/2014/main" id="{2B255F5A-4477-D36C-0620-7FB608BCB205}"/>
              </a:ext>
            </a:extLst>
          </p:cNvPr>
          <p:cNvSpPr txBox="1">
            <a:spLocks/>
          </p:cNvSpPr>
          <p:nvPr/>
        </p:nvSpPr>
        <p:spPr>
          <a:xfrm>
            <a:off x="8312648" y="692696"/>
            <a:ext cx="740352" cy="425223"/>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b="1"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Moonshot</a:t>
            </a:r>
          </a:p>
          <a:p>
            <a:pPr algn="ctr"/>
            <a:r>
              <a:rPr lang="zh-TW" altLang="en-US" sz="1000" b="1"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月之暗面</a:t>
            </a:r>
            <a:endParaRPr lang="en-US" altLang="zh-TW" sz="1000" b="1"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p:txBody>
      </p:sp>
      <p:sp>
        <p:nvSpPr>
          <p:cNvPr id="6" name="文字方塊 5">
            <a:extLst>
              <a:ext uri="{FF2B5EF4-FFF2-40B4-BE49-F238E27FC236}">
                <a16:creationId xmlns:a16="http://schemas.microsoft.com/office/drawing/2014/main" id="{B68066DC-B3C7-0B14-5687-E982E2B40C61}"/>
              </a:ext>
            </a:extLst>
          </p:cNvPr>
          <p:cNvSpPr txBox="1"/>
          <p:nvPr/>
        </p:nvSpPr>
        <p:spPr>
          <a:xfrm>
            <a:off x="192111" y="4976008"/>
            <a:ext cx="8767027" cy="1477328"/>
          </a:xfrm>
          <a:prstGeom prst="rect">
            <a:avLst/>
          </a:prstGeom>
          <a:solidFill>
            <a:schemeClr val="bg1">
              <a:alpha val="90000"/>
            </a:schemeClr>
          </a:solidFill>
        </p:spPr>
        <p:txBody>
          <a:bodyPr wrap="square">
            <a:spAutoFit/>
          </a:bodyPr>
          <a:lstStyle/>
          <a:p>
            <a:pPr>
              <a:lnSpc>
                <a:spcPts val="1800"/>
              </a:lnSpc>
              <a:spcBef>
                <a:spcPts val="600"/>
              </a:spcBef>
              <a:spcAft>
                <a:spcPts val="600"/>
              </a:spcAft>
              <a:buNone/>
            </a:pPr>
            <a:r>
              <a:rPr lang="en-US" altLang="zh-TW" sz="2000" b="1" u="none" strike="noStrike" dirty="0">
                <a:effectLst/>
              </a:rPr>
              <a:t>Counter Measures (Increase Attack’s Cost)</a:t>
            </a:r>
          </a:p>
          <a:p>
            <a:pPr marL="285750" indent="-285750">
              <a:lnSpc>
                <a:spcPts val="1800"/>
              </a:lnSpc>
              <a:spcBef>
                <a:spcPts val="600"/>
              </a:spcBef>
              <a:spcAft>
                <a:spcPts val="600"/>
              </a:spcAft>
              <a:buFont typeface="Wingdings" panose="05000000000000000000" pitchFamily="2" charset="2"/>
              <a:buChar char="Ø"/>
            </a:pPr>
            <a:r>
              <a:rPr lang="en-US" altLang="zh-TW" sz="1600" b="1" dirty="0"/>
              <a:t>Traffic Detection:</a:t>
            </a:r>
            <a:r>
              <a:rPr lang="en-US" altLang="zh-TW" sz="1600" dirty="0"/>
              <a:t> Semantic-space analysis, behavioral fingerprinting, metadata attribution.</a:t>
            </a:r>
          </a:p>
          <a:p>
            <a:pPr marL="285750" indent="-285750">
              <a:lnSpc>
                <a:spcPts val="1800"/>
              </a:lnSpc>
              <a:spcBef>
                <a:spcPts val="600"/>
              </a:spcBef>
              <a:spcAft>
                <a:spcPts val="600"/>
              </a:spcAft>
              <a:buFont typeface="Wingdings" panose="05000000000000000000" pitchFamily="2" charset="2"/>
              <a:buChar char="Ø"/>
            </a:pPr>
            <a:r>
              <a:rPr lang="en-US" altLang="zh-TW" sz="1600" b="1" dirty="0"/>
              <a:t>Model Controls:</a:t>
            </a:r>
            <a:r>
              <a:rPr lang="en-US" altLang="zh-TW" sz="1600" dirty="0"/>
              <a:t> CoT removal, output perturbation, statistical watermarking.</a:t>
            </a:r>
          </a:p>
          <a:p>
            <a:pPr marL="285750" indent="-285750">
              <a:lnSpc>
                <a:spcPts val="1800"/>
              </a:lnSpc>
              <a:spcBef>
                <a:spcPts val="600"/>
              </a:spcBef>
              <a:spcAft>
                <a:spcPts val="600"/>
              </a:spcAft>
              <a:buFont typeface="Wingdings" panose="05000000000000000000" pitchFamily="2" charset="2"/>
              <a:buChar char="Ø"/>
            </a:pPr>
            <a:r>
              <a:rPr lang="en-US" altLang="zh-TW" sz="1600" b="1" dirty="0"/>
              <a:t>Verified Access:</a:t>
            </a:r>
            <a:r>
              <a:rPr lang="en-US" altLang="zh-TW" sz="1600" dirty="0"/>
              <a:t> Know Your Customer(KYC),</a:t>
            </a:r>
            <a:r>
              <a:rPr lang="zh-TW" altLang="en-US" sz="1600" dirty="0"/>
              <a:t> </a:t>
            </a:r>
            <a:r>
              <a:rPr lang="en-US" altLang="zh-TW" sz="1600" dirty="0"/>
              <a:t>Adaptive Verification, .</a:t>
            </a:r>
          </a:p>
        </p:txBody>
      </p:sp>
      <p:sp>
        <p:nvSpPr>
          <p:cNvPr id="12" name="文字方塊 11">
            <a:extLst>
              <a:ext uri="{FF2B5EF4-FFF2-40B4-BE49-F238E27FC236}">
                <a16:creationId xmlns:a16="http://schemas.microsoft.com/office/drawing/2014/main" id="{AD68F64B-4C1A-FFB2-F8B6-E5C3BC02DFF1}"/>
              </a:ext>
            </a:extLst>
          </p:cNvPr>
          <p:cNvSpPr txBox="1"/>
          <p:nvPr/>
        </p:nvSpPr>
        <p:spPr>
          <a:xfrm>
            <a:off x="2250420" y="2276872"/>
            <a:ext cx="881420" cy="756316"/>
          </a:xfrm>
          <a:prstGeom prst="rect">
            <a:avLst/>
          </a:prstGeom>
          <a:solidFill>
            <a:schemeClr val="accent2">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solidFill>
                  <a:schemeClr val="accent2"/>
                </a:solidFill>
                <a:effectLst/>
              </a:rPr>
              <a:t>Pre-Training</a:t>
            </a:r>
          </a:p>
          <a:p>
            <a:pPr algn="ctr">
              <a:lnSpc>
                <a:spcPts val="1400"/>
              </a:lnSpc>
              <a:buNone/>
            </a:pPr>
            <a:r>
              <a:rPr lang="en-US" altLang="zh-TW" sz="1200" dirty="0"/>
              <a:t>Base</a:t>
            </a:r>
          </a:p>
          <a:p>
            <a:pPr algn="ctr">
              <a:lnSpc>
                <a:spcPts val="1400"/>
              </a:lnSpc>
              <a:buNone/>
            </a:pPr>
            <a:r>
              <a:rPr lang="en-US" altLang="zh-TW" sz="1200" dirty="0"/>
              <a:t>Model</a:t>
            </a:r>
            <a:endParaRPr lang="en-US" altLang="zh-TW" sz="1200" u="none" strike="noStrike" dirty="0">
              <a:effectLst/>
            </a:endParaRPr>
          </a:p>
        </p:txBody>
      </p:sp>
      <p:sp>
        <p:nvSpPr>
          <p:cNvPr id="13" name="文字方塊 12">
            <a:extLst>
              <a:ext uri="{FF2B5EF4-FFF2-40B4-BE49-F238E27FC236}">
                <a16:creationId xmlns:a16="http://schemas.microsoft.com/office/drawing/2014/main" id="{CC7F5601-2E80-AC25-95B4-F7E7BEC74B21}"/>
              </a:ext>
            </a:extLst>
          </p:cNvPr>
          <p:cNvSpPr txBox="1"/>
          <p:nvPr/>
        </p:nvSpPr>
        <p:spPr>
          <a:xfrm>
            <a:off x="3347864" y="2276872"/>
            <a:ext cx="881420" cy="756316"/>
          </a:xfrm>
          <a:prstGeom prst="rect">
            <a:avLst/>
          </a:prstGeom>
          <a:solidFill>
            <a:schemeClr val="accent6">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Distillation</a:t>
            </a:r>
          </a:p>
          <a:p>
            <a:pPr algn="ctr">
              <a:lnSpc>
                <a:spcPts val="1400"/>
              </a:lnSpc>
              <a:buNone/>
            </a:pPr>
            <a:r>
              <a:rPr lang="en-US" altLang="zh-TW" sz="1200" dirty="0"/>
              <a:t>Student</a:t>
            </a:r>
          </a:p>
          <a:p>
            <a:pPr algn="ctr">
              <a:lnSpc>
                <a:spcPts val="1400"/>
              </a:lnSpc>
              <a:buNone/>
            </a:pPr>
            <a:r>
              <a:rPr lang="en-US" altLang="zh-TW" sz="1200" dirty="0"/>
              <a:t>Model</a:t>
            </a:r>
            <a:endParaRPr lang="en-US" altLang="zh-TW" sz="1200" u="none" strike="noStrike" dirty="0">
              <a:effectLst/>
            </a:endParaRPr>
          </a:p>
        </p:txBody>
      </p:sp>
      <p:sp>
        <p:nvSpPr>
          <p:cNvPr id="14" name="文字方塊 13">
            <a:extLst>
              <a:ext uri="{FF2B5EF4-FFF2-40B4-BE49-F238E27FC236}">
                <a16:creationId xmlns:a16="http://schemas.microsoft.com/office/drawing/2014/main" id="{4CB5AFF6-8B07-F6E7-440D-1E3D64014E59}"/>
              </a:ext>
            </a:extLst>
          </p:cNvPr>
          <p:cNvSpPr txBox="1"/>
          <p:nvPr/>
        </p:nvSpPr>
        <p:spPr>
          <a:xfrm>
            <a:off x="4410660" y="2276872"/>
            <a:ext cx="881420" cy="756316"/>
          </a:xfrm>
          <a:prstGeom prst="rect">
            <a:avLst/>
          </a:prstGeom>
          <a:solidFill>
            <a:schemeClr val="accent6">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SFT</a:t>
            </a:r>
          </a:p>
          <a:p>
            <a:pPr algn="ctr">
              <a:lnSpc>
                <a:spcPts val="1400"/>
              </a:lnSpc>
              <a:buNone/>
            </a:pPr>
            <a:r>
              <a:rPr lang="en-US" altLang="zh-TW" sz="1200" dirty="0"/>
              <a:t>Quality is</a:t>
            </a:r>
          </a:p>
          <a:p>
            <a:pPr algn="ctr">
              <a:lnSpc>
                <a:spcPts val="1400"/>
              </a:lnSpc>
              <a:buNone/>
            </a:pPr>
            <a:r>
              <a:rPr lang="en-US" altLang="zh-TW" sz="1200" dirty="0"/>
              <a:t>all you need.</a:t>
            </a:r>
          </a:p>
          <a:p>
            <a:pPr algn="ctr">
              <a:lnSpc>
                <a:spcPts val="1400"/>
              </a:lnSpc>
              <a:buNone/>
            </a:pPr>
            <a:endParaRPr lang="en-US" altLang="zh-TW" sz="1200" u="none" strike="noStrike" dirty="0">
              <a:effectLst/>
            </a:endParaRPr>
          </a:p>
        </p:txBody>
      </p:sp>
      <p:sp>
        <p:nvSpPr>
          <p:cNvPr id="15" name="文字方塊 14">
            <a:extLst>
              <a:ext uri="{FF2B5EF4-FFF2-40B4-BE49-F238E27FC236}">
                <a16:creationId xmlns:a16="http://schemas.microsoft.com/office/drawing/2014/main" id="{6F8D15F0-F013-D9A3-EAA6-42797542C242}"/>
              </a:ext>
            </a:extLst>
          </p:cNvPr>
          <p:cNvSpPr txBox="1"/>
          <p:nvPr/>
        </p:nvSpPr>
        <p:spPr>
          <a:xfrm>
            <a:off x="5490780" y="2276872"/>
            <a:ext cx="881420" cy="756316"/>
          </a:xfrm>
          <a:prstGeom prst="rect">
            <a:avLst/>
          </a:prstGeom>
          <a:solidFill>
            <a:schemeClr val="accent6">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dirty="0">
                <a:solidFill>
                  <a:schemeClr val="accent6">
                    <a:lumMod val="75000"/>
                  </a:schemeClr>
                </a:solidFill>
              </a:rPr>
              <a:t>RLHF</a:t>
            </a:r>
            <a:endParaRPr lang="en-US" altLang="zh-TW" sz="1400" b="1" u="none" strike="noStrike" dirty="0">
              <a:solidFill>
                <a:schemeClr val="accent6">
                  <a:lumMod val="75000"/>
                </a:schemeClr>
              </a:solidFill>
              <a:effectLst/>
            </a:endParaRPr>
          </a:p>
          <a:p>
            <a:pPr algn="ctr">
              <a:lnSpc>
                <a:spcPts val="1400"/>
              </a:lnSpc>
              <a:buNone/>
            </a:pPr>
            <a:r>
              <a:rPr lang="en-US" altLang="zh-TW" sz="1200" dirty="0"/>
              <a:t>Human</a:t>
            </a:r>
          </a:p>
          <a:p>
            <a:pPr algn="ctr">
              <a:lnSpc>
                <a:spcPts val="1400"/>
              </a:lnSpc>
              <a:buNone/>
            </a:pPr>
            <a:r>
              <a:rPr lang="en-US" altLang="zh-TW" sz="1200" dirty="0"/>
              <a:t>Preferences</a:t>
            </a:r>
            <a:endParaRPr lang="en-US" altLang="zh-TW" sz="1200" u="none" strike="noStrike" dirty="0">
              <a:effectLst/>
            </a:endParaRPr>
          </a:p>
        </p:txBody>
      </p:sp>
      <p:sp>
        <p:nvSpPr>
          <p:cNvPr id="16" name="文字方塊 15">
            <a:extLst>
              <a:ext uri="{FF2B5EF4-FFF2-40B4-BE49-F238E27FC236}">
                <a16:creationId xmlns:a16="http://schemas.microsoft.com/office/drawing/2014/main" id="{289ADC5C-E475-83A1-2BFE-D74030E59EAA}"/>
              </a:ext>
            </a:extLst>
          </p:cNvPr>
          <p:cNvSpPr txBox="1"/>
          <p:nvPr/>
        </p:nvSpPr>
        <p:spPr>
          <a:xfrm>
            <a:off x="1187624" y="2280669"/>
            <a:ext cx="881420" cy="756316"/>
          </a:xfrm>
          <a:prstGeom prst="rect">
            <a:avLst/>
          </a:prstGeom>
          <a:solidFill>
            <a:schemeClr val="bg1">
              <a:lumMod val="95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effectLst/>
              </a:rPr>
              <a:t>Datasets</a:t>
            </a:r>
          </a:p>
          <a:p>
            <a:pPr algn="ctr">
              <a:lnSpc>
                <a:spcPts val="1400"/>
              </a:lnSpc>
              <a:buNone/>
            </a:pPr>
            <a:r>
              <a:rPr lang="en-US" altLang="zh-TW" sz="1200" dirty="0"/>
              <a:t>High-quality</a:t>
            </a:r>
          </a:p>
          <a:p>
            <a:pPr algn="ctr">
              <a:lnSpc>
                <a:spcPts val="1400"/>
              </a:lnSpc>
              <a:buNone/>
            </a:pPr>
            <a:r>
              <a:rPr lang="en-US" altLang="zh-TW" sz="1200" dirty="0"/>
              <a:t>data at scale</a:t>
            </a:r>
          </a:p>
        </p:txBody>
      </p:sp>
      <p:sp>
        <p:nvSpPr>
          <p:cNvPr id="17" name="右大括弧 16">
            <a:extLst>
              <a:ext uri="{FF2B5EF4-FFF2-40B4-BE49-F238E27FC236}">
                <a16:creationId xmlns:a16="http://schemas.microsoft.com/office/drawing/2014/main" id="{C76DBFF7-5BC4-34FB-B75B-C5F62F6D1CB2}"/>
              </a:ext>
            </a:extLst>
          </p:cNvPr>
          <p:cNvSpPr/>
          <p:nvPr/>
        </p:nvSpPr>
        <p:spPr>
          <a:xfrm rot="16200000">
            <a:off x="3667387" y="868541"/>
            <a:ext cx="153042" cy="453650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cxnSp>
        <p:nvCxnSpPr>
          <p:cNvPr id="21" name="直線單箭頭接點 20">
            <a:extLst>
              <a:ext uri="{FF2B5EF4-FFF2-40B4-BE49-F238E27FC236}">
                <a16:creationId xmlns:a16="http://schemas.microsoft.com/office/drawing/2014/main" id="{947BD5A8-BFD6-CEA1-275F-0CDDC5F60F07}"/>
              </a:ext>
            </a:extLst>
          </p:cNvPr>
          <p:cNvCxnSpPr>
            <a:cxnSpLocks/>
            <a:stCxn id="16" idx="3"/>
            <a:endCxn id="12" idx="1"/>
          </p:cNvCxnSpPr>
          <p:nvPr/>
        </p:nvCxnSpPr>
        <p:spPr>
          <a:xfrm flipV="1">
            <a:off x="2069044" y="2655030"/>
            <a:ext cx="181376" cy="3797"/>
          </a:xfrm>
          <a:prstGeom prst="straightConnector1">
            <a:avLst/>
          </a:prstGeom>
          <a:ln w="25400">
            <a:solidFill>
              <a:schemeClr val="bg1">
                <a:lumMod val="85000"/>
              </a:schemeClr>
            </a:solidFill>
            <a:headEnd w="med" len="lg"/>
            <a:tailEnd type="triangle"/>
          </a:ln>
        </p:spPr>
        <p:style>
          <a:lnRef idx="1">
            <a:schemeClr val="accent1"/>
          </a:lnRef>
          <a:fillRef idx="0">
            <a:schemeClr val="accent1"/>
          </a:fillRef>
          <a:effectRef idx="0">
            <a:schemeClr val="accent1"/>
          </a:effectRef>
          <a:fontRef idx="minor">
            <a:schemeClr val="tx1"/>
          </a:fontRef>
        </p:style>
      </p:cxnSp>
      <p:sp>
        <p:nvSpPr>
          <p:cNvPr id="3" name="文字方塊 2">
            <a:extLst>
              <a:ext uri="{FF2B5EF4-FFF2-40B4-BE49-F238E27FC236}">
                <a16:creationId xmlns:a16="http://schemas.microsoft.com/office/drawing/2014/main" id="{4BD454AD-B65F-F8DD-468A-876DEE2E1BC9}"/>
              </a:ext>
            </a:extLst>
          </p:cNvPr>
          <p:cNvSpPr txBox="1"/>
          <p:nvPr/>
        </p:nvSpPr>
        <p:spPr>
          <a:xfrm>
            <a:off x="3347864" y="3284647"/>
            <a:ext cx="881420" cy="756316"/>
          </a:xfrm>
          <a:prstGeom prst="rect">
            <a:avLst/>
          </a:prstGeom>
          <a:solidFill>
            <a:schemeClr val="accent6">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Distillation</a:t>
            </a:r>
          </a:p>
          <a:p>
            <a:pPr algn="ctr">
              <a:lnSpc>
                <a:spcPts val="1400"/>
              </a:lnSpc>
              <a:buNone/>
            </a:pPr>
            <a:r>
              <a:rPr lang="en-US" altLang="zh-TW" sz="1200" dirty="0"/>
              <a:t>Student</a:t>
            </a:r>
          </a:p>
          <a:p>
            <a:pPr algn="ctr">
              <a:lnSpc>
                <a:spcPts val="1400"/>
              </a:lnSpc>
              <a:buNone/>
            </a:pPr>
            <a:r>
              <a:rPr lang="en-US" altLang="zh-TW" sz="1200" dirty="0"/>
              <a:t>Model</a:t>
            </a:r>
            <a:endParaRPr lang="en-US" altLang="zh-TW" sz="1200" u="none" strike="noStrike" dirty="0">
              <a:effectLst/>
            </a:endParaRPr>
          </a:p>
        </p:txBody>
      </p:sp>
      <p:sp>
        <p:nvSpPr>
          <p:cNvPr id="4" name="文字方塊 3">
            <a:extLst>
              <a:ext uri="{FF2B5EF4-FFF2-40B4-BE49-F238E27FC236}">
                <a16:creationId xmlns:a16="http://schemas.microsoft.com/office/drawing/2014/main" id="{B5F82238-D902-CFE3-4CE5-E39555787C98}"/>
              </a:ext>
            </a:extLst>
          </p:cNvPr>
          <p:cNvSpPr txBox="1"/>
          <p:nvPr/>
        </p:nvSpPr>
        <p:spPr>
          <a:xfrm>
            <a:off x="4410660" y="3284647"/>
            <a:ext cx="881420" cy="756316"/>
          </a:xfrm>
          <a:prstGeom prst="rect">
            <a:avLst/>
          </a:prstGeom>
          <a:solidFill>
            <a:schemeClr val="accent6">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SFT</a:t>
            </a:r>
          </a:p>
          <a:p>
            <a:pPr algn="ctr">
              <a:lnSpc>
                <a:spcPts val="1400"/>
              </a:lnSpc>
              <a:buNone/>
            </a:pPr>
            <a:r>
              <a:rPr lang="en-US" altLang="zh-TW" sz="1200" dirty="0"/>
              <a:t>Quality is</a:t>
            </a:r>
          </a:p>
          <a:p>
            <a:pPr algn="ctr">
              <a:lnSpc>
                <a:spcPts val="1400"/>
              </a:lnSpc>
              <a:buNone/>
            </a:pPr>
            <a:r>
              <a:rPr lang="en-US" altLang="zh-TW" sz="1200" dirty="0"/>
              <a:t>all you need.</a:t>
            </a:r>
          </a:p>
          <a:p>
            <a:pPr algn="ctr">
              <a:lnSpc>
                <a:spcPts val="1400"/>
              </a:lnSpc>
              <a:buNone/>
            </a:pPr>
            <a:endParaRPr lang="en-US" altLang="zh-TW" sz="1200" u="none" strike="noStrike" dirty="0">
              <a:effectLst/>
            </a:endParaRPr>
          </a:p>
        </p:txBody>
      </p:sp>
      <p:sp>
        <p:nvSpPr>
          <p:cNvPr id="7" name="文字方塊 6">
            <a:extLst>
              <a:ext uri="{FF2B5EF4-FFF2-40B4-BE49-F238E27FC236}">
                <a16:creationId xmlns:a16="http://schemas.microsoft.com/office/drawing/2014/main" id="{DB702051-151F-B5C4-3443-6931F47A642F}"/>
              </a:ext>
            </a:extLst>
          </p:cNvPr>
          <p:cNvSpPr txBox="1"/>
          <p:nvPr/>
        </p:nvSpPr>
        <p:spPr>
          <a:xfrm>
            <a:off x="5490780" y="3284647"/>
            <a:ext cx="881420" cy="756316"/>
          </a:xfrm>
          <a:prstGeom prst="rect">
            <a:avLst/>
          </a:prstGeom>
          <a:solidFill>
            <a:schemeClr val="accent6">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dirty="0">
                <a:solidFill>
                  <a:schemeClr val="accent6">
                    <a:lumMod val="75000"/>
                  </a:schemeClr>
                </a:solidFill>
              </a:rPr>
              <a:t>RLHF</a:t>
            </a:r>
            <a:endParaRPr lang="en-US" altLang="zh-TW" sz="1400" b="1" u="none" strike="noStrike" dirty="0">
              <a:solidFill>
                <a:schemeClr val="accent6">
                  <a:lumMod val="75000"/>
                </a:schemeClr>
              </a:solidFill>
              <a:effectLst/>
            </a:endParaRPr>
          </a:p>
          <a:p>
            <a:pPr algn="ctr">
              <a:lnSpc>
                <a:spcPts val="1400"/>
              </a:lnSpc>
              <a:buNone/>
            </a:pPr>
            <a:r>
              <a:rPr lang="en-US" altLang="zh-TW" sz="1200" dirty="0"/>
              <a:t>Human</a:t>
            </a:r>
          </a:p>
          <a:p>
            <a:pPr algn="ctr">
              <a:lnSpc>
                <a:spcPts val="1400"/>
              </a:lnSpc>
              <a:buNone/>
            </a:pPr>
            <a:r>
              <a:rPr lang="en-US" altLang="zh-TW" sz="1200" dirty="0"/>
              <a:t>Preferences</a:t>
            </a:r>
            <a:endParaRPr lang="en-US" altLang="zh-TW" sz="1200" u="none" strike="noStrike" dirty="0">
              <a:effectLst/>
            </a:endParaRPr>
          </a:p>
        </p:txBody>
      </p:sp>
      <p:sp>
        <p:nvSpPr>
          <p:cNvPr id="10" name="右大括弧 9">
            <a:extLst>
              <a:ext uri="{FF2B5EF4-FFF2-40B4-BE49-F238E27FC236}">
                <a16:creationId xmlns:a16="http://schemas.microsoft.com/office/drawing/2014/main" id="{F5E88D55-1D29-981A-61C9-848487682A89}"/>
              </a:ext>
            </a:extLst>
          </p:cNvPr>
          <p:cNvSpPr/>
          <p:nvPr/>
        </p:nvSpPr>
        <p:spPr>
          <a:xfrm rot="5400000">
            <a:off x="3154669" y="3534807"/>
            <a:ext cx="153040" cy="121952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spTree>
    <p:extLst>
      <p:ext uri="{BB962C8B-B14F-4D97-AF65-F5344CB8AC3E}">
        <p14:creationId xmlns:p14="http://schemas.microsoft.com/office/powerpoint/2010/main" val="426768731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CC3DF-70C2-522A-0FDF-2582632E1FB9}"/>
            </a:ext>
          </a:extLst>
        </p:cNvPr>
        <p:cNvGrpSpPr/>
        <p:nvPr/>
      </p:nvGrpSpPr>
      <p:grpSpPr>
        <a:xfrm>
          <a:off x="0" y="0"/>
          <a:ext cx="0" cy="0"/>
          <a:chOff x="0" y="0"/>
          <a:chExt cx="0" cy="0"/>
        </a:xfrm>
      </p:grpSpPr>
      <p:pic>
        <p:nvPicPr>
          <p:cNvPr id="5" name="圖片 4">
            <a:extLst>
              <a:ext uri="{FF2B5EF4-FFF2-40B4-BE49-F238E27FC236}">
                <a16:creationId xmlns:a16="http://schemas.microsoft.com/office/drawing/2014/main" id="{8095A884-8EAC-6F06-810B-C83343A15BDA}"/>
              </a:ext>
            </a:extLst>
          </p:cNvPr>
          <p:cNvPicPr>
            <a:picLocks noChangeAspect="1"/>
          </p:cNvPicPr>
          <p:nvPr/>
        </p:nvPicPr>
        <p:blipFill>
          <a:blip r:embed="rId3"/>
          <a:stretch>
            <a:fillRect/>
          </a:stretch>
        </p:blipFill>
        <p:spPr>
          <a:xfrm>
            <a:off x="0" y="1196752"/>
            <a:ext cx="4956040" cy="2304256"/>
          </a:xfrm>
          <a:prstGeom prst="rect">
            <a:avLst/>
          </a:prstGeom>
        </p:spPr>
      </p:pic>
      <p:pic>
        <p:nvPicPr>
          <p:cNvPr id="10" name="圖片 9">
            <a:extLst>
              <a:ext uri="{FF2B5EF4-FFF2-40B4-BE49-F238E27FC236}">
                <a16:creationId xmlns:a16="http://schemas.microsoft.com/office/drawing/2014/main" id="{DD86CA32-970D-2496-47EF-AAFC418ABEFB}"/>
              </a:ext>
            </a:extLst>
          </p:cNvPr>
          <p:cNvPicPr>
            <a:picLocks noChangeAspect="1"/>
          </p:cNvPicPr>
          <p:nvPr/>
        </p:nvPicPr>
        <p:blipFill>
          <a:blip r:embed="rId4"/>
          <a:stretch>
            <a:fillRect/>
          </a:stretch>
        </p:blipFill>
        <p:spPr>
          <a:xfrm>
            <a:off x="1" y="4331484"/>
            <a:ext cx="4956040" cy="2121852"/>
          </a:xfrm>
          <a:prstGeom prst="rect">
            <a:avLst/>
          </a:prstGeom>
        </p:spPr>
      </p:pic>
      <p:pic>
        <p:nvPicPr>
          <p:cNvPr id="17" name="圖片 16">
            <a:extLst>
              <a:ext uri="{FF2B5EF4-FFF2-40B4-BE49-F238E27FC236}">
                <a16:creationId xmlns:a16="http://schemas.microsoft.com/office/drawing/2014/main" id="{37162C3A-7B4F-0FFF-EF3C-FCB377ACAEDC}"/>
              </a:ext>
            </a:extLst>
          </p:cNvPr>
          <p:cNvPicPr>
            <a:picLocks noChangeAspect="1"/>
          </p:cNvPicPr>
          <p:nvPr/>
        </p:nvPicPr>
        <p:blipFill>
          <a:blip r:embed="rId5"/>
          <a:stretch>
            <a:fillRect/>
          </a:stretch>
        </p:blipFill>
        <p:spPr>
          <a:xfrm>
            <a:off x="4001637" y="24780"/>
            <a:ext cx="5125570" cy="1848950"/>
          </a:xfrm>
          <a:prstGeom prst="rect">
            <a:avLst/>
          </a:prstGeom>
        </p:spPr>
      </p:pic>
      <p:pic>
        <p:nvPicPr>
          <p:cNvPr id="22" name="圖片 21">
            <a:extLst>
              <a:ext uri="{FF2B5EF4-FFF2-40B4-BE49-F238E27FC236}">
                <a16:creationId xmlns:a16="http://schemas.microsoft.com/office/drawing/2014/main" id="{7E69E454-371F-867B-3720-89CEABC1F2BC}"/>
              </a:ext>
            </a:extLst>
          </p:cNvPr>
          <p:cNvPicPr>
            <a:picLocks noChangeAspect="1"/>
          </p:cNvPicPr>
          <p:nvPr/>
        </p:nvPicPr>
        <p:blipFill>
          <a:blip r:embed="rId6"/>
          <a:stretch>
            <a:fillRect/>
          </a:stretch>
        </p:blipFill>
        <p:spPr>
          <a:xfrm>
            <a:off x="4018429" y="3068960"/>
            <a:ext cx="5125571" cy="2215620"/>
          </a:xfrm>
          <a:prstGeom prst="rect">
            <a:avLst/>
          </a:prstGeom>
        </p:spPr>
      </p:pic>
      <p:pic>
        <p:nvPicPr>
          <p:cNvPr id="24" name="圖片 23">
            <a:extLst>
              <a:ext uri="{FF2B5EF4-FFF2-40B4-BE49-F238E27FC236}">
                <a16:creationId xmlns:a16="http://schemas.microsoft.com/office/drawing/2014/main" id="{734FBE87-E2F9-CC6D-45DC-14DA7E8ACD75}"/>
              </a:ext>
            </a:extLst>
          </p:cNvPr>
          <p:cNvPicPr>
            <a:picLocks noChangeAspect="1"/>
          </p:cNvPicPr>
          <p:nvPr/>
        </p:nvPicPr>
        <p:blipFill>
          <a:blip r:embed="rId7"/>
          <a:stretch>
            <a:fillRect/>
          </a:stretch>
        </p:blipFill>
        <p:spPr>
          <a:xfrm>
            <a:off x="3275856" y="6324113"/>
            <a:ext cx="5851351" cy="480202"/>
          </a:xfrm>
          <a:prstGeom prst="rect">
            <a:avLst/>
          </a:prstGeom>
        </p:spPr>
      </p:pic>
    </p:spTree>
    <p:extLst>
      <p:ext uri="{BB962C8B-B14F-4D97-AF65-F5344CB8AC3E}">
        <p14:creationId xmlns:p14="http://schemas.microsoft.com/office/powerpoint/2010/main" val="31877690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56F9624E-C0C3-0C2E-AA84-84A132024A6C}"/>
              </a:ext>
            </a:extLst>
          </p:cNvPr>
          <p:cNvPicPr>
            <a:picLocks noChangeAspect="1"/>
          </p:cNvPicPr>
          <p:nvPr/>
        </p:nvPicPr>
        <p:blipFill>
          <a:blip r:embed="rId3"/>
          <a:stretch>
            <a:fillRect/>
          </a:stretch>
        </p:blipFill>
        <p:spPr>
          <a:xfrm>
            <a:off x="683568" y="3573016"/>
            <a:ext cx="6096851" cy="2724530"/>
          </a:xfrm>
          <a:prstGeom prst="rect">
            <a:avLst/>
          </a:prstGeom>
        </p:spPr>
      </p:pic>
    </p:spTree>
    <p:extLst>
      <p:ext uri="{BB962C8B-B14F-4D97-AF65-F5344CB8AC3E}">
        <p14:creationId xmlns:p14="http://schemas.microsoft.com/office/powerpoint/2010/main" val="245000215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D65C6-BEC0-62CB-6358-4B31A25DD0A5}"/>
            </a:ext>
          </a:extLst>
        </p:cNvPr>
        <p:cNvGrpSpPr/>
        <p:nvPr/>
      </p:nvGrpSpPr>
      <p:grpSpPr>
        <a:xfrm>
          <a:off x="0" y="0"/>
          <a:ext cx="0" cy="0"/>
          <a:chOff x="0" y="0"/>
          <a:chExt cx="0" cy="0"/>
        </a:xfrm>
      </p:grpSpPr>
      <p:sp>
        <p:nvSpPr>
          <p:cNvPr id="4" name="標題 1">
            <a:extLst>
              <a:ext uri="{FF2B5EF4-FFF2-40B4-BE49-F238E27FC236}">
                <a16:creationId xmlns:a16="http://schemas.microsoft.com/office/drawing/2014/main" id="{5FFD0A0B-6A6C-81BA-ECB4-E1FBF4F7B2A4}"/>
              </a:ext>
            </a:extLst>
          </p:cNvPr>
          <p:cNvSpPr txBox="1">
            <a:spLocks/>
          </p:cNvSpPr>
          <p:nvPr/>
        </p:nvSpPr>
        <p:spPr>
          <a:xfrm>
            <a:off x="179512" y="116632"/>
            <a:ext cx="8811265"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G</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rouped-</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Q</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uery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A</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ttention</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C…n </a:t>
            </a:r>
          </a:p>
        </p:txBody>
      </p:sp>
      <p:sp>
        <p:nvSpPr>
          <p:cNvPr id="119" name="矩形: 圓角 118">
            <a:extLst>
              <a:ext uri="{FF2B5EF4-FFF2-40B4-BE49-F238E27FC236}">
                <a16:creationId xmlns:a16="http://schemas.microsoft.com/office/drawing/2014/main" id="{DE353E63-4B9E-5328-1910-427015B91579}"/>
              </a:ext>
            </a:extLst>
          </p:cNvPr>
          <p:cNvSpPr/>
          <p:nvPr/>
        </p:nvSpPr>
        <p:spPr>
          <a:xfrm>
            <a:off x="9612560" y="4725666"/>
            <a:ext cx="914400" cy="914400"/>
          </a:xfrm>
          <a:prstGeom prst="roundRect">
            <a:avLst/>
          </a:prstGeom>
          <a:solidFill>
            <a:schemeClr val="tx1">
              <a:alpha val="70000"/>
            </a:schemeClr>
          </a:solidFill>
          <a:ln w="127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7" name="圖片 6">
            <a:extLst>
              <a:ext uri="{FF2B5EF4-FFF2-40B4-BE49-F238E27FC236}">
                <a16:creationId xmlns:a16="http://schemas.microsoft.com/office/drawing/2014/main" id="{154C9210-7B99-570B-EC23-2C6884AAFB11}"/>
              </a:ext>
            </a:extLst>
          </p:cNvPr>
          <p:cNvPicPr>
            <a:picLocks noChangeAspect="1"/>
          </p:cNvPicPr>
          <p:nvPr/>
        </p:nvPicPr>
        <p:blipFill>
          <a:blip r:embed="rId3"/>
          <a:stretch>
            <a:fillRect/>
          </a:stretch>
        </p:blipFill>
        <p:spPr>
          <a:xfrm>
            <a:off x="1331640" y="671404"/>
            <a:ext cx="2572109" cy="1991003"/>
          </a:xfrm>
          <a:prstGeom prst="rect">
            <a:avLst/>
          </a:prstGeom>
        </p:spPr>
      </p:pic>
      <p:pic>
        <p:nvPicPr>
          <p:cNvPr id="8" name="圖片 7">
            <a:extLst>
              <a:ext uri="{FF2B5EF4-FFF2-40B4-BE49-F238E27FC236}">
                <a16:creationId xmlns:a16="http://schemas.microsoft.com/office/drawing/2014/main" id="{614D6B63-955B-CF53-9A05-4851EE3038F7}"/>
              </a:ext>
            </a:extLst>
          </p:cNvPr>
          <p:cNvPicPr>
            <a:picLocks noChangeAspect="1"/>
          </p:cNvPicPr>
          <p:nvPr/>
        </p:nvPicPr>
        <p:blipFill>
          <a:blip r:embed="rId4"/>
          <a:stretch>
            <a:fillRect/>
          </a:stretch>
        </p:blipFill>
        <p:spPr>
          <a:xfrm>
            <a:off x="179512" y="1124744"/>
            <a:ext cx="1095528" cy="981212"/>
          </a:xfrm>
          <a:prstGeom prst="rect">
            <a:avLst/>
          </a:prstGeom>
        </p:spPr>
      </p:pic>
      <p:pic>
        <p:nvPicPr>
          <p:cNvPr id="9" name="圖片 8">
            <a:extLst>
              <a:ext uri="{FF2B5EF4-FFF2-40B4-BE49-F238E27FC236}">
                <a16:creationId xmlns:a16="http://schemas.microsoft.com/office/drawing/2014/main" id="{524DCB0E-9E75-C915-F261-ED351656FDDB}"/>
              </a:ext>
            </a:extLst>
          </p:cNvPr>
          <p:cNvPicPr>
            <a:picLocks noChangeAspect="1"/>
          </p:cNvPicPr>
          <p:nvPr/>
        </p:nvPicPr>
        <p:blipFill>
          <a:blip r:embed="rId5"/>
          <a:stretch>
            <a:fillRect/>
          </a:stretch>
        </p:blipFill>
        <p:spPr>
          <a:xfrm>
            <a:off x="5009029" y="1873511"/>
            <a:ext cx="1362265" cy="990738"/>
          </a:xfrm>
          <a:prstGeom prst="rect">
            <a:avLst/>
          </a:prstGeom>
        </p:spPr>
      </p:pic>
      <p:pic>
        <p:nvPicPr>
          <p:cNvPr id="10" name="圖片 9">
            <a:extLst>
              <a:ext uri="{FF2B5EF4-FFF2-40B4-BE49-F238E27FC236}">
                <a16:creationId xmlns:a16="http://schemas.microsoft.com/office/drawing/2014/main" id="{CE95AE4A-5582-541A-F4BC-D1C26309C182}"/>
              </a:ext>
            </a:extLst>
          </p:cNvPr>
          <p:cNvPicPr>
            <a:picLocks noChangeAspect="1"/>
          </p:cNvPicPr>
          <p:nvPr/>
        </p:nvPicPr>
        <p:blipFill>
          <a:blip r:embed="rId6"/>
          <a:stretch>
            <a:fillRect/>
          </a:stretch>
        </p:blipFill>
        <p:spPr>
          <a:xfrm>
            <a:off x="6593205" y="1912715"/>
            <a:ext cx="1124107" cy="695422"/>
          </a:xfrm>
          <a:prstGeom prst="rect">
            <a:avLst/>
          </a:prstGeom>
        </p:spPr>
      </p:pic>
      <p:pic>
        <p:nvPicPr>
          <p:cNvPr id="12" name="圖片 11">
            <a:extLst>
              <a:ext uri="{FF2B5EF4-FFF2-40B4-BE49-F238E27FC236}">
                <a16:creationId xmlns:a16="http://schemas.microsoft.com/office/drawing/2014/main" id="{AEDF6C41-D583-3701-5763-980C3781C62A}"/>
              </a:ext>
            </a:extLst>
          </p:cNvPr>
          <p:cNvPicPr>
            <a:picLocks noChangeAspect="1"/>
          </p:cNvPicPr>
          <p:nvPr/>
        </p:nvPicPr>
        <p:blipFill>
          <a:blip r:embed="rId7"/>
          <a:stretch>
            <a:fillRect/>
          </a:stretch>
        </p:blipFill>
        <p:spPr>
          <a:xfrm>
            <a:off x="3859475" y="1124744"/>
            <a:ext cx="2440718" cy="245657"/>
          </a:xfrm>
          <a:prstGeom prst="rect">
            <a:avLst/>
          </a:prstGeom>
        </p:spPr>
      </p:pic>
      <p:pic>
        <p:nvPicPr>
          <p:cNvPr id="14" name="圖片 13">
            <a:extLst>
              <a:ext uri="{FF2B5EF4-FFF2-40B4-BE49-F238E27FC236}">
                <a16:creationId xmlns:a16="http://schemas.microsoft.com/office/drawing/2014/main" id="{A45D3C7D-2FD7-E69B-2EFF-89BE67A4B4B6}"/>
              </a:ext>
            </a:extLst>
          </p:cNvPr>
          <p:cNvPicPr>
            <a:picLocks noChangeAspect="1"/>
          </p:cNvPicPr>
          <p:nvPr/>
        </p:nvPicPr>
        <p:blipFill>
          <a:blip r:embed="rId8"/>
          <a:stretch>
            <a:fillRect/>
          </a:stretch>
        </p:blipFill>
        <p:spPr>
          <a:xfrm>
            <a:off x="3858617" y="1357225"/>
            <a:ext cx="1996624" cy="309681"/>
          </a:xfrm>
          <a:prstGeom prst="rect">
            <a:avLst/>
          </a:prstGeom>
        </p:spPr>
      </p:pic>
      <p:pic>
        <p:nvPicPr>
          <p:cNvPr id="3" name="圖片 2">
            <a:extLst>
              <a:ext uri="{FF2B5EF4-FFF2-40B4-BE49-F238E27FC236}">
                <a16:creationId xmlns:a16="http://schemas.microsoft.com/office/drawing/2014/main" id="{35F5BC4E-7C6B-0F92-1BAB-5F4B85A909F5}"/>
              </a:ext>
            </a:extLst>
          </p:cNvPr>
          <p:cNvPicPr>
            <a:picLocks noChangeAspect="1"/>
          </p:cNvPicPr>
          <p:nvPr/>
        </p:nvPicPr>
        <p:blipFill>
          <a:blip r:embed="rId9"/>
          <a:stretch>
            <a:fillRect/>
          </a:stretch>
        </p:blipFill>
        <p:spPr>
          <a:xfrm>
            <a:off x="412611" y="2864249"/>
            <a:ext cx="8345065" cy="3439005"/>
          </a:xfrm>
          <a:prstGeom prst="rect">
            <a:avLst/>
          </a:prstGeom>
        </p:spPr>
      </p:pic>
    </p:spTree>
    <p:extLst>
      <p:ext uri="{BB962C8B-B14F-4D97-AF65-F5344CB8AC3E}">
        <p14:creationId xmlns:p14="http://schemas.microsoft.com/office/powerpoint/2010/main" val="141053412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EB38F-DBD1-4342-785A-BDBBB6042DF8}"/>
            </a:ext>
          </a:extLst>
        </p:cNvPr>
        <p:cNvGrpSpPr/>
        <p:nvPr/>
      </p:nvGrpSpPr>
      <p:grpSpPr>
        <a:xfrm>
          <a:off x="0" y="0"/>
          <a:ext cx="0" cy="0"/>
          <a:chOff x="0" y="0"/>
          <a:chExt cx="0" cy="0"/>
        </a:xfrm>
      </p:grpSpPr>
      <p:pic>
        <p:nvPicPr>
          <p:cNvPr id="5" name="圖片 4">
            <a:extLst>
              <a:ext uri="{FF2B5EF4-FFF2-40B4-BE49-F238E27FC236}">
                <a16:creationId xmlns:a16="http://schemas.microsoft.com/office/drawing/2014/main" id="{321A5649-BA9C-F559-3548-66A103753B57}"/>
              </a:ext>
            </a:extLst>
          </p:cNvPr>
          <p:cNvPicPr>
            <a:picLocks noChangeAspect="1"/>
          </p:cNvPicPr>
          <p:nvPr/>
        </p:nvPicPr>
        <p:blipFill>
          <a:blip r:embed="rId3"/>
          <a:stretch>
            <a:fillRect/>
          </a:stretch>
        </p:blipFill>
        <p:spPr>
          <a:xfrm>
            <a:off x="1439652" y="188640"/>
            <a:ext cx="6264696" cy="5271286"/>
          </a:xfrm>
          <a:prstGeom prst="rect">
            <a:avLst/>
          </a:prstGeom>
        </p:spPr>
      </p:pic>
      <p:sp>
        <p:nvSpPr>
          <p:cNvPr id="4" name="標題 1">
            <a:extLst>
              <a:ext uri="{FF2B5EF4-FFF2-40B4-BE49-F238E27FC236}">
                <a16:creationId xmlns:a16="http://schemas.microsoft.com/office/drawing/2014/main" id="{B3D51DA1-2B48-59A5-CB41-A60288819733}"/>
              </a:ext>
            </a:extLst>
          </p:cNvPr>
          <p:cNvSpPr txBox="1">
            <a:spLocks/>
          </p:cNvSpPr>
          <p:nvPr/>
        </p:nvSpPr>
        <p:spPr>
          <a:xfrm>
            <a:off x="179512" y="116632"/>
            <a:ext cx="8811265"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M</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ulti-head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L</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atent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A</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ttention</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C…n </a:t>
            </a:r>
          </a:p>
        </p:txBody>
      </p:sp>
      <p:sp>
        <p:nvSpPr>
          <p:cNvPr id="119" name="矩形: 圓角 118">
            <a:extLst>
              <a:ext uri="{FF2B5EF4-FFF2-40B4-BE49-F238E27FC236}">
                <a16:creationId xmlns:a16="http://schemas.microsoft.com/office/drawing/2014/main" id="{0FDC90E7-D9C2-2F2E-D4A4-4E0237237B55}"/>
              </a:ext>
            </a:extLst>
          </p:cNvPr>
          <p:cNvSpPr/>
          <p:nvPr/>
        </p:nvSpPr>
        <p:spPr>
          <a:xfrm>
            <a:off x="9612560" y="4725666"/>
            <a:ext cx="914400" cy="914400"/>
          </a:xfrm>
          <a:prstGeom prst="roundRect">
            <a:avLst/>
          </a:prstGeom>
          <a:solidFill>
            <a:schemeClr val="tx1">
              <a:alpha val="70000"/>
            </a:schemeClr>
          </a:solidFill>
          <a:ln w="127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5" name="圖片 14">
            <a:extLst>
              <a:ext uri="{FF2B5EF4-FFF2-40B4-BE49-F238E27FC236}">
                <a16:creationId xmlns:a16="http://schemas.microsoft.com/office/drawing/2014/main" id="{77C51C42-3081-C424-E6D0-A1E655B2BB30}"/>
              </a:ext>
            </a:extLst>
          </p:cNvPr>
          <p:cNvPicPr>
            <a:picLocks noChangeAspect="1"/>
          </p:cNvPicPr>
          <p:nvPr/>
        </p:nvPicPr>
        <p:blipFill>
          <a:blip r:embed="rId4"/>
          <a:stretch>
            <a:fillRect/>
          </a:stretch>
        </p:blipFill>
        <p:spPr>
          <a:xfrm>
            <a:off x="539552" y="5646646"/>
            <a:ext cx="7840389" cy="1348547"/>
          </a:xfrm>
          <a:prstGeom prst="rect">
            <a:avLst/>
          </a:prstGeom>
        </p:spPr>
      </p:pic>
    </p:spTree>
    <p:extLst>
      <p:ext uri="{BB962C8B-B14F-4D97-AF65-F5344CB8AC3E}">
        <p14:creationId xmlns:p14="http://schemas.microsoft.com/office/powerpoint/2010/main" val="11975631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0BA6C-BB7F-B835-C42D-3F241F6D7601}"/>
            </a:ext>
          </a:extLst>
        </p:cNvPr>
        <p:cNvGrpSpPr/>
        <p:nvPr/>
      </p:nvGrpSpPr>
      <p:grpSpPr>
        <a:xfrm>
          <a:off x="0" y="0"/>
          <a:ext cx="0" cy="0"/>
          <a:chOff x="0" y="0"/>
          <a:chExt cx="0" cy="0"/>
        </a:xfrm>
      </p:grpSpPr>
      <p:sp>
        <p:nvSpPr>
          <p:cNvPr id="73" name="矩形 72">
            <a:extLst>
              <a:ext uri="{FF2B5EF4-FFF2-40B4-BE49-F238E27FC236}">
                <a16:creationId xmlns:a16="http://schemas.microsoft.com/office/drawing/2014/main" id="{0CD39B9A-ED92-AB62-D7D4-6B2380FA472E}"/>
              </a:ext>
            </a:extLst>
          </p:cNvPr>
          <p:cNvSpPr/>
          <p:nvPr/>
        </p:nvSpPr>
        <p:spPr>
          <a:xfrm>
            <a:off x="5505654" y="1844824"/>
            <a:ext cx="3026786" cy="1014680"/>
          </a:xfrm>
          <a:prstGeom prst="rect">
            <a:avLst/>
          </a:prstGeom>
          <a:solidFill>
            <a:schemeClr val="accent1">
              <a:lumMod val="20000"/>
              <a:lumOff val="80000"/>
              <a:alpha val="20000"/>
            </a:schemeClr>
          </a:solidFill>
          <a:ln w="19050">
            <a:solidFill>
              <a:schemeClr val="accent1">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91440" tIns="0" rIns="0" bIns="0" rtlCol="0" anchor="t" anchorCtr="0">
            <a:noAutofit/>
          </a:bodyPr>
          <a:lstStyle/>
          <a:p>
            <a:pPr marL="0" marR="0" lvl="1" algn="l" defTabSz="1425575" rtl="0" eaLnBrk="1" fontAlgn="auto" latinLnBrk="0" hangingPunct="1">
              <a:lnSpc>
                <a:spcPts val="16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rgbClr val="1F497D"/>
                </a:solidFill>
                <a:effectLst/>
                <a:uLnTx/>
                <a:uFillTx/>
                <a:latin typeface="Calibri"/>
                <a:ea typeface="微軟正黑體" panose="020B0604030504040204" pitchFamily="34" charset="-120"/>
                <a:cs typeface="+mn-cs"/>
              </a:rPr>
              <a:t>Attention</a:t>
            </a:r>
          </a:p>
        </p:txBody>
      </p:sp>
      <p:sp>
        <p:nvSpPr>
          <p:cNvPr id="4" name="標題 1">
            <a:extLst>
              <a:ext uri="{FF2B5EF4-FFF2-40B4-BE49-F238E27FC236}">
                <a16:creationId xmlns:a16="http://schemas.microsoft.com/office/drawing/2014/main" id="{C7E932C9-3BC7-9E10-9963-24F3D3FFF1AA}"/>
              </a:ext>
            </a:extLst>
          </p:cNvPr>
          <p:cNvSpPr txBox="1">
            <a:spLocks/>
          </p:cNvSpPr>
          <p:nvPr/>
        </p:nvSpPr>
        <p:spPr>
          <a:xfrm>
            <a:off x="179512" y="116632"/>
            <a:ext cx="8928992"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Hybrid Attention = CSA</a:t>
            </a:r>
            <a:r>
              <a:rPr lang="zh-TW" altLang="en-US" sz="2800" dirty="0">
                <a:latin typeface="Noto Sans HK" panose="020B0200000000000000" pitchFamily="34" charset="-120"/>
                <a:ea typeface="Noto Sans HK" panose="020B0200000000000000" pitchFamily="34" charset="-120"/>
                <a:cs typeface="Aharoni" panose="020F0502020204030204" pitchFamily="2" charset="-79"/>
              </a:rPr>
              <a:t> </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a:t>
            </a:r>
            <a:r>
              <a:rPr lang="zh-TW" altLang="en-US" sz="2800" dirty="0">
                <a:latin typeface="Noto Sans HK" panose="020B0200000000000000" pitchFamily="34" charset="-120"/>
                <a:ea typeface="Noto Sans HK" panose="020B0200000000000000" pitchFamily="34" charset="-120"/>
                <a:cs typeface="Aharoni" panose="020F0502020204030204" pitchFamily="2" charset="-79"/>
              </a:rPr>
              <a:t> </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HCA</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Compressed Sparse Attention and Heavily Compressed Attention </a:t>
            </a:r>
          </a:p>
        </p:txBody>
      </p:sp>
      <p:cxnSp>
        <p:nvCxnSpPr>
          <p:cNvPr id="66" name="直線接點 65">
            <a:extLst>
              <a:ext uri="{FF2B5EF4-FFF2-40B4-BE49-F238E27FC236}">
                <a16:creationId xmlns:a16="http://schemas.microsoft.com/office/drawing/2014/main" id="{0412083C-ED18-54C7-8A7D-F0BC4CB3240D}"/>
              </a:ext>
            </a:extLst>
          </p:cNvPr>
          <p:cNvCxnSpPr>
            <a:cxnSpLocks/>
            <a:stCxn id="92" idx="3"/>
          </p:cNvCxnSpPr>
          <p:nvPr/>
        </p:nvCxnSpPr>
        <p:spPr>
          <a:xfrm flipV="1">
            <a:off x="2267744" y="2597721"/>
            <a:ext cx="531742" cy="24983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67" name="直線接點 66">
            <a:extLst>
              <a:ext uri="{FF2B5EF4-FFF2-40B4-BE49-F238E27FC236}">
                <a16:creationId xmlns:a16="http://schemas.microsoft.com/office/drawing/2014/main" id="{CCD1EE38-15A2-F146-BF93-0EB4D61FC3BE}"/>
              </a:ext>
            </a:extLst>
          </p:cNvPr>
          <p:cNvCxnSpPr>
            <a:cxnSpLocks/>
            <a:stCxn id="89" idx="3"/>
          </p:cNvCxnSpPr>
          <p:nvPr/>
        </p:nvCxnSpPr>
        <p:spPr>
          <a:xfrm>
            <a:off x="2267744" y="1959463"/>
            <a:ext cx="531742" cy="183856"/>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85" name="矩形 84">
            <a:extLst>
              <a:ext uri="{FF2B5EF4-FFF2-40B4-BE49-F238E27FC236}">
                <a16:creationId xmlns:a16="http://schemas.microsoft.com/office/drawing/2014/main" id="{9A7236A9-7EEB-C01A-8050-70C9BF32BB8A}"/>
              </a:ext>
            </a:extLst>
          </p:cNvPr>
          <p:cNvSpPr/>
          <p:nvPr/>
        </p:nvSpPr>
        <p:spPr>
          <a:xfrm>
            <a:off x="2555776" y="2131101"/>
            <a:ext cx="313067" cy="426232"/>
          </a:xfrm>
          <a:prstGeom prst="rect">
            <a:avLst/>
          </a:prstGeom>
          <a:no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dirty="0">
                <a:solidFill>
                  <a:schemeClr val="tx1"/>
                </a:solidFill>
                <a:latin typeface="微軟正黑體" panose="020B0604030504040204" pitchFamily="34" charset="-120"/>
                <a:ea typeface="微軟正黑體" panose="020B0604030504040204" pitchFamily="34" charset="-120"/>
              </a:rPr>
              <a:t>X</a:t>
            </a:r>
          </a:p>
        </p:txBody>
      </p:sp>
      <p:sp>
        <p:nvSpPr>
          <p:cNvPr id="88" name="矩形 87">
            <a:extLst>
              <a:ext uri="{FF2B5EF4-FFF2-40B4-BE49-F238E27FC236}">
                <a16:creationId xmlns:a16="http://schemas.microsoft.com/office/drawing/2014/main" id="{2A3273B4-280D-2500-B3E2-D5398D25A019}"/>
              </a:ext>
            </a:extLst>
          </p:cNvPr>
          <p:cNvSpPr/>
          <p:nvPr/>
        </p:nvSpPr>
        <p:spPr>
          <a:xfrm>
            <a:off x="1294782" y="1766456"/>
            <a:ext cx="972962" cy="1153107"/>
          </a:xfrm>
          <a:prstGeom prst="rect">
            <a:avLst/>
          </a:prstGeom>
          <a:no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200" dirty="0">
              <a:solidFill>
                <a:schemeClr val="tx1"/>
              </a:solidFill>
              <a:latin typeface="微軟正黑體" panose="020B0604030504040204" pitchFamily="34" charset="-120"/>
              <a:ea typeface="微軟正黑體" panose="020B0604030504040204" pitchFamily="34" charset="-120"/>
            </a:endParaRPr>
          </a:p>
        </p:txBody>
      </p:sp>
      <p:sp>
        <p:nvSpPr>
          <p:cNvPr id="89" name="矩形 88">
            <a:extLst>
              <a:ext uri="{FF2B5EF4-FFF2-40B4-BE49-F238E27FC236}">
                <a16:creationId xmlns:a16="http://schemas.microsoft.com/office/drawing/2014/main" id="{5008C6EC-6CC1-84E3-E3C4-558B4A2D14F4}"/>
              </a:ext>
            </a:extLst>
          </p:cNvPr>
          <p:cNvSpPr/>
          <p:nvPr/>
        </p:nvSpPr>
        <p:spPr>
          <a:xfrm>
            <a:off x="1294782" y="1752988"/>
            <a:ext cx="972962" cy="412950"/>
          </a:xfrm>
          <a:prstGeom prst="rect">
            <a:avLst/>
          </a:prstGeom>
          <a:noFill/>
          <a:ln w="9525">
            <a:solidFill>
              <a:schemeClr val="accent5">
                <a:lumMod val="5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000" dirty="0">
                <a:solidFill>
                  <a:schemeClr val="tx1"/>
                </a:solidFill>
                <a:latin typeface="微軟正黑體" panose="020B0604030504040204" pitchFamily="34" charset="-120"/>
                <a:ea typeface="微軟正黑體" panose="020B0604030504040204" pitchFamily="34" charset="-120"/>
              </a:rPr>
              <a:t>System Prompt</a:t>
            </a:r>
          </a:p>
        </p:txBody>
      </p:sp>
      <p:sp>
        <p:nvSpPr>
          <p:cNvPr id="90" name="矩形 89">
            <a:extLst>
              <a:ext uri="{FF2B5EF4-FFF2-40B4-BE49-F238E27FC236}">
                <a16:creationId xmlns:a16="http://schemas.microsoft.com/office/drawing/2014/main" id="{7B8D5C38-9841-F5B4-516A-91E4CA49B1CD}"/>
              </a:ext>
            </a:extLst>
          </p:cNvPr>
          <p:cNvSpPr/>
          <p:nvPr/>
        </p:nvSpPr>
        <p:spPr>
          <a:xfrm>
            <a:off x="1294782" y="2165939"/>
            <a:ext cx="972962" cy="240025"/>
          </a:xfrm>
          <a:prstGeom prst="rect">
            <a:avLst/>
          </a:prstGeom>
          <a:noFill/>
          <a:ln w="9525">
            <a:solidFill>
              <a:schemeClr val="accent5">
                <a:lumMod val="5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000" dirty="0">
                <a:solidFill>
                  <a:schemeClr val="tx1"/>
                </a:solidFill>
                <a:latin typeface="微軟正黑體" panose="020B0604030504040204" pitchFamily="34" charset="-120"/>
                <a:ea typeface="微軟正黑體" panose="020B0604030504040204" pitchFamily="34" charset="-120"/>
              </a:rPr>
              <a:t>Historical Chat</a:t>
            </a:r>
          </a:p>
        </p:txBody>
      </p:sp>
      <p:sp>
        <p:nvSpPr>
          <p:cNvPr id="91" name="矩形 90">
            <a:extLst>
              <a:ext uri="{FF2B5EF4-FFF2-40B4-BE49-F238E27FC236}">
                <a16:creationId xmlns:a16="http://schemas.microsoft.com/office/drawing/2014/main" id="{E605785A-C720-DDB1-E785-3D8725DF0FC4}"/>
              </a:ext>
            </a:extLst>
          </p:cNvPr>
          <p:cNvSpPr/>
          <p:nvPr/>
        </p:nvSpPr>
        <p:spPr>
          <a:xfrm>
            <a:off x="1294782" y="2405964"/>
            <a:ext cx="972962" cy="216023"/>
          </a:xfrm>
          <a:prstGeom prst="rect">
            <a:avLst/>
          </a:prstGeom>
          <a:noFill/>
          <a:ln w="9525">
            <a:solidFill>
              <a:schemeClr val="accent5">
                <a:lumMod val="5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000" dirty="0">
                <a:solidFill>
                  <a:schemeClr val="tx1"/>
                </a:solidFill>
                <a:latin typeface="微軟正黑體" panose="020B0604030504040204" pitchFamily="34" charset="-120"/>
                <a:ea typeface="微軟正黑體" panose="020B0604030504040204" pitchFamily="34" charset="-120"/>
              </a:rPr>
              <a:t>User Input Data</a:t>
            </a:r>
          </a:p>
        </p:txBody>
      </p:sp>
      <p:sp>
        <p:nvSpPr>
          <p:cNvPr id="92" name="矩形 91">
            <a:extLst>
              <a:ext uri="{FF2B5EF4-FFF2-40B4-BE49-F238E27FC236}">
                <a16:creationId xmlns:a16="http://schemas.microsoft.com/office/drawing/2014/main" id="{989134F6-20AE-AEB9-8562-A763C64631BA}"/>
              </a:ext>
            </a:extLst>
          </p:cNvPr>
          <p:cNvSpPr/>
          <p:nvPr/>
        </p:nvSpPr>
        <p:spPr>
          <a:xfrm>
            <a:off x="1294782" y="2775547"/>
            <a:ext cx="972962" cy="144016"/>
          </a:xfrm>
          <a:prstGeom prst="rect">
            <a:avLst/>
          </a:prstGeom>
          <a:noFill/>
          <a:ln w="9525">
            <a:solidFill>
              <a:srgbClr val="FF0000"/>
            </a:solidFill>
            <a:prstDash val="dash"/>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dirty="0">
                <a:solidFill>
                  <a:schemeClr val="accent2"/>
                </a:solidFill>
                <a:latin typeface="微軟正黑體" panose="020B0604030504040204" pitchFamily="34" charset="-120"/>
                <a:ea typeface="微軟正黑體" panose="020B0604030504040204" pitchFamily="34" charset="-120"/>
              </a:rPr>
              <a:t>new</a:t>
            </a:r>
          </a:p>
        </p:txBody>
      </p:sp>
      <p:sp>
        <p:nvSpPr>
          <p:cNvPr id="93" name="右中括弧 92">
            <a:extLst>
              <a:ext uri="{FF2B5EF4-FFF2-40B4-BE49-F238E27FC236}">
                <a16:creationId xmlns:a16="http://schemas.microsoft.com/office/drawing/2014/main" id="{7C52D50F-9788-DE81-632A-8CDDDE7C0B39}"/>
              </a:ext>
            </a:extLst>
          </p:cNvPr>
          <p:cNvSpPr/>
          <p:nvPr/>
        </p:nvSpPr>
        <p:spPr>
          <a:xfrm flipH="1">
            <a:off x="1213912" y="1766248"/>
            <a:ext cx="45719" cy="1153106"/>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94" name="文字方塊 93">
            <a:extLst>
              <a:ext uri="{FF2B5EF4-FFF2-40B4-BE49-F238E27FC236}">
                <a16:creationId xmlns:a16="http://schemas.microsoft.com/office/drawing/2014/main" id="{E9A3C937-19AF-6C22-0544-D7965868DD17}"/>
              </a:ext>
            </a:extLst>
          </p:cNvPr>
          <p:cNvSpPr txBox="1"/>
          <p:nvPr/>
        </p:nvSpPr>
        <p:spPr>
          <a:xfrm>
            <a:off x="1143666" y="2181643"/>
            <a:ext cx="123067" cy="278693"/>
          </a:xfrm>
          <a:prstGeom prst="rect">
            <a:avLst/>
          </a:prstGeom>
          <a:noFill/>
        </p:spPr>
        <p:txBody>
          <a:bodyPr wrap="none" lIns="0" tIns="0" rIns="0" bIns="0" rtlCol="0" anchor="ctr" anchorCtr="1">
            <a:noAutofit/>
          </a:bodyPr>
          <a:lstStyle/>
          <a:p>
            <a:pPr algn="ctr"/>
            <a:r>
              <a:rPr lang="en-US" altLang="zh-TW" sz="1400" dirty="0"/>
              <a:t>N</a:t>
            </a:r>
            <a:endParaRPr lang="zh-TW" altLang="en-US" sz="1400" dirty="0"/>
          </a:p>
        </p:txBody>
      </p:sp>
      <p:sp>
        <p:nvSpPr>
          <p:cNvPr id="95" name="矩形 94">
            <a:extLst>
              <a:ext uri="{FF2B5EF4-FFF2-40B4-BE49-F238E27FC236}">
                <a16:creationId xmlns:a16="http://schemas.microsoft.com/office/drawing/2014/main" id="{6DF3AD3E-10E4-1095-51BB-4E59F1405146}"/>
              </a:ext>
            </a:extLst>
          </p:cNvPr>
          <p:cNvSpPr/>
          <p:nvPr/>
        </p:nvSpPr>
        <p:spPr>
          <a:xfrm>
            <a:off x="1664803" y="1570499"/>
            <a:ext cx="161836" cy="216022"/>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tx1"/>
                </a:solidFill>
              </a:rPr>
              <a:t>d</a:t>
            </a:r>
          </a:p>
        </p:txBody>
      </p:sp>
      <p:sp>
        <p:nvSpPr>
          <p:cNvPr id="96" name="右中括弧 95">
            <a:extLst>
              <a:ext uri="{FF2B5EF4-FFF2-40B4-BE49-F238E27FC236}">
                <a16:creationId xmlns:a16="http://schemas.microsoft.com/office/drawing/2014/main" id="{B6BB993E-AE2E-3719-AB5B-9B4E7A2E13A3}"/>
              </a:ext>
            </a:extLst>
          </p:cNvPr>
          <p:cNvSpPr/>
          <p:nvPr/>
        </p:nvSpPr>
        <p:spPr>
          <a:xfrm rot="16200000">
            <a:off x="1758403" y="1207164"/>
            <a:ext cx="45719" cy="972962"/>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11" name="矩形 10">
            <a:extLst>
              <a:ext uri="{FF2B5EF4-FFF2-40B4-BE49-F238E27FC236}">
                <a16:creationId xmlns:a16="http://schemas.microsoft.com/office/drawing/2014/main" id="{49EDF0B5-AB72-492D-3A92-9881C35CEEE8}"/>
              </a:ext>
            </a:extLst>
          </p:cNvPr>
          <p:cNvSpPr/>
          <p:nvPr/>
        </p:nvSpPr>
        <p:spPr>
          <a:xfrm>
            <a:off x="5655769" y="1256184"/>
            <a:ext cx="1508519" cy="372616"/>
          </a:xfrm>
          <a:prstGeom prst="rect">
            <a:avLst/>
          </a:prstGeom>
          <a:noFill/>
          <a:ln w="25400">
            <a:solidFill>
              <a:schemeClr val="accent5">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200" dirty="0">
              <a:solidFill>
                <a:schemeClr val="tx1"/>
              </a:solidFill>
              <a:latin typeface="微軟正黑體" panose="020B0604030504040204" pitchFamily="34" charset="-120"/>
              <a:ea typeface="微軟正黑體" panose="020B0604030504040204" pitchFamily="34" charset="-120"/>
            </a:endParaRPr>
          </a:p>
        </p:txBody>
      </p:sp>
      <p:sp>
        <p:nvSpPr>
          <p:cNvPr id="55" name="矩形 54">
            <a:extLst>
              <a:ext uri="{FF2B5EF4-FFF2-40B4-BE49-F238E27FC236}">
                <a16:creationId xmlns:a16="http://schemas.microsoft.com/office/drawing/2014/main" id="{45B3CB3A-DF76-A954-7ACD-784F85AFB1BA}"/>
              </a:ext>
            </a:extLst>
          </p:cNvPr>
          <p:cNvSpPr/>
          <p:nvPr/>
        </p:nvSpPr>
        <p:spPr>
          <a:xfrm>
            <a:off x="2561850" y="2485325"/>
            <a:ext cx="313067" cy="84483"/>
          </a:xfrm>
          <a:prstGeom prst="rect">
            <a:avLst/>
          </a:prstGeom>
          <a:noFill/>
          <a:ln w="9525">
            <a:solidFill>
              <a:srgbClr val="FF0000"/>
            </a:solidFill>
            <a:prstDash val="dash"/>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200" baseline="-25000" dirty="0">
              <a:solidFill>
                <a:schemeClr val="tx1"/>
              </a:solidFill>
              <a:latin typeface="微軟正黑體" panose="020B0604030504040204" pitchFamily="34" charset="-120"/>
              <a:ea typeface="微軟正黑體" panose="020B0604030504040204" pitchFamily="34" charset="-120"/>
            </a:endParaRPr>
          </a:p>
        </p:txBody>
      </p:sp>
      <p:sp>
        <p:nvSpPr>
          <p:cNvPr id="62" name="左右大括弧 61">
            <a:extLst>
              <a:ext uri="{FF2B5EF4-FFF2-40B4-BE49-F238E27FC236}">
                <a16:creationId xmlns:a16="http://schemas.microsoft.com/office/drawing/2014/main" id="{8CE10F52-2583-64A4-7856-26F1465A74F4}"/>
              </a:ext>
            </a:extLst>
          </p:cNvPr>
          <p:cNvSpPr/>
          <p:nvPr/>
        </p:nvSpPr>
        <p:spPr>
          <a:xfrm>
            <a:off x="5942923" y="1310861"/>
            <a:ext cx="549922" cy="166639"/>
          </a:xfrm>
          <a:prstGeom prst="bracePair">
            <a:avLst/>
          </a:prstGeom>
        </p:spPr>
        <p:style>
          <a:lnRef idx="1">
            <a:schemeClr val="accent1"/>
          </a:lnRef>
          <a:fillRef idx="0">
            <a:schemeClr val="accent1"/>
          </a:fillRef>
          <a:effectRef idx="0">
            <a:schemeClr val="accent1"/>
          </a:effectRef>
          <a:fontRef idx="minor">
            <a:schemeClr val="tx1"/>
          </a:fontRef>
        </p:style>
        <p:txBody>
          <a:bodyPr wrap="none" lIns="0" tIns="0" rIns="0" bIns="0" rtlCol="0" anchor="ctr" anchorCtr="1"/>
          <a:lstStyle/>
          <a:p>
            <a:pPr algn="ctr"/>
            <a:r>
              <a:rPr lang="en-US" altLang="zh-TW" sz="1400" dirty="0"/>
              <a:t>Heads</a:t>
            </a:r>
            <a:endParaRPr lang="zh-TW" altLang="en-US" sz="1400" dirty="0"/>
          </a:p>
        </p:txBody>
      </p:sp>
      <p:sp>
        <p:nvSpPr>
          <p:cNvPr id="99" name="右中括弧 98">
            <a:extLst>
              <a:ext uri="{FF2B5EF4-FFF2-40B4-BE49-F238E27FC236}">
                <a16:creationId xmlns:a16="http://schemas.microsoft.com/office/drawing/2014/main" id="{716E358A-DD91-C615-64A9-F1DD46207106}"/>
              </a:ext>
            </a:extLst>
          </p:cNvPr>
          <p:cNvSpPr/>
          <p:nvPr/>
        </p:nvSpPr>
        <p:spPr>
          <a:xfrm rot="16200000">
            <a:off x="4463256" y="1272021"/>
            <a:ext cx="110578" cy="251990"/>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100" name="文字方塊 99">
            <a:extLst>
              <a:ext uri="{FF2B5EF4-FFF2-40B4-BE49-F238E27FC236}">
                <a16:creationId xmlns:a16="http://schemas.microsoft.com/office/drawing/2014/main" id="{A1520AB4-80B0-5F64-C5B0-2E2EF372E12C}"/>
              </a:ext>
            </a:extLst>
          </p:cNvPr>
          <p:cNvSpPr txBox="1"/>
          <p:nvPr/>
        </p:nvSpPr>
        <p:spPr>
          <a:xfrm>
            <a:off x="4479509" y="1268760"/>
            <a:ext cx="78071" cy="217983"/>
          </a:xfrm>
          <a:prstGeom prst="rect">
            <a:avLst/>
          </a:prstGeom>
          <a:noFill/>
        </p:spPr>
        <p:txBody>
          <a:bodyPr wrap="none" lIns="0" tIns="0" rIns="0" bIns="0" rtlCol="0" anchor="ctr" anchorCtr="1">
            <a:noAutofit/>
          </a:bodyPr>
          <a:lstStyle/>
          <a:p>
            <a:pPr algn="ctr"/>
            <a:r>
              <a:rPr lang="en-US" altLang="zh-TW" sz="1200" dirty="0"/>
              <a:t>d</a:t>
            </a:r>
            <a:r>
              <a:rPr lang="en-US" altLang="zh-TW" sz="1200" baseline="-25000" dirty="0"/>
              <a:t>h</a:t>
            </a:r>
            <a:endParaRPr lang="zh-TW" altLang="en-US" sz="1200" dirty="0"/>
          </a:p>
        </p:txBody>
      </p:sp>
      <p:sp>
        <p:nvSpPr>
          <p:cNvPr id="101" name="右中括弧 100">
            <a:extLst>
              <a:ext uri="{FF2B5EF4-FFF2-40B4-BE49-F238E27FC236}">
                <a16:creationId xmlns:a16="http://schemas.microsoft.com/office/drawing/2014/main" id="{B9DD458B-E8AB-F085-C3D4-80CC43657575}"/>
              </a:ext>
            </a:extLst>
          </p:cNvPr>
          <p:cNvSpPr/>
          <p:nvPr/>
        </p:nvSpPr>
        <p:spPr>
          <a:xfrm>
            <a:off x="4716016" y="1503630"/>
            <a:ext cx="148828" cy="468936"/>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102" name="文字方塊 101">
            <a:extLst>
              <a:ext uri="{FF2B5EF4-FFF2-40B4-BE49-F238E27FC236}">
                <a16:creationId xmlns:a16="http://schemas.microsoft.com/office/drawing/2014/main" id="{8728D05F-1DCF-3875-8FAF-C7E9964A5610}"/>
              </a:ext>
            </a:extLst>
          </p:cNvPr>
          <p:cNvSpPr txBox="1"/>
          <p:nvPr/>
        </p:nvSpPr>
        <p:spPr>
          <a:xfrm>
            <a:off x="4808973" y="1621280"/>
            <a:ext cx="123067" cy="217983"/>
          </a:xfrm>
          <a:prstGeom prst="rect">
            <a:avLst/>
          </a:prstGeom>
          <a:noFill/>
        </p:spPr>
        <p:txBody>
          <a:bodyPr wrap="none" lIns="0" tIns="0" rIns="0" bIns="0" rtlCol="0" anchor="ctr" anchorCtr="1">
            <a:noAutofit/>
          </a:bodyPr>
          <a:lstStyle/>
          <a:p>
            <a:pPr algn="ctr"/>
            <a:r>
              <a:rPr lang="en-US" altLang="zh-TW" sz="1200" dirty="0"/>
              <a:t>N</a:t>
            </a:r>
            <a:endParaRPr lang="zh-TW" altLang="en-US" sz="1200" dirty="0"/>
          </a:p>
        </p:txBody>
      </p:sp>
      <p:sp>
        <p:nvSpPr>
          <p:cNvPr id="111" name="文字方塊 110">
            <a:extLst>
              <a:ext uri="{FF2B5EF4-FFF2-40B4-BE49-F238E27FC236}">
                <a16:creationId xmlns:a16="http://schemas.microsoft.com/office/drawing/2014/main" id="{082B2476-733E-16FA-DE3F-5B9EE6270CC8}"/>
              </a:ext>
            </a:extLst>
          </p:cNvPr>
          <p:cNvSpPr txBox="1"/>
          <p:nvPr/>
        </p:nvSpPr>
        <p:spPr>
          <a:xfrm>
            <a:off x="4211960" y="3304269"/>
            <a:ext cx="104240" cy="235664"/>
          </a:xfrm>
          <a:prstGeom prst="rect">
            <a:avLst/>
          </a:prstGeom>
          <a:noFill/>
        </p:spPr>
        <p:txBody>
          <a:bodyPr wrap="none" lIns="0" tIns="0" rIns="0" bIns="0" rtlCol="0" anchor="ctr" anchorCtr="1">
            <a:noAutofit/>
          </a:bodyPr>
          <a:lstStyle/>
          <a:p>
            <a:pPr algn="ctr"/>
            <a:r>
              <a:rPr lang="en-US" altLang="zh-TW" sz="1200" dirty="0"/>
              <a:t>+</a:t>
            </a:r>
            <a:endParaRPr lang="zh-TW" altLang="en-US" sz="1200" dirty="0"/>
          </a:p>
        </p:txBody>
      </p:sp>
      <p:sp>
        <p:nvSpPr>
          <p:cNvPr id="113" name="文字方塊 112">
            <a:extLst>
              <a:ext uri="{FF2B5EF4-FFF2-40B4-BE49-F238E27FC236}">
                <a16:creationId xmlns:a16="http://schemas.microsoft.com/office/drawing/2014/main" id="{2CAB38FF-F2B2-8DE6-59F7-3DC2C6266345}"/>
              </a:ext>
            </a:extLst>
          </p:cNvPr>
          <p:cNvSpPr txBox="1"/>
          <p:nvPr/>
        </p:nvSpPr>
        <p:spPr>
          <a:xfrm>
            <a:off x="3718705" y="3304269"/>
            <a:ext cx="104240" cy="235664"/>
          </a:xfrm>
          <a:prstGeom prst="rect">
            <a:avLst/>
          </a:prstGeom>
          <a:noFill/>
        </p:spPr>
        <p:txBody>
          <a:bodyPr wrap="none" lIns="0" tIns="0" rIns="0" bIns="0" rtlCol="0" anchor="ctr" anchorCtr="1">
            <a:noAutofit/>
          </a:bodyPr>
          <a:lstStyle/>
          <a:p>
            <a:pPr algn="ctr"/>
            <a:r>
              <a:rPr lang="en-US" altLang="zh-TW" sz="1200" dirty="0"/>
              <a:t>=</a:t>
            </a:r>
            <a:endParaRPr lang="zh-TW" altLang="en-US" sz="1200" dirty="0"/>
          </a:p>
        </p:txBody>
      </p:sp>
      <p:sp>
        <p:nvSpPr>
          <p:cNvPr id="119" name="矩形: 圓角 118">
            <a:extLst>
              <a:ext uri="{FF2B5EF4-FFF2-40B4-BE49-F238E27FC236}">
                <a16:creationId xmlns:a16="http://schemas.microsoft.com/office/drawing/2014/main" id="{20F4EA3B-B1EC-0871-547B-A709EEC04FF2}"/>
              </a:ext>
            </a:extLst>
          </p:cNvPr>
          <p:cNvSpPr/>
          <p:nvPr/>
        </p:nvSpPr>
        <p:spPr>
          <a:xfrm>
            <a:off x="9612560" y="4725666"/>
            <a:ext cx="914400" cy="914400"/>
          </a:xfrm>
          <a:prstGeom prst="roundRect">
            <a:avLst/>
          </a:prstGeom>
          <a:solidFill>
            <a:schemeClr val="tx1">
              <a:alpha val="70000"/>
            </a:schemeClr>
          </a:solidFill>
          <a:ln w="127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64" name="群組 63">
            <a:extLst>
              <a:ext uri="{FF2B5EF4-FFF2-40B4-BE49-F238E27FC236}">
                <a16:creationId xmlns:a16="http://schemas.microsoft.com/office/drawing/2014/main" id="{21EF2EDA-3D93-72FC-F2FC-779EB111DA80}"/>
              </a:ext>
            </a:extLst>
          </p:cNvPr>
          <p:cNvGrpSpPr/>
          <p:nvPr/>
        </p:nvGrpSpPr>
        <p:grpSpPr>
          <a:xfrm>
            <a:off x="5592938" y="2038038"/>
            <a:ext cx="2813412" cy="738840"/>
            <a:chOff x="5367161" y="1956644"/>
            <a:chExt cx="2813412" cy="733203"/>
          </a:xfrm>
        </p:grpSpPr>
        <p:sp>
          <p:nvSpPr>
            <p:cNvPr id="57" name="矩形 56">
              <a:extLst>
                <a:ext uri="{FF2B5EF4-FFF2-40B4-BE49-F238E27FC236}">
                  <a16:creationId xmlns:a16="http://schemas.microsoft.com/office/drawing/2014/main" id="{BF8F8D13-9E03-AB21-3107-9AE8C2074AC0}"/>
                </a:ext>
              </a:extLst>
            </p:cNvPr>
            <p:cNvSpPr/>
            <p:nvPr/>
          </p:nvSpPr>
          <p:spPr>
            <a:xfrm>
              <a:off x="7874615" y="2037727"/>
              <a:ext cx="305958" cy="504056"/>
            </a:xfrm>
            <a:prstGeom prst="rect">
              <a:avLst/>
            </a:prstGeom>
            <a:solidFill>
              <a:schemeClr val="bg1">
                <a:alpha val="80000"/>
              </a:schemeClr>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dirty="0">
                  <a:solidFill>
                    <a:schemeClr val="tx1"/>
                  </a:solidFill>
                  <a:latin typeface="微軟正黑體" panose="020B0604030504040204" pitchFamily="34" charset="-120"/>
                  <a:ea typeface="微軟正黑體" panose="020B0604030504040204" pitchFamily="34" charset="-120"/>
                </a:rPr>
                <a:t>V</a:t>
              </a:r>
            </a:p>
          </p:txBody>
        </p:sp>
        <p:sp>
          <p:nvSpPr>
            <p:cNvPr id="70" name="左右中括弧 69">
              <a:extLst>
                <a:ext uri="{FF2B5EF4-FFF2-40B4-BE49-F238E27FC236}">
                  <a16:creationId xmlns:a16="http://schemas.microsoft.com/office/drawing/2014/main" id="{0846E78B-DE37-09F6-B908-E08C32E32479}"/>
                </a:ext>
              </a:extLst>
            </p:cNvPr>
            <p:cNvSpPr/>
            <p:nvPr/>
          </p:nvSpPr>
          <p:spPr>
            <a:xfrm>
              <a:off x="5788266" y="1976346"/>
              <a:ext cx="1190446" cy="575149"/>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72" name="矩形 71">
              <a:extLst>
                <a:ext uri="{FF2B5EF4-FFF2-40B4-BE49-F238E27FC236}">
                  <a16:creationId xmlns:a16="http://schemas.microsoft.com/office/drawing/2014/main" id="{0425A6A6-AEFB-EF05-54D7-A40F178B3C81}"/>
                </a:ext>
              </a:extLst>
            </p:cNvPr>
            <p:cNvSpPr/>
            <p:nvPr/>
          </p:nvSpPr>
          <p:spPr>
            <a:xfrm>
              <a:off x="5930489" y="2020208"/>
              <a:ext cx="298802" cy="504056"/>
            </a:xfrm>
            <a:prstGeom prst="rect">
              <a:avLst/>
            </a:prstGeom>
            <a:solidFill>
              <a:schemeClr val="bg1">
                <a:alpha val="80000"/>
              </a:schemeClr>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2000" dirty="0">
                  <a:solidFill>
                    <a:schemeClr val="tx1"/>
                  </a:solidFill>
                  <a:latin typeface="微軟正黑體" panose="020B0604030504040204" pitchFamily="34" charset="-120"/>
                  <a:ea typeface="微軟正黑體" panose="020B0604030504040204" pitchFamily="34" charset="-120"/>
                </a:rPr>
                <a:t>Q</a:t>
              </a:r>
            </a:p>
          </p:txBody>
        </p:sp>
        <p:sp>
          <p:nvSpPr>
            <p:cNvPr id="76" name="矩形 75">
              <a:extLst>
                <a:ext uri="{FF2B5EF4-FFF2-40B4-BE49-F238E27FC236}">
                  <a16:creationId xmlns:a16="http://schemas.microsoft.com/office/drawing/2014/main" id="{391FDFEE-4E39-F152-304E-97BA62A9C387}"/>
                </a:ext>
              </a:extLst>
            </p:cNvPr>
            <p:cNvSpPr/>
            <p:nvPr/>
          </p:nvSpPr>
          <p:spPr>
            <a:xfrm>
              <a:off x="5922740" y="2431750"/>
              <a:ext cx="298802" cy="95623"/>
            </a:xfrm>
            <a:prstGeom prst="rect">
              <a:avLst/>
            </a:prstGeom>
            <a:noFill/>
            <a:ln w="9525">
              <a:solidFill>
                <a:srgbClr val="FF0000"/>
              </a:solidFill>
              <a:prstDash val="dash"/>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600" baseline="-25000" dirty="0">
                <a:solidFill>
                  <a:schemeClr val="tx1"/>
                </a:solidFill>
                <a:latin typeface="微軟正黑體" panose="020B0604030504040204" pitchFamily="34" charset="-120"/>
                <a:ea typeface="微軟正黑體" panose="020B0604030504040204" pitchFamily="34" charset="-120"/>
              </a:endParaRPr>
            </a:p>
          </p:txBody>
        </p:sp>
        <p:sp>
          <p:nvSpPr>
            <p:cNvPr id="78" name="矩形 77">
              <a:extLst>
                <a:ext uri="{FF2B5EF4-FFF2-40B4-BE49-F238E27FC236}">
                  <a16:creationId xmlns:a16="http://schemas.microsoft.com/office/drawing/2014/main" id="{61850AAA-EAD0-0C84-5065-9178181E6239}"/>
                </a:ext>
              </a:extLst>
            </p:cNvPr>
            <p:cNvSpPr/>
            <p:nvPr/>
          </p:nvSpPr>
          <p:spPr>
            <a:xfrm>
              <a:off x="6347999" y="2113760"/>
              <a:ext cx="501145" cy="278694"/>
            </a:xfrm>
            <a:prstGeom prst="rect">
              <a:avLst/>
            </a:prstGeom>
            <a:solidFill>
              <a:schemeClr val="bg1">
                <a:alpha val="80000"/>
              </a:schemeClr>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algn="ctr">
                <a:lnSpc>
                  <a:spcPts val="1600"/>
                </a:lnSpc>
              </a:pPr>
              <a:r>
                <a:rPr lang="en-US" altLang="zh-TW" sz="2000" dirty="0">
                  <a:solidFill>
                    <a:schemeClr val="tx1"/>
                  </a:solidFill>
                  <a:latin typeface="微軟正黑體" panose="020B0604030504040204" pitchFamily="34" charset="-120"/>
                  <a:ea typeface="微軟正黑體" panose="020B0604030504040204" pitchFamily="34" charset="-120"/>
                </a:rPr>
                <a:t>K</a:t>
              </a:r>
              <a:r>
                <a:rPr lang="en-US" altLang="zh-TW" sz="1400" baseline="80000" dirty="0">
                  <a:solidFill>
                    <a:schemeClr val="tx1"/>
                  </a:solidFill>
                  <a:latin typeface="微軟正黑體" panose="020B0604030504040204" pitchFamily="34" charset="-120"/>
                  <a:ea typeface="微軟正黑體" panose="020B0604030504040204" pitchFamily="34" charset="-120"/>
                </a:rPr>
                <a:t>T</a:t>
              </a:r>
            </a:p>
          </p:txBody>
        </p:sp>
        <p:sp>
          <p:nvSpPr>
            <p:cNvPr id="79" name="矩形 78">
              <a:extLst>
                <a:ext uri="{FF2B5EF4-FFF2-40B4-BE49-F238E27FC236}">
                  <a16:creationId xmlns:a16="http://schemas.microsoft.com/office/drawing/2014/main" id="{E9B41A6D-CB9F-8897-7EE5-717EA176BCC0}"/>
                </a:ext>
              </a:extLst>
            </p:cNvPr>
            <p:cNvSpPr/>
            <p:nvPr/>
          </p:nvSpPr>
          <p:spPr>
            <a:xfrm>
              <a:off x="6754437" y="2104422"/>
              <a:ext cx="87680" cy="275427"/>
            </a:xfrm>
            <a:prstGeom prst="rect">
              <a:avLst/>
            </a:prstGeom>
            <a:noFill/>
            <a:ln w="9525">
              <a:solidFill>
                <a:srgbClr val="FF0000"/>
              </a:solidFill>
              <a:prstDash val="dash"/>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600" baseline="-25000" dirty="0">
                <a:solidFill>
                  <a:schemeClr val="tx1"/>
                </a:solidFill>
                <a:latin typeface="微軟正黑體" panose="020B0604030504040204" pitchFamily="34" charset="-120"/>
                <a:ea typeface="微軟正黑體" panose="020B0604030504040204" pitchFamily="34" charset="-120"/>
              </a:endParaRPr>
            </a:p>
          </p:txBody>
        </p:sp>
        <p:sp>
          <p:nvSpPr>
            <p:cNvPr id="80" name="文字方塊 79">
              <a:extLst>
                <a:ext uri="{FF2B5EF4-FFF2-40B4-BE49-F238E27FC236}">
                  <a16:creationId xmlns:a16="http://schemas.microsoft.com/office/drawing/2014/main" id="{75E5CE86-5FD9-82F7-2F79-C30E2E6AEACA}"/>
                </a:ext>
              </a:extLst>
            </p:cNvPr>
            <p:cNvSpPr txBox="1"/>
            <p:nvPr/>
          </p:nvSpPr>
          <p:spPr>
            <a:xfrm>
              <a:off x="6921152" y="2105207"/>
              <a:ext cx="286745" cy="278693"/>
            </a:xfrm>
            <a:prstGeom prst="rect">
              <a:avLst/>
            </a:prstGeom>
            <a:noFill/>
          </p:spPr>
          <p:txBody>
            <a:bodyPr wrap="none" lIns="0" tIns="0" rIns="0" bIns="0" rtlCol="0" anchor="ctr" anchorCtr="1">
              <a:noAutofit/>
            </a:bodyPr>
            <a:lstStyle/>
            <a:p>
              <a:pPr algn="ctr"/>
              <a:r>
                <a:rPr lang="az-Cyrl-AZ" altLang="zh-TW" sz="1400" dirty="0"/>
                <a:t>ꚛ</a:t>
              </a:r>
              <a:endParaRPr lang="zh-TW" altLang="en-US" sz="1400" dirty="0"/>
            </a:p>
          </p:txBody>
        </p:sp>
        <mc:AlternateContent xmlns:mc="http://schemas.openxmlformats.org/markup-compatibility/2006" xmlns:a14="http://schemas.microsoft.com/office/drawing/2010/main">
          <mc:Choice Requires="a14">
            <p:sp>
              <p:nvSpPr>
                <p:cNvPr id="81" name="文字方塊 80">
                  <a:extLst>
                    <a:ext uri="{FF2B5EF4-FFF2-40B4-BE49-F238E27FC236}">
                      <a16:creationId xmlns:a16="http://schemas.microsoft.com/office/drawing/2014/main" id="{F63D7D1E-5656-A894-F761-3CDC029E0567}"/>
                    </a:ext>
                  </a:extLst>
                </p:cNvPr>
                <p:cNvSpPr txBox="1"/>
                <p:nvPr/>
              </p:nvSpPr>
              <p:spPr>
                <a:xfrm>
                  <a:off x="5396859" y="2060515"/>
                  <a:ext cx="319062" cy="424412"/>
                </a:xfrm>
                <a:prstGeom prst="rect">
                  <a:avLst/>
                </a:prstGeom>
                <a:noFill/>
              </p:spPr>
              <p:txBody>
                <a:bodyPr wrap="none" lIns="0" tIns="0" rIns="0" bIns="0" rtlCol="0">
                  <a:spAutoFit/>
                </a:bodyPr>
                <a:lstStyle/>
                <a:p>
                  <a:pPr/>
                  <a14:m>
                    <m:oMathPara xmlns:m="http://schemas.openxmlformats.org/officeDocument/2006/math">
                      <m:oMath>
                        <m:f>
                          <m:fPr>
                            <m:ctrlPr>
                              <a:rPr lang="zh-TW" altLang="en-US" sz="1200">
                                <a:latin typeface="Cambria Math" panose="02040503050406030204" pitchFamily="18" charset="0"/>
                              </a:rPr>
                            </m:ctrlPr>
                          </m:fPr>
                          <m:num>
                            <m:r>
                              <a:rPr lang="zh-TW" altLang="en-US" sz="1200">
                                <a:latin typeface="Cambria Math" panose="02040503050406030204" pitchFamily="18" charset="0"/>
                              </a:rPr>
                              <m:t>1</m:t>
                            </m:r>
                          </m:num>
                          <m:den>
                            <m:rad>
                              <m:radPr>
                                <m:degHide m:val="on"/>
                                <m:ctrlPr>
                                  <a:rPr lang="zh-TW" altLang="en-US" sz="1200" i="1">
                                    <a:latin typeface="Cambria Math" panose="02040503050406030204" pitchFamily="18" charset="0"/>
                                  </a:rPr>
                                </m:ctrlPr>
                              </m:radPr>
                              <m:deg/>
                              <m:e>
                                <m:sSub>
                                  <m:sSubPr>
                                    <m:ctrlPr>
                                      <a:rPr lang="zh-TW" altLang="en-US" sz="1200" i="1">
                                        <a:latin typeface="Cambria Math" panose="02040503050406030204" pitchFamily="18" charset="0"/>
                                      </a:rPr>
                                    </m:ctrlPr>
                                  </m:sSubPr>
                                  <m:e>
                                    <m:r>
                                      <a:rPr lang="zh-TW" altLang="en-US" sz="1200" i="1">
                                        <a:latin typeface="Cambria Math" panose="02040503050406030204" pitchFamily="18" charset="0"/>
                                      </a:rPr>
                                      <m:t>𝑑</m:t>
                                    </m:r>
                                  </m:e>
                                  <m:sub>
                                    <m:r>
                                      <a:rPr lang="zh-TW" altLang="en-US" sz="1200" i="1">
                                        <a:latin typeface="Cambria Math" panose="02040503050406030204" pitchFamily="18" charset="0"/>
                                      </a:rPr>
                                      <m:t>ℎ</m:t>
                                    </m:r>
                                  </m:sub>
                                </m:sSub>
                              </m:e>
                            </m:rad>
                          </m:den>
                        </m:f>
                      </m:oMath>
                    </m:oMathPara>
                  </a14:m>
                  <a:endParaRPr lang="zh-TW" altLang="en-US" sz="1200" dirty="0"/>
                </a:p>
              </p:txBody>
            </p:sp>
          </mc:Choice>
          <mc:Fallback xmlns="">
            <p:sp>
              <p:nvSpPr>
                <p:cNvPr id="81" name="文字方塊 80">
                  <a:extLst>
                    <a:ext uri="{FF2B5EF4-FFF2-40B4-BE49-F238E27FC236}">
                      <a16:creationId xmlns:a16="http://schemas.microsoft.com/office/drawing/2014/main" id="{F63D7D1E-5656-A894-F761-3CDC029E0567}"/>
                    </a:ext>
                  </a:extLst>
                </p:cNvPr>
                <p:cNvSpPr txBox="1">
                  <a:spLocks noRot="1" noChangeAspect="1" noMove="1" noResize="1" noEditPoints="1" noAdjustHandles="1" noChangeArrowheads="1" noChangeShapeType="1" noTextEdit="1"/>
                </p:cNvSpPr>
                <p:nvPr/>
              </p:nvSpPr>
              <p:spPr>
                <a:xfrm>
                  <a:off x="5396859" y="2060515"/>
                  <a:ext cx="319062" cy="424412"/>
                </a:xfrm>
                <a:prstGeom prst="rect">
                  <a:avLst/>
                </a:prstGeom>
                <a:blipFill>
                  <a:blip r:embed="rId3"/>
                  <a:stretch>
                    <a:fillRect t="-2899" r="-1923" b="-4348"/>
                  </a:stretch>
                </a:blipFill>
              </p:spPr>
              <p:txBody>
                <a:bodyPr/>
                <a:lstStyle/>
                <a:p>
                  <a:r>
                    <a:rPr lang="zh-TW" altLang="en-US">
                      <a:noFill/>
                    </a:rPr>
                    <a:t> </a:t>
                  </a:r>
                </a:p>
              </p:txBody>
            </p:sp>
          </mc:Fallback>
        </mc:AlternateContent>
        <p:sp>
          <p:nvSpPr>
            <p:cNvPr id="82" name="矩形 81">
              <a:extLst>
                <a:ext uri="{FF2B5EF4-FFF2-40B4-BE49-F238E27FC236}">
                  <a16:creationId xmlns:a16="http://schemas.microsoft.com/office/drawing/2014/main" id="{5E8A929B-9B2E-7F1C-D830-9DDFCF071C7E}"/>
                </a:ext>
              </a:extLst>
            </p:cNvPr>
            <p:cNvSpPr/>
            <p:nvPr/>
          </p:nvSpPr>
          <p:spPr>
            <a:xfrm>
              <a:off x="7203738" y="2031377"/>
              <a:ext cx="392598" cy="511490"/>
            </a:xfrm>
            <a:prstGeom prst="rect">
              <a:avLst/>
            </a:prstGeom>
            <a:solidFill>
              <a:schemeClr val="bg1">
                <a:alpha val="80000"/>
              </a:schemeClr>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182880" rIns="182880" bIns="0" rtlCol="0" anchor="ctr" anchorCtr="1"/>
            <a:lstStyle/>
            <a:p>
              <a:pPr algn="ctr">
                <a:lnSpc>
                  <a:spcPts val="1600"/>
                </a:lnSpc>
              </a:pPr>
              <a:endParaRPr lang="en-US" altLang="zh-TW" sz="1400" baseline="80000" dirty="0">
                <a:solidFill>
                  <a:schemeClr val="tx1"/>
                </a:solidFill>
                <a:latin typeface="微軟正黑體" panose="020B0604030504040204" pitchFamily="34" charset="-120"/>
                <a:ea typeface="微軟正黑體" panose="020B0604030504040204" pitchFamily="34" charset="-120"/>
              </a:endParaRPr>
            </a:p>
          </p:txBody>
        </p:sp>
        <p:sp>
          <p:nvSpPr>
            <p:cNvPr id="83" name="直角三角形 82">
              <a:extLst>
                <a:ext uri="{FF2B5EF4-FFF2-40B4-BE49-F238E27FC236}">
                  <a16:creationId xmlns:a16="http://schemas.microsoft.com/office/drawing/2014/main" id="{0614F978-3824-C923-4FA5-D5B7F8412463}"/>
                </a:ext>
              </a:extLst>
            </p:cNvPr>
            <p:cNvSpPr/>
            <p:nvPr/>
          </p:nvSpPr>
          <p:spPr>
            <a:xfrm rot="10800000">
              <a:off x="7208539" y="2040399"/>
              <a:ext cx="360040" cy="503601"/>
            </a:xfrm>
            <a:prstGeom prst="rtTriangle">
              <a:avLst/>
            </a:prstGeom>
            <a:solidFill>
              <a:schemeClr val="tx1"/>
            </a:solidFill>
            <a:ln w="127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az-Cyrl-AZ" altLang="zh-TW" sz="1200" b="1" dirty="0">
                  <a:solidFill>
                    <a:srgbClr val="FFFF00"/>
                  </a:solidFill>
                </a:rPr>
                <a:t>ꚙ</a:t>
              </a:r>
              <a:r>
                <a:rPr lang="en-US" altLang="zh-TW" sz="1200" b="1" dirty="0">
                  <a:solidFill>
                    <a:srgbClr val="FFFF00"/>
                  </a:solidFill>
                </a:rPr>
                <a:t>-</a:t>
              </a:r>
              <a:endParaRPr lang="zh-TW" altLang="en-US" sz="1200" b="1" dirty="0">
                <a:solidFill>
                  <a:srgbClr val="FFFF00"/>
                </a:solidFill>
              </a:endParaRPr>
            </a:p>
          </p:txBody>
        </p:sp>
        <p:sp>
          <p:nvSpPr>
            <p:cNvPr id="120" name="左中括弧 119">
              <a:extLst>
                <a:ext uri="{FF2B5EF4-FFF2-40B4-BE49-F238E27FC236}">
                  <a16:creationId xmlns:a16="http://schemas.microsoft.com/office/drawing/2014/main" id="{5D7BC184-02C2-7DE4-133C-A739B5E71281}"/>
                </a:ext>
              </a:extLst>
            </p:cNvPr>
            <p:cNvSpPr/>
            <p:nvPr/>
          </p:nvSpPr>
          <p:spPr>
            <a:xfrm>
              <a:off x="5367161" y="1969646"/>
              <a:ext cx="59182" cy="72020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121" name="左中括弧 120">
              <a:extLst>
                <a:ext uri="{FF2B5EF4-FFF2-40B4-BE49-F238E27FC236}">
                  <a16:creationId xmlns:a16="http://schemas.microsoft.com/office/drawing/2014/main" id="{343217DE-F8C6-2ACD-437F-0DD31634649C}"/>
                </a:ext>
              </a:extLst>
            </p:cNvPr>
            <p:cNvSpPr/>
            <p:nvPr/>
          </p:nvSpPr>
          <p:spPr>
            <a:xfrm flipH="1">
              <a:off x="7638657" y="1956644"/>
              <a:ext cx="65654" cy="713894"/>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123" name="文字方塊 122">
              <a:extLst>
                <a:ext uri="{FF2B5EF4-FFF2-40B4-BE49-F238E27FC236}">
                  <a16:creationId xmlns:a16="http://schemas.microsoft.com/office/drawing/2014/main" id="{E532109A-97ED-0949-9EF2-4CD995CB4254}"/>
                </a:ext>
              </a:extLst>
            </p:cNvPr>
            <p:cNvSpPr txBox="1"/>
            <p:nvPr/>
          </p:nvSpPr>
          <p:spPr>
            <a:xfrm>
              <a:off x="7730599" y="2180763"/>
              <a:ext cx="123067" cy="217983"/>
            </a:xfrm>
            <a:prstGeom prst="rect">
              <a:avLst/>
            </a:prstGeom>
            <a:noFill/>
          </p:spPr>
          <p:txBody>
            <a:bodyPr wrap="none" lIns="0" tIns="0" rIns="0" bIns="0" rtlCol="0" anchor="ctr" anchorCtr="1">
              <a:noAutofit/>
            </a:bodyPr>
            <a:lstStyle/>
            <a:p>
              <a:pPr algn="ctr"/>
              <a:r>
                <a:rPr lang="en-US" altLang="zh-TW" sz="1200" dirty="0"/>
                <a:t>x</a:t>
              </a:r>
              <a:endParaRPr lang="zh-TW" altLang="en-US" sz="1200" dirty="0"/>
            </a:p>
          </p:txBody>
        </p:sp>
      </p:grpSp>
      <p:sp>
        <p:nvSpPr>
          <p:cNvPr id="131" name="矩形 130">
            <a:extLst>
              <a:ext uri="{FF2B5EF4-FFF2-40B4-BE49-F238E27FC236}">
                <a16:creationId xmlns:a16="http://schemas.microsoft.com/office/drawing/2014/main" id="{D2E41A05-6318-000C-98AB-E11C7639A576}"/>
              </a:ext>
            </a:extLst>
          </p:cNvPr>
          <p:cNvSpPr/>
          <p:nvPr/>
        </p:nvSpPr>
        <p:spPr>
          <a:xfrm>
            <a:off x="2888130" y="3989528"/>
            <a:ext cx="531742" cy="1416043"/>
          </a:xfrm>
          <a:prstGeom prst="rect">
            <a:avLst/>
          </a:prstGeom>
          <a:no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2000" dirty="0">
                <a:solidFill>
                  <a:schemeClr val="tx1"/>
                </a:solidFill>
                <a:latin typeface="微軟正黑體" panose="020B0604030504040204" pitchFamily="34" charset="-120"/>
                <a:ea typeface="微軟正黑體" panose="020B0604030504040204" pitchFamily="34" charset="-120"/>
              </a:rPr>
              <a:t>Q</a:t>
            </a:r>
          </a:p>
        </p:txBody>
      </p:sp>
      <p:sp>
        <p:nvSpPr>
          <p:cNvPr id="132" name="矩形 131">
            <a:extLst>
              <a:ext uri="{FF2B5EF4-FFF2-40B4-BE49-F238E27FC236}">
                <a16:creationId xmlns:a16="http://schemas.microsoft.com/office/drawing/2014/main" id="{DCAE6307-0F7E-FDF4-922D-4553336DFD54}"/>
              </a:ext>
            </a:extLst>
          </p:cNvPr>
          <p:cNvSpPr/>
          <p:nvPr/>
        </p:nvSpPr>
        <p:spPr>
          <a:xfrm rot="16200000">
            <a:off x="4102163" y="3941822"/>
            <a:ext cx="531742" cy="1416043"/>
          </a:xfrm>
          <a:prstGeom prst="rect">
            <a:avLst/>
          </a:prstGeom>
          <a:no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wrap="none" lIns="0" tIns="0" rIns="0" bIns="0" rtlCol="0" anchor="ctr" anchorCtr="1"/>
          <a:lstStyle/>
          <a:p>
            <a:pPr algn="ctr">
              <a:lnSpc>
                <a:spcPts val="1600"/>
              </a:lnSpc>
            </a:pPr>
            <a:r>
              <a:rPr lang="en-US" altLang="zh-TW" sz="2000" dirty="0">
                <a:solidFill>
                  <a:schemeClr val="tx1"/>
                </a:solidFill>
                <a:latin typeface="微軟正黑體" panose="020B0604030504040204" pitchFamily="34" charset="-120"/>
                <a:ea typeface="微軟正黑體" panose="020B0604030504040204" pitchFamily="34" charset="-120"/>
              </a:rPr>
              <a:t>K</a:t>
            </a:r>
          </a:p>
        </p:txBody>
      </p:sp>
      <p:sp>
        <p:nvSpPr>
          <p:cNvPr id="139" name="矩形 138">
            <a:extLst>
              <a:ext uri="{FF2B5EF4-FFF2-40B4-BE49-F238E27FC236}">
                <a16:creationId xmlns:a16="http://schemas.microsoft.com/office/drawing/2014/main" id="{27E23837-6FAD-C75E-463A-AA3C4E0A8D8A}"/>
              </a:ext>
            </a:extLst>
          </p:cNvPr>
          <p:cNvSpPr/>
          <p:nvPr/>
        </p:nvSpPr>
        <p:spPr>
          <a:xfrm>
            <a:off x="956783" y="4008306"/>
            <a:ext cx="1416044" cy="1416043"/>
          </a:xfrm>
          <a:prstGeom prst="rect">
            <a:avLst/>
          </a:prstGeom>
          <a:no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2000" dirty="0">
                <a:solidFill>
                  <a:schemeClr val="tx1"/>
                </a:solidFill>
                <a:latin typeface="微軟正黑體" panose="020B0604030504040204" pitchFamily="34" charset="-120"/>
                <a:ea typeface="微軟正黑體" panose="020B0604030504040204" pitchFamily="34" charset="-120"/>
              </a:rPr>
              <a:t>QK</a:t>
            </a:r>
          </a:p>
          <a:p>
            <a:pPr algn="ctr">
              <a:lnSpc>
                <a:spcPts val="1600"/>
              </a:lnSpc>
            </a:pPr>
            <a:r>
              <a:rPr lang="en-US" altLang="zh-TW" sz="1200" b="1" dirty="0">
                <a:solidFill>
                  <a:schemeClr val="tx1"/>
                </a:solidFill>
                <a:latin typeface="微軟正黑體" panose="020B0604030504040204" pitchFamily="34" charset="-120"/>
                <a:ea typeface="微軟正黑體" panose="020B0604030504040204" pitchFamily="34" charset="-120"/>
              </a:rPr>
              <a:t>Cache</a:t>
            </a:r>
          </a:p>
        </p:txBody>
      </p:sp>
      <p:cxnSp>
        <p:nvCxnSpPr>
          <p:cNvPr id="140" name="直線接點 139">
            <a:extLst>
              <a:ext uri="{FF2B5EF4-FFF2-40B4-BE49-F238E27FC236}">
                <a16:creationId xmlns:a16="http://schemas.microsoft.com/office/drawing/2014/main" id="{F48C0D5E-47CC-7A48-647B-3CDFA9F9E10E}"/>
              </a:ext>
            </a:extLst>
          </p:cNvPr>
          <p:cNvCxnSpPr>
            <a:cxnSpLocks/>
          </p:cNvCxnSpPr>
          <p:nvPr/>
        </p:nvCxnSpPr>
        <p:spPr>
          <a:xfrm>
            <a:off x="956784" y="4002421"/>
            <a:ext cx="1416043" cy="1421928"/>
          </a:xfrm>
          <a:prstGeom prst="line">
            <a:avLst/>
          </a:prstGeom>
        </p:spPr>
        <p:style>
          <a:lnRef idx="1">
            <a:schemeClr val="accent1"/>
          </a:lnRef>
          <a:fillRef idx="0">
            <a:schemeClr val="accent1"/>
          </a:fillRef>
          <a:effectRef idx="0">
            <a:schemeClr val="accent1"/>
          </a:effectRef>
          <a:fontRef idx="minor">
            <a:schemeClr val="tx1"/>
          </a:fontRef>
        </p:style>
      </p:cxnSp>
      <p:sp>
        <p:nvSpPr>
          <p:cNvPr id="145" name="矩形 144">
            <a:extLst>
              <a:ext uri="{FF2B5EF4-FFF2-40B4-BE49-F238E27FC236}">
                <a16:creationId xmlns:a16="http://schemas.microsoft.com/office/drawing/2014/main" id="{4AA218F1-0101-BE93-2018-D360744DF41B}"/>
              </a:ext>
            </a:extLst>
          </p:cNvPr>
          <p:cNvSpPr/>
          <p:nvPr/>
        </p:nvSpPr>
        <p:spPr>
          <a:xfrm>
            <a:off x="956782" y="5274862"/>
            <a:ext cx="1416042" cy="149487"/>
          </a:xfrm>
          <a:prstGeom prst="rect">
            <a:avLst/>
          </a:prstGeom>
          <a:gradFill flip="none" rotWithShape="1">
            <a:gsLst>
              <a:gs pos="0">
                <a:schemeClr val="bg1"/>
              </a:gs>
              <a:gs pos="100000">
                <a:schemeClr val="accent6">
                  <a:lumMod val="60000"/>
                  <a:lumOff val="40000"/>
                </a:schemeClr>
              </a:gs>
            </a:gsLst>
            <a:lin ang="10800000" scaled="1"/>
            <a:tileRect/>
          </a:gradFill>
          <a:ln w="9525">
            <a:solidFill>
              <a:srgbClr val="FF0000"/>
            </a:solidFill>
            <a:prstDash val="dash"/>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accent2"/>
                </a:solidFill>
                <a:latin typeface="微軟正黑體" panose="020B0604030504040204" pitchFamily="34" charset="-120"/>
                <a:ea typeface="微軟正黑體" panose="020B0604030504040204" pitchFamily="34" charset="-120"/>
              </a:rPr>
              <a:t>token</a:t>
            </a:r>
          </a:p>
        </p:txBody>
      </p:sp>
      <p:sp>
        <p:nvSpPr>
          <p:cNvPr id="146" name="矩形 145">
            <a:extLst>
              <a:ext uri="{FF2B5EF4-FFF2-40B4-BE49-F238E27FC236}">
                <a16:creationId xmlns:a16="http://schemas.microsoft.com/office/drawing/2014/main" id="{F9ED9B25-56F9-303B-D500-502B8B68F75C}"/>
              </a:ext>
            </a:extLst>
          </p:cNvPr>
          <p:cNvSpPr/>
          <p:nvPr/>
        </p:nvSpPr>
        <p:spPr>
          <a:xfrm>
            <a:off x="2888130" y="5274862"/>
            <a:ext cx="531742" cy="149487"/>
          </a:xfrm>
          <a:prstGeom prst="rect">
            <a:avLst/>
          </a:prstGeom>
          <a:gradFill flip="none" rotWithShape="1">
            <a:gsLst>
              <a:gs pos="0">
                <a:schemeClr val="bg1"/>
              </a:gs>
              <a:gs pos="100000">
                <a:schemeClr val="accent6">
                  <a:lumMod val="60000"/>
                  <a:lumOff val="40000"/>
                </a:schemeClr>
              </a:gs>
            </a:gsLst>
            <a:lin ang="10800000" scaled="1"/>
            <a:tileRect/>
          </a:gradFill>
          <a:ln w="9525">
            <a:solidFill>
              <a:srgbClr val="FF0000"/>
            </a:solidFill>
            <a:prstDash val="dash"/>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accent2"/>
                </a:solidFill>
                <a:latin typeface="微軟正黑體" panose="020B0604030504040204" pitchFamily="34" charset="-120"/>
                <a:ea typeface="微軟正黑體" panose="020B0604030504040204" pitchFamily="34" charset="-120"/>
              </a:rPr>
              <a:t>q</a:t>
            </a:r>
          </a:p>
        </p:txBody>
      </p:sp>
      <p:sp>
        <p:nvSpPr>
          <p:cNvPr id="147" name="矩形 146">
            <a:extLst>
              <a:ext uri="{FF2B5EF4-FFF2-40B4-BE49-F238E27FC236}">
                <a16:creationId xmlns:a16="http://schemas.microsoft.com/office/drawing/2014/main" id="{116F7E5F-4903-98D5-9B7E-AB3E68001B22}"/>
              </a:ext>
            </a:extLst>
          </p:cNvPr>
          <p:cNvSpPr/>
          <p:nvPr/>
        </p:nvSpPr>
        <p:spPr>
          <a:xfrm>
            <a:off x="3988873" y="4369867"/>
            <a:ext cx="151079" cy="550426"/>
          </a:xfrm>
          <a:prstGeom prst="rect">
            <a:avLst/>
          </a:prstGeom>
          <a:gradFill flip="none" rotWithShape="1">
            <a:gsLst>
              <a:gs pos="0">
                <a:schemeClr val="bg1"/>
              </a:gs>
              <a:gs pos="100000">
                <a:schemeClr val="accent6">
                  <a:lumMod val="60000"/>
                  <a:lumOff val="40000"/>
                </a:schemeClr>
              </a:gs>
            </a:gsLst>
            <a:lin ang="16200000" scaled="1"/>
            <a:tileRect/>
          </a:gradFill>
          <a:ln w="9525">
            <a:solidFill>
              <a:srgbClr val="FF0000"/>
            </a:solidFill>
            <a:prstDash val="dash"/>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accent2"/>
                </a:solidFill>
                <a:latin typeface="微軟正黑體" panose="020B0604030504040204" pitchFamily="34" charset="-120"/>
                <a:ea typeface="微軟正黑體" panose="020B0604030504040204" pitchFamily="34" charset="-120"/>
              </a:rPr>
              <a:t>k</a:t>
            </a:r>
          </a:p>
        </p:txBody>
      </p:sp>
      <p:sp>
        <p:nvSpPr>
          <p:cNvPr id="150" name="矩形 149">
            <a:extLst>
              <a:ext uri="{FF2B5EF4-FFF2-40B4-BE49-F238E27FC236}">
                <a16:creationId xmlns:a16="http://schemas.microsoft.com/office/drawing/2014/main" id="{8C9D97CF-B202-7104-D3C9-612C0A5C7434}"/>
              </a:ext>
            </a:extLst>
          </p:cNvPr>
          <p:cNvSpPr/>
          <p:nvPr/>
        </p:nvSpPr>
        <p:spPr>
          <a:xfrm>
            <a:off x="943914" y="4200213"/>
            <a:ext cx="171702" cy="156353"/>
          </a:xfrm>
          <a:prstGeom prst="rect">
            <a:avLst/>
          </a:prstGeom>
          <a:solidFill>
            <a:schemeClr val="bg1">
              <a:lumMod val="85000"/>
              <a:alpha val="40000"/>
            </a:schemeClr>
          </a:solidFill>
          <a:ln w="9525">
            <a:solidFill>
              <a:schemeClr val="tx1">
                <a:lumMod val="50000"/>
                <a:lumOff val="50000"/>
              </a:schemeClr>
            </a:solidFill>
            <a:prstDash val="dash"/>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accent1">
                    <a:lumMod val="75000"/>
                  </a:schemeClr>
                </a:solidFill>
                <a:latin typeface="微軟正黑體" panose="020B0604030504040204" pitchFamily="34" charset="-120"/>
                <a:ea typeface="微軟正黑體" panose="020B0604030504040204" pitchFamily="34" charset="-120"/>
              </a:rPr>
              <a:t>x</a:t>
            </a:r>
          </a:p>
        </p:txBody>
      </p:sp>
      <p:sp>
        <p:nvSpPr>
          <p:cNvPr id="155" name="文字方塊 154">
            <a:extLst>
              <a:ext uri="{FF2B5EF4-FFF2-40B4-BE49-F238E27FC236}">
                <a16:creationId xmlns:a16="http://schemas.microsoft.com/office/drawing/2014/main" id="{CC038A0D-3ABF-A8B9-2BE9-F34133F62019}"/>
              </a:ext>
            </a:extLst>
          </p:cNvPr>
          <p:cNvSpPr txBox="1"/>
          <p:nvPr/>
        </p:nvSpPr>
        <p:spPr>
          <a:xfrm>
            <a:off x="3542561" y="5147900"/>
            <a:ext cx="585866" cy="369332"/>
          </a:xfrm>
          <a:prstGeom prst="rect">
            <a:avLst/>
          </a:prstGeom>
          <a:noFill/>
        </p:spPr>
        <p:txBody>
          <a:bodyPr wrap="none" rtlCol="0">
            <a:spAutoFit/>
          </a:bodyPr>
          <a:lstStyle/>
          <a:p>
            <a:r>
              <a:rPr lang="en-US" altLang="zh-TW" dirty="0"/>
              <a:t>new</a:t>
            </a:r>
            <a:endParaRPr lang="zh-TW" altLang="en-US" dirty="0"/>
          </a:p>
        </p:txBody>
      </p:sp>
      <p:sp>
        <p:nvSpPr>
          <p:cNvPr id="161" name="矩形 160">
            <a:extLst>
              <a:ext uri="{FF2B5EF4-FFF2-40B4-BE49-F238E27FC236}">
                <a16:creationId xmlns:a16="http://schemas.microsoft.com/office/drawing/2014/main" id="{5DE78BFE-EDA2-B825-6D13-D9A6B125228E}"/>
              </a:ext>
            </a:extLst>
          </p:cNvPr>
          <p:cNvSpPr/>
          <p:nvPr/>
        </p:nvSpPr>
        <p:spPr>
          <a:xfrm>
            <a:off x="3635896" y="4379392"/>
            <a:ext cx="171702" cy="536323"/>
          </a:xfrm>
          <a:prstGeom prst="rect">
            <a:avLst/>
          </a:prstGeom>
          <a:gradFill flip="none" rotWithShape="1">
            <a:gsLst>
              <a:gs pos="0">
                <a:schemeClr val="bg1"/>
              </a:gs>
              <a:gs pos="100000">
                <a:schemeClr val="accent6">
                  <a:lumMod val="60000"/>
                  <a:lumOff val="40000"/>
                </a:schemeClr>
              </a:gs>
            </a:gsLst>
            <a:lin ang="16200000" scaled="1"/>
            <a:tileRect/>
          </a:gradFill>
          <a:ln w="9525">
            <a:solidFill>
              <a:srgbClr val="FF0000"/>
            </a:solidFill>
            <a:prstDash val="dash"/>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accent2"/>
                </a:solidFill>
                <a:latin typeface="微軟正黑體" panose="020B0604030504040204" pitchFamily="34" charset="-120"/>
                <a:ea typeface="微軟正黑體" panose="020B0604030504040204" pitchFamily="34" charset="-120"/>
              </a:rPr>
              <a:t>k</a:t>
            </a:r>
          </a:p>
        </p:txBody>
      </p:sp>
      <p:sp>
        <p:nvSpPr>
          <p:cNvPr id="162" name="矩形 161">
            <a:extLst>
              <a:ext uri="{FF2B5EF4-FFF2-40B4-BE49-F238E27FC236}">
                <a16:creationId xmlns:a16="http://schemas.microsoft.com/office/drawing/2014/main" id="{74765AE3-2FF0-401F-03FC-F1A6F4BBC62F}"/>
              </a:ext>
            </a:extLst>
          </p:cNvPr>
          <p:cNvSpPr/>
          <p:nvPr/>
        </p:nvSpPr>
        <p:spPr>
          <a:xfrm>
            <a:off x="3635896" y="4300173"/>
            <a:ext cx="171702" cy="156353"/>
          </a:xfrm>
          <a:prstGeom prst="rect">
            <a:avLst/>
          </a:prstGeom>
          <a:solidFill>
            <a:schemeClr val="bg1">
              <a:lumMod val="85000"/>
              <a:alpha val="40000"/>
            </a:schemeClr>
          </a:solidFill>
          <a:ln w="9525">
            <a:solidFill>
              <a:schemeClr val="tx1">
                <a:lumMod val="50000"/>
                <a:lumOff val="50000"/>
              </a:schemeClr>
            </a:solidFill>
            <a:prstDash val="dash"/>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accent1">
                    <a:lumMod val="75000"/>
                  </a:schemeClr>
                </a:solidFill>
                <a:latin typeface="微軟正黑體" panose="020B0604030504040204" pitchFamily="34" charset="-120"/>
                <a:ea typeface="微軟正黑體" panose="020B0604030504040204" pitchFamily="34" charset="-120"/>
              </a:rPr>
              <a:t>x</a:t>
            </a:r>
          </a:p>
        </p:txBody>
      </p:sp>
      <p:sp>
        <p:nvSpPr>
          <p:cNvPr id="163" name="矩形 162">
            <a:extLst>
              <a:ext uri="{FF2B5EF4-FFF2-40B4-BE49-F238E27FC236}">
                <a16:creationId xmlns:a16="http://schemas.microsoft.com/office/drawing/2014/main" id="{36339F44-4251-31BE-04DB-907A73D27E0F}"/>
              </a:ext>
            </a:extLst>
          </p:cNvPr>
          <p:cNvSpPr/>
          <p:nvPr/>
        </p:nvSpPr>
        <p:spPr>
          <a:xfrm>
            <a:off x="3988873" y="4303606"/>
            <a:ext cx="151079" cy="144438"/>
          </a:xfrm>
          <a:prstGeom prst="rect">
            <a:avLst/>
          </a:prstGeom>
          <a:solidFill>
            <a:schemeClr val="bg1">
              <a:alpha val="40000"/>
            </a:schemeClr>
          </a:solidFill>
          <a:ln w="9525">
            <a:solidFill>
              <a:srgbClr val="FF0000"/>
            </a:solidFill>
            <a:prstDash val="dash"/>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200" b="1" dirty="0">
              <a:solidFill>
                <a:schemeClr val="accent2"/>
              </a:solidFill>
              <a:latin typeface="微軟正黑體" panose="020B0604030504040204" pitchFamily="34" charset="-120"/>
              <a:ea typeface="微軟正黑體" panose="020B0604030504040204" pitchFamily="34" charset="-120"/>
            </a:endParaRPr>
          </a:p>
        </p:txBody>
      </p:sp>
      <p:cxnSp>
        <p:nvCxnSpPr>
          <p:cNvPr id="165" name="直線單箭頭接點 164">
            <a:extLst>
              <a:ext uri="{FF2B5EF4-FFF2-40B4-BE49-F238E27FC236}">
                <a16:creationId xmlns:a16="http://schemas.microsoft.com/office/drawing/2014/main" id="{58023D4A-518B-BD5F-4288-628FCE1031CA}"/>
              </a:ext>
            </a:extLst>
          </p:cNvPr>
          <p:cNvCxnSpPr>
            <a:stCxn id="158" idx="0"/>
            <a:endCxn id="150" idx="2"/>
          </p:cNvCxnSpPr>
          <p:nvPr/>
        </p:nvCxnSpPr>
        <p:spPr>
          <a:xfrm flipV="1">
            <a:off x="1029765" y="4356566"/>
            <a:ext cx="0" cy="8517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9" name="矩形 168">
            <a:extLst>
              <a:ext uri="{FF2B5EF4-FFF2-40B4-BE49-F238E27FC236}">
                <a16:creationId xmlns:a16="http://schemas.microsoft.com/office/drawing/2014/main" id="{592FB36E-A68C-226D-BFB1-A9634096470D}"/>
              </a:ext>
            </a:extLst>
          </p:cNvPr>
          <p:cNvSpPr/>
          <p:nvPr/>
        </p:nvSpPr>
        <p:spPr>
          <a:xfrm>
            <a:off x="4919032" y="4291690"/>
            <a:ext cx="171702" cy="156353"/>
          </a:xfrm>
          <a:prstGeom prst="rect">
            <a:avLst/>
          </a:prstGeom>
          <a:solidFill>
            <a:schemeClr val="bg1">
              <a:lumMod val="85000"/>
              <a:alpha val="40000"/>
            </a:schemeClr>
          </a:solidFill>
          <a:ln w="9525">
            <a:solidFill>
              <a:schemeClr val="tx1">
                <a:lumMod val="50000"/>
                <a:lumOff val="50000"/>
              </a:schemeClr>
            </a:solidFill>
            <a:prstDash val="dash"/>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accent1">
                    <a:lumMod val="75000"/>
                  </a:schemeClr>
                </a:solidFill>
                <a:latin typeface="微軟正黑體" panose="020B0604030504040204" pitchFamily="34" charset="-120"/>
                <a:ea typeface="微軟正黑體" panose="020B0604030504040204" pitchFamily="34" charset="-120"/>
              </a:rPr>
              <a:t>Y</a:t>
            </a:r>
          </a:p>
        </p:txBody>
      </p:sp>
      <p:cxnSp>
        <p:nvCxnSpPr>
          <p:cNvPr id="171" name="直線接點 170">
            <a:extLst>
              <a:ext uri="{FF2B5EF4-FFF2-40B4-BE49-F238E27FC236}">
                <a16:creationId xmlns:a16="http://schemas.microsoft.com/office/drawing/2014/main" id="{EA5FBCEE-BB8E-7962-6AEB-3D1C400C3B94}"/>
              </a:ext>
            </a:extLst>
          </p:cNvPr>
          <p:cNvCxnSpPr/>
          <p:nvPr/>
        </p:nvCxnSpPr>
        <p:spPr>
          <a:xfrm>
            <a:off x="2771800" y="3974254"/>
            <a:ext cx="0" cy="1440706"/>
          </a:xfrm>
          <a:prstGeom prst="line">
            <a:avLst/>
          </a:prstGeom>
          <a:ln w="38100">
            <a:solidFill>
              <a:schemeClr val="accent6">
                <a:lumMod val="7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172" name="直線接點 171">
            <a:extLst>
              <a:ext uri="{FF2B5EF4-FFF2-40B4-BE49-F238E27FC236}">
                <a16:creationId xmlns:a16="http://schemas.microsoft.com/office/drawing/2014/main" id="{4EC5357E-B57D-5696-B511-76127ECAE7E3}"/>
              </a:ext>
            </a:extLst>
          </p:cNvPr>
          <p:cNvCxnSpPr>
            <a:cxnSpLocks/>
          </p:cNvCxnSpPr>
          <p:nvPr/>
        </p:nvCxnSpPr>
        <p:spPr>
          <a:xfrm flipV="1">
            <a:off x="3630897" y="4186887"/>
            <a:ext cx="1469275" cy="3391"/>
          </a:xfrm>
          <a:prstGeom prst="line">
            <a:avLst/>
          </a:prstGeom>
          <a:ln w="38100">
            <a:solidFill>
              <a:schemeClr val="accent6">
                <a:lumMod val="75000"/>
              </a:schemeClr>
            </a:solidFill>
            <a:tailEnd type="oval"/>
          </a:ln>
        </p:spPr>
        <p:style>
          <a:lnRef idx="1">
            <a:schemeClr val="accent1"/>
          </a:lnRef>
          <a:fillRef idx="0">
            <a:schemeClr val="accent1"/>
          </a:fillRef>
          <a:effectRef idx="0">
            <a:schemeClr val="accent1"/>
          </a:effectRef>
          <a:fontRef idx="minor">
            <a:schemeClr val="tx1"/>
          </a:fontRef>
        </p:style>
      </p:cxnSp>
      <p:sp>
        <p:nvSpPr>
          <p:cNvPr id="176" name="矩形 175">
            <a:extLst>
              <a:ext uri="{FF2B5EF4-FFF2-40B4-BE49-F238E27FC236}">
                <a16:creationId xmlns:a16="http://schemas.microsoft.com/office/drawing/2014/main" id="{55CE9919-2B60-6324-484E-21E7B0AE0DC6}"/>
              </a:ext>
            </a:extLst>
          </p:cNvPr>
          <p:cNvSpPr/>
          <p:nvPr/>
        </p:nvSpPr>
        <p:spPr>
          <a:xfrm>
            <a:off x="2195736" y="5208324"/>
            <a:ext cx="171702" cy="156353"/>
          </a:xfrm>
          <a:prstGeom prst="rect">
            <a:avLst/>
          </a:prstGeom>
          <a:solidFill>
            <a:schemeClr val="bg1">
              <a:lumMod val="85000"/>
              <a:alpha val="40000"/>
            </a:schemeClr>
          </a:solidFill>
          <a:ln w="9525">
            <a:solidFill>
              <a:schemeClr val="tx1">
                <a:lumMod val="50000"/>
                <a:lumOff val="50000"/>
              </a:schemeClr>
            </a:solidFill>
            <a:prstDash val="dash"/>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accent1">
                    <a:lumMod val="75000"/>
                  </a:schemeClr>
                </a:solidFill>
                <a:latin typeface="微軟正黑體" panose="020B0604030504040204" pitchFamily="34" charset="-120"/>
                <a:ea typeface="微軟正黑體" panose="020B0604030504040204" pitchFamily="34" charset="-120"/>
              </a:rPr>
              <a:t>Y</a:t>
            </a:r>
          </a:p>
        </p:txBody>
      </p:sp>
      <p:sp>
        <p:nvSpPr>
          <p:cNvPr id="148" name="矩形 147">
            <a:extLst>
              <a:ext uri="{FF2B5EF4-FFF2-40B4-BE49-F238E27FC236}">
                <a16:creationId xmlns:a16="http://schemas.microsoft.com/office/drawing/2014/main" id="{BF2089BB-BC6C-017D-8DF1-85369728E189}"/>
              </a:ext>
            </a:extLst>
          </p:cNvPr>
          <p:cNvSpPr/>
          <p:nvPr/>
        </p:nvSpPr>
        <p:spPr>
          <a:xfrm>
            <a:off x="1259632" y="5208325"/>
            <a:ext cx="144016" cy="149487"/>
          </a:xfrm>
          <a:prstGeom prst="rect">
            <a:avLst/>
          </a:prstGeom>
          <a:solidFill>
            <a:schemeClr val="bg1">
              <a:alpha val="40000"/>
            </a:schemeClr>
          </a:solidFill>
          <a:ln w="9525">
            <a:solidFill>
              <a:srgbClr val="FF0000"/>
            </a:solidFill>
            <a:prstDash val="dash"/>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200" b="1" dirty="0">
              <a:solidFill>
                <a:schemeClr val="accent2"/>
              </a:solidFill>
              <a:latin typeface="微軟正黑體" panose="020B0604030504040204" pitchFamily="34" charset="-120"/>
              <a:ea typeface="微軟正黑體" panose="020B0604030504040204" pitchFamily="34" charset="-120"/>
            </a:endParaRPr>
          </a:p>
        </p:txBody>
      </p:sp>
      <p:sp>
        <p:nvSpPr>
          <p:cNvPr id="158" name="矩形 157">
            <a:extLst>
              <a:ext uri="{FF2B5EF4-FFF2-40B4-BE49-F238E27FC236}">
                <a16:creationId xmlns:a16="http://schemas.microsoft.com/office/drawing/2014/main" id="{DF4F9B46-4036-0705-42F5-51A1C56471DA}"/>
              </a:ext>
            </a:extLst>
          </p:cNvPr>
          <p:cNvSpPr/>
          <p:nvPr/>
        </p:nvSpPr>
        <p:spPr>
          <a:xfrm>
            <a:off x="943914" y="5208325"/>
            <a:ext cx="171702" cy="156353"/>
          </a:xfrm>
          <a:prstGeom prst="rect">
            <a:avLst/>
          </a:prstGeom>
          <a:solidFill>
            <a:schemeClr val="bg1">
              <a:lumMod val="85000"/>
              <a:alpha val="40000"/>
            </a:schemeClr>
          </a:solidFill>
          <a:ln w="9525">
            <a:solidFill>
              <a:schemeClr val="tx1">
                <a:lumMod val="50000"/>
                <a:lumOff val="50000"/>
              </a:schemeClr>
            </a:solidFill>
            <a:prstDash val="dash"/>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accent1">
                    <a:lumMod val="75000"/>
                  </a:schemeClr>
                </a:solidFill>
                <a:latin typeface="微軟正黑體" panose="020B0604030504040204" pitchFamily="34" charset="-120"/>
                <a:ea typeface="微軟正黑體" panose="020B0604030504040204" pitchFamily="34" charset="-120"/>
              </a:rPr>
              <a:t>x</a:t>
            </a:r>
          </a:p>
        </p:txBody>
      </p:sp>
      <p:sp>
        <p:nvSpPr>
          <p:cNvPr id="6" name="右中括弧 5">
            <a:extLst>
              <a:ext uri="{FF2B5EF4-FFF2-40B4-BE49-F238E27FC236}">
                <a16:creationId xmlns:a16="http://schemas.microsoft.com/office/drawing/2014/main" id="{C81A02FB-AC09-8887-36BD-3E73264A3E4D}"/>
              </a:ext>
            </a:extLst>
          </p:cNvPr>
          <p:cNvSpPr/>
          <p:nvPr/>
        </p:nvSpPr>
        <p:spPr>
          <a:xfrm rot="16200000">
            <a:off x="6363534" y="503152"/>
            <a:ext cx="57842" cy="1473374"/>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7" name="文字方塊 6">
            <a:extLst>
              <a:ext uri="{FF2B5EF4-FFF2-40B4-BE49-F238E27FC236}">
                <a16:creationId xmlns:a16="http://schemas.microsoft.com/office/drawing/2014/main" id="{EE6FBDB8-B933-F607-F838-66A97D79B1D5}"/>
              </a:ext>
            </a:extLst>
          </p:cNvPr>
          <p:cNvSpPr txBox="1"/>
          <p:nvPr/>
        </p:nvSpPr>
        <p:spPr>
          <a:xfrm>
            <a:off x="6029932" y="1017421"/>
            <a:ext cx="636399" cy="160281"/>
          </a:xfrm>
          <a:prstGeom prst="rect">
            <a:avLst/>
          </a:prstGeom>
          <a:noFill/>
        </p:spPr>
        <p:txBody>
          <a:bodyPr wrap="none" lIns="0" tIns="0" rIns="0" bIns="0" rtlCol="0" anchor="ctr" anchorCtr="1">
            <a:noAutofit/>
          </a:bodyPr>
          <a:lstStyle/>
          <a:p>
            <a:pPr algn="ctr"/>
            <a:r>
              <a:rPr lang="en-US" altLang="zh-TW" sz="1200" dirty="0"/>
              <a:t>h * d</a:t>
            </a:r>
            <a:r>
              <a:rPr lang="en-US" altLang="zh-TW" sz="1200" baseline="-25000" dirty="0"/>
              <a:t>h</a:t>
            </a:r>
            <a:endParaRPr lang="zh-TW" altLang="en-US" sz="1200" dirty="0"/>
          </a:p>
        </p:txBody>
      </p:sp>
      <p:sp>
        <p:nvSpPr>
          <p:cNvPr id="8" name="文字方塊 7">
            <a:extLst>
              <a:ext uri="{FF2B5EF4-FFF2-40B4-BE49-F238E27FC236}">
                <a16:creationId xmlns:a16="http://schemas.microsoft.com/office/drawing/2014/main" id="{CFA20B6E-2B67-5993-7195-A982227FA1B9}"/>
              </a:ext>
            </a:extLst>
          </p:cNvPr>
          <p:cNvSpPr txBox="1"/>
          <p:nvPr/>
        </p:nvSpPr>
        <p:spPr>
          <a:xfrm>
            <a:off x="5577662" y="5761680"/>
            <a:ext cx="809060" cy="594653"/>
          </a:xfrm>
          <a:prstGeom prst="rect">
            <a:avLst/>
          </a:prstGeom>
          <a:noFill/>
        </p:spPr>
        <p:txBody>
          <a:bodyPr wrap="none" lIns="0" tIns="0" rIns="0" bIns="0" anchor="ctr" anchorCtr="1">
            <a:noAutofit/>
          </a:bodyPr>
          <a:lstStyle/>
          <a:p>
            <a:r>
              <a:rPr lang="en-US" altLang="zh-TW" sz="1200" dirty="0">
                <a:solidFill>
                  <a:prstClr val="black"/>
                </a:solidFill>
                <a:ea typeface="Cambria Math" panose="02040503050406030204" pitchFamily="18" charset="0"/>
              </a:rPr>
              <a:t>CNN</a:t>
            </a:r>
          </a:p>
          <a:p>
            <a:r>
              <a:rPr lang="en-US" altLang="zh-TW" sz="1200" dirty="0">
                <a:solidFill>
                  <a:prstClr val="black"/>
                </a:solidFill>
                <a:ea typeface="Cambria Math" panose="02040503050406030204" pitchFamily="18" charset="0"/>
              </a:rPr>
              <a:t>Extract feature</a:t>
            </a:r>
          </a:p>
          <a:p>
            <a:r>
              <a:rPr lang="en-US" altLang="zh-TW" sz="1200" dirty="0">
                <a:solidFill>
                  <a:prstClr val="black"/>
                </a:solidFill>
                <a:ea typeface="Cambria Math" panose="02040503050406030204" pitchFamily="18" charset="0"/>
              </a:rPr>
              <a:t>from image</a:t>
            </a:r>
          </a:p>
        </p:txBody>
      </p:sp>
      <p:sp>
        <p:nvSpPr>
          <p:cNvPr id="10" name="文字方塊 9">
            <a:extLst>
              <a:ext uri="{FF2B5EF4-FFF2-40B4-BE49-F238E27FC236}">
                <a16:creationId xmlns:a16="http://schemas.microsoft.com/office/drawing/2014/main" id="{58470458-DBAF-2D3D-CADA-6CB7858AFDAB}"/>
              </a:ext>
            </a:extLst>
          </p:cNvPr>
          <p:cNvSpPr txBox="1"/>
          <p:nvPr/>
        </p:nvSpPr>
        <p:spPr>
          <a:xfrm>
            <a:off x="4413489" y="5761680"/>
            <a:ext cx="809060" cy="594653"/>
          </a:xfrm>
          <a:prstGeom prst="rect">
            <a:avLst/>
          </a:prstGeom>
          <a:noFill/>
        </p:spPr>
        <p:txBody>
          <a:bodyPr wrap="none" lIns="0" tIns="0" rIns="0" bIns="0" anchor="ctr" anchorCtr="1">
            <a:noAutofit/>
          </a:bodyPr>
          <a:lstStyle/>
          <a:p>
            <a:r>
              <a:rPr lang="en-US" altLang="zh-TW" sz="1200" dirty="0">
                <a:solidFill>
                  <a:prstClr val="black"/>
                </a:solidFill>
                <a:ea typeface="Cambria Math" panose="02040503050406030204" pitchFamily="18" charset="0"/>
              </a:rPr>
              <a:t>LLM</a:t>
            </a:r>
          </a:p>
          <a:p>
            <a:r>
              <a:rPr lang="en-US" altLang="zh-TW" sz="1200" dirty="0">
                <a:solidFill>
                  <a:prstClr val="black"/>
                </a:solidFill>
                <a:ea typeface="Cambria Math" panose="02040503050406030204" pitchFamily="18" charset="0"/>
              </a:rPr>
              <a:t>Extract semantics</a:t>
            </a:r>
          </a:p>
          <a:p>
            <a:r>
              <a:rPr lang="en-US" altLang="zh-TW" sz="1200" dirty="0">
                <a:solidFill>
                  <a:prstClr val="black"/>
                </a:solidFill>
                <a:ea typeface="Cambria Math" panose="02040503050406030204" pitchFamily="18" charset="0"/>
              </a:rPr>
              <a:t>From context</a:t>
            </a:r>
          </a:p>
        </p:txBody>
      </p:sp>
      <p:sp>
        <p:nvSpPr>
          <p:cNvPr id="30" name="矩形 29">
            <a:extLst>
              <a:ext uri="{FF2B5EF4-FFF2-40B4-BE49-F238E27FC236}">
                <a16:creationId xmlns:a16="http://schemas.microsoft.com/office/drawing/2014/main" id="{150BC86B-8DCF-00B8-5574-918588F2BF8D}"/>
              </a:ext>
            </a:extLst>
          </p:cNvPr>
          <p:cNvSpPr/>
          <p:nvPr/>
        </p:nvSpPr>
        <p:spPr>
          <a:xfrm>
            <a:off x="435487" y="1631794"/>
            <a:ext cx="362588" cy="1482545"/>
          </a:xfrm>
          <a:prstGeom prst="rect">
            <a:avLst/>
          </a:prstGeom>
          <a:solidFill>
            <a:schemeClr val="bg2">
              <a:lumMod val="90000"/>
            </a:schemeClr>
          </a:solidFill>
          <a:ln w="381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6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VC</a:t>
            </a:r>
          </a:p>
          <a:p>
            <a:pPr algn="ctr">
              <a:lnSpc>
                <a:spcPts val="1600"/>
              </a:lnSpc>
            </a:pPr>
            <a:r>
              <a:rPr lang="en-US" altLang="zh-TW" sz="1200" b="1" dirty="0">
                <a:solidFill>
                  <a:schemeClr val="tx1"/>
                </a:solidFill>
                <a:ea typeface="ADLaM Display" panose="02010000000000000000" pitchFamily="2" charset="0"/>
                <a:cs typeface="ADLaM Display" panose="02010000000000000000" pitchFamily="2" charset="0"/>
              </a:rPr>
              <a:t>vocabulary</a:t>
            </a:r>
          </a:p>
        </p:txBody>
      </p:sp>
      <p:sp>
        <p:nvSpPr>
          <p:cNvPr id="32" name="文字方塊 31">
            <a:extLst>
              <a:ext uri="{FF2B5EF4-FFF2-40B4-BE49-F238E27FC236}">
                <a16:creationId xmlns:a16="http://schemas.microsoft.com/office/drawing/2014/main" id="{22E1A8D9-E47D-48A7-0C79-430830CF1E96}"/>
              </a:ext>
            </a:extLst>
          </p:cNvPr>
          <p:cNvSpPr txBox="1"/>
          <p:nvPr/>
        </p:nvSpPr>
        <p:spPr>
          <a:xfrm>
            <a:off x="175196" y="3204749"/>
            <a:ext cx="1335476" cy="368267"/>
          </a:xfrm>
          <a:prstGeom prst="rect">
            <a:avLst/>
          </a:prstGeom>
          <a:noFill/>
        </p:spPr>
        <p:txBody>
          <a:bodyPr wrap="none" lIns="0" tIns="0" rIns="0" bIns="0" rtlCol="0" anchor="ctr" anchorCtr="1">
            <a:noAutofit/>
          </a:bodyPr>
          <a:lstStyle/>
          <a:p>
            <a:pPr algn="ctr"/>
            <a:r>
              <a:rPr lang="en-US" altLang="zh-TW" sz="1200" b="1" dirty="0"/>
              <a:t>Lookup Table</a:t>
            </a:r>
            <a:r>
              <a:rPr lang="en-US" altLang="zh-TW" sz="1200" dirty="0"/>
              <a:t>:</a:t>
            </a:r>
          </a:p>
          <a:p>
            <a:pPr algn="ctr"/>
            <a:r>
              <a:rPr lang="en-US" altLang="zh-TW" sz="1200" dirty="0"/>
              <a:t>Token</a:t>
            </a:r>
            <a:r>
              <a:rPr kumimoji="0" lang="en-US" altLang="zh-TW" sz="1200" b="0"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 </a:t>
            </a:r>
            <a:r>
              <a:rPr kumimoji="0" lang="en-US" altLang="zh-TW" sz="12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kumimoji="0" lang="en-US" altLang="zh-TW" sz="1200" b="0"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 </a:t>
            </a:r>
            <a:r>
              <a:rPr lang="en-US" altLang="zh-TW" sz="1200" dirty="0">
                <a:sym typeface="Wingdings" panose="05000000000000000000" pitchFamily="2" charset="2"/>
              </a:rPr>
              <a:t>Embedding</a:t>
            </a:r>
            <a:endParaRPr lang="zh-TW" altLang="en-US" sz="1200" dirty="0"/>
          </a:p>
        </p:txBody>
      </p:sp>
      <p:cxnSp>
        <p:nvCxnSpPr>
          <p:cNvPr id="52" name="接點: 弧形 51">
            <a:extLst>
              <a:ext uri="{FF2B5EF4-FFF2-40B4-BE49-F238E27FC236}">
                <a16:creationId xmlns:a16="http://schemas.microsoft.com/office/drawing/2014/main" id="{EEC0D7CC-2B2E-CA1C-F1CF-5882E9D91B4C}"/>
              </a:ext>
            </a:extLst>
          </p:cNvPr>
          <p:cNvCxnSpPr>
            <a:cxnSpLocks/>
            <a:stCxn id="73" idx="2"/>
            <a:endCxn id="129" idx="0"/>
          </p:cNvCxnSpPr>
          <p:nvPr/>
        </p:nvCxnSpPr>
        <p:spPr>
          <a:xfrm rot="5400000">
            <a:off x="5612794" y="1773639"/>
            <a:ext cx="320389" cy="2492119"/>
          </a:xfrm>
          <a:prstGeom prst="curvedConnector3">
            <a:avLst>
              <a:gd name="adj1" fmla="val 50000"/>
            </a:avLst>
          </a:prstGeom>
          <a:ln>
            <a:solidFill>
              <a:schemeClr val="accent2">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98" name="箭號: 向下 97">
            <a:extLst>
              <a:ext uri="{FF2B5EF4-FFF2-40B4-BE49-F238E27FC236}">
                <a16:creationId xmlns:a16="http://schemas.microsoft.com/office/drawing/2014/main" id="{CEC2C0EE-4D67-DB0C-9DDE-E3E392DA3F75}"/>
              </a:ext>
            </a:extLst>
          </p:cNvPr>
          <p:cNvSpPr/>
          <p:nvPr/>
        </p:nvSpPr>
        <p:spPr>
          <a:xfrm rot="16200000">
            <a:off x="5151589" y="2176094"/>
            <a:ext cx="216022" cy="225052"/>
          </a:xfrm>
          <a:prstGeom prst="downArrow">
            <a:avLst/>
          </a:prstGeom>
          <a:solidFill>
            <a:schemeClr val="accent2">
              <a:alpha val="70000"/>
            </a:schemeClr>
          </a:solidFill>
          <a:ln w="1270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8" name="接點: 弧形 27">
            <a:extLst>
              <a:ext uri="{FF2B5EF4-FFF2-40B4-BE49-F238E27FC236}">
                <a16:creationId xmlns:a16="http://schemas.microsoft.com/office/drawing/2014/main" id="{EFBAC067-C48C-5D37-B9E1-B192F77686ED}"/>
              </a:ext>
            </a:extLst>
          </p:cNvPr>
          <p:cNvCxnSpPr>
            <a:cxnSpLocks/>
            <a:stCxn id="85" idx="3"/>
            <a:endCxn id="23" idx="1"/>
          </p:cNvCxnSpPr>
          <p:nvPr/>
        </p:nvCxnSpPr>
        <p:spPr>
          <a:xfrm flipV="1">
            <a:off x="2868843" y="1736297"/>
            <a:ext cx="510357" cy="607920"/>
          </a:xfrm>
          <a:prstGeom prst="curvedConnector3">
            <a:avLst>
              <a:gd name="adj1" fmla="val 50000"/>
            </a:avLst>
          </a:prstGeom>
          <a:ln>
            <a:solidFill>
              <a:schemeClr val="accent2">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3" name="接點: 弧形 32">
            <a:extLst>
              <a:ext uri="{FF2B5EF4-FFF2-40B4-BE49-F238E27FC236}">
                <a16:creationId xmlns:a16="http://schemas.microsoft.com/office/drawing/2014/main" id="{A21915EA-FFFF-23E3-13B6-4317B0E22E79}"/>
              </a:ext>
            </a:extLst>
          </p:cNvPr>
          <p:cNvCxnSpPr>
            <a:cxnSpLocks/>
            <a:stCxn id="85" idx="3"/>
            <a:endCxn id="29" idx="1"/>
          </p:cNvCxnSpPr>
          <p:nvPr/>
        </p:nvCxnSpPr>
        <p:spPr>
          <a:xfrm flipV="1">
            <a:off x="2868843" y="2266255"/>
            <a:ext cx="510357" cy="77962"/>
          </a:xfrm>
          <a:prstGeom prst="curvedConnector3">
            <a:avLst>
              <a:gd name="adj1" fmla="val 50000"/>
            </a:avLst>
          </a:prstGeom>
          <a:ln>
            <a:solidFill>
              <a:schemeClr val="accent2">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4" name="接點: 弧形 33">
            <a:extLst>
              <a:ext uri="{FF2B5EF4-FFF2-40B4-BE49-F238E27FC236}">
                <a16:creationId xmlns:a16="http://schemas.microsoft.com/office/drawing/2014/main" id="{44B569EF-A6E6-DC5E-99FE-5258EBB73229}"/>
              </a:ext>
            </a:extLst>
          </p:cNvPr>
          <p:cNvCxnSpPr>
            <a:cxnSpLocks/>
            <a:stCxn id="85" idx="3"/>
            <a:endCxn id="37" idx="1"/>
          </p:cNvCxnSpPr>
          <p:nvPr/>
        </p:nvCxnSpPr>
        <p:spPr>
          <a:xfrm>
            <a:off x="2868843" y="2344217"/>
            <a:ext cx="510357" cy="451246"/>
          </a:xfrm>
          <a:prstGeom prst="curvedConnector3">
            <a:avLst>
              <a:gd name="adj1" fmla="val 50000"/>
            </a:avLst>
          </a:prstGeom>
          <a:ln>
            <a:solidFill>
              <a:schemeClr val="accent2">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7" name="文字方塊 86">
            <a:extLst>
              <a:ext uri="{FF2B5EF4-FFF2-40B4-BE49-F238E27FC236}">
                <a16:creationId xmlns:a16="http://schemas.microsoft.com/office/drawing/2014/main" id="{F3962AD9-9B7E-81EB-AA05-54BD5CCBF9F4}"/>
              </a:ext>
            </a:extLst>
          </p:cNvPr>
          <p:cNvSpPr txBox="1"/>
          <p:nvPr/>
        </p:nvSpPr>
        <p:spPr>
          <a:xfrm>
            <a:off x="2333778" y="2502784"/>
            <a:ext cx="365952" cy="235664"/>
          </a:xfrm>
          <a:prstGeom prst="rect">
            <a:avLst/>
          </a:prstGeom>
          <a:solidFill>
            <a:schemeClr val="bg1">
              <a:alpha val="60000"/>
            </a:schemeClr>
          </a:solidFill>
        </p:spPr>
        <p:txBody>
          <a:bodyPr wrap="none" lIns="0" tIns="0" rIns="0" bIns="0" rtlCol="0" anchor="ctr" anchorCtr="1">
            <a:noAutofit/>
          </a:bodyPr>
          <a:lstStyle/>
          <a:p>
            <a:pPr algn="ctr"/>
            <a:r>
              <a:rPr lang="en-US" altLang="zh-TW" sz="1200" dirty="0"/>
              <a:t>RoPE</a:t>
            </a:r>
            <a:endParaRPr lang="zh-TW" altLang="en-US" sz="1200" dirty="0"/>
          </a:p>
        </p:txBody>
      </p:sp>
      <p:sp>
        <p:nvSpPr>
          <p:cNvPr id="12" name="矩形: 圓角 11">
            <a:extLst>
              <a:ext uri="{FF2B5EF4-FFF2-40B4-BE49-F238E27FC236}">
                <a16:creationId xmlns:a16="http://schemas.microsoft.com/office/drawing/2014/main" id="{F4F595E0-E3F4-A76E-1DB3-8C3F6C61D24E}"/>
              </a:ext>
            </a:extLst>
          </p:cNvPr>
          <p:cNvSpPr/>
          <p:nvPr/>
        </p:nvSpPr>
        <p:spPr>
          <a:xfrm>
            <a:off x="1435434" y="5895357"/>
            <a:ext cx="2012477" cy="414317"/>
          </a:xfrm>
          <a:prstGeom prst="roundRect">
            <a:avLst/>
          </a:prstGeom>
          <a:gradFill>
            <a:gsLst>
              <a:gs pos="100000">
                <a:schemeClr val="tx2">
                  <a:lumMod val="20000"/>
                  <a:lumOff val="80000"/>
                  <a:alpha val="90000"/>
                </a:schemeClr>
              </a:gs>
              <a:gs pos="0">
                <a:schemeClr val="accent1">
                  <a:lumMod val="45000"/>
                  <a:lumOff val="55000"/>
                </a:schemeClr>
              </a:gs>
              <a:gs pos="0">
                <a:schemeClr val="bg1"/>
              </a:gs>
              <a:gs pos="0">
                <a:schemeClr val="bg2">
                  <a:lumMod val="90000"/>
                </a:schemeClr>
              </a:gs>
            </a:gsLst>
            <a:lin ang="0" scaled="0"/>
          </a:gra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400"/>
              </a:lnSpc>
              <a:spcBef>
                <a:spcPts val="0"/>
              </a:spcBef>
              <a:spcAft>
                <a:spcPts val="0"/>
              </a:spcAft>
              <a:buClrTx/>
              <a:buSzTx/>
              <a:buFontTx/>
              <a:buNone/>
              <a:tabLst/>
              <a:defRPr/>
            </a:pPr>
            <a:endParaRPr lang="zh-TW" altLang="en-US" sz="1200" b="1" dirty="0"/>
          </a:p>
        </p:txBody>
      </p:sp>
      <p:sp>
        <p:nvSpPr>
          <p:cNvPr id="13" name="箭號: 向下 12">
            <a:extLst>
              <a:ext uri="{FF2B5EF4-FFF2-40B4-BE49-F238E27FC236}">
                <a16:creationId xmlns:a16="http://schemas.microsoft.com/office/drawing/2014/main" id="{E6CD463A-74C4-E259-20C9-D61A29404AB3}"/>
              </a:ext>
            </a:extLst>
          </p:cNvPr>
          <p:cNvSpPr/>
          <p:nvPr/>
        </p:nvSpPr>
        <p:spPr>
          <a:xfrm rot="5400000">
            <a:off x="2344267" y="6016775"/>
            <a:ext cx="216022" cy="225052"/>
          </a:xfrm>
          <a:prstGeom prst="downArrow">
            <a:avLst/>
          </a:prstGeom>
          <a:solidFill>
            <a:schemeClr val="accent2">
              <a:alpha val="70000"/>
            </a:schemeClr>
          </a:solidFill>
          <a:ln w="1270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200"/>
          </a:p>
        </p:txBody>
      </p:sp>
      <p:sp>
        <p:nvSpPr>
          <p:cNvPr id="14" name="矩形: 圓角 13">
            <a:extLst>
              <a:ext uri="{FF2B5EF4-FFF2-40B4-BE49-F238E27FC236}">
                <a16:creationId xmlns:a16="http://schemas.microsoft.com/office/drawing/2014/main" id="{9A1110FC-A4F3-2A16-F8EF-3AF34FFC6FF4}"/>
              </a:ext>
            </a:extLst>
          </p:cNvPr>
          <p:cNvSpPr/>
          <p:nvPr/>
        </p:nvSpPr>
        <p:spPr>
          <a:xfrm>
            <a:off x="1544967" y="5979824"/>
            <a:ext cx="700097" cy="267502"/>
          </a:xfrm>
          <a:prstGeom prst="roundRect">
            <a:avLst/>
          </a:prstGeom>
          <a:noFill/>
          <a:ln w="254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000" b="1"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rial" panose="020B0604020202020204" pitchFamily="34" charset="0"/>
              </a:rPr>
              <a:t>Semantic</a:t>
            </a:r>
          </a:p>
          <a:p>
            <a:pPr marL="0" marR="0" lvl="0" indent="0" algn="ctr" defTabSz="914400" rtl="0" eaLnBrk="1" fontAlgn="auto" latinLnBrk="0" hangingPunct="1">
              <a:lnSpc>
                <a:spcPts val="1400"/>
              </a:lnSpc>
              <a:spcBef>
                <a:spcPts val="0"/>
              </a:spcBef>
              <a:spcAft>
                <a:spcPts val="0"/>
              </a:spcAft>
              <a:buClrTx/>
              <a:buSzTx/>
              <a:buFontTx/>
              <a:buNone/>
              <a:tabLst/>
              <a:defRPr/>
            </a:pPr>
            <a:r>
              <a:rPr lang="en-US" altLang="zh-TW" sz="1000" b="1"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space</a:t>
            </a:r>
            <a:endParaRPr lang="zh-TW" altLang="en-US" sz="1000" b="1" dirty="0"/>
          </a:p>
        </p:txBody>
      </p:sp>
      <p:sp>
        <p:nvSpPr>
          <p:cNvPr id="22" name="矩形: 圓角 21">
            <a:extLst>
              <a:ext uri="{FF2B5EF4-FFF2-40B4-BE49-F238E27FC236}">
                <a16:creationId xmlns:a16="http://schemas.microsoft.com/office/drawing/2014/main" id="{D1C99AD3-611E-AD6F-610E-20B54144682C}"/>
              </a:ext>
            </a:extLst>
          </p:cNvPr>
          <p:cNvSpPr/>
          <p:nvPr/>
        </p:nvSpPr>
        <p:spPr>
          <a:xfrm>
            <a:off x="2652743" y="5979823"/>
            <a:ext cx="700097" cy="267502"/>
          </a:xfrm>
          <a:prstGeom prst="roundRect">
            <a:avLst/>
          </a:prstGeom>
          <a:noFill/>
          <a:ln w="254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000" b="1"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rial" panose="020B0604020202020204" pitchFamily="34" charset="0"/>
              </a:rPr>
              <a:t>Context</a:t>
            </a:r>
            <a:endParaRPr lang="zh-TW" altLang="en-US" sz="1000" b="1" dirty="0"/>
          </a:p>
        </p:txBody>
      </p:sp>
      <p:sp>
        <p:nvSpPr>
          <p:cNvPr id="23" name="矩形 22">
            <a:extLst>
              <a:ext uri="{FF2B5EF4-FFF2-40B4-BE49-F238E27FC236}">
                <a16:creationId xmlns:a16="http://schemas.microsoft.com/office/drawing/2014/main" id="{5A226102-EE1F-9C1C-DFDC-58964B364D02}"/>
              </a:ext>
            </a:extLst>
          </p:cNvPr>
          <p:cNvSpPr/>
          <p:nvPr/>
        </p:nvSpPr>
        <p:spPr>
          <a:xfrm>
            <a:off x="3379200" y="1507697"/>
            <a:ext cx="274320" cy="457200"/>
          </a:xfrm>
          <a:prstGeom prst="rect">
            <a:avLst/>
          </a:prstGeom>
          <a:no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X</a:t>
            </a:r>
          </a:p>
        </p:txBody>
      </p:sp>
      <p:sp>
        <p:nvSpPr>
          <p:cNvPr id="26" name="矩形 25">
            <a:extLst>
              <a:ext uri="{FF2B5EF4-FFF2-40B4-BE49-F238E27FC236}">
                <a16:creationId xmlns:a16="http://schemas.microsoft.com/office/drawing/2014/main" id="{33D268C0-C849-5479-BF72-B6A4194981E3}"/>
              </a:ext>
            </a:extLst>
          </p:cNvPr>
          <p:cNvSpPr/>
          <p:nvPr/>
        </p:nvSpPr>
        <p:spPr>
          <a:xfrm>
            <a:off x="3854107" y="1572463"/>
            <a:ext cx="274320" cy="274320"/>
          </a:xfrm>
          <a:prstGeom prst="rect">
            <a:avLst/>
          </a:prstGeom>
          <a:solidFill>
            <a:schemeClr val="accent1">
              <a:lumMod val="20000"/>
              <a:lumOff val="80000"/>
            </a:schemeClr>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tx1"/>
                </a:solidFill>
                <a:ea typeface="微軟正黑體" panose="020B0604030504040204" pitchFamily="34" charset="-120"/>
              </a:rPr>
              <a:t>W</a:t>
            </a:r>
            <a:r>
              <a:rPr lang="en-US" altLang="zh-TW" sz="1200" b="1" baseline="-25000" dirty="0">
                <a:solidFill>
                  <a:schemeClr val="tx1"/>
                </a:solidFill>
                <a:ea typeface="微軟正黑體" panose="020B0604030504040204" pitchFamily="34" charset="-120"/>
              </a:rPr>
              <a:t>q</a:t>
            </a:r>
          </a:p>
        </p:txBody>
      </p:sp>
      <p:sp>
        <p:nvSpPr>
          <p:cNvPr id="29" name="矩形 28">
            <a:extLst>
              <a:ext uri="{FF2B5EF4-FFF2-40B4-BE49-F238E27FC236}">
                <a16:creationId xmlns:a16="http://schemas.microsoft.com/office/drawing/2014/main" id="{4EFAFEF0-F9F8-5AFE-9859-1AA0DA13E9C9}"/>
              </a:ext>
            </a:extLst>
          </p:cNvPr>
          <p:cNvSpPr/>
          <p:nvPr/>
        </p:nvSpPr>
        <p:spPr>
          <a:xfrm>
            <a:off x="3379200" y="2037655"/>
            <a:ext cx="274320" cy="457200"/>
          </a:xfrm>
          <a:prstGeom prst="rect">
            <a:avLst/>
          </a:prstGeom>
          <a:no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X</a:t>
            </a:r>
          </a:p>
        </p:txBody>
      </p:sp>
      <p:sp>
        <p:nvSpPr>
          <p:cNvPr id="35" name="矩形 34">
            <a:extLst>
              <a:ext uri="{FF2B5EF4-FFF2-40B4-BE49-F238E27FC236}">
                <a16:creationId xmlns:a16="http://schemas.microsoft.com/office/drawing/2014/main" id="{9716FF63-5297-520E-5942-35C1BEE3CA34}"/>
              </a:ext>
            </a:extLst>
          </p:cNvPr>
          <p:cNvSpPr/>
          <p:nvPr/>
        </p:nvSpPr>
        <p:spPr>
          <a:xfrm>
            <a:off x="3854560" y="2134815"/>
            <a:ext cx="274320" cy="274320"/>
          </a:xfrm>
          <a:prstGeom prst="rect">
            <a:avLst/>
          </a:prstGeom>
          <a:solidFill>
            <a:schemeClr val="accent1">
              <a:lumMod val="20000"/>
              <a:lumOff val="80000"/>
            </a:schemeClr>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tx1"/>
                </a:solidFill>
                <a:ea typeface="微軟正黑體" panose="020B0604030504040204" pitchFamily="34" charset="-120"/>
              </a:rPr>
              <a:t>W</a:t>
            </a:r>
            <a:r>
              <a:rPr lang="en-US" altLang="zh-TW" sz="1200" b="1" baseline="-25000" dirty="0">
                <a:solidFill>
                  <a:schemeClr val="tx1"/>
                </a:solidFill>
                <a:ea typeface="微軟正黑體" panose="020B0604030504040204" pitchFamily="34" charset="-120"/>
              </a:rPr>
              <a:t>k</a:t>
            </a:r>
          </a:p>
        </p:txBody>
      </p:sp>
      <p:sp>
        <p:nvSpPr>
          <p:cNvPr id="37" name="矩形 36">
            <a:extLst>
              <a:ext uri="{FF2B5EF4-FFF2-40B4-BE49-F238E27FC236}">
                <a16:creationId xmlns:a16="http://schemas.microsoft.com/office/drawing/2014/main" id="{0759800B-8E4B-A401-0312-D3458DE21724}"/>
              </a:ext>
            </a:extLst>
          </p:cNvPr>
          <p:cNvSpPr/>
          <p:nvPr/>
        </p:nvSpPr>
        <p:spPr>
          <a:xfrm>
            <a:off x="3379200" y="2566863"/>
            <a:ext cx="274320" cy="457200"/>
          </a:xfrm>
          <a:prstGeom prst="rect">
            <a:avLst/>
          </a:prstGeom>
          <a:no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X</a:t>
            </a:r>
          </a:p>
        </p:txBody>
      </p:sp>
      <p:sp>
        <p:nvSpPr>
          <p:cNvPr id="43" name="矩形 42">
            <a:extLst>
              <a:ext uri="{FF2B5EF4-FFF2-40B4-BE49-F238E27FC236}">
                <a16:creationId xmlns:a16="http://schemas.microsoft.com/office/drawing/2014/main" id="{D5D96FC3-7FA5-4284-C8F9-3D32EBE20BC7}"/>
              </a:ext>
            </a:extLst>
          </p:cNvPr>
          <p:cNvSpPr/>
          <p:nvPr/>
        </p:nvSpPr>
        <p:spPr>
          <a:xfrm>
            <a:off x="3846398" y="2652583"/>
            <a:ext cx="274320" cy="274320"/>
          </a:xfrm>
          <a:prstGeom prst="rect">
            <a:avLst/>
          </a:prstGeom>
          <a:solidFill>
            <a:schemeClr val="accent1">
              <a:lumMod val="20000"/>
              <a:lumOff val="80000"/>
            </a:schemeClr>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tx1"/>
                </a:solidFill>
                <a:ea typeface="微軟正黑體" panose="020B0604030504040204" pitchFamily="34" charset="-120"/>
              </a:rPr>
              <a:t>W</a:t>
            </a:r>
            <a:r>
              <a:rPr lang="en-US" altLang="zh-TW" sz="1200" b="1" baseline="-25000" dirty="0">
                <a:solidFill>
                  <a:schemeClr val="tx1"/>
                </a:solidFill>
                <a:ea typeface="微軟正黑體" panose="020B0604030504040204" pitchFamily="34" charset="-120"/>
              </a:rPr>
              <a:t>v</a:t>
            </a:r>
          </a:p>
        </p:txBody>
      </p:sp>
      <p:sp>
        <p:nvSpPr>
          <p:cNvPr id="46" name="文字方塊 45">
            <a:extLst>
              <a:ext uri="{FF2B5EF4-FFF2-40B4-BE49-F238E27FC236}">
                <a16:creationId xmlns:a16="http://schemas.microsoft.com/office/drawing/2014/main" id="{072CD2C3-2D27-D727-7261-CEECAFF1ABE8}"/>
              </a:ext>
            </a:extLst>
          </p:cNvPr>
          <p:cNvSpPr txBox="1"/>
          <p:nvPr/>
        </p:nvSpPr>
        <p:spPr>
          <a:xfrm>
            <a:off x="4172643" y="1618183"/>
            <a:ext cx="182880" cy="182880"/>
          </a:xfrm>
          <a:prstGeom prst="rect">
            <a:avLst/>
          </a:prstGeom>
          <a:noFill/>
        </p:spPr>
        <p:txBody>
          <a:bodyPr wrap="none" lIns="0" tIns="0" rIns="0" bIns="0" anchor="ctr" anchorCtr="1">
            <a:noAutofit/>
          </a:bodyPr>
          <a:lstStyle/>
          <a:p>
            <a:pPr algn="ctr"/>
            <a:r>
              <a:rPr kumimoji="0" lang="zh-TW"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a:t>
            </a:r>
            <a:endParaRPr lang="zh-TW" altLang="en-US" dirty="0"/>
          </a:p>
        </p:txBody>
      </p:sp>
      <p:sp>
        <p:nvSpPr>
          <p:cNvPr id="50" name="文字方塊 49">
            <a:extLst>
              <a:ext uri="{FF2B5EF4-FFF2-40B4-BE49-F238E27FC236}">
                <a16:creationId xmlns:a16="http://schemas.microsoft.com/office/drawing/2014/main" id="{A7566850-F189-1848-0621-1FF351E3898A}"/>
              </a:ext>
            </a:extLst>
          </p:cNvPr>
          <p:cNvSpPr txBox="1"/>
          <p:nvPr/>
        </p:nvSpPr>
        <p:spPr>
          <a:xfrm>
            <a:off x="3666779" y="1618183"/>
            <a:ext cx="182880" cy="182880"/>
          </a:xfrm>
          <a:prstGeom prst="rect">
            <a:avLst/>
          </a:prstGeom>
          <a:noFill/>
        </p:spPr>
        <p:txBody>
          <a:bodyPr wrap="none" lIns="0" tIns="0" rIns="0" bIns="0" anchor="ctr" anchorCtr="1">
            <a:noAutofit/>
          </a:bodyPr>
          <a:lstStyle/>
          <a:p>
            <a:pPr algn="ctr"/>
            <a:r>
              <a:rPr lang="en-US" altLang="zh-TW" sz="1400" dirty="0">
                <a:solidFill>
                  <a:prstClr val="black"/>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dirty="0"/>
          </a:p>
        </p:txBody>
      </p:sp>
      <p:sp>
        <p:nvSpPr>
          <p:cNvPr id="56" name="文字方塊 55">
            <a:extLst>
              <a:ext uri="{FF2B5EF4-FFF2-40B4-BE49-F238E27FC236}">
                <a16:creationId xmlns:a16="http://schemas.microsoft.com/office/drawing/2014/main" id="{50E36D0A-9B37-BB40-66FF-D6D428DB15F3}"/>
              </a:ext>
            </a:extLst>
          </p:cNvPr>
          <p:cNvSpPr txBox="1"/>
          <p:nvPr/>
        </p:nvSpPr>
        <p:spPr>
          <a:xfrm>
            <a:off x="3667232" y="2180535"/>
            <a:ext cx="182880" cy="182880"/>
          </a:xfrm>
          <a:prstGeom prst="rect">
            <a:avLst/>
          </a:prstGeom>
          <a:noFill/>
        </p:spPr>
        <p:txBody>
          <a:bodyPr wrap="none" lIns="0" tIns="0" rIns="0" bIns="0" anchor="ctr" anchorCtr="1">
            <a:noAutofit/>
          </a:bodyPr>
          <a:lstStyle/>
          <a:p>
            <a:pPr algn="ctr"/>
            <a:r>
              <a:rPr lang="en-US" altLang="zh-TW" sz="1400" dirty="0">
                <a:solidFill>
                  <a:prstClr val="black"/>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sz="1400" dirty="0"/>
          </a:p>
        </p:txBody>
      </p:sp>
      <p:sp>
        <p:nvSpPr>
          <p:cNvPr id="68" name="文字方塊 67">
            <a:extLst>
              <a:ext uri="{FF2B5EF4-FFF2-40B4-BE49-F238E27FC236}">
                <a16:creationId xmlns:a16="http://schemas.microsoft.com/office/drawing/2014/main" id="{CD7F8954-4E3F-6B99-FBB3-F45C60C64A8F}"/>
              </a:ext>
            </a:extLst>
          </p:cNvPr>
          <p:cNvSpPr txBox="1"/>
          <p:nvPr/>
        </p:nvSpPr>
        <p:spPr>
          <a:xfrm>
            <a:off x="3667232" y="2698303"/>
            <a:ext cx="182880" cy="182880"/>
          </a:xfrm>
          <a:prstGeom prst="rect">
            <a:avLst/>
          </a:prstGeom>
          <a:noFill/>
        </p:spPr>
        <p:txBody>
          <a:bodyPr wrap="none" lIns="0" tIns="0" rIns="0" bIns="0" anchor="ctr" anchorCtr="1">
            <a:noAutofit/>
          </a:bodyPr>
          <a:lstStyle/>
          <a:p>
            <a:pPr algn="ctr"/>
            <a:r>
              <a:rPr lang="en-US" altLang="zh-TW" sz="1400" dirty="0">
                <a:solidFill>
                  <a:prstClr val="black"/>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sz="1400" dirty="0"/>
          </a:p>
        </p:txBody>
      </p:sp>
      <p:sp>
        <p:nvSpPr>
          <p:cNvPr id="75" name="文字方塊 74">
            <a:extLst>
              <a:ext uri="{FF2B5EF4-FFF2-40B4-BE49-F238E27FC236}">
                <a16:creationId xmlns:a16="http://schemas.microsoft.com/office/drawing/2014/main" id="{04D8B84E-92AF-197C-412D-493826E70428}"/>
              </a:ext>
            </a:extLst>
          </p:cNvPr>
          <p:cNvSpPr txBox="1"/>
          <p:nvPr/>
        </p:nvSpPr>
        <p:spPr>
          <a:xfrm>
            <a:off x="4173096" y="2180535"/>
            <a:ext cx="182880" cy="182880"/>
          </a:xfrm>
          <a:prstGeom prst="rect">
            <a:avLst/>
          </a:prstGeom>
          <a:noFill/>
        </p:spPr>
        <p:txBody>
          <a:bodyPr wrap="none" lIns="0" tIns="0" rIns="0" bIns="0" anchor="ctr" anchorCtr="1">
            <a:noAutofit/>
          </a:bodyPr>
          <a:lstStyle/>
          <a:p>
            <a:pPr algn="ctr"/>
            <a:r>
              <a:rPr kumimoji="0" lang="zh-TW"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a:t>
            </a:r>
            <a:endParaRPr lang="zh-TW" altLang="en-US" dirty="0"/>
          </a:p>
        </p:txBody>
      </p:sp>
      <p:sp>
        <p:nvSpPr>
          <p:cNvPr id="84" name="文字方塊 83">
            <a:extLst>
              <a:ext uri="{FF2B5EF4-FFF2-40B4-BE49-F238E27FC236}">
                <a16:creationId xmlns:a16="http://schemas.microsoft.com/office/drawing/2014/main" id="{46CE09A6-86D7-3E1F-0DF3-F5BE88C4A8C9}"/>
              </a:ext>
            </a:extLst>
          </p:cNvPr>
          <p:cNvSpPr txBox="1"/>
          <p:nvPr/>
        </p:nvSpPr>
        <p:spPr>
          <a:xfrm>
            <a:off x="4173096" y="2698303"/>
            <a:ext cx="182880" cy="182880"/>
          </a:xfrm>
          <a:prstGeom prst="rect">
            <a:avLst/>
          </a:prstGeom>
          <a:noFill/>
        </p:spPr>
        <p:txBody>
          <a:bodyPr wrap="none" lIns="0" tIns="0" rIns="0" bIns="0" anchor="ctr" anchorCtr="1">
            <a:noAutofit/>
          </a:bodyPr>
          <a:lstStyle/>
          <a:p>
            <a:pPr algn="ctr"/>
            <a:r>
              <a:rPr kumimoji="0" lang="zh-TW"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a:t>
            </a:r>
            <a:endParaRPr lang="zh-TW" altLang="en-US" dirty="0"/>
          </a:p>
        </p:txBody>
      </p:sp>
      <p:sp>
        <p:nvSpPr>
          <p:cNvPr id="105" name="矩形 104">
            <a:extLst>
              <a:ext uri="{FF2B5EF4-FFF2-40B4-BE49-F238E27FC236}">
                <a16:creationId xmlns:a16="http://schemas.microsoft.com/office/drawing/2014/main" id="{1D3F311E-4E9E-EC4F-0D0D-E0D06449B569}"/>
              </a:ext>
            </a:extLst>
          </p:cNvPr>
          <p:cNvSpPr/>
          <p:nvPr/>
        </p:nvSpPr>
        <p:spPr>
          <a:xfrm>
            <a:off x="4389220" y="1507697"/>
            <a:ext cx="274320" cy="457200"/>
          </a:xfrm>
          <a:prstGeom prst="rect">
            <a:avLst/>
          </a:prstGeom>
          <a:solidFill>
            <a:schemeClr val="accent5">
              <a:lumMod val="20000"/>
              <a:lumOff val="80000"/>
            </a:schemeClr>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Q</a:t>
            </a:r>
          </a:p>
        </p:txBody>
      </p:sp>
      <p:sp>
        <p:nvSpPr>
          <p:cNvPr id="107" name="矩形 106">
            <a:extLst>
              <a:ext uri="{FF2B5EF4-FFF2-40B4-BE49-F238E27FC236}">
                <a16:creationId xmlns:a16="http://schemas.microsoft.com/office/drawing/2014/main" id="{519F1973-687F-5B95-7057-D9C8E3F1629B}"/>
              </a:ext>
            </a:extLst>
          </p:cNvPr>
          <p:cNvSpPr/>
          <p:nvPr/>
        </p:nvSpPr>
        <p:spPr>
          <a:xfrm>
            <a:off x="4389220" y="2037655"/>
            <a:ext cx="274320" cy="457200"/>
          </a:xfrm>
          <a:prstGeom prst="rect">
            <a:avLst/>
          </a:prstGeom>
          <a:solidFill>
            <a:schemeClr val="accent5">
              <a:lumMod val="20000"/>
              <a:lumOff val="80000"/>
            </a:schemeClr>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K</a:t>
            </a:r>
          </a:p>
        </p:txBody>
      </p:sp>
      <p:sp>
        <p:nvSpPr>
          <p:cNvPr id="114" name="矩形 113">
            <a:extLst>
              <a:ext uri="{FF2B5EF4-FFF2-40B4-BE49-F238E27FC236}">
                <a16:creationId xmlns:a16="http://schemas.microsoft.com/office/drawing/2014/main" id="{702C57CB-B9A0-5B59-8FDA-D4435F2A4386}"/>
              </a:ext>
            </a:extLst>
          </p:cNvPr>
          <p:cNvSpPr/>
          <p:nvPr/>
        </p:nvSpPr>
        <p:spPr>
          <a:xfrm>
            <a:off x="4389220" y="2566863"/>
            <a:ext cx="274320" cy="457200"/>
          </a:xfrm>
          <a:prstGeom prst="rect">
            <a:avLst/>
          </a:prstGeom>
          <a:solidFill>
            <a:schemeClr val="accent5">
              <a:lumMod val="20000"/>
              <a:lumOff val="80000"/>
            </a:schemeClr>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V</a:t>
            </a:r>
          </a:p>
        </p:txBody>
      </p:sp>
      <p:sp>
        <p:nvSpPr>
          <p:cNvPr id="122" name="矩形 121">
            <a:extLst>
              <a:ext uri="{FF2B5EF4-FFF2-40B4-BE49-F238E27FC236}">
                <a16:creationId xmlns:a16="http://schemas.microsoft.com/office/drawing/2014/main" id="{917CC541-75EC-98E7-C3F7-00E2E3D8E186}"/>
              </a:ext>
            </a:extLst>
          </p:cNvPr>
          <p:cNvSpPr/>
          <p:nvPr/>
        </p:nvSpPr>
        <p:spPr>
          <a:xfrm>
            <a:off x="3865632" y="3179893"/>
            <a:ext cx="274320" cy="457200"/>
          </a:xfrm>
          <a:prstGeom prst="rect">
            <a:avLst/>
          </a:prstGeom>
          <a:no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X</a:t>
            </a:r>
          </a:p>
        </p:txBody>
      </p:sp>
      <p:sp>
        <p:nvSpPr>
          <p:cNvPr id="127" name="矩形 126">
            <a:extLst>
              <a:ext uri="{FF2B5EF4-FFF2-40B4-BE49-F238E27FC236}">
                <a16:creationId xmlns:a16="http://schemas.microsoft.com/office/drawing/2014/main" id="{84C8E414-1A24-CE88-86D3-FC28BD98245A}"/>
              </a:ext>
            </a:extLst>
          </p:cNvPr>
          <p:cNvSpPr/>
          <p:nvPr/>
        </p:nvSpPr>
        <p:spPr>
          <a:xfrm>
            <a:off x="3379200" y="3187824"/>
            <a:ext cx="274320" cy="457200"/>
          </a:xfrm>
          <a:prstGeom prst="rect">
            <a:avLst/>
          </a:prstGeom>
          <a:no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X</a:t>
            </a:r>
          </a:p>
        </p:txBody>
      </p:sp>
      <p:sp>
        <p:nvSpPr>
          <p:cNvPr id="129" name="矩形 128">
            <a:extLst>
              <a:ext uri="{FF2B5EF4-FFF2-40B4-BE49-F238E27FC236}">
                <a16:creationId xmlns:a16="http://schemas.microsoft.com/office/drawing/2014/main" id="{8B1BB408-9A5E-EC3A-E216-C01631FE7511}"/>
              </a:ext>
            </a:extLst>
          </p:cNvPr>
          <p:cNvSpPr/>
          <p:nvPr/>
        </p:nvSpPr>
        <p:spPr>
          <a:xfrm>
            <a:off x="4389768" y="3179893"/>
            <a:ext cx="274320" cy="457200"/>
          </a:xfrm>
          <a:prstGeom prst="rect">
            <a:avLst/>
          </a:prstGeom>
          <a:no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A</a:t>
            </a:r>
          </a:p>
        </p:txBody>
      </p:sp>
      <p:sp>
        <p:nvSpPr>
          <p:cNvPr id="133" name="矩形 132">
            <a:extLst>
              <a:ext uri="{FF2B5EF4-FFF2-40B4-BE49-F238E27FC236}">
                <a16:creationId xmlns:a16="http://schemas.microsoft.com/office/drawing/2014/main" id="{A9894C23-3E0C-35A5-F89C-09C80E69EC8F}"/>
              </a:ext>
            </a:extLst>
          </p:cNvPr>
          <p:cNvSpPr/>
          <p:nvPr/>
        </p:nvSpPr>
        <p:spPr>
          <a:xfrm>
            <a:off x="4801736" y="3284984"/>
            <a:ext cx="274320" cy="274320"/>
          </a:xfrm>
          <a:prstGeom prst="rect">
            <a:avLst/>
          </a:prstGeom>
          <a:solidFill>
            <a:schemeClr val="accent1">
              <a:lumMod val="20000"/>
              <a:lumOff val="80000"/>
            </a:schemeClr>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tx1"/>
                </a:solidFill>
                <a:ea typeface="微軟正黑體" panose="020B0604030504040204" pitchFamily="34" charset="-120"/>
              </a:rPr>
              <a:t>W</a:t>
            </a:r>
            <a:r>
              <a:rPr lang="en-US" altLang="zh-TW" sz="1200" b="1" baseline="-25000" dirty="0">
                <a:solidFill>
                  <a:schemeClr val="tx1"/>
                </a:solidFill>
                <a:ea typeface="微軟正黑體" panose="020B0604030504040204" pitchFamily="34" charset="-120"/>
              </a:rPr>
              <a:t>o</a:t>
            </a:r>
          </a:p>
        </p:txBody>
      </p:sp>
      <p:sp>
        <p:nvSpPr>
          <p:cNvPr id="136" name="矩形 135">
            <a:extLst>
              <a:ext uri="{FF2B5EF4-FFF2-40B4-BE49-F238E27FC236}">
                <a16:creationId xmlns:a16="http://schemas.microsoft.com/office/drawing/2014/main" id="{B29BB397-509A-77A3-AD32-CF865443878E}"/>
              </a:ext>
            </a:extLst>
          </p:cNvPr>
          <p:cNvSpPr/>
          <p:nvPr/>
        </p:nvSpPr>
        <p:spPr>
          <a:xfrm>
            <a:off x="6883863" y="1256183"/>
            <a:ext cx="274320" cy="350747"/>
          </a:xfrm>
          <a:prstGeom prst="rect">
            <a:avLst/>
          </a:prstGeom>
          <a:no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X</a:t>
            </a:r>
          </a:p>
        </p:txBody>
      </p:sp>
    </p:spTree>
    <p:extLst>
      <p:ext uri="{BB962C8B-B14F-4D97-AF65-F5344CB8AC3E}">
        <p14:creationId xmlns:p14="http://schemas.microsoft.com/office/powerpoint/2010/main" val="104112652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線單箭頭接點 13">
            <a:extLst>
              <a:ext uri="{FF2B5EF4-FFF2-40B4-BE49-F238E27FC236}">
                <a16:creationId xmlns:a16="http://schemas.microsoft.com/office/drawing/2014/main" id="{B5EDBE07-C935-4285-720A-13592479DA23}"/>
              </a:ext>
            </a:extLst>
          </p:cNvPr>
          <p:cNvCxnSpPr>
            <a:cxnSpLocks/>
            <a:stCxn id="40" idx="3"/>
            <a:endCxn id="43" idx="1"/>
          </p:cNvCxnSpPr>
          <p:nvPr/>
        </p:nvCxnSpPr>
        <p:spPr>
          <a:xfrm flipV="1">
            <a:off x="2548535" y="3255231"/>
            <a:ext cx="145929" cy="4873"/>
          </a:xfrm>
          <a:prstGeom prst="straightConnector1">
            <a:avLst/>
          </a:prstGeom>
          <a:ln w="25400">
            <a:solidFill>
              <a:schemeClr val="bg1">
                <a:lumMod val="85000"/>
              </a:schemeClr>
            </a:solidFill>
            <a:headEnd w="med" len="lg"/>
            <a:tailEnd type="triangle"/>
          </a:ln>
        </p:spPr>
        <p:style>
          <a:lnRef idx="1">
            <a:schemeClr val="accent1"/>
          </a:lnRef>
          <a:fillRef idx="0">
            <a:schemeClr val="accent1"/>
          </a:fillRef>
          <a:effectRef idx="0">
            <a:schemeClr val="accent1"/>
          </a:effectRef>
          <a:fontRef idx="minor">
            <a:schemeClr val="tx1"/>
          </a:fontRef>
        </p:style>
      </p:cxnSp>
      <p:sp>
        <p:nvSpPr>
          <p:cNvPr id="3" name="標題 1">
            <a:extLst>
              <a:ext uri="{FF2B5EF4-FFF2-40B4-BE49-F238E27FC236}">
                <a16:creationId xmlns:a16="http://schemas.microsoft.com/office/drawing/2014/main" id="{86D655F9-6A67-F151-59CE-818F721614E9}"/>
              </a:ext>
            </a:extLst>
          </p:cNvPr>
          <p:cNvSpPr txBox="1">
            <a:spLocks/>
          </p:cNvSpPr>
          <p:nvPr/>
        </p:nvSpPr>
        <p:spPr>
          <a:xfrm>
            <a:off x="179512" y="116632"/>
            <a:ext cx="8784976"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Attention History Summary</a:t>
            </a: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G- Optimizer</a:t>
            </a:r>
          </a:p>
        </p:txBody>
      </p:sp>
      <p:sp>
        <p:nvSpPr>
          <p:cNvPr id="40" name="文字方塊 39">
            <a:extLst>
              <a:ext uri="{FF2B5EF4-FFF2-40B4-BE49-F238E27FC236}">
                <a16:creationId xmlns:a16="http://schemas.microsoft.com/office/drawing/2014/main" id="{5E692A24-6738-B7A9-C21A-DEAD8ED389ED}"/>
              </a:ext>
            </a:extLst>
          </p:cNvPr>
          <p:cNvSpPr txBox="1"/>
          <p:nvPr/>
        </p:nvSpPr>
        <p:spPr>
          <a:xfrm>
            <a:off x="1550720" y="2881946"/>
            <a:ext cx="997815" cy="756316"/>
          </a:xfrm>
          <a:prstGeom prst="rect">
            <a:avLst/>
          </a:prstGeom>
          <a:solidFill>
            <a:schemeClr val="accent3">
              <a:lumMod val="20000"/>
              <a:lumOff val="80000"/>
              <a:alpha val="80000"/>
            </a:scheme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rPr>
              <a:t>MHA</a:t>
            </a:r>
          </a:p>
          <a:p>
            <a:pPr algn="ctr">
              <a:lnSpc>
                <a:spcPts val="1400"/>
              </a:lnSpc>
              <a:buNone/>
            </a:pPr>
            <a:r>
              <a:rPr lang="en-US" altLang="zh-TW" sz="1000" dirty="0">
                <a:latin typeface="Gadugi" panose="020B0502040204020203" pitchFamily="34" charset="0"/>
                <a:ea typeface="Gadugi" panose="020B0502040204020203" pitchFamily="34" charset="0"/>
                <a:cs typeface="ADLaM Display" panose="02010000000000000000" pitchFamily="2" charset="0"/>
              </a:rPr>
              <a:t>Multi-head</a:t>
            </a:r>
          </a:p>
          <a:p>
            <a:pPr algn="ctr">
              <a:lnSpc>
                <a:spcPts val="1400"/>
              </a:lnSpc>
              <a:buNone/>
            </a:pPr>
            <a:r>
              <a:rPr lang="en-US" altLang="zh-TW" sz="1000" dirty="0">
                <a:latin typeface="Gadugi" panose="020B0502040204020203" pitchFamily="34" charset="0"/>
                <a:ea typeface="Gadugi" panose="020B0502040204020203" pitchFamily="34" charset="0"/>
                <a:cs typeface="ADLaM Display" panose="02010000000000000000" pitchFamily="2" charset="0"/>
              </a:rPr>
              <a:t>Attention</a:t>
            </a:r>
          </a:p>
          <a:p>
            <a:pPr algn="ctr">
              <a:lnSpc>
                <a:spcPts val="1400"/>
              </a:lnSpc>
              <a:buNone/>
            </a:pPr>
            <a:r>
              <a:rPr lang="en-US" altLang="zh-TW" sz="1000" dirty="0">
                <a:latin typeface="Gadugi" panose="020B0502040204020203" pitchFamily="34" charset="0"/>
                <a:ea typeface="Gadugi" panose="020B0502040204020203" pitchFamily="34" charset="0"/>
                <a:cs typeface="ADLaM Display" panose="02010000000000000000" pitchFamily="2" charset="0"/>
              </a:rPr>
              <a:t>2017</a:t>
            </a:r>
          </a:p>
        </p:txBody>
      </p:sp>
      <p:sp>
        <p:nvSpPr>
          <p:cNvPr id="43" name="文字方塊 42">
            <a:extLst>
              <a:ext uri="{FF2B5EF4-FFF2-40B4-BE49-F238E27FC236}">
                <a16:creationId xmlns:a16="http://schemas.microsoft.com/office/drawing/2014/main" id="{8FB87346-DC56-AEF0-342D-D2930905AC7A}"/>
              </a:ext>
            </a:extLst>
          </p:cNvPr>
          <p:cNvSpPr txBox="1"/>
          <p:nvPr/>
        </p:nvSpPr>
        <p:spPr>
          <a:xfrm>
            <a:off x="2694464" y="2877073"/>
            <a:ext cx="997815" cy="756316"/>
          </a:xfrm>
          <a:prstGeom prst="rect">
            <a:avLst/>
          </a:prstGeom>
          <a:solidFill>
            <a:schemeClr val="accent3">
              <a:lumMod val="20000"/>
              <a:lumOff val="80000"/>
              <a:alpha val="80000"/>
            </a:scheme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rPr>
              <a:t>MQA</a:t>
            </a:r>
            <a:endParaRPr lang="en-US" altLang="zh-TW" sz="1000" b="1" dirty="0">
              <a:latin typeface="Gadugi" panose="020B0502040204020203" pitchFamily="34" charset="0"/>
              <a:ea typeface="Gadugi" panose="020B0502040204020203" pitchFamily="34" charset="0"/>
              <a:cs typeface="ADLaM Display" panose="02010000000000000000" pitchFamily="2" charset="0"/>
            </a:endParaRPr>
          </a:p>
          <a:p>
            <a:pPr algn="ctr">
              <a:lnSpc>
                <a:spcPts val="1400"/>
              </a:lnSpc>
              <a:buNone/>
            </a:pPr>
            <a:r>
              <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rPr>
              <a:t>Multi-head</a:t>
            </a:r>
          </a:p>
          <a:p>
            <a:pPr algn="ctr">
              <a:lnSpc>
                <a:spcPts val="1400"/>
              </a:lnSpc>
              <a:buNone/>
            </a:pPr>
            <a:r>
              <a:rPr lang="en-US" altLang="zh-TW" sz="1000" dirty="0">
                <a:latin typeface="Gadugi" panose="020B0502040204020203" pitchFamily="34" charset="0"/>
                <a:ea typeface="Gadugi" panose="020B0502040204020203" pitchFamily="34" charset="0"/>
                <a:cs typeface="ADLaM Display" panose="02010000000000000000" pitchFamily="2" charset="0"/>
              </a:rPr>
              <a:t>Query</a:t>
            </a:r>
            <a:endPar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endParaRPr>
          </a:p>
          <a:p>
            <a:pPr algn="ctr">
              <a:lnSpc>
                <a:spcPts val="1400"/>
              </a:lnSpc>
              <a:buNone/>
            </a:pPr>
            <a:r>
              <a:rPr lang="en-US" altLang="zh-TW" sz="1000" dirty="0">
                <a:latin typeface="Gadugi" panose="020B0502040204020203" pitchFamily="34" charset="0"/>
                <a:ea typeface="Gadugi" panose="020B0502040204020203" pitchFamily="34" charset="0"/>
                <a:cs typeface="ADLaM Display" panose="02010000000000000000" pitchFamily="2" charset="0"/>
              </a:rPr>
              <a:t>2019</a:t>
            </a:r>
            <a:endPar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sp>
        <p:nvSpPr>
          <p:cNvPr id="45" name="文字方塊 44">
            <a:extLst>
              <a:ext uri="{FF2B5EF4-FFF2-40B4-BE49-F238E27FC236}">
                <a16:creationId xmlns:a16="http://schemas.microsoft.com/office/drawing/2014/main" id="{DD7C38EA-B020-84BB-4240-89D9927B5F9D}"/>
              </a:ext>
            </a:extLst>
          </p:cNvPr>
          <p:cNvSpPr txBox="1"/>
          <p:nvPr/>
        </p:nvSpPr>
        <p:spPr>
          <a:xfrm>
            <a:off x="3933420" y="2877073"/>
            <a:ext cx="997815" cy="756316"/>
          </a:xfrm>
          <a:prstGeom prst="rect">
            <a:avLst/>
          </a:prstGeom>
          <a:solidFill>
            <a:schemeClr val="accent3">
              <a:lumMod val="20000"/>
              <a:lumOff val="80000"/>
              <a:alpha val="80000"/>
            </a:scheme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rPr>
              <a:t>GQA</a:t>
            </a:r>
            <a:endParaRPr lang="en-US" altLang="zh-TW" sz="1000" b="1" dirty="0">
              <a:latin typeface="Gadugi" panose="020B0502040204020203" pitchFamily="34" charset="0"/>
              <a:ea typeface="Gadugi" panose="020B0502040204020203" pitchFamily="34" charset="0"/>
              <a:cs typeface="ADLaM Display" panose="02010000000000000000" pitchFamily="2" charset="0"/>
            </a:endParaRPr>
          </a:p>
          <a:p>
            <a:pPr algn="ctr">
              <a:lnSpc>
                <a:spcPts val="1400"/>
              </a:lnSpc>
              <a:buNone/>
            </a:pPr>
            <a:r>
              <a:rPr lang="en-US" altLang="zh-TW" sz="1000" dirty="0">
                <a:latin typeface="Gadugi" panose="020B0502040204020203" pitchFamily="34" charset="0"/>
                <a:ea typeface="Gadugi" panose="020B0502040204020203" pitchFamily="34" charset="0"/>
                <a:cs typeface="ADLaM Display" panose="02010000000000000000" pitchFamily="2" charset="0"/>
              </a:rPr>
              <a:t>Grouped</a:t>
            </a:r>
          </a:p>
          <a:p>
            <a:pPr algn="ctr">
              <a:lnSpc>
                <a:spcPts val="1400"/>
              </a:lnSpc>
              <a:buNone/>
            </a:pPr>
            <a:r>
              <a:rPr lang="en-US" altLang="zh-TW" sz="1000" dirty="0">
                <a:latin typeface="Gadugi" panose="020B0502040204020203" pitchFamily="34" charset="0"/>
                <a:ea typeface="Gadugi" panose="020B0502040204020203" pitchFamily="34" charset="0"/>
                <a:cs typeface="ADLaM Display" panose="02010000000000000000" pitchFamily="2" charset="0"/>
              </a:rPr>
              <a:t>2023</a:t>
            </a:r>
            <a:endPar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sp>
        <p:nvSpPr>
          <p:cNvPr id="47" name="文字方塊 46">
            <a:extLst>
              <a:ext uri="{FF2B5EF4-FFF2-40B4-BE49-F238E27FC236}">
                <a16:creationId xmlns:a16="http://schemas.microsoft.com/office/drawing/2014/main" id="{4825069F-3E9A-E4EE-E74C-D41403F29A14}"/>
              </a:ext>
            </a:extLst>
          </p:cNvPr>
          <p:cNvSpPr txBox="1"/>
          <p:nvPr/>
        </p:nvSpPr>
        <p:spPr>
          <a:xfrm>
            <a:off x="5007071" y="2877073"/>
            <a:ext cx="997815" cy="756316"/>
          </a:xfrm>
          <a:prstGeom prst="rect">
            <a:avLst/>
          </a:prstGeom>
          <a:solidFill>
            <a:schemeClr val="accent3">
              <a:lumMod val="20000"/>
              <a:lumOff val="80000"/>
              <a:alpha val="80000"/>
            </a:scheme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rPr>
              <a:t>MLA</a:t>
            </a:r>
            <a:endParaRPr lang="en-US" altLang="zh-TW" sz="1000" b="1" dirty="0">
              <a:latin typeface="Gadugi" panose="020B0502040204020203" pitchFamily="34" charset="0"/>
              <a:ea typeface="Gadugi" panose="020B0502040204020203" pitchFamily="34" charset="0"/>
              <a:cs typeface="ADLaM Display" panose="02010000000000000000" pitchFamily="2" charset="0"/>
            </a:endParaRPr>
          </a:p>
          <a:p>
            <a:pPr algn="ctr">
              <a:lnSpc>
                <a:spcPts val="1400"/>
              </a:lnSpc>
              <a:buNone/>
            </a:pPr>
            <a:r>
              <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rPr>
              <a:t>Multi-head</a:t>
            </a:r>
          </a:p>
          <a:p>
            <a:pPr algn="ctr">
              <a:lnSpc>
                <a:spcPts val="1400"/>
              </a:lnSpc>
              <a:buNone/>
            </a:pPr>
            <a:r>
              <a:rPr lang="en-US" altLang="zh-TW" sz="1000" dirty="0">
                <a:latin typeface="Gadugi" panose="020B0502040204020203" pitchFamily="34" charset="0"/>
                <a:ea typeface="Gadugi" panose="020B0502040204020203" pitchFamily="34" charset="0"/>
                <a:cs typeface="ADLaM Display" panose="02010000000000000000" pitchFamily="2" charset="0"/>
              </a:rPr>
              <a:t>Latent</a:t>
            </a:r>
            <a:endPar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endParaRPr>
          </a:p>
          <a:p>
            <a:pPr algn="ctr">
              <a:lnSpc>
                <a:spcPts val="1400"/>
              </a:lnSpc>
              <a:buNone/>
            </a:pPr>
            <a:r>
              <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rPr>
              <a:t>2025</a:t>
            </a:r>
          </a:p>
        </p:txBody>
      </p:sp>
      <p:sp>
        <p:nvSpPr>
          <p:cNvPr id="49" name="文字方塊 48">
            <a:extLst>
              <a:ext uri="{FF2B5EF4-FFF2-40B4-BE49-F238E27FC236}">
                <a16:creationId xmlns:a16="http://schemas.microsoft.com/office/drawing/2014/main" id="{08654FBF-C8C1-0648-464D-6B0A286576BD}"/>
              </a:ext>
            </a:extLst>
          </p:cNvPr>
          <p:cNvSpPr txBox="1"/>
          <p:nvPr/>
        </p:nvSpPr>
        <p:spPr>
          <a:xfrm>
            <a:off x="6082703" y="2877073"/>
            <a:ext cx="997815" cy="756316"/>
          </a:xfrm>
          <a:prstGeom prst="rect">
            <a:avLst/>
          </a:prstGeom>
          <a:solidFill>
            <a:schemeClr val="accent3">
              <a:lumMod val="20000"/>
              <a:lumOff val="80000"/>
              <a:alpha val="80000"/>
            </a:scheme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rPr>
              <a:t>KDA</a:t>
            </a:r>
            <a:endParaRPr lang="en-US" altLang="zh-TW" sz="1000" b="1" dirty="0">
              <a:latin typeface="Gadugi" panose="020B0502040204020203" pitchFamily="34" charset="0"/>
              <a:ea typeface="Gadugi" panose="020B0502040204020203" pitchFamily="34" charset="0"/>
              <a:cs typeface="ADLaM Display" panose="02010000000000000000" pitchFamily="2" charset="0"/>
            </a:endParaRPr>
          </a:p>
          <a:p>
            <a:pPr algn="ctr">
              <a:lnSpc>
                <a:spcPts val="1400"/>
              </a:lnSpc>
              <a:buNone/>
            </a:pPr>
            <a:r>
              <a:rPr lang="en-US" altLang="zh-TW" sz="1000" dirty="0">
                <a:latin typeface="Gadugi" panose="020B0502040204020203" pitchFamily="34" charset="0"/>
                <a:ea typeface="Gadugi" panose="020B0502040204020203" pitchFamily="34" charset="0"/>
                <a:cs typeface="ADLaM Display" panose="02010000000000000000" pitchFamily="2" charset="0"/>
              </a:rPr>
              <a:t>Kimi Delta</a:t>
            </a:r>
          </a:p>
          <a:p>
            <a:pPr algn="ctr">
              <a:lnSpc>
                <a:spcPts val="1400"/>
              </a:lnSpc>
              <a:buNone/>
            </a:pPr>
            <a:r>
              <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rPr>
              <a:t>2026</a:t>
            </a:r>
          </a:p>
        </p:txBody>
      </p:sp>
    </p:spTree>
    <p:extLst>
      <p:ext uri="{BB962C8B-B14F-4D97-AF65-F5344CB8AC3E}">
        <p14:creationId xmlns:p14="http://schemas.microsoft.com/office/powerpoint/2010/main" val="345226759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38658-2B3C-8DE5-45DA-23737A42A4AD}"/>
            </a:ext>
          </a:extLst>
        </p:cNvPr>
        <p:cNvGrpSpPr/>
        <p:nvPr/>
      </p:nvGrpSpPr>
      <p:grpSpPr>
        <a:xfrm>
          <a:off x="0" y="0"/>
          <a:ext cx="0" cy="0"/>
          <a:chOff x="0" y="0"/>
          <a:chExt cx="0" cy="0"/>
        </a:xfrm>
      </p:grpSpPr>
      <p:pic>
        <p:nvPicPr>
          <p:cNvPr id="2" name="圖片 1">
            <a:extLst>
              <a:ext uri="{FF2B5EF4-FFF2-40B4-BE49-F238E27FC236}">
                <a16:creationId xmlns:a16="http://schemas.microsoft.com/office/drawing/2014/main" id="{EC336CA0-741B-90B5-2048-06767EC967D4}"/>
              </a:ext>
            </a:extLst>
          </p:cNvPr>
          <p:cNvPicPr>
            <a:picLocks noChangeAspect="1"/>
          </p:cNvPicPr>
          <p:nvPr/>
        </p:nvPicPr>
        <p:blipFill>
          <a:blip r:embed="rId3"/>
          <a:stretch>
            <a:fillRect/>
          </a:stretch>
        </p:blipFill>
        <p:spPr>
          <a:xfrm>
            <a:off x="8224137" y="37246"/>
            <a:ext cx="740352" cy="740352"/>
          </a:xfrm>
          <a:prstGeom prst="rect">
            <a:avLst/>
          </a:prstGeom>
        </p:spPr>
      </p:pic>
      <p:sp>
        <p:nvSpPr>
          <p:cNvPr id="5" name="標題 1">
            <a:extLst>
              <a:ext uri="{FF2B5EF4-FFF2-40B4-BE49-F238E27FC236}">
                <a16:creationId xmlns:a16="http://schemas.microsoft.com/office/drawing/2014/main" id="{960A8EDD-0A24-CE7E-CD63-1B7D075BCAA1}"/>
              </a:ext>
            </a:extLst>
          </p:cNvPr>
          <p:cNvSpPr txBox="1">
            <a:spLocks/>
          </p:cNvSpPr>
          <p:nvPr/>
        </p:nvSpPr>
        <p:spPr>
          <a:xfrm>
            <a:off x="179512" y="116632"/>
            <a:ext cx="6978340"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DeepSeek</a:t>
            </a:r>
            <a:r>
              <a:rPr lang="zh-TW" altLang="en-US" sz="2800" dirty="0">
                <a:latin typeface="Noto Sans HK" panose="020B0200000000000000" pitchFamily="34" charset="-120"/>
                <a:ea typeface="Noto Sans HK" panose="020B0200000000000000" pitchFamily="34" charset="-120"/>
                <a:cs typeface="Aharoni" panose="020F0502020204030204" pitchFamily="2" charset="-79"/>
              </a:rPr>
              <a:t> </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Family</a:t>
            </a:r>
            <a:br>
              <a:rPr lang="en-US" altLang="zh-TW" sz="2800" dirty="0">
                <a:latin typeface="Noto Sans HK" panose="020B0200000000000000" pitchFamily="34" charset="-120"/>
                <a:ea typeface="Noto Sans HK" panose="020B0200000000000000" pitchFamily="34" charset="-120"/>
                <a:cs typeface="Aharoni" panose="020F0502020204030204" pitchFamily="2" charset="-79"/>
              </a:rPr>
            </a:b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An ultra-cost-efficient hardware maximizer that slashes KV cache memory by over 90% through shared and fine-grained expert architectures. </a:t>
            </a: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sp>
        <p:nvSpPr>
          <p:cNvPr id="6" name="標題 1">
            <a:extLst>
              <a:ext uri="{FF2B5EF4-FFF2-40B4-BE49-F238E27FC236}">
                <a16:creationId xmlns:a16="http://schemas.microsoft.com/office/drawing/2014/main" id="{533B2B92-2B9A-4E68-37FC-4D4796F63F0C}"/>
              </a:ext>
            </a:extLst>
          </p:cNvPr>
          <p:cNvSpPr txBox="1">
            <a:spLocks/>
          </p:cNvSpPr>
          <p:nvPr/>
        </p:nvSpPr>
        <p:spPr>
          <a:xfrm>
            <a:off x="8224137" y="620689"/>
            <a:ext cx="740352" cy="504056"/>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dirty="0">
                <a:solidFill>
                  <a:srgbClr val="4C6BFF"/>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DeepSeek</a:t>
            </a:r>
          </a:p>
          <a:p>
            <a:pPr algn="ctr"/>
            <a:r>
              <a:rPr lang="zh-TW" altLang="en-US" sz="1000" dirty="0">
                <a:solidFill>
                  <a:srgbClr val="4C6BFF"/>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深度求索</a:t>
            </a:r>
            <a:endParaRPr lang="en-US" altLang="zh-TW" sz="1000" dirty="0">
              <a:solidFill>
                <a:srgbClr val="4C6BFF"/>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pPr algn="ctr"/>
            <a:r>
              <a:rPr lang="en-US" altLang="zh-TW" sz="1000" dirty="0">
                <a:solidFill>
                  <a:srgbClr val="4C6BFF"/>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2023</a:t>
            </a:r>
          </a:p>
        </p:txBody>
      </p:sp>
      <p:sp>
        <p:nvSpPr>
          <p:cNvPr id="7" name="文字方塊 6">
            <a:extLst>
              <a:ext uri="{FF2B5EF4-FFF2-40B4-BE49-F238E27FC236}">
                <a16:creationId xmlns:a16="http://schemas.microsoft.com/office/drawing/2014/main" id="{1887142E-F390-F7B5-0F57-E6099827F1D5}"/>
              </a:ext>
            </a:extLst>
          </p:cNvPr>
          <p:cNvSpPr txBox="1"/>
          <p:nvPr/>
        </p:nvSpPr>
        <p:spPr>
          <a:xfrm>
            <a:off x="179510" y="1377042"/>
            <a:ext cx="8280922" cy="2400657"/>
          </a:xfrm>
          <a:prstGeom prst="rect">
            <a:avLst/>
          </a:prstGeom>
          <a:solidFill>
            <a:schemeClr val="bg1">
              <a:alpha val="90000"/>
            </a:schemeClr>
          </a:solidFill>
        </p:spPr>
        <p:txBody>
          <a:bodyPr wrap="square">
            <a:spAutoFit/>
          </a:bodyPr>
          <a:lstStyle/>
          <a:p>
            <a:pPr>
              <a:lnSpc>
                <a:spcPts val="1800"/>
              </a:lnSpc>
              <a:spcBef>
                <a:spcPts val="600"/>
              </a:spcBef>
              <a:spcAft>
                <a:spcPts val="600"/>
              </a:spcAft>
              <a:buNone/>
            </a:pPr>
            <a:r>
              <a:rPr lang="en-US" altLang="zh-TW" sz="2000" b="1" u="none" strike="noStrike" dirty="0">
                <a:effectLst/>
              </a:rPr>
              <a:t>Features</a:t>
            </a:r>
          </a:p>
          <a:p>
            <a:pPr marL="285750" indent="-285750">
              <a:lnSpc>
                <a:spcPts val="1800"/>
              </a:lnSpc>
              <a:spcBef>
                <a:spcPts val="600"/>
              </a:spcBef>
              <a:spcAft>
                <a:spcPts val="600"/>
              </a:spcAft>
              <a:buFont typeface="Wingdings" panose="05000000000000000000" pitchFamily="2" charset="2"/>
              <a:buChar char="Ø"/>
            </a:pPr>
            <a:r>
              <a:rPr lang="en-US" altLang="zh-TW" sz="1600" b="1" dirty="0"/>
              <a:t>DeepSeek : </a:t>
            </a:r>
            <a:r>
              <a:rPr lang="en-US" altLang="zh-TW" sz="1600" dirty="0"/>
              <a:t>Funded by High-Flyer Quant, CEO(</a:t>
            </a:r>
            <a:r>
              <a:rPr lang="zh-TW" altLang="en-US" sz="1400" dirty="0">
                <a:solidFill>
                  <a:prstClr val="black"/>
                </a:solidFill>
                <a:latin typeface="微軟正黑體" panose="020B0604030504040204" pitchFamily="34" charset="-120"/>
                <a:ea typeface="微軟正黑體" panose="020B0604030504040204" pitchFamily="34" charset="-120"/>
              </a:rPr>
              <a:t>梁文鋒</a:t>
            </a:r>
            <a:r>
              <a:rPr lang="en-US" altLang="zh-TW" sz="1400" dirty="0">
                <a:solidFill>
                  <a:prstClr val="black"/>
                </a:solidFill>
                <a:latin typeface="微軟正黑體" panose="020B0604030504040204" pitchFamily="34" charset="-120"/>
                <a:ea typeface="微軟正黑體" panose="020B0604030504040204" pitchFamily="34" charset="-120"/>
              </a:rPr>
              <a:t>1985</a:t>
            </a:r>
            <a:r>
              <a:rPr lang="zh-TW" altLang="en-US" sz="1400" dirty="0">
                <a:solidFill>
                  <a:prstClr val="black"/>
                </a:solidFill>
                <a:latin typeface="微軟正黑體" panose="020B0604030504040204" pitchFamily="34" charset="-120"/>
                <a:ea typeface="微軟正黑體" panose="020B0604030504040204" pitchFamily="34" charset="-120"/>
              </a:rPr>
              <a:t>浙江大學</a:t>
            </a:r>
            <a:r>
              <a:rPr lang="en-US" altLang="zh-TW" sz="1400" dirty="0">
                <a:solidFill>
                  <a:prstClr val="black"/>
                </a:solidFill>
                <a:latin typeface="微軟正黑體" panose="020B0604030504040204" pitchFamily="34" charset="-120"/>
                <a:ea typeface="微軟正黑體" panose="020B0604030504040204" pitchFamily="34" charset="-120"/>
              </a:rPr>
              <a:t>-</a:t>
            </a:r>
            <a:r>
              <a:rPr lang="en-US" altLang="zh-TW" sz="1600" dirty="0"/>
              <a:t>).</a:t>
            </a:r>
          </a:p>
          <a:p>
            <a:pPr marL="285750" indent="-285750">
              <a:lnSpc>
                <a:spcPts val="1800"/>
              </a:lnSpc>
              <a:spcBef>
                <a:spcPts val="600"/>
              </a:spcBef>
              <a:spcAft>
                <a:spcPts val="600"/>
              </a:spcAft>
              <a:buFont typeface="Wingdings" panose="05000000000000000000" pitchFamily="2" charset="2"/>
              <a:buChar char="Ø"/>
            </a:pPr>
            <a:r>
              <a:rPr lang="en-US" altLang="zh-TW" sz="1600" b="1" dirty="0"/>
              <a:t>Key Technology:</a:t>
            </a:r>
            <a:r>
              <a:rPr lang="en-US" altLang="zh-TW" sz="1600" dirty="0"/>
              <a:t> </a:t>
            </a:r>
          </a:p>
          <a:p>
            <a:pPr marL="742950" lvl="1" indent="-285750">
              <a:lnSpc>
                <a:spcPts val="1800"/>
              </a:lnSpc>
              <a:spcBef>
                <a:spcPts val="600"/>
              </a:spcBef>
              <a:buFont typeface="Arial" panose="020B0604020202020204" pitchFamily="34" charset="0"/>
              <a:buChar char="•"/>
            </a:pPr>
            <a:r>
              <a:rPr lang="en-US" altLang="zh-TW" sz="1600" dirty="0"/>
              <a:t>V2 Multi-head Latent Attention(</a:t>
            </a:r>
            <a:r>
              <a:rPr lang="en-US" altLang="zh-TW" sz="1600" b="1" dirty="0"/>
              <a:t>MLA</a:t>
            </a:r>
            <a:r>
              <a:rPr lang="en-US" altLang="zh-TW" sz="1600" dirty="0"/>
              <a:t>): Reduced KV cache usage by 90%.</a:t>
            </a:r>
          </a:p>
          <a:p>
            <a:pPr marL="742950" lvl="1" indent="-285750">
              <a:lnSpc>
                <a:spcPts val="1800"/>
              </a:lnSpc>
              <a:spcBef>
                <a:spcPts val="600"/>
              </a:spcBef>
              <a:buFont typeface="Arial" panose="020B0604020202020204" pitchFamily="34" charset="0"/>
              <a:buChar char="•"/>
            </a:pPr>
            <a:r>
              <a:rPr lang="en-US" altLang="zh-TW" sz="1600" dirty="0"/>
              <a:t>V3 </a:t>
            </a:r>
            <a:r>
              <a:rPr lang="en-US" altLang="zh-TW" sz="1600" b="1" dirty="0"/>
              <a:t>DSA</a:t>
            </a:r>
            <a:r>
              <a:rPr lang="en-US" altLang="zh-TW" sz="1600" dirty="0"/>
              <a:t>: Select Top-K token via lighting Indexer.</a:t>
            </a:r>
          </a:p>
          <a:p>
            <a:pPr marL="742950" lvl="1" indent="-285750">
              <a:lnSpc>
                <a:spcPts val="1800"/>
              </a:lnSpc>
              <a:spcBef>
                <a:spcPts val="600"/>
              </a:spcBef>
              <a:buFont typeface="Arial" panose="020B0604020202020204" pitchFamily="34" charset="0"/>
              <a:buChar char="•"/>
            </a:pPr>
            <a:r>
              <a:rPr lang="en-US" altLang="zh-TW" sz="1600" dirty="0"/>
              <a:t>V4 Hybrid MHA: Sliding Window(</a:t>
            </a:r>
            <a:r>
              <a:rPr lang="en-US" altLang="zh-TW" sz="1600" b="1" dirty="0"/>
              <a:t>SWA</a:t>
            </a:r>
            <a:r>
              <a:rPr lang="en-US" altLang="zh-TW" sz="1600" dirty="0"/>
              <a:t>), Heavily(</a:t>
            </a:r>
            <a:r>
              <a:rPr lang="en-US" altLang="zh-TW" sz="1600" b="1" dirty="0"/>
              <a:t>HCA</a:t>
            </a:r>
            <a:r>
              <a:rPr lang="en-US" altLang="zh-TW" sz="1600" dirty="0"/>
              <a:t>), Compressed Sparse(</a:t>
            </a:r>
            <a:r>
              <a:rPr lang="en-US" altLang="zh-TW" sz="1600" b="1" dirty="0"/>
              <a:t>CSA</a:t>
            </a:r>
            <a:r>
              <a:rPr lang="en-US" altLang="zh-TW" sz="1600" dirty="0"/>
              <a:t>).</a:t>
            </a:r>
          </a:p>
          <a:p>
            <a:pPr marL="742950" lvl="1" indent="-285750">
              <a:lnSpc>
                <a:spcPts val="1800"/>
              </a:lnSpc>
              <a:spcBef>
                <a:spcPts val="600"/>
              </a:spcBef>
              <a:buFont typeface="Arial" panose="020B0604020202020204" pitchFamily="34" charset="0"/>
              <a:buChar char="•"/>
            </a:pPr>
            <a:r>
              <a:rPr lang="en-US" altLang="zh-TW" sz="1600" dirty="0"/>
              <a:t>V4 Manifold-constrained Hyper-Connections (</a:t>
            </a:r>
            <a:r>
              <a:rPr lang="en-US" altLang="zh-TW" sz="1600" b="1" dirty="0" err="1"/>
              <a:t>M</a:t>
            </a:r>
            <a:r>
              <a:rPr lang="en-US" altLang="zh-TW" sz="1600" dirty="0" err="1">
                <a:solidFill>
                  <a:schemeClr val="tx1">
                    <a:lumMod val="50000"/>
                    <a:lumOff val="50000"/>
                  </a:schemeClr>
                </a:solidFill>
              </a:rPr>
              <a:t>c</a:t>
            </a:r>
            <a:r>
              <a:rPr lang="en-US" altLang="zh-TW" sz="1600" b="1" dirty="0" err="1"/>
              <a:t>HC</a:t>
            </a:r>
            <a:r>
              <a:rPr lang="en-US" altLang="zh-TW" sz="1600" dirty="0"/>
              <a:t>): Replacing residual stream.</a:t>
            </a:r>
          </a:p>
        </p:txBody>
      </p:sp>
      <p:sp>
        <p:nvSpPr>
          <p:cNvPr id="24" name="標題 1">
            <a:extLst>
              <a:ext uri="{FF2B5EF4-FFF2-40B4-BE49-F238E27FC236}">
                <a16:creationId xmlns:a16="http://schemas.microsoft.com/office/drawing/2014/main" id="{1EAB493B-DEBA-4B6C-68E5-EBAB1AC6BF46}"/>
              </a:ext>
            </a:extLst>
          </p:cNvPr>
          <p:cNvSpPr txBox="1">
            <a:spLocks/>
          </p:cNvSpPr>
          <p:nvPr/>
        </p:nvSpPr>
        <p:spPr>
          <a:xfrm>
            <a:off x="8224137" y="1844824"/>
            <a:ext cx="740352" cy="564468"/>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High-Flyer</a:t>
            </a:r>
          </a:p>
          <a:p>
            <a:pPr algn="ctr"/>
            <a:r>
              <a:rPr lang="en-US" altLang="zh-TW" sz="10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Quant</a:t>
            </a:r>
          </a:p>
          <a:p>
            <a:pPr algn="ctr"/>
            <a:r>
              <a:rPr lang="zh-TW" altLang="en-US" sz="10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幻方量化</a:t>
            </a:r>
            <a:endParaRPr lang="en-US" altLang="zh-TW" sz="10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pPr algn="ctr"/>
            <a:r>
              <a:rPr lang="en-US" altLang="zh-TW" sz="10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2015</a:t>
            </a:r>
          </a:p>
        </p:txBody>
      </p:sp>
      <p:pic>
        <p:nvPicPr>
          <p:cNvPr id="25" name="圖片 24">
            <a:extLst>
              <a:ext uri="{FF2B5EF4-FFF2-40B4-BE49-F238E27FC236}">
                <a16:creationId xmlns:a16="http://schemas.microsoft.com/office/drawing/2014/main" id="{E7B9DB21-ADDA-F8F3-EE59-DFABC84DD3AA}"/>
              </a:ext>
            </a:extLst>
          </p:cNvPr>
          <p:cNvPicPr>
            <a:picLocks noChangeAspect="1"/>
          </p:cNvPicPr>
          <p:nvPr/>
        </p:nvPicPr>
        <p:blipFill>
          <a:blip r:embed="rId4"/>
          <a:stretch>
            <a:fillRect/>
          </a:stretch>
        </p:blipFill>
        <p:spPr>
          <a:xfrm>
            <a:off x="8312078" y="1280355"/>
            <a:ext cx="564469" cy="564469"/>
          </a:xfrm>
          <a:prstGeom prst="rect">
            <a:avLst/>
          </a:prstGeom>
        </p:spPr>
      </p:pic>
      <p:graphicFrame>
        <p:nvGraphicFramePr>
          <p:cNvPr id="8" name="表格 7">
            <a:extLst>
              <a:ext uri="{FF2B5EF4-FFF2-40B4-BE49-F238E27FC236}">
                <a16:creationId xmlns:a16="http://schemas.microsoft.com/office/drawing/2014/main" id="{764D7129-E992-939D-352F-5A96D493C7CE}"/>
              </a:ext>
            </a:extLst>
          </p:cNvPr>
          <p:cNvGraphicFramePr>
            <a:graphicFrameLocks noGrp="1"/>
          </p:cNvGraphicFramePr>
          <p:nvPr>
            <p:extLst>
              <p:ext uri="{D42A27DB-BD31-4B8C-83A1-F6EECF244321}">
                <p14:modId xmlns:p14="http://schemas.microsoft.com/office/powerpoint/2010/main" val="2026683719"/>
              </p:ext>
            </p:extLst>
          </p:nvPr>
        </p:nvGraphicFramePr>
        <p:xfrm>
          <a:off x="505166" y="4005064"/>
          <a:ext cx="8133668" cy="2465708"/>
        </p:xfrm>
        <a:graphic>
          <a:graphicData uri="http://schemas.openxmlformats.org/drawingml/2006/table">
            <a:tbl>
              <a:tblPr firstRow="1" bandRow="1">
                <a:tableStyleId>{5C22544A-7EE6-4342-B048-85BDC9FD1C3A}</a:tableStyleId>
              </a:tblPr>
              <a:tblGrid>
                <a:gridCol w="322418">
                  <a:extLst>
                    <a:ext uri="{9D8B030D-6E8A-4147-A177-3AD203B41FA5}">
                      <a16:colId xmlns:a16="http://schemas.microsoft.com/office/drawing/2014/main" val="4198244561"/>
                    </a:ext>
                  </a:extLst>
                </a:gridCol>
                <a:gridCol w="576064">
                  <a:extLst>
                    <a:ext uri="{9D8B030D-6E8A-4147-A177-3AD203B41FA5}">
                      <a16:colId xmlns:a16="http://schemas.microsoft.com/office/drawing/2014/main" val="2211145501"/>
                    </a:ext>
                  </a:extLst>
                </a:gridCol>
                <a:gridCol w="648072">
                  <a:extLst>
                    <a:ext uri="{9D8B030D-6E8A-4147-A177-3AD203B41FA5}">
                      <a16:colId xmlns:a16="http://schemas.microsoft.com/office/drawing/2014/main" val="767948712"/>
                    </a:ext>
                  </a:extLst>
                </a:gridCol>
                <a:gridCol w="432048">
                  <a:extLst>
                    <a:ext uri="{9D8B030D-6E8A-4147-A177-3AD203B41FA5}">
                      <a16:colId xmlns:a16="http://schemas.microsoft.com/office/drawing/2014/main" val="2420987057"/>
                    </a:ext>
                  </a:extLst>
                </a:gridCol>
                <a:gridCol w="1106952">
                  <a:extLst>
                    <a:ext uri="{9D8B030D-6E8A-4147-A177-3AD203B41FA5}">
                      <a16:colId xmlns:a16="http://schemas.microsoft.com/office/drawing/2014/main" val="3715013544"/>
                    </a:ext>
                  </a:extLst>
                </a:gridCol>
                <a:gridCol w="837264">
                  <a:extLst>
                    <a:ext uri="{9D8B030D-6E8A-4147-A177-3AD203B41FA5}">
                      <a16:colId xmlns:a16="http://schemas.microsoft.com/office/drawing/2014/main" val="3639967230"/>
                    </a:ext>
                  </a:extLst>
                </a:gridCol>
                <a:gridCol w="937728">
                  <a:extLst>
                    <a:ext uri="{9D8B030D-6E8A-4147-A177-3AD203B41FA5}">
                      <a16:colId xmlns:a16="http://schemas.microsoft.com/office/drawing/2014/main" val="3328686525"/>
                    </a:ext>
                  </a:extLst>
                </a:gridCol>
                <a:gridCol w="288032">
                  <a:extLst>
                    <a:ext uri="{9D8B030D-6E8A-4147-A177-3AD203B41FA5}">
                      <a16:colId xmlns:a16="http://schemas.microsoft.com/office/drawing/2014/main" val="3752581630"/>
                    </a:ext>
                  </a:extLst>
                </a:gridCol>
                <a:gridCol w="504056">
                  <a:extLst>
                    <a:ext uri="{9D8B030D-6E8A-4147-A177-3AD203B41FA5}">
                      <a16:colId xmlns:a16="http://schemas.microsoft.com/office/drawing/2014/main" val="40210933"/>
                    </a:ext>
                  </a:extLst>
                </a:gridCol>
                <a:gridCol w="394420">
                  <a:extLst>
                    <a:ext uri="{9D8B030D-6E8A-4147-A177-3AD203B41FA5}">
                      <a16:colId xmlns:a16="http://schemas.microsoft.com/office/drawing/2014/main" val="3722446267"/>
                    </a:ext>
                  </a:extLst>
                </a:gridCol>
                <a:gridCol w="394420">
                  <a:extLst>
                    <a:ext uri="{9D8B030D-6E8A-4147-A177-3AD203B41FA5}">
                      <a16:colId xmlns:a16="http://schemas.microsoft.com/office/drawing/2014/main" val="3159408052"/>
                    </a:ext>
                  </a:extLst>
                </a:gridCol>
                <a:gridCol w="846097">
                  <a:extLst>
                    <a:ext uri="{9D8B030D-6E8A-4147-A177-3AD203B41FA5}">
                      <a16:colId xmlns:a16="http://schemas.microsoft.com/office/drawing/2014/main" val="2746565255"/>
                    </a:ext>
                  </a:extLst>
                </a:gridCol>
                <a:gridCol w="846097">
                  <a:extLst>
                    <a:ext uri="{9D8B030D-6E8A-4147-A177-3AD203B41FA5}">
                      <a16:colId xmlns:a16="http://schemas.microsoft.com/office/drawing/2014/main" val="1920063261"/>
                    </a:ext>
                  </a:extLst>
                </a:gridCol>
              </a:tblGrid>
              <a:tr h="333543">
                <a:tc rowSpan="3">
                  <a:txBody>
                    <a:bodyPr/>
                    <a:lstStyle/>
                    <a:p>
                      <a:pPr algn="ctr"/>
                      <a:endParaRPr lang="zh-TW" altLang="en-US" sz="1200" b="0" cap="none" spc="0" dirty="0">
                        <a:ln w="0"/>
                        <a:solidFill>
                          <a:schemeClr val="tx1"/>
                        </a:solidFill>
                        <a:effectLst/>
                        <a:latin typeface="+mn-l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noFill/>
                  </a:tcP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ADLaM Display" panose="02010000000000000000" pitchFamily="2" charset="0"/>
                          <a:cs typeface="ADLaM Display" panose="02010000000000000000" pitchFamily="2" charset="0"/>
                        </a:rPr>
                        <a:t>Version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ADLaM Display" panose="02010000000000000000" pitchFamily="2" charset="0"/>
                          <a:cs typeface="ADLaM Display" panose="02010000000000000000" pitchFamily="2" charset="0"/>
                        </a:rPr>
                        <a:t>Type</a:t>
                      </a:r>
                      <a:endParaRPr kumimoji="0" lang="zh-TW" altLang="en-US" sz="1200" b="0" i="0" u="none" strike="noStrike" kern="1200" cap="none" spc="0" normalizeH="0" baseline="0" noProof="0" dirty="0">
                        <a:ln w="0"/>
                        <a:solidFill>
                          <a:prstClr val="black"/>
                        </a:solidFill>
                        <a:effectLst/>
                        <a:uLnTx/>
                        <a:uFillTx/>
                        <a:latin typeface="+mn-lt"/>
                        <a:ea typeface="+mn-ea"/>
                        <a:cs typeface="ADLaM Display" panose="02010000000000000000" pitchFamily="2"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noFill/>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ADLaM Display" panose="02010000000000000000" pitchFamily="2" charset="0"/>
                          <a:cs typeface="ADLaM Display" panose="02010000000000000000" pitchFamily="2" charset="0"/>
                        </a:rPr>
                        <a:t>Key Technology</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solidFill>
                      <a:schemeClr val="accent1">
                        <a:lumMod val="20000"/>
                        <a:lumOff val="80000"/>
                      </a:schemeClr>
                    </a:solidFill>
                  </a:tcPr>
                </a:tc>
                <a:tc hMerge="1">
                  <a:txBody>
                    <a:bodyPr/>
                    <a:lstStyle/>
                    <a:p>
                      <a:endParaRPr lang="zh-TW" alt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noFill/>
                  </a:tcPr>
                </a:tc>
                <a:tc hMerge="1">
                  <a:txBody>
                    <a:bodyPr/>
                    <a:lstStyle/>
                    <a:p>
                      <a:endParaRPr lang="zh-TW" altLang="en-US"/>
                    </a:p>
                  </a:txBody>
                  <a:tcPr/>
                </a:tc>
                <a:tc gridSpan="7">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latin typeface="+mn-lt"/>
                          <a:ea typeface="ADLaM Display" panose="02010000000000000000" pitchFamily="2" charset="0"/>
                          <a:cs typeface="ADLaM Display" panose="02010000000000000000" pitchFamily="2" charset="0"/>
                        </a:rPr>
                        <a:t>Memory consumption</a:t>
                      </a:r>
                      <a:endParaRPr lang="zh-TW" altLang="en-US" sz="1200" b="0" cap="none" spc="0" dirty="0">
                        <a:ln w="0"/>
                        <a:solidFill>
                          <a:schemeClr val="tx1"/>
                        </a:solidFill>
                        <a:effectLst/>
                        <a:latin typeface="+mn-lt"/>
                        <a:cs typeface="ADLaM Display" panose="02010000000000000000" pitchFamily="2"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solidFill>
                      <a:schemeClr val="accent2">
                        <a:lumMod val="40000"/>
                        <a:lumOff val="60000"/>
                        <a:alpha val="40000"/>
                      </a:schemeClr>
                    </a:solidFill>
                  </a:tcPr>
                </a:tc>
                <a:tc hMerge="1">
                  <a:txBody>
                    <a:bodyPr/>
                    <a:lstStyle/>
                    <a:p>
                      <a:endParaRPr dirty="0"/>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solidFill>
                      <a:schemeClr val="accent2">
                        <a:lumMod val="20000"/>
                        <a:lumOff val="80000"/>
                      </a:schemeClr>
                    </a:solid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lnL w="12700" cmpd="sng">
                      <a:noFill/>
                    </a:lnL>
                  </a:tcPr>
                </a:tc>
                <a:tc hMerge="1">
                  <a:txBody>
                    <a:bodyPr/>
                    <a:lstStyle/>
                    <a:p>
                      <a:endParaRPr lang="zh-TW" altLang="en-US"/>
                    </a:p>
                  </a:txBody>
                  <a:tcPr/>
                </a:tc>
                <a:tc hMerge="1">
                  <a:txBody>
                    <a:bodyPr/>
                    <a:lstStyle/>
                    <a:p>
                      <a:endParaRPr dirty="0"/>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254132">
                <a:tc vMerge="1">
                  <a:txBody>
                    <a:bodyPr/>
                    <a:lstStyle/>
                    <a:p>
                      <a:pPr algn="ctr"/>
                      <a:endParaRPr lang="zh-TW" altLang="en-US" sz="1200" b="1"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vMerge="1">
                  <a:txBody>
                    <a:bodyPr/>
                    <a:lstStyle/>
                    <a:p>
                      <a:endParaRPr lang="zh-TW" altLang="en-US"/>
                    </a:p>
                  </a:txBody>
                  <a:tcPr/>
                </a:tc>
                <a:tc gridSpan="2">
                  <a:txBody>
                    <a:bodyPr/>
                    <a:lstStyle/>
                    <a:p>
                      <a:pPr algn="ctr"/>
                      <a:r>
                        <a:rPr kumimoji="0" lang="en-US" altLang="zh-TW" sz="1200" b="0" i="0" u="none" strike="noStrike" kern="1200" cap="none" spc="0" normalizeH="0" baseline="0" noProof="0" dirty="0">
                          <a:ln w="0"/>
                          <a:solidFill>
                            <a:schemeClr val="tx1"/>
                          </a:solidFill>
                          <a:effectLst/>
                          <a:uLnTx/>
                          <a:uFillTx/>
                          <a:latin typeface="+mn-lt"/>
                          <a:ea typeface="ADLaM Display" panose="02010000000000000000" pitchFamily="2" charset="0"/>
                          <a:cs typeface="ADLaM Display" panose="02010000000000000000" pitchFamily="2" charset="0"/>
                        </a:rPr>
                        <a:t>Training</a:t>
                      </a:r>
                      <a:endParaRPr lang="en-US" altLang="zh-TW" sz="1200" b="0" cap="none" spc="0" dirty="0">
                        <a:ln w="0"/>
                        <a:solidFill>
                          <a:schemeClr val="tx1"/>
                        </a:solidFill>
                        <a:effectLst/>
                        <a:latin typeface="+mn-lt"/>
                        <a:ea typeface="ADLaM Display" panose="02010000000000000000" pitchFamily="2" charset="0"/>
                        <a:cs typeface="ADLaM Display" panose="02010000000000000000" pitchFamily="2"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alpha val="40000"/>
                      </a:schemeClr>
                    </a:solidFill>
                  </a:tcPr>
                </a:tc>
                <a:tc hMerge="1">
                  <a:txBody>
                    <a:bodyPr/>
                    <a:lstStyle/>
                    <a:p>
                      <a:endParaRPr lang="zh-TW" altLang="en-US"/>
                    </a:p>
                  </a:txBody>
                  <a:tcPr/>
                </a:tc>
                <a:tc gridSpan="2">
                  <a:txBody>
                    <a:bodyPr/>
                    <a:lstStyle/>
                    <a:p>
                      <a:pPr algn="ctr"/>
                      <a:r>
                        <a:rPr kumimoji="0" lang="en-US" altLang="zh-TW" sz="1200" b="0" i="0" u="none" strike="noStrike" kern="1200" cap="none" spc="0" normalizeH="0" baseline="0" noProof="0" dirty="0">
                          <a:ln w="0"/>
                          <a:solidFill>
                            <a:schemeClr val="tx1"/>
                          </a:solidFill>
                          <a:effectLst/>
                          <a:uLnTx/>
                          <a:uFillTx/>
                          <a:latin typeface="+mn-lt"/>
                          <a:ea typeface="ADLaM Display" panose="02010000000000000000" pitchFamily="2" charset="0"/>
                          <a:cs typeface="ADLaM Display" panose="02010000000000000000" pitchFamily="2" charset="0"/>
                        </a:rPr>
                        <a:t>Core Technology</a:t>
                      </a:r>
                      <a:endParaRPr sz="1200" b="0" dirty="0">
                        <a:solidFill>
                          <a:schemeClr val="tx1"/>
                        </a:solidFill>
                        <a:latin typeface="+mn-lt"/>
                        <a:ea typeface="ADLaM Display" panose="02010000000000000000" pitchFamily="2" charset="0"/>
                        <a:cs typeface="ADLaM Display" panose="02010000000000000000" pitchFamily="2"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alpha val="40000"/>
                      </a:schemeClr>
                    </a:solidFill>
                  </a:tcPr>
                </a:tc>
                <a:tc hMerge="1">
                  <a:txBody>
                    <a:bodyPr/>
                    <a:lstStyle/>
                    <a:p>
                      <a:endParaRPr lang="zh-TW" altLang="en-US"/>
                    </a:p>
                  </a:txBody>
                  <a:tcPr/>
                </a:tc>
                <a:tc>
                  <a:txBody>
                    <a:bodyPr/>
                    <a:lstStyle/>
                    <a:p>
                      <a:endParaRPr dirty="0"/>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alpha val="40000"/>
                      </a:schemeClr>
                    </a:solidFill>
                  </a:tcPr>
                </a:tc>
                <a:tc gridSpan="2">
                  <a:txBody>
                    <a:bodyPr/>
                    <a:lstStyle/>
                    <a:p>
                      <a:pPr algn="ctr"/>
                      <a:r>
                        <a:rPr lang="en-US" altLang="zh-TW" sz="1200" b="0" cap="none" spc="0" dirty="0">
                          <a:ln w="0"/>
                          <a:solidFill>
                            <a:schemeClr val="tx1"/>
                          </a:solidFill>
                          <a:effectLst/>
                          <a:latin typeface="+mn-lt"/>
                          <a:ea typeface="ADLaM Display" panose="02010000000000000000" pitchFamily="2" charset="0"/>
                          <a:cs typeface="ADLaM Display" panose="02010000000000000000" pitchFamily="2" charset="0"/>
                        </a:rPr>
                        <a:t>Context</a:t>
                      </a:r>
                      <a:endParaRPr lang="zh-TW" altLang="en-US" sz="1200" b="0" cap="none" spc="0" dirty="0">
                        <a:ln w="0"/>
                        <a:solidFill>
                          <a:schemeClr val="tx1"/>
                        </a:solidFill>
                        <a:effectLst/>
                        <a:latin typeface="+mn-lt"/>
                        <a:cs typeface="ADLaM Display" panose="02010000000000000000" pitchFamily="2"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alpha val="40000"/>
                      </a:schemeClr>
                    </a:solidFill>
                  </a:tcPr>
                </a:tc>
                <a:tc hMerge="1">
                  <a:txBody>
                    <a:bodyPr/>
                    <a:lstStyle/>
                    <a:p>
                      <a:pPr algn="ctr"/>
                      <a:endParaRPr lang="zh-TW" altLang="en-US" sz="1200" b="0" cap="none" spc="0" dirty="0">
                        <a:ln w="0"/>
                        <a:solidFill>
                          <a:schemeClr val="tx1"/>
                        </a:solidFill>
                        <a:effectLst/>
                        <a:latin typeface="+mn-lt"/>
                        <a:cs typeface="ADLaM Display" panose="02010000000000000000" pitchFamily="2"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alpha val="40000"/>
                      </a:schemeClr>
                    </a:solidFill>
                  </a:tcPr>
                </a:tc>
                <a:tc gridSpan="2">
                  <a:txBody>
                    <a:bodyPr/>
                    <a:lstStyle/>
                    <a:p>
                      <a:pPr algn="ctr"/>
                      <a:r>
                        <a:rPr lang="en-US" altLang="zh-TW" sz="1200" b="0" cap="none" spc="0" dirty="0">
                          <a:ln w="0"/>
                          <a:solidFill>
                            <a:schemeClr val="tx1"/>
                          </a:solidFill>
                          <a:effectLst/>
                          <a:latin typeface="+mn-lt"/>
                          <a:ea typeface="ADLaM Display" panose="02010000000000000000" pitchFamily="2" charset="0"/>
                          <a:cs typeface="ADLaM Display" panose="02010000000000000000" pitchFamily="2" charset="0"/>
                        </a:rPr>
                        <a:t>MLP</a:t>
                      </a:r>
                      <a:endParaRPr lang="zh-TW" altLang="en-US" sz="1200" b="0" cap="none" spc="0" dirty="0">
                        <a:ln w="0"/>
                        <a:solidFill>
                          <a:schemeClr val="tx1"/>
                        </a:solidFill>
                        <a:effectLst/>
                        <a:latin typeface="+mn-lt"/>
                        <a:cs typeface="ADLaM Display" panose="02010000000000000000" pitchFamily="2"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alpha val="40000"/>
                      </a:schemeClr>
                    </a:solidFill>
                  </a:tcPr>
                </a:tc>
                <a:tc hMerge="1">
                  <a:txBody>
                    <a:bodyPr/>
                    <a:lstStyle/>
                    <a:p>
                      <a:endParaRPr lang="zh-TW" altLang="en-US"/>
                    </a:p>
                  </a:txBody>
                  <a:tcPr>
                    <a:lnL w="12700" cmpd="sng">
                      <a:noFill/>
                    </a:lnL>
                  </a:tcPr>
                </a:tc>
                <a:tc>
                  <a:txBody>
                    <a:bodyPr/>
                    <a:lstStyle/>
                    <a:p>
                      <a:pPr algn="ctr"/>
                      <a:r>
                        <a:rPr lang="en-US" altLang="zh-TW" sz="1200" b="0" cap="none" spc="0" dirty="0">
                          <a:ln w="0"/>
                          <a:solidFill>
                            <a:schemeClr val="tx1"/>
                          </a:solidFill>
                          <a:effectLst/>
                          <a:latin typeface="+mn-lt"/>
                          <a:ea typeface="ADLaM Display" panose="02010000000000000000" pitchFamily="2" charset="0"/>
                          <a:cs typeface="ADLaM Display" panose="02010000000000000000" pitchFamily="2" charset="0"/>
                        </a:rPr>
                        <a:t>Para.</a:t>
                      </a:r>
                      <a:endParaRPr lang="zh-TW" altLang="en-US" sz="1200" b="0" cap="none" spc="0" dirty="0">
                        <a:ln w="0"/>
                        <a:solidFill>
                          <a:schemeClr val="tx1"/>
                        </a:solidFill>
                        <a:effectLst/>
                        <a:latin typeface="+mn-lt"/>
                        <a:cs typeface="ADLaM Display" panose="02010000000000000000" pitchFamily="2"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alpha val="40000"/>
                      </a:schemeClr>
                    </a:solidFill>
                  </a:tcPr>
                </a:tc>
                <a:tc>
                  <a:txBody>
                    <a:bodyPr/>
                    <a:lstStyle/>
                    <a:p>
                      <a:pPr algn="ctr"/>
                      <a:r>
                        <a:rPr lang="en-US" altLang="zh-TW" sz="1200" b="0" cap="none" spc="0" dirty="0">
                          <a:ln w="0"/>
                          <a:solidFill>
                            <a:schemeClr val="tx1"/>
                          </a:solidFill>
                          <a:effectLst/>
                          <a:latin typeface="+mn-lt"/>
                          <a:ea typeface="ADLaM Display" panose="02010000000000000000" pitchFamily="2" charset="0"/>
                          <a:cs typeface="ADLaM Display" panose="02010000000000000000" pitchFamily="2" charset="0"/>
                        </a:rPr>
                        <a:t>Requirement</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alpha val="40000"/>
                      </a:schemeClr>
                    </a:solidFill>
                  </a:tcPr>
                </a:tc>
                <a:extLst>
                  <a:ext uri="{0D108BD9-81ED-4DB2-BD59-A6C34878D82A}">
                    <a16:rowId xmlns:a16="http://schemas.microsoft.com/office/drawing/2014/main" val="2581155207"/>
                  </a:ext>
                </a:extLst>
              </a:tr>
              <a:tr h="235532">
                <a:tc vMerge="1">
                  <a:txBody>
                    <a:bodyPr/>
                    <a:lstStyle/>
                    <a:p>
                      <a:pPr algn="ctr"/>
                      <a:endParaRPr lang="zh-TW" altLang="en-US" sz="1200" b="1"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no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000" b="0" cap="none" spc="0" dirty="0">
                          <a:ln w="0"/>
                          <a:solidFill>
                            <a:schemeClr val="tx1">
                              <a:lumMod val="75000"/>
                              <a:lumOff val="25000"/>
                            </a:schemeClr>
                          </a:solidFill>
                          <a:effectLst/>
                          <a:latin typeface="+mn-lt"/>
                          <a:ea typeface="ADLaM Display" panose="02010000000000000000" pitchFamily="2" charset="0"/>
                          <a:cs typeface="ADLaM Display" panose="02010000000000000000" pitchFamily="2" charset="0"/>
                        </a:rPr>
                        <a:t>Pre</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alpha val="40000"/>
                      </a:schemeClr>
                    </a:solidFill>
                  </a:tcPr>
                </a:tc>
                <a:tc>
                  <a:txBody>
                    <a:bodyPr/>
                    <a:lstStyle/>
                    <a:p>
                      <a:pPr algn="ctr"/>
                      <a:r>
                        <a:rPr lang="en-US" altLang="zh-TW" sz="1000" b="0" cap="none" spc="0" dirty="0">
                          <a:ln w="0"/>
                          <a:solidFill>
                            <a:schemeClr val="tx1">
                              <a:lumMod val="75000"/>
                              <a:lumOff val="25000"/>
                            </a:schemeClr>
                          </a:solidFill>
                          <a:effectLst/>
                          <a:latin typeface="+mn-lt"/>
                          <a:ea typeface="ADLaM Display" panose="02010000000000000000" pitchFamily="2" charset="0"/>
                          <a:cs typeface="ADLaM Display" panose="02010000000000000000" pitchFamily="2" charset="0"/>
                        </a:rPr>
                        <a:t>Post/RL</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alpha val="40000"/>
                      </a:schemeClr>
                    </a:solidFill>
                  </a:tcPr>
                </a:tc>
                <a:tc gridSpan="2">
                  <a:txBody>
                    <a:bodyPr/>
                    <a:lstStyle/>
                    <a:p>
                      <a:pPr algn="ctr"/>
                      <a:r>
                        <a:rPr lang="en-US" altLang="zh-TW" sz="1000" b="0" cap="none" spc="0" dirty="0">
                          <a:ln w="0"/>
                          <a:solidFill>
                            <a:schemeClr val="tx1"/>
                          </a:solidFill>
                          <a:effectLst/>
                          <a:latin typeface="+mn-lt"/>
                          <a:ea typeface="ADLaM Display" panose="02010000000000000000" pitchFamily="2" charset="0"/>
                          <a:cs typeface="ADLaM Display" panose="02010000000000000000" pitchFamily="2" charset="0"/>
                        </a:rPr>
                        <a:t>Model</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alpha val="40000"/>
                      </a:schemeClr>
                    </a:solidFill>
                  </a:tcPr>
                </a:tc>
                <a:tc hMerge="1">
                  <a:txBody>
                    <a:bodyPr/>
                    <a:lstStyle/>
                    <a:p>
                      <a:endParaRPr lang="zh-TW" altLang="en-US"/>
                    </a:p>
                  </a:txBody>
                  <a:tcPr/>
                </a:tc>
                <a:tc>
                  <a:txBody>
                    <a:bodyPr/>
                    <a:lstStyle/>
                    <a:p>
                      <a:pPr algn="ctr"/>
                      <a:r>
                        <a:rPr lang="en-US" sz="1000" b="0" dirty="0">
                          <a:solidFill>
                            <a:schemeClr val="tx1"/>
                          </a:solidFill>
                          <a:latin typeface="+mn-lt"/>
                          <a:ea typeface="ADLaM Display" panose="02010000000000000000" pitchFamily="2" charset="0"/>
                          <a:cs typeface="ADLaM Display" panose="02010000000000000000" pitchFamily="2" charset="0"/>
                        </a:rPr>
                        <a:t>Attention</a:t>
                      </a:r>
                      <a:endParaRPr sz="1000" b="0" dirty="0">
                        <a:solidFill>
                          <a:schemeClr val="tx1"/>
                        </a:solidFill>
                        <a:latin typeface="+mn-lt"/>
                        <a:ea typeface="ADLaM Display" panose="02010000000000000000" pitchFamily="2" charset="0"/>
                        <a:cs typeface="ADLaM Display" panose="02010000000000000000" pitchFamily="2"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alpha val="40000"/>
                      </a:schemeClr>
                    </a:solidFill>
                  </a:tcPr>
                </a:tc>
                <a:tc>
                  <a:txBody>
                    <a:bodyPr/>
                    <a:lstStyle/>
                    <a:p>
                      <a:pPr algn="ctr"/>
                      <a:r>
                        <a:rPr lang="en-US" altLang="zh-TW" sz="1000" b="0" cap="none" spc="0" dirty="0">
                          <a:ln w="0"/>
                          <a:solidFill>
                            <a:schemeClr val="tx1">
                              <a:lumMod val="75000"/>
                              <a:lumOff val="25000"/>
                            </a:schemeClr>
                          </a:solidFill>
                          <a:effectLst/>
                          <a:latin typeface="+mn-lt"/>
                          <a:cs typeface="ADLaM Display" panose="02010000000000000000" pitchFamily="2" charset="0"/>
                        </a:rPr>
                        <a:t>Len</a:t>
                      </a:r>
                      <a:endParaRPr lang="zh-TW" altLang="en-US" sz="1000" b="0" cap="none" spc="0" dirty="0">
                        <a:ln w="0"/>
                        <a:solidFill>
                          <a:schemeClr val="tx1">
                            <a:lumMod val="75000"/>
                            <a:lumOff val="25000"/>
                          </a:schemeClr>
                        </a:solidFill>
                        <a:effectLst/>
                        <a:latin typeface="+mn-lt"/>
                        <a:cs typeface="ADLaM Display" panose="02010000000000000000" pitchFamily="2"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alpha val="40000"/>
                      </a:schemeClr>
                    </a:solidFill>
                  </a:tcPr>
                </a:tc>
                <a:tc>
                  <a:txBody>
                    <a:bodyPr/>
                    <a:lstStyle/>
                    <a:p>
                      <a:pPr algn="ctr"/>
                      <a:r>
                        <a:rPr lang="en-US" altLang="zh-TW" sz="1000" b="0" cap="none" spc="0" dirty="0">
                          <a:ln w="0"/>
                          <a:solidFill>
                            <a:schemeClr val="tx1">
                              <a:lumMod val="75000"/>
                              <a:lumOff val="25000"/>
                            </a:schemeClr>
                          </a:solidFill>
                          <a:effectLst/>
                          <a:latin typeface="+mn-lt"/>
                          <a:cs typeface="ADLaM Display" panose="02010000000000000000" pitchFamily="2" charset="0"/>
                        </a:rPr>
                        <a:t>Dim</a:t>
                      </a:r>
                      <a:endParaRPr lang="zh-TW" altLang="en-US" sz="1000" b="0" cap="none" spc="0" dirty="0">
                        <a:ln w="0"/>
                        <a:solidFill>
                          <a:schemeClr val="tx1">
                            <a:lumMod val="75000"/>
                            <a:lumOff val="25000"/>
                          </a:schemeClr>
                        </a:solidFill>
                        <a:effectLst/>
                        <a:latin typeface="+mn-lt"/>
                        <a:cs typeface="ADLaM Display" panose="02010000000000000000" pitchFamily="2"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alpha val="40000"/>
                      </a:schemeClr>
                    </a:solidFill>
                  </a:tcPr>
                </a:tc>
                <a:tc>
                  <a:txBody>
                    <a:bodyPr/>
                    <a:lstStyle/>
                    <a:p>
                      <a:pPr algn="ctr"/>
                      <a:r>
                        <a:rPr lang="en-US" altLang="zh-TW" sz="1000" b="0" cap="none" spc="0" dirty="0">
                          <a:ln w="0"/>
                          <a:solidFill>
                            <a:schemeClr val="tx1">
                              <a:lumMod val="75000"/>
                              <a:lumOff val="25000"/>
                            </a:schemeClr>
                          </a:solidFill>
                          <a:effectLst/>
                          <a:latin typeface="+mn-lt"/>
                          <a:ea typeface="ADLaM Display" panose="02010000000000000000" pitchFamily="2" charset="0"/>
                          <a:cs typeface="ADLaM Display" panose="02010000000000000000" pitchFamily="2" charset="0"/>
                        </a:rPr>
                        <a:t>FFN</a:t>
                      </a:r>
                      <a:endParaRPr lang="zh-TW" altLang="en-US" sz="1000" b="0" cap="none" spc="0" dirty="0">
                        <a:ln w="0"/>
                        <a:solidFill>
                          <a:schemeClr val="tx1">
                            <a:lumMod val="75000"/>
                            <a:lumOff val="25000"/>
                          </a:schemeClr>
                        </a:solidFill>
                        <a:effectLst/>
                        <a:latin typeface="+mn-lt"/>
                        <a:cs typeface="ADLaM Display" panose="02010000000000000000" pitchFamily="2"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alpha val="40000"/>
                      </a:schemeClr>
                    </a:solidFill>
                  </a:tcPr>
                </a:tc>
                <a:tc>
                  <a:txBody>
                    <a:bodyPr/>
                    <a:lstStyle/>
                    <a:p>
                      <a:pPr algn="ctr"/>
                      <a:r>
                        <a:rPr lang="en-US" altLang="zh-TW" sz="1000" b="0" cap="none" spc="0" dirty="0">
                          <a:ln w="0"/>
                          <a:solidFill>
                            <a:schemeClr val="tx1">
                              <a:lumMod val="75000"/>
                              <a:lumOff val="25000"/>
                            </a:schemeClr>
                          </a:solidFill>
                          <a:effectLst/>
                          <a:latin typeface="+mn-lt"/>
                          <a:ea typeface="ADLaM Display" panose="02010000000000000000" pitchFamily="2" charset="0"/>
                          <a:cs typeface="ADLaM Display" panose="02010000000000000000" pitchFamily="2" charset="0"/>
                        </a:rPr>
                        <a:t>MoE</a:t>
                      </a:r>
                      <a:endParaRPr lang="zh-TW" altLang="en-US" sz="1000" b="0" cap="none" spc="0" dirty="0">
                        <a:ln w="0"/>
                        <a:solidFill>
                          <a:schemeClr val="tx1">
                            <a:lumMod val="75000"/>
                            <a:lumOff val="25000"/>
                          </a:schemeClr>
                        </a:solidFill>
                        <a:effectLst/>
                        <a:latin typeface="+mn-lt"/>
                        <a:cs typeface="ADLaM Display" panose="02010000000000000000" pitchFamily="2"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alpha val="40000"/>
                      </a:schemeClr>
                    </a:solidFill>
                  </a:tcPr>
                </a:tc>
                <a:tc>
                  <a:txBody>
                    <a:bodyPr/>
                    <a:lstStyle/>
                    <a:p>
                      <a:pPr algn="ctr"/>
                      <a:endParaRPr lang="zh-TW" altLang="en-US" sz="1000" b="0" cap="none" spc="0" dirty="0">
                        <a:ln w="0"/>
                        <a:solidFill>
                          <a:schemeClr val="tx1"/>
                        </a:solidFill>
                        <a:effectLst/>
                        <a:latin typeface="+mn-lt"/>
                        <a:cs typeface="ADLaM Display" panose="02010000000000000000" pitchFamily="2"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alpha val="40000"/>
                      </a:schemeClr>
                    </a:solidFill>
                  </a:tcPr>
                </a:tc>
                <a:tc>
                  <a:txBody>
                    <a:bodyPr/>
                    <a:lstStyle/>
                    <a:p>
                      <a:pPr algn="ctr"/>
                      <a:endParaRPr lang="en-US" altLang="zh-TW" sz="1000" b="0" cap="none" spc="0" dirty="0">
                        <a:ln w="0"/>
                        <a:solidFill>
                          <a:schemeClr val="tx1"/>
                        </a:solidFill>
                        <a:effectLst/>
                        <a:latin typeface="+mn-lt"/>
                        <a:ea typeface="ADLaM Display" panose="02010000000000000000" pitchFamily="2" charset="0"/>
                        <a:cs typeface="ADLaM Display" panose="02010000000000000000" pitchFamily="2"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alpha val="40000"/>
                      </a:schemeClr>
                    </a:solidFill>
                  </a:tcPr>
                </a:tc>
                <a:extLst>
                  <a:ext uri="{0D108BD9-81ED-4DB2-BD59-A6C34878D82A}">
                    <a16:rowId xmlns:a16="http://schemas.microsoft.com/office/drawing/2014/main" val="533882152"/>
                  </a:ext>
                </a:extLst>
              </a:tr>
              <a:tr h="407691">
                <a:tc>
                  <a:txBody>
                    <a:bodyPr/>
                    <a:lstStyle/>
                    <a:p>
                      <a:pPr algn="l"/>
                      <a:r>
                        <a:rPr lang="en-US" altLang="zh-TW" sz="1200" b="0" cap="none" spc="0" dirty="0">
                          <a:ln w="0"/>
                          <a:solidFill>
                            <a:schemeClr val="tx1"/>
                          </a:solidFill>
                          <a:effectLst/>
                        </a:rPr>
                        <a:t>V2</a:t>
                      </a:r>
                      <a:endParaRPr lang="zh-TW" altLang="en-US" sz="1200" b="0" cap="none" spc="0" dirty="0">
                        <a:ln w="0"/>
                        <a:solidFill>
                          <a:schemeClr val="tx1"/>
                        </a:solidFill>
                        <a:effectLst/>
                      </a:endParaRPr>
                    </a:p>
                  </a:txBody>
                  <a:tcPr marL="72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V2.5</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AdamW</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GRPO</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MLA</a:t>
                      </a:r>
                    </a:p>
                    <a:p>
                      <a:pPr algn="ctr"/>
                      <a:r>
                        <a:rPr lang="en-US" altLang="zh-TW" sz="1000" b="0" cap="none" spc="0" dirty="0">
                          <a:ln w="0"/>
                          <a:solidFill>
                            <a:schemeClr val="tx1">
                              <a:lumMod val="50000"/>
                              <a:lumOff val="50000"/>
                            </a:schemeClr>
                          </a:solidFill>
                          <a:effectLst/>
                        </a:rPr>
                        <a:t>(Multi-head Latent)</a:t>
                      </a:r>
                      <a:endParaRPr lang="zh-TW" altLang="en-US" sz="1000" b="0" cap="none" spc="0" dirty="0">
                        <a:ln w="0"/>
                        <a:solidFill>
                          <a:schemeClr val="tx1">
                            <a:lumMod val="50000"/>
                            <a:lumOff val="50000"/>
                          </a:schemeClr>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err="1">
                          <a:ln w="0"/>
                          <a:solidFill>
                            <a:schemeClr val="tx1"/>
                          </a:solidFill>
                          <a:effectLst/>
                        </a:rPr>
                        <a:t>DSMoE</a:t>
                      </a:r>
                      <a:br>
                        <a:rPr lang="en-US" altLang="zh-TW" sz="1200" b="0" cap="none" spc="0" dirty="0">
                          <a:ln w="0"/>
                          <a:solidFill>
                            <a:schemeClr val="tx1"/>
                          </a:solidFill>
                          <a:effectLst/>
                        </a:rPr>
                      </a:br>
                      <a:r>
                        <a:rPr lang="en-US" altLang="zh-TW" sz="1000" b="0" cap="none" spc="0" dirty="0">
                          <a:ln w="0"/>
                          <a:solidFill>
                            <a:schemeClr val="tx1">
                              <a:lumMod val="50000"/>
                              <a:lumOff val="50000"/>
                            </a:schemeClr>
                          </a:solidFill>
                          <a:effectLst/>
                        </a:rPr>
                        <a:t>(Fine-Grained)</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000" b="0" cap="none" spc="0" dirty="0">
                          <a:ln w="0"/>
                          <a:solidFill>
                            <a:schemeClr val="tx1"/>
                          </a:solidFill>
                          <a:effectLst/>
                        </a:rPr>
                        <a:t>1~60</a:t>
                      </a:r>
                      <a:endParaRPr lang="zh-TW" altLang="en-US" sz="10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000" b="0" cap="none" spc="0" dirty="0">
                          <a:ln w="0"/>
                          <a:solidFill>
                            <a:schemeClr val="tx1"/>
                          </a:solidFill>
                          <a:effectLst/>
                        </a:rPr>
                        <a:t>32k</a:t>
                      </a:r>
                      <a:endParaRPr lang="zh-TW" altLang="en-US" sz="10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000" b="0" cap="none" spc="0" dirty="0">
                          <a:ln w="0"/>
                          <a:solidFill>
                            <a:schemeClr val="tx1"/>
                          </a:solidFill>
                          <a:effectLst/>
                        </a:rPr>
                        <a:t>5120</a:t>
                      </a:r>
                      <a:br>
                        <a:rPr lang="en-US" altLang="zh-TW" sz="1000" b="0" cap="none" spc="0" dirty="0">
                          <a:ln w="0"/>
                          <a:solidFill>
                            <a:schemeClr val="tx1"/>
                          </a:solidFill>
                          <a:effectLst/>
                        </a:rPr>
                      </a:br>
                      <a:r>
                        <a:rPr lang="en-US" altLang="zh-TW" sz="1000" b="0" cap="none" spc="0" dirty="0">
                          <a:ln w="0"/>
                          <a:solidFill>
                            <a:schemeClr val="tx1">
                              <a:lumMod val="50000"/>
                              <a:lumOff val="50000"/>
                            </a:schemeClr>
                          </a:solidFill>
                          <a:effectLst/>
                        </a:rPr>
                        <a:t>(512)</a:t>
                      </a:r>
                      <a:endParaRPr lang="zh-TW" altLang="en-US" sz="1000" b="0" cap="none" spc="0" dirty="0">
                        <a:ln w="0"/>
                        <a:solidFill>
                          <a:schemeClr val="tx1">
                            <a:lumMod val="50000"/>
                            <a:lumOff val="50000"/>
                          </a:schemeClr>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000" b="0" cap="none" spc="0" dirty="0">
                          <a:ln w="0"/>
                          <a:solidFill>
                            <a:schemeClr val="tx1"/>
                          </a:solidFill>
                          <a:effectLst/>
                        </a:rPr>
                        <a:t>1</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solidFill>
                      <a:schemeClr val="bg1">
                        <a:alpha val="40000"/>
                      </a:schemeClr>
                    </a:solidFill>
                  </a:tcPr>
                </a:tc>
                <a:tc>
                  <a:txBody>
                    <a:bodyPr/>
                    <a:lstStyle/>
                    <a:p>
                      <a:pPr algn="ctr"/>
                      <a:r>
                        <a:rPr lang="en-US" altLang="zh-TW" sz="1000" b="0" cap="none" spc="0" dirty="0">
                          <a:ln w="0"/>
                          <a:solidFill>
                            <a:schemeClr val="tx1"/>
                          </a:solidFill>
                          <a:effectLst/>
                        </a:rPr>
                        <a:t>2~60</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solidFill>
                      <a:schemeClr val="bg1">
                        <a:alpha val="40000"/>
                      </a:schemeClr>
                    </a:solidFill>
                  </a:tcPr>
                </a:tc>
                <a:tc>
                  <a:txBody>
                    <a:bodyPr/>
                    <a:lstStyle/>
                    <a:p>
                      <a:pPr algn="ctr"/>
                      <a:r>
                        <a:rPr lang="en-US" altLang="zh-TW" sz="1000" b="0" cap="none" spc="0" dirty="0">
                          <a:ln w="0"/>
                          <a:solidFill>
                            <a:schemeClr val="tx1"/>
                          </a:solidFill>
                          <a:effectLst/>
                        </a:rPr>
                        <a:t>21B / 236B</a:t>
                      </a:r>
                      <a:endParaRPr lang="zh-TW" altLang="en-US" sz="10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000" b="0" cap="none" spc="0" dirty="0">
                          <a:ln w="0"/>
                          <a:solidFill>
                            <a:schemeClr val="tx1"/>
                          </a:solidFill>
                          <a:effectLst/>
                        </a:rPr>
                        <a:t>1 PC</a:t>
                      </a:r>
                    </a:p>
                    <a:p>
                      <a:pPr algn="ctr"/>
                      <a:r>
                        <a:rPr lang="en-US" altLang="zh-TW" sz="1000" b="0" cap="none" spc="0" dirty="0">
                          <a:ln w="0"/>
                          <a:solidFill>
                            <a:schemeClr val="tx1">
                              <a:lumMod val="50000"/>
                              <a:lumOff val="50000"/>
                            </a:schemeClr>
                          </a:solidFill>
                          <a:effectLst/>
                        </a:rPr>
                        <a:t>(8 x A100 80G)</a:t>
                      </a:r>
                      <a:endParaRPr lang="zh-TW" altLang="en-US" sz="1000" b="0" cap="none" spc="0" dirty="0">
                        <a:ln w="0"/>
                        <a:solidFill>
                          <a:schemeClr val="tx1">
                            <a:lumMod val="50000"/>
                            <a:lumOff val="50000"/>
                          </a:schemeClr>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338843">
                <a:tc>
                  <a:txBody>
                    <a:bodyPr/>
                    <a:lstStyle/>
                    <a:p>
                      <a:pPr algn="l"/>
                      <a:r>
                        <a:rPr lang="en-US" altLang="zh-TW" sz="1200" b="0" cap="none" spc="0" dirty="0">
                          <a:ln w="0"/>
                          <a:solidFill>
                            <a:schemeClr val="tx1"/>
                          </a:solidFill>
                          <a:effectLst/>
                        </a:rPr>
                        <a:t>V3</a:t>
                      </a:r>
                      <a:endParaRPr lang="zh-TW" altLang="en-US" sz="1200" b="0" cap="none" spc="0" dirty="0">
                        <a:ln w="0"/>
                        <a:solidFill>
                          <a:schemeClr val="tx1"/>
                        </a:solidFill>
                        <a:effectLst/>
                      </a:endParaRPr>
                    </a:p>
                  </a:txBody>
                  <a:tcPr marL="72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V3.2</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AdamW</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GRPO</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MLA</a:t>
                      </a:r>
                      <a:r>
                        <a:rPr lang="zh-TW" altLang="en-US" sz="1200" b="0" cap="none" spc="0" dirty="0">
                          <a:ln w="0"/>
                          <a:solidFill>
                            <a:schemeClr val="tx1"/>
                          </a:solidFill>
                          <a:effectLst/>
                        </a:rPr>
                        <a:t> </a:t>
                      </a:r>
                      <a:r>
                        <a:rPr lang="en-US" altLang="zh-TW" sz="1200" b="0" cap="none" spc="0" dirty="0">
                          <a:ln w="0"/>
                          <a:solidFill>
                            <a:schemeClr val="tx1"/>
                          </a:solidFill>
                          <a:effectLst/>
                        </a:rPr>
                        <a:t>+</a:t>
                      </a:r>
                      <a:r>
                        <a:rPr lang="zh-TW" altLang="en-US" sz="1200" b="0" cap="none" spc="0" dirty="0">
                          <a:ln w="0"/>
                          <a:solidFill>
                            <a:schemeClr val="tx1"/>
                          </a:solidFill>
                          <a:effectLst/>
                        </a:rPr>
                        <a:t> </a:t>
                      </a:r>
                      <a:r>
                        <a:rPr lang="en-US" altLang="zh-TW" sz="1200" b="0" cap="none" spc="0" dirty="0">
                          <a:ln w="0"/>
                          <a:solidFill>
                            <a:schemeClr val="tx1"/>
                          </a:solidFill>
                          <a:effectLst/>
                        </a:rPr>
                        <a:t>DSA</a:t>
                      </a:r>
                    </a:p>
                    <a:p>
                      <a:pPr algn="ctr"/>
                      <a:r>
                        <a:rPr lang="en-US" altLang="zh-TW" sz="1000" b="0" cap="none" spc="0" dirty="0">
                          <a:ln w="0"/>
                          <a:solidFill>
                            <a:schemeClr val="tx1">
                              <a:lumMod val="50000"/>
                              <a:lumOff val="50000"/>
                            </a:schemeClr>
                          </a:solidFill>
                          <a:effectLst/>
                        </a:rPr>
                        <a:t>(Lighten Indexer)</a:t>
                      </a:r>
                      <a:endParaRPr lang="zh-TW" altLang="en-US" sz="1000" b="0" cap="none" spc="0" dirty="0">
                        <a:ln w="0"/>
                        <a:solidFill>
                          <a:schemeClr val="tx1">
                            <a:lumMod val="50000"/>
                            <a:lumOff val="50000"/>
                          </a:schemeClr>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Dual Pipe</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000" b="0" cap="none" spc="0" dirty="0">
                          <a:ln w="0"/>
                          <a:solidFill>
                            <a:schemeClr val="tx1"/>
                          </a:solidFill>
                          <a:effectLst/>
                        </a:rPr>
                        <a:t>1~61</a:t>
                      </a:r>
                      <a:endParaRPr lang="zh-TW" altLang="en-US" sz="10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000" b="0" cap="none" spc="0" dirty="0">
                          <a:ln w="0"/>
                          <a:solidFill>
                            <a:schemeClr val="tx1"/>
                          </a:solidFill>
                          <a:effectLst/>
                        </a:rPr>
                        <a:t>128k</a:t>
                      </a:r>
                      <a:endParaRPr lang="zh-TW" altLang="en-US" sz="10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000" b="0" cap="none" spc="0" dirty="0">
                          <a:ln w="0"/>
                          <a:solidFill>
                            <a:schemeClr val="tx1"/>
                          </a:solidFill>
                          <a:effectLst/>
                        </a:rPr>
                        <a:t>7168</a:t>
                      </a:r>
                    </a:p>
                    <a:p>
                      <a:pPr algn="ctr"/>
                      <a:r>
                        <a:rPr lang="en-US" altLang="zh-TW" sz="1000" b="0" cap="none" spc="0" dirty="0">
                          <a:ln w="0"/>
                          <a:solidFill>
                            <a:schemeClr val="tx1">
                              <a:lumMod val="50000"/>
                              <a:lumOff val="50000"/>
                            </a:schemeClr>
                          </a:solidFill>
                          <a:effectLst/>
                        </a:rPr>
                        <a:t>(512)</a:t>
                      </a:r>
                      <a:endParaRPr lang="zh-TW" altLang="en-US" sz="1000" b="0" cap="none" spc="0" dirty="0">
                        <a:ln w="0"/>
                        <a:solidFill>
                          <a:schemeClr val="tx1">
                            <a:lumMod val="50000"/>
                            <a:lumOff val="50000"/>
                          </a:schemeClr>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000" b="0" cap="none" spc="0" dirty="0">
                          <a:ln w="0"/>
                          <a:solidFill>
                            <a:schemeClr val="tx1"/>
                          </a:solidFill>
                          <a:effectLst/>
                        </a:rPr>
                        <a:t>1~3</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solidFill>
                      <a:schemeClr val="bg1">
                        <a:alpha val="40000"/>
                      </a:schemeClr>
                    </a:solidFill>
                  </a:tcPr>
                </a:tc>
                <a:tc>
                  <a:txBody>
                    <a:bodyPr/>
                    <a:lstStyle/>
                    <a:p>
                      <a:pPr algn="ctr"/>
                      <a:r>
                        <a:rPr lang="en-US" altLang="zh-TW" sz="1000" b="0" cap="none" spc="0" dirty="0">
                          <a:ln w="0"/>
                          <a:solidFill>
                            <a:schemeClr val="tx1"/>
                          </a:solidFill>
                          <a:effectLst/>
                        </a:rPr>
                        <a:t>4~61</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solidFill>
                      <a:schemeClr val="bg1">
                        <a:alpha val="40000"/>
                      </a:schemeClr>
                    </a:solidFill>
                  </a:tcPr>
                </a:tc>
                <a:tc>
                  <a:txBody>
                    <a:bodyPr/>
                    <a:lstStyle/>
                    <a:p>
                      <a:pPr algn="ctr"/>
                      <a:r>
                        <a:rPr lang="en-US" altLang="zh-TW" sz="1000" b="0" cap="none" spc="0" dirty="0">
                          <a:ln w="0"/>
                          <a:solidFill>
                            <a:schemeClr val="tx1"/>
                          </a:solidFill>
                          <a:effectLst/>
                        </a:rPr>
                        <a:t>37B</a:t>
                      </a:r>
                      <a:r>
                        <a:rPr lang="zh-TW" altLang="en-US" sz="1000" b="0" cap="none" spc="0" dirty="0">
                          <a:ln w="0"/>
                          <a:solidFill>
                            <a:schemeClr val="tx1"/>
                          </a:solidFill>
                          <a:effectLst/>
                        </a:rPr>
                        <a:t> </a:t>
                      </a:r>
                      <a:r>
                        <a:rPr lang="en-US" altLang="zh-TW" sz="1000" b="0" cap="none" spc="0" dirty="0">
                          <a:ln w="0"/>
                          <a:solidFill>
                            <a:schemeClr val="tx1"/>
                          </a:solidFill>
                          <a:effectLst/>
                        </a:rPr>
                        <a:t>/</a:t>
                      </a:r>
                      <a:r>
                        <a:rPr lang="zh-TW" altLang="en-US" sz="1000" b="0" cap="none" spc="0" dirty="0">
                          <a:ln w="0"/>
                          <a:solidFill>
                            <a:schemeClr val="tx1"/>
                          </a:solidFill>
                          <a:effectLst/>
                        </a:rPr>
                        <a:t> </a:t>
                      </a:r>
                      <a:r>
                        <a:rPr lang="en-US" altLang="zh-TW" sz="1000" b="0" cap="none" spc="0" dirty="0">
                          <a:ln w="0"/>
                          <a:solidFill>
                            <a:schemeClr val="tx1"/>
                          </a:solidFill>
                          <a:effectLst/>
                        </a:rPr>
                        <a:t>671B</a:t>
                      </a:r>
                      <a:endParaRPr lang="zh-TW" altLang="en-US" sz="10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000" b="0" cap="none" spc="0" dirty="0">
                          <a:ln w="0"/>
                          <a:solidFill>
                            <a:schemeClr val="tx1"/>
                          </a:solidFill>
                          <a:effectLst/>
                        </a:rPr>
                        <a:t>4</a:t>
                      </a:r>
                      <a:r>
                        <a:rPr lang="zh-TW" altLang="en-US" sz="1000" b="0" cap="none" spc="0" dirty="0">
                          <a:ln w="0"/>
                          <a:solidFill>
                            <a:schemeClr val="tx1"/>
                          </a:solidFill>
                          <a:effectLst/>
                        </a:rPr>
                        <a:t> </a:t>
                      </a:r>
                      <a:r>
                        <a:rPr lang="en-US" altLang="zh-TW" sz="1000" b="0" cap="none" spc="0" dirty="0">
                          <a:ln w="0"/>
                          <a:solidFill>
                            <a:schemeClr val="tx1"/>
                          </a:solidFill>
                          <a:effectLst/>
                        </a:rPr>
                        <a:t>PC with</a:t>
                      </a:r>
                    </a:p>
                    <a:p>
                      <a:pPr algn="ctr"/>
                      <a:r>
                        <a:rPr lang="en-US" altLang="zh-TW" sz="1000" b="0" cap="none" spc="0" dirty="0">
                          <a:ln w="0"/>
                          <a:solidFill>
                            <a:schemeClr val="tx1">
                              <a:lumMod val="50000"/>
                              <a:lumOff val="50000"/>
                            </a:schemeClr>
                          </a:solidFill>
                          <a:effectLst/>
                        </a:rPr>
                        <a:t>(8 x A100 80G)</a:t>
                      </a:r>
                      <a:endParaRPr lang="zh-TW" altLang="en-US" sz="1000" b="0" cap="none" spc="0" dirty="0">
                        <a:ln w="0"/>
                        <a:solidFill>
                          <a:schemeClr val="tx1">
                            <a:lumMod val="50000"/>
                            <a:lumOff val="50000"/>
                          </a:schemeClr>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282327442"/>
                  </a:ext>
                </a:extLst>
              </a:tr>
              <a:tr h="282369">
                <a:tc rowSpan="2">
                  <a:txBody>
                    <a:bodyPr/>
                    <a:lstStyle/>
                    <a:p>
                      <a:pPr algn="l"/>
                      <a:r>
                        <a:rPr lang="en-US" altLang="zh-TW" sz="1200" b="0" cap="none" spc="0" dirty="0">
                          <a:ln w="0"/>
                          <a:solidFill>
                            <a:schemeClr val="tx1"/>
                          </a:solidFill>
                          <a:effectLst/>
                        </a:rPr>
                        <a:t>V4</a:t>
                      </a:r>
                      <a:endParaRPr lang="zh-TW" altLang="en-US" sz="1200" b="0" cap="none" spc="0" dirty="0">
                        <a:ln w="0"/>
                        <a:solidFill>
                          <a:schemeClr val="tx1"/>
                        </a:solidFill>
                        <a:effectLst/>
                      </a:endParaRPr>
                    </a:p>
                  </a:txBody>
                  <a:tcPr marL="72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Pro</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rowSpan="2">
                  <a:txBody>
                    <a:bodyPr/>
                    <a:lstStyle/>
                    <a:p>
                      <a:pPr algn="ctr"/>
                      <a:r>
                        <a:rPr lang="en-US" sz="1200" dirty="0"/>
                        <a:t>Muon</a:t>
                      </a:r>
                      <a:endParaRPr sz="1200" dirty="0"/>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rowSpan="2">
                  <a:txBody>
                    <a:bodyPr/>
                    <a:lstStyle/>
                    <a:p>
                      <a:pPr algn="ctr"/>
                      <a:r>
                        <a:rPr lang="en-US" sz="1200" dirty="0"/>
                        <a:t>GRPO</a:t>
                      </a:r>
                      <a:endParaRPr sz="1200" dirty="0"/>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SWA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Shared-KV MQA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prstClr val="black">
                              <a:lumMod val="50000"/>
                              <a:lumOff val="50000"/>
                            </a:prstClr>
                          </a:solidFill>
                          <a:effectLst/>
                          <a:uLnTx/>
                          <a:uFillTx/>
                          <a:latin typeface="+mn-lt"/>
                          <a:ea typeface="+mn-ea"/>
                          <a:cs typeface="+mn-cs"/>
                        </a:rPr>
                        <a:t>(HCA+CSA)</a:t>
                      </a:r>
                      <a:endParaRPr kumimoji="0" lang="zh-TW" altLang="en-US" sz="1000" b="0" i="0" u="none" strike="noStrike" kern="1200" cap="none" spc="0" normalizeH="0" baseline="0" noProof="0" dirty="0">
                        <a:ln w="0"/>
                        <a:solidFill>
                          <a:prstClr val="black">
                            <a:lumMod val="50000"/>
                            <a:lumOff val="50000"/>
                          </a:prstClr>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MHC</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Engram</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l"/>
                      <a:r>
                        <a:rPr lang="en-US" altLang="zh-TW" sz="1000" b="0" cap="none" spc="0" dirty="0">
                          <a:ln w="0"/>
                          <a:solidFill>
                            <a:schemeClr val="tx1"/>
                          </a:solidFill>
                          <a:effectLst/>
                        </a:rPr>
                        <a:t>H: 1,2,3,5…61</a:t>
                      </a:r>
                    </a:p>
                    <a:p>
                      <a:pPr algn="l"/>
                      <a:r>
                        <a:rPr lang="en-US" altLang="zh-TW" sz="1000" b="0" cap="none" spc="0" dirty="0">
                          <a:ln w="0"/>
                          <a:solidFill>
                            <a:schemeClr val="tx1"/>
                          </a:solidFill>
                          <a:effectLst/>
                        </a:rPr>
                        <a:t>C: 4…60</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000" b="0" cap="none" spc="0" dirty="0">
                          <a:ln w="0"/>
                          <a:solidFill>
                            <a:schemeClr val="tx1"/>
                          </a:solidFill>
                          <a:effectLst/>
                        </a:rPr>
                        <a:t>1M</a:t>
                      </a:r>
                      <a:endParaRPr lang="zh-TW" altLang="en-US" sz="10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000" b="0" cap="none" spc="0" dirty="0">
                          <a:ln w="0"/>
                          <a:solidFill>
                            <a:schemeClr val="tx1"/>
                          </a:solidFill>
                          <a:effectLst/>
                        </a:rPr>
                        <a:t>&lt;4096</a:t>
                      </a:r>
                      <a:endParaRPr lang="zh-TW" altLang="en-US" sz="10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000" b="0" cap="none" spc="0" dirty="0">
                          <a:ln w="0"/>
                          <a:solidFill>
                            <a:schemeClr val="tx1"/>
                          </a:solidFill>
                          <a:effectLst/>
                        </a:rPr>
                        <a:t>0</a:t>
                      </a:r>
                      <a:endParaRPr lang="zh-TW" altLang="en-US" sz="10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solidFill>
                      <a:schemeClr val="bg1">
                        <a:alpha val="40000"/>
                      </a:schemeClr>
                    </a:solidFill>
                  </a:tcPr>
                </a:tc>
                <a:tc>
                  <a:txBody>
                    <a:bodyPr/>
                    <a:lstStyle/>
                    <a:p>
                      <a:pPr algn="ctr"/>
                      <a:r>
                        <a:rPr lang="en-US" altLang="zh-TW" sz="1000" b="0" cap="none" spc="0" dirty="0">
                          <a:ln w="0"/>
                          <a:solidFill>
                            <a:schemeClr val="tx1"/>
                          </a:solidFill>
                          <a:effectLst/>
                        </a:rPr>
                        <a:t>1~61</a:t>
                      </a:r>
                      <a:endParaRPr lang="zh-TW" altLang="en-US" sz="10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solidFill>
                      <a:schemeClr val="bg1">
                        <a:alpha val="40000"/>
                      </a:schemeClr>
                    </a:solidFill>
                  </a:tcPr>
                </a:tc>
                <a:tc>
                  <a:txBody>
                    <a:bodyPr/>
                    <a:lstStyle/>
                    <a:p>
                      <a:pPr algn="ctr"/>
                      <a:r>
                        <a:rPr lang="en-US" altLang="zh-TW" sz="1000" b="0" cap="none" spc="0" dirty="0">
                          <a:ln w="0"/>
                          <a:solidFill>
                            <a:schemeClr val="tx1"/>
                          </a:solidFill>
                          <a:effectLst/>
                        </a:rPr>
                        <a:t>49B / 1.6T</a:t>
                      </a:r>
                      <a:endParaRPr lang="zh-TW" altLang="en-US" sz="10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000" b="0" cap="none" spc="0" dirty="0">
                          <a:ln w="0"/>
                          <a:solidFill>
                            <a:schemeClr val="tx1"/>
                          </a:solidFill>
                          <a:effectLst/>
                        </a:rPr>
                        <a:t>AI clusters</a:t>
                      </a:r>
                      <a:endParaRPr lang="zh-TW" altLang="en-US" sz="10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2207449185"/>
                  </a:ext>
                </a:extLst>
              </a:tr>
              <a:tr h="282369">
                <a:tc vMerge="1">
                  <a:txBody>
                    <a:bodyPr/>
                    <a:lstStyle/>
                    <a:p>
                      <a:pPr algn="l"/>
                      <a:endParaRPr lang="zh-TW" altLang="en-US" sz="1200" b="0" cap="none" spc="0" dirty="0">
                        <a:ln w="0"/>
                        <a:solidFill>
                          <a:schemeClr val="tx1"/>
                        </a:solidFill>
                        <a:effectLst/>
                      </a:endParaRPr>
                    </a:p>
                  </a:txBody>
                  <a:tcPr marL="72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mpd="sng">
                      <a:noFill/>
                    </a:lnB>
                    <a:lnTlToBr w="12700" cmpd="sng">
                      <a:noFill/>
                      <a:prstDash val="solid"/>
                    </a:lnTlToBr>
                    <a:noFill/>
                  </a:tcPr>
                </a:tc>
                <a:tc>
                  <a:txBody>
                    <a:bodyPr/>
                    <a:lstStyle/>
                    <a:p>
                      <a:pPr algn="ctr"/>
                      <a:r>
                        <a:rPr lang="en-US" altLang="zh-TW" sz="1200" b="0" cap="none" spc="0" dirty="0">
                          <a:ln w="0"/>
                          <a:solidFill>
                            <a:schemeClr val="tx1"/>
                          </a:solidFill>
                          <a:effectLst/>
                        </a:rPr>
                        <a:t>Flash</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vMerge="1">
                  <a:txBody>
                    <a:bodyPr/>
                    <a:lstStyle/>
                    <a:p>
                      <a:endParaRPr dirty="0"/>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noFill/>
                  </a:tcPr>
                </a:tc>
                <a:tc vMerge="1">
                  <a:txBody>
                    <a:bodyPr/>
                    <a:lstStyle/>
                    <a:p>
                      <a:endParaRPr dirty="0"/>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noFill/>
                  </a:tcPr>
                </a:tc>
                <a:tc vMerge="1">
                  <a:txBody>
                    <a:bodyPr/>
                    <a:lstStyle/>
                    <a:p>
                      <a:pPr algn="ctr"/>
                      <a:endParaRPr sz="1200" dirty="0"/>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no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lToBr w="12700" cmpd="sng">
                      <a:noFill/>
                      <a:prstDash val="solid"/>
                    </a:lnTlToB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1"/>
                          </a:solidFill>
                          <a:effectLst/>
                          <a:uLnTx/>
                          <a:uFillTx/>
                          <a:latin typeface="+mn-lt"/>
                          <a:ea typeface="+mn-ea"/>
                          <a:cs typeface="+mn-cs"/>
                        </a:rPr>
                        <a:t>H: 1,2,3,5…43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1"/>
                          </a:solidFill>
                          <a:effectLst/>
                          <a:uLnTx/>
                          <a:uFillTx/>
                          <a:latin typeface="+mn-lt"/>
                          <a:ea typeface="+mn-ea"/>
                          <a:cs typeface="+mn-cs"/>
                        </a:rPr>
                        <a:t>C:  4…42</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000" b="0" cap="none" spc="0" dirty="0">
                          <a:ln w="0"/>
                          <a:solidFill>
                            <a:schemeClr val="tx1"/>
                          </a:solidFill>
                          <a:effectLst/>
                        </a:rPr>
                        <a:t>1M</a:t>
                      </a:r>
                      <a:endParaRPr lang="zh-TW" altLang="en-US" sz="10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000" b="0" cap="none" spc="0" dirty="0">
                          <a:ln w="0"/>
                          <a:solidFill>
                            <a:schemeClr val="tx1"/>
                          </a:solidFill>
                          <a:effectLst/>
                        </a:rPr>
                        <a:t>&gt;8192</a:t>
                      </a:r>
                      <a:endParaRPr lang="zh-TW" altLang="en-US" sz="10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000" b="0" cap="none" spc="0" dirty="0">
                          <a:ln w="0"/>
                          <a:solidFill>
                            <a:schemeClr val="tx1"/>
                          </a:solidFill>
                          <a:effectLst/>
                        </a:rPr>
                        <a:t>0</a:t>
                      </a:r>
                      <a:endParaRPr lang="zh-TW" altLang="en-US" sz="10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solidFill>
                      <a:schemeClr val="bg1">
                        <a:alpha val="40000"/>
                      </a:schemeClr>
                    </a:solidFill>
                  </a:tcPr>
                </a:tc>
                <a:tc>
                  <a:txBody>
                    <a:bodyPr/>
                    <a:lstStyle/>
                    <a:p>
                      <a:pPr algn="ctr"/>
                      <a:r>
                        <a:rPr lang="en-US" altLang="zh-TW" sz="1000" b="0" cap="none" spc="0" dirty="0">
                          <a:ln w="0"/>
                          <a:solidFill>
                            <a:schemeClr val="tx1"/>
                          </a:solidFill>
                          <a:effectLst/>
                        </a:rPr>
                        <a:t>1~43</a:t>
                      </a:r>
                      <a:endParaRPr lang="zh-TW" altLang="en-US" sz="10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solidFill>
                      <a:schemeClr val="bg1">
                        <a:alpha val="40000"/>
                      </a:schemeClr>
                    </a:solidFill>
                  </a:tcPr>
                </a:tc>
                <a:tc>
                  <a:txBody>
                    <a:bodyPr/>
                    <a:lstStyle/>
                    <a:p>
                      <a:pPr algn="ctr"/>
                      <a:r>
                        <a:rPr lang="en-US" altLang="zh-TW" sz="1000" b="0" cap="none" spc="0" dirty="0">
                          <a:ln w="0"/>
                          <a:solidFill>
                            <a:schemeClr val="tx1"/>
                          </a:solidFill>
                          <a:effectLst/>
                        </a:rPr>
                        <a:t>13B / 284B </a:t>
                      </a:r>
                      <a:endParaRPr lang="zh-TW" altLang="en-US" sz="10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000" b="0" cap="none" spc="0" dirty="0">
                          <a:ln w="0"/>
                          <a:solidFill>
                            <a:schemeClr val="tx1"/>
                          </a:solidFill>
                          <a:effectLst/>
                        </a:rPr>
                        <a:t>1</a:t>
                      </a:r>
                      <a:r>
                        <a:rPr lang="zh-TW" altLang="en-US" sz="1000" b="0" cap="none" spc="0" dirty="0">
                          <a:ln w="0"/>
                          <a:solidFill>
                            <a:schemeClr val="tx1"/>
                          </a:solidFill>
                          <a:effectLst/>
                        </a:rPr>
                        <a:t> </a:t>
                      </a:r>
                      <a:r>
                        <a:rPr lang="en-US" altLang="zh-TW" sz="1000" b="0" cap="none" spc="0" dirty="0">
                          <a:ln w="0"/>
                          <a:solidFill>
                            <a:schemeClr val="tx1"/>
                          </a:solidFill>
                          <a:effectLst/>
                        </a:rPr>
                        <a:t>PC</a:t>
                      </a:r>
                    </a:p>
                    <a:p>
                      <a:pPr algn="ctr"/>
                      <a:r>
                        <a:rPr lang="en-US" altLang="zh-TW" sz="1000" b="0" cap="none" spc="0" dirty="0">
                          <a:ln w="0"/>
                          <a:solidFill>
                            <a:schemeClr val="tx1">
                              <a:lumMod val="50000"/>
                              <a:lumOff val="50000"/>
                            </a:schemeClr>
                          </a:solidFill>
                          <a:effectLst/>
                        </a:rPr>
                        <a:t>(8</a:t>
                      </a:r>
                      <a:r>
                        <a:rPr lang="zh-TW" altLang="en-US" sz="1000" b="0" cap="none" spc="0" dirty="0">
                          <a:ln w="0"/>
                          <a:solidFill>
                            <a:schemeClr val="tx1">
                              <a:lumMod val="50000"/>
                              <a:lumOff val="50000"/>
                            </a:schemeClr>
                          </a:solidFill>
                          <a:effectLst/>
                        </a:rPr>
                        <a:t> </a:t>
                      </a:r>
                      <a:r>
                        <a:rPr lang="en-US" altLang="zh-TW" sz="1000" b="0" cap="none" spc="0" dirty="0">
                          <a:ln w="0"/>
                          <a:solidFill>
                            <a:schemeClr val="tx1">
                              <a:lumMod val="50000"/>
                              <a:lumOff val="50000"/>
                            </a:schemeClr>
                          </a:solidFill>
                          <a:effectLst/>
                        </a:rPr>
                        <a:t>x H800)</a:t>
                      </a:r>
                      <a:endParaRPr lang="zh-TW" altLang="en-US" sz="1000" b="0" cap="none" spc="0" dirty="0">
                        <a:ln w="0"/>
                        <a:solidFill>
                          <a:schemeClr val="tx1">
                            <a:lumMod val="50000"/>
                            <a:lumOff val="50000"/>
                          </a:schemeClr>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4265565795"/>
                  </a:ext>
                </a:extLst>
              </a:tr>
              <a:tr h="266179">
                <a:tc>
                  <a:txBody>
                    <a:bodyPr/>
                    <a:lstStyle/>
                    <a:p>
                      <a:pPr algn="l"/>
                      <a:r>
                        <a:rPr lang="en-US" altLang="zh-TW" sz="1200" b="0" cap="none" spc="0" dirty="0">
                          <a:ln w="0"/>
                          <a:solidFill>
                            <a:schemeClr val="tx1">
                              <a:lumMod val="50000"/>
                              <a:lumOff val="50000"/>
                            </a:schemeClr>
                          </a:solidFill>
                          <a:effectLst/>
                        </a:rPr>
                        <a:t>V5</a:t>
                      </a:r>
                      <a:endParaRPr lang="zh-TW" altLang="en-US" sz="1200" b="0" cap="none" spc="0" dirty="0">
                        <a:ln w="0"/>
                        <a:solidFill>
                          <a:schemeClr val="tx1">
                            <a:lumMod val="50000"/>
                            <a:lumOff val="50000"/>
                          </a:schemeClr>
                        </a:solidFill>
                        <a:effectLst/>
                      </a:endParaRPr>
                    </a:p>
                  </a:txBody>
                  <a:tcPr marL="72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lumMod val="50000"/>
                              <a:lumOff val="50000"/>
                            </a:schemeClr>
                          </a:solidFill>
                          <a:effectLst/>
                        </a:rPr>
                        <a:t>-</a:t>
                      </a:r>
                      <a:endParaRPr lang="zh-TW" altLang="en-US" sz="1200" b="0" cap="none" spc="0" dirty="0">
                        <a:ln w="0"/>
                        <a:solidFill>
                          <a:schemeClr val="tx1">
                            <a:lumMod val="50000"/>
                            <a:lumOff val="50000"/>
                          </a:schemeClr>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noFill/>
                  </a:tcPr>
                </a:tc>
                <a:tc>
                  <a:txBody>
                    <a:bodyPr/>
                    <a:lstStyle/>
                    <a:p>
                      <a:pPr algn="ctr"/>
                      <a:r>
                        <a:rPr lang="en-US" sz="1200" dirty="0">
                          <a:solidFill>
                            <a:schemeClr val="tx1">
                              <a:lumMod val="50000"/>
                              <a:lumOff val="50000"/>
                            </a:schemeClr>
                          </a:solidFill>
                        </a:rPr>
                        <a:t>-</a:t>
                      </a:r>
                      <a:endParaRPr sz="1200" dirty="0">
                        <a:solidFill>
                          <a:schemeClr val="tx1">
                            <a:lumMod val="50000"/>
                            <a:lumOff val="50000"/>
                          </a:schemeClr>
                        </a:solidFill>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noFill/>
                  </a:tcPr>
                </a:tc>
                <a:tc>
                  <a:txBody>
                    <a:bodyPr/>
                    <a:lstStyle/>
                    <a:p>
                      <a:pPr algn="ctr"/>
                      <a:r>
                        <a:rPr lang="en-US" sz="1200" dirty="0">
                          <a:solidFill>
                            <a:schemeClr val="tx1">
                              <a:lumMod val="50000"/>
                              <a:lumOff val="50000"/>
                            </a:schemeClr>
                          </a:solidFill>
                        </a:rPr>
                        <a:t>-</a:t>
                      </a:r>
                      <a:endParaRPr sz="1200" dirty="0">
                        <a:solidFill>
                          <a:schemeClr val="tx1">
                            <a:lumMod val="50000"/>
                            <a:lumOff val="50000"/>
                          </a:schemeClr>
                        </a:solidFill>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1">
                              <a:lumMod val="50000"/>
                              <a:lumOff val="50000"/>
                            </a:schemeClr>
                          </a:solidFill>
                          <a:effectLst/>
                          <a:uLnTx/>
                          <a:uFillTx/>
                          <a:latin typeface="+mn-lt"/>
                          <a:ea typeface="+mn-ea"/>
                          <a:cs typeface="+mn-cs"/>
                        </a:rPr>
                        <a:t>-</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lumMod val="50000"/>
                              <a:lumOff val="50000"/>
                            </a:schemeClr>
                          </a:solidFill>
                          <a:effectLst/>
                          <a:uLnTx/>
                          <a:uFillTx/>
                          <a:latin typeface="+mn-lt"/>
                          <a:ea typeface="+mn-ea"/>
                          <a:cs typeface="+mn-cs"/>
                        </a:rPr>
                        <a:t>Engram</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000" b="0" i="0" u="none" strike="noStrike" kern="1200" cap="none" spc="0" normalizeH="0" baseline="0" noProof="0" dirty="0">
                        <a:ln w="0"/>
                        <a:solidFill>
                          <a:schemeClr val="tx1">
                            <a:lumMod val="50000"/>
                            <a:lumOff val="50000"/>
                          </a:schemeClr>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noFill/>
                  </a:tcPr>
                </a:tc>
                <a:tc>
                  <a:txBody>
                    <a:bodyPr/>
                    <a:lstStyle/>
                    <a:p>
                      <a:pPr algn="ctr"/>
                      <a:endParaRPr lang="zh-TW" altLang="en-US" sz="1000" b="0" cap="none" spc="0" dirty="0">
                        <a:ln w="0"/>
                        <a:solidFill>
                          <a:schemeClr val="tx1">
                            <a:lumMod val="50000"/>
                            <a:lumOff val="50000"/>
                          </a:schemeClr>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noFill/>
                  </a:tcPr>
                </a:tc>
                <a:tc>
                  <a:txBody>
                    <a:bodyPr/>
                    <a:lstStyle/>
                    <a:p>
                      <a:pPr algn="ctr"/>
                      <a:endParaRPr lang="zh-TW" altLang="en-US" sz="1000" b="0" cap="none" spc="0" dirty="0">
                        <a:ln w="0"/>
                        <a:solidFill>
                          <a:schemeClr val="tx1">
                            <a:lumMod val="50000"/>
                            <a:lumOff val="50000"/>
                          </a:schemeClr>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noFill/>
                  </a:tcPr>
                </a:tc>
                <a:tc>
                  <a:txBody>
                    <a:bodyPr/>
                    <a:lstStyle/>
                    <a:p>
                      <a:pPr algn="ctr"/>
                      <a:endParaRPr lang="zh-TW" altLang="en-US" sz="1000" b="0" cap="none" spc="0" dirty="0">
                        <a:ln w="0"/>
                        <a:solidFill>
                          <a:schemeClr val="tx1">
                            <a:lumMod val="50000"/>
                            <a:lumOff val="50000"/>
                          </a:schemeClr>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solidFill>
                      <a:schemeClr val="bg1">
                        <a:alpha val="40000"/>
                      </a:schemeClr>
                    </a:solidFill>
                  </a:tcPr>
                </a:tc>
                <a:tc>
                  <a:txBody>
                    <a:bodyPr/>
                    <a:lstStyle/>
                    <a:p>
                      <a:pPr algn="ctr"/>
                      <a:endParaRPr lang="zh-TW" altLang="en-US" sz="1000" b="0" cap="none" spc="0" dirty="0">
                        <a:ln w="0"/>
                        <a:solidFill>
                          <a:schemeClr val="tx1">
                            <a:lumMod val="50000"/>
                            <a:lumOff val="50000"/>
                          </a:schemeClr>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solidFill>
                      <a:schemeClr val="bg1">
                        <a:alpha val="40000"/>
                      </a:schemeClr>
                    </a:solidFill>
                  </a:tcPr>
                </a:tc>
                <a:tc>
                  <a:txBody>
                    <a:bodyPr/>
                    <a:lstStyle/>
                    <a:p>
                      <a:pPr algn="ctr"/>
                      <a:endParaRPr lang="zh-TW" altLang="en-US" sz="1200" b="0" cap="none" spc="0" dirty="0">
                        <a:ln w="0"/>
                        <a:solidFill>
                          <a:schemeClr val="tx1">
                            <a:lumMod val="50000"/>
                            <a:lumOff val="50000"/>
                          </a:schemeClr>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noFill/>
                  </a:tcPr>
                </a:tc>
                <a:tc>
                  <a:txBody>
                    <a:bodyPr/>
                    <a:lstStyle/>
                    <a:p>
                      <a:pPr algn="ctr"/>
                      <a:endParaRPr lang="zh-TW" altLang="en-US" sz="1000" b="0" cap="none" spc="0" dirty="0">
                        <a:ln w="0"/>
                        <a:solidFill>
                          <a:schemeClr val="tx1">
                            <a:lumMod val="50000"/>
                            <a:lumOff val="50000"/>
                          </a:schemeClr>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2096539059"/>
                  </a:ext>
                </a:extLst>
              </a:tr>
            </a:tbl>
          </a:graphicData>
        </a:graphic>
      </p:graphicFrame>
    </p:spTree>
    <p:extLst>
      <p:ext uri="{BB962C8B-B14F-4D97-AF65-F5344CB8AC3E}">
        <p14:creationId xmlns:p14="http://schemas.microsoft.com/office/powerpoint/2010/main" val="218421321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a:extLst>
              <a:ext uri="{FF2B5EF4-FFF2-40B4-BE49-F238E27FC236}">
                <a16:creationId xmlns:a16="http://schemas.microsoft.com/office/drawing/2014/main" id="{F420C80E-37D4-372F-D96E-78D501C55D12}"/>
              </a:ext>
            </a:extLst>
          </p:cNvPr>
          <p:cNvPicPr>
            <a:picLocks noChangeAspect="1"/>
          </p:cNvPicPr>
          <p:nvPr/>
        </p:nvPicPr>
        <p:blipFill>
          <a:blip r:embed="rId2"/>
          <a:stretch>
            <a:fillRect/>
          </a:stretch>
        </p:blipFill>
        <p:spPr>
          <a:xfrm>
            <a:off x="1143000" y="1025937"/>
            <a:ext cx="6093296" cy="3094789"/>
          </a:xfrm>
          <a:prstGeom prst="rect">
            <a:avLst/>
          </a:prstGeom>
        </p:spPr>
      </p:pic>
      <p:sp>
        <p:nvSpPr>
          <p:cNvPr id="4" name="標題 1">
            <a:extLst>
              <a:ext uri="{FF2B5EF4-FFF2-40B4-BE49-F238E27FC236}">
                <a16:creationId xmlns:a16="http://schemas.microsoft.com/office/drawing/2014/main" id="{A2245D14-54E3-79E0-6651-0F4BA441EEF2}"/>
              </a:ext>
            </a:extLst>
          </p:cNvPr>
          <p:cNvSpPr txBox="1">
            <a:spLocks/>
          </p:cNvSpPr>
          <p:nvPr/>
        </p:nvSpPr>
        <p:spPr>
          <a:xfrm>
            <a:off x="179512" y="116632"/>
            <a:ext cx="6978340"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DeepSeek v4</a:t>
            </a:r>
            <a:r>
              <a:rPr lang="zh-TW" altLang="en-US" sz="2800" dirty="0">
                <a:latin typeface="Noto Sans HK" panose="020B0200000000000000" pitchFamily="34" charset="-120"/>
                <a:ea typeface="Noto Sans HK" panose="020B0200000000000000" pitchFamily="34" charset="-120"/>
                <a:cs typeface="Aharoni" panose="020F0502020204030204" pitchFamily="2" charset="-79"/>
              </a:rPr>
              <a:t> </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MTP: DSpark Architecture</a:t>
            </a:r>
          </a:p>
          <a:p>
            <a:endPar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https://zhuanlan.zhihu.com/p/18056041194</a:t>
            </a: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pic>
        <p:nvPicPr>
          <p:cNvPr id="7" name="圖片 6">
            <a:extLst>
              <a:ext uri="{FF2B5EF4-FFF2-40B4-BE49-F238E27FC236}">
                <a16:creationId xmlns:a16="http://schemas.microsoft.com/office/drawing/2014/main" id="{5E0CC9C3-4045-3D30-8145-8B0342428755}"/>
              </a:ext>
            </a:extLst>
          </p:cNvPr>
          <p:cNvPicPr>
            <a:picLocks noChangeAspect="1"/>
          </p:cNvPicPr>
          <p:nvPr/>
        </p:nvPicPr>
        <p:blipFill>
          <a:blip r:embed="rId3"/>
          <a:stretch>
            <a:fillRect/>
          </a:stretch>
        </p:blipFill>
        <p:spPr>
          <a:xfrm>
            <a:off x="-310743" y="2348880"/>
            <a:ext cx="8311743" cy="4248472"/>
          </a:xfrm>
          <a:prstGeom prst="rect">
            <a:avLst/>
          </a:prstGeom>
        </p:spPr>
      </p:pic>
    </p:spTree>
    <p:extLst>
      <p:ext uri="{BB962C8B-B14F-4D97-AF65-F5344CB8AC3E}">
        <p14:creationId xmlns:p14="http://schemas.microsoft.com/office/powerpoint/2010/main" val="37931568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方塊 4">
            <a:hlinkClick r:id="rId2"/>
            <a:extLst>
              <a:ext uri="{FF2B5EF4-FFF2-40B4-BE49-F238E27FC236}">
                <a16:creationId xmlns:a16="http://schemas.microsoft.com/office/drawing/2014/main" id="{E72E6D05-B98B-FC30-961B-737C8D09D445}"/>
              </a:ext>
            </a:extLst>
          </p:cNvPr>
          <p:cNvSpPr txBox="1"/>
          <p:nvPr/>
        </p:nvSpPr>
        <p:spPr>
          <a:xfrm>
            <a:off x="323528" y="33974"/>
            <a:ext cx="5112568" cy="369332"/>
          </a:xfrm>
          <a:prstGeom prst="rect">
            <a:avLst/>
          </a:prstGeom>
          <a:noFill/>
        </p:spPr>
        <p:txBody>
          <a:bodyPr wrap="square">
            <a:spAutoFit/>
          </a:bodyPr>
          <a:lstStyle/>
          <a:p>
            <a:r>
              <a:rPr lang="en-US" altLang="zh-TW" dirty="0">
                <a:hlinkClick r:id="rId2"/>
              </a:rPr>
              <a:t>The insane infrastructure design of DeepSeek V4</a:t>
            </a:r>
            <a:endParaRPr lang="zh-TW" altLang="en-US" dirty="0"/>
          </a:p>
        </p:txBody>
      </p:sp>
      <p:pic>
        <p:nvPicPr>
          <p:cNvPr id="4" name="圖片 3">
            <a:extLst>
              <a:ext uri="{FF2B5EF4-FFF2-40B4-BE49-F238E27FC236}">
                <a16:creationId xmlns:a16="http://schemas.microsoft.com/office/drawing/2014/main" id="{8066917F-E514-1635-588D-7BFDEACF72DF}"/>
              </a:ext>
            </a:extLst>
          </p:cNvPr>
          <p:cNvPicPr>
            <a:picLocks noChangeAspect="1"/>
          </p:cNvPicPr>
          <p:nvPr/>
        </p:nvPicPr>
        <p:blipFill>
          <a:blip r:embed="rId3"/>
          <a:stretch>
            <a:fillRect/>
          </a:stretch>
        </p:blipFill>
        <p:spPr>
          <a:xfrm>
            <a:off x="0" y="1100903"/>
            <a:ext cx="9144000" cy="4656193"/>
          </a:xfrm>
          <a:prstGeom prst="rect">
            <a:avLst/>
          </a:prstGeom>
        </p:spPr>
      </p:pic>
    </p:spTree>
    <p:extLst>
      <p:ext uri="{BB962C8B-B14F-4D97-AF65-F5344CB8AC3E}">
        <p14:creationId xmlns:p14="http://schemas.microsoft.com/office/powerpoint/2010/main" val="22072976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699331EB-D564-30D4-7D91-3356C901B2BA}"/>
              </a:ext>
            </a:extLst>
          </p:cNvPr>
          <p:cNvPicPr>
            <a:picLocks noChangeAspect="1"/>
          </p:cNvPicPr>
          <p:nvPr/>
        </p:nvPicPr>
        <p:blipFill>
          <a:blip r:embed="rId2"/>
          <a:stretch>
            <a:fillRect/>
          </a:stretch>
        </p:blipFill>
        <p:spPr>
          <a:xfrm>
            <a:off x="72467" y="2072368"/>
            <a:ext cx="4715558" cy="4207247"/>
          </a:xfrm>
          <a:prstGeom prst="rect">
            <a:avLst/>
          </a:prstGeom>
        </p:spPr>
      </p:pic>
      <p:pic>
        <p:nvPicPr>
          <p:cNvPr id="5" name="圖片 4">
            <a:extLst>
              <a:ext uri="{FF2B5EF4-FFF2-40B4-BE49-F238E27FC236}">
                <a16:creationId xmlns:a16="http://schemas.microsoft.com/office/drawing/2014/main" id="{20C34C73-3672-2E31-B9B9-AA8920D87083}"/>
              </a:ext>
            </a:extLst>
          </p:cNvPr>
          <p:cNvPicPr>
            <a:picLocks noChangeAspect="1"/>
          </p:cNvPicPr>
          <p:nvPr/>
        </p:nvPicPr>
        <p:blipFill>
          <a:blip r:embed="rId3"/>
          <a:stretch>
            <a:fillRect/>
          </a:stretch>
        </p:blipFill>
        <p:spPr>
          <a:xfrm>
            <a:off x="22137" y="332656"/>
            <a:ext cx="1971950" cy="2629267"/>
          </a:xfrm>
          <a:prstGeom prst="rect">
            <a:avLst/>
          </a:prstGeom>
        </p:spPr>
      </p:pic>
      <p:sp>
        <p:nvSpPr>
          <p:cNvPr id="4" name="文字方塊 3">
            <a:extLst>
              <a:ext uri="{FF2B5EF4-FFF2-40B4-BE49-F238E27FC236}">
                <a16:creationId xmlns:a16="http://schemas.microsoft.com/office/drawing/2014/main" id="{8077AF21-1770-2EC5-BA5E-8B86C2DCC98A}"/>
              </a:ext>
            </a:extLst>
          </p:cNvPr>
          <p:cNvSpPr txBox="1"/>
          <p:nvPr/>
        </p:nvSpPr>
        <p:spPr>
          <a:xfrm>
            <a:off x="2771800" y="1099468"/>
            <a:ext cx="6048672" cy="1336584"/>
          </a:xfrm>
          <a:prstGeom prst="rect">
            <a:avLst/>
          </a:prstGeom>
          <a:noFill/>
        </p:spPr>
        <p:txBody>
          <a:bodyPr wrap="square">
            <a:spAutoFit/>
          </a:bodyPr>
          <a:lstStyle/>
          <a:p>
            <a:pPr marL="0" marR="0">
              <a:lnSpc>
                <a:spcPts val="1400"/>
              </a:lnSpc>
              <a:buNone/>
            </a:pPr>
            <a:r>
              <a:rPr lang="zh-TW" altLang="zh-TW" sz="1100" b="1" u="none" strike="noStrike" dirty="0">
                <a:effectLst/>
                <a:latin typeface="微軟正黑體" panose="020B0604030504040204" pitchFamily="34" charset="-120"/>
                <a:ea typeface="微軟正黑體" panose="020B0604030504040204" pitchFamily="34" charset="-120"/>
              </a:rPr>
              <a:t>矩陣維度演變全景總結</a:t>
            </a:r>
          </a:p>
          <a:p>
            <a:pPr marL="171450" marR="0" indent="-171450">
              <a:lnSpc>
                <a:spcPts val="1400"/>
              </a:lnSpc>
              <a:buFont typeface="Wingdings" panose="05000000000000000000" pitchFamily="2" charset="2"/>
              <a:buChar char="à"/>
            </a:pPr>
            <a:r>
              <a:rPr lang="zh-TW" altLang="zh-TW" sz="1100" b="0" u="none" strike="noStrike" dirty="0">
                <a:effectLst/>
                <a:latin typeface="微軟正黑體" panose="020B0604030504040204" pitchFamily="34" charset="-120"/>
                <a:ea typeface="微軟正黑體" panose="020B0604030504040204" pitchFamily="34" charset="-120"/>
              </a:rPr>
              <a:t>原始多通道資料</a:t>
            </a:r>
            <a:r>
              <a:rPr lang="zh-TW" altLang="en-US" sz="1100" b="0" u="none" strike="noStrike" dirty="0">
                <a:effectLst/>
                <a:latin typeface="微軟正黑體" panose="020B0604030504040204" pitchFamily="34" charset="-120"/>
                <a:ea typeface="微軟正黑體" panose="020B0604030504040204" pitchFamily="34" charset="-120"/>
              </a:rPr>
              <a:t> </a:t>
            </a:r>
            <a:r>
              <a:rPr lang="zh-TW" altLang="zh-TW" sz="1100" b="0" u="none" strike="noStrike" dirty="0">
                <a:effectLst/>
                <a:latin typeface="微軟正黑體" panose="020B0604030504040204" pitchFamily="34" charset="-120"/>
                <a:ea typeface="微軟正黑體" panose="020B0604030504040204" pitchFamily="34" charset="-120"/>
              </a:rPr>
              <a:t>X</a:t>
            </a:r>
            <a:r>
              <a:rPr lang="zh-TW" altLang="en-US" sz="1100" b="0" u="none" strike="noStrike" dirty="0">
                <a:effectLst/>
                <a:latin typeface="微軟正黑體" panose="020B0604030504040204" pitchFamily="34" charset="-120"/>
                <a:ea typeface="微軟正黑體" panose="020B0604030504040204" pitchFamily="34" charset="-120"/>
              </a:rPr>
              <a:t> </a:t>
            </a:r>
            <a:r>
              <a:rPr lang="zh-TW" altLang="zh-TW" sz="1100" b="0" u="none" strike="noStrike" dirty="0">
                <a:effectLst/>
                <a:latin typeface="微軟正黑體" panose="020B0604030504040204" pitchFamily="34" charset="-120"/>
                <a:ea typeface="微軟正黑體" panose="020B0604030504040204" pitchFamily="34" charset="-120"/>
              </a:rPr>
              <a:t>[N,d]</a:t>
            </a:r>
            <a:endParaRPr lang="en-US" altLang="zh-TW" sz="1100" b="0" u="none" strike="noStrike" dirty="0">
              <a:effectLst/>
              <a:latin typeface="微軟正黑體" panose="020B0604030504040204" pitchFamily="34" charset="-120"/>
              <a:ea typeface="微軟正黑體" panose="020B0604030504040204" pitchFamily="34" charset="-120"/>
            </a:endParaRPr>
          </a:p>
          <a:p>
            <a:pPr marL="171450" marR="0" indent="-171450">
              <a:lnSpc>
                <a:spcPts val="1400"/>
              </a:lnSpc>
              <a:buFont typeface="Wingdings" panose="05000000000000000000" pitchFamily="2" charset="2"/>
              <a:buChar char="à"/>
            </a:pPr>
            <a:r>
              <a:rPr lang="zh-TW" altLang="zh-TW" sz="1100" b="0" u="none" strike="noStrike" dirty="0">
                <a:effectLst/>
                <a:latin typeface="微軟正黑體" panose="020B0604030504040204" pitchFamily="34" charset="-120"/>
                <a:ea typeface="微軟正黑體" panose="020B0604030504040204" pitchFamily="34" charset="-120"/>
              </a:rPr>
              <a:t>步驟1: 壓縮</a:t>
            </a:r>
            <a:r>
              <a:rPr lang="zh-TW" altLang="en-US" sz="1100" b="0" u="none" strike="noStrike" dirty="0">
                <a:effectLst/>
                <a:latin typeface="微軟正黑體" panose="020B0604030504040204" pitchFamily="34" charset="-120"/>
                <a:ea typeface="微軟正黑體" panose="020B0604030504040204" pitchFamily="34" charset="-120"/>
              </a:rPr>
              <a:t> </a:t>
            </a:r>
            <a:r>
              <a:rPr lang="zh-TW" altLang="zh-TW" sz="1100" b="0" u="none" strike="noStrike" dirty="0">
                <a:effectLst/>
                <a:latin typeface="微軟正黑體" panose="020B0604030504040204" pitchFamily="34" charset="-120"/>
                <a:ea typeface="微軟正黑體" panose="020B0604030504040204" pitchFamily="34" charset="-120"/>
              </a:rPr>
              <a:t>通道特徵向量</a:t>
            </a:r>
            <a:r>
              <a:rPr lang="en-US" altLang="zh-TW" sz="1100" b="0" u="none" strike="noStrike" dirty="0">
                <a:effectLst/>
                <a:latin typeface="微軟正黑體" panose="020B0604030504040204" pitchFamily="34" charset="-120"/>
                <a:ea typeface="微軟正黑體" panose="020B0604030504040204" pitchFamily="34" charset="-120"/>
              </a:rPr>
              <a:t> </a:t>
            </a:r>
            <a:r>
              <a:rPr lang="zh-TW" altLang="zh-TW" sz="1100" b="0" u="none" strike="noStrike" dirty="0">
                <a:effectLst/>
                <a:latin typeface="微軟正黑體" panose="020B0604030504040204" pitchFamily="34" charset="-120"/>
                <a:ea typeface="微軟正黑體" panose="020B0604030504040204" pitchFamily="34" charset="-120"/>
              </a:rPr>
              <a:t>x_compressed</a:t>
            </a:r>
            <a:r>
              <a:rPr lang="zh-TW" altLang="en-US" sz="1100" b="0" u="none" strike="noStrike" dirty="0">
                <a:effectLst/>
                <a:latin typeface="微軟正黑體" panose="020B0604030504040204" pitchFamily="34" charset="-120"/>
                <a:ea typeface="微軟正黑體" panose="020B0604030504040204" pitchFamily="34" charset="-120"/>
              </a:rPr>
              <a:t> </a:t>
            </a:r>
            <a:r>
              <a:rPr lang="en-US" altLang="zh-TW" sz="1100" b="0" u="none" strike="noStrike" dirty="0">
                <a:effectLst/>
                <a:latin typeface="微軟正黑體" panose="020B0604030504040204" pitchFamily="34" charset="-120"/>
                <a:ea typeface="微軟正黑體" panose="020B0604030504040204" pitchFamily="34" charset="-120"/>
              </a:rPr>
              <a:t>[</a:t>
            </a:r>
            <a:r>
              <a:rPr lang="zh-TW" altLang="zh-TW" sz="1100" b="0" u="none" strike="noStrike" dirty="0">
                <a:effectLst/>
                <a:latin typeface="微軟正黑體" panose="020B0604030504040204" pitchFamily="34" charset="-120"/>
                <a:ea typeface="微軟正黑體" panose="020B0604030504040204" pitchFamily="34" charset="-120"/>
              </a:rPr>
              <a:t>N,1]</a:t>
            </a:r>
            <a:endParaRPr lang="en-US" altLang="zh-TW" sz="1100" b="0" u="none" strike="noStrike" dirty="0">
              <a:effectLst/>
              <a:latin typeface="微軟正黑體" panose="020B0604030504040204" pitchFamily="34" charset="-120"/>
              <a:ea typeface="微軟正黑體" panose="020B0604030504040204" pitchFamily="34" charset="-120"/>
            </a:endParaRPr>
          </a:p>
          <a:p>
            <a:pPr marL="171450" marR="0" indent="-171450">
              <a:lnSpc>
                <a:spcPts val="1400"/>
              </a:lnSpc>
              <a:buFont typeface="Wingdings" panose="05000000000000000000" pitchFamily="2" charset="2"/>
              <a:buChar char="à"/>
            </a:pPr>
            <a:r>
              <a:rPr lang="zh-TW" altLang="zh-TW" sz="1100" b="0" u="none" strike="noStrike" dirty="0">
                <a:effectLst/>
                <a:latin typeface="微軟正黑體" panose="020B0604030504040204" pitchFamily="34" charset="-120"/>
                <a:ea typeface="微軟正黑體" panose="020B0604030504040204" pitchFamily="34" charset="-120"/>
              </a:rPr>
              <a:t>步驟2: 映射粗糙意圖矩陣</a:t>
            </a:r>
            <a:r>
              <a:rPr lang="zh-TW" altLang="en-US" sz="1100" dirty="0">
                <a:latin typeface="微軟正黑體" panose="020B0604030504040204" pitchFamily="34" charset="-120"/>
                <a:ea typeface="微軟正黑體" panose="020B0604030504040204" pitchFamily="34" charset="-120"/>
              </a:rPr>
              <a:t> </a:t>
            </a:r>
            <a:r>
              <a:rPr lang="zh-TW" altLang="zh-TW" sz="1100" b="0" u="none" strike="noStrike" dirty="0">
                <a:effectLst/>
                <a:latin typeface="微軟正黑體" panose="020B0604030504040204" pitchFamily="34" charset="-120"/>
                <a:ea typeface="微軟正黑體" panose="020B0604030504040204" pitchFamily="34" charset="-120"/>
              </a:rPr>
              <a:t>H_res</a:t>
            </a:r>
            <a:r>
              <a:rPr lang="zh-TW" altLang="en-US" sz="1100" b="0" u="none" strike="noStrike" dirty="0">
                <a:effectLst/>
                <a:latin typeface="微軟正黑體" panose="020B0604030504040204" pitchFamily="34" charset="-120"/>
                <a:ea typeface="微軟正黑體" panose="020B0604030504040204" pitchFamily="34" charset="-120"/>
              </a:rPr>
              <a:t> </a:t>
            </a:r>
            <a:r>
              <a:rPr lang="zh-TW" altLang="zh-TW" sz="1100" b="0" u="none" strike="noStrike" dirty="0">
                <a:effectLst/>
                <a:latin typeface="微軟正黑體" panose="020B0604030504040204" pitchFamily="34" charset="-120"/>
                <a:ea typeface="微軟正黑體" panose="020B0604030504040204" pitchFamily="34" charset="-120"/>
              </a:rPr>
              <a:t>[N,N]</a:t>
            </a:r>
            <a:r>
              <a:rPr lang="zh-TW" altLang="en-US" sz="1100" b="0" u="none" strike="noStrike" dirty="0">
                <a:effectLst/>
                <a:latin typeface="微軟正黑體" panose="020B0604030504040204" pitchFamily="34" charset="-120"/>
                <a:ea typeface="微軟正黑體" panose="020B0604030504040204" pitchFamily="34" charset="-120"/>
              </a:rPr>
              <a:t> </a:t>
            </a:r>
            <a:r>
              <a:rPr lang="en-US" altLang="zh-TW" sz="1100" b="0" u="none" strike="noStrike" dirty="0">
                <a:effectLst/>
                <a:latin typeface="微軟正黑體" panose="020B0604030504040204" pitchFamily="34" charset="-120"/>
                <a:ea typeface="微軟正黑體" panose="020B0604030504040204" pitchFamily="34" charset="-120"/>
                <a:sym typeface="Wingdings" panose="05000000000000000000" pitchFamily="2" charset="2"/>
              </a:rPr>
              <a:t></a:t>
            </a:r>
          </a:p>
          <a:p>
            <a:pPr marL="171450" marR="0" indent="-171450">
              <a:lnSpc>
                <a:spcPts val="1400"/>
              </a:lnSpc>
              <a:buFont typeface="Wingdings" panose="05000000000000000000" pitchFamily="2" charset="2"/>
              <a:buChar char="à"/>
            </a:pPr>
            <a:r>
              <a:rPr lang="zh-TW" altLang="zh-TW" sz="1100" b="0" u="none" strike="noStrike" dirty="0">
                <a:effectLst/>
                <a:latin typeface="微軟正黑體" panose="020B0604030504040204" pitchFamily="34" charset="-120"/>
                <a:ea typeface="微軟正黑體" panose="020B0604030504040204" pitchFamily="34" charset="-120"/>
              </a:rPr>
              <a:t>步驟3: 非負化</a:t>
            </a:r>
            <a:r>
              <a:rPr lang="zh-TW" altLang="en-US" sz="1100" b="0" u="none" strike="noStrike" dirty="0">
                <a:effectLst/>
                <a:latin typeface="微軟正黑體" panose="020B0604030504040204" pitchFamily="34" charset="-120"/>
                <a:ea typeface="微軟正黑體" panose="020B0604030504040204" pitchFamily="34" charset="-120"/>
              </a:rPr>
              <a:t> </a:t>
            </a:r>
            <a:r>
              <a:rPr lang="en-US" altLang="zh-TW" sz="1100" b="0" u="none" strike="noStrike" dirty="0">
                <a:effectLst/>
                <a:latin typeface="微軟正黑體" panose="020B0604030504040204" pitchFamily="34" charset="-120"/>
                <a:ea typeface="微軟正黑體" panose="020B0604030504040204" pitchFamily="34" charset="-120"/>
                <a:sym typeface="Wingdings" panose="05000000000000000000" pitchFamily="2" charset="2"/>
              </a:rPr>
              <a:t></a:t>
            </a:r>
            <a:r>
              <a:rPr lang="zh-TW" altLang="en-US" sz="1100" b="0" u="none" strike="noStrike" dirty="0">
                <a:effectLst/>
                <a:latin typeface="微軟正黑體" panose="020B0604030504040204" pitchFamily="34" charset="-120"/>
                <a:ea typeface="微軟正黑體" panose="020B0604030504040204" pitchFamily="34" charset="-120"/>
                <a:sym typeface="Wingdings" panose="05000000000000000000" pitchFamily="2" charset="2"/>
              </a:rPr>
              <a:t> </a:t>
            </a:r>
            <a:r>
              <a:rPr lang="zh-TW" altLang="zh-TW" sz="1100" b="0" u="none" strike="noStrike" dirty="0">
                <a:effectLst/>
                <a:latin typeface="微軟正黑體" panose="020B0604030504040204" pitchFamily="34" charset="-120"/>
                <a:ea typeface="微軟正黑體" panose="020B0604030504040204" pitchFamily="34" charset="-120"/>
              </a:rPr>
              <a:t>正能量矩陣</a:t>
            </a:r>
            <a:r>
              <a:rPr lang="zh-TW" altLang="en-US" sz="1100" b="0" u="none" strike="noStrike" dirty="0">
                <a:effectLst/>
                <a:latin typeface="微軟正黑體" panose="020B0604030504040204" pitchFamily="34" charset="-120"/>
                <a:ea typeface="微軟正黑體" panose="020B0604030504040204" pitchFamily="34" charset="-120"/>
              </a:rPr>
              <a:t> </a:t>
            </a:r>
            <a:r>
              <a:rPr lang="zh-TW" altLang="zh-TW" sz="1100" b="0" u="none" strike="noStrike" dirty="0">
                <a:effectLst/>
                <a:latin typeface="微軟正黑體" panose="020B0604030504040204" pitchFamily="34" charset="-120"/>
                <a:ea typeface="微軟正黑體" panose="020B0604030504040204" pitchFamily="34" charset="-120"/>
              </a:rPr>
              <a:t>A</a:t>
            </a:r>
            <a:r>
              <a:rPr lang="zh-TW" altLang="en-US" sz="1100" b="0" u="none" strike="noStrike" dirty="0">
                <a:effectLst/>
                <a:latin typeface="微軟正黑體" panose="020B0604030504040204" pitchFamily="34" charset="-120"/>
                <a:ea typeface="微軟正黑體" panose="020B0604030504040204" pitchFamily="34" charset="-120"/>
              </a:rPr>
              <a:t> </a:t>
            </a:r>
            <a:r>
              <a:rPr lang="zh-TW" altLang="zh-TW" sz="1100" b="0" u="none" strike="noStrike" dirty="0">
                <a:effectLst/>
                <a:latin typeface="微軟正黑體" panose="020B0604030504040204" pitchFamily="34" charset="-120"/>
                <a:ea typeface="微軟正黑體" panose="020B0604030504040204" pitchFamily="34" charset="-120"/>
              </a:rPr>
              <a:t>[N,N]</a:t>
            </a:r>
            <a:endParaRPr lang="en-US" altLang="zh-TW" sz="1100" b="0" u="none" strike="noStrike" dirty="0">
              <a:effectLst/>
              <a:latin typeface="微軟正黑體" panose="020B0604030504040204" pitchFamily="34" charset="-120"/>
              <a:ea typeface="微軟正黑體" panose="020B0604030504040204" pitchFamily="34" charset="-120"/>
            </a:endParaRPr>
          </a:p>
          <a:p>
            <a:pPr marL="171450" marR="0" indent="-171450">
              <a:lnSpc>
                <a:spcPts val="1400"/>
              </a:lnSpc>
              <a:buFont typeface="Wingdings" panose="05000000000000000000" pitchFamily="2" charset="2"/>
              <a:buChar char="à"/>
            </a:pPr>
            <a:r>
              <a:rPr lang="zh-TW" altLang="zh-TW" sz="1100" b="0" u="none" strike="noStrike" dirty="0">
                <a:effectLst/>
                <a:latin typeface="微軟正黑體" panose="020B0604030504040204" pitchFamily="34" charset="-120"/>
                <a:ea typeface="微軟正黑體" panose="020B0604030504040204" pitchFamily="34" charset="-120"/>
              </a:rPr>
              <a:t>步驟4: Sinkhorn</a:t>
            </a:r>
            <a:r>
              <a:rPr lang="zh-TW" altLang="en-US" sz="1100" b="0" u="none" strike="noStrike" dirty="0">
                <a:effectLst/>
                <a:latin typeface="微軟正黑體" panose="020B0604030504040204" pitchFamily="34" charset="-120"/>
                <a:ea typeface="微軟正黑體" panose="020B0604030504040204" pitchFamily="34" charset="-120"/>
              </a:rPr>
              <a:t> </a:t>
            </a:r>
            <a:r>
              <a:rPr lang="en-US" altLang="zh-TW" sz="1100" b="0" u="none" strike="noStrike" dirty="0">
                <a:effectLst/>
                <a:latin typeface="微軟正黑體" panose="020B0604030504040204" pitchFamily="34" charset="-120"/>
                <a:ea typeface="微軟正黑體" panose="020B0604030504040204" pitchFamily="34" charset="-120"/>
                <a:sym typeface="Wingdings" panose="05000000000000000000" pitchFamily="2" charset="2"/>
              </a:rPr>
              <a:t></a:t>
            </a:r>
            <a:r>
              <a:rPr lang="zh-TW" altLang="en-US" sz="1100" b="0" u="none" strike="noStrike" dirty="0">
                <a:effectLst/>
                <a:latin typeface="微軟正黑體" panose="020B0604030504040204" pitchFamily="34" charset="-120"/>
                <a:ea typeface="微軟正黑體" panose="020B0604030504040204" pitchFamily="34" charset="-120"/>
                <a:sym typeface="Wingdings" panose="05000000000000000000" pitchFamily="2" charset="2"/>
              </a:rPr>
              <a:t> </a:t>
            </a:r>
            <a:r>
              <a:rPr lang="zh-TW" altLang="zh-TW" sz="1100" b="0" u="none" strike="noStrike" dirty="0">
                <a:effectLst/>
                <a:latin typeface="微軟正黑體" panose="020B0604030504040204" pitchFamily="34" charset="-120"/>
                <a:ea typeface="微軟正黑體" panose="020B0604030504040204" pitchFamily="34" charset="-120"/>
              </a:rPr>
              <a:t>動態流形矩陣</a:t>
            </a:r>
            <a:r>
              <a:rPr lang="en-US" altLang="zh-TW" sz="1100" b="0" u="none" strike="noStrike" dirty="0">
                <a:effectLst/>
                <a:latin typeface="微軟正黑體" panose="020B0604030504040204" pitchFamily="34" charset="-120"/>
                <a:ea typeface="微軟正黑體" panose="020B0604030504040204" pitchFamily="34" charset="-120"/>
              </a:rPr>
              <a:t> </a:t>
            </a:r>
            <a:r>
              <a:rPr lang="zh-TW" altLang="zh-TW" sz="1100" b="0" u="none" strike="noStrike" dirty="0">
                <a:effectLst/>
                <a:latin typeface="微軟正黑體" panose="020B0604030504040204" pitchFamily="34" charset="-120"/>
                <a:ea typeface="微軟正黑體" panose="020B0604030504040204" pitchFamily="34" charset="-120"/>
              </a:rPr>
              <a:t>H_res</a:t>
            </a:r>
            <a:r>
              <a:rPr lang="en-US" altLang="zh-TW" sz="1100" b="0" u="none" strike="noStrike" dirty="0">
                <a:effectLst/>
                <a:latin typeface="微軟正黑體" panose="020B0604030504040204" pitchFamily="34" charset="-120"/>
                <a:ea typeface="微軟正黑體" panose="020B0604030504040204" pitchFamily="34" charset="-120"/>
              </a:rPr>
              <a:t> [</a:t>
            </a:r>
            <a:r>
              <a:rPr lang="zh-TW" altLang="zh-TW" sz="1100" b="0" u="none" strike="noStrike" dirty="0">
                <a:effectLst/>
                <a:latin typeface="微軟正黑體" panose="020B0604030504040204" pitchFamily="34" charset="-120"/>
                <a:ea typeface="微軟正黑體" panose="020B0604030504040204" pitchFamily="34" charset="-120"/>
              </a:rPr>
              <a:t>N,N]</a:t>
            </a:r>
          </a:p>
          <a:p>
            <a:pPr marL="0" marR="0">
              <a:lnSpc>
                <a:spcPts val="1400"/>
              </a:lnSpc>
              <a:buNone/>
            </a:pPr>
            <a:r>
              <a:rPr lang="zh-TW" altLang="zh-TW" sz="1100" b="0" u="none" strike="noStrike" dirty="0">
                <a:effectLst/>
                <a:latin typeface="微軟正黑體" panose="020B0604030504040204" pitchFamily="34" charset="-120"/>
                <a:ea typeface="微軟正黑體" panose="020B0604030504040204" pitchFamily="34" charset="-120"/>
              </a:rPr>
              <a:t>當這 4 個步驟在幾微秒內完成後</a:t>
            </a:r>
          </a:p>
        </p:txBody>
      </p:sp>
    </p:spTree>
    <p:extLst>
      <p:ext uri="{BB962C8B-B14F-4D97-AF65-F5344CB8AC3E}">
        <p14:creationId xmlns:p14="http://schemas.microsoft.com/office/powerpoint/2010/main" val="24595359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2E03E-7F2E-4C1D-BDC3-5AD0B8F50ACC}"/>
            </a:ext>
          </a:extLst>
        </p:cNvPr>
        <p:cNvGrpSpPr/>
        <p:nvPr/>
      </p:nvGrpSpPr>
      <p:grpSpPr>
        <a:xfrm>
          <a:off x="0" y="0"/>
          <a:ext cx="0" cy="0"/>
          <a:chOff x="0" y="0"/>
          <a:chExt cx="0" cy="0"/>
        </a:xfrm>
      </p:grpSpPr>
      <p:graphicFrame>
        <p:nvGraphicFramePr>
          <p:cNvPr id="30" name="表格 29">
            <a:extLst>
              <a:ext uri="{FF2B5EF4-FFF2-40B4-BE49-F238E27FC236}">
                <a16:creationId xmlns:a16="http://schemas.microsoft.com/office/drawing/2014/main" id="{FDF88A93-8C0E-D76F-97D3-A2772646F624}"/>
              </a:ext>
            </a:extLst>
          </p:cNvPr>
          <p:cNvGraphicFramePr>
            <a:graphicFrameLocks noGrp="1"/>
          </p:cNvGraphicFramePr>
          <p:nvPr>
            <p:extLst>
              <p:ext uri="{D42A27DB-BD31-4B8C-83A1-F6EECF244321}">
                <p14:modId xmlns:p14="http://schemas.microsoft.com/office/powerpoint/2010/main" val="945139990"/>
              </p:ext>
            </p:extLst>
          </p:nvPr>
        </p:nvGraphicFramePr>
        <p:xfrm>
          <a:off x="539552" y="4278208"/>
          <a:ext cx="8208911" cy="2103120"/>
        </p:xfrm>
        <a:graphic>
          <a:graphicData uri="http://schemas.openxmlformats.org/drawingml/2006/table">
            <a:tbl>
              <a:tblPr firstRow="1" bandRow="1">
                <a:tableStyleId>{5C22544A-7EE6-4342-B048-85BDC9FD1C3A}</a:tableStyleId>
              </a:tblPr>
              <a:tblGrid>
                <a:gridCol w="1080120">
                  <a:extLst>
                    <a:ext uri="{9D8B030D-6E8A-4147-A177-3AD203B41FA5}">
                      <a16:colId xmlns:a16="http://schemas.microsoft.com/office/drawing/2014/main" val="4198244561"/>
                    </a:ext>
                  </a:extLst>
                </a:gridCol>
                <a:gridCol w="1573424">
                  <a:extLst>
                    <a:ext uri="{9D8B030D-6E8A-4147-A177-3AD203B41FA5}">
                      <a16:colId xmlns:a16="http://schemas.microsoft.com/office/drawing/2014/main" val="2094346223"/>
                    </a:ext>
                  </a:extLst>
                </a:gridCol>
                <a:gridCol w="822561">
                  <a:extLst>
                    <a:ext uri="{9D8B030D-6E8A-4147-A177-3AD203B41FA5}">
                      <a16:colId xmlns:a16="http://schemas.microsoft.com/office/drawing/2014/main" val="2211145501"/>
                    </a:ext>
                  </a:extLst>
                </a:gridCol>
                <a:gridCol w="1297705">
                  <a:extLst>
                    <a:ext uri="{9D8B030D-6E8A-4147-A177-3AD203B41FA5}">
                      <a16:colId xmlns:a16="http://schemas.microsoft.com/office/drawing/2014/main" val="3328686525"/>
                    </a:ext>
                  </a:extLst>
                </a:gridCol>
                <a:gridCol w="1068698">
                  <a:extLst>
                    <a:ext uri="{9D8B030D-6E8A-4147-A177-3AD203B41FA5}">
                      <a16:colId xmlns:a16="http://schemas.microsoft.com/office/drawing/2014/main" val="962102743"/>
                    </a:ext>
                  </a:extLst>
                </a:gridCol>
                <a:gridCol w="1286284">
                  <a:extLst>
                    <a:ext uri="{9D8B030D-6E8A-4147-A177-3AD203B41FA5}">
                      <a16:colId xmlns:a16="http://schemas.microsoft.com/office/drawing/2014/main" val="3731412889"/>
                    </a:ext>
                  </a:extLst>
                </a:gridCol>
                <a:gridCol w="633770">
                  <a:extLst>
                    <a:ext uri="{9D8B030D-6E8A-4147-A177-3AD203B41FA5}">
                      <a16:colId xmlns:a16="http://schemas.microsoft.com/office/drawing/2014/main" val="2130031722"/>
                    </a:ext>
                  </a:extLst>
                </a:gridCol>
                <a:gridCol w="446349">
                  <a:extLst>
                    <a:ext uri="{9D8B030D-6E8A-4147-A177-3AD203B41FA5}">
                      <a16:colId xmlns:a16="http://schemas.microsoft.com/office/drawing/2014/main" val="3832649198"/>
                    </a:ext>
                  </a:extLst>
                </a:gridCol>
              </a:tblGrid>
              <a:tr h="178887">
                <a:tc rowSpan="2">
                  <a:txBody>
                    <a:bodyPr/>
                    <a:lstStyle/>
                    <a:p>
                      <a:pPr algn="ctr"/>
                      <a:endParaRPr lang="zh-TW" altLang="en-US" sz="1200" b="1" cap="none" spc="0" dirty="0">
                        <a:ln w="0"/>
                        <a:solidFill>
                          <a:schemeClr val="tx1"/>
                        </a:solidFill>
                        <a:effectLst/>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Description</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rowSpan="2">
                  <a:txBody>
                    <a:bodyPr/>
                    <a:lstStyle/>
                    <a:p>
                      <a:pPr algn="ctr"/>
                      <a:r>
                        <a:rPr lang="en-US" altLang="zh-TW" sz="1200" b="0" cap="none" spc="0" dirty="0">
                          <a:ln w="0"/>
                          <a:solidFill>
                            <a:schemeClr val="tx1"/>
                          </a:solidFill>
                          <a:effectLst/>
                        </a:rPr>
                        <a:t>Context</a:t>
                      </a:r>
                    </a:p>
                    <a:p>
                      <a:pPr algn="ctr"/>
                      <a:r>
                        <a:rPr lang="en-US" altLang="zh-TW" sz="1200" b="0" cap="none" spc="0" dirty="0">
                          <a:ln w="0"/>
                          <a:solidFill>
                            <a:schemeClr val="tx1"/>
                          </a:solidFill>
                          <a:effectLst/>
                        </a:rPr>
                        <a:t>Window</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gridSpan="2">
                  <a:txBody>
                    <a:bodyPr/>
                    <a:lstStyle/>
                    <a:p>
                      <a:pPr algn="ctr"/>
                      <a:r>
                        <a:rPr lang="en-US" altLang="zh-TW" sz="1200" b="0" cap="none" spc="0" dirty="0">
                          <a:ln w="0"/>
                          <a:solidFill>
                            <a:schemeClr val="tx1"/>
                          </a:solidFill>
                          <a:effectLst/>
                        </a:rPr>
                        <a:t>Memory consumption</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hMerge="1">
                  <a:txBody>
                    <a:bodyPr/>
                    <a:lstStyle/>
                    <a:p>
                      <a:endParaRPr lang="zh-TW" altLang="en-US"/>
                    </a:p>
                  </a:txBody>
                  <a:tcPr/>
                </a:tc>
                <a:tc rowSpan="2">
                  <a:txBody>
                    <a:bodyPr/>
                    <a:lstStyle/>
                    <a:p>
                      <a:pPr algn="ctr"/>
                      <a:r>
                        <a:rPr lang="en-US" altLang="zh-TW" sz="1200" b="0" cap="none" spc="0" dirty="0">
                          <a:ln w="0"/>
                          <a:solidFill>
                            <a:schemeClr val="tx1"/>
                          </a:solidFill>
                          <a:effectLst/>
                        </a:rPr>
                        <a:t>License</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rowSpan="2">
                  <a:txBody>
                    <a:bodyPr/>
                    <a:lstStyle/>
                    <a:p>
                      <a:pPr algn="ctr"/>
                      <a:r>
                        <a:rPr lang="en-US" altLang="zh-TW" sz="1200" b="0" cap="none" spc="0" dirty="0">
                          <a:ln w="0"/>
                          <a:solidFill>
                            <a:schemeClr val="tx1"/>
                          </a:solidFill>
                          <a:effectLst/>
                        </a:rPr>
                        <a:t>API Cost</a:t>
                      </a:r>
                      <a:r>
                        <a:rPr lang="en-US" altLang="zh-TW" sz="1200" b="0" cap="none" spc="0" dirty="0">
                          <a:ln w="0"/>
                          <a:solidFill>
                            <a:schemeClr val="accent1"/>
                          </a:solidFill>
                          <a:effectLst/>
                        </a:rPr>
                        <a:t> </a:t>
                      </a:r>
                      <a:r>
                        <a:rPr lang="en-US" altLang="zh-TW" sz="1000" b="0" cap="none" spc="0" dirty="0">
                          <a:ln w="0"/>
                          <a:solidFill>
                            <a:schemeClr val="accent1"/>
                          </a:solidFill>
                          <a:effectLst/>
                        </a:rPr>
                        <a:t>$/Token</a:t>
                      </a:r>
                      <a:endParaRPr lang="zh-TW" altLang="en-US" sz="1000" b="0" cap="none" spc="0" dirty="0">
                        <a:ln w="0"/>
                        <a:solidFill>
                          <a:schemeClr val="accent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rowSpan="2">
                  <a:txBody>
                    <a:bodyPr/>
                    <a:lstStyle/>
                    <a:p>
                      <a:pPr algn="ct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178887">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a:txBody>
                    <a:bodyPr/>
                    <a:lstStyle/>
                    <a:p>
                      <a:pPr algn="ctr"/>
                      <a:r>
                        <a:rPr lang="en-US" altLang="zh-TW" sz="1200" b="0" cap="none" spc="0" dirty="0">
                          <a:ln w="0"/>
                          <a:solidFill>
                            <a:schemeClr val="tx1"/>
                          </a:solidFill>
                          <a:effectLst/>
                        </a:rPr>
                        <a:t>Parameters</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HBM/VRAM</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vMerge="1">
                  <a:txBody>
                    <a:bodyPr/>
                    <a:lstStyle/>
                    <a:p>
                      <a:pPr algn="ct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vMerge="1">
                  <a:txBody>
                    <a:bodyPr/>
                    <a:lstStyle/>
                    <a:p>
                      <a:endParaRPr lang="zh-TW" altLang="en-US"/>
                    </a:p>
                  </a:txBody>
                  <a:tcPr/>
                </a:tc>
                <a:tc vMerge="1">
                  <a:txBody>
                    <a:bodyPr/>
                    <a:lstStyle/>
                    <a:p>
                      <a:endParaRPr lang="zh-TW" altLang="en-US"/>
                    </a:p>
                  </a:txBody>
                  <a:tcPr/>
                </a:tc>
                <a:extLst>
                  <a:ext uri="{0D108BD9-81ED-4DB2-BD59-A6C34878D82A}">
                    <a16:rowId xmlns:a16="http://schemas.microsoft.com/office/drawing/2014/main" val="3267223550"/>
                  </a:ext>
                </a:extLst>
              </a:tr>
              <a:tr h="357773">
                <a:tc>
                  <a:txBody>
                    <a:bodyPr/>
                    <a:lstStyle/>
                    <a:p>
                      <a:pPr algn="l"/>
                      <a:r>
                        <a:rPr lang="en-US" altLang="zh-TW" sz="1200" b="0" cap="none" spc="0" dirty="0">
                          <a:ln w="0"/>
                          <a:solidFill>
                            <a:schemeClr val="tx1"/>
                          </a:solidFill>
                          <a:effectLst/>
                        </a:rPr>
                        <a:t>Kimi K3</a:t>
                      </a:r>
                    </a:p>
                    <a:p>
                      <a:pPr algn="l"/>
                      <a:r>
                        <a:rPr lang="en-US" altLang="zh-TW" sz="1000" b="0" cap="none" spc="0" dirty="0">
                          <a:ln w="0"/>
                          <a:solidFill>
                            <a:schemeClr val="accent1"/>
                          </a:solidFill>
                          <a:effectLst/>
                        </a:rPr>
                        <a:t>Moonshot</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l"/>
                      <a:r>
                        <a:rPr lang="en-US" altLang="zh-TW" sz="1200" b="0" cap="none" spc="0" dirty="0">
                          <a:ln w="0"/>
                          <a:solidFill>
                            <a:schemeClr val="tx1"/>
                          </a:solidFill>
                          <a:effectLst/>
                        </a:rPr>
                        <a:t>KDA, </a:t>
                      </a:r>
                      <a:r>
                        <a:rPr lang="en-US" altLang="zh-TW" sz="1200" b="0" u="sng" cap="none" spc="0" dirty="0">
                          <a:ln w="0"/>
                          <a:solidFill>
                            <a:schemeClr val="tx1"/>
                          </a:solidFill>
                          <a:effectLst/>
                        </a:rPr>
                        <a:t>Arena.ai</a:t>
                      </a:r>
                      <a:r>
                        <a:rPr lang="en-US" altLang="zh-TW" sz="1200" b="0" cap="none" spc="0" dirty="0">
                          <a:ln w="0"/>
                          <a:solidFill>
                            <a:schemeClr val="tx1"/>
                          </a:solidFill>
                          <a:effectLst/>
                        </a:rPr>
                        <a:t>,</a:t>
                      </a:r>
                      <a:r>
                        <a:rPr lang="zh-TW" altLang="en-US" sz="1200" b="0" cap="none" spc="0" dirty="0">
                          <a:ln w="0"/>
                          <a:solidFill>
                            <a:schemeClr val="tx1"/>
                          </a:solidFill>
                          <a:effectLst/>
                        </a:rPr>
                        <a:t> </a:t>
                      </a:r>
                      <a:r>
                        <a:rPr lang="en-US" altLang="zh-TW" sz="1200" b="0" cap="none" spc="0" dirty="0">
                          <a:ln w="0"/>
                          <a:solidFill>
                            <a:schemeClr val="tx1"/>
                          </a:solidFill>
                          <a:effectLst/>
                        </a:rPr>
                        <a:t>Native Multimodal Agent</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100M</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2.8T (104B)</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20*H100</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100G</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Open</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0.86</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3577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DS V4 Pro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accent1"/>
                          </a:solidFill>
                          <a:effectLst/>
                          <a:uLnTx/>
                          <a:uFillTx/>
                          <a:latin typeface="+mn-lt"/>
                          <a:ea typeface="+mn-ea"/>
                          <a:cs typeface="+mn-cs"/>
                        </a:rPr>
                        <a:t>DeepSeek</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l"/>
                      <a:r>
                        <a:rPr lang="en-US" altLang="zh-TW" sz="1200" b="0" cap="none" spc="0" dirty="0">
                          <a:ln w="0"/>
                          <a:solidFill>
                            <a:schemeClr val="tx1"/>
                          </a:solidFill>
                          <a:effectLst/>
                        </a:rPr>
                        <a:t>C/P,</a:t>
                      </a:r>
                      <a:r>
                        <a:rPr lang="zh-TW" altLang="en-US" sz="1200" b="0" cap="none" spc="0" dirty="0">
                          <a:ln w="0"/>
                          <a:solidFill>
                            <a:schemeClr val="tx1"/>
                          </a:solidFill>
                          <a:effectLst/>
                        </a:rPr>
                        <a:t> </a:t>
                      </a:r>
                      <a:r>
                        <a:rPr lang="en-US" altLang="zh-TW" sz="1200" b="0" u="sng" cap="none" spc="0" dirty="0">
                          <a:ln w="0"/>
                          <a:solidFill>
                            <a:schemeClr val="tx1"/>
                          </a:solidFill>
                          <a:effectLst/>
                        </a:rPr>
                        <a:t>STEM</a:t>
                      </a:r>
                      <a:r>
                        <a:rPr lang="en-US" altLang="zh-TW" sz="1200" b="0" cap="none" spc="0" dirty="0">
                          <a:ln w="0"/>
                          <a:solidFill>
                            <a:schemeClr val="tx1"/>
                          </a:solidFill>
                          <a:effectLst/>
                        </a:rPr>
                        <a:t>,</a:t>
                      </a:r>
                      <a:r>
                        <a:rPr lang="zh-TW" altLang="en-US" sz="1200" b="0" cap="none" spc="0" dirty="0">
                          <a:ln w="0"/>
                          <a:solidFill>
                            <a:schemeClr val="tx1"/>
                          </a:solidFill>
                          <a:effectLst/>
                        </a:rPr>
                        <a:t> </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100M</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1.6T (49B)</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10*H100</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80G</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Open</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0.35~0.87</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2207449185"/>
                  </a:ext>
                </a:extLst>
              </a:tr>
              <a:tr h="3279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Claude Fable 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accent1"/>
                          </a:solidFill>
                          <a:effectLst/>
                          <a:uLnTx/>
                          <a:uFillTx/>
                          <a:latin typeface="+mn-lt"/>
                          <a:ea typeface="+mn-ea"/>
                          <a:cs typeface="+mn-cs"/>
                        </a:rPr>
                        <a:t>Anthropic</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l"/>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100M</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Cloud</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Closed</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3.15</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159758637"/>
                  </a:ext>
                </a:extLst>
              </a:tr>
              <a:tr h="3279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GPT-5.6 Sol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accent1"/>
                          </a:solidFill>
                          <a:effectLst/>
                          <a:uLnTx/>
                          <a:uFillTx/>
                          <a:latin typeface="+mn-lt"/>
                          <a:ea typeface="+mn-ea"/>
                          <a:cs typeface="+mn-cs"/>
                        </a:rPr>
                        <a:t>OpenAI</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l"/>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200M+</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Cloud</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Closed</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1.86</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837431638"/>
                  </a:ext>
                </a:extLst>
              </a:tr>
              <a:tr h="3279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Gemini</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accent1"/>
                          </a:solidFill>
                          <a:effectLst/>
                          <a:uLnTx/>
                          <a:uFillTx/>
                          <a:latin typeface="+mn-lt"/>
                          <a:ea typeface="+mn-ea"/>
                          <a:cs typeface="+mn-cs"/>
                        </a:rPr>
                        <a:t>Google</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noFill/>
                  </a:tcPr>
                </a:tc>
                <a:tc>
                  <a:txBody>
                    <a:bodyPr/>
                    <a:lstStyle/>
                    <a:p>
                      <a:pPr algn="l"/>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200M+</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Cloud</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Closed</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~9</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95058973"/>
                  </a:ext>
                </a:extLst>
              </a:tr>
            </a:tbl>
          </a:graphicData>
        </a:graphic>
      </p:graphicFrame>
      <p:graphicFrame>
        <p:nvGraphicFramePr>
          <p:cNvPr id="3" name="表格 2">
            <a:extLst>
              <a:ext uri="{FF2B5EF4-FFF2-40B4-BE49-F238E27FC236}">
                <a16:creationId xmlns:a16="http://schemas.microsoft.com/office/drawing/2014/main" id="{20CF8D57-F62C-C701-EBBE-20B8CF002C59}"/>
              </a:ext>
            </a:extLst>
          </p:cNvPr>
          <p:cNvGraphicFramePr>
            <a:graphicFrameLocks noGrp="1"/>
          </p:cNvGraphicFramePr>
          <p:nvPr>
            <p:extLst>
              <p:ext uri="{D42A27DB-BD31-4B8C-83A1-F6EECF244321}">
                <p14:modId xmlns:p14="http://schemas.microsoft.com/office/powerpoint/2010/main" val="2715771664"/>
              </p:ext>
            </p:extLst>
          </p:nvPr>
        </p:nvGraphicFramePr>
        <p:xfrm>
          <a:off x="7157852" y="2218649"/>
          <a:ext cx="1090401" cy="788874"/>
        </p:xfrm>
        <a:graphic>
          <a:graphicData uri="http://schemas.openxmlformats.org/drawingml/2006/table">
            <a:tbl>
              <a:tblPr firstRow="1" bandRow="1">
                <a:tableStyleId>{5C22544A-7EE6-4342-B048-85BDC9FD1C3A}</a:tableStyleId>
              </a:tblPr>
              <a:tblGrid>
                <a:gridCol w="1090401">
                  <a:extLst>
                    <a:ext uri="{9D8B030D-6E8A-4147-A177-3AD203B41FA5}">
                      <a16:colId xmlns:a16="http://schemas.microsoft.com/office/drawing/2014/main" val="4072639710"/>
                    </a:ext>
                  </a:extLst>
                </a:gridCol>
              </a:tblGrid>
              <a:tr h="207498">
                <a:tc>
                  <a:txBody>
                    <a:bodyPr/>
                    <a:lstStyle/>
                    <a:p>
                      <a:pPr algn="l"/>
                      <a:endParaRPr lang="en-US" altLang="zh-TW" sz="1200" b="1"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2304923032"/>
                  </a:ext>
                </a:extLst>
              </a:tr>
              <a:tr h="207498">
                <a:tc>
                  <a:txBody>
                    <a:bodyPr/>
                    <a:lstStyle/>
                    <a:p>
                      <a:pPr algn="l"/>
                      <a:endParaRPr lang="en-US" altLang="zh-TW" sz="1200" b="1"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3639812515"/>
                  </a:ext>
                </a:extLst>
              </a:tr>
              <a:tr h="1869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581341950"/>
                  </a:ext>
                </a:extLst>
              </a:tr>
              <a:tr h="1869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953988682"/>
                  </a:ext>
                </a:extLst>
              </a:tr>
            </a:tbl>
          </a:graphicData>
        </a:graphic>
      </p:graphicFrame>
      <p:sp>
        <p:nvSpPr>
          <p:cNvPr id="4" name="標題 1">
            <a:extLst>
              <a:ext uri="{FF2B5EF4-FFF2-40B4-BE49-F238E27FC236}">
                <a16:creationId xmlns:a16="http://schemas.microsoft.com/office/drawing/2014/main" id="{05340D84-CC47-CC3E-B3DE-7A987EFDD6B9}"/>
              </a:ext>
            </a:extLst>
          </p:cNvPr>
          <p:cNvSpPr txBox="1">
            <a:spLocks/>
          </p:cNvSpPr>
          <p:nvPr/>
        </p:nvSpPr>
        <p:spPr>
          <a:xfrm>
            <a:off x="179512" y="116632"/>
            <a:ext cx="6978340"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DeepSeek</a:t>
            </a:r>
            <a:r>
              <a:rPr lang="zh-TW" altLang="en-US" sz="2800" dirty="0">
                <a:latin typeface="Noto Sans HK" panose="020B0200000000000000" pitchFamily="34" charset="-120"/>
                <a:ea typeface="Noto Sans HK" panose="020B0200000000000000" pitchFamily="34" charset="-120"/>
                <a:cs typeface="Aharoni" panose="020F0502020204030204" pitchFamily="2" charset="-79"/>
              </a:rPr>
              <a:t> </a:t>
            </a:r>
            <a:r>
              <a:rPr lang="en-US" altLang="zh-TW" sz="2800" dirty="0" err="1">
                <a:latin typeface="Noto Sans HK" panose="020B0200000000000000" pitchFamily="34" charset="-120"/>
                <a:ea typeface="Noto Sans HK" panose="020B0200000000000000" pitchFamily="34" charset="-120"/>
                <a:cs typeface="Aharoni" panose="020F0502020204030204" pitchFamily="2" charset="-79"/>
              </a:rPr>
              <a:t>MoE</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 Architecture</a:t>
            </a:r>
            <a:br>
              <a:rPr lang="en-US" altLang="zh-TW" sz="2800" dirty="0">
                <a:latin typeface="Noto Sans HK" panose="020B0200000000000000" pitchFamily="34" charset="-120"/>
                <a:ea typeface="Noto Sans HK" panose="020B0200000000000000" pitchFamily="34" charset="-120"/>
                <a:cs typeface="Aharoni" panose="020F0502020204030204" pitchFamily="2" charset="-79"/>
              </a:rPr>
            </a:b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An ultra-cost-efficient hardware maximizer that slashes KV cache memory by over 90% through shared and fine-grained expert architectures. </a:t>
            </a: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pic>
        <p:nvPicPr>
          <p:cNvPr id="6" name="圖片 5">
            <a:extLst>
              <a:ext uri="{FF2B5EF4-FFF2-40B4-BE49-F238E27FC236}">
                <a16:creationId xmlns:a16="http://schemas.microsoft.com/office/drawing/2014/main" id="{BA1A6188-F624-3C12-AEF8-4B9C71957B0D}"/>
              </a:ext>
            </a:extLst>
          </p:cNvPr>
          <p:cNvPicPr>
            <a:picLocks noChangeAspect="1"/>
          </p:cNvPicPr>
          <p:nvPr/>
        </p:nvPicPr>
        <p:blipFill>
          <a:blip r:embed="rId3"/>
          <a:stretch>
            <a:fillRect/>
          </a:stretch>
        </p:blipFill>
        <p:spPr>
          <a:xfrm>
            <a:off x="532120" y="-1035496"/>
            <a:ext cx="5413480" cy="7488832"/>
          </a:xfrm>
          <a:prstGeom prst="rect">
            <a:avLst/>
          </a:prstGeom>
          <a:solidFill>
            <a:schemeClr val="bg1"/>
          </a:solidFill>
        </p:spPr>
      </p:pic>
      <p:graphicFrame>
        <p:nvGraphicFramePr>
          <p:cNvPr id="9" name="表格 8">
            <a:extLst>
              <a:ext uri="{FF2B5EF4-FFF2-40B4-BE49-F238E27FC236}">
                <a16:creationId xmlns:a16="http://schemas.microsoft.com/office/drawing/2014/main" id="{D46908ED-3C05-75B7-C1BC-37F95757A753}"/>
              </a:ext>
            </a:extLst>
          </p:cNvPr>
          <p:cNvGraphicFramePr>
            <a:graphicFrameLocks noGrp="1"/>
          </p:cNvGraphicFramePr>
          <p:nvPr>
            <p:extLst>
              <p:ext uri="{D42A27DB-BD31-4B8C-83A1-F6EECF244321}">
                <p14:modId xmlns:p14="http://schemas.microsoft.com/office/powerpoint/2010/main" val="4236154462"/>
              </p:ext>
            </p:extLst>
          </p:nvPr>
        </p:nvGraphicFramePr>
        <p:xfrm>
          <a:off x="6474897" y="856984"/>
          <a:ext cx="2249568" cy="788874"/>
        </p:xfrm>
        <a:graphic>
          <a:graphicData uri="http://schemas.openxmlformats.org/drawingml/2006/table">
            <a:tbl>
              <a:tblPr firstRow="1" bandRow="1">
                <a:tableStyleId>{5C22544A-7EE6-4342-B048-85BDC9FD1C3A}</a:tableStyleId>
              </a:tblPr>
              <a:tblGrid>
                <a:gridCol w="2249568">
                  <a:extLst>
                    <a:ext uri="{9D8B030D-6E8A-4147-A177-3AD203B41FA5}">
                      <a16:colId xmlns:a16="http://schemas.microsoft.com/office/drawing/2014/main" val="4512040"/>
                    </a:ext>
                  </a:extLst>
                </a:gridCol>
              </a:tblGrid>
              <a:tr h="207498">
                <a:tc>
                  <a:txBody>
                    <a:bodyPr/>
                    <a:lstStyle/>
                    <a:p>
                      <a:pPr algn="l"/>
                      <a:r>
                        <a:rPr kumimoji="0" lang="en-US" altLang="zh-TW" sz="1200" b="1" i="0" u="none" strike="noStrike" kern="1200" cap="none" spc="0" normalizeH="0" baseline="0" noProof="0" dirty="0">
                          <a:ln w="0"/>
                          <a:solidFill>
                            <a:prstClr val="black"/>
                          </a:solidFill>
                          <a:effectLst/>
                          <a:uLnTx/>
                          <a:uFillTx/>
                          <a:latin typeface="+mn-lt"/>
                          <a:ea typeface="+mn-ea"/>
                          <a:cs typeface="+mn-cs"/>
                        </a:rPr>
                        <a:t>RLHF Optimization</a:t>
                      </a:r>
                      <a:endParaRPr lang="en-US" altLang="zh-TW" sz="1200" b="1"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537252825"/>
                  </a:ext>
                </a:extLst>
              </a:tr>
              <a:tr h="207498">
                <a:tc>
                  <a:txBody>
                    <a:bodyPr/>
                    <a:lstStyle/>
                    <a:p>
                      <a:pPr algn="l"/>
                      <a:r>
                        <a:rPr kumimoji="0" lang="en-US" altLang="zh-TW" sz="1200" b="0" i="0" u="none" strike="noStrike" kern="1200" cap="none" spc="0" normalizeH="0" baseline="0" noProof="0" dirty="0">
                          <a:ln w="0"/>
                          <a:solidFill>
                            <a:prstClr val="black"/>
                          </a:solidFill>
                          <a:effectLst/>
                          <a:uLnTx/>
                          <a:uFillTx/>
                          <a:latin typeface="+mn-lt"/>
                          <a:ea typeface="+mn-ea"/>
                          <a:cs typeface="+mn-cs"/>
                        </a:rPr>
                        <a:t>PPO aligns via multiple models.</a:t>
                      </a:r>
                      <a:endParaRPr lang="en-US" altLang="zh-TW" sz="1200" b="1"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311258892"/>
                  </a:ext>
                </a:extLst>
              </a:tr>
              <a:tr h="1869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DPO aligns via direct optimization</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341340391"/>
                  </a:ext>
                </a:extLst>
              </a:tr>
              <a:tr h="1869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GRPO aligns via self-correction.</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071062206"/>
                  </a:ext>
                </a:extLst>
              </a:tr>
            </a:tbl>
          </a:graphicData>
        </a:graphic>
      </p:graphicFrame>
    </p:spTree>
    <p:extLst>
      <p:ext uri="{BB962C8B-B14F-4D97-AF65-F5344CB8AC3E}">
        <p14:creationId xmlns:p14="http://schemas.microsoft.com/office/powerpoint/2010/main" val="315623550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1D7DEF31-767A-9F8F-B0E4-8C2CE6788F28}"/>
              </a:ext>
            </a:extLst>
          </p:cNvPr>
          <p:cNvSpPr txBox="1"/>
          <p:nvPr/>
        </p:nvSpPr>
        <p:spPr>
          <a:xfrm>
            <a:off x="251520" y="260648"/>
            <a:ext cx="3384376" cy="4809009"/>
          </a:xfrm>
          <a:prstGeom prst="rect">
            <a:avLst/>
          </a:prstGeom>
          <a:noFill/>
        </p:spPr>
        <p:txBody>
          <a:bodyPr wrap="square">
            <a:spAutoFit/>
          </a:bodyPr>
          <a:lstStyle/>
          <a:p>
            <a:pPr marL="0" marR="0">
              <a:spcBef>
                <a:spcPts val="1800"/>
              </a:spcBef>
              <a:spcAft>
                <a:spcPts val="900"/>
              </a:spcAft>
              <a:buNone/>
            </a:pPr>
            <a:r>
              <a:rPr lang="zh-TW" altLang="zh-TW" sz="1100" b="1" u="none" strike="noStrike" dirty="0">
                <a:effectLst/>
                <a:latin typeface="微軟正黑體" panose="020B0604030504040204" pitchFamily="34" charset="-120"/>
                <a:ea typeface="微軟正黑體" panose="020B0604030504040204" pitchFamily="34" charset="-120"/>
              </a:rPr>
              <a:t>一、 解密路由激活函數：Sqrt(Softplus(·))</a:t>
            </a:r>
          </a:p>
          <a:p>
            <a:pPr marL="0" marR="0">
              <a:spcBef>
                <a:spcPts val="900"/>
              </a:spcBef>
              <a:spcAft>
                <a:spcPts val="1200"/>
              </a:spcAft>
              <a:buNone/>
            </a:pPr>
            <a:r>
              <a:rPr lang="zh-TW" altLang="zh-TW" sz="1100" b="0" u="none" strike="noStrike" dirty="0">
                <a:effectLst/>
                <a:latin typeface="微軟正黑體" panose="020B0604030504040204" pitchFamily="34" charset="-120"/>
                <a:ea typeface="微軟正黑體" panose="020B0604030504040204" pitchFamily="34" charset="-120"/>
              </a:rPr>
              <a:t>在傳統的混合專家模型（MoE）中，計算「Token 與專家的契合親和度」通常會使用 Sigmoid 或 Softmax。但 DeepSeek-V4 徹底將其替換為 </a:t>
            </a:r>
            <a:r>
              <a:rPr lang="zh-TW" altLang="zh-TW" sz="1100" b="1" u="none" strike="noStrike" dirty="0">
                <a:effectLst/>
                <a:latin typeface="微軟正黑體" panose="020B0604030504040204" pitchFamily="34" charset="-120"/>
                <a:ea typeface="微軟正黑體" panose="020B0604030504040204" pitchFamily="34" charset="-120"/>
              </a:rPr>
              <a:t>Sqrt(Softplus(·))</a:t>
            </a:r>
            <a:r>
              <a:rPr lang="zh-TW" altLang="zh-TW" sz="1100" b="0" u="none" strike="noStrike" dirty="0">
                <a:effectLst/>
                <a:latin typeface="微軟正黑體" panose="020B0604030504040204" pitchFamily="34" charset="-120"/>
                <a:ea typeface="微軟正黑體" panose="020B0604030504040204" pitchFamily="34" charset="-120"/>
              </a:rPr>
              <a:t>，其數學公式為： </a:t>
            </a:r>
            <a:endParaRPr lang="en-US" altLang="zh-TW" sz="1100" b="0" u="none" strike="noStrike" dirty="0">
              <a:effectLst/>
              <a:latin typeface="微軟正黑體" panose="020B0604030504040204" pitchFamily="34" charset="-120"/>
              <a:ea typeface="微軟正黑體" panose="020B0604030504040204" pitchFamily="34" charset="-120"/>
            </a:endParaRPr>
          </a:p>
          <a:p>
            <a:pPr marL="0" marR="0">
              <a:spcBef>
                <a:spcPts val="900"/>
              </a:spcBef>
              <a:spcAft>
                <a:spcPts val="1200"/>
              </a:spcAft>
              <a:buNone/>
            </a:pPr>
            <a:r>
              <a:rPr lang="en-US" altLang="zh-TW" sz="1100" dirty="0">
                <a:latin typeface="微軟正黑體" panose="020B0604030504040204" pitchFamily="34" charset="-120"/>
                <a:ea typeface="微軟正黑體" panose="020B0604030504040204" pitchFamily="34" charset="-120"/>
              </a:rPr>
              <a:t>Score(x) = Sqrt[ ln(1+e^x) ]</a:t>
            </a:r>
            <a:endParaRPr lang="zh-TW" altLang="zh-TW" sz="1100" b="0" u="none" strike="noStrike" dirty="0">
              <a:effectLst/>
              <a:latin typeface="微軟正黑體" panose="020B0604030504040204" pitchFamily="34" charset="-120"/>
              <a:ea typeface="微軟正黑體" panose="020B0604030504040204" pitchFamily="34" charset="-120"/>
            </a:endParaRPr>
          </a:p>
          <a:p>
            <a:pPr marL="0" marR="0">
              <a:spcBef>
                <a:spcPts val="900"/>
              </a:spcBef>
              <a:spcAft>
                <a:spcPts val="1200"/>
              </a:spcAft>
              <a:buNone/>
            </a:pPr>
            <a:r>
              <a:rPr lang="zh-TW" altLang="zh-TW" sz="1100" b="0" u="none" strike="noStrike" dirty="0">
                <a:effectLst/>
                <a:latin typeface="微軟正黑體" panose="020B0604030504040204" pitchFamily="34" charset="-120"/>
                <a:ea typeface="微軟正黑體" panose="020B0604030504040204" pitchFamily="34" charset="-120"/>
              </a:rPr>
              <a:t>這個改動帶來了三大關鍵優勢：</a:t>
            </a:r>
          </a:p>
          <a:p>
            <a:pPr marL="342900" marR="0" lvl="0" indent="-342900">
              <a:spcBef>
                <a:spcPts val="900"/>
              </a:spcBef>
              <a:spcAft>
                <a:spcPts val="900"/>
              </a:spcAft>
              <a:buFont typeface="Arial" panose="020B0604020202020204" pitchFamily="34" charset="0"/>
              <a:buChar char="•"/>
            </a:pPr>
            <a:r>
              <a:rPr lang="zh-TW" altLang="zh-TW" sz="1100" b="1" u="none" strike="noStrike" dirty="0">
                <a:effectLst/>
                <a:latin typeface="微軟正黑體" panose="020B0604030504040204" pitchFamily="34" charset="-120"/>
                <a:ea typeface="微軟正黑體" panose="020B0604030504040204" pitchFamily="34" charset="-120"/>
              </a:rPr>
              <a:t>獨立評分不互相拉扯</a:t>
            </a:r>
            <a:r>
              <a:rPr lang="zh-TW" altLang="zh-TW" sz="1100" b="0" u="none" strike="noStrike" dirty="0">
                <a:effectLst/>
                <a:latin typeface="微軟正黑體" panose="020B0604030504040204" pitchFamily="34" charset="-120"/>
                <a:ea typeface="微軟正黑體" panose="020B0604030504040204" pitchFamily="34" charset="-120"/>
              </a:rPr>
              <a:t>：與 Softmax 不同，每個專家的分數是單獨計算的，這意味著某一個專家分數暴增時，不會強行壓低其他潛在適用專家的機率。 </a:t>
            </a:r>
            <a:endParaRPr lang="en-US" altLang="zh-TW" sz="1100" dirty="0">
              <a:latin typeface="微軟正黑體" panose="020B0604030504040204" pitchFamily="34" charset="-120"/>
              <a:ea typeface="微軟正黑體" panose="020B0604030504040204" pitchFamily="34" charset="-120"/>
            </a:endParaRPr>
          </a:p>
          <a:p>
            <a:pPr marL="342900" marR="0" lvl="0" indent="-342900">
              <a:spcBef>
                <a:spcPts val="900"/>
              </a:spcBef>
              <a:spcAft>
                <a:spcPts val="900"/>
              </a:spcAft>
              <a:buFont typeface="Arial" panose="020B0604020202020204" pitchFamily="34" charset="0"/>
              <a:buChar char="•"/>
            </a:pPr>
            <a:r>
              <a:rPr lang="zh-TW" altLang="zh-TW" sz="1100" b="1" u="none" strike="noStrike" dirty="0">
                <a:effectLst/>
                <a:latin typeface="微軟正黑體" panose="020B0604030504040204" pitchFamily="34" charset="-120"/>
                <a:ea typeface="微軟正黑體" panose="020B0604030504040204" pitchFamily="34" charset="-120"/>
              </a:rPr>
              <a:t>平滑緩解極端路由</a:t>
            </a:r>
            <a:r>
              <a:rPr lang="zh-TW" altLang="zh-TW" sz="1100" b="0" u="none" strike="noStrike" dirty="0">
                <a:effectLst/>
                <a:latin typeface="微軟正黑體" panose="020B0604030504040204" pitchFamily="34" charset="-120"/>
                <a:ea typeface="微軟正黑體" panose="020B0604030504040204" pitchFamily="34" charset="-120"/>
              </a:rPr>
              <a:t>：Softplus 能提供平滑的漸進激活，而外層的</a:t>
            </a:r>
            <a:r>
              <a:rPr lang="zh-TW" altLang="zh-TW" sz="1100" b="1" u="none" strike="noStrike" dirty="0">
                <a:effectLst/>
                <a:latin typeface="微軟正黑體" panose="020B0604030504040204" pitchFamily="34" charset="-120"/>
                <a:ea typeface="微軟正黑體" panose="020B0604030504040204" pitchFamily="34" charset="-120"/>
              </a:rPr>
              <a:t>平方根（Sqrt）操作能進一步壓縮分數的極端範圍</a:t>
            </a:r>
            <a:r>
              <a:rPr lang="zh-TW" altLang="zh-TW" sz="1100" b="0" u="none" strike="noStrike" dirty="0">
                <a:effectLst/>
                <a:latin typeface="微軟正黑體" panose="020B0604030504040204" pitchFamily="34" charset="-120"/>
                <a:ea typeface="微軟正黑體" panose="020B0604030504040204" pitchFamily="34" charset="-120"/>
              </a:rPr>
              <a:t>，防止少數專家被「過度熱捧」而導致其他專家失業。 </a:t>
            </a:r>
          </a:p>
          <a:p>
            <a:pPr marL="342900" marR="0" lvl="0" indent="-342900">
              <a:spcBef>
                <a:spcPts val="900"/>
              </a:spcBef>
              <a:spcAft>
                <a:spcPts val="900"/>
              </a:spcAft>
              <a:buFont typeface="Arial" panose="020B0604020202020204" pitchFamily="34" charset="0"/>
              <a:buChar char="•"/>
            </a:pPr>
            <a:r>
              <a:rPr lang="zh-TW" altLang="zh-TW" sz="1100" b="1" u="none" strike="noStrike" dirty="0">
                <a:effectLst/>
                <a:latin typeface="微軟正黑體" panose="020B0604030504040204" pitchFamily="34" charset="-120"/>
                <a:ea typeface="微軟正黑體" panose="020B0604030504040204" pitchFamily="34" charset="-120"/>
              </a:rPr>
              <a:t>有利於天然負載均衡</a:t>
            </a:r>
            <a:r>
              <a:rPr lang="zh-TW" altLang="zh-TW" sz="1100" b="0" u="none" strike="noStrike" dirty="0">
                <a:effectLst/>
                <a:latin typeface="微軟正黑體" panose="020B0604030504040204" pitchFamily="34" charset="-120"/>
                <a:ea typeface="微軟正黑體" panose="020B0604030504040204" pitchFamily="34" charset="-120"/>
              </a:rPr>
              <a:t>：路由分布更為平緩，模型在不需要僵硬的「輔助損失（Auxiliary Loss）」強迫制約下，就能自主實現極佳的專家分配均衡。</a:t>
            </a:r>
          </a:p>
        </p:txBody>
      </p:sp>
      <p:pic>
        <p:nvPicPr>
          <p:cNvPr id="5" name="圖片 4">
            <a:extLst>
              <a:ext uri="{FF2B5EF4-FFF2-40B4-BE49-F238E27FC236}">
                <a16:creationId xmlns:a16="http://schemas.microsoft.com/office/drawing/2014/main" id="{24B15496-A7F0-B40B-64D7-2E69EEF5EED0}"/>
              </a:ext>
            </a:extLst>
          </p:cNvPr>
          <p:cNvPicPr>
            <a:picLocks noChangeAspect="1"/>
          </p:cNvPicPr>
          <p:nvPr/>
        </p:nvPicPr>
        <p:blipFill>
          <a:blip r:embed="rId3"/>
          <a:stretch>
            <a:fillRect/>
          </a:stretch>
        </p:blipFill>
        <p:spPr>
          <a:xfrm>
            <a:off x="216496" y="1412776"/>
            <a:ext cx="2429214" cy="581106"/>
          </a:xfrm>
          <a:prstGeom prst="rect">
            <a:avLst/>
          </a:prstGeom>
        </p:spPr>
      </p:pic>
      <p:sp>
        <p:nvSpPr>
          <p:cNvPr id="7" name="文字方塊 6">
            <a:extLst>
              <a:ext uri="{FF2B5EF4-FFF2-40B4-BE49-F238E27FC236}">
                <a16:creationId xmlns:a16="http://schemas.microsoft.com/office/drawing/2014/main" id="{5DACEE6A-7394-9489-F6F8-35DC8A5AC10E}"/>
              </a:ext>
            </a:extLst>
          </p:cNvPr>
          <p:cNvSpPr txBox="1"/>
          <p:nvPr/>
        </p:nvSpPr>
        <p:spPr>
          <a:xfrm>
            <a:off x="3995936" y="188640"/>
            <a:ext cx="4572000" cy="5613396"/>
          </a:xfrm>
          <a:prstGeom prst="rect">
            <a:avLst/>
          </a:prstGeom>
          <a:noFill/>
        </p:spPr>
        <p:txBody>
          <a:bodyPr wrap="square">
            <a:spAutoFit/>
          </a:bodyPr>
          <a:lstStyle/>
          <a:p>
            <a:pPr marR="0">
              <a:lnSpc>
                <a:spcPts val="1600"/>
              </a:lnSpc>
              <a:buNone/>
            </a:pPr>
            <a:r>
              <a:rPr lang="zh-TW" altLang="zh-TW" sz="1100" b="1" u="none" strike="noStrike" dirty="0">
                <a:effectLst/>
                <a:latin typeface="微軟正黑體" panose="020B0604030504040204" pitchFamily="34" charset="-120"/>
                <a:ea typeface="微軟正黑體" panose="020B0604030504040204" pitchFamily="34" charset="-120"/>
              </a:rPr>
              <a:t>二、 什麼是 DeepSeek-V4 的「混合注意力架構」？</a:t>
            </a:r>
          </a:p>
          <a:p>
            <a:pPr marR="0">
              <a:lnSpc>
                <a:spcPts val="1600"/>
              </a:lnSpc>
              <a:buNone/>
            </a:pPr>
            <a:r>
              <a:rPr lang="zh-TW" altLang="zh-TW" sz="1100" b="0" u="none" strike="noStrike" dirty="0">
                <a:effectLst/>
                <a:latin typeface="微軟正黑體" panose="020B0604030504040204" pitchFamily="34" charset="-120"/>
                <a:ea typeface="微軟正黑體" panose="020B0604030504040204" pitchFamily="34" charset="-120"/>
              </a:rPr>
              <a:t>在過去的 V2/V3 中，DeepSeek 著名的是 Multi-head Latent Attention (MLA) 技術。然而到了 V4，為了解決 100 萬 Token 帶來的恐怖 </a:t>
            </a:r>
            <a:r>
              <a:rPr lang="zh-TW" altLang="zh-TW" sz="1100" b="1" u="none" strike="noStrike" dirty="0">
                <a:effectLst/>
                <a:latin typeface="微軟正黑體" panose="020B0604030504040204" pitchFamily="34" charset="-120"/>
                <a:ea typeface="微軟正黑體" panose="020B0604030504040204" pitchFamily="34" charset="-120"/>
              </a:rPr>
              <a:t>KV Cache（鍵值快取）記憶體爆炸問題</a:t>
            </a:r>
            <a:r>
              <a:rPr lang="zh-TW" altLang="zh-TW" sz="1100" b="0" u="none" strike="noStrike" dirty="0">
                <a:effectLst/>
                <a:latin typeface="微軟正黑體" panose="020B0604030504040204" pitchFamily="34" charset="-120"/>
                <a:ea typeface="微軟正黑體" panose="020B0604030504040204" pitchFamily="34" charset="-120"/>
              </a:rPr>
              <a:t>，官方開發出了由 </a:t>
            </a:r>
            <a:r>
              <a:rPr lang="zh-TW" altLang="zh-TW" sz="1100" b="1" u="none" strike="noStrike" dirty="0">
                <a:effectLst/>
                <a:latin typeface="微軟正黑體" panose="020B0604030504040204" pitchFamily="34" charset="-120"/>
                <a:ea typeface="微軟正黑體" panose="020B0604030504040204" pitchFamily="34" charset="-120"/>
              </a:rPr>
              <a:t>CSA</a:t>
            </a:r>
            <a:r>
              <a:rPr lang="zh-TW" altLang="zh-TW" sz="1100" b="0" u="none" strike="noStrike" dirty="0">
                <a:effectLst/>
                <a:latin typeface="微軟正黑體" panose="020B0604030504040204" pitchFamily="34" charset="-120"/>
                <a:ea typeface="微軟正黑體" panose="020B0604030504040204" pitchFamily="34" charset="-120"/>
              </a:rPr>
              <a:t> 與 </a:t>
            </a:r>
            <a:r>
              <a:rPr lang="zh-TW" altLang="zh-TW" sz="1100" b="1" u="none" strike="noStrike" dirty="0">
                <a:effectLst/>
                <a:latin typeface="微軟正黑體" panose="020B0604030504040204" pitchFamily="34" charset="-120"/>
                <a:ea typeface="微軟正黑體" panose="020B0604030504040204" pitchFamily="34" charset="-120"/>
              </a:rPr>
              <a:t>HCA</a:t>
            </a:r>
            <a:r>
              <a:rPr lang="zh-TW" altLang="zh-TW" sz="1100" b="0" u="none" strike="noStrike" dirty="0">
                <a:effectLst/>
                <a:latin typeface="微軟正黑體" panose="020B0604030504040204" pitchFamily="34" charset="-120"/>
                <a:ea typeface="微軟正黑體" panose="020B0604030504040204" pitchFamily="34" charset="-120"/>
              </a:rPr>
              <a:t> 交替層疊（Interleaved）組成的</a:t>
            </a:r>
            <a:r>
              <a:rPr lang="zh-TW" altLang="zh-TW" sz="1100" b="1" u="none" strike="noStrike" dirty="0">
                <a:effectLst/>
                <a:latin typeface="微軟正黑體" panose="020B0604030504040204" pitchFamily="34" charset="-120"/>
                <a:ea typeface="微軟正黑體" panose="020B0604030504040204" pitchFamily="34" charset="-120"/>
              </a:rPr>
              <a:t>混合注意力架構</a:t>
            </a:r>
            <a:r>
              <a:rPr lang="zh-TW" altLang="zh-TW" sz="1100" b="0" u="none" strike="noStrike" dirty="0">
                <a:effectLst/>
                <a:latin typeface="微軟正黑體" panose="020B0604030504040204" pitchFamily="34" charset="-120"/>
                <a:ea typeface="微軟正黑體" panose="020B0604030504040204" pitchFamily="34" charset="-120"/>
              </a:rPr>
              <a:t>。 </a:t>
            </a:r>
          </a:p>
          <a:p>
            <a:pPr marR="0">
              <a:lnSpc>
                <a:spcPts val="1600"/>
              </a:lnSpc>
              <a:buNone/>
            </a:pPr>
            <a:r>
              <a:rPr lang="zh-TW" altLang="zh-TW" sz="1100" b="0" u="none" strike="noStrike" dirty="0">
                <a:effectLst/>
                <a:latin typeface="微軟正黑體" panose="020B0604030504040204" pitchFamily="34" charset="-120"/>
                <a:ea typeface="微軟正黑體" panose="020B0604030504040204" pitchFamily="34" charset="-120"/>
              </a:rPr>
              <a:t>它拋棄了「每個 Token 都必須精確記錄 KV 狀態」的傳統教條，改採</a:t>
            </a:r>
            <a:r>
              <a:rPr lang="zh-TW" altLang="zh-TW" sz="1100" b="1" u="none" strike="noStrike" dirty="0">
                <a:effectLst/>
                <a:latin typeface="微軟正黑體" panose="020B0604030504040204" pitchFamily="34" charset="-120"/>
                <a:ea typeface="微軟正黑體" panose="020B0604030504040204" pitchFamily="34" charset="-120"/>
              </a:rPr>
              <a:t>分層儲存、按需訪問</a:t>
            </a:r>
            <a:r>
              <a:rPr lang="zh-TW" altLang="zh-TW" sz="1100" b="0" u="none" strike="noStrike" dirty="0">
                <a:effectLst/>
                <a:latin typeface="微軟正黑體" panose="020B0604030504040204" pitchFamily="34" charset="-120"/>
                <a:ea typeface="微軟正黑體" panose="020B0604030504040204" pitchFamily="34" charset="-120"/>
              </a:rPr>
              <a:t>的策略，成功將 </a:t>
            </a:r>
            <a:r>
              <a:rPr lang="zh-TW" altLang="zh-TW" sz="1100" b="1" u="none" strike="noStrike" dirty="0">
                <a:effectLst/>
                <a:latin typeface="微軟正黑體" panose="020B0604030504040204" pitchFamily="34" charset="-120"/>
                <a:ea typeface="微軟正黑體" panose="020B0604030504040204" pitchFamily="34" charset="-120"/>
              </a:rPr>
              <a:t>KV Cache 暴減 90%，單 Token 推理算力（FLOPs）降低 73%</a:t>
            </a:r>
            <a:r>
              <a:rPr lang="zh-TW" altLang="zh-TW" sz="1100" b="0" u="none" strike="noStrike" dirty="0">
                <a:effectLst/>
                <a:latin typeface="微軟正黑體" panose="020B0604030504040204" pitchFamily="34" charset="-120"/>
                <a:ea typeface="微軟正黑體" panose="020B0604030504040204" pitchFamily="34" charset="-120"/>
              </a:rPr>
              <a:t>。</a:t>
            </a:r>
          </a:p>
          <a:p>
            <a:pPr marR="0">
              <a:lnSpc>
                <a:spcPts val="1600"/>
              </a:lnSpc>
              <a:buNone/>
            </a:pPr>
            <a:r>
              <a:rPr lang="zh-TW" altLang="zh-TW" sz="1100" b="0" u="none" strike="noStrike" dirty="0">
                <a:effectLst/>
                <a:latin typeface="微軟正黑體" panose="020B0604030504040204" pitchFamily="34" charset="-120"/>
                <a:ea typeface="微軟正黑體" panose="020B0604030504040204" pitchFamily="34" charset="-120"/>
              </a:rPr>
              <a:t>這一架構由以下兩大機制交織而成：</a:t>
            </a:r>
            <a:endParaRPr lang="en-US" altLang="zh-TW" sz="1100" b="0" u="none" strike="noStrike" dirty="0">
              <a:effectLst/>
              <a:latin typeface="微軟正黑體" panose="020B0604030504040204" pitchFamily="34" charset="-120"/>
              <a:ea typeface="微軟正黑體" panose="020B0604030504040204" pitchFamily="34" charset="-120"/>
            </a:endParaRPr>
          </a:p>
          <a:p>
            <a:pPr marR="0">
              <a:lnSpc>
                <a:spcPts val="1600"/>
              </a:lnSpc>
              <a:buNone/>
            </a:pPr>
            <a:endParaRPr lang="zh-TW" altLang="zh-TW" sz="1100" b="0" u="none" strike="noStrike" dirty="0">
              <a:effectLst/>
              <a:latin typeface="微軟正黑體" panose="020B0604030504040204" pitchFamily="34" charset="-120"/>
              <a:ea typeface="微軟正黑體" panose="020B0604030504040204" pitchFamily="34" charset="-120"/>
            </a:endParaRPr>
          </a:p>
          <a:p>
            <a:pPr marR="0">
              <a:lnSpc>
                <a:spcPts val="1600"/>
              </a:lnSpc>
              <a:buNone/>
            </a:pPr>
            <a:r>
              <a:rPr lang="zh-TW" altLang="zh-TW" sz="1100" b="1" u="none" strike="noStrike" dirty="0">
                <a:effectLst/>
                <a:latin typeface="微軟正黑體" panose="020B0604030504040204" pitchFamily="34" charset="-120"/>
                <a:ea typeface="微軟正黑體" panose="020B0604030504040204" pitchFamily="34" charset="-120"/>
              </a:rPr>
              <a:t>1. 壓縮稀疏注意力（Compressed Sparse Attention, CSA）</a:t>
            </a:r>
          </a:p>
          <a:p>
            <a:pPr marR="0" lvl="0" indent="-342900">
              <a:lnSpc>
                <a:spcPts val="1600"/>
              </a:lnSpc>
              <a:buFont typeface="Arial" panose="020B0604020202020204" pitchFamily="34" charset="0"/>
              <a:buChar char="•"/>
            </a:pPr>
            <a:r>
              <a:rPr lang="zh-TW" altLang="zh-TW" sz="1100" b="1" u="none" strike="noStrike" dirty="0">
                <a:effectLst/>
                <a:latin typeface="微軟正黑體" panose="020B0604030504040204" pitchFamily="34" charset="-120"/>
                <a:ea typeface="微軟正黑體" panose="020B0604030504040204" pitchFamily="34" charset="-120"/>
              </a:rPr>
              <a:t>運作機制</a:t>
            </a:r>
            <a:r>
              <a:rPr lang="zh-TW" altLang="zh-TW" sz="1100" b="0" u="none" strike="noStrike" dirty="0">
                <a:effectLst/>
                <a:latin typeface="微軟正黑體" panose="020B0604030504040204" pitchFamily="34" charset="-120"/>
                <a:ea typeface="微軟正黑體" panose="020B0604030504040204" pitchFamily="34" charset="-120"/>
              </a:rPr>
              <a:t>：將歷史脈絡每m</a:t>
            </a:r>
            <a:r>
              <a:rPr lang="en-US" altLang="zh-TW" sz="1100" b="0" u="none" strike="noStrike" dirty="0">
                <a:effectLst/>
                <a:latin typeface="微軟正黑體" panose="020B0604030504040204" pitchFamily="34" charset="-120"/>
                <a:ea typeface="微軟正黑體" panose="020B0604030504040204" pitchFamily="34" charset="-120"/>
              </a:rPr>
              <a:t>(4)</a:t>
            </a:r>
            <a:r>
              <a:rPr lang="zh-TW" altLang="zh-TW" sz="1100" b="0" u="none" strike="noStrike" dirty="0">
                <a:effectLst/>
                <a:latin typeface="微軟正黑體" panose="020B0604030504040204" pitchFamily="34" charset="-120"/>
                <a:ea typeface="微軟正黑體" panose="020B0604030504040204" pitchFamily="34" charset="-120"/>
              </a:rPr>
              <a:t>個Token的 KV 狀態，透過學習好的權重</a:t>
            </a:r>
            <a:r>
              <a:rPr lang="zh-TW" altLang="zh-TW" sz="1100" b="1" u="none" strike="noStrike" dirty="0">
                <a:effectLst/>
                <a:latin typeface="微軟正黑體" panose="020B0604030504040204" pitchFamily="34" charset="-120"/>
                <a:ea typeface="微軟正黑體" panose="020B0604030504040204" pitchFamily="34" charset="-120"/>
              </a:rPr>
              <a:t>數學壓縮</a:t>
            </a:r>
            <a:r>
              <a:rPr lang="zh-TW" altLang="zh-TW" sz="1100" b="0" u="none" strike="noStrike" dirty="0">
                <a:effectLst/>
                <a:latin typeface="微軟正黑體" panose="020B0604030504040204" pitchFamily="34" charset="-120"/>
                <a:ea typeface="微軟正黑體" panose="020B0604030504040204" pitchFamily="34" charset="-120"/>
              </a:rPr>
              <a:t>鎖定成一個合併表徵。接著，由 Lightning Indexer 快速動態檢索出最相關的 Top-K 個壓縮記憶條目。</a:t>
            </a:r>
          </a:p>
          <a:p>
            <a:pPr marR="0" lvl="0" indent="-342900">
              <a:lnSpc>
                <a:spcPts val="1600"/>
              </a:lnSpc>
              <a:buFont typeface="Arial" panose="020B0604020202020204" pitchFamily="34" charset="0"/>
              <a:buChar char="•"/>
            </a:pPr>
            <a:r>
              <a:rPr lang="zh-TW" altLang="zh-TW" sz="1100" b="1" u="none" strike="noStrike" dirty="0">
                <a:effectLst/>
                <a:latin typeface="微軟正黑體" panose="020B0604030504040204" pitchFamily="34" charset="-120"/>
                <a:ea typeface="微軟正黑體" panose="020B0604030504040204" pitchFamily="34" charset="-120"/>
              </a:rPr>
              <a:t>角色定位</a:t>
            </a:r>
            <a:r>
              <a:rPr lang="zh-TW" altLang="zh-TW" sz="1100" b="0" u="none" strike="noStrike" dirty="0">
                <a:effectLst/>
                <a:latin typeface="微軟正黑體" panose="020B0604030504040204" pitchFamily="34" charset="-120"/>
                <a:ea typeface="微軟正黑體" panose="020B0604030504040204" pitchFamily="34" charset="-120"/>
              </a:rPr>
              <a:t>：它就像是</a:t>
            </a:r>
            <a:r>
              <a:rPr lang="en-US" altLang="zh-TW" sz="1100" b="1" u="none" strike="noStrike" dirty="0">
                <a:effectLst/>
                <a:latin typeface="微軟正黑體" panose="020B0604030504040204" pitchFamily="34" charset="-120"/>
                <a:ea typeface="微軟正黑體" panose="020B0604030504040204" pitchFamily="34" charset="-120"/>
              </a:rPr>
              <a:t>(</a:t>
            </a:r>
            <a:r>
              <a:rPr lang="zh-TW" altLang="zh-TW" sz="1100" b="1" u="none" strike="noStrike" dirty="0">
                <a:effectLst/>
                <a:latin typeface="微軟正黑體" panose="020B0604030504040204" pitchFamily="34" charset="-120"/>
                <a:ea typeface="微軟正黑體" panose="020B0604030504040204" pitchFamily="34" charset="-120"/>
              </a:rPr>
              <a:t>中等解析度的檢索器</a:t>
            </a:r>
            <a:r>
              <a:rPr lang="en-US" altLang="zh-TW" sz="1100" b="1" u="none" strike="noStrike" dirty="0">
                <a:effectLst/>
                <a:latin typeface="微軟正黑體" panose="020B0604030504040204" pitchFamily="34" charset="-120"/>
                <a:ea typeface="微軟正黑體" panose="020B0604030504040204" pitchFamily="34" charset="-120"/>
              </a:rPr>
              <a:t>),</a:t>
            </a:r>
            <a:r>
              <a:rPr lang="zh-TW" altLang="en-US" sz="1100" b="1" u="none" strike="noStrike" dirty="0">
                <a:effectLst/>
                <a:latin typeface="微軟正黑體" panose="020B0604030504040204" pitchFamily="34" charset="-120"/>
                <a:ea typeface="微軟正黑體" panose="020B0604030504040204" pitchFamily="34" charset="-120"/>
              </a:rPr>
              <a:t> </a:t>
            </a:r>
            <a:r>
              <a:rPr lang="zh-TW" altLang="zh-TW" sz="1100" b="0" u="none" strike="noStrike" dirty="0">
                <a:effectLst/>
                <a:latin typeface="微軟正黑體" panose="020B0604030504040204" pitchFamily="34" charset="-120"/>
                <a:ea typeface="微軟正黑體" panose="020B0604030504040204" pitchFamily="34" charset="-120"/>
              </a:rPr>
              <a:t>不全量掃描百萬上下文，只找出跟當前問題最相關的歷史片段。 </a:t>
            </a:r>
          </a:p>
          <a:p>
            <a:pPr marR="0">
              <a:lnSpc>
                <a:spcPts val="1600"/>
              </a:lnSpc>
              <a:buNone/>
            </a:pPr>
            <a:r>
              <a:rPr lang="zh-TW" altLang="zh-TW" sz="1100" b="1" u="none" strike="noStrike" dirty="0">
                <a:effectLst/>
                <a:latin typeface="微軟正黑體" panose="020B0604030504040204" pitchFamily="34" charset="-120"/>
                <a:ea typeface="微軟正黑體" panose="020B0604030504040204" pitchFamily="34" charset="-120"/>
              </a:rPr>
              <a:t>2. 重度壓縮注意力（Heavily Compressed Attention, HCA）</a:t>
            </a:r>
          </a:p>
          <a:p>
            <a:pPr marR="0" lvl="0" indent="-342900">
              <a:lnSpc>
                <a:spcPts val="1600"/>
              </a:lnSpc>
              <a:buFont typeface="Arial" panose="020B0604020202020204" pitchFamily="34" charset="0"/>
              <a:buChar char="•"/>
            </a:pPr>
            <a:r>
              <a:rPr lang="zh-TW" altLang="zh-TW" sz="1100" b="1" u="none" strike="noStrike" dirty="0">
                <a:effectLst/>
                <a:latin typeface="微軟正黑體" panose="020B0604030504040204" pitchFamily="34" charset="-120"/>
                <a:ea typeface="微軟正黑體" panose="020B0604030504040204" pitchFamily="34" charset="-120"/>
              </a:rPr>
              <a:t>運作機制</a:t>
            </a:r>
            <a:r>
              <a:rPr lang="zh-TW" altLang="zh-TW" sz="1100" b="0" u="none" strike="noStrike" dirty="0">
                <a:effectLst/>
                <a:latin typeface="微軟正黑體" panose="020B0604030504040204" pitchFamily="34" charset="-120"/>
                <a:ea typeface="微軟正黑體" panose="020B0604030504040204" pitchFamily="34" charset="-120"/>
              </a:rPr>
              <a:t>：採用更激進的重度壓縮比（例如每 128 個 Token 壓縮成一條全局 KV 狀態），然後對這些高度壓縮的狀態進行</a:t>
            </a:r>
            <a:r>
              <a:rPr lang="zh-TW" altLang="zh-TW" sz="1100" b="1" u="none" strike="noStrike" dirty="0">
                <a:effectLst/>
                <a:latin typeface="微軟正黑體" panose="020B0604030504040204" pitchFamily="34" charset="-120"/>
                <a:ea typeface="微軟正黑體" panose="020B0604030504040204" pitchFamily="34" charset="-120"/>
              </a:rPr>
              <a:t>密集的全局注意力計算</a:t>
            </a:r>
            <a:r>
              <a:rPr lang="zh-TW" altLang="zh-TW" sz="1100" b="0" u="none" strike="noStrike" dirty="0">
                <a:effectLst/>
                <a:latin typeface="微軟正黑體" panose="020B0604030504040204" pitchFamily="34" charset="-120"/>
                <a:ea typeface="微軟正黑體" panose="020B0604030504040204" pitchFamily="34" charset="-120"/>
              </a:rPr>
              <a:t>。</a:t>
            </a:r>
          </a:p>
          <a:p>
            <a:pPr marR="0" lvl="0" indent="-342900">
              <a:lnSpc>
                <a:spcPts val="1600"/>
              </a:lnSpc>
              <a:buFont typeface="Arial" panose="020B0604020202020204" pitchFamily="34" charset="0"/>
              <a:buChar char="•"/>
            </a:pPr>
            <a:r>
              <a:rPr lang="zh-TW" altLang="zh-TW" sz="1100" b="1" u="none" strike="noStrike" dirty="0">
                <a:effectLst/>
                <a:latin typeface="微軟正黑體" panose="020B0604030504040204" pitchFamily="34" charset="-120"/>
                <a:ea typeface="微軟正黑體" panose="020B0604030504040204" pitchFamily="34" charset="-120"/>
              </a:rPr>
              <a:t>角色定位</a:t>
            </a:r>
            <a:r>
              <a:rPr lang="zh-TW" altLang="zh-TW" sz="1100" b="0" u="none" strike="noStrike" dirty="0">
                <a:effectLst/>
                <a:latin typeface="微軟正黑體" panose="020B0604030504040204" pitchFamily="34" charset="-120"/>
                <a:ea typeface="微軟正黑體" panose="020B0604030504040204" pitchFamily="34" charset="-120"/>
              </a:rPr>
              <a:t>：它就像是</a:t>
            </a:r>
            <a:r>
              <a:rPr lang="zh-TW" altLang="zh-TW" sz="1100" b="1" u="none" strike="noStrike" dirty="0">
                <a:effectLst/>
                <a:latin typeface="微軟正黑體" panose="020B0604030504040204" pitchFamily="34" charset="-120"/>
                <a:ea typeface="微軟正黑體" panose="020B0604030504040204" pitchFamily="34" charset="-120"/>
              </a:rPr>
              <a:t>「低解析度的全局老地圖」</a:t>
            </a:r>
            <a:r>
              <a:rPr lang="zh-TW" altLang="zh-TW" sz="1100" b="0" u="none" strike="noStrike" dirty="0">
                <a:effectLst/>
                <a:latin typeface="微軟正黑體" panose="020B0604030504040204" pitchFamily="34" charset="-120"/>
                <a:ea typeface="微軟正黑體" panose="020B0604030504040204" pitchFamily="34" charset="-120"/>
              </a:rPr>
              <a:t>。雖然細節被模糊了，但它確保模型不會因為稀疏檢索而徹底切碎整體文章結構，依然看得見故事的宏觀輪廓。 </a:t>
            </a:r>
          </a:p>
          <a:p>
            <a:pPr marR="0">
              <a:lnSpc>
                <a:spcPts val="1600"/>
              </a:lnSpc>
              <a:buNone/>
            </a:pPr>
            <a:r>
              <a:rPr lang="zh-TW" altLang="zh-TW" sz="1100" b="1" u="none" strike="noStrike" dirty="0">
                <a:effectLst/>
                <a:latin typeface="微軟正黑體" panose="020B0604030504040204" pitchFamily="34" charset="-120"/>
                <a:ea typeface="微軟正黑體" panose="020B0604030504040204" pitchFamily="34" charset="-120"/>
              </a:rPr>
              <a:t>3. 滑動窗口（Sliding Window）</a:t>
            </a:r>
          </a:p>
          <a:p>
            <a:pPr marR="0" lvl="0" indent="-342900">
              <a:lnSpc>
                <a:spcPts val="1600"/>
              </a:lnSpc>
              <a:buFont typeface="Arial" panose="020B0604020202020204" pitchFamily="34" charset="0"/>
              <a:buChar char="•"/>
            </a:pPr>
            <a:r>
              <a:rPr lang="zh-TW" altLang="zh-TW" sz="1100" b="1" u="none" strike="noStrike" dirty="0">
                <a:effectLst/>
                <a:latin typeface="微軟正黑體" panose="020B0604030504040204" pitchFamily="34" charset="-120"/>
                <a:ea typeface="微軟正黑體" panose="020B0604030504040204" pitchFamily="34" charset="-120"/>
              </a:rPr>
              <a:t>運作機制</a:t>
            </a:r>
            <a:r>
              <a:rPr lang="zh-TW" altLang="zh-TW" sz="1100" b="0" u="none" strike="noStrike" dirty="0">
                <a:effectLst/>
                <a:latin typeface="微軟正黑體" panose="020B0604030504040204" pitchFamily="34" charset="-120"/>
                <a:ea typeface="微軟正黑體" panose="020B0604030504040204" pitchFamily="34" charset="-120"/>
              </a:rPr>
              <a:t>：不論 CSA 還是 HCA，對於「當前最新、最鄰近」的上下文（例如最新的 128 個 Token），都依然保持 100% 完整且精確的精細注意力。</a:t>
            </a:r>
          </a:p>
        </p:txBody>
      </p:sp>
      <p:graphicFrame>
        <p:nvGraphicFramePr>
          <p:cNvPr id="6" name="表格 5">
            <a:extLst>
              <a:ext uri="{FF2B5EF4-FFF2-40B4-BE49-F238E27FC236}">
                <a16:creationId xmlns:a16="http://schemas.microsoft.com/office/drawing/2014/main" id="{73A2FB69-DDF4-9EAC-D7D6-632FE413F84A}"/>
              </a:ext>
            </a:extLst>
          </p:cNvPr>
          <p:cNvGraphicFramePr>
            <a:graphicFrameLocks noGrp="1"/>
          </p:cNvGraphicFramePr>
          <p:nvPr>
            <p:extLst>
              <p:ext uri="{D42A27DB-BD31-4B8C-83A1-F6EECF244321}">
                <p14:modId xmlns:p14="http://schemas.microsoft.com/office/powerpoint/2010/main" val="1317161879"/>
              </p:ext>
            </p:extLst>
          </p:nvPr>
        </p:nvGraphicFramePr>
        <p:xfrm>
          <a:off x="1691680" y="5661248"/>
          <a:ext cx="1944216" cy="788874"/>
        </p:xfrm>
        <a:graphic>
          <a:graphicData uri="http://schemas.openxmlformats.org/drawingml/2006/table">
            <a:tbl>
              <a:tblPr firstRow="1" bandRow="1">
                <a:tableStyleId>{5C22544A-7EE6-4342-B048-85BDC9FD1C3A}</a:tableStyleId>
              </a:tblPr>
              <a:tblGrid>
                <a:gridCol w="504056">
                  <a:extLst>
                    <a:ext uri="{9D8B030D-6E8A-4147-A177-3AD203B41FA5}">
                      <a16:colId xmlns:a16="http://schemas.microsoft.com/office/drawing/2014/main" val="4072639710"/>
                    </a:ext>
                  </a:extLst>
                </a:gridCol>
                <a:gridCol w="1440160">
                  <a:extLst>
                    <a:ext uri="{9D8B030D-6E8A-4147-A177-3AD203B41FA5}">
                      <a16:colId xmlns:a16="http://schemas.microsoft.com/office/drawing/2014/main" val="4106879781"/>
                    </a:ext>
                  </a:extLst>
                </a:gridCol>
              </a:tblGrid>
              <a:tr h="207498">
                <a:tc>
                  <a:txBody>
                    <a:bodyPr/>
                    <a:lstStyle/>
                    <a:p>
                      <a:pPr algn="l"/>
                      <a:r>
                        <a:rPr lang="en-US" altLang="zh-TW" sz="1200" b="1" cap="none" spc="0" dirty="0">
                          <a:ln w="0"/>
                          <a:solidFill>
                            <a:schemeClr val="tx1"/>
                          </a:solidFill>
                          <a:effectLst/>
                        </a:rPr>
                        <a:t>CSA</a:t>
                      </a: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tc>
                  <a:txBody>
                    <a:bodyPr/>
                    <a:lstStyle/>
                    <a:p>
                      <a:pPr algn="l"/>
                      <a:r>
                        <a:rPr lang="en-US" altLang="zh-TW" sz="1200" b="0" cap="none" spc="0" dirty="0" err="1">
                          <a:ln w="0"/>
                          <a:solidFill>
                            <a:schemeClr val="tx1"/>
                          </a:solidFill>
                          <a:effectLst/>
                        </a:rPr>
                        <a:t>xadsf</a:t>
                      </a:r>
                      <a:endParaRPr lang="en-US" altLang="zh-TW"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2304923032"/>
                  </a:ext>
                </a:extLst>
              </a:tr>
              <a:tr h="207498">
                <a:tc>
                  <a:txBody>
                    <a:bodyPr/>
                    <a:lstStyle/>
                    <a:p>
                      <a:pPr algn="l"/>
                      <a:endParaRPr lang="en-US" altLang="zh-TW" sz="1200" b="1"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tc>
                  <a:txBody>
                    <a:bodyPr/>
                    <a:lstStyle/>
                    <a:p>
                      <a:pPr algn="l"/>
                      <a:endParaRPr lang="en-US" altLang="zh-TW" sz="1200" b="1"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3639812515"/>
                  </a:ext>
                </a:extLst>
              </a:tr>
              <a:tr h="1869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581341950"/>
                  </a:ext>
                </a:extLst>
              </a:tr>
              <a:tr h="1869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953988682"/>
                  </a:ext>
                </a:extLst>
              </a:tr>
            </a:tbl>
          </a:graphicData>
        </a:graphic>
      </p:graphicFrame>
      <p:pic>
        <p:nvPicPr>
          <p:cNvPr id="4" name="圖片 3">
            <a:extLst>
              <a:ext uri="{FF2B5EF4-FFF2-40B4-BE49-F238E27FC236}">
                <a16:creationId xmlns:a16="http://schemas.microsoft.com/office/drawing/2014/main" id="{C769F52B-0531-C9AC-626B-6D6332C197AD}"/>
              </a:ext>
            </a:extLst>
          </p:cNvPr>
          <p:cNvPicPr>
            <a:picLocks noChangeAspect="1"/>
          </p:cNvPicPr>
          <p:nvPr/>
        </p:nvPicPr>
        <p:blipFill>
          <a:blip r:embed="rId4"/>
          <a:stretch>
            <a:fillRect/>
          </a:stretch>
        </p:blipFill>
        <p:spPr>
          <a:xfrm>
            <a:off x="2886375" y="536354"/>
            <a:ext cx="3362794" cy="1457528"/>
          </a:xfrm>
          <a:prstGeom prst="rect">
            <a:avLst/>
          </a:prstGeom>
          <a:effectLst>
            <a:glow rad="50800">
              <a:schemeClr val="accent5"/>
            </a:glow>
          </a:effectLst>
        </p:spPr>
      </p:pic>
    </p:spTree>
    <p:extLst>
      <p:ext uri="{BB962C8B-B14F-4D97-AF65-F5344CB8AC3E}">
        <p14:creationId xmlns:p14="http://schemas.microsoft.com/office/powerpoint/2010/main" val="31453950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16EEC-6C42-09B9-F859-79359689D7A7}"/>
            </a:ext>
          </a:extLst>
        </p:cNvPr>
        <p:cNvGrpSpPr/>
        <p:nvPr/>
      </p:nvGrpSpPr>
      <p:grpSpPr>
        <a:xfrm>
          <a:off x="0" y="0"/>
          <a:ext cx="0" cy="0"/>
          <a:chOff x="0" y="0"/>
          <a:chExt cx="0" cy="0"/>
        </a:xfrm>
      </p:grpSpPr>
      <p:sp>
        <p:nvSpPr>
          <p:cNvPr id="6" name="標題 1">
            <a:extLst>
              <a:ext uri="{FF2B5EF4-FFF2-40B4-BE49-F238E27FC236}">
                <a16:creationId xmlns:a16="http://schemas.microsoft.com/office/drawing/2014/main" id="{2DCB68E9-8DA3-5172-2398-EEF1F9E21177}"/>
              </a:ext>
            </a:extLst>
          </p:cNvPr>
          <p:cNvSpPr txBox="1">
            <a:spLocks/>
          </p:cNvSpPr>
          <p:nvPr/>
        </p:nvSpPr>
        <p:spPr>
          <a:xfrm>
            <a:off x="-367479" y="1297753"/>
            <a:ext cx="6978340"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DeepSeek-V4 Flash</a:t>
            </a:r>
            <a:br>
              <a:rPr lang="en-US" altLang="zh-TW" sz="2800" dirty="0">
                <a:latin typeface="Noto Sans HK" panose="020B0200000000000000" pitchFamily="34" charset="-120"/>
                <a:ea typeface="Noto Sans HK" panose="020B0200000000000000" pitchFamily="34" charset="-120"/>
                <a:cs typeface="Aharoni" panose="020F0502020204030204" pitchFamily="2" charset="-79"/>
              </a:rPr>
            </a:b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Parameters is 284B.</a:t>
            </a: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sp>
        <p:nvSpPr>
          <p:cNvPr id="7" name="標題 1">
            <a:extLst>
              <a:ext uri="{FF2B5EF4-FFF2-40B4-BE49-F238E27FC236}">
                <a16:creationId xmlns:a16="http://schemas.microsoft.com/office/drawing/2014/main" id="{C4591A5C-3125-91C4-210F-A6EA5099E439}"/>
              </a:ext>
            </a:extLst>
          </p:cNvPr>
          <p:cNvSpPr txBox="1">
            <a:spLocks/>
          </p:cNvSpPr>
          <p:nvPr/>
        </p:nvSpPr>
        <p:spPr>
          <a:xfrm>
            <a:off x="1792025" y="4367791"/>
            <a:ext cx="1102112" cy="576064"/>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10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Embedding dimension of 4096</a:t>
            </a:r>
            <a:endParaRPr lang="en-US" altLang="zh-TW" sz="1000" dirty="0">
              <a:latin typeface="Noto Sans HK" panose="020B0200000000000000" pitchFamily="34" charset="-120"/>
              <a:ea typeface="Noto Sans HK" panose="020B0200000000000000" pitchFamily="34" charset="-120"/>
              <a:cs typeface="Arial" panose="020B0604020202020204" pitchFamily="34" charset="0"/>
            </a:endParaRPr>
          </a:p>
        </p:txBody>
      </p:sp>
      <p:sp>
        <p:nvSpPr>
          <p:cNvPr id="12" name="標題 1">
            <a:extLst>
              <a:ext uri="{FF2B5EF4-FFF2-40B4-BE49-F238E27FC236}">
                <a16:creationId xmlns:a16="http://schemas.microsoft.com/office/drawing/2014/main" id="{5CD8287F-FC84-6024-A406-47CC8DDD1F8C}"/>
              </a:ext>
            </a:extLst>
          </p:cNvPr>
          <p:cNvSpPr txBox="1">
            <a:spLocks/>
          </p:cNvSpPr>
          <p:nvPr/>
        </p:nvSpPr>
        <p:spPr>
          <a:xfrm>
            <a:off x="7144904" y="5723144"/>
            <a:ext cx="1224136" cy="116632"/>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Tokenized text</a:t>
            </a:r>
          </a:p>
        </p:txBody>
      </p:sp>
      <p:pic>
        <p:nvPicPr>
          <p:cNvPr id="3" name="圖片 2">
            <a:extLst>
              <a:ext uri="{FF2B5EF4-FFF2-40B4-BE49-F238E27FC236}">
                <a16:creationId xmlns:a16="http://schemas.microsoft.com/office/drawing/2014/main" id="{4847F2FE-A7D1-1C7A-9A41-E11D98AA70E1}"/>
              </a:ext>
            </a:extLst>
          </p:cNvPr>
          <p:cNvPicPr>
            <a:picLocks noChangeAspect="1"/>
          </p:cNvPicPr>
          <p:nvPr/>
        </p:nvPicPr>
        <p:blipFill>
          <a:blip r:embed="rId2"/>
          <a:stretch>
            <a:fillRect/>
          </a:stretch>
        </p:blipFill>
        <p:spPr>
          <a:xfrm>
            <a:off x="1691680" y="1265195"/>
            <a:ext cx="4901991" cy="6781255"/>
          </a:xfrm>
          <a:prstGeom prst="rect">
            <a:avLst/>
          </a:prstGeom>
          <a:solidFill>
            <a:schemeClr val="bg1"/>
          </a:solidFill>
        </p:spPr>
      </p:pic>
      <p:sp>
        <p:nvSpPr>
          <p:cNvPr id="4" name="標題 1">
            <a:extLst>
              <a:ext uri="{FF2B5EF4-FFF2-40B4-BE49-F238E27FC236}">
                <a16:creationId xmlns:a16="http://schemas.microsoft.com/office/drawing/2014/main" id="{301070FD-10B6-59FE-9BB5-16870A81BE8B}"/>
              </a:ext>
            </a:extLst>
          </p:cNvPr>
          <p:cNvSpPr txBox="1">
            <a:spLocks/>
          </p:cNvSpPr>
          <p:nvPr/>
        </p:nvSpPr>
        <p:spPr>
          <a:xfrm>
            <a:off x="179512" y="116632"/>
            <a:ext cx="6978340"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DeepSeek</a:t>
            </a:r>
            <a:r>
              <a:rPr lang="zh-TW" altLang="en-US" sz="2800" dirty="0">
                <a:latin typeface="Noto Sans HK" panose="020B0200000000000000" pitchFamily="34" charset="-120"/>
                <a:ea typeface="Noto Sans HK" panose="020B0200000000000000" pitchFamily="34" charset="-120"/>
                <a:cs typeface="Aharoni" panose="020F0502020204030204" pitchFamily="2" charset="-79"/>
              </a:rPr>
              <a:t> </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Attention</a:t>
            </a:r>
            <a:br>
              <a:rPr lang="en-US" altLang="zh-TW" sz="2800" dirty="0">
                <a:latin typeface="Noto Sans HK" panose="020B0200000000000000" pitchFamily="34" charset="-120"/>
                <a:ea typeface="Noto Sans HK" panose="020B0200000000000000" pitchFamily="34" charset="-120"/>
                <a:cs typeface="Aharoni" panose="020F0502020204030204" pitchFamily="2" charset="-79"/>
              </a:rPr>
            </a:b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An</a:t>
            </a: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pic>
        <p:nvPicPr>
          <p:cNvPr id="10" name="圖片 9">
            <a:extLst>
              <a:ext uri="{FF2B5EF4-FFF2-40B4-BE49-F238E27FC236}">
                <a16:creationId xmlns:a16="http://schemas.microsoft.com/office/drawing/2014/main" id="{7D23CA4D-74B5-B838-0C16-D0A3B68E32D7}"/>
              </a:ext>
            </a:extLst>
          </p:cNvPr>
          <p:cNvPicPr>
            <a:picLocks noChangeAspect="1"/>
          </p:cNvPicPr>
          <p:nvPr/>
        </p:nvPicPr>
        <p:blipFill>
          <a:blip r:embed="rId3"/>
          <a:stretch>
            <a:fillRect/>
          </a:stretch>
        </p:blipFill>
        <p:spPr>
          <a:xfrm>
            <a:off x="-907736" y="626705"/>
            <a:ext cx="10051736" cy="5362487"/>
          </a:xfrm>
          <a:prstGeom prst="rect">
            <a:avLst/>
          </a:prstGeom>
        </p:spPr>
      </p:pic>
      <p:sp>
        <p:nvSpPr>
          <p:cNvPr id="5" name="文字方塊 4">
            <a:extLst>
              <a:ext uri="{FF2B5EF4-FFF2-40B4-BE49-F238E27FC236}">
                <a16:creationId xmlns:a16="http://schemas.microsoft.com/office/drawing/2014/main" id="{17F30396-DC7F-E655-B68F-0E042D1DCC88}"/>
              </a:ext>
            </a:extLst>
          </p:cNvPr>
          <p:cNvSpPr txBox="1"/>
          <p:nvPr/>
        </p:nvSpPr>
        <p:spPr>
          <a:xfrm>
            <a:off x="7282756" y="1020198"/>
            <a:ext cx="948432" cy="369332"/>
          </a:xfrm>
          <a:prstGeom prst="rect">
            <a:avLst/>
          </a:prstGeom>
          <a:noFill/>
        </p:spPr>
        <p:txBody>
          <a:bodyPr wrap="square">
            <a:spAutoFit/>
          </a:bodyPr>
          <a:lstStyle/>
          <a:p>
            <a:r>
              <a:rPr lang="zh-TW" altLang="zh-TW" dirty="0"/>
              <a:t>Top-512 </a:t>
            </a:r>
            <a:endParaRPr lang="zh-TW" altLang="en-US" dirty="0"/>
          </a:p>
        </p:txBody>
      </p:sp>
    </p:spTree>
    <p:extLst>
      <p:ext uri="{BB962C8B-B14F-4D97-AF65-F5344CB8AC3E}">
        <p14:creationId xmlns:p14="http://schemas.microsoft.com/office/powerpoint/2010/main" val="9774705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D12A1-524B-7809-BD36-D84446C462E5}"/>
            </a:ext>
          </a:extLst>
        </p:cNvPr>
        <p:cNvGrpSpPr/>
        <p:nvPr/>
      </p:nvGrpSpPr>
      <p:grpSpPr>
        <a:xfrm>
          <a:off x="0" y="0"/>
          <a:ext cx="0" cy="0"/>
          <a:chOff x="0" y="0"/>
          <a:chExt cx="0" cy="0"/>
        </a:xfrm>
      </p:grpSpPr>
      <p:sp>
        <p:nvSpPr>
          <p:cNvPr id="4" name="矩形: 圓角 3">
            <a:extLst>
              <a:ext uri="{FF2B5EF4-FFF2-40B4-BE49-F238E27FC236}">
                <a16:creationId xmlns:a16="http://schemas.microsoft.com/office/drawing/2014/main" id="{7EFE7C6C-3BA3-27DD-300E-DA8C0A20DC7A}"/>
              </a:ext>
            </a:extLst>
          </p:cNvPr>
          <p:cNvSpPr/>
          <p:nvPr/>
        </p:nvSpPr>
        <p:spPr>
          <a:xfrm>
            <a:off x="467826" y="1922626"/>
            <a:ext cx="1219522" cy="2795046"/>
          </a:xfrm>
          <a:prstGeom prst="roundRect">
            <a:avLst>
              <a:gd name="adj" fmla="val 10053"/>
            </a:avLst>
          </a:prstGeom>
          <a:solidFill>
            <a:schemeClr val="bg1">
              <a:lumMod val="95000"/>
              <a:alpha val="40000"/>
            </a:schemeClr>
          </a:solidFill>
          <a:ln w="158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27" name="文字方塊 26">
            <a:extLst>
              <a:ext uri="{FF2B5EF4-FFF2-40B4-BE49-F238E27FC236}">
                <a16:creationId xmlns:a16="http://schemas.microsoft.com/office/drawing/2014/main" id="{1518336E-A416-D90F-A9D4-59E288FC7015}"/>
              </a:ext>
            </a:extLst>
          </p:cNvPr>
          <p:cNvSpPr txBox="1"/>
          <p:nvPr/>
        </p:nvSpPr>
        <p:spPr>
          <a:xfrm>
            <a:off x="535220" y="2002310"/>
            <a:ext cx="1086557" cy="895026"/>
          </a:xfrm>
          <a:prstGeom prst="rect">
            <a:avLst/>
          </a:prstGeom>
          <a:solidFill>
            <a:srgbClr val="B7C9E7">
              <a:alpha val="60000"/>
            </a:srgbClr>
          </a:solidFill>
          <a:ln w="15875">
            <a:solidFill>
              <a:schemeClr val="bg1">
                <a:lumMod val="85000"/>
              </a:schemeClr>
            </a:solidFill>
          </a:ln>
        </p:spPr>
        <p:txBody>
          <a:bodyPr wrap="none" lIns="36000" tIns="36000" rIns="0" bIns="0" anchor="t" anchorCtr="0">
            <a:noAutofit/>
          </a:bodyPr>
          <a:lstStyle/>
          <a:p>
            <a:pPr>
              <a:lnSpc>
                <a:spcPts val="1400"/>
              </a:lnSpc>
              <a:buNone/>
            </a:pPr>
            <a:r>
              <a:rPr lang="en-US" altLang="zh-TW" sz="1000" b="1" dirty="0">
                <a:solidFill>
                  <a:schemeClr val="tx1">
                    <a:lumMod val="50000"/>
                    <a:lumOff val="50000"/>
                  </a:schemeClr>
                </a:solidFill>
                <a:latin typeface="Gadugi" panose="020B0502040204020203" pitchFamily="34" charset="0"/>
                <a:ea typeface="Gadugi" panose="020B0502040204020203" pitchFamily="34" charset="0"/>
                <a:cs typeface="ADLaM Display" panose="02010000000000000000" pitchFamily="2" charset="0"/>
              </a:rPr>
              <a:t>DeepSeek </a:t>
            </a:r>
            <a:r>
              <a:rPr lang="en-US" altLang="zh-TW" sz="1000" b="1" dirty="0" err="1">
                <a:solidFill>
                  <a:schemeClr val="tx1">
                    <a:lumMod val="50000"/>
                    <a:lumOff val="50000"/>
                  </a:schemeClr>
                </a:solidFill>
                <a:latin typeface="Gadugi" panose="020B0502040204020203" pitchFamily="34" charset="0"/>
                <a:ea typeface="Gadugi" panose="020B0502040204020203" pitchFamily="34" charset="0"/>
                <a:cs typeface="ADLaM Display" panose="02010000000000000000" pitchFamily="2" charset="0"/>
              </a:rPr>
              <a:t>MoE</a:t>
            </a:r>
            <a:endParaRPr lang="en-US" altLang="zh-TW" sz="10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endParaRPr>
          </a:p>
        </p:txBody>
      </p:sp>
      <p:sp>
        <p:nvSpPr>
          <p:cNvPr id="6" name="標題 1">
            <a:extLst>
              <a:ext uri="{FF2B5EF4-FFF2-40B4-BE49-F238E27FC236}">
                <a16:creationId xmlns:a16="http://schemas.microsoft.com/office/drawing/2014/main" id="{4C96685B-48C1-5AE8-649A-AE7D8CEC7A46}"/>
              </a:ext>
            </a:extLst>
          </p:cNvPr>
          <p:cNvSpPr txBox="1">
            <a:spLocks/>
          </p:cNvSpPr>
          <p:nvPr/>
        </p:nvSpPr>
        <p:spPr>
          <a:xfrm>
            <a:off x="179511" y="116632"/>
            <a:ext cx="8782669"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DeepSeek </a:t>
            </a:r>
            <a:r>
              <a:rPr lang="en-US" altLang="zh-TW" sz="2800" dirty="0" err="1">
                <a:latin typeface="Noto Sans HK" panose="020B0200000000000000" pitchFamily="34" charset="-120"/>
                <a:ea typeface="Noto Sans HK" panose="020B0200000000000000" pitchFamily="34" charset="-120"/>
                <a:cs typeface="Aharoni" panose="020F0502020204030204" pitchFamily="2" charset="-79"/>
              </a:rPr>
              <a:t>MoE</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 Architecture: Hybrid Attention</a:t>
            </a:r>
          </a:p>
          <a:p>
            <a:r>
              <a:rPr lang="en-US" altLang="zh-TW" sz="1600" dirty="0">
                <a:latin typeface="Noto Sans HK" panose="020B0200000000000000" pitchFamily="34" charset="-120"/>
                <a:ea typeface="Noto Sans HK" panose="020B0200000000000000" pitchFamily="34" charset="-120"/>
                <a:cs typeface="Aharoni" panose="020F0502020204030204" pitchFamily="2" charset="-79"/>
              </a:rPr>
              <a:t>HCA + CSA + SWA)</a:t>
            </a:r>
            <a:br>
              <a:rPr lang="en-US" altLang="zh-TW" sz="2800" dirty="0">
                <a:latin typeface="Noto Sans HK" panose="020B0200000000000000" pitchFamily="34" charset="-120"/>
                <a:ea typeface="Noto Sans HK" panose="020B0200000000000000" pitchFamily="34" charset="-120"/>
                <a:cs typeface="Aharoni" panose="020F0502020204030204" pitchFamily="2" charset="-79"/>
              </a:rPr>
            </a:b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sp>
        <p:nvSpPr>
          <p:cNvPr id="59" name="矩形: 圓角 58">
            <a:extLst>
              <a:ext uri="{FF2B5EF4-FFF2-40B4-BE49-F238E27FC236}">
                <a16:creationId xmlns:a16="http://schemas.microsoft.com/office/drawing/2014/main" id="{D4492F42-9A48-7559-B09C-CD68BBB98673}"/>
              </a:ext>
            </a:extLst>
          </p:cNvPr>
          <p:cNvSpPr/>
          <p:nvPr/>
        </p:nvSpPr>
        <p:spPr>
          <a:xfrm>
            <a:off x="4371483" y="3971785"/>
            <a:ext cx="388290" cy="945571"/>
          </a:xfrm>
          <a:prstGeom prst="roundRect">
            <a:avLst/>
          </a:prstGeom>
          <a:solidFill>
            <a:schemeClr val="bg1"/>
          </a:solidFill>
          <a:ln w="127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HCA</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Heavily</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Compressed</a:t>
            </a:r>
          </a:p>
          <a:p>
            <a:pPr marL="0" marR="0" lvl="0" indent="0" algn="ctr" defTabSz="914400" rtl="0" eaLnBrk="1" fontAlgn="auto" latinLnBrk="0" hangingPunct="1">
              <a:lnSpc>
                <a:spcPts val="1000"/>
              </a:lnSpc>
              <a:spcBef>
                <a:spcPts val="0"/>
              </a:spcBef>
              <a:spcAft>
                <a:spcPts val="0"/>
              </a:spcAft>
              <a:buClrTx/>
              <a:buSzTx/>
              <a:buFontTx/>
              <a:buNone/>
              <a:tabLst/>
              <a:defRPr/>
            </a:pPr>
            <a:r>
              <a:rPr lang="en-US" altLang="zh-TW" sz="1000" dirty="0">
                <a:solidFill>
                  <a:prstClr val="black"/>
                </a:solidFill>
                <a:latin typeface="Calibri"/>
                <a:ea typeface="微軟正黑體" panose="020B0604030504040204" pitchFamily="34" charset="-120"/>
              </a:rPr>
              <a:t>Attention</a:t>
            </a:r>
            <a:endPar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sp>
        <p:nvSpPr>
          <p:cNvPr id="61" name="矩形: 圓角 60">
            <a:extLst>
              <a:ext uri="{FF2B5EF4-FFF2-40B4-BE49-F238E27FC236}">
                <a16:creationId xmlns:a16="http://schemas.microsoft.com/office/drawing/2014/main" id="{E0FE9C50-9ED4-EEF1-DB11-313983973D80}"/>
              </a:ext>
            </a:extLst>
          </p:cNvPr>
          <p:cNvSpPr/>
          <p:nvPr/>
        </p:nvSpPr>
        <p:spPr>
          <a:xfrm>
            <a:off x="5025287" y="3971785"/>
            <a:ext cx="388290" cy="945571"/>
          </a:xfrm>
          <a:prstGeom prst="roundRect">
            <a:avLst/>
          </a:prstGeom>
          <a:solidFill>
            <a:schemeClr val="bg1"/>
          </a:solidFill>
          <a:ln w="127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CSA</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schemeClr val="tx1">
                    <a:lumMod val="50000"/>
                    <a:lumOff val="50000"/>
                  </a:schemeClr>
                </a:solidFill>
                <a:effectLst/>
                <a:uLnTx/>
                <a:uFillTx/>
                <a:latin typeface="Calibri"/>
                <a:ea typeface="微軟正黑體" panose="020B0604030504040204" pitchFamily="34" charset="-120"/>
                <a:cs typeface="+mn-cs"/>
              </a:rPr>
              <a:t>Compressed</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schemeClr val="tx1">
                    <a:lumMod val="50000"/>
                    <a:lumOff val="50000"/>
                  </a:schemeClr>
                </a:solidFill>
                <a:effectLst/>
                <a:uLnTx/>
                <a:uFillTx/>
                <a:latin typeface="Calibri"/>
                <a:ea typeface="微軟正黑體" panose="020B0604030504040204" pitchFamily="34" charset="-120"/>
                <a:cs typeface="+mn-cs"/>
              </a:rPr>
              <a:t>Sparse</a:t>
            </a:r>
          </a:p>
          <a:p>
            <a:pPr marL="0" marR="0" lvl="0" indent="0" algn="ctr" defTabSz="914400" rtl="0" eaLnBrk="1" fontAlgn="auto" latinLnBrk="0" hangingPunct="1">
              <a:lnSpc>
                <a:spcPts val="1000"/>
              </a:lnSpc>
              <a:spcBef>
                <a:spcPts val="0"/>
              </a:spcBef>
              <a:spcAft>
                <a:spcPts val="0"/>
              </a:spcAft>
              <a:buClrTx/>
              <a:buSzTx/>
              <a:buFontTx/>
              <a:buNone/>
              <a:tabLst/>
              <a:defRPr/>
            </a:pPr>
            <a:r>
              <a:rPr lang="en-US" altLang="zh-TW" sz="1000" dirty="0">
                <a:solidFill>
                  <a:schemeClr val="tx1">
                    <a:lumMod val="50000"/>
                    <a:lumOff val="50000"/>
                  </a:schemeClr>
                </a:solidFill>
                <a:latin typeface="Calibri"/>
                <a:ea typeface="微軟正黑體" panose="020B0604030504040204" pitchFamily="34" charset="-120"/>
              </a:rPr>
              <a:t>Attention</a:t>
            </a:r>
            <a:endParaRPr kumimoji="0" lang="en-US" altLang="zh-TW" sz="1000" b="0" i="0" u="none" strike="noStrike" kern="1200" cap="none" spc="0" normalizeH="0" baseline="0" noProof="0" dirty="0">
              <a:ln>
                <a:noFill/>
              </a:ln>
              <a:solidFill>
                <a:schemeClr val="tx1">
                  <a:lumMod val="50000"/>
                  <a:lumOff val="50000"/>
                </a:schemeClr>
              </a:solidFill>
              <a:effectLst/>
              <a:uLnTx/>
              <a:uFillTx/>
              <a:latin typeface="Calibri"/>
              <a:ea typeface="微軟正黑體" panose="020B0604030504040204" pitchFamily="34" charset="-120"/>
              <a:cs typeface="+mn-cs"/>
            </a:endParaRPr>
          </a:p>
        </p:txBody>
      </p:sp>
      <p:sp>
        <p:nvSpPr>
          <p:cNvPr id="63" name="矩形: 圓角 62">
            <a:extLst>
              <a:ext uri="{FF2B5EF4-FFF2-40B4-BE49-F238E27FC236}">
                <a16:creationId xmlns:a16="http://schemas.microsoft.com/office/drawing/2014/main" id="{D1CFA22C-FC0A-8BFB-7CFC-89120D4B60FA}"/>
              </a:ext>
            </a:extLst>
          </p:cNvPr>
          <p:cNvSpPr/>
          <p:nvPr/>
        </p:nvSpPr>
        <p:spPr>
          <a:xfrm>
            <a:off x="3717680" y="3964468"/>
            <a:ext cx="388290" cy="945571"/>
          </a:xfrm>
          <a:prstGeom prst="roundRect">
            <a:avLst/>
          </a:prstGeom>
          <a:solidFill>
            <a:schemeClr val="bg1"/>
          </a:solidFill>
          <a:ln w="127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SWA</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Sliding </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Window</a:t>
            </a:r>
          </a:p>
          <a:p>
            <a:pPr marL="0" marR="0" lvl="0" indent="0" algn="ctr" defTabSz="914400" rtl="0" eaLnBrk="1" fontAlgn="auto" latinLnBrk="0" hangingPunct="1">
              <a:lnSpc>
                <a:spcPts val="1000"/>
              </a:lnSpc>
              <a:spcBef>
                <a:spcPts val="0"/>
              </a:spcBef>
              <a:spcAft>
                <a:spcPts val="0"/>
              </a:spcAft>
              <a:buClrTx/>
              <a:buSzTx/>
              <a:buFontTx/>
              <a:buNone/>
              <a:tabLst/>
              <a:defRPr/>
            </a:pPr>
            <a:r>
              <a:rPr lang="en-US" altLang="zh-TW" sz="1000" dirty="0">
                <a:solidFill>
                  <a:prstClr val="black"/>
                </a:solidFill>
                <a:latin typeface="Calibri"/>
                <a:ea typeface="微軟正黑體" panose="020B0604030504040204" pitchFamily="34" charset="-120"/>
              </a:rPr>
              <a:t>Attention</a:t>
            </a:r>
            <a:endPar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sp>
        <p:nvSpPr>
          <p:cNvPr id="65" name="矩形: 圓角 64">
            <a:extLst>
              <a:ext uri="{FF2B5EF4-FFF2-40B4-BE49-F238E27FC236}">
                <a16:creationId xmlns:a16="http://schemas.microsoft.com/office/drawing/2014/main" id="{4D656499-B9B9-165F-E9C0-82F2383D8243}"/>
              </a:ext>
            </a:extLst>
          </p:cNvPr>
          <p:cNvSpPr/>
          <p:nvPr/>
        </p:nvSpPr>
        <p:spPr>
          <a:xfrm>
            <a:off x="6394691" y="1121022"/>
            <a:ext cx="1085551" cy="416508"/>
          </a:xfrm>
          <a:prstGeom prst="roundRect">
            <a:avLst/>
          </a:prstGeom>
          <a:solidFill>
            <a:schemeClr val="bg1"/>
          </a:solidFill>
          <a:ln w="127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SLUI</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Heavily Compressed</a:t>
            </a:r>
          </a:p>
          <a:p>
            <a:pPr marL="0" marR="0" lvl="0" indent="0" algn="ctr" defTabSz="914400" rtl="0" eaLnBrk="1" fontAlgn="auto" latinLnBrk="0" hangingPunct="1">
              <a:lnSpc>
                <a:spcPts val="1000"/>
              </a:lnSpc>
              <a:spcBef>
                <a:spcPts val="0"/>
              </a:spcBef>
              <a:spcAft>
                <a:spcPts val="0"/>
              </a:spcAft>
              <a:buClrTx/>
              <a:buSzTx/>
              <a:buFontTx/>
              <a:buNone/>
              <a:tabLst/>
              <a:defRPr/>
            </a:pPr>
            <a:r>
              <a:rPr lang="en-US" altLang="zh-TW" sz="1000" dirty="0">
                <a:solidFill>
                  <a:prstClr val="black"/>
                </a:solidFill>
                <a:latin typeface="Calibri"/>
                <a:ea typeface="微軟正黑體" panose="020B0604030504040204" pitchFamily="34" charset="-120"/>
              </a:rPr>
              <a:t>Attention</a:t>
            </a:r>
            <a:endPar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sp>
        <p:nvSpPr>
          <p:cNvPr id="2" name="矩形: 圓角 1">
            <a:extLst>
              <a:ext uri="{FF2B5EF4-FFF2-40B4-BE49-F238E27FC236}">
                <a16:creationId xmlns:a16="http://schemas.microsoft.com/office/drawing/2014/main" id="{9E34D9C9-7AF3-64E8-B6D4-198AFA476069}"/>
              </a:ext>
            </a:extLst>
          </p:cNvPr>
          <p:cNvSpPr/>
          <p:nvPr/>
        </p:nvSpPr>
        <p:spPr>
          <a:xfrm>
            <a:off x="467544" y="5092506"/>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Input Layer</a:t>
            </a:r>
          </a:p>
        </p:txBody>
      </p:sp>
      <p:sp>
        <p:nvSpPr>
          <p:cNvPr id="9" name="文字方塊 8">
            <a:extLst>
              <a:ext uri="{FF2B5EF4-FFF2-40B4-BE49-F238E27FC236}">
                <a16:creationId xmlns:a16="http://schemas.microsoft.com/office/drawing/2014/main" id="{354432FE-9D7B-376D-0444-6C59BF1FD1A3}"/>
              </a:ext>
            </a:extLst>
          </p:cNvPr>
          <p:cNvSpPr txBox="1"/>
          <p:nvPr/>
        </p:nvSpPr>
        <p:spPr>
          <a:xfrm>
            <a:off x="535220" y="3192840"/>
            <a:ext cx="1086557" cy="442008"/>
          </a:xfrm>
          <a:prstGeom prst="rect">
            <a:avLst/>
          </a:prstGeom>
          <a:solidFill>
            <a:schemeClr val="accent1">
              <a:lumMod val="20000"/>
              <a:lumOff val="80000"/>
              <a:alpha val="20000"/>
            </a:schemeClr>
          </a:solidFill>
          <a:ln w="15875">
            <a:solidFill>
              <a:schemeClr val="bg1">
                <a:lumMod val="8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Hybrid Attention</a:t>
            </a:r>
          </a:p>
        </p:txBody>
      </p:sp>
      <p:cxnSp>
        <p:nvCxnSpPr>
          <p:cNvPr id="11" name="直線單箭頭接點 10">
            <a:extLst>
              <a:ext uri="{FF2B5EF4-FFF2-40B4-BE49-F238E27FC236}">
                <a16:creationId xmlns:a16="http://schemas.microsoft.com/office/drawing/2014/main" id="{F48A2720-B141-FB41-BD97-3F355EAE3956}"/>
              </a:ext>
            </a:extLst>
          </p:cNvPr>
          <p:cNvCxnSpPr>
            <a:cxnSpLocks/>
          </p:cNvCxnSpPr>
          <p:nvPr/>
        </p:nvCxnSpPr>
        <p:spPr>
          <a:xfrm flipH="1" flipV="1">
            <a:off x="1894726" y="4653136"/>
            <a:ext cx="2307" cy="435063"/>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12" name="矩形: 圓角 11">
            <a:extLst>
              <a:ext uri="{FF2B5EF4-FFF2-40B4-BE49-F238E27FC236}">
                <a16:creationId xmlns:a16="http://schemas.microsoft.com/office/drawing/2014/main" id="{2A274430-BA32-BDBA-A446-8671AC7B71EA}"/>
              </a:ext>
            </a:extLst>
          </p:cNvPr>
          <p:cNvSpPr/>
          <p:nvPr/>
        </p:nvSpPr>
        <p:spPr>
          <a:xfrm>
            <a:off x="467544" y="1405304"/>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Next Layer</a:t>
            </a:r>
          </a:p>
        </p:txBody>
      </p:sp>
      <p:cxnSp>
        <p:nvCxnSpPr>
          <p:cNvPr id="13" name="直線單箭頭接點 12">
            <a:extLst>
              <a:ext uri="{FF2B5EF4-FFF2-40B4-BE49-F238E27FC236}">
                <a16:creationId xmlns:a16="http://schemas.microsoft.com/office/drawing/2014/main" id="{FC3B1CE7-C165-5379-2ED8-9927C6396A9B}"/>
              </a:ext>
            </a:extLst>
          </p:cNvPr>
          <p:cNvCxnSpPr>
            <a:cxnSpLocks/>
            <a:stCxn id="4" idx="0"/>
            <a:endCxn id="12" idx="2"/>
          </p:cNvCxnSpPr>
          <p:nvPr/>
        </p:nvCxnSpPr>
        <p:spPr>
          <a:xfrm flipH="1" flipV="1">
            <a:off x="1077305" y="1750550"/>
            <a:ext cx="282" cy="172076"/>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AFA516C7-44C4-1332-E4AD-0CA52CC66035}"/>
              </a:ext>
            </a:extLst>
          </p:cNvPr>
          <p:cNvSpPr/>
          <p:nvPr/>
        </p:nvSpPr>
        <p:spPr>
          <a:xfrm>
            <a:off x="607229" y="4756564"/>
            <a:ext cx="933795" cy="393156"/>
          </a:xfrm>
          <a:prstGeom prst="rect">
            <a:avLst/>
          </a:prstGeom>
          <a:solidFill>
            <a:schemeClr val="bg1"/>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X</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NxD</a:t>
            </a:r>
          </a:p>
        </p:txBody>
      </p:sp>
      <p:sp>
        <p:nvSpPr>
          <p:cNvPr id="15" name="矩形: 圓角 14">
            <a:extLst>
              <a:ext uri="{FF2B5EF4-FFF2-40B4-BE49-F238E27FC236}">
                <a16:creationId xmlns:a16="http://schemas.microsoft.com/office/drawing/2014/main" id="{2335679A-9B2B-8055-0E8E-46782CEE3A87}"/>
              </a:ext>
            </a:extLst>
          </p:cNvPr>
          <p:cNvSpPr/>
          <p:nvPr/>
        </p:nvSpPr>
        <p:spPr>
          <a:xfrm>
            <a:off x="607229" y="4221088"/>
            <a:ext cx="936104" cy="432048"/>
          </a:xfrm>
          <a:prstGeom prst="roundRect">
            <a:avLst/>
          </a:prstGeom>
          <a:solidFill>
            <a:schemeClr val="bg1"/>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QKV</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 x d</a:t>
            </a:r>
          </a:p>
        </p:txBody>
      </p:sp>
      <p:sp>
        <p:nvSpPr>
          <p:cNvPr id="18" name="矩形: 圓角 17">
            <a:extLst>
              <a:ext uri="{FF2B5EF4-FFF2-40B4-BE49-F238E27FC236}">
                <a16:creationId xmlns:a16="http://schemas.microsoft.com/office/drawing/2014/main" id="{29EC67BF-89F1-105F-3B8B-A551D25FD336}"/>
              </a:ext>
            </a:extLst>
          </p:cNvPr>
          <p:cNvSpPr/>
          <p:nvPr/>
        </p:nvSpPr>
        <p:spPr>
          <a:xfrm>
            <a:off x="607229" y="2792566"/>
            <a:ext cx="936104" cy="194669"/>
          </a:xfrm>
          <a:prstGeom prst="roundRect">
            <a:avLst>
              <a:gd name="adj" fmla="val 8860"/>
            </a:avLst>
          </a:prstGeom>
          <a:solidFill>
            <a:schemeClr val="accent2">
              <a:lumMod val="20000"/>
              <a:lumOff val="8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FFN</a:t>
            </a:r>
            <a:endParaRPr kumimoji="0" lang="en-US" altLang="zh-TW" sz="120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sp>
        <p:nvSpPr>
          <p:cNvPr id="19" name="矩形 18">
            <a:extLst>
              <a:ext uri="{FF2B5EF4-FFF2-40B4-BE49-F238E27FC236}">
                <a16:creationId xmlns:a16="http://schemas.microsoft.com/office/drawing/2014/main" id="{90C2D88B-3674-95E2-8F7F-233223E9E978}"/>
              </a:ext>
            </a:extLst>
          </p:cNvPr>
          <p:cNvSpPr/>
          <p:nvPr/>
        </p:nvSpPr>
        <p:spPr>
          <a:xfrm>
            <a:off x="282880" y="5308701"/>
            <a:ext cx="362588" cy="424555"/>
          </a:xfrm>
          <a:prstGeom prst="rect">
            <a:avLst/>
          </a:prstGeom>
          <a:solidFill>
            <a:schemeClr val="bg2">
              <a:lumMod val="90000"/>
            </a:schemeClr>
          </a:solidFill>
          <a:ln w="381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6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VC</a:t>
            </a:r>
            <a:endParaRPr lang="en-US" altLang="zh-TW" sz="160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21" name="矩形: 圓角 20">
            <a:extLst>
              <a:ext uri="{FF2B5EF4-FFF2-40B4-BE49-F238E27FC236}">
                <a16:creationId xmlns:a16="http://schemas.microsoft.com/office/drawing/2014/main" id="{1716F293-6CBB-7C5E-E9EC-7BA318FFE883}"/>
              </a:ext>
            </a:extLst>
          </p:cNvPr>
          <p:cNvSpPr/>
          <p:nvPr/>
        </p:nvSpPr>
        <p:spPr>
          <a:xfrm>
            <a:off x="617293" y="2276872"/>
            <a:ext cx="516929" cy="436010"/>
          </a:xfrm>
          <a:prstGeom prst="roundRect">
            <a:avLst>
              <a:gd name="adj" fmla="val 8860"/>
            </a:avLst>
          </a:prstGeom>
          <a:solidFill>
            <a:schemeClr val="accent2">
              <a:lumMod val="20000"/>
              <a:lumOff val="8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Router</a:t>
            </a:r>
          </a:p>
          <a:p>
            <a:pPr marL="0" marR="0" lvl="0" indent="0" algn="ctr" defTabSz="914400" rtl="0" eaLnBrk="1" fontAlgn="auto" latinLnBrk="0" hangingPunct="1">
              <a:lnSpc>
                <a:spcPts val="1200"/>
              </a:lnSpc>
              <a:spcBef>
                <a:spcPts val="0"/>
              </a:spcBef>
              <a:spcAft>
                <a:spcPts val="0"/>
              </a:spcAft>
              <a:buClrTx/>
              <a:buSzTx/>
              <a:buFontTx/>
              <a:buNone/>
              <a:tabLst/>
              <a:defRPr/>
            </a:pPr>
            <a:r>
              <a:rPr lang="en-US" altLang="zh-TW" sz="1000" dirty="0">
                <a:solidFill>
                  <a:prstClr val="black"/>
                </a:solidFill>
                <a:latin typeface="Calibri"/>
                <a:ea typeface="微軟正黑體" panose="020B0604030504040204" pitchFamily="34" charset="-120"/>
              </a:rPr>
              <a:t>Export</a:t>
            </a:r>
            <a:endPar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sp>
        <p:nvSpPr>
          <p:cNvPr id="20" name="文字方塊 19">
            <a:extLst>
              <a:ext uri="{FF2B5EF4-FFF2-40B4-BE49-F238E27FC236}">
                <a16:creationId xmlns:a16="http://schemas.microsoft.com/office/drawing/2014/main" id="{F09E3AB6-8232-731F-78BF-BEB213DCDE60}"/>
              </a:ext>
            </a:extLst>
          </p:cNvPr>
          <p:cNvSpPr txBox="1"/>
          <p:nvPr/>
        </p:nvSpPr>
        <p:spPr>
          <a:xfrm>
            <a:off x="3788259" y="1204136"/>
            <a:ext cx="201168" cy="201168"/>
          </a:xfrm>
          <a:prstGeom prst="rect">
            <a:avLst/>
          </a:prstGeom>
          <a:solidFill>
            <a:schemeClr val="accent2">
              <a:lumMod val="20000"/>
              <a:lumOff val="80000"/>
            </a:schemeClr>
          </a:solidFill>
          <a:ln w="25400">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tx1">
                    <a:lumMod val="95000"/>
                    <a:lumOff val="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23" name="文字方塊 22">
            <a:extLst>
              <a:ext uri="{FF2B5EF4-FFF2-40B4-BE49-F238E27FC236}">
                <a16:creationId xmlns:a16="http://schemas.microsoft.com/office/drawing/2014/main" id="{5FB36156-6910-00FA-51C9-7CE40422925C}"/>
              </a:ext>
            </a:extLst>
          </p:cNvPr>
          <p:cNvSpPr txBox="1"/>
          <p:nvPr/>
        </p:nvSpPr>
        <p:spPr>
          <a:xfrm>
            <a:off x="4083128" y="1204136"/>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25" name="文字方塊 24">
            <a:extLst>
              <a:ext uri="{FF2B5EF4-FFF2-40B4-BE49-F238E27FC236}">
                <a16:creationId xmlns:a16="http://schemas.microsoft.com/office/drawing/2014/main" id="{D9F71498-2E52-A52D-5BE5-D5F583CD369F}"/>
              </a:ext>
            </a:extLst>
          </p:cNvPr>
          <p:cNvSpPr txBox="1"/>
          <p:nvPr/>
        </p:nvSpPr>
        <p:spPr>
          <a:xfrm>
            <a:off x="4960289" y="873253"/>
            <a:ext cx="1086557" cy="1635243"/>
          </a:xfrm>
          <a:prstGeom prst="rect">
            <a:avLst/>
          </a:prstGeom>
          <a:solidFill>
            <a:srgbClr val="B7C9E7">
              <a:alpha val="60000"/>
            </a:srgbClr>
          </a:solidFill>
          <a:ln w="15875">
            <a:solidFill>
              <a:schemeClr val="bg1">
                <a:lumMod val="8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FFN</a:t>
            </a:r>
          </a:p>
        </p:txBody>
      </p:sp>
      <p:sp>
        <p:nvSpPr>
          <p:cNvPr id="29" name="矩形: 圓角 28">
            <a:extLst>
              <a:ext uri="{FF2B5EF4-FFF2-40B4-BE49-F238E27FC236}">
                <a16:creationId xmlns:a16="http://schemas.microsoft.com/office/drawing/2014/main" id="{E8C71BCF-5A28-2127-74C1-6329D70233A1}"/>
              </a:ext>
            </a:extLst>
          </p:cNvPr>
          <p:cNvSpPr/>
          <p:nvPr/>
        </p:nvSpPr>
        <p:spPr>
          <a:xfrm>
            <a:off x="2832394" y="655248"/>
            <a:ext cx="516929" cy="436010"/>
          </a:xfrm>
          <a:prstGeom prst="roundRect">
            <a:avLst>
              <a:gd name="adj" fmla="val 8860"/>
            </a:avLst>
          </a:prstGeom>
          <a:solidFill>
            <a:schemeClr val="accent2">
              <a:lumMod val="20000"/>
              <a:lumOff val="80000"/>
            </a:schemeClr>
          </a:solidFill>
          <a:ln w="2540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MoE</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Router</a:t>
            </a:r>
          </a:p>
        </p:txBody>
      </p:sp>
      <p:sp>
        <p:nvSpPr>
          <p:cNvPr id="7" name="文字方塊 6">
            <a:extLst>
              <a:ext uri="{FF2B5EF4-FFF2-40B4-BE49-F238E27FC236}">
                <a16:creationId xmlns:a16="http://schemas.microsoft.com/office/drawing/2014/main" id="{3AA1FBC2-4C5D-A7B2-547E-ABD5383F7A9E}"/>
              </a:ext>
            </a:extLst>
          </p:cNvPr>
          <p:cNvSpPr txBox="1"/>
          <p:nvPr/>
        </p:nvSpPr>
        <p:spPr>
          <a:xfrm>
            <a:off x="535220" y="3711944"/>
            <a:ext cx="1086557" cy="432048"/>
          </a:xfrm>
          <a:prstGeom prst="rect">
            <a:avLst/>
          </a:prstGeom>
          <a:solidFill>
            <a:schemeClr val="accent1">
              <a:lumMod val="20000"/>
              <a:lumOff val="80000"/>
              <a:alpha val="60000"/>
            </a:schemeClr>
          </a:solidFill>
          <a:ln w="15875">
            <a:solidFill>
              <a:schemeClr val="bg1">
                <a:lumMod val="85000"/>
              </a:schemeClr>
            </a:solidFill>
          </a:ln>
        </p:spPr>
        <p:txBody>
          <a:bodyPr wrap="none" lIns="36000" tIns="36000" rIns="0" bIns="0" anchor="t" anchorCtr="0">
            <a:noAutofit/>
          </a:bodyPr>
          <a:lstStyle/>
          <a:p>
            <a:pPr>
              <a:lnSpc>
                <a:spcPts val="1400"/>
              </a:lnSpc>
              <a:buNone/>
            </a:pPr>
            <a:r>
              <a:rPr lang="en-US" altLang="zh-TW" sz="1000" b="1" dirty="0">
                <a:solidFill>
                  <a:schemeClr val="tx1">
                    <a:lumMod val="50000"/>
                    <a:lumOff val="50000"/>
                  </a:schemeClr>
                </a:solidFill>
                <a:latin typeface="Gadugi" panose="020B0502040204020203" pitchFamily="34" charset="0"/>
                <a:ea typeface="Gadugi" panose="020B0502040204020203" pitchFamily="34" charset="0"/>
                <a:cs typeface="ADLaM Display" panose="02010000000000000000" pitchFamily="2" charset="0"/>
              </a:rPr>
              <a:t>Engram</a:t>
            </a:r>
          </a:p>
        </p:txBody>
      </p:sp>
      <p:sp>
        <p:nvSpPr>
          <p:cNvPr id="31" name="矩形: 圓角 30">
            <a:extLst>
              <a:ext uri="{FF2B5EF4-FFF2-40B4-BE49-F238E27FC236}">
                <a16:creationId xmlns:a16="http://schemas.microsoft.com/office/drawing/2014/main" id="{17447780-11DA-9D99-E75A-F3F94ED81FAE}"/>
              </a:ext>
            </a:extLst>
          </p:cNvPr>
          <p:cNvSpPr/>
          <p:nvPr/>
        </p:nvSpPr>
        <p:spPr>
          <a:xfrm>
            <a:off x="1187624" y="2290763"/>
            <a:ext cx="516929" cy="436010"/>
          </a:xfrm>
          <a:prstGeom prst="roundRect">
            <a:avLst>
              <a:gd name="adj" fmla="val 8860"/>
            </a:avLst>
          </a:prstGeom>
          <a:solidFill>
            <a:schemeClr val="accent2">
              <a:lumMod val="20000"/>
              <a:lumOff val="8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Shared</a:t>
            </a:r>
          </a:p>
          <a:p>
            <a:pPr marL="0" marR="0" lvl="0" indent="0" algn="ctr" defTabSz="914400" rtl="0" eaLnBrk="1" fontAlgn="auto" latinLnBrk="0" hangingPunct="1">
              <a:lnSpc>
                <a:spcPts val="1200"/>
              </a:lnSpc>
              <a:spcBef>
                <a:spcPts val="0"/>
              </a:spcBef>
              <a:spcAft>
                <a:spcPts val="0"/>
              </a:spcAft>
              <a:buClrTx/>
              <a:buSzTx/>
              <a:buFontTx/>
              <a:buNone/>
              <a:tabLst/>
              <a:defRPr/>
            </a:pPr>
            <a:r>
              <a:rPr lang="en-US" altLang="zh-TW" sz="1000" dirty="0">
                <a:solidFill>
                  <a:prstClr val="black"/>
                </a:solidFill>
                <a:latin typeface="Calibri"/>
                <a:ea typeface="微軟正黑體" panose="020B0604030504040204" pitchFamily="34" charset="-120"/>
              </a:rPr>
              <a:t>Export</a:t>
            </a:r>
            <a:endPar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sp>
        <p:nvSpPr>
          <p:cNvPr id="22" name="矩形: 圓角 21">
            <a:extLst>
              <a:ext uri="{FF2B5EF4-FFF2-40B4-BE49-F238E27FC236}">
                <a16:creationId xmlns:a16="http://schemas.microsoft.com/office/drawing/2014/main" id="{B575657B-6422-4836-4BD9-E9A5A22401DF}"/>
              </a:ext>
            </a:extLst>
          </p:cNvPr>
          <p:cNvSpPr/>
          <p:nvPr/>
        </p:nvSpPr>
        <p:spPr>
          <a:xfrm>
            <a:off x="2128038" y="1922626"/>
            <a:ext cx="1219522" cy="2795046"/>
          </a:xfrm>
          <a:prstGeom prst="roundRect">
            <a:avLst>
              <a:gd name="adj" fmla="val 10053"/>
            </a:avLst>
          </a:prstGeom>
          <a:solidFill>
            <a:schemeClr val="bg1">
              <a:lumMod val="95000"/>
              <a:alpha val="40000"/>
            </a:schemeClr>
          </a:solidFill>
          <a:ln w="158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24" name="文字方塊 23">
            <a:extLst>
              <a:ext uri="{FF2B5EF4-FFF2-40B4-BE49-F238E27FC236}">
                <a16:creationId xmlns:a16="http://schemas.microsoft.com/office/drawing/2014/main" id="{EC76EEDB-820C-47F8-E6D6-B61AD0478603}"/>
              </a:ext>
            </a:extLst>
          </p:cNvPr>
          <p:cNvSpPr txBox="1"/>
          <p:nvPr/>
        </p:nvSpPr>
        <p:spPr>
          <a:xfrm>
            <a:off x="2195432" y="2002310"/>
            <a:ext cx="1086557" cy="895026"/>
          </a:xfrm>
          <a:prstGeom prst="rect">
            <a:avLst/>
          </a:prstGeom>
          <a:solidFill>
            <a:srgbClr val="B7C9E7">
              <a:alpha val="60000"/>
            </a:srgbClr>
          </a:solidFill>
          <a:ln w="15875">
            <a:solidFill>
              <a:schemeClr val="bg1">
                <a:lumMod val="85000"/>
              </a:schemeClr>
            </a:solidFill>
          </a:ln>
        </p:spPr>
        <p:txBody>
          <a:bodyPr wrap="none" lIns="36000" tIns="36000" rIns="0" bIns="0" anchor="t" anchorCtr="0">
            <a:noAutofit/>
          </a:bodyPr>
          <a:lstStyle/>
          <a:p>
            <a:pPr>
              <a:lnSpc>
                <a:spcPts val="1400"/>
              </a:lnSpc>
              <a:buNone/>
            </a:pPr>
            <a:r>
              <a:rPr lang="en-US" altLang="zh-TW" sz="1000" b="1" dirty="0">
                <a:solidFill>
                  <a:schemeClr val="tx1">
                    <a:lumMod val="50000"/>
                    <a:lumOff val="50000"/>
                  </a:schemeClr>
                </a:solidFill>
                <a:latin typeface="Gadugi" panose="020B0502040204020203" pitchFamily="34" charset="0"/>
                <a:ea typeface="Gadugi" panose="020B0502040204020203" pitchFamily="34" charset="0"/>
                <a:cs typeface="ADLaM Display" panose="02010000000000000000" pitchFamily="2" charset="0"/>
              </a:rPr>
              <a:t>DeepSeek </a:t>
            </a:r>
            <a:r>
              <a:rPr lang="en-US" altLang="zh-TW" sz="1000" b="1" dirty="0" err="1">
                <a:solidFill>
                  <a:schemeClr val="tx1">
                    <a:lumMod val="50000"/>
                    <a:lumOff val="50000"/>
                  </a:schemeClr>
                </a:solidFill>
                <a:latin typeface="Gadugi" panose="020B0502040204020203" pitchFamily="34" charset="0"/>
                <a:ea typeface="Gadugi" panose="020B0502040204020203" pitchFamily="34" charset="0"/>
                <a:cs typeface="ADLaM Display" panose="02010000000000000000" pitchFamily="2" charset="0"/>
              </a:rPr>
              <a:t>MoE</a:t>
            </a:r>
            <a:endParaRPr lang="en-US" altLang="zh-TW" sz="10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endParaRPr>
          </a:p>
        </p:txBody>
      </p:sp>
      <p:sp>
        <p:nvSpPr>
          <p:cNvPr id="26" name="矩形: 圓角 25">
            <a:extLst>
              <a:ext uri="{FF2B5EF4-FFF2-40B4-BE49-F238E27FC236}">
                <a16:creationId xmlns:a16="http://schemas.microsoft.com/office/drawing/2014/main" id="{4A193FB5-77BF-9261-EE9C-AF49B58ACA5D}"/>
              </a:ext>
            </a:extLst>
          </p:cNvPr>
          <p:cNvSpPr/>
          <p:nvPr/>
        </p:nvSpPr>
        <p:spPr>
          <a:xfrm>
            <a:off x="2127756" y="5092506"/>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Input Layer</a:t>
            </a:r>
          </a:p>
        </p:txBody>
      </p:sp>
      <p:sp>
        <p:nvSpPr>
          <p:cNvPr id="28" name="文字方塊 27">
            <a:extLst>
              <a:ext uri="{FF2B5EF4-FFF2-40B4-BE49-F238E27FC236}">
                <a16:creationId xmlns:a16="http://schemas.microsoft.com/office/drawing/2014/main" id="{D8D41319-3849-4C5C-B81B-F65F8A0E51BE}"/>
              </a:ext>
            </a:extLst>
          </p:cNvPr>
          <p:cNvSpPr txBox="1"/>
          <p:nvPr/>
        </p:nvSpPr>
        <p:spPr>
          <a:xfrm>
            <a:off x="2195432" y="3192840"/>
            <a:ext cx="1086557" cy="442008"/>
          </a:xfrm>
          <a:prstGeom prst="rect">
            <a:avLst/>
          </a:prstGeom>
          <a:solidFill>
            <a:schemeClr val="accent1">
              <a:lumMod val="20000"/>
              <a:lumOff val="80000"/>
              <a:alpha val="20000"/>
            </a:schemeClr>
          </a:solidFill>
          <a:ln w="15875">
            <a:solidFill>
              <a:schemeClr val="bg1">
                <a:lumMod val="8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Hybrid Attention</a:t>
            </a:r>
          </a:p>
        </p:txBody>
      </p:sp>
      <p:cxnSp>
        <p:nvCxnSpPr>
          <p:cNvPr id="30" name="直線單箭頭接點 29">
            <a:extLst>
              <a:ext uri="{FF2B5EF4-FFF2-40B4-BE49-F238E27FC236}">
                <a16:creationId xmlns:a16="http://schemas.microsoft.com/office/drawing/2014/main" id="{DE1F102C-BA8F-E1D9-CA99-27D68435D0B0}"/>
              </a:ext>
            </a:extLst>
          </p:cNvPr>
          <p:cNvCxnSpPr>
            <a:cxnSpLocks/>
            <a:endCxn id="36" idx="2"/>
          </p:cNvCxnSpPr>
          <p:nvPr/>
        </p:nvCxnSpPr>
        <p:spPr>
          <a:xfrm flipH="1" flipV="1">
            <a:off x="2735493" y="4653136"/>
            <a:ext cx="2307" cy="435063"/>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32" name="矩形: 圓角 31">
            <a:extLst>
              <a:ext uri="{FF2B5EF4-FFF2-40B4-BE49-F238E27FC236}">
                <a16:creationId xmlns:a16="http://schemas.microsoft.com/office/drawing/2014/main" id="{E7071F06-3B95-BBF0-8D31-403260190A10}"/>
              </a:ext>
            </a:extLst>
          </p:cNvPr>
          <p:cNvSpPr/>
          <p:nvPr/>
        </p:nvSpPr>
        <p:spPr>
          <a:xfrm>
            <a:off x="2127756" y="1405304"/>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Next Layer</a:t>
            </a:r>
          </a:p>
        </p:txBody>
      </p:sp>
      <p:cxnSp>
        <p:nvCxnSpPr>
          <p:cNvPr id="33" name="直線單箭頭接點 32">
            <a:extLst>
              <a:ext uri="{FF2B5EF4-FFF2-40B4-BE49-F238E27FC236}">
                <a16:creationId xmlns:a16="http://schemas.microsoft.com/office/drawing/2014/main" id="{E8BA514B-DB76-CB7C-BABF-F30EA1823778}"/>
              </a:ext>
            </a:extLst>
          </p:cNvPr>
          <p:cNvCxnSpPr>
            <a:cxnSpLocks/>
            <a:stCxn id="22" idx="0"/>
            <a:endCxn id="32" idx="2"/>
          </p:cNvCxnSpPr>
          <p:nvPr/>
        </p:nvCxnSpPr>
        <p:spPr>
          <a:xfrm flipH="1" flipV="1">
            <a:off x="2737517" y="1750550"/>
            <a:ext cx="282" cy="172076"/>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35" name="矩形 34">
            <a:extLst>
              <a:ext uri="{FF2B5EF4-FFF2-40B4-BE49-F238E27FC236}">
                <a16:creationId xmlns:a16="http://schemas.microsoft.com/office/drawing/2014/main" id="{F0F6B94A-C1E9-D2D7-0479-3D31C5008924}"/>
              </a:ext>
            </a:extLst>
          </p:cNvPr>
          <p:cNvSpPr/>
          <p:nvPr/>
        </p:nvSpPr>
        <p:spPr>
          <a:xfrm>
            <a:off x="2267441" y="4756564"/>
            <a:ext cx="933795" cy="393156"/>
          </a:xfrm>
          <a:prstGeom prst="rect">
            <a:avLst/>
          </a:prstGeom>
          <a:solidFill>
            <a:schemeClr val="bg1"/>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X</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NxD</a:t>
            </a:r>
          </a:p>
        </p:txBody>
      </p:sp>
      <p:sp>
        <p:nvSpPr>
          <p:cNvPr id="36" name="矩形: 圓角 35">
            <a:extLst>
              <a:ext uri="{FF2B5EF4-FFF2-40B4-BE49-F238E27FC236}">
                <a16:creationId xmlns:a16="http://schemas.microsoft.com/office/drawing/2014/main" id="{10A57304-B977-6DDF-AB79-940F415DCD67}"/>
              </a:ext>
            </a:extLst>
          </p:cNvPr>
          <p:cNvSpPr/>
          <p:nvPr/>
        </p:nvSpPr>
        <p:spPr>
          <a:xfrm>
            <a:off x="2267441" y="4221088"/>
            <a:ext cx="936104" cy="432048"/>
          </a:xfrm>
          <a:prstGeom prst="roundRect">
            <a:avLst/>
          </a:prstGeom>
          <a:solidFill>
            <a:schemeClr val="bg1"/>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QKV</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 x d</a:t>
            </a:r>
          </a:p>
        </p:txBody>
      </p:sp>
      <p:sp>
        <p:nvSpPr>
          <p:cNvPr id="37" name="矩形: 圓角 36">
            <a:extLst>
              <a:ext uri="{FF2B5EF4-FFF2-40B4-BE49-F238E27FC236}">
                <a16:creationId xmlns:a16="http://schemas.microsoft.com/office/drawing/2014/main" id="{BAA62BC7-8970-5EAC-91BE-AFA753C2EB9A}"/>
              </a:ext>
            </a:extLst>
          </p:cNvPr>
          <p:cNvSpPr/>
          <p:nvPr/>
        </p:nvSpPr>
        <p:spPr>
          <a:xfrm>
            <a:off x="2267441" y="2792566"/>
            <a:ext cx="936104" cy="194669"/>
          </a:xfrm>
          <a:prstGeom prst="roundRect">
            <a:avLst>
              <a:gd name="adj" fmla="val 8860"/>
            </a:avLst>
          </a:prstGeom>
          <a:solidFill>
            <a:schemeClr val="accent2">
              <a:lumMod val="20000"/>
              <a:lumOff val="8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FFN</a:t>
            </a:r>
            <a:endParaRPr kumimoji="0" lang="en-US" altLang="zh-TW" sz="120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sp>
        <p:nvSpPr>
          <p:cNvPr id="38" name="矩形 37">
            <a:extLst>
              <a:ext uri="{FF2B5EF4-FFF2-40B4-BE49-F238E27FC236}">
                <a16:creationId xmlns:a16="http://schemas.microsoft.com/office/drawing/2014/main" id="{BE84C5AA-7941-045B-0FBC-E68694445AFC}"/>
              </a:ext>
            </a:extLst>
          </p:cNvPr>
          <p:cNvSpPr/>
          <p:nvPr/>
        </p:nvSpPr>
        <p:spPr>
          <a:xfrm>
            <a:off x="1943092" y="5308701"/>
            <a:ext cx="362588" cy="424555"/>
          </a:xfrm>
          <a:prstGeom prst="rect">
            <a:avLst/>
          </a:prstGeom>
          <a:solidFill>
            <a:schemeClr val="bg2">
              <a:lumMod val="90000"/>
            </a:schemeClr>
          </a:solidFill>
          <a:ln w="381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6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VC</a:t>
            </a:r>
            <a:endParaRPr lang="en-US" altLang="zh-TW" sz="160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39" name="矩形: 圓角 38">
            <a:extLst>
              <a:ext uri="{FF2B5EF4-FFF2-40B4-BE49-F238E27FC236}">
                <a16:creationId xmlns:a16="http://schemas.microsoft.com/office/drawing/2014/main" id="{0DA5E329-7389-18B3-3FF9-BFDB18807177}"/>
              </a:ext>
            </a:extLst>
          </p:cNvPr>
          <p:cNvSpPr/>
          <p:nvPr/>
        </p:nvSpPr>
        <p:spPr>
          <a:xfrm>
            <a:off x="2277505" y="2276872"/>
            <a:ext cx="516929" cy="436010"/>
          </a:xfrm>
          <a:prstGeom prst="roundRect">
            <a:avLst>
              <a:gd name="adj" fmla="val 8860"/>
            </a:avLst>
          </a:prstGeom>
          <a:solidFill>
            <a:schemeClr val="accent2">
              <a:lumMod val="20000"/>
              <a:lumOff val="8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Router</a:t>
            </a:r>
          </a:p>
          <a:p>
            <a:pPr marL="0" marR="0" lvl="0" indent="0" algn="ctr" defTabSz="914400" rtl="0" eaLnBrk="1" fontAlgn="auto" latinLnBrk="0" hangingPunct="1">
              <a:lnSpc>
                <a:spcPts val="1200"/>
              </a:lnSpc>
              <a:spcBef>
                <a:spcPts val="0"/>
              </a:spcBef>
              <a:spcAft>
                <a:spcPts val="0"/>
              </a:spcAft>
              <a:buClrTx/>
              <a:buSzTx/>
              <a:buFontTx/>
              <a:buNone/>
              <a:tabLst/>
              <a:defRPr/>
            </a:pPr>
            <a:r>
              <a:rPr lang="en-US" altLang="zh-TW" sz="1000" dirty="0">
                <a:solidFill>
                  <a:prstClr val="black"/>
                </a:solidFill>
                <a:latin typeface="Calibri"/>
                <a:ea typeface="微軟正黑體" panose="020B0604030504040204" pitchFamily="34" charset="-120"/>
              </a:rPr>
              <a:t>Export</a:t>
            </a:r>
            <a:endPar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sp>
        <p:nvSpPr>
          <p:cNvPr id="41" name="文字方塊 40">
            <a:extLst>
              <a:ext uri="{FF2B5EF4-FFF2-40B4-BE49-F238E27FC236}">
                <a16:creationId xmlns:a16="http://schemas.microsoft.com/office/drawing/2014/main" id="{381260DC-1D9A-8A2A-9143-702BB37EF0AC}"/>
              </a:ext>
            </a:extLst>
          </p:cNvPr>
          <p:cNvSpPr txBox="1"/>
          <p:nvPr/>
        </p:nvSpPr>
        <p:spPr>
          <a:xfrm>
            <a:off x="2195432" y="3711944"/>
            <a:ext cx="1086557" cy="432048"/>
          </a:xfrm>
          <a:prstGeom prst="rect">
            <a:avLst/>
          </a:prstGeom>
          <a:solidFill>
            <a:schemeClr val="accent1">
              <a:lumMod val="20000"/>
              <a:lumOff val="80000"/>
              <a:alpha val="60000"/>
            </a:schemeClr>
          </a:solidFill>
          <a:ln w="15875">
            <a:solidFill>
              <a:schemeClr val="bg1">
                <a:lumMod val="85000"/>
              </a:schemeClr>
            </a:solidFill>
          </a:ln>
        </p:spPr>
        <p:txBody>
          <a:bodyPr wrap="none" lIns="36000" tIns="36000" rIns="0" bIns="0" anchor="t" anchorCtr="0">
            <a:noAutofit/>
          </a:bodyPr>
          <a:lstStyle/>
          <a:p>
            <a:pPr>
              <a:lnSpc>
                <a:spcPts val="1400"/>
              </a:lnSpc>
              <a:buNone/>
            </a:pPr>
            <a:r>
              <a:rPr lang="en-US" altLang="zh-TW" sz="1000" b="1" dirty="0">
                <a:solidFill>
                  <a:schemeClr val="tx1">
                    <a:lumMod val="50000"/>
                    <a:lumOff val="50000"/>
                  </a:schemeClr>
                </a:solidFill>
                <a:latin typeface="Gadugi" panose="020B0502040204020203" pitchFamily="34" charset="0"/>
                <a:ea typeface="Gadugi" panose="020B0502040204020203" pitchFamily="34" charset="0"/>
                <a:cs typeface="ADLaM Display" panose="02010000000000000000" pitchFamily="2" charset="0"/>
              </a:rPr>
              <a:t>Engram</a:t>
            </a:r>
          </a:p>
        </p:txBody>
      </p:sp>
      <p:sp>
        <p:nvSpPr>
          <p:cNvPr id="42" name="矩形: 圓角 41">
            <a:extLst>
              <a:ext uri="{FF2B5EF4-FFF2-40B4-BE49-F238E27FC236}">
                <a16:creationId xmlns:a16="http://schemas.microsoft.com/office/drawing/2014/main" id="{CB17FF31-7B4E-1DB9-4928-C09524069C4F}"/>
              </a:ext>
            </a:extLst>
          </p:cNvPr>
          <p:cNvSpPr/>
          <p:nvPr/>
        </p:nvSpPr>
        <p:spPr>
          <a:xfrm>
            <a:off x="2848865" y="2287360"/>
            <a:ext cx="516929" cy="436010"/>
          </a:xfrm>
          <a:prstGeom prst="roundRect">
            <a:avLst>
              <a:gd name="adj" fmla="val 8860"/>
            </a:avLst>
          </a:prstGeom>
          <a:solidFill>
            <a:schemeClr val="accent2">
              <a:lumMod val="20000"/>
              <a:lumOff val="8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Shared</a:t>
            </a:r>
          </a:p>
          <a:p>
            <a:pPr marL="0" marR="0" lvl="0" indent="0" algn="ctr" defTabSz="914400" rtl="0" eaLnBrk="1" fontAlgn="auto" latinLnBrk="0" hangingPunct="1">
              <a:lnSpc>
                <a:spcPts val="1200"/>
              </a:lnSpc>
              <a:spcBef>
                <a:spcPts val="0"/>
              </a:spcBef>
              <a:spcAft>
                <a:spcPts val="0"/>
              </a:spcAft>
              <a:buClrTx/>
              <a:buSzTx/>
              <a:buFontTx/>
              <a:buNone/>
              <a:tabLst/>
              <a:defRPr/>
            </a:pPr>
            <a:r>
              <a:rPr lang="en-US" altLang="zh-TW" sz="1000" dirty="0">
                <a:solidFill>
                  <a:prstClr val="black"/>
                </a:solidFill>
                <a:latin typeface="Calibri"/>
                <a:ea typeface="微軟正黑體" panose="020B0604030504040204" pitchFamily="34" charset="-120"/>
              </a:rPr>
              <a:t>Export</a:t>
            </a:r>
            <a:endPar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pic>
        <p:nvPicPr>
          <p:cNvPr id="5" name="圖片 4">
            <a:extLst>
              <a:ext uri="{FF2B5EF4-FFF2-40B4-BE49-F238E27FC236}">
                <a16:creationId xmlns:a16="http://schemas.microsoft.com/office/drawing/2014/main" id="{76885F05-0DA8-CE70-AA25-3ADBB1FDA917}"/>
              </a:ext>
            </a:extLst>
          </p:cNvPr>
          <p:cNvPicPr>
            <a:picLocks noChangeAspect="1"/>
          </p:cNvPicPr>
          <p:nvPr/>
        </p:nvPicPr>
        <p:blipFill>
          <a:blip r:embed="rId2"/>
          <a:stretch>
            <a:fillRect/>
          </a:stretch>
        </p:blipFill>
        <p:spPr>
          <a:xfrm>
            <a:off x="6046846" y="2833597"/>
            <a:ext cx="2549271" cy="1190806"/>
          </a:xfrm>
          <a:prstGeom prst="rect">
            <a:avLst/>
          </a:prstGeom>
        </p:spPr>
      </p:pic>
      <p:pic>
        <p:nvPicPr>
          <p:cNvPr id="10" name="圖片 9">
            <a:extLst>
              <a:ext uri="{FF2B5EF4-FFF2-40B4-BE49-F238E27FC236}">
                <a16:creationId xmlns:a16="http://schemas.microsoft.com/office/drawing/2014/main" id="{E535C448-D1CC-9527-76B8-C6DC51DEC44A}"/>
              </a:ext>
            </a:extLst>
          </p:cNvPr>
          <p:cNvPicPr>
            <a:picLocks noChangeAspect="1"/>
          </p:cNvPicPr>
          <p:nvPr/>
        </p:nvPicPr>
        <p:blipFill>
          <a:blip r:embed="rId3"/>
          <a:stretch>
            <a:fillRect/>
          </a:stretch>
        </p:blipFill>
        <p:spPr>
          <a:xfrm>
            <a:off x="6391258" y="1693716"/>
            <a:ext cx="2429214" cy="581106"/>
          </a:xfrm>
          <a:prstGeom prst="rect">
            <a:avLst/>
          </a:prstGeom>
        </p:spPr>
      </p:pic>
    </p:spTree>
    <p:extLst>
      <p:ext uri="{BB962C8B-B14F-4D97-AF65-F5344CB8AC3E}">
        <p14:creationId xmlns:p14="http://schemas.microsoft.com/office/powerpoint/2010/main" val="338694157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矩形 55">
            <a:extLst>
              <a:ext uri="{FF2B5EF4-FFF2-40B4-BE49-F238E27FC236}">
                <a16:creationId xmlns:a16="http://schemas.microsoft.com/office/drawing/2014/main" id="{BB38A453-3D28-0325-2F31-2B4E4DAB387B}"/>
              </a:ext>
            </a:extLst>
          </p:cNvPr>
          <p:cNvSpPr/>
          <p:nvPr/>
        </p:nvSpPr>
        <p:spPr>
          <a:xfrm>
            <a:off x="1979712" y="5085185"/>
            <a:ext cx="465295" cy="825514"/>
          </a:xfrm>
          <a:prstGeom prst="rect">
            <a:avLst/>
          </a:prstGeom>
          <a:solidFill>
            <a:schemeClr val="bg1"/>
          </a:solidFill>
          <a:ln w="38100">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b="1" dirty="0">
                <a:solidFill>
                  <a:schemeClr val="bg1">
                    <a:lumMod val="75000"/>
                  </a:schemeClr>
                </a:solidFill>
                <a:ea typeface="微軟正黑體" panose="020B0604030504040204" pitchFamily="34" charset="-120"/>
              </a:rPr>
              <a:t>X</a:t>
            </a:r>
          </a:p>
        </p:txBody>
      </p:sp>
      <p:sp>
        <p:nvSpPr>
          <p:cNvPr id="2" name="矩形 1">
            <a:extLst>
              <a:ext uri="{FF2B5EF4-FFF2-40B4-BE49-F238E27FC236}">
                <a16:creationId xmlns:a16="http://schemas.microsoft.com/office/drawing/2014/main" id="{F8A10819-F5AF-ACA1-0022-E7314F64193D}"/>
              </a:ext>
            </a:extLst>
          </p:cNvPr>
          <p:cNvSpPr/>
          <p:nvPr/>
        </p:nvSpPr>
        <p:spPr>
          <a:xfrm>
            <a:off x="6228184" y="4077072"/>
            <a:ext cx="1119629" cy="221303"/>
          </a:xfrm>
          <a:prstGeom prst="rect">
            <a:avLst/>
          </a:prstGeom>
          <a:solidFill>
            <a:schemeClr val="accent1">
              <a:lumMod val="20000"/>
              <a:lumOff val="80000"/>
              <a:alpha val="20000"/>
            </a:schemeClr>
          </a:solidFill>
          <a:ln w="19050">
            <a:solidFill>
              <a:schemeClr val="accent1">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marL="0" marR="0" lvl="1" algn="l" defTabSz="1425575" rtl="0" eaLnBrk="1" fontAlgn="auto" latinLnBrk="0" hangingPunct="1">
              <a:lnSpc>
                <a:spcPts val="16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rgbClr val="1F497D"/>
                </a:solidFill>
                <a:effectLst/>
                <a:uLnTx/>
                <a:uFillTx/>
                <a:latin typeface="Calibri"/>
                <a:ea typeface="微軟正黑體" panose="020B0604030504040204" pitchFamily="34" charset="-120"/>
                <a:cs typeface="+mn-cs"/>
              </a:rPr>
              <a:t>FFN(x)*k1</a:t>
            </a:r>
          </a:p>
        </p:txBody>
      </p:sp>
      <p:sp>
        <p:nvSpPr>
          <p:cNvPr id="3" name="矩形 2">
            <a:extLst>
              <a:ext uri="{FF2B5EF4-FFF2-40B4-BE49-F238E27FC236}">
                <a16:creationId xmlns:a16="http://schemas.microsoft.com/office/drawing/2014/main" id="{A7D842CA-B031-7BC9-9D27-3CEA5E3F9AA7}"/>
              </a:ext>
            </a:extLst>
          </p:cNvPr>
          <p:cNvSpPr/>
          <p:nvPr/>
        </p:nvSpPr>
        <p:spPr>
          <a:xfrm>
            <a:off x="7515677" y="4077072"/>
            <a:ext cx="771031" cy="221303"/>
          </a:xfrm>
          <a:prstGeom prst="rect">
            <a:avLst/>
          </a:prstGeom>
          <a:solidFill>
            <a:schemeClr val="accent1">
              <a:lumMod val="20000"/>
              <a:lumOff val="80000"/>
              <a:alpha val="20000"/>
            </a:schemeClr>
          </a:solidFill>
          <a:ln w="19050">
            <a:solidFill>
              <a:schemeClr val="accent1">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marL="0" marR="0" lvl="1" algn="l" defTabSz="1425575" rtl="0" eaLnBrk="1" fontAlgn="auto" latinLnBrk="0" hangingPunct="1">
              <a:lnSpc>
                <a:spcPts val="16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rgbClr val="1F497D"/>
                </a:solidFill>
                <a:effectLst/>
                <a:uLnTx/>
                <a:uFillTx/>
                <a:latin typeface="Calibri"/>
                <a:ea typeface="微軟正黑體" panose="020B0604030504040204" pitchFamily="34" charset="-120"/>
                <a:cs typeface="+mn-cs"/>
              </a:rPr>
              <a:t>FFN(x)*k2</a:t>
            </a:r>
          </a:p>
        </p:txBody>
      </p:sp>
      <p:sp>
        <p:nvSpPr>
          <p:cNvPr id="4" name="矩形 3">
            <a:extLst>
              <a:ext uri="{FF2B5EF4-FFF2-40B4-BE49-F238E27FC236}">
                <a16:creationId xmlns:a16="http://schemas.microsoft.com/office/drawing/2014/main" id="{D0BFBC04-025D-8C73-BE49-A627F4466BCB}"/>
              </a:ext>
            </a:extLst>
          </p:cNvPr>
          <p:cNvSpPr/>
          <p:nvPr/>
        </p:nvSpPr>
        <p:spPr>
          <a:xfrm>
            <a:off x="6202915" y="2249227"/>
            <a:ext cx="2083794" cy="1396319"/>
          </a:xfrm>
          <a:prstGeom prst="rect">
            <a:avLst/>
          </a:prstGeom>
          <a:solidFill>
            <a:schemeClr val="accent1">
              <a:lumMod val="20000"/>
              <a:lumOff val="80000"/>
              <a:alpha val="20000"/>
            </a:schemeClr>
          </a:solidFill>
          <a:ln w="19050">
            <a:solidFill>
              <a:schemeClr val="accent1">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91440" tIns="91440" rIns="0" bIns="0" rtlCol="0" anchor="t" anchorCtr="0">
            <a:noAutofit/>
          </a:bodyPr>
          <a:lstStyle/>
          <a:p>
            <a:pPr marL="0" marR="0" lvl="1" algn="l" defTabSz="1425575" rtl="0" eaLnBrk="1" fontAlgn="auto" latinLnBrk="0" hangingPunct="1">
              <a:lnSpc>
                <a:spcPts val="16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srgbClr val="1F497D"/>
                </a:solidFill>
                <a:effectLst/>
                <a:uLnTx/>
                <a:uFillTx/>
                <a:latin typeface="Calibri"/>
                <a:ea typeface="微軟正黑體" panose="020B0604030504040204" pitchFamily="34" charset="-120"/>
                <a:cs typeface="+mn-cs"/>
              </a:rPr>
              <a:t>MoE Router(X)</a:t>
            </a:r>
          </a:p>
        </p:txBody>
      </p:sp>
      <p:sp>
        <p:nvSpPr>
          <p:cNvPr id="5" name="文字方塊 4">
            <a:extLst>
              <a:ext uri="{FF2B5EF4-FFF2-40B4-BE49-F238E27FC236}">
                <a16:creationId xmlns:a16="http://schemas.microsoft.com/office/drawing/2014/main" id="{2CC5FF0F-E658-B872-6D5E-F29F0993AFDD}"/>
              </a:ext>
            </a:extLst>
          </p:cNvPr>
          <p:cNvSpPr txBox="1"/>
          <p:nvPr/>
        </p:nvSpPr>
        <p:spPr>
          <a:xfrm>
            <a:off x="6575885" y="2903675"/>
            <a:ext cx="123404" cy="289683"/>
          </a:xfrm>
          <a:prstGeom prst="rect">
            <a:avLst/>
          </a:prstGeom>
          <a:noFill/>
        </p:spPr>
        <p:txBody>
          <a:bodyPr wrap="none" lIns="0" tIns="0" rIns="0" bIns="0" rtlCol="0" anchor="ctr" anchorCtr="1">
            <a:noAutofit/>
          </a:bodyPr>
          <a:lstStyle/>
          <a:p>
            <a:pPr algn="ctr"/>
            <a:r>
              <a:rPr lang="en-US" altLang="zh-TW" sz="1200" dirty="0">
                <a:latin typeface="Noto Sans HK" panose="020B0200000000000000" pitchFamily="34" charset="-120"/>
                <a:ea typeface="Noto Sans HK" panose="020B0200000000000000" pitchFamily="34" charset="-120"/>
              </a:rPr>
              <a:t>*</a:t>
            </a:r>
            <a:endParaRPr lang="zh-TW" altLang="en-US" sz="1200" dirty="0">
              <a:latin typeface="Noto Sans HK" panose="020B0200000000000000" pitchFamily="34" charset="-120"/>
              <a:ea typeface="Noto Sans HK" panose="020B0200000000000000" pitchFamily="34" charset="-120"/>
            </a:endParaRPr>
          </a:p>
        </p:txBody>
      </p:sp>
      <p:sp>
        <p:nvSpPr>
          <p:cNvPr id="6" name="矩形 5">
            <a:extLst>
              <a:ext uri="{FF2B5EF4-FFF2-40B4-BE49-F238E27FC236}">
                <a16:creationId xmlns:a16="http://schemas.microsoft.com/office/drawing/2014/main" id="{ABEE450B-382F-9ADE-4AEA-42F8E753641D}"/>
              </a:ext>
            </a:extLst>
          </p:cNvPr>
          <p:cNvSpPr/>
          <p:nvPr/>
        </p:nvSpPr>
        <p:spPr>
          <a:xfrm>
            <a:off x="7308304" y="2708920"/>
            <a:ext cx="141222" cy="501453"/>
          </a:xfrm>
          <a:prstGeom prst="rect">
            <a:avLst/>
          </a:prstGeom>
          <a:solidFill>
            <a:schemeClr val="bg1"/>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b="1" dirty="0">
                <a:solidFill>
                  <a:schemeClr val="tx1"/>
                </a:solidFill>
                <a:ea typeface="微軟正黑體" panose="020B0604030504040204" pitchFamily="34" charset="-120"/>
              </a:rPr>
              <a:t>S</a:t>
            </a:r>
            <a:endParaRPr lang="en-US" altLang="zh-TW" sz="1200" b="1" baseline="-25000" dirty="0">
              <a:solidFill>
                <a:schemeClr val="tx1"/>
              </a:solidFill>
              <a:ea typeface="微軟正黑體" panose="020B0604030504040204" pitchFamily="34" charset="-120"/>
            </a:endParaRPr>
          </a:p>
        </p:txBody>
      </p:sp>
      <p:sp>
        <p:nvSpPr>
          <p:cNvPr id="7" name="文字方塊 6">
            <a:extLst>
              <a:ext uri="{FF2B5EF4-FFF2-40B4-BE49-F238E27FC236}">
                <a16:creationId xmlns:a16="http://schemas.microsoft.com/office/drawing/2014/main" id="{7B124EE1-6EDF-2A18-A848-F4B235E38A56}"/>
              </a:ext>
            </a:extLst>
          </p:cNvPr>
          <p:cNvSpPr txBox="1"/>
          <p:nvPr/>
        </p:nvSpPr>
        <p:spPr>
          <a:xfrm>
            <a:off x="6202915" y="1235383"/>
            <a:ext cx="307455" cy="300850"/>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P</a:t>
            </a:r>
            <a:r>
              <a:rPr kumimoji="0" lang="en-US" altLang="zh-TW" sz="1400" b="1" u="none" strike="noStrike" kern="1200" cap="none" spc="0" normalizeH="0" baseline="-25000" noProof="0" dirty="0">
                <a:ln>
                  <a:noFill/>
                </a:ln>
                <a:solidFill>
                  <a:prstClr val="black"/>
                </a:solidFill>
                <a:effectLst/>
                <a:uLnTx/>
                <a:uFillTx/>
                <a:ea typeface="Cambria Math" panose="02040503050406030204" pitchFamily="18" charset="0"/>
                <a:cs typeface="+mn-cs"/>
              </a:rPr>
              <a:t>2</a:t>
            </a:r>
            <a:r>
              <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rPr>
              <a:t> =</a:t>
            </a:r>
          </a:p>
        </p:txBody>
      </p:sp>
      <p:sp>
        <p:nvSpPr>
          <p:cNvPr id="8" name="矩形 7">
            <a:extLst>
              <a:ext uri="{FF2B5EF4-FFF2-40B4-BE49-F238E27FC236}">
                <a16:creationId xmlns:a16="http://schemas.microsoft.com/office/drawing/2014/main" id="{65A40987-9A4B-9628-363E-E43C9DF051DE}"/>
              </a:ext>
            </a:extLst>
          </p:cNvPr>
          <p:cNvSpPr/>
          <p:nvPr/>
        </p:nvSpPr>
        <p:spPr>
          <a:xfrm>
            <a:off x="6291580" y="2708920"/>
            <a:ext cx="254168" cy="501453"/>
          </a:xfrm>
          <a:prstGeom prst="rect">
            <a:avLst/>
          </a:prstGeom>
          <a:solidFill>
            <a:schemeClr val="bg1"/>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b="1" dirty="0">
                <a:solidFill>
                  <a:schemeClr val="tx1"/>
                </a:solidFill>
                <a:ea typeface="微軟正黑體" panose="020B0604030504040204" pitchFamily="34" charset="-120"/>
              </a:rPr>
              <a:t>X</a:t>
            </a:r>
          </a:p>
        </p:txBody>
      </p:sp>
      <p:sp>
        <p:nvSpPr>
          <p:cNvPr id="9" name="文字方塊 8">
            <a:extLst>
              <a:ext uri="{FF2B5EF4-FFF2-40B4-BE49-F238E27FC236}">
                <a16:creationId xmlns:a16="http://schemas.microsoft.com/office/drawing/2014/main" id="{726627E9-00F3-15C7-EF11-3FD71F12CF73}"/>
              </a:ext>
            </a:extLst>
          </p:cNvPr>
          <p:cNvSpPr txBox="1"/>
          <p:nvPr/>
        </p:nvSpPr>
        <p:spPr>
          <a:xfrm>
            <a:off x="7236296" y="3275536"/>
            <a:ext cx="274320" cy="182880"/>
          </a:xfrm>
          <a:prstGeom prst="rect">
            <a:avLst/>
          </a:prstGeom>
          <a:noFill/>
        </p:spPr>
        <p:txBody>
          <a:bodyPr wrap="none" lIns="0" tIns="0" rIns="0" bIns="0" anchor="ctr" anchorCtr="1">
            <a:noAutofit/>
          </a:bodyPr>
          <a:lstStyle/>
          <a:p>
            <a:pPr algn="ctr">
              <a:lnSpc>
                <a:spcPts val="1200"/>
              </a:lnSpc>
            </a:pPr>
            <a:r>
              <a:rPr lang="en-US" altLang="zh-TW" sz="1000" dirty="0">
                <a:ea typeface="微軟正黑體" panose="020B0604030504040204" pitchFamily="34" charset="-120"/>
              </a:rPr>
              <a:t>Nx16</a:t>
            </a:r>
          </a:p>
        </p:txBody>
      </p:sp>
      <p:sp>
        <p:nvSpPr>
          <p:cNvPr id="10" name="矩形 9">
            <a:extLst>
              <a:ext uri="{FF2B5EF4-FFF2-40B4-BE49-F238E27FC236}">
                <a16:creationId xmlns:a16="http://schemas.microsoft.com/office/drawing/2014/main" id="{6CD0255E-B788-5AB2-2870-9E64450DC63E}"/>
              </a:ext>
            </a:extLst>
          </p:cNvPr>
          <p:cNvSpPr/>
          <p:nvPr/>
        </p:nvSpPr>
        <p:spPr>
          <a:xfrm>
            <a:off x="8031178" y="2708920"/>
            <a:ext cx="141222" cy="501453"/>
          </a:xfrm>
          <a:prstGeom prst="rect">
            <a:avLst/>
          </a:prstGeom>
          <a:solidFill>
            <a:schemeClr val="bg1"/>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b="1" dirty="0">
                <a:solidFill>
                  <a:schemeClr val="tx1"/>
                </a:solidFill>
                <a:ea typeface="微軟正黑體" panose="020B0604030504040204" pitchFamily="34" charset="-120"/>
              </a:rPr>
              <a:t>P</a:t>
            </a:r>
            <a:r>
              <a:rPr lang="en-US" altLang="zh-TW" sz="1200" b="1" baseline="-25000" dirty="0">
                <a:solidFill>
                  <a:schemeClr val="tx1"/>
                </a:solidFill>
                <a:ea typeface="微軟正黑體" panose="020B0604030504040204" pitchFamily="34" charset="-120"/>
              </a:rPr>
              <a:t>2</a:t>
            </a:r>
          </a:p>
        </p:txBody>
      </p:sp>
      <p:sp>
        <p:nvSpPr>
          <p:cNvPr id="11" name="文字方塊 10">
            <a:extLst>
              <a:ext uri="{FF2B5EF4-FFF2-40B4-BE49-F238E27FC236}">
                <a16:creationId xmlns:a16="http://schemas.microsoft.com/office/drawing/2014/main" id="{72F722C5-137F-FBAD-F834-8D6A708F8BA7}"/>
              </a:ext>
            </a:extLst>
          </p:cNvPr>
          <p:cNvSpPr txBox="1"/>
          <p:nvPr/>
        </p:nvSpPr>
        <p:spPr>
          <a:xfrm>
            <a:off x="7481853" y="2804457"/>
            <a:ext cx="502689" cy="155189"/>
          </a:xfrm>
          <a:prstGeom prst="rect">
            <a:avLst/>
          </a:prstGeom>
          <a:noFill/>
        </p:spPr>
        <p:txBody>
          <a:bodyPr wrap="none" lIns="0" tIns="0" rIns="0" bIns="0" rtlCol="0" anchor="ctr" anchorCtr="1">
            <a:noAutofit/>
          </a:bodyPr>
          <a:lstStyle/>
          <a:p>
            <a:pPr algn="ctr"/>
            <a:r>
              <a:rPr lang="en-US" altLang="zh-TW" sz="1000" dirty="0">
                <a:sym typeface="Wingdings" panose="05000000000000000000" pitchFamily="2" charset="2"/>
              </a:rPr>
              <a:t>SoftMax</a:t>
            </a:r>
            <a:endParaRPr lang="zh-TW" altLang="en-US" sz="1000" dirty="0"/>
          </a:p>
        </p:txBody>
      </p:sp>
      <p:graphicFrame>
        <p:nvGraphicFramePr>
          <p:cNvPr id="12" name="表格 11">
            <a:extLst>
              <a:ext uri="{FF2B5EF4-FFF2-40B4-BE49-F238E27FC236}">
                <a16:creationId xmlns:a16="http://schemas.microsoft.com/office/drawing/2014/main" id="{B6FA776E-1819-3370-4A74-9F50E3812556}"/>
              </a:ext>
            </a:extLst>
          </p:cNvPr>
          <p:cNvGraphicFramePr>
            <a:graphicFrameLocks noGrp="1"/>
          </p:cNvGraphicFramePr>
          <p:nvPr>
            <p:extLst>
              <p:ext uri="{D42A27DB-BD31-4B8C-83A1-F6EECF244321}">
                <p14:modId xmlns:p14="http://schemas.microsoft.com/office/powerpoint/2010/main" val="676806986"/>
              </p:ext>
            </p:extLst>
          </p:nvPr>
        </p:nvGraphicFramePr>
        <p:xfrm>
          <a:off x="6575885" y="1227404"/>
          <a:ext cx="2437328" cy="914400"/>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3066584392"/>
                    </a:ext>
                  </a:extLst>
                </a:gridCol>
                <a:gridCol w="304666">
                  <a:extLst>
                    <a:ext uri="{9D8B030D-6E8A-4147-A177-3AD203B41FA5}">
                      <a16:colId xmlns:a16="http://schemas.microsoft.com/office/drawing/2014/main" val="3404935993"/>
                    </a:ext>
                  </a:extLst>
                </a:gridCol>
                <a:gridCol w="304666">
                  <a:extLst>
                    <a:ext uri="{9D8B030D-6E8A-4147-A177-3AD203B41FA5}">
                      <a16:colId xmlns:a16="http://schemas.microsoft.com/office/drawing/2014/main" val="194789956"/>
                    </a:ext>
                  </a:extLst>
                </a:gridCol>
                <a:gridCol w="304666">
                  <a:extLst>
                    <a:ext uri="{9D8B030D-6E8A-4147-A177-3AD203B41FA5}">
                      <a16:colId xmlns:a16="http://schemas.microsoft.com/office/drawing/2014/main" val="4011389836"/>
                    </a:ext>
                  </a:extLst>
                </a:gridCol>
                <a:gridCol w="304666">
                  <a:extLst>
                    <a:ext uri="{9D8B030D-6E8A-4147-A177-3AD203B41FA5}">
                      <a16:colId xmlns:a16="http://schemas.microsoft.com/office/drawing/2014/main" val="506512337"/>
                    </a:ext>
                  </a:extLst>
                </a:gridCol>
              </a:tblGrid>
              <a:tr h="14015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0.81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352794"/>
                  </a:ext>
                </a:extLst>
              </a:tr>
              <a:tr h="14015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0.75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0.25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14487370"/>
                  </a:ext>
                </a:extLst>
              </a:tr>
              <a:tr h="14015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39663110"/>
                  </a:ext>
                </a:extLst>
              </a:tr>
              <a:tr h="14015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0.44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65127993"/>
                  </a:ext>
                </a:extLst>
              </a:tr>
              <a:tr h="14015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52413032"/>
                  </a:ext>
                </a:extLst>
              </a:tr>
              <a:tr h="14015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rgbClr val="FF0000"/>
                          </a:solidFill>
                          <a:latin typeface="ADLaM Display" panose="02010000000000000000" pitchFamily="2" charset="0"/>
                          <a:cs typeface="ADLaM Display" panose="02010000000000000000" pitchFamily="2" charset="0"/>
                        </a:rPr>
                        <a:t>0.08</a:t>
                      </a:r>
                      <a:endParaRPr lang="zh-TW" altLang="en-US" sz="1000" b="0" dirty="0">
                        <a:solidFill>
                          <a:srgbClr val="FF0000"/>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rgbClr val="FF0000"/>
                          </a:solidFill>
                          <a:latin typeface="ADLaM Display" panose="02010000000000000000" pitchFamily="2" charset="0"/>
                          <a:cs typeface="ADLaM Display" panose="02010000000000000000" pitchFamily="2" charset="0"/>
                        </a:rPr>
                        <a:t>0.92</a:t>
                      </a:r>
                      <a:endParaRPr lang="zh-TW" altLang="en-US" sz="1000" b="0" dirty="0">
                        <a:solidFill>
                          <a:srgbClr val="FF0000"/>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59252951"/>
                  </a:ext>
                </a:extLst>
              </a:tr>
            </a:tbl>
          </a:graphicData>
        </a:graphic>
      </p:graphicFrame>
      <p:cxnSp>
        <p:nvCxnSpPr>
          <p:cNvPr id="13" name="接點: 肘形 12">
            <a:extLst>
              <a:ext uri="{FF2B5EF4-FFF2-40B4-BE49-F238E27FC236}">
                <a16:creationId xmlns:a16="http://schemas.microsoft.com/office/drawing/2014/main" id="{60F43318-2182-1CD4-9726-499CB69A803D}"/>
              </a:ext>
            </a:extLst>
          </p:cNvPr>
          <p:cNvCxnSpPr>
            <a:cxnSpLocks/>
            <a:endCxn id="2" idx="1"/>
          </p:cNvCxnSpPr>
          <p:nvPr/>
        </p:nvCxnSpPr>
        <p:spPr>
          <a:xfrm>
            <a:off x="5736536" y="2775569"/>
            <a:ext cx="491648" cy="1412155"/>
          </a:xfrm>
          <a:prstGeom prst="bentConnector3">
            <a:avLst/>
          </a:prstGeom>
          <a:ln w="25400">
            <a:solidFill>
              <a:schemeClr val="accent1"/>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接點: 弧形 13">
            <a:extLst>
              <a:ext uri="{FF2B5EF4-FFF2-40B4-BE49-F238E27FC236}">
                <a16:creationId xmlns:a16="http://schemas.microsoft.com/office/drawing/2014/main" id="{8853950E-29C7-78C3-D378-6D0928B43713}"/>
              </a:ext>
            </a:extLst>
          </p:cNvPr>
          <p:cNvCxnSpPr>
            <a:cxnSpLocks/>
            <a:stCxn id="20" idx="2"/>
            <a:endCxn id="3" idx="0"/>
          </p:cNvCxnSpPr>
          <p:nvPr/>
        </p:nvCxnSpPr>
        <p:spPr>
          <a:xfrm rot="5400000">
            <a:off x="7694893" y="3664717"/>
            <a:ext cx="618656" cy="206055"/>
          </a:xfrm>
          <a:prstGeom prst="curvedConnector3">
            <a:avLst>
              <a:gd name="adj1" fmla="val 50000"/>
            </a:avLst>
          </a:prstGeom>
          <a:ln>
            <a:solidFill>
              <a:schemeClr val="accent2">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5" name="接點: 弧形 14">
            <a:extLst>
              <a:ext uri="{FF2B5EF4-FFF2-40B4-BE49-F238E27FC236}">
                <a16:creationId xmlns:a16="http://schemas.microsoft.com/office/drawing/2014/main" id="{5710DACF-22E1-1B21-E4BE-C20EB2931F82}"/>
              </a:ext>
            </a:extLst>
          </p:cNvPr>
          <p:cNvCxnSpPr>
            <a:cxnSpLocks/>
            <a:stCxn id="20" idx="2"/>
            <a:endCxn id="2" idx="0"/>
          </p:cNvCxnSpPr>
          <p:nvPr/>
        </p:nvCxnSpPr>
        <p:spPr>
          <a:xfrm rot="5400000">
            <a:off x="7138296" y="3108120"/>
            <a:ext cx="618656" cy="1319249"/>
          </a:xfrm>
          <a:prstGeom prst="curvedConnector3">
            <a:avLst>
              <a:gd name="adj1" fmla="val 50000"/>
            </a:avLst>
          </a:prstGeom>
          <a:ln>
            <a:solidFill>
              <a:schemeClr val="accent2">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6" name="標題 1">
            <a:extLst>
              <a:ext uri="{FF2B5EF4-FFF2-40B4-BE49-F238E27FC236}">
                <a16:creationId xmlns:a16="http://schemas.microsoft.com/office/drawing/2014/main" id="{06562D03-BD19-56DC-1D5F-F830948D13D5}"/>
              </a:ext>
            </a:extLst>
          </p:cNvPr>
          <p:cNvSpPr txBox="1">
            <a:spLocks/>
          </p:cNvSpPr>
          <p:nvPr/>
        </p:nvSpPr>
        <p:spPr>
          <a:xfrm>
            <a:off x="7059781" y="3861048"/>
            <a:ext cx="368691" cy="153888"/>
          </a:xfrm>
          <a:prstGeom prst="rect">
            <a:avLst/>
          </a:prstGeom>
        </p:spPr>
        <p:txBody>
          <a:bodyPr wrap="none" lIns="0" tIns="0" rIns="0" bIns="0" anchor="ctr" anchorCtr="1">
            <a:spAutoFit/>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1000" b="1" dirty="0">
                <a:solidFill>
                  <a:srgbClr val="FF0000"/>
                </a:solidFill>
                <a:latin typeface="Noto Sans HK" panose="020B0200000000000000" pitchFamily="34" charset="-120"/>
                <a:ea typeface="Noto Sans HK" panose="020B0200000000000000" pitchFamily="34" charset="-120"/>
                <a:cs typeface="Arial" panose="020B0604020202020204" pitchFamily="34" charset="0"/>
              </a:rPr>
              <a:t>x 0.08</a:t>
            </a:r>
          </a:p>
        </p:txBody>
      </p:sp>
      <p:sp>
        <p:nvSpPr>
          <p:cNvPr id="17" name="標題 1">
            <a:extLst>
              <a:ext uri="{FF2B5EF4-FFF2-40B4-BE49-F238E27FC236}">
                <a16:creationId xmlns:a16="http://schemas.microsoft.com/office/drawing/2014/main" id="{0C266A20-0E19-B9A0-E2FE-846970EAD969}"/>
              </a:ext>
            </a:extLst>
          </p:cNvPr>
          <p:cNvSpPr txBox="1">
            <a:spLocks/>
          </p:cNvSpPr>
          <p:nvPr/>
        </p:nvSpPr>
        <p:spPr>
          <a:xfrm>
            <a:off x="7947725" y="3861048"/>
            <a:ext cx="368691" cy="153888"/>
          </a:xfrm>
          <a:prstGeom prst="rect">
            <a:avLst/>
          </a:prstGeom>
        </p:spPr>
        <p:txBody>
          <a:bodyPr wrap="none" lIns="0" tIns="0" rIns="0" bIns="0" anchor="ctr" anchorCtr="1">
            <a:spAutoFit/>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1000" b="1" dirty="0">
                <a:solidFill>
                  <a:srgbClr val="FF0000"/>
                </a:solidFill>
                <a:latin typeface="Noto Sans HK" panose="020B0200000000000000" pitchFamily="34" charset="-120"/>
                <a:ea typeface="Noto Sans HK" panose="020B0200000000000000" pitchFamily="34" charset="-120"/>
                <a:cs typeface="Arial" panose="020B0604020202020204" pitchFamily="34" charset="0"/>
              </a:rPr>
              <a:t>x 0.92</a:t>
            </a:r>
          </a:p>
        </p:txBody>
      </p:sp>
      <p:sp>
        <p:nvSpPr>
          <p:cNvPr id="18" name="文字方塊 17">
            <a:extLst>
              <a:ext uri="{FF2B5EF4-FFF2-40B4-BE49-F238E27FC236}">
                <a16:creationId xmlns:a16="http://schemas.microsoft.com/office/drawing/2014/main" id="{A0C37EF4-FA43-87A1-4753-71E61251FEE4}"/>
              </a:ext>
            </a:extLst>
          </p:cNvPr>
          <p:cNvSpPr txBox="1"/>
          <p:nvPr/>
        </p:nvSpPr>
        <p:spPr>
          <a:xfrm>
            <a:off x="6911151" y="2852936"/>
            <a:ext cx="364202" cy="307777"/>
          </a:xfrm>
          <a:prstGeom prst="rect">
            <a:avLst/>
          </a:prstGeom>
          <a:noFill/>
        </p:spPr>
        <p:txBody>
          <a:bodyPr wrap="none" lIns="0" tIns="0" rIns="0" bIns="0" anchor="ctr" anchorCtr="1">
            <a:noAutofit/>
          </a:bodyPr>
          <a:lstStyle/>
          <a:p>
            <a:pPr algn="ct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dirty="0"/>
          </a:p>
        </p:txBody>
      </p:sp>
      <p:sp>
        <p:nvSpPr>
          <p:cNvPr id="19" name="文字方塊 18">
            <a:extLst>
              <a:ext uri="{FF2B5EF4-FFF2-40B4-BE49-F238E27FC236}">
                <a16:creationId xmlns:a16="http://schemas.microsoft.com/office/drawing/2014/main" id="{27C4484E-373A-8FDF-9B40-2DC53B0A7E4E}"/>
              </a:ext>
            </a:extLst>
          </p:cNvPr>
          <p:cNvSpPr txBox="1"/>
          <p:nvPr/>
        </p:nvSpPr>
        <p:spPr>
          <a:xfrm>
            <a:off x="7559223" y="2910218"/>
            <a:ext cx="364202" cy="230750"/>
          </a:xfrm>
          <a:prstGeom prst="rect">
            <a:avLst/>
          </a:prstGeom>
          <a:noFill/>
        </p:spPr>
        <p:txBody>
          <a:bodyPr wrap="none" lIns="0" tIns="0" rIns="0" bIns="0" anchor="ctr" anchorCtr="1">
            <a:noAutofit/>
          </a:bodyPr>
          <a:lstStyle/>
          <a:p>
            <a:pPr algn="ct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dirty="0"/>
          </a:p>
        </p:txBody>
      </p:sp>
      <p:sp>
        <p:nvSpPr>
          <p:cNvPr id="20" name="文字方塊 19">
            <a:extLst>
              <a:ext uri="{FF2B5EF4-FFF2-40B4-BE49-F238E27FC236}">
                <a16:creationId xmlns:a16="http://schemas.microsoft.com/office/drawing/2014/main" id="{60CAF8F3-CCE3-B3DE-3877-42647427EB85}"/>
              </a:ext>
            </a:extLst>
          </p:cNvPr>
          <p:cNvSpPr txBox="1"/>
          <p:nvPr/>
        </p:nvSpPr>
        <p:spPr>
          <a:xfrm>
            <a:off x="7970088" y="3275536"/>
            <a:ext cx="274320" cy="182880"/>
          </a:xfrm>
          <a:prstGeom prst="rect">
            <a:avLst/>
          </a:prstGeom>
          <a:noFill/>
        </p:spPr>
        <p:txBody>
          <a:bodyPr wrap="none" lIns="0" tIns="0" rIns="0" bIns="0" anchor="ctr" anchorCtr="1">
            <a:noAutofit/>
          </a:bodyPr>
          <a:lstStyle/>
          <a:p>
            <a:pPr algn="ctr">
              <a:lnSpc>
                <a:spcPts val="1200"/>
              </a:lnSpc>
            </a:pPr>
            <a:r>
              <a:rPr lang="en-US" altLang="zh-TW" sz="1000" dirty="0">
                <a:ea typeface="微軟正黑體" panose="020B0604030504040204" pitchFamily="34" charset="-120"/>
              </a:rPr>
              <a:t>Nx16</a:t>
            </a:r>
          </a:p>
        </p:txBody>
      </p:sp>
      <p:sp>
        <p:nvSpPr>
          <p:cNvPr id="21" name="文字方塊 20">
            <a:extLst>
              <a:ext uri="{FF2B5EF4-FFF2-40B4-BE49-F238E27FC236}">
                <a16:creationId xmlns:a16="http://schemas.microsoft.com/office/drawing/2014/main" id="{99CEEB46-479A-2598-ADE5-FED8D570B687}"/>
              </a:ext>
            </a:extLst>
          </p:cNvPr>
          <p:cNvSpPr txBox="1"/>
          <p:nvPr/>
        </p:nvSpPr>
        <p:spPr>
          <a:xfrm>
            <a:off x="6713001" y="3275536"/>
            <a:ext cx="274320" cy="182880"/>
          </a:xfrm>
          <a:prstGeom prst="rect">
            <a:avLst/>
          </a:prstGeom>
          <a:noFill/>
        </p:spPr>
        <p:txBody>
          <a:bodyPr wrap="none" lIns="0" tIns="0" rIns="0" bIns="0" anchor="ctr" anchorCtr="1">
            <a:noAutofit/>
          </a:bodyPr>
          <a:lstStyle/>
          <a:p>
            <a:pPr algn="ctr">
              <a:lnSpc>
                <a:spcPts val="1200"/>
              </a:lnSpc>
            </a:pPr>
            <a:r>
              <a:rPr lang="en-US" altLang="zh-TW" sz="1000" dirty="0">
                <a:ea typeface="微軟正黑體" panose="020B0604030504040204" pitchFamily="34" charset="-120"/>
              </a:rPr>
              <a:t>dx16</a:t>
            </a:r>
          </a:p>
        </p:txBody>
      </p:sp>
      <p:sp>
        <p:nvSpPr>
          <p:cNvPr id="22" name="文字方塊 21">
            <a:extLst>
              <a:ext uri="{FF2B5EF4-FFF2-40B4-BE49-F238E27FC236}">
                <a16:creationId xmlns:a16="http://schemas.microsoft.com/office/drawing/2014/main" id="{424D3889-6497-A3C9-E904-6EBA0EB3570F}"/>
              </a:ext>
            </a:extLst>
          </p:cNvPr>
          <p:cNvSpPr txBox="1"/>
          <p:nvPr/>
        </p:nvSpPr>
        <p:spPr>
          <a:xfrm>
            <a:off x="6280769" y="3275536"/>
            <a:ext cx="274320" cy="182880"/>
          </a:xfrm>
          <a:prstGeom prst="rect">
            <a:avLst/>
          </a:prstGeom>
          <a:noFill/>
        </p:spPr>
        <p:txBody>
          <a:bodyPr wrap="none" lIns="0" tIns="0" rIns="0" bIns="0" anchor="ctr" anchorCtr="1">
            <a:noAutofit/>
          </a:bodyPr>
          <a:lstStyle/>
          <a:p>
            <a:pPr algn="ctr">
              <a:lnSpc>
                <a:spcPts val="1200"/>
              </a:lnSpc>
            </a:pPr>
            <a:r>
              <a:rPr lang="en-US" altLang="zh-TW" sz="1000" dirty="0">
                <a:ea typeface="微軟正黑體" panose="020B0604030504040204" pitchFamily="34" charset="-120"/>
              </a:rPr>
              <a:t>Nxd</a:t>
            </a:r>
          </a:p>
        </p:txBody>
      </p:sp>
      <p:sp>
        <p:nvSpPr>
          <p:cNvPr id="23" name="文字方塊 22">
            <a:extLst>
              <a:ext uri="{FF2B5EF4-FFF2-40B4-BE49-F238E27FC236}">
                <a16:creationId xmlns:a16="http://schemas.microsoft.com/office/drawing/2014/main" id="{FC4F69D0-FA4F-C08C-F949-8F8E40C8E9C4}"/>
              </a:ext>
            </a:extLst>
          </p:cNvPr>
          <p:cNvSpPr txBox="1"/>
          <p:nvPr/>
        </p:nvSpPr>
        <p:spPr>
          <a:xfrm>
            <a:off x="6906364" y="2804457"/>
            <a:ext cx="382683" cy="155189"/>
          </a:xfrm>
          <a:prstGeom prst="rect">
            <a:avLst/>
          </a:prstGeom>
          <a:noFill/>
        </p:spPr>
        <p:txBody>
          <a:bodyPr wrap="none" lIns="0" tIns="0" rIns="0" bIns="0" rtlCol="0" anchor="ctr" anchorCtr="1">
            <a:noAutofit/>
          </a:bodyPr>
          <a:lstStyle/>
          <a:p>
            <a:pPr algn="ctr"/>
            <a:r>
              <a:rPr lang="en-US" altLang="zh-TW" sz="1000" dirty="0">
                <a:sym typeface="Wingdings" panose="05000000000000000000" pitchFamily="2" charset="2"/>
              </a:rPr>
              <a:t>Top 2</a:t>
            </a:r>
            <a:endParaRPr lang="zh-TW" altLang="en-US" sz="1000" dirty="0"/>
          </a:p>
        </p:txBody>
      </p:sp>
      <p:sp>
        <p:nvSpPr>
          <p:cNvPr id="24" name="矩形 23">
            <a:extLst>
              <a:ext uri="{FF2B5EF4-FFF2-40B4-BE49-F238E27FC236}">
                <a16:creationId xmlns:a16="http://schemas.microsoft.com/office/drawing/2014/main" id="{723B206B-48AD-603F-CBBA-C1500D93B4EE}"/>
              </a:ext>
            </a:extLst>
          </p:cNvPr>
          <p:cNvSpPr/>
          <p:nvPr/>
        </p:nvSpPr>
        <p:spPr>
          <a:xfrm>
            <a:off x="6732240" y="2822999"/>
            <a:ext cx="135693" cy="317969"/>
          </a:xfrm>
          <a:prstGeom prst="rect">
            <a:avLst/>
          </a:prstGeom>
          <a:solidFill>
            <a:schemeClr val="bg1"/>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b="1" dirty="0">
                <a:solidFill>
                  <a:schemeClr val="tx1"/>
                </a:solidFill>
                <a:ea typeface="微軟正黑體" panose="020B0604030504040204" pitchFamily="34" charset="-120"/>
              </a:rPr>
              <a:t>G</a:t>
            </a:r>
            <a:endParaRPr lang="en-US" altLang="zh-TW" sz="1200" b="1" baseline="-25000" dirty="0">
              <a:solidFill>
                <a:schemeClr val="tx1"/>
              </a:solidFill>
              <a:ea typeface="微軟正黑體" panose="020B0604030504040204" pitchFamily="34" charset="-120"/>
            </a:endParaRPr>
          </a:p>
        </p:txBody>
      </p:sp>
      <p:sp>
        <p:nvSpPr>
          <p:cNvPr id="25" name="矩形 24">
            <a:extLst>
              <a:ext uri="{FF2B5EF4-FFF2-40B4-BE49-F238E27FC236}">
                <a16:creationId xmlns:a16="http://schemas.microsoft.com/office/drawing/2014/main" id="{E0EAB839-282D-1C77-20C5-298F58967F50}"/>
              </a:ext>
            </a:extLst>
          </p:cNvPr>
          <p:cNvSpPr/>
          <p:nvPr/>
        </p:nvSpPr>
        <p:spPr>
          <a:xfrm>
            <a:off x="6525756" y="1975850"/>
            <a:ext cx="2529877" cy="176939"/>
          </a:xfrm>
          <a:prstGeom prst="rect">
            <a:avLst/>
          </a:prstGeom>
          <a:solidFill>
            <a:schemeClr val="accent2">
              <a:lumMod val="20000"/>
              <a:lumOff val="80000"/>
              <a:alpha val="20000"/>
            </a:schemeClr>
          </a:solidFill>
          <a:ln w="19050">
            <a:solidFill>
              <a:srgbClr val="FF0000"/>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200"/>
              </a:lnSpc>
            </a:pPr>
            <a:endParaRPr lang="en-US" altLang="zh-TW" sz="1000" dirty="0">
              <a:solidFill>
                <a:srgbClr val="FF0000"/>
              </a:solidFill>
              <a:ea typeface="微軟正黑體" panose="020B0604030504040204" pitchFamily="34" charset="-120"/>
            </a:endParaRPr>
          </a:p>
        </p:txBody>
      </p:sp>
      <p:sp>
        <p:nvSpPr>
          <p:cNvPr id="26" name="矩形 25">
            <a:extLst>
              <a:ext uri="{FF2B5EF4-FFF2-40B4-BE49-F238E27FC236}">
                <a16:creationId xmlns:a16="http://schemas.microsoft.com/office/drawing/2014/main" id="{60FA643A-0D8E-DD24-E66B-17638C4E908A}"/>
              </a:ext>
            </a:extLst>
          </p:cNvPr>
          <p:cNvSpPr/>
          <p:nvPr/>
        </p:nvSpPr>
        <p:spPr>
          <a:xfrm>
            <a:off x="6227887" y="4373204"/>
            <a:ext cx="2058821" cy="221302"/>
          </a:xfrm>
          <a:prstGeom prst="rect">
            <a:avLst/>
          </a:prstGeom>
          <a:solidFill>
            <a:schemeClr val="accent1">
              <a:lumMod val="20000"/>
              <a:lumOff val="80000"/>
              <a:alpha val="20000"/>
            </a:schemeClr>
          </a:solidFill>
          <a:ln w="19050">
            <a:solidFill>
              <a:schemeClr val="accent1">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marL="0" marR="0" lvl="1" algn="l" defTabSz="1425575" rtl="0" eaLnBrk="1" fontAlgn="auto" latinLnBrk="0" hangingPunct="1">
              <a:lnSpc>
                <a:spcPts val="16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chemeClr val="accent1">
                    <a:lumMod val="75000"/>
                  </a:schemeClr>
                </a:solidFill>
                <a:effectLst/>
                <a:uLnTx/>
                <a:uFillTx/>
                <a:latin typeface="Calibri"/>
                <a:ea typeface="微軟正黑體" panose="020B0604030504040204" pitchFamily="34" charset="-120"/>
                <a:cs typeface="+mn-cs"/>
              </a:rPr>
              <a:t>… other Experts</a:t>
            </a:r>
          </a:p>
        </p:txBody>
      </p:sp>
      <p:sp>
        <p:nvSpPr>
          <p:cNvPr id="28" name="矩形 27">
            <a:extLst>
              <a:ext uri="{FF2B5EF4-FFF2-40B4-BE49-F238E27FC236}">
                <a16:creationId xmlns:a16="http://schemas.microsoft.com/office/drawing/2014/main" id="{8D681E31-3A79-48B0-2633-DB51B92F15F8}"/>
              </a:ext>
            </a:extLst>
          </p:cNvPr>
          <p:cNvSpPr/>
          <p:nvPr/>
        </p:nvSpPr>
        <p:spPr>
          <a:xfrm>
            <a:off x="2160291" y="3095083"/>
            <a:ext cx="2083794" cy="1396319"/>
          </a:xfrm>
          <a:prstGeom prst="rect">
            <a:avLst/>
          </a:prstGeom>
          <a:solidFill>
            <a:schemeClr val="accent1">
              <a:lumMod val="20000"/>
              <a:lumOff val="80000"/>
              <a:alpha val="20000"/>
            </a:schemeClr>
          </a:solidFill>
          <a:ln w="19050">
            <a:solidFill>
              <a:schemeClr val="accent1">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91440" tIns="91440" rIns="0" bIns="0" rtlCol="0" anchor="t" anchorCtr="0">
            <a:noAutofit/>
          </a:bodyPr>
          <a:lstStyle/>
          <a:p>
            <a:pPr marL="0" marR="0" lvl="1" algn="l" defTabSz="1425575" rtl="0" eaLnBrk="1" fontAlgn="auto" latinLnBrk="0" hangingPunct="1">
              <a:lnSpc>
                <a:spcPts val="16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srgbClr val="1F497D"/>
                </a:solidFill>
                <a:effectLst/>
                <a:uLnTx/>
                <a:uFillTx/>
                <a:latin typeface="Calibri"/>
                <a:ea typeface="微軟正黑體" panose="020B0604030504040204" pitchFamily="34" charset="-120"/>
                <a:cs typeface="+mn-cs"/>
              </a:rPr>
              <a:t>MoE Router(X)</a:t>
            </a:r>
          </a:p>
        </p:txBody>
      </p:sp>
      <p:sp>
        <p:nvSpPr>
          <p:cNvPr id="30" name="文字方塊 29">
            <a:extLst>
              <a:ext uri="{FF2B5EF4-FFF2-40B4-BE49-F238E27FC236}">
                <a16:creationId xmlns:a16="http://schemas.microsoft.com/office/drawing/2014/main" id="{1A888E01-DD7E-A6C8-8231-EBAABF1F15C4}"/>
              </a:ext>
            </a:extLst>
          </p:cNvPr>
          <p:cNvSpPr txBox="1"/>
          <p:nvPr/>
        </p:nvSpPr>
        <p:spPr>
          <a:xfrm>
            <a:off x="2476661" y="5757472"/>
            <a:ext cx="123404" cy="289683"/>
          </a:xfrm>
          <a:prstGeom prst="rect">
            <a:avLst/>
          </a:prstGeom>
          <a:noFill/>
        </p:spPr>
        <p:txBody>
          <a:bodyPr wrap="none" lIns="0" tIns="0" rIns="0" bIns="0" rtlCol="0" anchor="ctr" anchorCtr="1">
            <a:noAutofit/>
          </a:bodyPr>
          <a:lstStyle/>
          <a:p>
            <a:pPr algn="ctr"/>
            <a:r>
              <a:rPr lang="en-US" altLang="zh-TW" sz="1200" dirty="0">
                <a:latin typeface="Noto Sans HK" panose="020B0200000000000000" pitchFamily="34" charset="-120"/>
                <a:ea typeface="Noto Sans HK" panose="020B0200000000000000" pitchFamily="34" charset="-120"/>
              </a:rPr>
              <a:t>*</a:t>
            </a:r>
            <a:endParaRPr lang="zh-TW" altLang="en-US" sz="1200" dirty="0">
              <a:latin typeface="Noto Sans HK" panose="020B0200000000000000" pitchFamily="34" charset="-120"/>
              <a:ea typeface="Noto Sans HK" panose="020B0200000000000000" pitchFamily="34" charset="-120"/>
            </a:endParaRPr>
          </a:p>
        </p:txBody>
      </p:sp>
      <p:sp>
        <p:nvSpPr>
          <p:cNvPr id="32" name="矩形 31">
            <a:extLst>
              <a:ext uri="{FF2B5EF4-FFF2-40B4-BE49-F238E27FC236}">
                <a16:creationId xmlns:a16="http://schemas.microsoft.com/office/drawing/2014/main" id="{E1B7B873-7BC8-7C09-C2E3-FD22BB5D6199}"/>
              </a:ext>
            </a:extLst>
          </p:cNvPr>
          <p:cNvSpPr/>
          <p:nvPr/>
        </p:nvSpPr>
        <p:spPr>
          <a:xfrm>
            <a:off x="4139952" y="5781516"/>
            <a:ext cx="237234" cy="104777"/>
          </a:xfrm>
          <a:prstGeom prst="rect">
            <a:avLst/>
          </a:prstGeom>
          <a:solidFill>
            <a:schemeClr val="bg1"/>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200"/>
              </a:lnSpc>
            </a:pPr>
            <a:r>
              <a:rPr lang="en-US" altLang="zh-TW" sz="1200" b="1" dirty="0">
                <a:solidFill>
                  <a:schemeClr val="tx1"/>
                </a:solidFill>
                <a:ea typeface="微軟正黑體" panose="020B0604030504040204" pitchFamily="34" charset="-120"/>
              </a:rPr>
              <a:t>p</a:t>
            </a:r>
            <a:r>
              <a:rPr lang="en-US" altLang="zh-TW" sz="1200" b="1" baseline="-25000" dirty="0">
                <a:solidFill>
                  <a:schemeClr val="tx1"/>
                </a:solidFill>
                <a:ea typeface="微軟正黑體" panose="020B0604030504040204" pitchFamily="34" charset="-120"/>
              </a:rPr>
              <a:t>6</a:t>
            </a:r>
          </a:p>
        </p:txBody>
      </p:sp>
      <p:sp>
        <p:nvSpPr>
          <p:cNvPr id="36" name="文字方塊 35">
            <a:extLst>
              <a:ext uri="{FF2B5EF4-FFF2-40B4-BE49-F238E27FC236}">
                <a16:creationId xmlns:a16="http://schemas.microsoft.com/office/drawing/2014/main" id="{5A358190-96BD-1746-3803-B26C763BE1EF}"/>
              </a:ext>
            </a:extLst>
          </p:cNvPr>
          <p:cNvSpPr txBox="1"/>
          <p:nvPr/>
        </p:nvSpPr>
        <p:spPr>
          <a:xfrm>
            <a:off x="3289568" y="5910416"/>
            <a:ext cx="274320" cy="182880"/>
          </a:xfrm>
          <a:prstGeom prst="rect">
            <a:avLst/>
          </a:prstGeom>
          <a:noFill/>
        </p:spPr>
        <p:txBody>
          <a:bodyPr wrap="none" lIns="0" tIns="0" rIns="0" bIns="0" anchor="ctr" anchorCtr="1">
            <a:noAutofit/>
          </a:bodyPr>
          <a:lstStyle/>
          <a:p>
            <a:pPr algn="ctr">
              <a:lnSpc>
                <a:spcPts val="1200"/>
              </a:lnSpc>
            </a:pPr>
            <a:r>
              <a:rPr lang="en-US" altLang="zh-TW" sz="1000" dirty="0">
                <a:ea typeface="微軟正黑體" panose="020B0604030504040204" pitchFamily="34" charset="-120"/>
              </a:rPr>
              <a:t>1x16</a:t>
            </a:r>
          </a:p>
        </p:txBody>
      </p:sp>
      <p:sp>
        <p:nvSpPr>
          <p:cNvPr id="38" name="矩形 37">
            <a:extLst>
              <a:ext uri="{FF2B5EF4-FFF2-40B4-BE49-F238E27FC236}">
                <a16:creationId xmlns:a16="http://schemas.microsoft.com/office/drawing/2014/main" id="{297D67DD-DCF9-BEA0-4C40-CA834955B86E}"/>
              </a:ext>
            </a:extLst>
          </p:cNvPr>
          <p:cNvSpPr/>
          <p:nvPr/>
        </p:nvSpPr>
        <p:spPr>
          <a:xfrm>
            <a:off x="5146979" y="5517232"/>
            <a:ext cx="141222" cy="501453"/>
          </a:xfrm>
          <a:prstGeom prst="rect">
            <a:avLst/>
          </a:prstGeom>
          <a:solidFill>
            <a:schemeClr val="bg1"/>
          </a:solid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b="1" dirty="0">
                <a:solidFill>
                  <a:schemeClr val="tx1"/>
                </a:solidFill>
                <a:ea typeface="微軟正黑體" panose="020B0604030504040204" pitchFamily="34" charset="-120"/>
              </a:rPr>
              <a:t>P</a:t>
            </a:r>
            <a:r>
              <a:rPr lang="en-US" altLang="zh-TW" sz="1200" b="1" baseline="-25000" dirty="0">
                <a:solidFill>
                  <a:schemeClr val="tx1"/>
                </a:solidFill>
                <a:ea typeface="微軟正黑體" panose="020B0604030504040204" pitchFamily="34" charset="-120"/>
              </a:rPr>
              <a:t>2</a:t>
            </a:r>
          </a:p>
        </p:txBody>
      </p:sp>
      <p:sp>
        <p:nvSpPr>
          <p:cNvPr id="40" name="文字方塊 39">
            <a:extLst>
              <a:ext uri="{FF2B5EF4-FFF2-40B4-BE49-F238E27FC236}">
                <a16:creationId xmlns:a16="http://schemas.microsoft.com/office/drawing/2014/main" id="{90D8FB53-3346-EE84-CDD8-2102CB97751D}"/>
              </a:ext>
            </a:extLst>
          </p:cNvPr>
          <p:cNvSpPr txBox="1"/>
          <p:nvPr/>
        </p:nvSpPr>
        <p:spPr>
          <a:xfrm>
            <a:off x="3618690" y="5612769"/>
            <a:ext cx="502689" cy="155189"/>
          </a:xfrm>
          <a:prstGeom prst="rect">
            <a:avLst/>
          </a:prstGeom>
          <a:noFill/>
        </p:spPr>
        <p:txBody>
          <a:bodyPr wrap="none" lIns="0" tIns="0" rIns="0" bIns="0" rtlCol="0" anchor="ctr" anchorCtr="1">
            <a:noAutofit/>
          </a:bodyPr>
          <a:lstStyle/>
          <a:p>
            <a:pPr algn="ctr"/>
            <a:r>
              <a:rPr lang="en-US" altLang="zh-TW" sz="1000" dirty="0">
                <a:sym typeface="Wingdings" panose="05000000000000000000" pitchFamily="2" charset="2"/>
              </a:rPr>
              <a:t>SoftMax</a:t>
            </a:r>
            <a:endParaRPr lang="zh-TW" altLang="en-US" sz="1000" dirty="0"/>
          </a:p>
        </p:txBody>
      </p:sp>
      <p:sp>
        <p:nvSpPr>
          <p:cNvPr id="42" name="文字方塊 41">
            <a:extLst>
              <a:ext uri="{FF2B5EF4-FFF2-40B4-BE49-F238E27FC236}">
                <a16:creationId xmlns:a16="http://schemas.microsoft.com/office/drawing/2014/main" id="{A8E2AD79-66FB-7241-A632-4BF58E4069B3}"/>
              </a:ext>
            </a:extLst>
          </p:cNvPr>
          <p:cNvSpPr txBox="1"/>
          <p:nvPr/>
        </p:nvSpPr>
        <p:spPr>
          <a:xfrm>
            <a:off x="2895777" y="5690024"/>
            <a:ext cx="364202" cy="307777"/>
          </a:xfrm>
          <a:prstGeom prst="rect">
            <a:avLst/>
          </a:prstGeom>
          <a:noFill/>
        </p:spPr>
        <p:txBody>
          <a:bodyPr wrap="none" lIns="0" tIns="0" rIns="0" bIns="0" anchor="ctr" anchorCtr="1">
            <a:noAutofit/>
          </a:bodyPr>
          <a:lstStyle/>
          <a:p>
            <a:pPr algn="ct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dirty="0"/>
          </a:p>
        </p:txBody>
      </p:sp>
      <p:sp>
        <p:nvSpPr>
          <p:cNvPr id="44" name="文字方塊 43">
            <a:extLst>
              <a:ext uri="{FF2B5EF4-FFF2-40B4-BE49-F238E27FC236}">
                <a16:creationId xmlns:a16="http://schemas.microsoft.com/office/drawing/2014/main" id="{D72E37A8-84E7-DA88-23B7-7C4800E673E3}"/>
              </a:ext>
            </a:extLst>
          </p:cNvPr>
          <p:cNvSpPr txBox="1"/>
          <p:nvPr/>
        </p:nvSpPr>
        <p:spPr>
          <a:xfrm>
            <a:off x="3696060" y="5718530"/>
            <a:ext cx="364202" cy="230750"/>
          </a:xfrm>
          <a:prstGeom prst="rect">
            <a:avLst/>
          </a:prstGeom>
          <a:noFill/>
        </p:spPr>
        <p:txBody>
          <a:bodyPr wrap="none" lIns="0" tIns="0" rIns="0" bIns="0" anchor="ctr" anchorCtr="1">
            <a:noAutofit/>
          </a:bodyPr>
          <a:lstStyle/>
          <a:p>
            <a:pPr algn="ct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dirty="0"/>
          </a:p>
        </p:txBody>
      </p:sp>
      <p:sp>
        <p:nvSpPr>
          <p:cNvPr id="46" name="文字方塊 45">
            <a:extLst>
              <a:ext uri="{FF2B5EF4-FFF2-40B4-BE49-F238E27FC236}">
                <a16:creationId xmlns:a16="http://schemas.microsoft.com/office/drawing/2014/main" id="{F021E952-3992-6F26-26E6-87AF63CCDDDC}"/>
              </a:ext>
            </a:extLst>
          </p:cNvPr>
          <p:cNvSpPr txBox="1"/>
          <p:nvPr/>
        </p:nvSpPr>
        <p:spPr>
          <a:xfrm>
            <a:off x="5085889" y="6083848"/>
            <a:ext cx="274320" cy="182880"/>
          </a:xfrm>
          <a:prstGeom prst="rect">
            <a:avLst/>
          </a:prstGeom>
          <a:noFill/>
        </p:spPr>
        <p:txBody>
          <a:bodyPr wrap="none" lIns="0" tIns="0" rIns="0" bIns="0" anchor="ctr" anchorCtr="1">
            <a:noAutofit/>
          </a:bodyPr>
          <a:lstStyle/>
          <a:p>
            <a:pPr algn="ctr">
              <a:lnSpc>
                <a:spcPts val="1200"/>
              </a:lnSpc>
            </a:pPr>
            <a:r>
              <a:rPr lang="en-US" altLang="zh-TW" sz="1000" dirty="0">
                <a:ea typeface="微軟正黑體" panose="020B0604030504040204" pitchFamily="34" charset="-120"/>
              </a:rPr>
              <a:t>Nx16</a:t>
            </a:r>
          </a:p>
        </p:txBody>
      </p:sp>
      <p:sp>
        <p:nvSpPr>
          <p:cNvPr id="48" name="文字方塊 47">
            <a:extLst>
              <a:ext uri="{FF2B5EF4-FFF2-40B4-BE49-F238E27FC236}">
                <a16:creationId xmlns:a16="http://schemas.microsoft.com/office/drawing/2014/main" id="{3744CD2F-0C22-6181-013E-4B5BB6DE0153}"/>
              </a:ext>
            </a:extLst>
          </p:cNvPr>
          <p:cNvSpPr txBox="1"/>
          <p:nvPr/>
        </p:nvSpPr>
        <p:spPr>
          <a:xfrm>
            <a:off x="2621457" y="6093578"/>
            <a:ext cx="274320" cy="182880"/>
          </a:xfrm>
          <a:prstGeom prst="rect">
            <a:avLst/>
          </a:prstGeom>
          <a:noFill/>
        </p:spPr>
        <p:txBody>
          <a:bodyPr wrap="none" lIns="0" tIns="0" rIns="0" bIns="0" anchor="ctr" anchorCtr="1">
            <a:noAutofit/>
          </a:bodyPr>
          <a:lstStyle/>
          <a:p>
            <a:pPr algn="ctr">
              <a:lnSpc>
                <a:spcPts val="1200"/>
              </a:lnSpc>
            </a:pPr>
            <a:r>
              <a:rPr lang="en-US" altLang="zh-TW" sz="1000" dirty="0">
                <a:ea typeface="微軟正黑體" panose="020B0604030504040204" pitchFamily="34" charset="-120"/>
              </a:rPr>
              <a:t>dx16</a:t>
            </a:r>
          </a:p>
        </p:txBody>
      </p:sp>
      <p:sp>
        <p:nvSpPr>
          <p:cNvPr id="50" name="文字方塊 49">
            <a:extLst>
              <a:ext uri="{FF2B5EF4-FFF2-40B4-BE49-F238E27FC236}">
                <a16:creationId xmlns:a16="http://schemas.microsoft.com/office/drawing/2014/main" id="{E965FDCB-3A4F-B67B-0CFF-2F6FA8F81773}"/>
              </a:ext>
            </a:extLst>
          </p:cNvPr>
          <p:cNvSpPr txBox="1"/>
          <p:nvPr/>
        </p:nvSpPr>
        <p:spPr>
          <a:xfrm>
            <a:off x="2070980" y="5910698"/>
            <a:ext cx="274320" cy="182880"/>
          </a:xfrm>
          <a:prstGeom prst="rect">
            <a:avLst/>
          </a:prstGeom>
          <a:noFill/>
        </p:spPr>
        <p:txBody>
          <a:bodyPr wrap="none" lIns="0" tIns="0" rIns="0" bIns="0" anchor="ctr" anchorCtr="1">
            <a:noAutofit/>
          </a:bodyPr>
          <a:lstStyle/>
          <a:p>
            <a:pPr algn="ctr">
              <a:lnSpc>
                <a:spcPts val="1200"/>
              </a:lnSpc>
            </a:pPr>
            <a:r>
              <a:rPr lang="en-US" altLang="zh-TW" sz="1000" dirty="0">
                <a:ea typeface="微軟正黑體" panose="020B0604030504040204" pitchFamily="34" charset="-120"/>
              </a:rPr>
              <a:t>1xd</a:t>
            </a:r>
          </a:p>
        </p:txBody>
      </p:sp>
      <p:sp>
        <p:nvSpPr>
          <p:cNvPr id="52" name="文字方塊 51">
            <a:extLst>
              <a:ext uri="{FF2B5EF4-FFF2-40B4-BE49-F238E27FC236}">
                <a16:creationId xmlns:a16="http://schemas.microsoft.com/office/drawing/2014/main" id="{53085541-C475-E98B-10E6-F268F9B380F4}"/>
              </a:ext>
            </a:extLst>
          </p:cNvPr>
          <p:cNvSpPr txBox="1"/>
          <p:nvPr/>
        </p:nvSpPr>
        <p:spPr>
          <a:xfrm>
            <a:off x="2903792" y="5644960"/>
            <a:ext cx="382683" cy="145147"/>
          </a:xfrm>
          <a:prstGeom prst="rect">
            <a:avLst/>
          </a:prstGeom>
          <a:noFill/>
        </p:spPr>
        <p:txBody>
          <a:bodyPr wrap="none" lIns="0" tIns="0" rIns="0" bIns="0" rtlCol="0" anchor="ctr" anchorCtr="1">
            <a:noAutofit/>
          </a:bodyPr>
          <a:lstStyle/>
          <a:p>
            <a:pPr algn="ctr"/>
            <a:r>
              <a:rPr lang="en-US" altLang="zh-TW" sz="1000" dirty="0">
                <a:sym typeface="Wingdings" panose="05000000000000000000" pitchFamily="2" charset="2"/>
              </a:rPr>
              <a:t>Top 2</a:t>
            </a:r>
            <a:endParaRPr lang="zh-TW" altLang="en-US" sz="1000" dirty="0"/>
          </a:p>
        </p:txBody>
      </p:sp>
      <p:sp>
        <p:nvSpPr>
          <p:cNvPr id="54" name="矩形 53">
            <a:extLst>
              <a:ext uri="{FF2B5EF4-FFF2-40B4-BE49-F238E27FC236}">
                <a16:creationId xmlns:a16="http://schemas.microsoft.com/office/drawing/2014/main" id="{11238E18-5895-CBBF-2FBB-758622E96283}"/>
              </a:ext>
            </a:extLst>
          </p:cNvPr>
          <p:cNvSpPr/>
          <p:nvPr/>
        </p:nvSpPr>
        <p:spPr>
          <a:xfrm>
            <a:off x="2627783" y="5617141"/>
            <a:ext cx="222611" cy="467344"/>
          </a:xfrm>
          <a:prstGeom prst="rect">
            <a:avLst/>
          </a:prstGeom>
          <a:solidFill>
            <a:schemeClr val="accent6">
              <a:lumMod val="40000"/>
              <a:lumOff val="6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b="1" dirty="0">
                <a:solidFill>
                  <a:schemeClr val="tx1"/>
                </a:solidFill>
                <a:ea typeface="微軟正黑體" panose="020B0604030504040204" pitchFamily="34" charset="-120"/>
              </a:rPr>
              <a:t>G</a:t>
            </a:r>
            <a:endParaRPr lang="en-US" altLang="zh-TW" sz="1200" b="1" baseline="-25000" dirty="0">
              <a:solidFill>
                <a:schemeClr val="tx1"/>
              </a:solidFill>
              <a:ea typeface="微軟正黑體" panose="020B0604030504040204" pitchFamily="34" charset="-120"/>
            </a:endParaRPr>
          </a:p>
        </p:txBody>
      </p:sp>
      <p:sp>
        <p:nvSpPr>
          <p:cNvPr id="34" name="矩形 33">
            <a:extLst>
              <a:ext uri="{FF2B5EF4-FFF2-40B4-BE49-F238E27FC236}">
                <a16:creationId xmlns:a16="http://schemas.microsoft.com/office/drawing/2014/main" id="{F0AF7A70-8CC9-C125-C92A-7461F4875FE6}"/>
              </a:ext>
            </a:extLst>
          </p:cNvPr>
          <p:cNvSpPr/>
          <p:nvPr/>
        </p:nvSpPr>
        <p:spPr>
          <a:xfrm>
            <a:off x="1979712" y="5780347"/>
            <a:ext cx="466030" cy="121967"/>
          </a:xfrm>
          <a:prstGeom prst="rect">
            <a:avLst/>
          </a:prstGeom>
          <a:solidFill>
            <a:schemeClr val="accent2">
              <a:lumMod val="75000"/>
              <a:alpha val="20000"/>
            </a:schemeClr>
          </a:solidFill>
          <a:ln w="25400">
            <a:solidFill>
              <a:schemeClr val="accent2">
                <a:lumMod val="75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600"/>
              </a:lnSpc>
            </a:pPr>
            <a:r>
              <a:rPr lang="en-US" altLang="zh-TW" sz="1200" b="1" dirty="0">
                <a:solidFill>
                  <a:schemeClr val="tx1"/>
                </a:solidFill>
                <a:ea typeface="微軟正黑體" panose="020B0604030504040204" pitchFamily="34" charset="-120"/>
              </a:rPr>
              <a:t>X</a:t>
            </a:r>
          </a:p>
        </p:txBody>
      </p:sp>
      <p:sp>
        <p:nvSpPr>
          <p:cNvPr id="58" name="矩形 57">
            <a:extLst>
              <a:ext uri="{FF2B5EF4-FFF2-40B4-BE49-F238E27FC236}">
                <a16:creationId xmlns:a16="http://schemas.microsoft.com/office/drawing/2014/main" id="{8815CA8D-7E68-95A6-276F-62636D2BC7EE}"/>
              </a:ext>
            </a:extLst>
          </p:cNvPr>
          <p:cNvSpPr/>
          <p:nvPr/>
        </p:nvSpPr>
        <p:spPr>
          <a:xfrm>
            <a:off x="3318052" y="5784269"/>
            <a:ext cx="215174" cy="104777"/>
          </a:xfrm>
          <a:prstGeom prst="rect">
            <a:avLst/>
          </a:prstGeom>
          <a:solidFill>
            <a:schemeClr val="accent6">
              <a:lumMod val="75000"/>
              <a:alpha val="20000"/>
            </a:schemeClr>
          </a:solidFill>
          <a:ln w="38100">
            <a:solidFill>
              <a:schemeClr val="accent2">
                <a:lumMod val="60000"/>
                <a:lumOff val="40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noAutofit/>
          </a:bodyPr>
          <a:lstStyle/>
          <a:p>
            <a:pPr algn="ctr">
              <a:lnSpc>
                <a:spcPts val="1200"/>
              </a:lnSpc>
            </a:pPr>
            <a:r>
              <a:rPr lang="en-US" altLang="zh-TW" sz="1200" b="1" dirty="0">
                <a:solidFill>
                  <a:schemeClr val="tx1"/>
                </a:solidFill>
                <a:ea typeface="微軟正黑體" panose="020B0604030504040204" pitchFamily="34" charset="-120"/>
              </a:rPr>
              <a:t>S</a:t>
            </a:r>
          </a:p>
        </p:txBody>
      </p:sp>
      <p:pic>
        <p:nvPicPr>
          <p:cNvPr id="27" name="圖片 26">
            <a:extLst>
              <a:ext uri="{FF2B5EF4-FFF2-40B4-BE49-F238E27FC236}">
                <a16:creationId xmlns:a16="http://schemas.microsoft.com/office/drawing/2014/main" id="{A51DF9BD-7D31-8D66-7F4A-B7645A594777}"/>
              </a:ext>
            </a:extLst>
          </p:cNvPr>
          <p:cNvPicPr>
            <a:picLocks noChangeAspect="1"/>
          </p:cNvPicPr>
          <p:nvPr/>
        </p:nvPicPr>
        <p:blipFill>
          <a:blip r:embed="rId2"/>
          <a:stretch>
            <a:fillRect/>
          </a:stretch>
        </p:blipFill>
        <p:spPr>
          <a:xfrm>
            <a:off x="495743" y="441496"/>
            <a:ext cx="6858000" cy="4263716"/>
          </a:xfrm>
          <a:prstGeom prst="rect">
            <a:avLst/>
          </a:prstGeom>
        </p:spPr>
      </p:pic>
    </p:spTree>
    <p:extLst>
      <p:ext uri="{BB962C8B-B14F-4D97-AF65-F5344CB8AC3E}">
        <p14:creationId xmlns:p14="http://schemas.microsoft.com/office/powerpoint/2010/main" val="18564458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464BD-5194-0315-7A89-E8C884C6AB6A}"/>
            </a:ext>
          </a:extLst>
        </p:cNvPr>
        <p:cNvGrpSpPr/>
        <p:nvPr/>
      </p:nvGrpSpPr>
      <p:grpSpPr>
        <a:xfrm>
          <a:off x="0" y="0"/>
          <a:ext cx="0" cy="0"/>
          <a:chOff x="0" y="0"/>
          <a:chExt cx="0" cy="0"/>
        </a:xfrm>
      </p:grpSpPr>
      <p:sp>
        <p:nvSpPr>
          <p:cNvPr id="6" name="標題 1">
            <a:extLst>
              <a:ext uri="{FF2B5EF4-FFF2-40B4-BE49-F238E27FC236}">
                <a16:creationId xmlns:a16="http://schemas.microsoft.com/office/drawing/2014/main" id="{60940C7C-1A29-271B-CC3C-3E960225E0D0}"/>
              </a:ext>
            </a:extLst>
          </p:cNvPr>
          <p:cNvSpPr txBox="1">
            <a:spLocks/>
          </p:cNvSpPr>
          <p:nvPr/>
        </p:nvSpPr>
        <p:spPr>
          <a:xfrm>
            <a:off x="179512" y="116632"/>
            <a:ext cx="6978340"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DeepSeek-V4 Pro/Flash</a:t>
            </a:r>
            <a:br>
              <a:rPr lang="en-US" altLang="zh-TW" sz="2800" dirty="0">
                <a:latin typeface="Noto Sans HK" panose="020B0200000000000000" pitchFamily="34" charset="-120"/>
                <a:ea typeface="Noto Sans HK" panose="020B0200000000000000" pitchFamily="34" charset="-120"/>
                <a:cs typeface="Aharoni" panose="020F0502020204030204" pitchFamily="2" charset="-79"/>
              </a:rPr>
            </a:b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Parameters is 1.6T.</a:t>
            </a: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sp>
        <p:nvSpPr>
          <p:cNvPr id="8" name="標題 1">
            <a:extLst>
              <a:ext uri="{FF2B5EF4-FFF2-40B4-BE49-F238E27FC236}">
                <a16:creationId xmlns:a16="http://schemas.microsoft.com/office/drawing/2014/main" id="{397E2CE4-D75C-D567-8091-71DAC2642649}"/>
              </a:ext>
            </a:extLst>
          </p:cNvPr>
          <p:cNvSpPr txBox="1">
            <a:spLocks/>
          </p:cNvSpPr>
          <p:nvPr/>
        </p:nvSpPr>
        <p:spPr>
          <a:xfrm>
            <a:off x="5004048" y="116499"/>
            <a:ext cx="4107929" cy="144871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10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CSA = Cross-Attention (Sparse)</a:t>
            </a:r>
          </a:p>
          <a:p>
            <a:r>
              <a:rPr lang="en-US" altLang="zh-TW" sz="10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HCA = Hybrid-Attention (Compressed)</a:t>
            </a:r>
          </a:p>
          <a:p>
            <a:r>
              <a:rPr lang="en-US" altLang="zh-TW" sz="10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mHC = </a:t>
            </a:r>
            <a:r>
              <a:rPr lang="en-US" altLang="zh-TW" sz="1000" dirty="0" err="1">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Mainfold</a:t>
            </a:r>
            <a:r>
              <a:rPr lang="en-US" altLang="zh-TW" sz="10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-Constrained Hyper-Connections</a:t>
            </a:r>
          </a:p>
          <a:p>
            <a:endParaRPr lang="en-US" altLang="zh-TW" sz="10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r>
              <a:rPr lang="en-US" altLang="zh-TW" sz="10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DS </a:t>
            </a:r>
            <a:r>
              <a:rPr lang="en-US" altLang="zh-TW" sz="1000" dirty="0" err="1">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MoE</a:t>
            </a:r>
            <a:endParaRPr lang="en-US" altLang="zh-TW" sz="10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pPr marL="171450" indent="-171450">
              <a:buFontTx/>
              <a:buChar char="-"/>
            </a:pPr>
            <a:r>
              <a:rPr lang="en-US" altLang="zh-TW" sz="10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Fine-Grained Expert Segmentation</a:t>
            </a:r>
          </a:p>
          <a:p>
            <a:pPr marL="171450" indent="-171450">
              <a:buFontTx/>
              <a:buChar char="-"/>
            </a:pPr>
            <a:r>
              <a:rPr lang="en-US" altLang="zh-TW" sz="10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Auxiliary-Loss-Free Load Balancing</a:t>
            </a:r>
          </a:p>
          <a:p>
            <a:pPr marL="171450" indent="-171450">
              <a:buFontTx/>
              <a:buChar char="-"/>
            </a:pPr>
            <a:r>
              <a:rPr lang="en-US" altLang="zh-TW" sz="10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Shared Experts Isolation</a:t>
            </a:r>
          </a:p>
          <a:p>
            <a:pPr marL="171450" indent="-171450">
              <a:buFontTx/>
              <a:buChar char="-"/>
            </a:pPr>
            <a:endParaRPr lang="en-US" altLang="zh-TW" sz="1000" dirty="0">
              <a:latin typeface="Noto Sans HK" panose="020B0200000000000000" pitchFamily="34" charset="-120"/>
              <a:ea typeface="Noto Sans HK" panose="020B0200000000000000" pitchFamily="34" charset="-120"/>
              <a:cs typeface="Arial" panose="020B0604020202020204" pitchFamily="34" charset="0"/>
            </a:endParaRPr>
          </a:p>
        </p:txBody>
      </p:sp>
      <p:pic>
        <p:nvPicPr>
          <p:cNvPr id="3" name="圖片 2">
            <a:extLst>
              <a:ext uri="{FF2B5EF4-FFF2-40B4-BE49-F238E27FC236}">
                <a16:creationId xmlns:a16="http://schemas.microsoft.com/office/drawing/2014/main" id="{CF985EB1-5D4F-5FCC-6DCC-380A04F3F017}"/>
              </a:ext>
            </a:extLst>
          </p:cNvPr>
          <p:cNvPicPr>
            <a:picLocks noChangeAspect="1"/>
          </p:cNvPicPr>
          <p:nvPr/>
        </p:nvPicPr>
        <p:blipFill>
          <a:blip r:embed="rId2"/>
          <a:stretch>
            <a:fillRect/>
          </a:stretch>
        </p:blipFill>
        <p:spPr>
          <a:xfrm>
            <a:off x="2111380" y="943893"/>
            <a:ext cx="2469258" cy="5321829"/>
          </a:xfrm>
          <a:prstGeom prst="rect">
            <a:avLst/>
          </a:prstGeom>
        </p:spPr>
      </p:pic>
      <p:pic>
        <p:nvPicPr>
          <p:cNvPr id="5" name="圖片 4">
            <a:extLst>
              <a:ext uri="{FF2B5EF4-FFF2-40B4-BE49-F238E27FC236}">
                <a16:creationId xmlns:a16="http://schemas.microsoft.com/office/drawing/2014/main" id="{B06F7ADF-4A96-EDBF-862F-863AC4125B88}"/>
              </a:ext>
            </a:extLst>
          </p:cNvPr>
          <p:cNvPicPr>
            <a:picLocks noChangeAspect="1"/>
          </p:cNvPicPr>
          <p:nvPr/>
        </p:nvPicPr>
        <p:blipFill>
          <a:blip r:embed="rId3"/>
          <a:stretch>
            <a:fillRect/>
          </a:stretch>
        </p:blipFill>
        <p:spPr>
          <a:xfrm>
            <a:off x="4864113" y="1916832"/>
            <a:ext cx="3215919" cy="3375953"/>
          </a:xfrm>
          <a:prstGeom prst="rect">
            <a:avLst/>
          </a:prstGeom>
        </p:spPr>
      </p:pic>
    </p:spTree>
    <p:extLst>
      <p:ext uri="{BB962C8B-B14F-4D97-AF65-F5344CB8AC3E}">
        <p14:creationId xmlns:p14="http://schemas.microsoft.com/office/powerpoint/2010/main" val="370877343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FF128-321E-5C30-B370-FCDDA7245B18}"/>
            </a:ext>
          </a:extLst>
        </p:cNvPr>
        <p:cNvGrpSpPr/>
        <p:nvPr/>
      </p:nvGrpSpPr>
      <p:grpSpPr>
        <a:xfrm>
          <a:off x="0" y="0"/>
          <a:ext cx="0" cy="0"/>
          <a:chOff x="0" y="0"/>
          <a:chExt cx="0" cy="0"/>
        </a:xfrm>
      </p:grpSpPr>
      <p:sp>
        <p:nvSpPr>
          <p:cNvPr id="170" name="矩形: 圓角 169">
            <a:extLst>
              <a:ext uri="{FF2B5EF4-FFF2-40B4-BE49-F238E27FC236}">
                <a16:creationId xmlns:a16="http://schemas.microsoft.com/office/drawing/2014/main" id="{585A6862-1BD1-5468-95ED-66DAAA0CADEA}"/>
              </a:ext>
            </a:extLst>
          </p:cNvPr>
          <p:cNvSpPr/>
          <p:nvPr/>
        </p:nvSpPr>
        <p:spPr>
          <a:xfrm>
            <a:off x="2123728" y="5092506"/>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Input Layer</a:t>
            </a:r>
          </a:p>
        </p:txBody>
      </p:sp>
      <p:sp>
        <p:nvSpPr>
          <p:cNvPr id="172" name="矩形: 圓角 171">
            <a:extLst>
              <a:ext uri="{FF2B5EF4-FFF2-40B4-BE49-F238E27FC236}">
                <a16:creationId xmlns:a16="http://schemas.microsoft.com/office/drawing/2014/main" id="{2900FC30-DA63-EEEA-6468-DCABA47C35C3}"/>
              </a:ext>
            </a:extLst>
          </p:cNvPr>
          <p:cNvSpPr/>
          <p:nvPr/>
        </p:nvSpPr>
        <p:spPr>
          <a:xfrm>
            <a:off x="467544" y="5092506"/>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Input Layer</a:t>
            </a:r>
          </a:p>
        </p:txBody>
      </p:sp>
      <p:sp>
        <p:nvSpPr>
          <p:cNvPr id="2" name="矩形: 圓角 1">
            <a:extLst>
              <a:ext uri="{FF2B5EF4-FFF2-40B4-BE49-F238E27FC236}">
                <a16:creationId xmlns:a16="http://schemas.microsoft.com/office/drawing/2014/main" id="{EE036A56-D3B9-BA00-1B5F-933BBC025591}"/>
              </a:ext>
            </a:extLst>
          </p:cNvPr>
          <p:cNvSpPr/>
          <p:nvPr/>
        </p:nvSpPr>
        <p:spPr>
          <a:xfrm>
            <a:off x="467826" y="1922626"/>
            <a:ext cx="1219522" cy="27950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4" name="文字方塊 3">
            <a:extLst>
              <a:ext uri="{FF2B5EF4-FFF2-40B4-BE49-F238E27FC236}">
                <a16:creationId xmlns:a16="http://schemas.microsoft.com/office/drawing/2014/main" id="{0287AC9D-CF1C-E982-7DA3-0EB24C210137}"/>
              </a:ext>
            </a:extLst>
          </p:cNvPr>
          <p:cNvSpPr txBox="1"/>
          <p:nvPr/>
        </p:nvSpPr>
        <p:spPr>
          <a:xfrm>
            <a:off x="535220" y="2002309"/>
            <a:ext cx="1086557" cy="1635243"/>
          </a:xfrm>
          <a:prstGeom prst="rect">
            <a:avLst/>
          </a:prstGeom>
          <a:solidFill>
            <a:srgbClr val="B7C9E7">
              <a:alpha val="60000"/>
            </a:srgbClr>
          </a:solidFill>
          <a:ln w="15875">
            <a:solidFill>
              <a:schemeClr val="bg1">
                <a:lumMod val="8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FFN</a:t>
            </a:r>
          </a:p>
        </p:txBody>
      </p:sp>
      <p:sp>
        <p:nvSpPr>
          <p:cNvPr id="5" name="文字方塊 4">
            <a:extLst>
              <a:ext uri="{FF2B5EF4-FFF2-40B4-BE49-F238E27FC236}">
                <a16:creationId xmlns:a16="http://schemas.microsoft.com/office/drawing/2014/main" id="{8916746C-AE20-3DA7-4C4C-C15F24F24A4A}"/>
              </a:ext>
            </a:extLst>
          </p:cNvPr>
          <p:cNvSpPr txBox="1"/>
          <p:nvPr/>
        </p:nvSpPr>
        <p:spPr>
          <a:xfrm>
            <a:off x="535220" y="3781568"/>
            <a:ext cx="1086557" cy="824652"/>
          </a:xfrm>
          <a:prstGeom prst="rect">
            <a:avLst/>
          </a:prstGeom>
          <a:solidFill>
            <a:schemeClr val="accent1">
              <a:lumMod val="20000"/>
              <a:lumOff val="80000"/>
              <a:alpha val="20000"/>
            </a:schemeClr>
          </a:solidFill>
          <a:ln w="15875">
            <a:solidFill>
              <a:schemeClr val="bg1">
                <a:lumMod val="8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MHA</a:t>
            </a:r>
          </a:p>
        </p:txBody>
      </p:sp>
      <p:cxnSp>
        <p:nvCxnSpPr>
          <p:cNvPr id="7" name="直線單箭頭接點 6">
            <a:extLst>
              <a:ext uri="{FF2B5EF4-FFF2-40B4-BE49-F238E27FC236}">
                <a16:creationId xmlns:a16="http://schemas.microsoft.com/office/drawing/2014/main" id="{725C0A5E-FC09-98EE-5215-72074A893203}"/>
              </a:ext>
            </a:extLst>
          </p:cNvPr>
          <p:cNvCxnSpPr>
            <a:cxnSpLocks/>
            <a:endCxn id="179" idx="2"/>
          </p:cNvCxnSpPr>
          <p:nvPr/>
        </p:nvCxnSpPr>
        <p:spPr>
          <a:xfrm flipH="1" flipV="1">
            <a:off x="1075281" y="4501648"/>
            <a:ext cx="2307" cy="435063"/>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19" name="矩形: 圓角 18">
            <a:extLst>
              <a:ext uri="{FF2B5EF4-FFF2-40B4-BE49-F238E27FC236}">
                <a16:creationId xmlns:a16="http://schemas.microsoft.com/office/drawing/2014/main" id="{55591602-8B8C-3AFE-5774-030C5AD14364}"/>
              </a:ext>
            </a:extLst>
          </p:cNvPr>
          <p:cNvSpPr/>
          <p:nvPr/>
        </p:nvSpPr>
        <p:spPr>
          <a:xfrm>
            <a:off x="2123728" y="1922626"/>
            <a:ext cx="1219522" cy="27950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20" name="文字方塊 19">
            <a:extLst>
              <a:ext uri="{FF2B5EF4-FFF2-40B4-BE49-F238E27FC236}">
                <a16:creationId xmlns:a16="http://schemas.microsoft.com/office/drawing/2014/main" id="{99748040-B74F-8C9F-410D-0764CB965FC2}"/>
              </a:ext>
            </a:extLst>
          </p:cNvPr>
          <p:cNvSpPr txBox="1"/>
          <p:nvPr/>
        </p:nvSpPr>
        <p:spPr>
          <a:xfrm>
            <a:off x="2200023" y="2081639"/>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21" name="文字方塊 20">
            <a:extLst>
              <a:ext uri="{FF2B5EF4-FFF2-40B4-BE49-F238E27FC236}">
                <a16:creationId xmlns:a16="http://schemas.microsoft.com/office/drawing/2014/main" id="{3C2E7FC2-3F14-86EB-B361-B54E5E74D9C7}"/>
              </a:ext>
            </a:extLst>
          </p:cNvPr>
          <p:cNvSpPr txBox="1"/>
          <p:nvPr/>
        </p:nvSpPr>
        <p:spPr>
          <a:xfrm>
            <a:off x="2195735" y="3781568"/>
            <a:ext cx="1086557" cy="824652"/>
          </a:xfrm>
          <a:prstGeom prst="rect">
            <a:avLst/>
          </a:prstGeom>
          <a:solidFill>
            <a:srgbClr val="DCE6F2">
              <a:alpha val="20000"/>
            </a:srgbClr>
          </a:solidFill>
          <a:ln w="15875">
            <a:solidFill>
              <a:schemeClr val="bg1">
                <a:lumMod val="8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MLA</a:t>
            </a:r>
          </a:p>
        </p:txBody>
      </p:sp>
      <p:cxnSp>
        <p:nvCxnSpPr>
          <p:cNvPr id="23" name="直線單箭頭接點 22">
            <a:extLst>
              <a:ext uri="{FF2B5EF4-FFF2-40B4-BE49-F238E27FC236}">
                <a16:creationId xmlns:a16="http://schemas.microsoft.com/office/drawing/2014/main" id="{67490BC5-9494-E8A8-3D36-562B7338B616}"/>
              </a:ext>
            </a:extLst>
          </p:cNvPr>
          <p:cNvCxnSpPr>
            <a:cxnSpLocks/>
            <a:stCxn id="176" idx="0"/>
            <a:endCxn id="177" idx="2"/>
          </p:cNvCxnSpPr>
          <p:nvPr/>
        </p:nvCxnSpPr>
        <p:spPr>
          <a:xfrm flipH="1" flipV="1">
            <a:off x="2726271" y="4501648"/>
            <a:ext cx="2070" cy="255057"/>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114" name="矩形: 圓角 113">
            <a:extLst>
              <a:ext uri="{FF2B5EF4-FFF2-40B4-BE49-F238E27FC236}">
                <a16:creationId xmlns:a16="http://schemas.microsoft.com/office/drawing/2014/main" id="{56BD2F7A-E8BC-F753-6C1E-D153DC182D32}"/>
              </a:ext>
            </a:extLst>
          </p:cNvPr>
          <p:cNvSpPr/>
          <p:nvPr/>
        </p:nvSpPr>
        <p:spPr>
          <a:xfrm>
            <a:off x="2123728" y="1405304"/>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Next Layer</a:t>
            </a:r>
          </a:p>
        </p:txBody>
      </p:sp>
      <p:sp>
        <p:nvSpPr>
          <p:cNvPr id="116" name="矩形: 圓角 115">
            <a:extLst>
              <a:ext uri="{FF2B5EF4-FFF2-40B4-BE49-F238E27FC236}">
                <a16:creationId xmlns:a16="http://schemas.microsoft.com/office/drawing/2014/main" id="{A37680C0-5523-DB1C-FF62-260EC8CBC5E0}"/>
              </a:ext>
            </a:extLst>
          </p:cNvPr>
          <p:cNvSpPr/>
          <p:nvPr/>
        </p:nvSpPr>
        <p:spPr>
          <a:xfrm>
            <a:off x="467544" y="1405304"/>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Next Layer</a:t>
            </a:r>
          </a:p>
        </p:txBody>
      </p:sp>
      <p:cxnSp>
        <p:nvCxnSpPr>
          <p:cNvPr id="117" name="直線單箭頭接點 116">
            <a:extLst>
              <a:ext uri="{FF2B5EF4-FFF2-40B4-BE49-F238E27FC236}">
                <a16:creationId xmlns:a16="http://schemas.microsoft.com/office/drawing/2014/main" id="{D06E7E9A-D338-F203-F404-0131A070A6E9}"/>
              </a:ext>
            </a:extLst>
          </p:cNvPr>
          <p:cNvCxnSpPr>
            <a:cxnSpLocks/>
            <a:stCxn id="2" idx="0"/>
            <a:endCxn id="116" idx="2"/>
          </p:cNvCxnSpPr>
          <p:nvPr/>
        </p:nvCxnSpPr>
        <p:spPr>
          <a:xfrm flipH="1" flipV="1">
            <a:off x="1077305" y="1750550"/>
            <a:ext cx="282" cy="172076"/>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120" name="直線單箭頭接點 119">
            <a:extLst>
              <a:ext uri="{FF2B5EF4-FFF2-40B4-BE49-F238E27FC236}">
                <a16:creationId xmlns:a16="http://schemas.microsoft.com/office/drawing/2014/main" id="{B0184A23-3710-2816-6164-DC3354C2C1B0}"/>
              </a:ext>
            </a:extLst>
          </p:cNvPr>
          <p:cNvCxnSpPr>
            <a:cxnSpLocks/>
            <a:stCxn id="19" idx="0"/>
            <a:endCxn id="114" idx="2"/>
          </p:cNvCxnSpPr>
          <p:nvPr/>
        </p:nvCxnSpPr>
        <p:spPr>
          <a:xfrm flipV="1">
            <a:off x="2733489" y="1750550"/>
            <a:ext cx="0" cy="172076"/>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129" name="文字方塊 128">
            <a:extLst>
              <a:ext uri="{FF2B5EF4-FFF2-40B4-BE49-F238E27FC236}">
                <a16:creationId xmlns:a16="http://schemas.microsoft.com/office/drawing/2014/main" id="{235F7005-FAD9-D837-ADA8-DB421911E493}"/>
              </a:ext>
            </a:extLst>
          </p:cNvPr>
          <p:cNvSpPr txBox="1"/>
          <p:nvPr/>
        </p:nvSpPr>
        <p:spPr>
          <a:xfrm>
            <a:off x="2488055" y="2081639"/>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38" name="文字方塊 137">
            <a:extLst>
              <a:ext uri="{FF2B5EF4-FFF2-40B4-BE49-F238E27FC236}">
                <a16:creationId xmlns:a16="http://schemas.microsoft.com/office/drawing/2014/main" id="{AB879A8F-CA3C-305E-BF3E-1D73137507F2}"/>
              </a:ext>
            </a:extLst>
          </p:cNvPr>
          <p:cNvSpPr txBox="1"/>
          <p:nvPr/>
        </p:nvSpPr>
        <p:spPr>
          <a:xfrm>
            <a:off x="2787962" y="2081639"/>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40" name="文字方塊 139">
            <a:extLst>
              <a:ext uri="{FF2B5EF4-FFF2-40B4-BE49-F238E27FC236}">
                <a16:creationId xmlns:a16="http://schemas.microsoft.com/office/drawing/2014/main" id="{944BDAFC-3502-CB3C-E397-50F635AD29C7}"/>
              </a:ext>
            </a:extLst>
          </p:cNvPr>
          <p:cNvSpPr txBox="1"/>
          <p:nvPr/>
        </p:nvSpPr>
        <p:spPr>
          <a:xfrm>
            <a:off x="3074595" y="2081639"/>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42" name="文字方塊 141">
            <a:extLst>
              <a:ext uri="{FF2B5EF4-FFF2-40B4-BE49-F238E27FC236}">
                <a16:creationId xmlns:a16="http://schemas.microsoft.com/office/drawing/2014/main" id="{790E5853-F222-0C2E-0BC5-C35D97B16DB2}"/>
              </a:ext>
            </a:extLst>
          </p:cNvPr>
          <p:cNvSpPr txBox="1"/>
          <p:nvPr/>
        </p:nvSpPr>
        <p:spPr>
          <a:xfrm>
            <a:off x="2195736" y="2350933"/>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44" name="文字方塊 143">
            <a:extLst>
              <a:ext uri="{FF2B5EF4-FFF2-40B4-BE49-F238E27FC236}">
                <a16:creationId xmlns:a16="http://schemas.microsoft.com/office/drawing/2014/main" id="{E73A6B5A-070E-6C48-0415-D8D3A0D060B6}"/>
              </a:ext>
            </a:extLst>
          </p:cNvPr>
          <p:cNvSpPr txBox="1"/>
          <p:nvPr/>
        </p:nvSpPr>
        <p:spPr>
          <a:xfrm>
            <a:off x="2483768" y="2350933"/>
            <a:ext cx="201168" cy="201168"/>
          </a:xfrm>
          <a:prstGeom prst="rect">
            <a:avLst/>
          </a:prstGeom>
          <a:solidFill>
            <a:schemeClr val="accent2">
              <a:lumMod val="20000"/>
              <a:lumOff val="80000"/>
            </a:schemeClr>
          </a:solidFill>
          <a:ln w="25400">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tx1">
                    <a:lumMod val="95000"/>
                    <a:lumOff val="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46" name="文字方塊 145">
            <a:extLst>
              <a:ext uri="{FF2B5EF4-FFF2-40B4-BE49-F238E27FC236}">
                <a16:creationId xmlns:a16="http://schemas.microsoft.com/office/drawing/2014/main" id="{47EC2506-3B10-D847-4047-DEF10FA85863}"/>
              </a:ext>
            </a:extLst>
          </p:cNvPr>
          <p:cNvSpPr txBox="1"/>
          <p:nvPr/>
        </p:nvSpPr>
        <p:spPr>
          <a:xfrm>
            <a:off x="2783675" y="2350933"/>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48" name="文字方塊 147">
            <a:extLst>
              <a:ext uri="{FF2B5EF4-FFF2-40B4-BE49-F238E27FC236}">
                <a16:creationId xmlns:a16="http://schemas.microsoft.com/office/drawing/2014/main" id="{75C33A86-7837-D2CC-E40E-046EBDE48273}"/>
              </a:ext>
            </a:extLst>
          </p:cNvPr>
          <p:cNvSpPr txBox="1"/>
          <p:nvPr/>
        </p:nvSpPr>
        <p:spPr>
          <a:xfrm>
            <a:off x="3074595" y="2350933"/>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50" name="文字方塊 149">
            <a:extLst>
              <a:ext uri="{FF2B5EF4-FFF2-40B4-BE49-F238E27FC236}">
                <a16:creationId xmlns:a16="http://schemas.microsoft.com/office/drawing/2014/main" id="{CA4082C9-E5D4-F3F8-A7C6-7D94C97CD7E2}"/>
              </a:ext>
            </a:extLst>
          </p:cNvPr>
          <p:cNvSpPr txBox="1"/>
          <p:nvPr/>
        </p:nvSpPr>
        <p:spPr>
          <a:xfrm>
            <a:off x="2199071" y="2629440"/>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52" name="文字方塊 151">
            <a:extLst>
              <a:ext uri="{FF2B5EF4-FFF2-40B4-BE49-F238E27FC236}">
                <a16:creationId xmlns:a16="http://schemas.microsoft.com/office/drawing/2014/main" id="{09220340-997F-BCEB-F888-401078B5233C}"/>
              </a:ext>
            </a:extLst>
          </p:cNvPr>
          <p:cNvSpPr txBox="1"/>
          <p:nvPr/>
        </p:nvSpPr>
        <p:spPr>
          <a:xfrm>
            <a:off x="2487103" y="2629440"/>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54" name="文字方塊 153">
            <a:extLst>
              <a:ext uri="{FF2B5EF4-FFF2-40B4-BE49-F238E27FC236}">
                <a16:creationId xmlns:a16="http://schemas.microsoft.com/office/drawing/2014/main" id="{1813AF4A-7BA8-2782-BAF6-8C906B25ADA3}"/>
              </a:ext>
            </a:extLst>
          </p:cNvPr>
          <p:cNvSpPr txBox="1"/>
          <p:nvPr/>
        </p:nvSpPr>
        <p:spPr>
          <a:xfrm>
            <a:off x="2787010" y="2629440"/>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56" name="文字方塊 155">
            <a:extLst>
              <a:ext uri="{FF2B5EF4-FFF2-40B4-BE49-F238E27FC236}">
                <a16:creationId xmlns:a16="http://schemas.microsoft.com/office/drawing/2014/main" id="{B978F426-9B27-D209-12A2-7244731E3E8C}"/>
              </a:ext>
            </a:extLst>
          </p:cNvPr>
          <p:cNvSpPr txBox="1"/>
          <p:nvPr/>
        </p:nvSpPr>
        <p:spPr>
          <a:xfrm>
            <a:off x="3073643" y="2629440"/>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58" name="文字方塊 157">
            <a:extLst>
              <a:ext uri="{FF2B5EF4-FFF2-40B4-BE49-F238E27FC236}">
                <a16:creationId xmlns:a16="http://schemas.microsoft.com/office/drawing/2014/main" id="{54D9FE03-DA3A-7B22-12C0-F0CF495AAF72}"/>
              </a:ext>
            </a:extLst>
          </p:cNvPr>
          <p:cNvSpPr txBox="1"/>
          <p:nvPr/>
        </p:nvSpPr>
        <p:spPr>
          <a:xfrm>
            <a:off x="2194784" y="2917472"/>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60" name="文字方塊 159">
            <a:extLst>
              <a:ext uri="{FF2B5EF4-FFF2-40B4-BE49-F238E27FC236}">
                <a16:creationId xmlns:a16="http://schemas.microsoft.com/office/drawing/2014/main" id="{C855BB6E-A7CA-F9A6-3804-2D03A63331BF}"/>
              </a:ext>
            </a:extLst>
          </p:cNvPr>
          <p:cNvSpPr txBox="1"/>
          <p:nvPr/>
        </p:nvSpPr>
        <p:spPr>
          <a:xfrm>
            <a:off x="2482816" y="2917472"/>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62" name="文字方塊 161">
            <a:extLst>
              <a:ext uri="{FF2B5EF4-FFF2-40B4-BE49-F238E27FC236}">
                <a16:creationId xmlns:a16="http://schemas.microsoft.com/office/drawing/2014/main" id="{8341776D-C4B2-FB24-47F8-AEDBFF6B8BAD}"/>
              </a:ext>
            </a:extLst>
          </p:cNvPr>
          <p:cNvSpPr txBox="1"/>
          <p:nvPr/>
        </p:nvSpPr>
        <p:spPr>
          <a:xfrm>
            <a:off x="2782723" y="2917472"/>
            <a:ext cx="201168" cy="201168"/>
          </a:xfrm>
          <a:prstGeom prst="rect">
            <a:avLst/>
          </a:prstGeom>
          <a:solidFill>
            <a:schemeClr val="accent2">
              <a:lumMod val="20000"/>
              <a:lumOff val="80000"/>
            </a:schemeClr>
          </a:solidFill>
          <a:ln w="25400">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tx1">
                    <a:lumMod val="95000"/>
                    <a:lumOff val="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64" name="文字方塊 163">
            <a:extLst>
              <a:ext uri="{FF2B5EF4-FFF2-40B4-BE49-F238E27FC236}">
                <a16:creationId xmlns:a16="http://schemas.microsoft.com/office/drawing/2014/main" id="{B127A9DD-8FE3-3E97-DC51-2017300EB766}"/>
              </a:ext>
            </a:extLst>
          </p:cNvPr>
          <p:cNvSpPr txBox="1"/>
          <p:nvPr/>
        </p:nvSpPr>
        <p:spPr>
          <a:xfrm>
            <a:off x="3073643" y="2917472"/>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68" name="矩形 167">
            <a:extLst>
              <a:ext uri="{FF2B5EF4-FFF2-40B4-BE49-F238E27FC236}">
                <a16:creationId xmlns:a16="http://schemas.microsoft.com/office/drawing/2014/main" id="{E8236D44-E788-7884-CB7F-7964E41D58A7}"/>
              </a:ext>
            </a:extLst>
          </p:cNvPr>
          <p:cNvSpPr/>
          <p:nvPr/>
        </p:nvSpPr>
        <p:spPr>
          <a:xfrm>
            <a:off x="607229" y="4756564"/>
            <a:ext cx="933795" cy="393156"/>
          </a:xfrm>
          <a:prstGeom prst="rect">
            <a:avLst/>
          </a:prstGeom>
          <a:solidFill>
            <a:schemeClr val="bg1"/>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X</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NxD</a:t>
            </a:r>
          </a:p>
        </p:txBody>
      </p:sp>
      <p:sp>
        <p:nvSpPr>
          <p:cNvPr id="176" name="矩形 175">
            <a:extLst>
              <a:ext uri="{FF2B5EF4-FFF2-40B4-BE49-F238E27FC236}">
                <a16:creationId xmlns:a16="http://schemas.microsoft.com/office/drawing/2014/main" id="{B4CAB320-BDEC-C2AA-F436-9F1884A89520}"/>
              </a:ext>
            </a:extLst>
          </p:cNvPr>
          <p:cNvSpPr/>
          <p:nvPr/>
        </p:nvSpPr>
        <p:spPr>
          <a:xfrm>
            <a:off x="2476313" y="4756705"/>
            <a:ext cx="504056" cy="393015"/>
          </a:xfrm>
          <a:prstGeom prst="rect">
            <a:avLst/>
          </a:prstGeom>
          <a:solidFill>
            <a:schemeClr val="bg1"/>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X</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NxD</a:t>
            </a:r>
          </a:p>
        </p:txBody>
      </p:sp>
      <p:sp>
        <p:nvSpPr>
          <p:cNvPr id="177" name="矩形: 圓角 176">
            <a:extLst>
              <a:ext uri="{FF2B5EF4-FFF2-40B4-BE49-F238E27FC236}">
                <a16:creationId xmlns:a16="http://schemas.microsoft.com/office/drawing/2014/main" id="{22E3C78D-C200-3BD2-196E-72559D9427C4}"/>
              </a:ext>
            </a:extLst>
          </p:cNvPr>
          <p:cNvSpPr/>
          <p:nvPr/>
        </p:nvSpPr>
        <p:spPr>
          <a:xfrm>
            <a:off x="2474243" y="4069600"/>
            <a:ext cx="504056" cy="432048"/>
          </a:xfrm>
          <a:prstGeom prst="roundRect">
            <a:avLst/>
          </a:prstGeom>
          <a:solidFill>
            <a:schemeClr val="bg1"/>
          </a:solidFill>
          <a:ln w="190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QKV</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 x 1048</a:t>
            </a:r>
          </a:p>
        </p:txBody>
      </p:sp>
      <p:sp>
        <p:nvSpPr>
          <p:cNvPr id="179" name="矩形: 圓角 178">
            <a:extLst>
              <a:ext uri="{FF2B5EF4-FFF2-40B4-BE49-F238E27FC236}">
                <a16:creationId xmlns:a16="http://schemas.microsoft.com/office/drawing/2014/main" id="{63C06AC4-64D1-B55E-4148-67DB01FA1277}"/>
              </a:ext>
            </a:extLst>
          </p:cNvPr>
          <p:cNvSpPr/>
          <p:nvPr/>
        </p:nvSpPr>
        <p:spPr>
          <a:xfrm>
            <a:off x="607229" y="4069600"/>
            <a:ext cx="936104" cy="432048"/>
          </a:xfrm>
          <a:prstGeom prst="roundRect">
            <a:avLst/>
          </a:prstGeom>
          <a:solidFill>
            <a:schemeClr val="bg1"/>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QKV</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 x 8192</a:t>
            </a:r>
          </a:p>
        </p:txBody>
      </p:sp>
      <p:sp>
        <p:nvSpPr>
          <p:cNvPr id="181" name="矩形: 圓角 180">
            <a:extLst>
              <a:ext uri="{FF2B5EF4-FFF2-40B4-BE49-F238E27FC236}">
                <a16:creationId xmlns:a16="http://schemas.microsoft.com/office/drawing/2014/main" id="{0819D04C-6608-2C50-F8C2-C455CE59B835}"/>
              </a:ext>
            </a:extLst>
          </p:cNvPr>
          <p:cNvSpPr/>
          <p:nvPr/>
        </p:nvSpPr>
        <p:spPr>
          <a:xfrm>
            <a:off x="607229" y="2472158"/>
            <a:ext cx="936104" cy="1093386"/>
          </a:xfrm>
          <a:prstGeom prst="roundRect">
            <a:avLst>
              <a:gd name="adj" fmla="val 8860"/>
            </a:avLst>
          </a:prstGeom>
          <a:solidFill>
            <a:schemeClr val="accent2">
              <a:lumMod val="20000"/>
              <a:lumOff val="8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FFN</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NxD</a:t>
            </a:r>
          </a:p>
        </p:txBody>
      </p:sp>
      <p:sp>
        <p:nvSpPr>
          <p:cNvPr id="243" name="矩形: 圓角 242">
            <a:extLst>
              <a:ext uri="{FF2B5EF4-FFF2-40B4-BE49-F238E27FC236}">
                <a16:creationId xmlns:a16="http://schemas.microsoft.com/office/drawing/2014/main" id="{41BFEAF1-95B0-3550-8FEA-30B254B92844}"/>
              </a:ext>
            </a:extLst>
          </p:cNvPr>
          <p:cNvSpPr/>
          <p:nvPr/>
        </p:nvSpPr>
        <p:spPr>
          <a:xfrm>
            <a:off x="2467914" y="3224554"/>
            <a:ext cx="516929" cy="436010"/>
          </a:xfrm>
          <a:prstGeom prst="roundRect">
            <a:avLst>
              <a:gd name="adj" fmla="val 8860"/>
            </a:avLst>
          </a:prstGeom>
          <a:solidFill>
            <a:schemeClr val="accent2">
              <a:lumMod val="20000"/>
              <a:lumOff val="80000"/>
            </a:schemeClr>
          </a:solidFill>
          <a:ln w="2540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MoE</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Router</a:t>
            </a:r>
          </a:p>
        </p:txBody>
      </p:sp>
      <p:graphicFrame>
        <p:nvGraphicFramePr>
          <p:cNvPr id="247" name="表格 246">
            <a:extLst>
              <a:ext uri="{FF2B5EF4-FFF2-40B4-BE49-F238E27FC236}">
                <a16:creationId xmlns:a16="http://schemas.microsoft.com/office/drawing/2014/main" id="{273489FC-ECA0-0753-047B-79B4616DDCCC}"/>
              </a:ext>
            </a:extLst>
          </p:cNvPr>
          <p:cNvGraphicFramePr>
            <a:graphicFrameLocks noGrp="1"/>
          </p:cNvGraphicFramePr>
          <p:nvPr/>
        </p:nvGraphicFramePr>
        <p:xfrm>
          <a:off x="5652400" y="1777144"/>
          <a:ext cx="2520000" cy="261855"/>
        </p:xfrm>
        <a:graphic>
          <a:graphicData uri="http://schemas.openxmlformats.org/drawingml/2006/table">
            <a:tbl>
              <a:tblPr firstRow="1" bandRow="1">
                <a:tableStyleId>{5C22544A-7EE6-4342-B048-85BDC9FD1C3A}</a:tableStyleId>
              </a:tblPr>
              <a:tblGrid>
                <a:gridCol w="252000">
                  <a:extLst>
                    <a:ext uri="{9D8B030D-6E8A-4147-A177-3AD203B41FA5}">
                      <a16:colId xmlns:a16="http://schemas.microsoft.com/office/drawing/2014/main" val="871242339"/>
                    </a:ext>
                  </a:extLst>
                </a:gridCol>
                <a:gridCol w="252000">
                  <a:extLst>
                    <a:ext uri="{9D8B030D-6E8A-4147-A177-3AD203B41FA5}">
                      <a16:colId xmlns:a16="http://schemas.microsoft.com/office/drawing/2014/main" val="337396536"/>
                    </a:ext>
                  </a:extLst>
                </a:gridCol>
                <a:gridCol w="252000">
                  <a:extLst>
                    <a:ext uri="{9D8B030D-6E8A-4147-A177-3AD203B41FA5}">
                      <a16:colId xmlns:a16="http://schemas.microsoft.com/office/drawing/2014/main" val="506512337"/>
                    </a:ext>
                  </a:extLst>
                </a:gridCol>
                <a:gridCol w="252000">
                  <a:extLst>
                    <a:ext uri="{9D8B030D-6E8A-4147-A177-3AD203B41FA5}">
                      <a16:colId xmlns:a16="http://schemas.microsoft.com/office/drawing/2014/main" val="223754513"/>
                    </a:ext>
                  </a:extLst>
                </a:gridCol>
                <a:gridCol w="252000">
                  <a:extLst>
                    <a:ext uri="{9D8B030D-6E8A-4147-A177-3AD203B41FA5}">
                      <a16:colId xmlns:a16="http://schemas.microsoft.com/office/drawing/2014/main" val="213621589"/>
                    </a:ext>
                  </a:extLst>
                </a:gridCol>
                <a:gridCol w="252000">
                  <a:extLst>
                    <a:ext uri="{9D8B030D-6E8A-4147-A177-3AD203B41FA5}">
                      <a16:colId xmlns:a16="http://schemas.microsoft.com/office/drawing/2014/main" val="334335693"/>
                    </a:ext>
                  </a:extLst>
                </a:gridCol>
                <a:gridCol w="252000">
                  <a:extLst>
                    <a:ext uri="{9D8B030D-6E8A-4147-A177-3AD203B41FA5}">
                      <a16:colId xmlns:a16="http://schemas.microsoft.com/office/drawing/2014/main" val="2850820999"/>
                    </a:ext>
                  </a:extLst>
                </a:gridCol>
                <a:gridCol w="252000">
                  <a:extLst>
                    <a:ext uri="{9D8B030D-6E8A-4147-A177-3AD203B41FA5}">
                      <a16:colId xmlns:a16="http://schemas.microsoft.com/office/drawing/2014/main" val="3242229700"/>
                    </a:ext>
                  </a:extLst>
                </a:gridCol>
                <a:gridCol w="504000">
                  <a:extLst>
                    <a:ext uri="{9D8B030D-6E8A-4147-A177-3AD203B41FA5}">
                      <a16:colId xmlns:a16="http://schemas.microsoft.com/office/drawing/2014/main" val="940613947"/>
                    </a:ext>
                  </a:extLst>
                </a:gridCol>
              </a:tblGrid>
              <a:tr h="261855">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bg1">
                          <a:lumMod val="5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3</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D</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1536</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52794"/>
                  </a:ext>
                </a:extLst>
              </a:tr>
            </a:tbl>
          </a:graphicData>
        </a:graphic>
      </p:graphicFrame>
      <p:graphicFrame>
        <p:nvGraphicFramePr>
          <p:cNvPr id="253" name="表格 252">
            <a:extLst>
              <a:ext uri="{FF2B5EF4-FFF2-40B4-BE49-F238E27FC236}">
                <a16:creationId xmlns:a16="http://schemas.microsoft.com/office/drawing/2014/main" id="{8222C8ED-A1B0-C08B-2EB5-B84C32F06C26}"/>
              </a:ext>
            </a:extLst>
          </p:cNvPr>
          <p:cNvGraphicFramePr>
            <a:graphicFrameLocks noGrp="1"/>
          </p:cNvGraphicFramePr>
          <p:nvPr/>
        </p:nvGraphicFramePr>
        <p:xfrm>
          <a:off x="6823274" y="3400354"/>
          <a:ext cx="1264220" cy="273655"/>
        </p:xfrm>
        <a:graphic>
          <a:graphicData uri="http://schemas.openxmlformats.org/drawingml/2006/table">
            <a:tbl>
              <a:tblPr firstRow="1" bandRow="1">
                <a:tableStyleId>{5C22544A-7EE6-4342-B048-85BDC9FD1C3A}</a:tableStyleId>
              </a:tblPr>
              <a:tblGrid>
                <a:gridCol w="252844">
                  <a:extLst>
                    <a:ext uri="{9D8B030D-6E8A-4147-A177-3AD203B41FA5}">
                      <a16:colId xmlns:a16="http://schemas.microsoft.com/office/drawing/2014/main" val="871242339"/>
                    </a:ext>
                  </a:extLst>
                </a:gridCol>
                <a:gridCol w="252844">
                  <a:extLst>
                    <a:ext uri="{9D8B030D-6E8A-4147-A177-3AD203B41FA5}">
                      <a16:colId xmlns:a16="http://schemas.microsoft.com/office/drawing/2014/main" val="337396536"/>
                    </a:ext>
                  </a:extLst>
                </a:gridCol>
                <a:gridCol w="252844">
                  <a:extLst>
                    <a:ext uri="{9D8B030D-6E8A-4147-A177-3AD203B41FA5}">
                      <a16:colId xmlns:a16="http://schemas.microsoft.com/office/drawing/2014/main" val="506512337"/>
                    </a:ext>
                  </a:extLst>
                </a:gridCol>
                <a:gridCol w="145648">
                  <a:extLst>
                    <a:ext uri="{9D8B030D-6E8A-4147-A177-3AD203B41FA5}">
                      <a16:colId xmlns:a16="http://schemas.microsoft.com/office/drawing/2014/main" val="223754513"/>
                    </a:ext>
                  </a:extLst>
                </a:gridCol>
                <a:gridCol w="360040">
                  <a:extLst>
                    <a:ext uri="{9D8B030D-6E8A-4147-A177-3AD203B41FA5}">
                      <a16:colId xmlns:a16="http://schemas.microsoft.com/office/drawing/2014/main" val="213621589"/>
                    </a:ext>
                  </a:extLst>
                </a:gridCol>
              </a:tblGrid>
              <a:tr h="273655">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accent6">
                          <a:lumMod val="75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3</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256</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9050" cap="flat" cmpd="sng" algn="ctr">
                      <a:solidFill>
                        <a:schemeClr val="accent6">
                          <a:lumMod val="75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51352794"/>
                  </a:ext>
                </a:extLst>
              </a:tr>
            </a:tbl>
          </a:graphicData>
        </a:graphic>
      </p:graphicFrame>
      <p:graphicFrame>
        <p:nvGraphicFramePr>
          <p:cNvPr id="259" name="表格 258">
            <a:extLst>
              <a:ext uri="{FF2B5EF4-FFF2-40B4-BE49-F238E27FC236}">
                <a16:creationId xmlns:a16="http://schemas.microsoft.com/office/drawing/2014/main" id="{291E65D5-EE8D-2E44-3AC5-2BFE5281B550}"/>
              </a:ext>
            </a:extLst>
          </p:cNvPr>
          <p:cNvGraphicFramePr>
            <a:graphicFrameLocks noGrp="1"/>
          </p:cNvGraphicFramePr>
          <p:nvPr/>
        </p:nvGraphicFramePr>
        <p:xfrm>
          <a:off x="6823274" y="4066479"/>
          <a:ext cx="1264220" cy="276776"/>
        </p:xfrm>
        <a:graphic>
          <a:graphicData uri="http://schemas.openxmlformats.org/drawingml/2006/table">
            <a:tbl>
              <a:tblPr firstRow="1" bandRow="1">
                <a:tableStyleId>{5C22544A-7EE6-4342-B048-85BDC9FD1C3A}</a:tableStyleId>
              </a:tblPr>
              <a:tblGrid>
                <a:gridCol w="252844">
                  <a:extLst>
                    <a:ext uri="{9D8B030D-6E8A-4147-A177-3AD203B41FA5}">
                      <a16:colId xmlns:a16="http://schemas.microsoft.com/office/drawing/2014/main" val="871242339"/>
                    </a:ext>
                  </a:extLst>
                </a:gridCol>
                <a:gridCol w="252844">
                  <a:extLst>
                    <a:ext uri="{9D8B030D-6E8A-4147-A177-3AD203B41FA5}">
                      <a16:colId xmlns:a16="http://schemas.microsoft.com/office/drawing/2014/main" val="337396536"/>
                    </a:ext>
                  </a:extLst>
                </a:gridCol>
                <a:gridCol w="252844">
                  <a:extLst>
                    <a:ext uri="{9D8B030D-6E8A-4147-A177-3AD203B41FA5}">
                      <a16:colId xmlns:a16="http://schemas.microsoft.com/office/drawing/2014/main" val="506512337"/>
                    </a:ext>
                  </a:extLst>
                </a:gridCol>
                <a:gridCol w="145650">
                  <a:extLst>
                    <a:ext uri="{9D8B030D-6E8A-4147-A177-3AD203B41FA5}">
                      <a16:colId xmlns:a16="http://schemas.microsoft.com/office/drawing/2014/main" val="223754513"/>
                    </a:ext>
                  </a:extLst>
                </a:gridCol>
                <a:gridCol w="360038">
                  <a:extLst>
                    <a:ext uri="{9D8B030D-6E8A-4147-A177-3AD203B41FA5}">
                      <a16:colId xmlns:a16="http://schemas.microsoft.com/office/drawing/2014/main" val="213621589"/>
                    </a:ext>
                  </a:extLst>
                </a:gridCol>
              </a:tblGrid>
              <a:tr h="276776">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g</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75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ap="flat" cmpd="sng" algn="ctr">
                      <a:solidFill>
                        <a:schemeClr val="accent6">
                          <a:lumMod val="75000"/>
                        </a:schemeClr>
                      </a:solidFill>
                      <a:prstDash val="solid"/>
                      <a:round/>
                      <a:headEnd type="none" w="med" len="med"/>
                      <a:tailEnd type="none" w="med" len="med"/>
                    </a:lnT>
                    <a:lnB w="1270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g</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ap="flat" cmpd="sng" algn="ctr">
                      <a:solidFill>
                        <a:schemeClr val="accent6">
                          <a:lumMod val="75000"/>
                        </a:schemeClr>
                      </a:solidFill>
                      <a:prstDash val="solid"/>
                      <a:round/>
                      <a:headEnd type="none" w="med" len="med"/>
                      <a:tailEnd type="none" w="med" len="med"/>
                    </a:lnT>
                    <a:lnB w="1270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g</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3</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ap="flat" cmpd="sng" algn="ctr">
                      <a:solidFill>
                        <a:schemeClr val="accent6">
                          <a:lumMod val="75000"/>
                        </a:schemeClr>
                      </a:solidFill>
                      <a:prstDash val="solid"/>
                      <a:round/>
                      <a:headEnd type="none" w="med" len="med"/>
                      <a:tailEnd type="none" w="med" len="med"/>
                    </a:lnT>
                    <a:lnB w="1270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ap="flat" cmpd="sng" algn="ctr">
                      <a:solidFill>
                        <a:schemeClr val="accent6">
                          <a:lumMod val="75000"/>
                        </a:schemeClr>
                      </a:solidFill>
                      <a:prstDash val="solid"/>
                      <a:round/>
                      <a:headEnd type="none" w="med" len="med"/>
                      <a:tailEnd type="none" w="med" len="med"/>
                    </a:lnT>
                    <a:lnB w="1270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g</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256</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75000"/>
                        </a:schemeClr>
                      </a:solidFill>
                      <a:prstDash val="solid"/>
                      <a:round/>
                      <a:headEnd type="none" w="med" len="med"/>
                      <a:tailEnd type="none" w="med" len="med"/>
                    </a:lnR>
                    <a:lnT w="12700" cap="flat" cmpd="sng" algn="ctr">
                      <a:solidFill>
                        <a:schemeClr val="accent6">
                          <a:lumMod val="75000"/>
                        </a:schemeClr>
                      </a:solidFill>
                      <a:prstDash val="solid"/>
                      <a:round/>
                      <a:headEnd type="none" w="med" len="med"/>
                      <a:tailEnd type="none" w="med" len="med"/>
                    </a:lnT>
                    <a:lnB w="1270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51352794"/>
                  </a:ext>
                </a:extLst>
              </a:tr>
            </a:tbl>
          </a:graphicData>
        </a:graphic>
      </p:graphicFrame>
      <p:graphicFrame>
        <p:nvGraphicFramePr>
          <p:cNvPr id="261" name="表格 260">
            <a:extLst>
              <a:ext uri="{FF2B5EF4-FFF2-40B4-BE49-F238E27FC236}">
                <a16:creationId xmlns:a16="http://schemas.microsoft.com/office/drawing/2014/main" id="{AB596806-C22D-1ADA-4139-8486A10BAD5D}"/>
              </a:ext>
            </a:extLst>
          </p:cNvPr>
          <p:cNvGraphicFramePr>
            <a:graphicFrameLocks noGrp="1"/>
          </p:cNvGraphicFramePr>
          <p:nvPr/>
        </p:nvGraphicFramePr>
        <p:xfrm>
          <a:off x="5652120" y="5265132"/>
          <a:ext cx="2520000" cy="302259"/>
        </p:xfrm>
        <a:graphic>
          <a:graphicData uri="http://schemas.openxmlformats.org/drawingml/2006/table">
            <a:tbl>
              <a:tblPr firstRow="1" bandRow="1">
                <a:tableStyleId>{5C22544A-7EE6-4342-B048-85BDC9FD1C3A}</a:tableStyleId>
              </a:tblPr>
              <a:tblGrid>
                <a:gridCol w="252000">
                  <a:extLst>
                    <a:ext uri="{9D8B030D-6E8A-4147-A177-3AD203B41FA5}">
                      <a16:colId xmlns:a16="http://schemas.microsoft.com/office/drawing/2014/main" val="871242339"/>
                    </a:ext>
                  </a:extLst>
                </a:gridCol>
                <a:gridCol w="252000">
                  <a:extLst>
                    <a:ext uri="{9D8B030D-6E8A-4147-A177-3AD203B41FA5}">
                      <a16:colId xmlns:a16="http://schemas.microsoft.com/office/drawing/2014/main" val="337396536"/>
                    </a:ext>
                  </a:extLst>
                </a:gridCol>
                <a:gridCol w="252000">
                  <a:extLst>
                    <a:ext uri="{9D8B030D-6E8A-4147-A177-3AD203B41FA5}">
                      <a16:colId xmlns:a16="http://schemas.microsoft.com/office/drawing/2014/main" val="506512337"/>
                    </a:ext>
                  </a:extLst>
                </a:gridCol>
                <a:gridCol w="252000">
                  <a:extLst>
                    <a:ext uri="{9D8B030D-6E8A-4147-A177-3AD203B41FA5}">
                      <a16:colId xmlns:a16="http://schemas.microsoft.com/office/drawing/2014/main" val="223754513"/>
                    </a:ext>
                  </a:extLst>
                </a:gridCol>
                <a:gridCol w="252000">
                  <a:extLst>
                    <a:ext uri="{9D8B030D-6E8A-4147-A177-3AD203B41FA5}">
                      <a16:colId xmlns:a16="http://schemas.microsoft.com/office/drawing/2014/main" val="213621589"/>
                    </a:ext>
                  </a:extLst>
                </a:gridCol>
                <a:gridCol w="252000">
                  <a:extLst>
                    <a:ext uri="{9D8B030D-6E8A-4147-A177-3AD203B41FA5}">
                      <a16:colId xmlns:a16="http://schemas.microsoft.com/office/drawing/2014/main" val="334335693"/>
                    </a:ext>
                  </a:extLst>
                </a:gridCol>
                <a:gridCol w="252000">
                  <a:extLst>
                    <a:ext uri="{9D8B030D-6E8A-4147-A177-3AD203B41FA5}">
                      <a16:colId xmlns:a16="http://schemas.microsoft.com/office/drawing/2014/main" val="2850820999"/>
                    </a:ext>
                  </a:extLst>
                </a:gridCol>
                <a:gridCol w="252000">
                  <a:extLst>
                    <a:ext uri="{9D8B030D-6E8A-4147-A177-3AD203B41FA5}">
                      <a16:colId xmlns:a16="http://schemas.microsoft.com/office/drawing/2014/main" val="3242229700"/>
                    </a:ext>
                  </a:extLst>
                </a:gridCol>
                <a:gridCol w="504000">
                  <a:extLst>
                    <a:ext uri="{9D8B030D-6E8A-4147-A177-3AD203B41FA5}">
                      <a16:colId xmlns:a16="http://schemas.microsoft.com/office/drawing/2014/main" val="940613947"/>
                    </a:ext>
                  </a:extLst>
                </a:gridCol>
              </a:tblGrid>
              <a:tr h="302259">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X</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bg1">
                          <a:lumMod val="5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X</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X</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3</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3175" cap="flat" cmpd="sng" algn="ctr">
                      <a:solidFill>
                        <a:schemeClr val="accent6">
                          <a:lumMod val="60000"/>
                          <a:lumOff val="4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3175" cap="flat" cmpd="sng" algn="ctr">
                      <a:solidFill>
                        <a:schemeClr val="accent6">
                          <a:lumMod val="60000"/>
                          <a:lumOff val="40000"/>
                        </a:schemeClr>
                      </a:solidFill>
                      <a:prstDash val="solid"/>
                      <a:round/>
                      <a:headEnd type="none" w="med" len="med"/>
                      <a:tailEnd type="none" w="med" len="med"/>
                    </a:lnL>
                    <a:lnR w="3175" cap="flat" cmpd="sng" algn="ctr">
                      <a:solidFill>
                        <a:schemeClr val="accent6">
                          <a:lumMod val="60000"/>
                          <a:lumOff val="4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3175"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X</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1536</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52794"/>
                  </a:ext>
                </a:extLst>
              </a:tr>
            </a:tbl>
          </a:graphicData>
        </a:graphic>
      </p:graphicFrame>
      <p:cxnSp>
        <p:nvCxnSpPr>
          <p:cNvPr id="277" name="接點: 肘形 276">
            <a:extLst>
              <a:ext uri="{FF2B5EF4-FFF2-40B4-BE49-F238E27FC236}">
                <a16:creationId xmlns:a16="http://schemas.microsoft.com/office/drawing/2014/main" id="{A8387998-1975-8674-4EBF-72F297E07577}"/>
              </a:ext>
            </a:extLst>
          </p:cNvPr>
          <p:cNvCxnSpPr>
            <a:cxnSpLocks/>
            <a:stCxn id="247" idx="1"/>
          </p:cNvCxnSpPr>
          <p:nvPr/>
        </p:nvCxnSpPr>
        <p:spPr>
          <a:xfrm rot="10800000" flipV="1">
            <a:off x="5148064" y="1908071"/>
            <a:ext cx="504336" cy="1757498"/>
          </a:xfrm>
          <a:prstGeom prst="bentConnector3">
            <a:avLst>
              <a:gd name="adj1" fmla="val 50000"/>
            </a:avLst>
          </a:prstGeom>
          <a:ln>
            <a:solidFill>
              <a:schemeClr val="tx1">
                <a:lumMod val="50000"/>
                <a:lumOff val="50000"/>
              </a:schemeClr>
            </a:solidFill>
            <a:prstDash val="dash"/>
            <a:tailEnd type="triangle" w="sm" len="med"/>
          </a:ln>
        </p:spPr>
        <p:style>
          <a:lnRef idx="1">
            <a:schemeClr val="accent1"/>
          </a:lnRef>
          <a:fillRef idx="0">
            <a:schemeClr val="accent1"/>
          </a:fillRef>
          <a:effectRef idx="0">
            <a:schemeClr val="accent1"/>
          </a:effectRef>
          <a:fontRef idx="minor">
            <a:schemeClr val="tx1"/>
          </a:fontRef>
        </p:style>
      </p:cxnSp>
      <p:cxnSp>
        <p:nvCxnSpPr>
          <p:cNvPr id="278" name="接點: 肘形 277">
            <a:extLst>
              <a:ext uri="{FF2B5EF4-FFF2-40B4-BE49-F238E27FC236}">
                <a16:creationId xmlns:a16="http://schemas.microsoft.com/office/drawing/2014/main" id="{C6307A26-F189-AB3D-6F74-783BF95C7F10}"/>
              </a:ext>
            </a:extLst>
          </p:cNvPr>
          <p:cNvCxnSpPr>
            <a:cxnSpLocks/>
            <a:endCxn id="261" idx="1"/>
          </p:cNvCxnSpPr>
          <p:nvPr/>
        </p:nvCxnSpPr>
        <p:spPr>
          <a:xfrm>
            <a:off x="5148064" y="3789373"/>
            <a:ext cx="504056" cy="1626888"/>
          </a:xfrm>
          <a:prstGeom prst="bentConnector3">
            <a:avLst>
              <a:gd name="adj1" fmla="val 50000"/>
            </a:avLst>
          </a:prstGeom>
          <a:ln>
            <a:solidFill>
              <a:schemeClr val="tx1">
                <a:lumMod val="50000"/>
                <a:lumOff val="50000"/>
              </a:schemeClr>
            </a:solidFill>
            <a:prstDash val="dash"/>
            <a:tailEnd type="triangle" w="sm" len="med"/>
          </a:ln>
        </p:spPr>
        <p:style>
          <a:lnRef idx="1">
            <a:schemeClr val="accent1"/>
          </a:lnRef>
          <a:fillRef idx="0">
            <a:schemeClr val="accent1"/>
          </a:fillRef>
          <a:effectRef idx="0">
            <a:schemeClr val="accent1"/>
          </a:effectRef>
          <a:fontRef idx="minor">
            <a:schemeClr val="tx1"/>
          </a:fontRef>
        </p:style>
      </p:cxnSp>
      <p:sp>
        <p:nvSpPr>
          <p:cNvPr id="323" name="文字方塊 322">
            <a:extLst>
              <a:ext uri="{FF2B5EF4-FFF2-40B4-BE49-F238E27FC236}">
                <a16:creationId xmlns:a16="http://schemas.microsoft.com/office/drawing/2014/main" id="{4D35A4DB-5505-3BA7-AA9B-75F94A875DD7}"/>
              </a:ext>
            </a:extLst>
          </p:cNvPr>
          <p:cNvSpPr txBox="1"/>
          <p:nvPr/>
        </p:nvSpPr>
        <p:spPr>
          <a:xfrm>
            <a:off x="5652120" y="5069655"/>
            <a:ext cx="899391" cy="209704"/>
          </a:xfrm>
          <a:prstGeom prst="rect">
            <a:avLst/>
          </a:prstGeom>
          <a:noFill/>
        </p:spPr>
        <p:txBody>
          <a:bodyPr wrap="none" lIns="0" tIns="0" rIns="0" bIns="0" anchor="ctr" anchorCtr="1">
            <a:noAutofit/>
          </a:bodyPr>
          <a:lstStyle/>
          <a:p>
            <a:r>
              <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rPr>
              <a:t>Router Expert</a:t>
            </a:r>
          </a:p>
        </p:txBody>
      </p:sp>
      <p:sp>
        <p:nvSpPr>
          <p:cNvPr id="363" name="文字方塊 362">
            <a:extLst>
              <a:ext uri="{FF2B5EF4-FFF2-40B4-BE49-F238E27FC236}">
                <a16:creationId xmlns:a16="http://schemas.microsoft.com/office/drawing/2014/main" id="{893794DC-31E3-4257-E693-790683EF6BD3}"/>
              </a:ext>
            </a:extLst>
          </p:cNvPr>
          <p:cNvSpPr txBox="1"/>
          <p:nvPr/>
        </p:nvSpPr>
        <p:spPr>
          <a:xfrm>
            <a:off x="6823274" y="3839199"/>
            <a:ext cx="963697" cy="264500"/>
          </a:xfrm>
          <a:prstGeom prst="rect">
            <a:avLst/>
          </a:prstGeom>
          <a:noFill/>
        </p:spPr>
        <p:txBody>
          <a:bodyPr wrap="none" lIns="0" tIns="0" rIns="0" bIns="0" anchor="ctr" anchorCtr="1">
            <a:noAutofit/>
          </a:bodyPr>
          <a:lstStyle/>
          <a:p>
            <a:pPr algn="ctr"/>
            <a:r>
              <a:rPr lang="en-US" altLang="zh-TW" sz="1200" dirty="0">
                <a:solidFill>
                  <a:prstClr val="black"/>
                </a:solidFill>
                <a:ea typeface="Cambria Math" panose="02040503050406030204" pitchFamily="18" charset="0"/>
              </a:rPr>
              <a:t>Token Indexing</a:t>
            </a:r>
            <a:endPar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379" name="矩形: 圓角 378">
            <a:extLst>
              <a:ext uri="{FF2B5EF4-FFF2-40B4-BE49-F238E27FC236}">
                <a16:creationId xmlns:a16="http://schemas.microsoft.com/office/drawing/2014/main" id="{5D7C8B80-BA46-4D8C-F02D-D045A0C5685D}"/>
              </a:ext>
            </a:extLst>
          </p:cNvPr>
          <p:cNvSpPr/>
          <p:nvPr/>
        </p:nvSpPr>
        <p:spPr>
          <a:xfrm>
            <a:off x="8355366" y="5135343"/>
            <a:ext cx="287468" cy="302259"/>
          </a:xfrm>
          <a:prstGeom prst="roundRect">
            <a:avLst>
              <a:gd name="adj" fmla="val 13748"/>
            </a:avLst>
          </a:prstGeom>
          <a:solidFill>
            <a:srgbClr val="DCE6F2">
              <a:alpha val="40000"/>
            </a:srgbClr>
          </a:solidFill>
          <a:ln w="19050">
            <a:solidFill>
              <a:schemeClr val="bg1">
                <a:lumMod val="50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lang="en-US" altLang="zh-TW" sz="1200" b="1" dirty="0">
                <a:solidFill>
                  <a:prstClr val="black"/>
                </a:solidFill>
                <a:latin typeface="Calibri"/>
                <a:ea typeface="微軟正黑體" panose="020B0604030504040204" pitchFamily="34" charset="-120"/>
              </a:rPr>
              <a:t>W</a:t>
            </a:r>
            <a:br>
              <a:rPr lang="en-US" altLang="zh-TW" sz="1000" dirty="0">
                <a:solidFill>
                  <a:prstClr val="black"/>
                </a:solidFill>
                <a:latin typeface="Calibri"/>
                <a:ea typeface="微軟正黑體" panose="020B0604030504040204" pitchFamily="34" charset="-120"/>
              </a:rPr>
            </a:br>
            <a:r>
              <a:rPr lang="en-US" altLang="zh-TW" sz="1000" dirty="0">
                <a:solidFill>
                  <a:prstClr val="black"/>
                </a:solidFill>
                <a:latin typeface="Calibri"/>
                <a:ea typeface="微軟正黑體" panose="020B0604030504040204" pitchFamily="34" charset="-120"/>
              </a:rPr>
              <a:t>Dxd</a:t>
            </a:r>
            <a:endPar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sp>
        <p:nvSpPr>
          <p:cNvPr id="402" name="文字方塊 401">
            <a:extLst>
              <a:ext uri="{FF2B5EF4-FFF2-40B4-BE49-F238E27FC236}">
                <a16:creationId xmlns:a16="http://schemas.microsoft.com/office/drawing/2014/main" id="{F0E46714-1E9B-EC55-8158-5918CAAB137B}"/>
              </a:ext>
            </a:extLst>
          </p:cNvPr>
          <p:cNvSpPr txBox="1"/>
          <p:nvPr/>
        </p:nvSpPr>
        <p:spPr>
          <a:xfrm>
            <a:off x="8172400" y="5135343"/>
            <a:ext cx="182966"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x</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cxnSp>
        <p:nvCxnSpPr>
          <p:cNvPr id="407" name="接點: 弧形 406">
            <a:extLst>
              <a:ext uri="{FF2B5EF4-FFF2-40B4-BE49-F238E27FC236}">
                <a16:creationId xmlns:a16="http://schemas.microsoft.com/office/drawing/2014/main" id="{283B3667-663B-D000-4FC0-64C6452E2C4A}"/>
              </a:ext>
            </a:extLst>
          </p:cNvPr>
          <p:cNvCxnSpPr>
            <a:cxnSpLocks/>
            <a:stCxn id="406" idx="0"/>
            <a:endCxn id="259" idx="3"/>
          </p:cNvCxnSpPr>
          <p:nvPr/>
        </p:nvCxnSpPr>
        <p:spPr>
          <a:xfrm rot="16200000" flipV="1">
            <a:off x="8118153" y="4174208"/>
            <a:ext cx="354412" cy="415730"/>
          </a:xfrm>
          <a:prstGeom prst="curvedConnector2">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14" name="接點: 弧形 413">
            <a:extLst>
              <a:ext uri="{FF2B5EF4-FFF2-40B4-BE49-F238E27FC236}">
                <a16:creationId xmlns:a16="http://schemas.microsoft.com/office/drawing/2014/main" id="{C152E6B8-B2A8-1458-4C5C-CB945E0D4F14}"/>
              </a:ext>
            </a:extLst>
          </p:cNvPr>
          <p:cNvCxnSpPr>
            <a:cxnSpLocks/>
            <a:stCxn id="379" idx="0"/>
            <a:endCxn id="404" idx="3"/>
          </p:cNvCxnSpPr>
          <p:nvPr/>
        </p:nvCxnSpPr>
        <p:spPr>
          <a:xfrm rot="16200000" flipV="1">
            <a:off x="8139011" y="4775254"/>
            <a:ext cx="321471" cy="398708"/>
          </a:xfrm>
          <a:prstGeom prst="curvedConnector2">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00" name="文字方塊 399">
            <a:extLst>
              <a:ext uri="{FF2B5EF4-FFF2-40B4-BE49-F238E27FC236}">
                <a16:creationId xmlns:a16="http://schemas.microsoft.com/office/drawing/2014/main" id="{FEF4DBA8-8A61-29F3-F772-B9E20697288B}"/>
              </a:ext>
            </a:extLst>
          </p:cNvPr>
          <p:cNvSpPr txBox="1"/>
          <p:nvPr/>
        </p:nvSpPr>
        <p:spPr>
          <a:xfrm>
            <a:off x="8100392" y="4559279"/>
            <a:ext cx="252367" cy="276776"/>
          </a:xfrm>
          <a:prstGeom prst="rect">
            <a:avLst/>
          </a:prstGeom>
          <a:solidFill>
            <a:schemeClr val="bg1">
              <a:alpha val="60000"/>
            </a:schemeClr>
          </a:solidFill>
        </p:spPr>
        <p:txBody>
          <a:bodyPr wrap="none" lIns="0" tIns="0" rIns="0" bIns="0" anchor="ctr" anchorCtr="1">
            <a:noAutofit/>
          </a:bodyPr>
          <a:lstStyle/>
          <a:p>
            <a:r>
              <a:rPr lang="en-US" altLang="zh-TW" sz="1400" b="1" dirty="0">
                <a:solidFill>
                  <a:prstClr val="black"/>
                </a:solidFill>
                <a:ea typeface="Cambria Math" panose="02040503050406030204" pitchFamily="18" charset="0"/>
              </a:rPr>
              <a:t> </a:t>
            </a:r>
            <a:r>
              <a:rPr kumimoji="0" lang="az-Cyrl-AZ" altLang="zh-TW" sz="1400" b="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Ꙩ</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406" name="矩形: 圓角 405">
            <a:extLst>
              <a:ext uri="{FF2B5EF4-FFF2-40B4-BE49-F238E27FC236}">
                <a16:creationId xmlns:a16="http://schemas.microsoft.com/office/drawing/2014/main" id="{2CD424B4-D781-066A-AA82-5B1D7C173188}"/>
              </a:ext>
            </a:extLst>
          </p:cNvPr>
          <p:cNvSpPr/>
          <p:nvPr/>
        </p:nvSpPr>
        <p:spPr>
          <a:xfrm>
            <a:off x="8365657" y="4559279"/>
            <a:ext cx="275134" cy="276776"/>
          </a:xfrm>
          <a:prstGeom prst="roundRect">
            <a:avLst>
              <a:gd name="adj" fmla="val 13748"/>
            </a:avLst>
          </a:prstGeom>
          <a:solidFill>
            <a:schemeClr val="bg1">
              <a:alpha val="60000"/>
            </a:schemeClr>
          </a:solidFill>
          <a:ln w="19050">
            <a:solidFill>
              <a:schemeClr val="bg1">
                <a:lumMod val="50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400"/>
              </a:lnSpc>
              <a:spcBef>
                <a:spcPts val="0"/>
              </a:spcBef>
              <a:spcAft>
                <a:spcPts val="0"/>
              </a:spcAft>
              <a:buClrTx/>
              <a:buSzTx/>
              <a:buFontTx/>
              <a:buNone/>
              <a:tabLst/>
              <a:defRPr/>
            </a:pPr>
            <a:r>
              <a:rPr lang="el-GR" altLang="zh-TW" sz="1400" b="1" dirty="0">
                <a:solidFill>
                  <a:prstClr val="black"/>
                </a:solidFill>
                <a:latin typeface="Calibri"/>
                <a:ea typeface="微軟正黑體" panose="020B0604030504040204" pitchFamily="34" charset="-120"/>
              </a:rPr>
              <a:t>σ</a:t>
            </a:r>
            <a:endParaRPr lang="en-US" altLang="zh-TW" sz="1400" b="1" dirty="0">
              <a:solidFill>
                <a:prstClr val="black"/>
              </a:solidFill>
              <a:latin typeface="Calibri"/>
              <a:ea typeface="微軟正黑體" panose="020B0604030504040204" pitchFamily="34" charset="-120"/>
            </a:endParaRPr>
          </a:p>
          <a:p>
            <a:pPr marL="0" marR="0" lvl="0" indent="0" algn="ctr" defTabSz="914400" rtl="0" eaLnBrk="1" fontAlgn="auto" latinLnBrk="0" hangingPunct="1">
              <a:lnSpc>
                <a:spcPts val="800"/>
              </a:lnSpc>
              <a:spcBef>
                <a:spcPts val="0"/>
              </a:spcBef>
              <a:spcAft>
                <a:spcPts val="0"/>
              </a:spcAft>
              <a:buClrTx/>
              <a:buSzTx/>
              <a:buFontTx/>
              <a:buNone/>
              <a:tabLst/>
              <a:defRPr/>
            </a:pPr>
            <a:r>
              <a:rPr kumimoji="0" lang="en-US" altLang="zh-TW" sz="1000" i="0" u="none" strike="noStrike" kern="1200" cap="none" spc="0" normalizeH="0" noProof="0" dirty="0">
                <a:ln>
                  <a:noFill/>
                </a:ln>
                <a:solidFill>
                  <a:prstClr val="black"/>
                </a:solidFill>
                <a:effectLst/>
                <a:uLnTx/>
                <a:uFillTx/>
                <a:latin typeface="Calibri"/>
                <a:ea typeface="微軟正黑體" panose="020B0604030504040204" pitchFamily="34" charset="-120"/>
                <a:cs typeface="+mn-cs"/>
              </a:rPr>
              <a:t>1xd</a:t>
            </a:r>
          </a:p>
        </p:txBody>
      </p:sp>
      <p:graphicFrame>
        <p:nvGraphicFramePr>
          <p:cNvPr id="404" name="表格 403">
            <a:extLst>
              <a:ext uri="{FF2B5EF4-FFF2-40B4-BE49-F238E27FC236}">
                <a16:creationId xmlns:a16="http://schemas.microsoft.com/office/drawing/2014/main" id="{D620125A-2C57-6A0F-E0FD-4F9D30D787A7}"/>
              </a:ext>
            </a:extLst>
          </p:cNvPr>
          <p:cNvGraphicFramePr>
            <a:graphicFrameLocks noGrp="1"/>
          </p:cNvGraphicFramePr>
          <p:nvPr/>
        </p:nvGraphicFramePr>
        <p:xfrm>
          <a:off x="6836172" y="4662743"/>
          <a:ext cx="1264220" cy="302259"/>
        </p:xfrm>
        <a:graphic>
          <a:graphicData uri="http://schemas.openxmlformats.org/drawingml/2006/table">
            <a:tbl>
              <a:tblPr firstRow="1" bandRow="1">
                <a:tableStyleId>{5C22544A-7EE6-4342-B048-85BDC9FD1C3A}</a:tableStyleId>
              </a:tblPr>
              <a:tblGrid>
                <a:gridCol w="180603">
                  <a:extLst>
                    <a:ext uri="{9D8B030D-6E8A-4147-A177-3AD203B41FA5}">
                      <a16:colId xmlns:a16="http://schemas.microsoft.com/office/drawing/2014/main" val="871242339"/>
                    </a:ext>
                  </a:extLst>
                </a:gridCol>
                <a:gridCol w="219521">
                  <a:extLst>
                    <a:ext uri="{9D8B030D-6E8A-4147-A177-3AD203B41FA5}">
                      <a16:colId xmlns:a16="http://schemas.microsoft.com/office/drawing/2014/main" val="337396536"/>
                    </a:ext>
                  </a:extLst>
                </a:gridCol>
                <a:gridCol w="141685">
                  <a:extLst>
                    <a:ext uri="{9D8B030D-6E8A-4147-A177-3AD203B41FA5}">
                      <a16:colId xmlns:a16="http://schemas.microsoft.com/office/drawing/2014/main" val="334335693"/>
                    </a:ext>
                  </a:extLst>
                </a:gridCol>
                <a:gridCol w="180603">
                  <a:extLst>
                    <a:ext uri="{9D8B030D-6E8A-4147-A177-3AD203B41FA5}">
                      <a16:colId xmlns:a16="http://schemas.microsoft.com/office/drawing/2014/main" val="2850820999"/>
                    </a:ext>
                  </a:extLst>
                </a:gridCol>
                <a:gridCol w="180603">
                  <a:extLst>
                    <a:ext uri="{9D8B030D-6E8A-4147-A177-3AD203B41FA5}">
                      <a16:colId xmlns:a16="http://schemas.microsoft.com/office/drawing/2014/main" val="3242229700"/>
                    </a:ext>
                  </a:extLst>
                </a:gridCol>
                <a:gridCol w="361205">
                  <a:extLst>
                    <a:ext uri="{9D8B030D-6E8A-4147-A177-3AD203B41FA5}">
                      <a16:colId xmlns:a16="http://schemas.microsoft.com/office/drawing/2014/main" val="940613947"/>
                    </a:ext>
                  </a:extLst>
                </a:gridCol>
              </a:tblGrid>
              <a:tr h="302259">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w</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bg1">
                          <a:lumMod val="5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w</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3175" cap="flat" cmpd="sng" algn="ctr">
                      <a:solidFill>
                        <a:schemeClr val="accent6">
                          <a:lumMod val="60000"/>
                          <a:lumOff val="4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3175"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w</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256</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52794"/>
                  </a:ext>
                </a:extLst>
              </a:tr>
            </a:tbl>
          </a:graphicData>
        </a:graphic>
      </p:graphicFrame>
      <p:sp>
        <p:nvSpPr>
          <p:cNvPr id="427" name="文字方塊 426">
            <a:extLst>
              <a:ext uri="{FF2B5EF4-FFF2-40B4-BE49-F238E27FC236}">
                <a16:creationId xmlns:a16="http://schemas.microsoft.com/office/drawing/2014/main" id="{217E2122-45A9-A144-4DC3-8F6B407AD7D6}"/>
              </a:ext>
            </a:extLst>
          </p:cNvPr>
          <p:cNvSpPr txBox="1"/>
          <p:nvPr/>
        </p:nvSpPr>
        <p:spPr>
          <a:xfrm>
            <a:off x="6836172" y="4475026"/>
            <a:ext cx="646847" cy="203300"/>
          </a:xfrm>
          <a:prstGeom prst="rect">
            <a:avLst/>
          </a:prstGeom>
          <a:noFill/>
        </p:spPr>
        <p:txBody>
          <a:bodyPr wrap="none" lIns="0" tIns="0" rIns="0" bIns="0" anchor="ctr" anchorCtr="1">
            <a:noAutofit/>
          </a:bodyPr>
          <a:lstStyle/>
          <a:p>
            <a:r>
              <a:rPr lang="en-US" altLang="zh-TW" sz="1200" dirty="0">
                <a:solidFill>
                  <a:prstClr val="black"/>
                </a:solidFill>
                <a:ea typeface="Cambria Math" panose="02040503050406030204" pitchFamily="18" charset="0"/>
              </a:rPr>
              <a:t>Sigmoid</a:t>
            </a:r>
            <a:endPar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435" name="矩形 434">
            <a:extLst>
              <a:ext uri="{FF2B5EF4-FFF2-40B4-BE49-F238E27FC236}">
                <a16:creationId xmlns:a16="http://schemas.microsoft.com/office/drawing/2014/main" id="{93C22FB2-90C1-F53F-B011-B636863DE760}"/>
              </a:ext>
            </a:extLst>
          </p:cNvPr>
          <p:cNvSpPr/>
          <p:nvPr/>
        </p:nvSpPr>
        <p:spPr>
          <a:xfrm>
            <a:off x="282880" y="5308701"/>
            <a:ext cx="362588" cy="424555"/>
          </a:xfrm>
          <a:prstGeom prst="rect">
            <a:avLst/>
          </a:prstGeom>
          <a:solidFill>
            <a:schemeClr val="bg2">
              <a:lumMod val="90000"/>
            </a:schemeClr>
          </a:solidFill>
          <a:ln w="381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6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VC</a:t>
            </a:r>
            <a:endParaRPr lang="en-US" altLang="zh-TW" sz="160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437" name="矩形 436">
            <a:extLst>
              <a:ext uri="{FF2B5EF4-FFF2-40B4-BE49-F238E27FC236}">
                <a16:creationId xmlns:a16="http://schemas.microsoft.com/office/drawing/2014/main" id="{BEAB8542-2686-4514-E959-9EA174D19FBC}"/>
              </a:ext>
            </a:extLst>
          </p:cNvPr>
          <p:cNvSpPr/>
          <p:nvPr/>
        </p:nvSpPr>
        <p:spPr>
          <a:xfrm>
            <a:off x="1939064" y="5308701"/>
            <a:ext cx="362588" cy="424555"/>
          </a:xfrm>
          <a:prstGeom prst="rect">
            <a:avLst/>
          </a:prstGeom>
          <a:solidFill>
            <a:schemeClr val="bg2">
              <a:lumMod val="90000"/>
            </a:schemeClr>
          </a:solidFill>
          <a:ln w="381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6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VC</a:t>
            </a:r>
            <a:endParaRPr lang="en-US" altLang="zh-TW" sz="160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cxnSp>
        <p:nvCxnSpPr>
          <p:cNvPr id="448" name="接點: 肘形 447">
            <a:extLst>
              <a:ext uri="{FF2B5EF4-FFF2-40B4-BE49-F238E27FC236}">
                <a16:creationId xmlns:a16="http://schemas.microsoft.com/office/drawing/2014/main" id="{86BDD8D5-6E1C-36F0-C470-332C3C95F5EA}"/>
              </a:ext>
            </a:extLst>
          </p:cNvPr>
          <p:cNvCxnSpPr>
            <a:cxnSpLocks/>
            <a:stCxn id="363" idx="3"/>
          </p:cNvCxnSpPr>
          <p:nvPr/>
        </p:nvCxnSpPr>
        <p:spPr>
          <a:xfrm flipV="1">
            <a:off x="7786971" y="3573095"/>
            <a:ext cx="705044" cy="398354"/>
          </a:xfrm>
          <a:prstGeom prst="bentConnector2">
            <a:avLst/>
          </a:prstGeom>
          <a:ln>
            <a:solidFill>
              <a:schemeClr val="accent6">
                <a:lumMod val="50000"/>
              </a:schemeClr>
            </a:solidFill>
            <a:prstDash val="sysDot"/>
            <a:tailEnd type="triangle" w="sm" len="med"/>
          </a:ln>
        </p:spPr>
        <p:style>
          <a:lnRef idx="1">
            <a:schemeClr val="accent1"/>
          </a:lnRef>
          <a:fillRef idx="0">
            <a:schemeClr val="accent1"/>
          </a:fillRef>
          <a:effectRef idx="0">
            <a:schemeClr val="accent1"/>
          </a:effectRef>
          <a:fontRef idx="minor">
            <a:schemeClr val="tx1"/>
          </a:fontRef>
        </p:style>
      </p:cxnSp>
      <p:sp>
        <p:nvSpPr>
          <p:cNvPr id="466" name="文字方塊 465">
            <a:extLst>
              <a:ext uri="{FF2B5EF4-FFF2-40B4-BE49-F238E27FC236}">
                <a16:creationId xmlns:a16="http://schemas.microsoft.com/office/drawing/2014/main" id="{601CD636-6C2B-D4B4-38E8-3B3134827941}"/>
              </a:ext>
            </a:extLst>
          </p:cNvPr>
          <p:cNvSpPr txBox="1"/>
          <p:nvPr/>
        </p:nvSpPr>
        <p:spPr>
          <a:xfrm>
            <a:off x="6823274" y="3191127"/>
            <a:ext cx="1135886" cy="209227"/>
          </a:xfrm>
          <a:prstGeom prst="rect">
            <a:avLst/>
          </a:prstGeom>
          <a:noFill/>
        </p:spPr>
        <p:txBody>
          <a:bodyPr wrap="none" lIns="0" tIns="0" rIns="0" bIns="0" anchor="ctr" anchorCtr="1">
            <a:noAutofit/>
          </a:bodyPr>
          <a:lstStyle/>
          <a:p>
            <a:pPr algn="ctr"/>
            <a:r>
              <a:rPr lang="en-US" altLang="zh-TW" sz="1200" dirty="0">
                <a:solidFill>
                  <a:prstClr val="black"/>
                </a:solidFill>
                <a:ea typeface="Cambria Math" panose="02040503050406030204" pitchFamily="18" charset="0"/>
              </a:rPr>
              <a:t>Layer</a:t>
            </a:r>
            <a:r>
              <a:rPr lang="zh-TW" altLang="en-US" sz="1200" dirty="0">
                <a:solidFill>
                  <a:prstClr val="black"/>
                </a:solidFill>
                <a:ea typeface="Cambria Math" panose="02040503050406030204" pitchFamily="18" charset="0"/>
              </a:rPr>
              <a:t> </a:t>
            </a:r>
            <a:r>
              <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rPr>
              <a:t>Embedding</a:t>
            </a:r>
          </a:p>
        </p:txBody>
      </p:sp>
      <p:sp>
        <p:nvSpPr>
          <p:cNvPr id="479" name="矩形: 圓角 478">
            <a:extLst>
              <a:ext uri="{FF2B5EF4-FFF2-40B4-BE49-F238E27FC236}">
                <a16:creationId xmlns:a16="http://schemas.microsoft.com/office/drawing/2014/main" id="{BA3675A3-5AB0-EB59-4310-B69F2FF8546E}"/>
              </a:ext>
            </a:extLst>
          </p:cNvPr>
          <p:cNvSpPr/>
          <p:nvPr/>
        </p:nvSpPr>
        <p:spPr>
          <a:xfrm>
            <a:off x="7365587" y="2787416"/>
            <a:ext cx="287468" cy="302259"/>
          </a:xfrm>
          <a:prstGeom prst="roundRect">
            <a:avLst>
              <a:gd name="adj" fmla="val 13748"/>
            </a:avLst>
          </a:prstGeom>
          <a:solidFill>
            <a:srgbClr val="DCE6F2">
              <a:alpha val="40000"/>
            </a:srgbClr>
          </a:solidFill>
          <a:ln w="19050">
            <a:solidFill>
              <a:schemeClr val="bg1">
                <a:lumMod val="50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lang="en-US" altLang="zh-TW" sz="1200" b="1" dirty="0">
                <a:solidFill>
                  <a:prstClr val="black"/>
                </a:solidFill>
                <a:latin typeface="Calibri"/>
                <a:ea typeface="微軟正黑體" panose="020B0604030504040204" pitchFamily="34" charset="-120"/>
              </a:rPr>
              <a:t>U</a:t>
            </a:r>
            <a:br>
              <a:rPr lang="en-US" altLang="zh-TW" sz="1000" dirty="0">
                <a:solidFill>
                  <a:prstClr val="black"/>
                </a:solidFill>
                <a:latin typeface="Calibri"/>
                <a:ea typeface="微軟正黑體" panose="020B0604030504040204" pitchFamily="34" charset="-120"/>
              </a:rPr>
            </a:br>
            <a:r>
              <a:rPr lang="en-US" altLang="zh-TW" sz="1000" dirty="0">
                <a:solidFill>
                  <a:prstClr val="black"/>
                </a:solidFill>
                <a:latin typeface="Calibri"/>
                <a:ea typeface="微軟正黑體" panose="020B0604030504040204" pitchFamily="34" charset="-120"/>
              </a:rPr>
              <a:t>dxD</a:t>
            </a:r>
            <a:endPar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graphicFrame>
        <p:nvGraphicFramePr>
          <p:cNvPr id="481" name="表格 480">
            <a:extLst>
              <a:ext uri="{FF2B5EF4-FFF2-40B4-BE49-F238E27FC236}">
                <a16:creationId xmlns:a16="http://schemas.microsoft.com/office/drawing/2014/main" id="{7839B24F-E8C9-FA65-5AE0-8708806FC5CF}"/>
              </a:ext>
            </a:extLst>
          </p:cNvPr>
          <p:cNvGraphicFramePr>
            <a:graphicFrameLocks noGrp="1"/>
          </p:cNvGraphicFramePr>
          <p:nvPr/>
        </p:nvGraphicFramePr>
        <p:xfrm>
          <a:off x="5652400" y="2209192"/>
          <a:ext cx="2520000" cy="261855"/>
        </p:xfrm>
        <a:graphic>
          <a:graphicData uri="http://schemas.openxmlformats.org/drawingml/2006/table">
            <a:tbl>
              <a:tblPr firstRow="1" bandRow="1">
                <a:tableStyleId>{5C22544A-7EE6-4342-B048-85BDC9FD1C3A}</a:tableStyleId>
              </a:tblPr>
              <a:tblGrid>
                <a:gridCol w="252000">
                  <a:extLst>
                    <a:ext uri="{9D8B030D-6E8A-4147-A177-3AD203B41FA5}">
                      <a16:colId xmlns:a16="http://schemas.microsoft.com/office/drawing/2014/main" val="871242339"/>
                    </a:ext>
                  </a:extLst>
                </a:gridCol>
                <a:gridCol w="252000">
                  <a:extLst>
                    <a:ext uri="{9D8B030D-6E8A-4147-A177-3AD203B41FA5}">
                      <a16:colId xmlns:a16="http://schemas.microsoft.com/office/drawing/2014/main" val="337396536"/>
                    </a:ext>
                  </a:extLst>
                </a:gridCol>
                <a:gridCol w="252000">
                  <a:extLst>
                    <a:ext uri="{9D8B030D-6E8A-4147-A177-3AD203B41FA5}">
                      <a16:colId xmlns:a16="http://schemas.microsoft.com/office/drawing/2014/main" val="506512337"/>
                    </a:ext>
                  </a:extLst>
                </a:gridCol>
                <a:gridCol w="252000">
                  <a:extLst>
                    <a:ext uri="{9D8B030D-6E8A-4147-A177-3AD203B41FA5}">
                      <a16:colId xmlns:a16="http://schemas.microsoft.com/office/drawing/2014/main" val="223754513"/>
                    </a:ext>
                  </a:extLst>
                </a:gridCol>
                <a:gridCol w="252000">
                  <a:extLst>
                    <a:ext uri="{9D8B030D-6E8A-4147-A177-3AD203B41FA5}">
                      <a16:colId xmlns:a16="http://schemas.microsoft.com/office/drawing/2014/main" val="213621589"/>
                    </a:ext>
                  </a:extLst>
                </a:gridCol>
                <a:gridCol w="252000">
                  <a:extLst>
                    <a:ext uri="{9D8B030D-6E8A-4147-A177-3AD203B41FA5}">
                      <a16:colId xmlns:a16="http://schemas.microsoft.com/office/drawing/2014/main" val="334335693"/>
                    </a:ext>
                  </a:extLst>
                </a:gridCol>
                <a:gridCol w="252000">
                  <a:extLst>
                    <a:ext uri="{9D8B030D-6E8A-4147-A177-3AD203B41FA5}">
                      <a16:colId xmlns:a16="http://schemas.microsoft.com/office/drawing/2014/main" val="2850820999"/>
                    </a:ext>
                  </a:extLst>
                </a:gridCol>
                <a:gridCol w="252000">
                  <a:extLst>
                    <a:ext uri="{9D8B030D-6E8A-4147-A177-3AD203B41FA5}">
                      <a16:colId xmlns:a16="http://schemas.microsoft.com/office/drawing/2014/main" val="3242229700"/>
                    </a:ext>
                  </a:extLst>
                </a:gridCol>
                <a:gridCol w="504000">
                  <a:extLst>
                    <a:ext uri="{9D8B030D-6E8A-4147-A177-3AD203B41FA5}">
                      <a16:colId xmlns:a16="http://schemas.microsoft.com/office/drawing/2014/main" val="940613947"/>
                    </a:ext>
                  </a:extLst>
                </a:gridCol>
              </a:tblGrid>
              <a:tr h="261855">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a1</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bg1">
                          <a:lumMod val="5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a2</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3</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1536</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bl>
          </a:graphicData>
        </a:graphic>
      </p:graphicFrame>
      <p:graphicFrame>
        <p:nvGraphicFramePr>
          <p:cNvPr id="483" name="表格 482">
            <a:extLst>
              <a:ext uri="{FF2B5EF4-FFF2-40B4-BE49-F238E27FC236}">
                <a16:creationId xmlns:a16="http://schemas.microsoft.com/office/drawing/2014/main" id="{AEC15D6B-8F12-7274-D8CA-BBA776A2A819}"/>
              </a:ext>
            </a:extLst>
          </p:cNvPr>
          <p:cNvGraphicFramePr>
            <a:graphicFrameLocks noGrp="1"/>
          </p:cNvGraphicFramePr>
          <p:nvPr/>
        </p:nvGraphicFramePr>
        <p:xfrm>
          <a:off x="6823274" y="2787342"/>
          <a:ext cx="375653" cy="293524"/>
        </p:xfrm>
        <a:graphic>
          <a:graphicData uri="http://schemas.openxmlformats.org/drawingml/2006/table">
            <a:tbl>
              <a:tblPr firstRow="1" bandRow="1">
                <a:tableStyleId>{5C22544A-7EE6-4342-B048-85BDC9FD1C3A}</a:tableStyleId>
              </a:tblPr>
              <a:tblGrid>
                <a:gridCol w="375653">
                  <a:extLst>
                    <a:ext uri="{9D8B030D-6E8A-4147-A177-3AD203B41FA5}">
                      <a16:colId xmlns:a16="http://schemas.microsoft.com/office/drawing/2014/main" val="871242339"/>
                    </a:ext>
                  </a:extLst>
                </a:gridCol>
              </a:tblGrid>
              <a:tr h="293524">
                <a:tc>
                  <a:txBody>
                    <a:bodyPr/>
                    <a:lstStyle/>
                    <a:p>
                      <a:pPr algn="ctr"/>
                      <a:r>
                        <a:rPr lang="en-US" altLang="zh-TW" sz="1200" b="0" dirty="0">
                          <a:solidFill>
                            <a:schemeClr val="tx1"/>
                          </a:solidFill>
                          <a:latin typeface="+mn-lt"/>
                          <a:ea typeface="ADLaM Display" panose="02010000000000000000" pitchFamily="2" charset="0"/>
                          <a:cs typeface="ADLaM Display" panose="02010000000000000000" pitchFamily="2" charset="0"/>
                        </a:rPr>
                        <a:t>1xd</a:t>
                      </a:r>
                      <a:endParaRPr lang="zh-TW" altLang="en-US" sz="1200" b="0" baseline="-25000" dirty="0">
                        <a:solidFill>
                          <a:schemeClr val="tx1"/>
                        </a:solidFill>
                        <a:latin typeface="+mn-lt"/>
                        <a:cs typeface="ADLaM Display" panose="02010000000000000000" pitchFamily="2" charset="0"/>
                      </a:endParaRPr>
                    </a:p>
                  </a:txBody>
                  <a:tcPr marL="0" marR="0" marT="0" marB="0" anchor="ctr" anchorCtr="1">
                    <a:lnL w="19050" cap="flat" cmpd="sng" algn="ctr">
                      <a:solidFill>
                        <a:schemeClr val="accent6">
                          <a:lumMod val="75000"/>
                        </a:schemeClr>
                      </a:solidFill>
                      <a:prstDash val="solid"/>
                      <a:round/>
                      <a:headEnd type="none" w="med" len="med"/>
                      <a:tailEnd type="none" w="med" len="med"/>
                    </a:lnL>
                    <a:lnR w="19050" cap="flat" cmpd="sng" algn="ctr">
                      <a:solidFill>
                        <a:schemeClr val="accent6">
                          <a:lumMod val="75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51352794"/>
                  </a:ext>
                </a:extLst>
              </a:tr>
            </a:tbl>
          </a:graphicData>
        </a:graphic>
      </p:graphicFrame>
      <p:sp>
        <p:nvSpPr>
          <p:cNvPr id="485" name="文字方塊 484">
            <a:extLst>
              <a:ext uri="{FF2B5EF4-FFF2-40B4-BE49-F238E27FC236}">
                <a16:creationId xmlns:a16="http://schemas.microsoft.com/office/drawing/2014/main" id="{9CD13066-2E3A-1DE9-04D9-DE7950BD9F3B}"/>
              </a:ext>
            </a:extLst>
          </p:cNvPr>
          <p:cNvSpPr txBox="1"/>
          <p:nvPr/>
        </p:nvSpPr>
        <p:spPr>
          <a:xfrm>
            <a:off x="7211082" y="2831087"/>
            <a:ext cx="131861" cy="199518"/>
          </a:xfrm>
          <a:prstGeom prst="rect">
            <a:avLst/>
          </a:prstGeom>
          <a:noFill/>
        </p:spPr>
        <p:txBody>
          <a:bodyPr wrap="none" lIns="0" tIns="0" rIns="0" bIns="0" anchor="ctr" anchorCtr="1">
            <a:noAutofit/>
          </a:bodyPr>
          <a:lstStyle/>
          <a:p>
            <a:pPr algn="ctr"/>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x</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487" name="文字方塊 486">
            <a:extLst>
              <a:ext uri="{FF2B5EF4-FFF2-40B4-BE49-F238E27FC236}">
                <a16:creationId xmlns:a16="http://schemas.microsoft.com/office/drawing/2014/main" id="{00BD9021-2B8C-8502-E177-B440F5AB8AD1}"/>
              </a:ext>
            </a:extLst>
          </p:cNvPr>
          <p:cNvSpPr txBox="1"/>
          <p:nvPr/>
        </p:nvSpPr>
        <p:spPr>
          <a:xfrm>
            <a:off x="6588779" y="1981367"/>
            <a:ext cx="313421" cy="273656"/>
          </a:xfrm>
          <a:prstGeom prst="rect">
            <a:avLst/>
          </a:prstGeom>
          <a:noFill/>
        </p:spPr>
        <p:txBody>
          <a:bodyPr wrap="none" lIns="0" tIns="0" rIns="0" bIns="0" anchor="ctr" anchorCtr="1">
            <a:noAutofit/>
          </a:bodyPr>
          <a:lstStyle/>
          <a:p>
            <a:r>
              <a:rPr lang="en-US" altLang="zh-TW" sz="1400" b="1" dirty="0">
                <a:solidFill>
                  <a:prstClr val="black"/>
                </a:solidFill>
                <a:ea typeface="Cambria Math" panose="02040503050406030204" pitchFamily="18" charset="0"/>
              </a:rPr>
              <a:t> </a:t>
            </a:r>
            <a:r>
              <a:rPr lang="en-US" altLang="zh-TW" sz="1400" b="1" dirty="0">
                <a:solidFill>
                  <a:prstClr val="black"/>
                </a:solidFill>
                <a:latin typeface="Calibri" panose="020F0502020204030204" pitchFamily="34" charset="0"/>
                <a:ea typeface="Calibri" panose="020F0502020204030204" pitchFamily="34" charset="0"/>
                <a:cs typeface="Calibri" panose="020F0502020204030204" pitchFamily="34" charset="0"/>
              </a:rPr>
              <a:t>+</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493" name="文字方塊 492">
            <a:extLst>
              <a:ext uri="{FF2B5EF4-FFF2-40B4-BE49-F238E27FC236}">
                <a16:creationId xmlns:a16="http://schemas.microsoft.com/office/drawing/2014/main" id="{98857429-EF92-0990-6978-5031DB735A89}"/>
              </a:ext>
            </a:extLst>
          </p:cNvPr>
          <p:cNvSpPr txBox="1"/>
          <p:nvPr/>
        </p:nvSpPr>
        <p:spPr>
          <a:xfrm>
            <a:off x="5652120" y="1549320"/>
            <a:ext cx="1321377" cy="273655"/>
          </a:xfrm>
          <a:prstGeom prst="rect">
            <a:avLst/>
          </a:prstGeom>
          <a:noFill/>
        </p:spPr>
        <p:txBody>
          <a:bodyPr wrap="none" lIns="0" tIns="0" rIns="0" bIns="0" anchor="ctr" anchorCtr="1">
            <a:noAutofit/>
          </a:bodyPr>
          <a:lstStyle/>
          <a:p>
            <a:pPr algn="ctr"/>
            <a:r>
              <a:rPr lang="en-US" altLang="zh-TW" sz="1200" dirty="0">
                <a:solidFill>
                  <a:prstClr val="black"/>
                </a:solidFill>
                <a:ea typeface="Cambria Math" panose="02040503050406030204" pitchFamily="18" charset="0"/>
              </a:rPr>
              <a:t>Residual Connection</a:t>
            </a:r>
            <a:endPar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cxnSp>
        <p:nvCxnSpPr>
          <p:cNvPr id="494" name="接點: 弧形 493">
            <a:extLst>
              <a:ext uri="{FF2B5EF4-FFF2-40B4-BE49-F238E27FC236}">
                <a16:creationId xmlns:a16="http://schemas.microsoft.com/office/drawing/2014/main" id="{FFB0C882-736B-3D0F-5CA2-57A6C262E225}"/>
              </a:ext>
            </a:extLst>
          </p:cNvPr>
          <p:cNvCxnSpPr>
            <a:cxnSpLocks/>
            <a:stCxn id="479" idx="3"/>
            <a:endCxn id="481" idx="3"/>
          </p:cNvCxnSpPr>
          <p:nvPr/>
        </p:nvCxnSpPr>
        <p:spPr>
          <a:xfrm flipV="1">
            <a:off x="7653055" y="2340119"/>
            <a:ext cx="519345" cy="598427"/>
          </a:xfrm>
          <a:prstGeom prst="curvedConnector3">
            <a:avLst>
              <a:gd name="adj1" fmla="val 144017"/>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右大括弧 5">
            <a:extLst>
              <a:ext uri="{FF2B5EF4-FFF2-40B4-BE49-F238E27FC236}">
                <a16:creationId xmlns:a16="http://schemas.microsoft.com/office/drawing/2014/main" id="{9A46D70C-1717-CAF4-6D18-D4C0564FAB2C}"/>
              </a:ext>
            </a:extLst>
          </p:cNvPr>
          <p:cNvSpPr/>
          <p:nvPr/>
        </p:nvSpPr>
        <p:spPr>
          <a:xfrm rot="5400000">
            <a:off x="6865727" y="4375632"/>
            <a:ext cx="92783" cy="2519999"/>
          </a:xfrm>
          <a:prstGeom prst="rightBrac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sp>
        <p:nvSpPr>
          <p:cNvPr id="9" name="文字方塊 8">
            <a:extLst>
              <a:ext uri="{FF2B5EF4-FFF2-40B4-BE49-F238E27FC236}">
                <a16:creationId xmlns:a16="http://schemas.microsoft.com/office/drawing/2014/main" id="{ACE49DA1-6208-1E69-1C0F-930C8428F673}"/>
              </a:ext>
            </a:extLst>
          </p:cNvPr>
          <p:cNvSpPr txBox="1"/>
          <p:nvPr/>
        </p:nvSpPr>
        <p:spPr>
          <a:xfrm>
            <a:off x="6712434" y="5620158"/>
            <a:ext cx="247476" cy="226195"/>
          </a:xfrm>
          <a:prstGeom prst="rect">
            <a:avLst/>
          </a:prstGeom>
          <a:noFill/>
        </p:spPr>
        <p:txBody>
          <a:bodyPr wrap="none" lIns="0" tIns="0" rIns="0" bIns="0" anchor="ctr" anchorCtr="1">
            <a:noAutofit/>
          </a:bodyPr>
          <a:lstStyle/>
          <a:p>
            <a:r>
              <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rPr>
              <a:t>D</a:t>
            </a:r>
          </a:p>
        </p:txBody>
      </p:sp>
      <p:sp>
        <p:nvSpPr>
          <p:cNvPr id="8" name="標題 1">
            <a:extLst>
              <a:ext uri="{FF2B5EF4-FFF2-40B4-BE49-F238E27FC236}">
                <a16:creationId xmlns:a16="http://schemas.microsoft.com/office/drawing/2014/main" id="{0B62D1D7-7CA2-48B3-1C24-713F566C49BE}"/>
              </a:ext>
            </a:extLst>
          </p:cNvPr>
          <p:cNvSpPr txBox="1">
            <a:spLocks/>
          </p:cNvSpPr>
          <p:nvPr/>
        </p:nvSpPr>
        <p:spPr>
          <a:xfrm>
            <a:off x="179512" y="116632"/>
            <a:ext cx="6978340"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DeepSeek-V4</a:t>
            </a:r>
            <a:br>
              <a:rPr lang="en-US" altLang="zh-TW" sz="2800" dirty="0">
                <a:latin typeface="Noto Sans HK" panose="020B0200000000000000" pitchFamily="34" charset="-120"/>
                <a:ea typeface="Noto Sans HK" panose="020B0200000000000000" pitchFamily="34" charset="-120"/>
                <a:cs typeface="Aharoni" panose="020F0502020204030204" pitchFamily="2" charset="-79"/>
              </a:rPr>
            </a:b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An ultra-cost-efficient hardware maximizer that slashes KV cache memory by over 90% through shared and fine-grained expert architectures. </a:t>
            </a: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sp>
        <p:nvSpPr>
          <p:cNvPr id="11" name="文字方塊 10">
            <a:extLst>
              <a:ext uri="{FF2B5EF4-FFF2-40B4-BE49-F238E27FC236}">
                <a16:creationId xmlns:a16="http://schemas.microsoft.com/office/drawing/2014/main" id="{950C84E0-E5F5-49C5-73CB-91FBAFA3FE1F}"/>
              </a:ext>
            </a:extLst>
          </p:cNvPr>
          <p:cNvSpPr txBox="1"/>
          <p:nvPr/>
        </p:nvSpPr>
        <p:spPr>
          <a:xfrm>
            <a:off x="5290094" y="5891739"/>
            <a:ext cx="307455" cy="300850"/>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P</a:t>
            </a:r>
            <a:r>
              <a:rPr kumimoji="0" lang="en-US" altLang="zh-TW" sz="1400" b="1" u="none" strike="noStrike" kern="1200" cap="none" spc="0" normalizeH="0" baseline="-25000" noProof="0" dirty="0">
                <a:ln>
                  <a:noFill/>
                </a:ln>
                <a:solidFill>
                  <a:prstClr val="black"/>
                </a:solidFill>
                <a:effectLst/>
                <a:uLnTx/>
                <a:uFillTx/>
                <a:ea typeface="Cambria Math" panose="02040503050406030204" pitchFamily="18" charset="0"/>
                <a:cs typeface="+mn-cs"/>
              </a:rPr>
              <a:t>2</a:t>
            </a:r>
            <a:r>
              <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rPr>
              <a:t> =</a:t>
            </a:r>
          </a:p>
        </p:txBody>
      </p:sp>
      <p:graphicFrame>
        <p:nvGraphicFramePr>
          <p:cNvPr id="13" name="表格 12">
            <a:extLst>
              <a:ext uri="{FF2B5EF4-FFF2-40B4-BE49-F238E27FC236}">
                <a16:creationId xmlns:a16="http://schemas.microsoft.com/office/drawing/2014/main" id="{59FD9172-2C29-6298-FF54-BEFC9E35BB57}"/>
              </a:ext>
            </a:extLst>
          </p:cNvPr>
          <p:cNvGraphicFramePr>
            <a:graphicFrameLocks noGrp="1"/>
          </p:cNvGraphicFramePr>
          <p:nvPr>
            <p:extLst>
              <p:ext uri="{D42A27DB-BD31-4B8C-83A1-F6EECF244321}">
                <p14:modId xmlns:p14="http://schemas.microsoft.com/office/powerpoint/2010/main" val="3033043750"/>
              </p:ext>
            </p:extLst>
          </p:nvPr>
        </p:nvGraphicFramePr>
        <p:xfrm>
          <a:off x="5663064" y="5883760"/>
          <a:ext cx="2437328" cy="914400"/>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3066584392"/>
                    </a:ext>
                  </a:extLst>
                </a:gridCol>
                <a:gridCol w="304666">
                  <a:extLst>
                    <a:ext uri="{9D8B030D-6E8A-4147-A177-3AD203B41FA5}">
                      <a16:colId xmlns:a16="http://schemas.microsoft.com/office/drawing/2014/main" val="3404935993"/>
                    </a:ext>
                  </a:extLst>
                </a:gridCol>
                <a:gridCol w="304666">
                  <a:extLst>
                    <a:ext uri="{9D8B030D-6E8A-4147-A177-3AD203B41FA5}">
                      <a16:colId xmlns:a16="http://schemas.microsoft.com/office/drawing/2014/main" val="194789956"/>
                    </a:ext>
                  </a:extLst>
                </a:gridCol>
                <a:gridCol w="304666">
                  <a:extLst>
                    <a:ext uri="{9D8B030D-6E8A-4147-A177-3AD203B41FA5}">
                      <a16:colId xmlns:a16="http://schemas.microsoft.com/office/drawing/2014/main" val="4011389836"/>
                    </a:ext>
                  </a:extLst>
                </a:gridCol>
                <a:gridCol w="304666">
                  <a:extLst>
                    <a:ext uri="{9D8B030D-6E8A-4147-A177-3AD203B41FA5}">
                      <a16:colId xmlns:a16="http://schemas.microsoft.com/office/drawing/2014/main" val="506512337"/>
                    </a:ext>
                  </a:extLst>
                </a:gridCol>
              </a:tblGrid>
              <a:tr h="14015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rgbClr val="FF0000"/>
                          </a:solidFill>
                          <a:latin typeface="ADLaM Display" panose="02010000000000000000" pitchFamily="2" charset="0"/>
                          <a:cs typeface="ADLaM Display" panose="02010000000000000000" pitchFamily="2" charset="0"/>
                        </a:rPr>
                        <a:t>0.08</a:t>
                      </a:r>
                      <a:endParaRPr lang="zh-TW" altLang="en-US" sz="1000" b="0" dirty="0">
                        <a:solidFill>
                          <a:srgbClr val="FF0000"/>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rgbClr val="FF0000"/>
                          </a:solidFill>
                          <a:latin typeface="ADLaM Display" panose="02010000000000000000" pitchFamily="2" charset="0"/>
                          <a:cs typeface="ADLaM Display" panose="02010000000000000000" pitchFamily="2" charset="0"/>
                        </a:rPr>
                        <a:t>0.92</a:t>
                      </a:r>
                      <a:endParaRPr lang="zh-TW" altLang="en-US" sz="1000" b="0" dirty="0">
                        <a:solidFill>
                          <a:srgbClr val="FF0000"/>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352794"/>
                  </a:ext>
                </a:extLst>
              </a:tr>
              <a:tr h="14015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0.75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0.25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14487370"/>
                  </a:ext>
                </a:extLst>
              </a:tr>
              <a:tr h="14015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39663110"/>
                  </a:ext>
                </a:extLst>
              </a:tr>
              <a:tr h="14015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0.44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65127993"/>
                  </a:ext>
                </a:extLst>
              </a:tr>
              <a:tr h="14015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0.77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52413032"/>
                  </a:ext>
                </a:extLst>
              </a:tr>
              <a:tr h="14015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0.81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az-Cyrl-AZ" altLang="zh-TW" sz="1000" b="0" dirty="0">
                          <a:solidFill>
                            <a:schemeClr val="tx1"/>
                          </a:solidFill>
                          <a:latin typeface="ADLaM Display" panose="02010000000000000000" pitchFamily="2" charset="0"/>
                          <a:cs typeface="ADLaM Display" panose="02010000000000000000" pitchFamily="2" charset="0"/>
                        </a:rPr>
                        <a:t>-ꚙ</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59252951"/>
                  </a:ext>
                </a:extLst>
              </a:tr>
            </a:tbl>
          </a:graphicData>
        </a:graphic>
      </p:graphicFrame>
      <p:sp>
        <p:nvSpPr>
          <p:cNvPr id="15" name="矩形 14">
            <a:extLst>
              <a:ext uri="{FF2B5EF4-FFF2-40B4-BE49-F238E27FC236}">
                <a16:creationId xmlns:a16="http://schemas.microsoft.com/office/drawing/2014/main" id="{4CCC2FF0-43AF-EF10-28C3-11AE9B336B2B}"/>
              </a:ext>
            </a:extLst>
          </p:cNvPr>
          <p:cNvSpPr/>
          <p:nvPr/>
        </p:nvSpPr>
        <p:spPr>
          <a:xfrm>
            <a:off x="5612935" y="5893917"/>
            <a:ext cx="2529877" cy="176939"/>
          </a:xfrm>
          <a:prstGeom prst="rect">
            <a:avLst/>
          </a:prstGeom>
          <a:solidFill>
            <a:schemeClr val="accent2">
              <a:lumMod val="20000"/>
              <a:lumOff val="80000"/>
              <a:alpha val="20000"/>
            </a:schemeClr>
          </a:solidFill>
          <a:ln w="19050">
            <a:solidFill>
              <a:srgbClr val="FF0000"/>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200"/>
              </a:lnSpc>
            </a:pPr>
            <a:endParaRPr lang="en-US" altLang="zh-TW" sz="1000" dirty="0">
              <a:solidFill>
                <a:srgbClr val="FF0000"/>
              </a:solidFill>
              <a:ea typeface="微軟正黑體" panose="020B0604030504040204" pitchFamily="34" charset="-120"/>
            </a:endParaRPr>
          </a:p>
        </p:txBody>
      </p:sp>
    </p:spTree>
    <p:extLst>
      <p:ext uri="{BB962C8B-B14F-4D97-AF65-F5344CB8AC3E}">
        <p14:creationId xmlns:p14="http://schemas.microsoft.com/office/powerpoint/2010/main" val="42760692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1">
            <a:extLst>
              <a:ext uri="{FF2B5EF4-FFF2-40B4-BE49-F238E27FC236}">
                <a16:creationId xmlns:a16="http://schemas.microsoft.com/office/drawing/2014/main" id="{30DED6B7-D27C-7C23-A712-41EDC5A3FF5B}"/>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Open Frontier AI</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Open weights, million-token context, and native re.</a:t>
            </a: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sp>
        <p:nvSpPr>
          <p:cNvPr id="50" name="矩形: 圓角 49">
            <a:extLst>
              <a:ext uri="{FF2B5EF4-FFF2-40B4-BE49-F238E27FC236}">
                <a16:creationId xmlns:a16="http://schemas.microsoft.com/office/drawing/2014/main" id="{64DF4748-2563-C95F-CD8B-B23093B217EB}"/>
              </a:ext>
            </a:extLst>
          </p:cNvPr>
          <p:cNvSpPr/>
          <p:nvPr/>
        </p:nvSpPr>
        <p:spPr>
          <a:xfrm>
            <a:off x="3962239" y="2031477"/>
            <a:ext cx="1219522" cy="27950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51" name="文字方塊 50">
            <a:extLst>
              <a:ext uri="{FF2B5EF4-FFF2-40B4-BE49-F238E27FC236}">
                <a16:creationId xmlns:a16="http://schemas.microsoft.com/office/drawing/2014/main" id="{B3B05DFA-C6A5-BD67-089D-8CF63670D2B5}"/>
              </a:ext>
            </a:extLst>
          </p:cNvPr>
          <p:cNvSpPr txBox="1"/>
          <p:nvPr/>
        </p:nvSpPr>
        <p:spPr>
          <a:xfrm>
            <a:off x="4038534" y="2190490"/>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7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52" name="文字方塊 51">
            <a:extLst>
              <a:ext uri="{FF2B5EF4-FFF2-40B4-BE49-F238E27FC236}">
                <a16:creationId xmlns:a16="http://schemas.microsoft.com/office/drawing/2014/main" id="{1F0E077F-AD25-CD34-536C-084B5C752214}"/>
              </a:ext>
            </a:extLst>
          </p:cNvPr>
          <p:cNvSpPr txBox="1"/>
          <p:nvPr/>
        </p:nvSpPr>
        <p:spPr>
          <a:xfrm>
            <a:off x="4034246" y="3356993"/>
            <a:ext cx="1086557" cy="374543"/>
          </a:xfrm>
          <a:prstGeom prst="rect">
            <a:avLst/>
          </a:prstGeom>
          <a:solidFill>
            <a:srgbClr val="DCE6F2">
              <a:alpha val="20000"/>
            </a:srgbClr>
          </a:solidFill>
          <a:ln w="15875">
            <a:solidFill>
              <a:schemeClr val="bg1">
                <a:lumMod val="8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CSA + HCA</a:t>
            </a:r>
          </a:p>
        </p:txBody>
      </p:sp>
      <p:cxnSp>
        <p:nvCxnSpPr>
          <p:cNvPr id="53" name="直線單箭頭接點 52">
            <a:extLst>
              <a:ext uri="{FF2B5EF4-FFF2-40B4-BE49-F238E27FC236}">
                <a16:creationId xmlns:a16="http://schemas.microsoft.com/office/drawing/2014/main" id="{E8C5EC6A-81B9-74D1-28B7-F1E70ABAE2AC}"/>
              </a:ext>
            </a:extLst>
          </p:cNvPr>
          <p:cNvCxnSpPr>
            <a:cxnSpLocks/>
            <a:stCxn id="71" idx="0"/>
            <a:endCxn id="72" idx="2"/>
          </p:cNvCxnSpPr>
          <p:nvPr/>
        </p:nvCxnSpPr>
        <p:spPr>
          <a:xfrm flipH="1" flipV="1">
            <a:off x="4564782" y="4509120"/>
            <a:ext cx="2070" cy="144016"/>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54" name="矩形: 圓角 53">
            <a:extLst>
              <a:ext uri="{FF2B5EF4-FFF2-40B4-BE49-F238E27FC236}">
                <a16:creationId xmlns:a16="http://schemas.microsoft.com/office/drawing/2014/main" id="{F34B9017-7912-F4E2-CEE9-4B3C6886F2F1}"/>
              </a:ext>
            </a:extLst>
          </p:cNvPr>
          <p:cNvSpPr/>
          <p:nvPr/>
        </p:nvSpPr>
        <p:spPr>
          <a:xfrm>
            <a:off x="3962239" y="1514155"/>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Next Layer</a:t>
            </a:r>
          </a:p>
        </p:txBody>
      </p:sp>
      <p:cxnSp>
        <p:nvCxnSpPr>
          <p:cNvPr id="55" name="直線單箭頭接點 54">
            <a:extLst>
              <a:ext uri="{FF2B5EF4-FFF2-40B4-BE49-F238E27FC236}">
                <a16:creationId xmlns:a16="http://schemas.microsoft.com/office/drawing/2014/main" id="{1D29F57F-03E1-E938-4099-F7A0B7A22010}"/>
              </a:ext>
            </a:extLst>
          </p:cNvPr>
          <p:cNvCxnSpPr>
            <a:cxnSpLocks/>
            <a:stCxn id="50" idx="0"/>
            <a:endCxn id="54" idx="2"/>
          </p:cNvCxnSpPr>
          <p:nvPr/>
        </p:nvCxnSpPr>
        <p:spPr>
          <a:xfrm flipV="1">
            <a:off x="4572000" y="1859401"/>
            <a:ext cx="0" cy="172076"/>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56" name="文字方塊 55">
            <a:extLst>
              <a:ext uri="{FF2B5EF4-FFF2-40B4-BE49-F238E27FC236}">
                <a16:creationId xmlns:a16="http://schemas.microsoft.com/office/drawing/2014/main" id="{365D265C-F8B2-9D87-AC16-E42C73620C0F}"/>
              </a:ext>
            </a:extLst>
          </p:cNvPr>
          <p:cNvSpPr txBox="1"/>
          <p:nvPr/>
        </p:nvSpPr>
        <p:spPr>
          <a:xfrm>
            <a:off x="4326566" y="2190490"/>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7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57" name="文字方塊 56">
            <a:extLst>
              <a:ext uri="{FF2B5EF4-FFF2-40B4-BE49-F238E27FC236}">
                <a16:creationId xmlns:a16="http://schemas.microsoft.com/office/drawing/2014/main" id="{045AD4BE-A34F-9A8E-53AA-0140AFFCE8AE}"/>
              </a:ext>
            </a:extLst>
          </p:cNvPr>
          <p:cNvSpPr txBox="1"/>
          <p:nvPr/>
        </p:nvSpPr>
        <p:spPr>
          <a:xfrm>
            <a:off x="4626473" y="2190490"/>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7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58" name="文字方塊 57">
            <a:extLst>
              <a:ext uri="{FF2B5EF4-FFF2-40B4-BE49-F238E27FC236}">
                <a16:creationId xmlns:a16="http://schemas.microsoft.com/office/drawing/2014/main" id="{DD0E03D4-9AB6-81D8-469C-ACAA8514179A}"/>
              </a:ext>
            </a:extLst>
          </p:cNvPr>
          <p:cNvSpPr txBox="1"/>
          <p:nvPr/>
        </p:nvSpPr>
        <p:spPr>
          <a:xfrm>
            <a:off x="4913106" y="2190490"/>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7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59" name="文字方塊 58">
            <a:extLst>
              <a:ext uri="{FF2B5EF4-FFF2-40B4-BE49-F238E27FC236}">
                <a16:creationId xmlns:a16="http://schemas.microsoft.com/office/drawing/2014/main" id="{0F969CE1-37C9-DAB8-D4B8-308733DAC810}"/>
              </a:ext>
            </a:extLst>
          </p:cNvPr>
          <p:cNvSpPr txBox="1"/>
          <p:nvPr/>
        </p:nvSpPr>
        <p:spPr>
          <a:xfrm>
            <a:off x="4034247" y="2459784"/>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7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60" name="文字方塊 59">
            <a:extLst>
              <a:ext uri="{FF2B5EF4-FFF2-40B4-BE49-F238E27FC236}">
                <a16:creationId xmlns:a16="http://schemas.microsoft.com/office/drawing/2014/main" id="{5EF51C88-F222-CA90-5A36-B7D8DEC4DD70}"/>
              </a:ext>
            </a:extLst>
          </p:cNvPr>
          <p:cNvSpPr txBox="1"/>
          <p:nvPr/>
        </p:nvSpPr>
        <p:spPr>
          <a:xfrm>
            <a:off x="4322279" y="2459784"/>
            <a:ext cx="201168" cy="201168"/>
          </a:xfrm>
          <a:prstGeom prst="rect">
            <a:avLst/>
          </a:prstGeom>
          <a:solidFill>
            <a:schemeClr val="accent2">
              <a:lumMod val="20000"/>
              <a:lumOff val="80000"/>
            </a:schemeClr>
          </a:solidFill>
          <a:ln w="25400">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7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61" name="文字方塊 60">
            <a:extLst>
              <a:ext uri="{FF2B5EF4-FFF2-40B4-BE49-F238E27FC236}">
                <a16:creationId xmlns:a16="http://schemas.microsoft.com/office/drawing/2014/main" id="{F8B02B8F-5028-E244-CA64-592C3949819B}"/>
              </a:ext>
            </a:extLst>
          </p:cNvPr>
          <p:cNvSpPr txBox="1"/>
          <p:nvPr/>
        </p:nvSpPr>
        <p:spPr>
          <a:xfrm>
            <a:off x="4622186" y="2459784"/>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7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62" name="文字方塊 61">
            <a:extLst>
              <a:ext uri="{FF2B5EF4-FFF2-40B4-BE49-F238E27FC236}">
                <a16:creationId xmlns:a16="http://schemas.microsoft.com/office/drawing/2014/main" id="{78F0D0AE-0108-DDEA-4860-5E1B96DF02FD}"/>
              </a:ext>
            </a:extLst>
          </p:cNvPr>
          <p:cNvSpPr txBox="1"/>
          <p:nvPr/>
        </p:nvSpPr>
        <p:spPr>
          <a:xfrm>
            <a:off x="4913106" y="2459784"/>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7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63" name="文字方塊 62">
            <a:extLst>
              <a:ext uri="{FF2B5EF4-FFF2-40B4-BE49-F238E27FC236}">
                <a16:creationId xmlns:a16="http://schemas.microsoft.com/office/drawing/2014/main" id="{CA906424-9A55-41C1-BEBA-09692CE744C5}"/>
              </a:ext>
            </a:extLst>
          </p:cNvPr>
          <p:cNvSpPr txBox="1"/>
          <p:nvPr/>
        </p:nvSpPr>
        <p:spPr>
          <a:xfrm>
            <a:off x="4037582" y="2738291"/>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7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64" name="文字方塊 63">
            <a:extLst>
              <a:ext uri="{FF2B5EF4-FFF2-40B4-BE49-F238E27FC236}">
                <a16:creationId xmlns:a16="http://schemas.microsoft.com/office/drawing/2014/main" id="{64C7D059-D9C6-7EEF-0EB4-F88FA8854810}"/>
              </a:ext>
            </a:extLst>
          </p:cNvPr>
          <p:cNvSpPr txBox="1"/>
          <p:nvPr/>
        </p:nvSpPr>
        <p:spPr>
          <a:xfrm>
            <a:off x="4325614" y="2738291"/>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7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65" name="文字方塊 64">
            <a:extLst>
              <a:ext uri="{FF2B5EF4-FFF2-40B4-BE49-F238E27FC236}">
                <a16:creationId xmlns:a16="http://schemas.microsoft.com/office/drawing/2014/main" id="{218CA57D-498E-7AE8-741D-9F77E2164A6A}"/>
              </a:ext>
            </a:extLst>
          </p:cNvPr>
          <p:cNvSpPr txBox="1"/>
          <p:nvPr/>
        </p:nvSpPr>
        <p:spPr>
          <a:xfrm>
            <a:off x="4625521" y="2738291"/>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7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66" name="文字方塊 65">
            <a:extLst>
              <a:ext uri="{FF2B5EF4-FFF2-40B4-BE49-F238E27FC236}">
                <a16:creationId xmlns:a16="http://schemas.microsoft.com/office/drawing/2014/main" id="{5BFE4507-D150-03D7-1A07-E3E0CD38DC3E}"/>
              </a:ext>
            </a:extLst>
          </p:cNvPr>
          <p:cNvSpPr txBox="1"/>
          <p:nvPr/>
        </p:nvSpPr>
        <p:spPr>
          <a:xfrm>
            <a:off x="4912154" y="2738291"/>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7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67" name="文字方塊 66">
            <a:extLst>
              <a:ext uri="{FF2B5EF4-FFF2-40B4-BE49-F238E27FC236}">
                <a16:creationId xmlns:a16="http://schemas.microsoft.com/office/drawing/2014/main" id="{5D0204CF-1543-5E7C-6906-222AE9324C6A}"/>
              </a:ext>
            </a:extLst>
          </p:cNvPr>
          <p:cNvSpPr txBox="1"/>
          <p:nvPr/>
        </p:nvSpPr>
        <p:spPr>
          <a:xfrm>
            <a:off x="4033295" y="3026323"/>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7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68" name="文字方塊 67">
            <a:extLst>
              <a:ext uri="{FF2B5EF4-FFF2-40B4-BE49-F238E27FC236}">
                <a16:creationId xmlns:a16="http://schemas.microsoft.com/office/drawing/2014/main" id="{595F3025-8E29-677D-3D84-BED5D54557C6}"/>
              </a:ext>
            </a:extLst>
          </p:cNvPr>
          <p:cNvSpPr txBox="1"/>
          <p:nvPr/>
        </p:nvSpPr>
        <p:spPr>
          <a:xfrm>
            <a:off x="4321327" y="3026323"/>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7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69" name="文字方塊 68">
            <a:extLst>
              <a:ext uri="{FF2B5EF4-FFF2-40B4-BE49-F238E27FC236}">
                <a16:creationId xmlns:a16="http://schemas.microsoft.com/office/drawing/2014/main" id="{4EC5A79A-5549-12F0-1881-C2E574086591}"/>
              </a:ext>
            </a:extLst>
          </p:cNvPr>
          <p:cNvSpPr txBox="1"/>
          <p:nvPr/>
        </p:nvSpPr>
        <p:spPr>
          <a:xfrm>
            <a:off x="4621234" y="3026323"/>
            <a:ext cx="201168" cy="201168"/>
          </a:xfrm>
          <a:prstGeom prst="rect">
            <a:avLst/>
          </a:prstGeom>
          <a:solidFill>
            <a:schemeClr val="accent2">
              <a:lumMod val="20000"/>
              <a:lumOff val="80000"/>
            </a:schemeClr>
          </a:solidFill>
          <a:ln w="25400">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7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70" name="文字方塊 69">
            <a:extLst>
              <a:ext uri="{FF2B5EF4-FFF2-40B4-BE49-F238E27FC236}">
                <a16:creationId xmlns:a16="http://schemas.microsoft.com/office/drawing/2014/main" id="{C0E531C0-E5A9-0F7D-5753-B7A9B4665D18}"/>
              </a:ext>
            </a:extLst>
          </p:cNvPr>
          <p:cNvSpPr txBox="1"/>
          <p:nvPr/>
        </p:nvSpPr>
        <p:spPr>
          <a:xfrm>
            <a:off x="4912154" y="3026323"/>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7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71" name="矩形 70">
            <a:extLst>
              <a:ext uri="{FF2B5EF4-FFF2-40B4-BE49-F238E27FC236}">
                <a16:creationId xmlns:a16="http://schemas.microsoft.com/office/drawing/2014/main" id="{A04809F4-8E00-6BEF-716C-2941D33C6476}"/>
              </a:ext>
            </a:extLst>
          </p:cNvPr>
          <p:cNvSpPr/>
          <p:nvPr/>
        </p:nvSpPr>
        <p:spPr>
          <a:xfrm>
            <a:off x="4314824" y="4653136"/>
            <a:ext cx="504056" cy="393015"/>
          </a:xfrm>
          <a:prstGeom prst="rect">
            <a:avLst/>
          </a:prstGeom>
          <a:solidFill>
            <a:schemeClr val="bg1"/>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X</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NxD</a:t>
            </a:r>
          </a:p>
        </p:txBody>
      </p:sp>
      <p:sp>
        <p:nvSpPr>
          <p:cNvPr id="72" name="矩形: 圓角 71">
            <a:extLst>
              <a:ext uri="{FF2B5EF4-FFF2-40B4-BE49-F238E27FC236}">
                <a16:creationId xmlns:a16="http://schemas.microsoft.com/office/drawing/2014/main" id="{0BADA116-A12B-CD6E-4D46-5C3335CECFD6}"/>
              </a:ext>
            </a:extLst>
          </p:cNvPr>
          <p:cNvSpPr/>
          <p:nvPr/>
        </p:nvSpPr>
        <p:spPr>
          <a:xfrm>
            <a:off x="4312754" y="4077072"/>
            <a:ext cx="504056" cy="432048"/>
          </a:xfrm>
          <a:prstGeom prst="roundRect">
            <a:avLst/>
          </a:prstGeom>
          <a:solidFill>
            <a:schemeClr val="bg1"/>
          </a:solidFill>
          <a:ln w="190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QKV</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 x 2048</a:t>
            </a:r>
          </a:p>
        </p:txBody>
      </p:sp>
      <p:sp>
        <p:nvSpPr>
          <p:cNvPr id="74" name="矩形 73">
            <a:extLst>
              <a:ext uri="{FF2B5EF4-FFF2-40B4-BE49-F238E27FC236}">
                <a16:creationId xmlns:a16="http://schemas.microsoft.com/office/drawing/2014/main" id="{B733907D-99FB-F083-0FEE-E330AC806CD8}"/>
              </a:ext>
            </a:extLst>
          </p:cNvPr>
          <p:cNvSpPr/>
          <p:nvPr/>
        </p:nvSpPr>
        <p:spPr>
          <a:xfrm>
            <a:off x="3851920" y="4437112"/>
            <a:ext cx="362588" cy="424555"/>
          </a:xfrm>
          <a:prstGeom prst="rect">
            <a:avLst/>
          </a:prstGeom>
          <a:solidFill>
            <a:schemeClr val="bg2">
              <a:lumMod val="90000"/>
            </a:schemeClr>
          </a:solidFill>
          <a:ln w="381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6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VC</a:t>
            </a:r>
            <a:endParaRPr lang="en-US" altLang="zh-TW" sz="160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76" name="矩形: 圓角 75">
            <a:extLst>
              <a:ext uri="{FF2B5EF4-FFF2-40B4-BE49-F238E27FC236}">
                <a16:creationId xmlns:a16="http://schemas.microsoft.com/office/drawing/2014/main" id="{EC7F7E31-0D90-2AF4-F161-6D339CA86159}"/>
              </a:ext>
            </a:extLst>
          </p:cNvPr>
          <p:cNvSpPr/>
          <p:nvPr/>
        </p:nvSpPr>
        <p:spPr>
          <a:xfrm>
            <a:off x="1516455" y="2031477"/>
            <a:ext cx="1219522" cy="27950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78" name="文字方塊 77">
            <a:extLst>
              <a:ext uri="{FF2B5EF4-FFF2-40B4-BE49-F238E27FC236}">
                <a16:creationId xmlns:a16="http://schemas.microsoft.com/office/drawing/2014/main" id="{94A32B69-BE89-5B98-38F6-41D3FA7DEE11}"/>
              </a:ext>
            </a:extLst>
          </p:cNvPr>
          <p:cNvSpPr txBox="1"/>
          <p:nvPr/>
        </p:nvSpPr>
        <p:spPr>
          <a:xfrm>
            <a:off x="1588462" y="3356992"/>
            <a:ext cx="1086557" cy="374545"/>
          </a:xfrm>
          <a:prstGeom prst="rect">
            <a:avLst/>
          </a:prstGeom>
          <a:solidFill>
            <a:srgbClr val="DCE6F2">
              <a:alpha val="20000"/>
            </a:srgbClr>
          </a:solidFill>
          <a:ln w="15875">
            <a:solidFill>
              <a:schemeClr val="bg1">
                <a:lumMod val="8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GQA</a:t>
            </a:r>
          </a:p>
        </p:txBody>
      </p:sp>
      <p:cxnSp>
        <p:nvCxnSpPr>
          <p:cNvPr id="79" name="直線單箭頭接點 78">
            <a:extLst>
              <a:ext uri="{FF2B5EF4-FFF2-40B4-BE49-F238E27FC236}">
                <a16:creationId xmlns:a16="http://schemas.microsoft.com/office/drawing/2014/main" id="{8B5581D7-43BA-C117-C44F-C14E5086CFA4}"/>
              </a:ext>
            </a:extLst>
          </p:cNvPr>
          <p:cNvCxnSpPr>
            <a:cxnSpLocks/>
            <a:stCxn id="97" idx="0"/>
            <a:endCxn id="98" idx="2"/>
          </p:cNvCxnSpPr>
          <p:nvPr/>
        </p:nvCxnSpPr>
        <p:spPr>
          <a:xfrm flipH="1" flipV="1">
            <a:off x="2118998" y="4509120"/>
            <a:ext cx="2070" cy="144016"/>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80" name="矩形: 圓角 79">
            <a:extLst>
              <a:ext uri="{FF2B5EF4-FFF2-40B4-BE49-F238E27FC236}">
                <a16:creationId xmlns:a16="http://schemas.microsoft.com/office/drawing/2014/main" id="{47675949-7FFE-4C14-C94F-4D7EBCF26DEB}"/>
              </a:ext>
            </a:extLst>
          </p:cNvPr>
          <p:cNvSpPr/>
          <p:nvPr/>
        </p:nvSpPr>
        <p:spPr>
          <a:xfrm>
            <a:off x="1516455" y="1514155"/>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Next Layer</a:t>
            </a:r>
          </a:p>
        </p:txBody>
      </p:sp>
      <p:cxnSp>
        <p:nvCxnSpPr>
          <p:cNvPr id="81" name="直線單箭頭接點 80">
            <a:extLst>
              <a:ext uri="{FF2B5EF4-FFF2-40B4-BE49-F238E27FC236}">
                <a16:creationId xmlns:a16="http://schemas.microsoft.com/office/drawing/2014/main" id="{1E62209F-CF70-71C9-9065-DDC602E6087D}"/>
              </a:ext>
            </a:extLst>
          </p:cNvPr>
          <p:cNvCxnSpPr>
            <a:cxnSpLocks/>
            <a:stCxn id="76" idx="0"/>
            <a:endCxn id="80" idx="2"/>
          </p:cNvCxnSpPr>
          <p:nvPr/>
        </p:nvCxnSpPr>
        <p:spPr>
          <a:xfrm flipV="1">
            <a:off x="2126216" y="1859401"/>
            <a:ext cx="0" cy="172076"/>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grpSp>
        <p:nvGrpSpPr>
          <p:cNvPr id="130" name="群組 129">
            <a:extLst>
              <a:ext uri="{FF2B5EF4-FFF2-40B4-BE49-F238E27FC236}">
                <a16:creationId xmlns:a16="http://schemas.microsoft.com/office/drawing/2014/main" id="{BBB1D531-C176-5C1C-3AD0-F71804D1548E}"/>
              </a:ext>
            </a:extLst>
          </p:cNvPr>
          <p:cNvGrpSpPr/>
          <p:nvPr/>
        </p:nvGrpSpPr>
        <p:grpSpPr>
          <a:xfrm>
            <a:off x="1587511" y="2190490"/>
            <a:ext cx="1080979" cy="1037001"/>
            <a:chOff x="1587511" y="2190490"/>
            <a:chExt cx="1080979" cy="1037001"/>
          </a:xfrm>
        </p:grpSpPr>
        <p:sp>
          <p:nvSpPr>
            <p:cNvPr id="77" name="文字方塊 76">
              <a:extLst>
                <a:ext uri="{FF2B5EF4-FFF2-40B4-BE49-F238E27FC236}">
                  <a16:creationId xmlns:a16="http://schemas.microsoft.com/office/drawing/2014/main" id="{74B01CD7-ED8A-A9CA-D5C6-302E539691BD}"/>
                </a:ext>
              </a:extLst>
            </p:cNvPr>
            <p:cNvSpPr txBox="1"/>
            <p:nvPr/>
          </p:nvSpPr>
          <p:spPr>
            <a:xfrm>
              <a:off x="1592750" y="2190490"/>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7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82" name="文字方塊 81">
              <a:extLst>
                <a:ext uri="{FF2B5EF4-FFF2-40B4-BE49-F238E27FC236}">
                  <a16:creationId xmlns:a16="http://schemas.microsoft.com/office/drawing/2014/main" id="{BB1456DC-A335-5745-AEAB-22D6FE156A8B}"/>
                </a:ext>
              </a:extLst>
            </p:cNvPr>
            <p:cNvSpPr txBox="1"/>
            <p:nvPr/>
          </p:nvSpPr>
          <p:spPr>
            <a:xfrm>
              <a:off x="1880782" y="2190490"/>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7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83" name="文字方塊 82">
              <a:extLst>
                <a:ext uri="{FF2B5EF4-FFF2-40B4-BE49-F238E27FC236}">
                  <a16:creationId xmlns:a16="http://schemas.microsoft.com/office/drawing/2014/main" id="{136F4A04-5E0E-5D5A-AB59-7F9EAFA581A0}"/>
                </a:ext>
              </a:extLst>
            </p:cNvPr>
            <p:cNvSpPr txBox="1"/>
            <p:nvPr/>
          </p:nvSpPr>
          <p:spPr>
            <a:xfrm>
              <a:off x="2180689" y="2190490"/>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7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84" name="文字方塊 83">
              <a:extLst>
                <a:ext uri="{FF2B5EF4-FFF2-40B4-BE49-F238E27FC236}">
                  <a16:creationId xmlns:a16="http://schemas.microsoft.com/office/drawing/2014/main" id="{8B1C3CAF-004B-BD5C-D316-C6F40DC7F0C0}"/>
                </a:ext>
              </a:extLst>
            </p:cNvPr>
            <p:cNvSpPr txBox="1"/>
            <p:nvPr/>
          </p:nvSpPr>
          <p:spPr>
            <a:xfrm>
              <a:off x="2467322" y="2190490"/>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7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85" name="文字方塊 84">
              <a:extLst>
                <a:ext uri="{FF2B5EF4-FFF2-40B4-BE49-F238E27FC236}">
                  <a16:creationId xmlns:a16="http://schemas.microsoft.com/office/drawing/2014/main" id="{D88B91BA-E6FC-DC10-59E8-18EB7C74FA10}"/>
                </a:ext>
              </a:extLst>
            </p:cNvPr>
            <p:cNvSpPr txBox="1"/>
            <p:nvPr/>
          </p:nvSpPr>
          <p:spPr>
            <a:xfrm>
              <a:off x="1588463" y="2459784"/>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7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86" name="文字方塊 85">
              <a:extLst>
                <a:ext uri="{FF2B5EF4-FFF2-40B4-BE49-F238E27FC236}">
                  <a16:creationId xmlns:a16="http://schemas.microsoft.com/office/drawing/2014/main" id="{662BC58C-8B8C-365C-28D8-07F92195D9CC}"/>
                </a:ext>
              </a:extLst>
            </p:cNvPr>
            <p:cNvSpPr txBox="1"/>
            <p:nvPr/>
          </p:nvSpPr>
          <p:spPr>
            <a:xfrm>
              <a:off x="1876495" y="2459784"/>
              <a:ext cx="201168" cy="201168"/>
            </a:xfrm>
            <a:prstGeom prst="rect">
              <a:avLst/>
            </a:prstGeom>
            <a:solidFill>
              <a:schemeClr val="accent2">
                <a:lumMod val="20000"/>
                <a:lumOff val="80000"/>
              </a:schemeClr>
            </a:solidFill>
            <a:ln w="25400">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7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87" name="文字方塊 86">
              <a:extLst>
                <a:ext uri="{FF2B5EF4-FFF2-40B4-BE49-F238E27FC236}">
                  <a16:creationId xmlns:a16="http://schemas.microsoft.com/office/drawing/2014/main" id="{1DFB06BB-3EDB-FC36-E9BA-6B1EEF975F45}"/>
                </a:ext>
              </a:extLst>
            </p:cNvPr>
            <p:cNvSpPr txBox="1"/>
            <p:nvPr/>
          </p:nvSpPr>
          <p:spPr>
            <a:xfrm>
              <a:off x="2176402" y="2459784"/>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7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88" name="文字方塊 87">
              <a:extLst>
                <a:ext uri="{FF2B5EF4-FFF2-40B4-BE49-F238E27FC236}">
                  <a16:creationId xmlns:a16="http://schemas.microsoft.com/office/drawing/2014/main" id="{3D45F22B-5255-B2A3-A8AC-CD335B3F4159}"/>
                </a:ext>
              </a:extLst>
            </p:cNvPr>
            <p:cNvSpPr txBox="1"/>
            <p:nvPr/>
          </p:nvSpPr>
          <p:spPr>
            <a:xfrm>
              <a:off x="2467322" y="2459784"/>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7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89" name="文字方塊 88">
              <a:extLst>
                <a:ext uri="{FF2B5EF4-FFF2-40B4-BE49-F238E27FC236}">
                  <a16:creationId xmlns:a16="http://schemas.microsoft.com/office/drawing/2014/main" id="{BE4624AB-D70E-BEEF-F180-2CA25A465E2A}"/>
                </a:ext>
              </a:extLst>
            </p:cNvPr>
            <p:cNvSpPr txBox="1"/>
            <p:nvPr/>
          </p:nvSpPr>
          <p:spPr>
            <a:xfrm>
              <a:off x="1591798" y="2738291"/>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7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90" name="文字方塊 89">
              <a:extLst>
                <a:ext uri="{FF2B5EF4-FFF2-40B4-BE49-F238E27FC236}">
                  <a16:creationId xmlns:a16="http://schemas.microsoft.com/office/drawing/2014/main" id="{0263F337-503E-BB2C-EE9F-44421E18241A}"/>
                </a:ext>
              </a:extLst>
            </p:cNvPr>
            <p:cNvSpPr txBox="1"/>
            <p:nvPr/>
          </p:nvSpPr>
          <p:spPr>
            <a:xfrm>
              <a:off x="1879830" y="2738291"/>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7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91" name="文字方塊 90">
              <a:extLst>
                <a:ext uri="{FF2B5EF4-FFF2-40B4-BE49-F238E27FC236}">
                  <a16:creationId xmlns:a16="http://schemas.microsoft.com/office/drawing/2014/main" id="{73E9083C-E04B-B635-CB6D-01F920B729BC}"/>
                </a:ext>
              </a:extLst>
            </p:cNvPr>
            <p:cNvSpPr txBox="1"/>
            <p:nvPr/>
          </p:nvSpPr>
          <p:spPr>
            <a:xfrm>
              <a:off x="2179737" y="2738291"/>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7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92" name="文字方塊 91">
              <a:extLst>
                <a:ext uri="{FF2B5EF4-FFF2-40B4-BE49-F238E27FC236}">
                  <a16:creationId xmlns:a16="http://schemas.microsoft.com/office/drawing/2014/main" id="{B3AAF0EE-A8A6-6E30-B80B-2B04E1EFA012}"/>
                </a:ext>
              </a:extLst>
            </p:cNvPr>
            <p:cNvSpPr txBox="1"/>
            <p:nvPr/>
          </p:nvSpPr>
          <p:spPr>
            <a:xfrm>
              <a:off x="2466370" y="2738291"/>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7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93" name="文字方塊 92">
              <a:extLst>
                <a:ext uri="{FF2B5EF4-FFF2-40B4-BE49-F238E27FC236}">
                  <a16:creationId xmlns:a16="http://schemas.microsoft.com/office/drawing/2014/main" id="{53C73436-22DE-39AE-DBCD-CE73357A76C4}"/>
                </a:ext>
              </a:extLst>
            </p:cNvPr>
            <p:cNvSpPr txBox="1"/>
            <p:nvPr/>
          </p:nvSpPr>
          <p:spPr>
            <a:xfrm>
              <a:off x="1587511" y="3026323"/>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7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94" name="文字方塊 93">
              <a:extLst>
                <a:ext uri="{FF2B5EF4-FFF2-40B4-BE49-F238E27FC236}">
                  <a16:creationId xmlns:a16="http://schemas.microsoft.com/office/drawing/2014/main" id="{16978E33-CD5A-F1C7-E1BC-17F68C74CEB8}"/>
                </a:ext>
              </a:extLst>
            </p:cNvPr>
            <p:cNvSpPr txBox="1"/>
            <p:nvPr/>
          </p:nvSpPr>
          <p:spPr>
            <a:xfrm>
              <a:off x="1875543" y="3026323"/>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7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95" name="文字方塊 94">
              <a:extLst>
                <a:ext uri="{FF2B5EF4-FFF2-40B4-BE49-F238E27FC236}">
                  <a16:creationId xmlns:a16="http://schemas.microsoft.com/office/drawing/2014/main" id="{C048B525-8194-D44E-57ED-01883E9CC6D8}"/>
                </a:ext>
              </a:extLst>
            </p:cNvPr>
            <p:cNvSpPr txBox="1"/>
            <p:nvPr/>
          </p:nvSpPr>
          <p:spPr>
            <a:xfrm>
              <a:off x="2175450" y="3026323"/>
              <a:ext cx="201168" cy="201168"/>
            </a:xfrm>
            <a:prstGeom prst="rect">
              <a:avLst/>
            </a:prstGeom>
            <a:solidFill>
              <a:schemeClr val="accent2">
                <a:lumMod val="20000"/>
                <a:lumOff val="80000"/>
              </a:schemeClr>
            </a:solidFill>
            <a:ln w="25400">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7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96" name="文字方塊 95">
              <a:extLst>
                <a:ext uri="{FF2B5EF4-FFF2-40B4-BE49-F238E27FC236}">
                  <a16:creationId xmlns:a16="http://schemas.microsoft.com/office/drawing/2014/main" id="{9E0E1B3A-BA5F-4161-BB06-BAC34913A187}"/>
                </a:ext>
              </a:extLst>
            </p:cNvPr>
            <p:cNvSpPr txBox="1"/>
            <p:nvPr/>
          </p:nvSpPr>
          <p:spPr>
            <a:xfrm>
              <a:off x="2466370" y="3026323"/>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7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grpSp>
      <p:sp>
        <p:nvSpPr>
          <p:cNvPr id="97" name="矩形 96">
            <a:extLst>
              <a:ext uri="{FF2B5EF4-FFF2-40B4-BE49-F238E27FC236}">
                <a16:creationId xmlns:a16="http://schemas.microsoft.com/office/drawing/2014/main" id="{54BD7883-B7AE-8F77-5331-877CD962F605}"/>
              </a:ext>
            </a:extLst>
          </p:cNvPr>
          <p:cNvSpPr/>
          <p:nvPr/>
        </p:nvSpPr>
        <p:spPr>
          <a:xfrm>
            <a:off x="1869040" y="4653136"/>
            <a:ext cx="504056" cy="393015"/>
          </a:xfrm>
          <a:prstGeom prst="rect">
            <a:avLst/>
          </a:prstGeom>
          <a:solidFill>
            <a:schemeClr val="bg1"/>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X</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NxD</a:t>
            </a:r>
          </a:p>
        </p:txBody>
      </p:sp>
      <p:sp>
        <p:nvSpPr>
          <p:cNvPr id="98" name="矩形: 圓角 97">
            <a:extLst>
              <a:ext uri="{FF2B5EF4-FFF2-40B4-BE49-F238E27FC236}">
                <a16:creationId xmlns:a16="http://schemas.microsoft.com/office/drawing/2014/main" id="{3871AEDB-3BBB-BC53-5DC3-1EA83C5361E2}"/>
              </a:ext>
            </a:extLst>
          </p:cNvPr>
          <p:cNvSpPr/>
          <p:nvPr/>
        </p:nvSpPr>
        <p:spPr>
          <a:xfrm>
            <a:off x="1866970" y="4077072"/>
            <a:ext cx="504056" cy="432048"/>
          </a:xfrm>
          <a:prstGeom prst="roundRect">
            <a:avLst/>
          </a:prstGeom>
          <a:solidFill>
            <a:schemeClr val="bg1"/>
          </a:solidFill>
          <a:ln w="190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QKV</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 x 2048</a:t>
            </a:r>
          </a:p>
        </p:txBody>
      </p:sp>
      <p:sp>
        <p:nvSpPr>
          <p:cNvPr id="100" name="矩形 99">
            <a:extLst>
              <a:ext uri="{FF2B5EF4-FFF2-40B4-BE49-F238E27FC236}">
                <a16:creationId xmlns:a16="http://schemas.microsoft.com/office/drawing/2014/main" id="{242FE16A-E489-6AE7-4F85-60BD8DBF717D}"/>
              </a:ext>
            </a:extLst>
          </p:cNvPr>
          <p:cNvSpPr/>
          <p:nvPr/>
        </p:nvSpPr>
        <p:spPr>
          <a:xfrm>
            <a:off x="2769252" y="4437112"/>
            <a:ext cx="362588" cy="424555"/>
          </a:xfrm>
          <a:prstGeom prst="rect">
            <a:avLst/>
          </a:prstGeom>
          <a:solidFill>
            <a:schemeClr val="bg2">
              <a:lumMod val="90000"/>
            </a:schemeClr>
          </a:solidFill>
          <a:ln w="381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6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VC</a:t>
            </a:r>
            <a:endParaRPr lang="en-US" altLang="zh-TW" sz="160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102" name="矩形: 圓角 101">
            <a:extLst>
              <a:ext uri="{FF2B5EF4-FFF2-40B4-BE49-F238E27FC236}">
                <a16:creationId xmlns:a16="http://schemas.microsoft.com/office/drawing/2014/main" id="{040E4427-DE33-2834-BCB2-1AB2D9E3A30E}"/>
              </a:ext>
            </a:extLst>
          </p:cNvPr>
          <p:cNvSpPr/>
          <p:nvPr/>
        </p:nvSpPr>
        <p:spPr>
          <a:xfrm>
            <a:off x="6402201" y="2031477"/>
            <a:ext cx="1219522" cy="27950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103" name="文字方塊 102">
            <a:extLst>
              <a:ext uri="{FF2B5EF4-FFF2-40B4-BE49-F238E27FC236}">
                <a16:creationId xmlns:a16="http://schemas.microsoft.com/office/drawing/2014/main" id="{64000BD8-4508-3A73-4214-82CE2E864801}"/>
              </a:ext>
            </a:extLst>
          </p:cNvPr>
          <p:cNvSpPr txBox="1"/>
          <p:nvPr/>
        </p:nvSpPr>
        <p:spPr>
          <a:xfrm>
            <a:off x="6478496" y="2190490"/>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7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04" name="文字方塊 103">
            <a:extLst>
              <a:ext uri="{FF2B5EF4-FFF2-40B4-BE49-F238E27FC236}">
                <a16:creationId xmlns:a16="http://schemas.microsoft.com/office/drawing/2014/main" id="{EA997A19-2467-71E4-81BD-200A907D457E}"/>
              </a:ext>
            </a:extLst>
          </p:cNvPr>
          <p:cNvSpPr txBox="1"/>
          <p:nvPr/>
        </p:nvSpPr>
        <p:spPr>
          <a:xfrm>
            <a:off x="6474208" y="3356993"/>
            <a:ext cx="1086557" cy="374544"/>
          </a:xfrm>
          <a:prstGeom prst="rect">
            <a:avLst/>
          </a:prstGeom>
          <a:solidFill>
            <a:srgbClr val="DCE6F2">
              <a:alpha val="20000"/>
            </a:srgbClr>
          </a:solidFill>
          <a:ln w="15875">
            <a:solidFill>
              <a:schemeClr val="bg1">
                <a:lumMod val="8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KDA</a:t>
            </a:r>
          </a:p>
        </p:txBody>
      </p:sp>
      <p:cxnSp>
        <p:nvCxnSpPr>
          <p:cNvPr id="105" name="直線單箭頭接點 104">
            <a:extLst>
              <a:ext uri="{FF2B5EF4-FFF2-40B4-BE49-F238E27FC236}">
                <a16:creationId xmlns:a16="http://schemas.microsoft.com/office/drawing/2014/main" id="{C6930ADC-6856-7C59-F035-4CB470A99516}"/>
              </a:ext>
            </a:extLst>
          </p:cNvPr>
          <p:cNvCxnSpPr>
            <a:cxnSpLocks/>
            <a:stCxn id="123" idx="0"/>
            <a:endCxn id="124" idx="2"/>
          </p:cNvCxnSpPr>
          <p:nvPr/>
        </p:nvCxnSpPr>
        <p:spPr>
          <a:xfrm flipH="1" flipV="1">
            <a:off x="7004744" y="4509120"/>
            <a:ext cx="2070" cy="144016"/>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106" name="矩形: 圓角 105">
            <a:extLst>
              <a:ext uri="{FF2B5EF4-FFF2-40B4-BE49-F238E27FC236}">
                <a16:creationId xmlns:a16="http://schemas.microsoft.com/office/drawing/2014/main" id="{C02D6F0F-E79B-44FB-F640-7B0A6DDFB795}"/>
              </a:ext>
            </a:extLst>
          </p:cNvPr>
          <p:cNvSpPr/>
          <p:nvPr/>
        </p:nvSpPr>
        <p:spPr>
          <a:xfrm>
            <a:off x="6402201" y="1514155"/>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Next Layer</a:t>
            </a:r>
          </a:p>
        </p:txBody>
      </p:sp>
      <p:cxnSp>
        <p:nvCxnSpPr>
          <p:cNvPr id="107" name="直線單箭頭接點 106">
            <a:extLst>
              <a:ext uri="{FF2B5EF4-FFF2-40B4-BE49-F238E27FC236}">
                <a16:creationId xmlns:a16="http://schemas.microsoft.com/office/drawing/2014/main" id="{78AF7EAB-0D76-BBDB-A84C-2F466379E1C4}"/>
              </a:ext>
            </a:extLst>
          </p:cNvPr>
          <p:cNvCxnSpPr>
            <a:cxnSpLocks/>
            <a:stCxn id="102" idx="0"/>
            <a:endCxn id="106" idx="2"/>
          </p:cNvCxnSpPr>
          <p:nvPr/>
        </p:nvCxnSpPr>
        <p:spPr>
          <a:xfrm flipV="1">
            <a:off x="7011962" y="1859401"/>
            <a:ext cx="0" cy="172076"/>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108" name="文字方塊 107">
            <a:extLst>
              <a:ext uri="{FF2B5EF4-FFF2-40B4-BE49-F238E27FC236}">
                <a16:creationId xmlns:a16="http://schemas.microsoft.com/office/drawing/2014/main" id="{4B19C6FB-9968-8E9E-2736-CFCF7CC9FB9D}"/>
              </a:ext>
            </a:extLst>
          </p:cNvPr>
          <p:cNvSpPr txBox="1"/>
          <p:nvPr/>
        </p:nvSpPr>
        <p:spPr>
          <a:xfrm>
            <a:off x="6766528" y="2190490"/>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7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09" name="文字方塊 108">
            <a:extLst>
              <a:ext uri="{FF2B5EF4-FFF2-40B4-BE49-F238E27FC236}">
                <a16:creationId xmlns:a16="http://schemas.microsoft.com/office/drawing/2014/main" id="{DF6AC513-7A53-92B2-D98E-28A8DD63C5D6}"/>
              </a:ext>
            </a:extLst>
          </p:cNvPr>
          <p:cNvSpPr txBox="1"/>
          <p:nvPr/>
        </p:nvSpPr>
        <p:spPr>
          <a:xfrm>
            <a:off x="7066435" y="2190490"/>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7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10" name="文字方塊 109">
            <a:extLst>
              <a:ext uri="{FF2B5EF4-FFF2-40B4-BE49-F238E27FC236}">
                <a16:creationId xmlns:a16="http://schemas.microsoft.com/office/drawing/2014/main" id="{B7DF026E-5511-7264-A394-998888E0B61F}"/>
              </a:ext>
            </a:extLst>
          </p:cNvPr>
          <p:cNvSpPr txBox="1"/>
          <p:nvPr/>
        </p:nvSpPr>
        <p:spPr>
          <a:xfrm>
            <a:off x="7353068" y="2190490"/>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7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11" name="文字方塊 110">
            <a:extLst>
              <a:ext uri="{FF2B5EF4-FFF2-40B4-BE49-F238E27FC236}">
                <a16:creationId xmlns:a16="http://schemas.microsoft.com/office/drawing/2014/main" id="{A1DEBB48-D11F-E7F3-8D59-276FDA561F8F}"/>
              </a:ext>
            </a:extLst>
          </p:cNvPr>
          <p:cNvSpPr txBox="1"/>
          <p:nvPr/>
        </p:nvSpPr>
        <p:spPr>
          <a:xfrm>
            <a:off x="6474209" y="2459784"/>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7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12" name="文字方塊 111">
            <a:extLst>
              <a:ext uri="{FF2B5EF4-FFF2-40B4-BE49-F238E27FC236}">
                <a16:creationId xmlns:a16="http://schemas.microsoft.com/office/drawing/2014/main" id="{31B353E1-A67F-BAFA-E196-A0A64CA77D18}"/>
              </a:ext>
            </a:extLst>
          </p:cNvPr>
          <p:cNvSpPr txBox="1"/>
          <p:nvPr/>
        </p:nvSpPr>
        <p:spPr>
          <a:xfrm>
            <a:off x="6762241" y="2459784"/>
            <a:ext cx="201168" cy="201168"/>
          </a:xfrm>
          <a:prstGeom prst="rect">
            <a:avLst/>
          </a:prstGeom>
          <a:solidFill>
            <a:schemeClr val="accent2">
              <a:lumMod val="20000"/>
              <a:lumOff val="80000"/>
            </a:schemeClr>
          </a:solidFill>
          <a:ln w="25400">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7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13" name="文字方塊 112">
            <a:extLst>
              <a:ext uri="{FF2B5EF4-FFF2-40B4-BE49-F238E27FC236}">
                <a16:creationId xmlns:a16="http://schemas.microsoft.com/office/drawing/2014/main" id="{15AA6591-DA24-DDC1-222E-EE8648836456}"/>
              </a:ext>
            </a:extLst>
          </p:cNvPr>
          <p:cNvSpPr txBox="1"/>
          <p:nvPr/>
        </p:nvSpPr>
        <p:spPr>
          <a:xfrm>
            <a:off x="7062148" y="2459784"/>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7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14" name="文字方塊 113">
            <a:extLst>
              <a:ext uri="{FF2B5EF4-FFF2-40B4-BE49-F238E27FC236}">
                <a16:creationId xmlns:a16="http://schemas.microsoft.com/office/drawing/2014/main" id="{69708419-04B6-448C-F682-65B5F07C0D59}"/>
              </a:ext>
            </a:extLst>
          </p:cNvPr>
          <p:cNvSpPr txBox="1"/>
          <p:nvPr/>
        </p:nvSpPr>
        <p:spPr>
          <a:xfrm>
            <a:off x="7353068" y="2459784"/>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7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15" name="文字方塊 114">
            <a:extLst>
              <a:ext uri="{FF2B5EF4-FFF2-40B4-BE49-F238E27FC236}">
                <a16:creationId xmlns:a16="http://schemas.microsoft.com/office/drawing/2014/main" id="{FC766617-601D-D709-3E63-8EC46723FF2A}"/>
              </a:ext>
            </a:extLst>
          </p:cNvPr>
          <p:cNvSpPr txBox="1"/>
          <p:nvPr/>
        </p:nvSpPr>
        <p:spPr>
          <a:xfrm>
            <a:off x="6477544" y="2738291"/>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7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16" name="文字方塊 115">
            <a:extLst>
              <a:ext uri="{FF2B5EF4-FFF2-40B4-BE49-F238E27FC236}">
                <a16:creationId xmlns:a16="http://schemas.microsoft.com/office/drawing/2014/main" id="{3AA7F2FE-D326-A53B-6A3A-323863967FDB}"/>
              </a:ext>
            </a:extLst>
          </p:cNvPr>
          <p:cNvSpPr txBox="1"/>
          <p:nvPr/>
        </p:nvSpPr>
        <p:spPr>
          <a:xfrm>
            <a:off x="6765576" y="2738291"/>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7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17" name="文字方塊 116">
            <a:extLst>
              <a:ext uri="{FF2B5EF4-FFF2-40B4-BE49-F238E27FC236}">
                <a16:creationId xmlns:a16="http://schemas.microsoft.com/office/drawing/2014/main" id="{6E9A5426-4C19-D4CD-4C59-9237E2A15B01}"/>
              </a:ext>
            </a:extLst>
          </p:cNvPr>
          <p:cNvSpPr txBox="1"/>
          <p:nvPr/>
        </p:nvSpPr>
        <p:spPr>
          <a:xfrm>
            <a:off x="7065483" y="2738291"/>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7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18" name="文字方塊 117">
            <a:extLst>
              <a:ext uri="{FF2B5EF4-FFF2-40B4-BE49-F238E27FC236}">
                <a16:creationId xmlns:a16="http://schemas.microsoft.com/office/drawing/2014/main" id="{A21D560F-D6BE-C58C-3C7F-19CAD132076D}"/>
              </a:ext>
            </a:extLst>
          </p:cNvPr>
          <p:cNvSpPr txBox="1"/>
          <p:nvPr/>
        </p:nvSpPr>
        <p:spPr>
          <a:xfrm>
            <a:off x="7352116" y="2738291"/>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7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19" name="文字方塊 118">
            <a:extLst>
              <a:ext uri="{FF2B5EF4-FFF2-40B4-BE49-F238E27FC236}">
                <a16:creationId xmlns:a16="http://schemas.microsoft.com/office/drawing/2014/main" id="{7B51F13C-EF3A-9F37-2B08-5D2F567C8CF5}"/>
              </a:ext>
            </a:extLst>
          </p:cNvPr>
          <p:cNvSpPr txBox="1"/>
          <p:nvPr/>
        </p:nvSpPr>
        <p:spPr>
          <a:xfrm>
            <a:off x="6473257" y="3026323"/>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7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20" name="文字方塊 119">
            <a:extLst>
              <a:ext uri="{FF2B5EF4-FFF2-40B4-BE49-F238E27FC236}">
                <a16:creationId xmlns:a16="http://schemas.microsoft.com/office/drawing/2014/main" id="{1B4EE5C0-BE31-B967-D734-B52150D33AA4}"/>
              </a:ext>
            </a:extLst>
          </p:cNvPr>
          <p:cNvSpPr txBox="1"/>
          <p:nvPr/>
        </p:nvSpPr>
        <p:spPr>
          <a:xfrm>
            <a:off x="6761289" y="3026323"/>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7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21" name="文字方塊 120">
            <a:extLst>
              <a:ext uri="{FF2B5EF4-FFF2-40B4-BE49-F238E27FC236}">
                <a16:creationId xmlns:a16="http://schemas.microsoft.com/office/drawing/2014/main" id="{F60A5691-EF0F-3E7A-7A47-00D8AB158B3F}"/>
              </a:ext>
            </a:extLst>
          </p:cNvPr>
          <p:cNvSpPr txBox="1"/>
          <p:nvPr/>
        </p:nvSpPr>
        <p:spPr>
          <a:xfrm>
            <a:off x="7061196" y="3026323"/>
            <a:ext cx="201168" cy="201168"/>
          </a:xfrm>
          <a:prstGeom prst="rect">
            <a:avLst/>
          </a:prstGeom>
          <a:solidFill>
            <a:schemeClr val="accent2">
              <a:lumMod val="20000"/>
              <a:lumOff val="80000"/>
            </a:schemeClr>
          </a:solidFill>
          <a:ln w="25400">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7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22" name="文字方塊 121">
            <a:extLst>
              <a:ext uri="{FF2B5EF4-FFF2-40B4-BE49-F238E27FC236}">
                <a16:creationId xmlns:a16="http://schemas.microsoft.com/office/drawing/2014/main" id="{8FEDB400-5330-34A4-EF07-C2EF8403C4CA}"/>
              </a:ext>
            </a:extLst>
          </p:cNvPr>
          <p:cNvSpPr txBox="1"/>
          <p:nvPr/>
        </p:nvSpPr>
        <p:spPr>
          <a:xfrm>
            <a:off x="7352116" y="3026323"/>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7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23" name="矩形 122">
            <a:extLst>
              <a:ext uri="{FF2B5EF4-FFF2-40B4-BE49-F238E27FC236}">
                <a16:creationId xmlns:a16="http://schemas.microsoft.com/office/drawing/2014/main" id="{79388F6E-B516-8C87-E413-CC0444689A51}"/>
              </a:ext>
            </a:extLst>
          </p:cNvPr>
          <p:cNvSpPr/>
          <p:nvPr/>
        </p:nvSpPr>
        <p:spPr>
          <a:xfrm>
            <a:off x="6754786" y="4653136"/>
            <a:ext cx="504056" cy="393015"/>
          </a:xfrm>
          <a:prstGeom prst="rect">
            <a:avLst/>
          </a:prstGeom>
          <a:solidFill>
            <a:schemeClr val="bg1"/>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X</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NxD</a:t>
            </a:r>
          </a:p>
        </p:txBody>
      </p:sp>
      <p:sp>
        <p:nvSpPr>
          <p:cNvPr id="124" name="矩形: 圓角 123">
            <a:extLst>
              <a:ext uri="{FF2B5EF4-FFF2-40B4-BE49-F238E27FC236}">
                <a16:creationId xmlns:a16="http://schemas.microsoft.com/office/drawing/2014/main" id="{7258F52B-7A6D-9A4C-72EA-26211231024D}"/>
              </a:ext>
            </a:extLst>
          </p:cNvPr>
          <p:cNvSpPr/>
          <p:nvPr/>
        </p:nvSpPr>
        <p:spPr>
          <a:xfrm>
            <a:off x="6752716" y="4077072"/>
            <a:ext cx="504056" cy="432048"/>
          </a:xfrm>
          <a:prstGeom prst="roundRect">
            <a:avLst/>
          </a:prstGeom>
          <a:solidFill>
            <a:schemeClr val="bg1"/>
          </a:solidFill>
          <a:ln w="190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QKV</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 x 2048</a:t>
            </a:r>
          </a:p>
        </p:txBody>
      </p:sp>
      <p:sp>
        <p:nvSpPr>
          <p:cNvPr id="126" name="矩形 125">
            <a:extLst>
              <a:ext uri="{FF2B5EF4-FFF2-40B4-BE49-F238E27FC236}">
                <a16:creationId xmlns:a16="http://schemas.microsoft.com/office/drawing/2014/main" id="{99104673-1EAF-F538-2649-5707198F6CB5}"/>
              </a:ext>
            </a:extLst>
          </p:cNvPr>
          <p:cNvSpPr/>
          <p:nvPr/>
        </p:nvSpPr>
        <p:spPr>
          <a:xfrm>
            <a:off x="6300192" y="4437112"/>
            <a:ext cx="362588" cy="424555"/>
          </a:xfrm>
          <a:prstGeom prst="rect">
            <a:avLst/>
          </a:prstGeom>
          <a:solidFill>
            <a:schemeClr val="bg2">
              <a:lumMod val="90000"/>
            </a:schemeClr>
          </a:solidFill>
          <a:ln w="381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6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VC</a:t>
            </a:r>
            <a:endParaRPr lang="en-US" altLang="zh-TW" sz="160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mc:AlternateContent xmlns:mc="http://schemas.openxmlformats.org/markup-compatibility/2006" xmlns:a14="http://schemas.microsoft.com/office/drawing/2010/main">
        <mc:Choice Requires="a14">
          <p:sp>
            <p:nvSpPr>
              <p:cNvPr id="129" name="文字方塊 128">
                <a:extLst>
                  <a:ext uri="{FF2B5EF4-FFF2-40B4-BE49-F238E27FC236}">
                    <a16:creationId xmlns:a16="http://schemas.microsoft.com/office/drawing/2014/main" id="{633791E9-D6C1-495E-EED6-0A3E59AFACF1}"/>
                  </a:ext>
                </a:extLst>
              </p:cNvPr>
              <p:cNvSpPr txBox="1"/>
              <p:nvPr/>
            </p:nvSpPr>
            <p:spPr>
              <a:xfrm>
                <a:off x="1580678" y="2564904"/>
                <a:ext cx="1076640" cy="469103"/>
              </a:xfrm>
              <a:prstGeom prst="rect">
                <a:avLst/>
              </a:prstGeom>
              <a:solidFill>
                <a:schemeClr val="bg1">
                  <a:alpha val="60000"/>
                </a:schemeClr>
              </a:solidFill>
              <a:ln w="15875">
                <a:solidFill>
                  <a:schemeClr val="accent2">
                    <a:lumMod val="60000"/>
                    <a:lumOff val="40000"/>
                  </a:schemeClr>
                </a:solidFill>
              </a:ln>
            </p:spPr>
            <p:txBody>
              <a:bodyPr wrap="square" lIns="91440" tIns="91440" rIns="91440" bIns="91440" rtlCol="0" anchor="ctr" anchorCtr="1">
                <a:spAutoFit/>
              </a:bodyPr>
              <a:lstStyle/>
              <a:p>
                <a:pPr/>
                <a14:m>
                  <m:oMathPara xmlns:m="http://schemas.openxmlformats.org/officeDocument/2006/math">
                    <m:oMathParaPr>
                      <m:jc m:val="center"/>
                    </m:oMathParaPr>
                    <m:oMath>
                      <m:sSubSup>
                        <m:sSubSupPr>
                          <m:ctrlPr>
                            <a:rPr lang="en-US" altLang="zh-TW" b="0" i="1" smtClean="0">
                              <a:latin typeface="Cambria Math" panose="02040503050406030204" pitchFamily="18" charset="0"/>
                            </a:rPr>
                          </m:ctrlPr>
                        </m:sSubSupPr>
                        <m:e>
                          <m:r>
                            <a:rPr lang="en-US" altLang="zh-TW" b="0" i="1" smtClean="0">
                              <a:latin typeface="Cambria Math" panose="02040503050406030204" pitchFamily="18" charset="0"/>
                            </a:rPr>
                            <m:t>1+</m:t>
                          </m:r>
                          <m:r>
                            <m:rPr>
                              <m:sty m:val="p"/>
                            </m:rPr>
                            <a:rPr lang="en-US" altLang="zh-TW" b="0" i="1" smtClean="0">
                              <a:latin typeface="Cambria Math" panose="02040503050406030204" pitchFamily="18" charset="0"/>
                            </a:rPr>
                            <m:t>C</m:t>
                          </m:r>
                        </m:e>
                        <m:sub>
                          <m:r>
                            <a:rPr lang="en-US" altLang="zh-TW" b="0" i="1" smtClean="0">
                              <a:latin typeface="Cambria Math" panose="02040503050406030204" pitchFamily="18" charset="0"/>
                            </a:rPr>
                            <m:t>8</m:t>
                          </m:r>
                        </m:sub>
                        <m:sup>
                          <m:r>
                            <a:rPr lang="en-US" altLang="zh-TW" b="0" i="1" smtClean="0">
                              <a:latin typeface="Cambria Math" panose="02040503050406030204" pitchFamily="18" charset="0"/>
                            </a:rPr>
                            <m:t>128</m:t>
                          </m:r>
                        </m:sup>
                      </m:sSubSup>
                    </m:oMath>
                  </m:oMathPara>
                </a14:m>
                <a:endParaRPr lang="zh-TW" altLang="en-US" dirty="0"/>
              </a:p>
            </p:txBody>
          </p:sp>
        </mc:Choice>
        <mc:Fallback xmlns="">
          <p:sp>
            <p:nvSpPr>
              <p:cNvPr id="129" name="文字方塊 128">
                <a:extLst>
                  <a:ext uri="{FF2B5EF4-FFF2-40B4-BE49-F238E27FC236}">
                    <a16:creationId xmlns:a16="http://schemas.microsoft.com/office/drawing/2014/main" id="{633791E9-D6C1-495E-EED6-0A3E59AFACF1}"/>
                  </a:ext>
                </a:extLst>
              </p:cNvPr>
              <p:cNvSpPr txBox="1">
                <a:spLocks noRot="1" noChangeAspect="1" noMove="1" noResize="1" noEditPoints="1" noAdjustHandles="1" noChangeArrowheads="1" noChangeShapeType="1" noTextEdit="1"/>
              </p:cNvSpPr>
              <p:nvPr/>
            </p:nvSpPr>
            <p:spPr>
              <a:xfrm>
                <a:off x="1580678" y="2564904"/>
                <a:ext cx="1076640" cy="469103"/>
              </a:xfrm>
              <a:prstGeom prst="rect">
                <a:avLst/>
              </a:prstGeom>
              <a:blipFill>
                <a:blip r:embed="rId2"/>
                <a:stretch>
                  <a:fillRect/>
                </a:stretch>
              </a:blipFill>
              <a:ln w="15875">
                <a:solidFill>
                  <a:schemeClr val="accent2">
                    <a:lumMod val="60000"/>
                    <a:lumOff val="40000"/>
                  </a:schemeClr>
                </a:solidFill>
              </a:ln>
            </p:spPr>
            <p:txBody>
              <a:bodyPr/>
              <a:lstStyle/>
              <a:p>
                <a:r>
                  <a:rPr lang="zh-TW" altLang="en-US">
                    <a:noFill/>
                  </a:rPr>
                  <a:t> </a:t>
                </a:r>
              </a:p>
            </p:txBody>
          </p:sp>
        </mc:Fallback>
      </mc:AlternateContent>
      <p:sp>
        <p:nvSpPr>
          <p:cNvPr id="132" name="文字方塊 131">
            <a:extLst>
              <a:ext uri="{FF2B5EF4-FFF2-40B4-BE49-F238E27FC236}">
                <a16:creationId xmlns:a16="http://schemas.microsoft.com/office/drawing/2014/main" id="{4638DC10-0395-1941-6558-5FE3FAE0B323}"/>
              </a:ext>
            </a:extLst>
          </p:cNvPr>
          <p:cNvSpPr txBox="1"/>
          <p:nvPr/>
        </p:nvSpPr>
        <p:spPr>
          <a:xfrm>
            <a:off x="4026462" y="2568623"/>
            <a:ext cx="1076640" cy="461665"/>
          </a:xfrm>
          <a:prstGeom prst="rect">
            <a:avLst/>
          </a:prstGeom>
          <a:solidFill>
            <a:schemeClr val="bg1">
              <a:alpha val="60000"/>
            </a:schemeClr>
          </a:solidFill>
          <a:ln w="15875">
            <a:solidFill>
              <a:schemeClr val="accent2">
                <a:lumMod val="60000"/>
                <a:lumOff val="40000"/>
              </a:schemeClr>
            </a:solidFill>
          </a:ln>
        </p:spPr>
        <p:txBody>
          <a:bodyPr wrap="square" lIns="91440" tIns="91440" rIns="91440" bIns="91440" rtlCol="0" anchor="ctr" anchorCtr="1">
            <a:spAutoFit/>
          </a:bodyPr>
          <a:lstStyle/>
          <a:p>
            <a:r>
              <a:rPr lang="en-US" altLang="zh-TW" dirty="0"/>
              <a:t>Top K</a:t>
            </a:r>
            <a:endParaRPr lang="zh-TW" altLang="en-US" dirty="0"/>
          </a:p>
        </p:txBody>
      </p:sp>
      <mc:AlternateContent xmlns:mc="http://schemas.openxmlformats.org/markup-compatibility/2006" xmlns:a14="http://schemas.microsoft.com/office/drawing/2010/main">
        <mc:Choice Requires="a14">
          <p:sp>
            <p:nvSpPr>
              <p:cNvPr id="134" name="文字方塊 133">
                <a:extLst>
                  <a:ext uri="{FF2B5EF4-FFF2-40B4-BE49-F238E27FC236}">
                    <a16:creationId xmlns:a16="http://schemas.microsoft.com/office/drawing/2014/main" id="{48233A5C-EBC4-E6F8-51C6-5C8B28970752}"/>
                  </a:ext>
                </a:extLst>
              </p:cNvPr>
              <p:cNvSpPr txBox="1"/>
              <p:nvPr/>
            </p:nvSpPr>
            <p:spPr>
              <a:xfrm>
                <a:off x="6484125" y="2574616"/>
                <a:ext cx="1076640" cy="466666"/>
              </a:xfrm>
              <a:prstGeom prst="rect">
                <a:avLst/>
              </a:prstGeom>
              <a:solidFill>
                <a:schemeClr val="bg1">
                  <a:alpha val="60000"/>
                </a:schemeClr>
              </a:solidFill>
              <a:ln w="15875">
                <a:solidFill>
                  <a:schemeClr val="accent2">
                    <a:lumMod val="60000"/>
                    <a:lumOff val="40000"/>
                  </a:schemeClr>
                </a:solidFill>
              </a:ln>
            </p:spPr>
            <p:txBody>
              <a:bodyPr wrap="square" lIns="91440" tIns="91440" rIns="91440" bIns="91440" rtlCol="0" anchor="ctr" anchorCtr="1">
                <a:spAutoFit/>
              </a:bodyPr>
              <a:lstStyle/>
              <a:p>
                <a:pPr/>
                <a14:m>
                  <m:oMathPara xmlns:m="http://schemas.openxmlformats.org/officeDocument/2006/math">
                    <m:oMathParaPr>
                      <m:jc m:val="center"/>
                    </m:oMathParaPr>
                    <m:oMath>
                      <m:sSubSup>
                        <m:sSubSupPr>
                          <m:ctrlPr>
                            <a:rPr lang="en-US" altLang="zh-TW" b="0" i="1" smtClean="0">
                              <a:latin typeface="Cambria Math" panose="02040503050406030204" pitchFamily="18" charset="0"/>
                            </a:rPr>
                          </m:ctrlPr>
                        </m:sSubSupPr>
                        <m:e>
                          <m:r>
                            <a:rPr lang="en-US" altLang="zh-TW" b="0" i="1" smtClean="0">
                              <a:latin typeface="Cambria Math" panose="02040503050406030204" pitchFamily="18" charset="0"/>
                            </a:rPr>
                            <m:t>2+</m:t>
                          </m:r>
                          <m:r>
                            <m:rPr>
                              <m:sty m:val="p"/>
                            </m:rPr>
                            <a:rPr lang="en-US" altLang="zh-TW" b="0" i="1" smtClean="0">
                              <a:latin typeface="Cambria Math" panose="02040503050406030204" pitchFamily="18" charset="0"/>
                            </a:rPr>
                            <m:t>C</m:t>
                          </m:r>
                        </m:e>
                        <m:sub>
                          <m:r>
                            <a:rPr lang="en-US" altLang="zh-TW" b="0" i="1" smtClean="0">
                              <a:latin typeface="Cambria Math" panose="02040503050406030204" pitchFamily="18" charset="0"/>
                            </a:rPr>
                            <m:t>14</m:t>
                          </m:r>
                        </m:sub>
                        <m:sup>
                          <m:r>
                            <a:rPr lang="en-US" altLang="zh-TW" b="0" i="1" smtClean="0">
                              <a:latin typeface="Cambria Math" panose="02040503050406030204" pitchFamily="18" charset="0"/>
                            </a:rPr>
                            <m:t>896</m:t>
                          </m:r>
                        </m:sup>
                      </m:sSubSup>
                    </m:oMath>
                  </m:oMathPara>
                </a14:m>
                <a:endParaRPr lang="zh-TW" altLang="en-US" dirty="0"/>
              </a:p>
            </p:txBody>
          </p:sp>
        </mc:Choice>
        <mc:Fallback xmlns="">
          <p:sp>
            <p:nvSpPr>
              <p:cNvPr id="134" name="文字方塊 133">
                <a:extLst>
                  <a:ext uri="{FF2B5EF4-FFF2-40B4-BE49-F238E27FC236}">
                    <a16:creationId xmlns:a16="http://schemas.microsoft.com/office/drawing/2014/main" id="{48233A5C-EBC4-E6F8-51C6-5C8B28970752}"/>
                  </a:ext>
                </a:extLst>
              </p:cNvPr>
              <p:cNvSpPr txBox="1">
                <a:spLocks noRot="1" noChangeAspect="1" noMove="1" noResize="1" noEditPoints="1" noAdjustHandles="1" noChangeArrowheads="1" noChangeShapeType="1" noTextEdit="1"/>
              </p:cNvSpPr>
              <p:nvPr/>
            </p:nvSpPr>
            <p:spPr>
              <a:xfrm>
                <a:off x="6484125" y="2574616"/>
                <a:ext cx="1076640" cy="466666"/>
              </a:xfrm>
              <a:prstGeom prst="rect">
                <a:avLst/>
              </a:prstGeom>
              <a:blipFill>
                <a:blip r:embed="rId3"/>
                <a:stretch>
                  <a:fillRect/>
                </a:stretch>
              </a:blipFill>
              <a:ln w="15875">
                <a:solidFill>
                  <a:schemeClr val="accent2">
                    <a:lumMod val="60000"/>
                    <a:lumOff val="40000"/>
                  </a:schemeClr>
                </a:solidFill>
              </a:ln>
            </p:spPr>
            <p:txBody>
              <a:bodyPr/>
              <a:lstStyle/>
              <a:p>
                <a:r>
                  <a:rPr lang="zh-TW" altLang="en-US">
                    <a:noFill/>
                  </a:rPr>
                  <a:t> </a:t>
                </a:r>
              </a:p>
            </p:txBody>
          </p:sp>
        </mc:Fallback>
      </mc:AlternateContent>
      <p:sp>
        <p:nvSpPr>
          <p:cNvPr id="136" name="文字方塊 135">
            <a:extLst>
              <a:ext uri="{FF2B5EF4-FFF2-40B4-BE49-F238E27FC236}">
                <a16:creationId xmlns:a16="http://schemas.microsoft.com/office/drawing/2014/main" id="{B8EE6FA7-85FD-B4B2-08A7-16768A9D1EC7}"/>
              </a:ext>
            </a:extLst>
          </p:cNvPr>
          <p:cNvSpPr txBox="1"/>
          <p:nvPr/>
        </p:nvSpPr>
        <p:spPr>
          <a:xfrm>
            <a:off x="1513085" y="1190238"/>
            <a:ext cx="1198917" cy="326474"/>
          </a:xfrm>
          <a:prstGeom prst="rect">
            <a:avLst/>
          </a:prstGeom>
          <a:noFill/>
        </p:spPr>
        <p:txBody>
          <a:bodyPr wrap="none" lIns="0" tIns="0" rIns="0" bIns="0" anchor="ctr" anchorCtr="1">
            <a:noAutofit/>
          </a:bodyPr>
          <a:lstStyle/>
          <a:p>
            <a:pPr algn="ctr"/>
            <a:r>
              <a:rPr lang="en-US" altLang="zh-TW" sz="1400" b="1" dirty="0">
                <a:ea typeface="Cambria Math" panose="02040503050406030204" pitchFamily="18" charset="0"/>
              </a:rPr>
              <a:t>Gemma 4-26B</a:t>
            </a:r>
          </a:p>
        </p:txBody>
      </p:sp>
      <p:sp>
        <p:nvSpPr>
          <p:cNvPr id="138" name="文字方塊 137">
            <a:extLst>
              <a:ext uri="{FF2B5EF4-FFF2-40B4-BE49-F238E27FC236}">
                <a16:creationId xmlns:a16="http://schemas.microsoft.com/office/drawing/2014/main" id="{C48199EF-CC37-EA27-8FA9-1FFC5365F4EC}"/>
              </a:ext>
            </a:extLst>
          </p:cNvPr>
          <p:cNvSpPr txBox="1"/>
          <p:nvPr/>
        </p:nvSpPr>
        <p:spPr>
          <a:xfrm>
            <a:off x="3995936" y="1190238"/>
            <a:ext cx="1198917" cy="323918"/>
          </a:xfrm>
          <a:prstGeom prst="rect">
            <a:avLst/>
          </a:prstGeom>
          <a:noFill/>
        </p:spPr>
        <p:txBody>
          <a:bodyPr wrap="none" lIns="0" tIns="0" rIns="0" bIns="0" anchor="ctr" anchorCtr="1">
            <a:noAutofit/>
          </a:bodyPr>
          <a:lstStyle/>
          <a:p>
            <a:pPr algn="ctr"/>
            <a:r>
              <a:rPr lang="en-US" altLang="zh-TW" sz="1400" b="1" dirty="0">
                <a:ea typeface="Cambria Math" panose="02040503050406030204" pitchFamily="18" charset="0"/>
              </a:rPr>
              <a:t>DeepSeek V4-Pro</a:t>
            </a:r>
          </a:p>
        </p:txBody>
      </p:sp>
      <p:sp>
        <p:nvSpPr>
          <p:cNvPr id="142" name="文字方塊 141">
            <a:extLst>
              <a:ext uri="{FF2B5EF4-FFF2-40B4-BE49-F238E27FC236}">
                <a16:creationId xmlns:a16="http://schemas.microsoft.com/office/drawing/2014/main" id="{9CB82173-36E1-D971-4EA0-91947A9CAE15}"/>
              </a:ext>
            </a:extLst>
          </p:cNvPr>
          <p:cNvSpPr txBox="1"/>
          <p:nvPr/>
        </p:nvSpPr>
        <p:spPr>
          <a:xfrm>
            <a:off x="6397419" y="1190238"/>
            <a:ext cx="1198917" cy="323918"/>
          </a:xfrm>
          <a:prstGeom prst="rect">
            <a:avLst/>
          </a:prstGeom>
          <a:noFill/>
        </p:spPr>
        <p:txBody>
          <a:bodyPr wrap="none" lIns="0" tIns="0" rIns="0" bIns="0" anchor="ctr" anchorCtr="1">
            <a:noAutofit/>
          </a:bodyPr>
          <a:lstStyle/>
          <a:p>
            <a:pPr algn="ctr"/>
            <a:r>
              <a:rPr lang="en-US" altLang="zh-TW" sz="1400" b="1" dirty="0">
                <a:ea typeface="Cambria Math" panose="02040503050406030204" pitchFamily="18" charset="0"/>
              </a:rPr>
              <a:t>Kimi K3</a:t>
            </a:r>
          </a:p>
        </p:txBody>
      </p:sp>
      <p:sp>
        <p:nvSpPr>
          <p:cNvPr id="145" name="文字方塊 144">
            <a:extLst>
              <a:ext uri="{FF2B5EF4-FFF2-40B4-BE49-F238E27FC236}">
                <a16:creationId xmlns:a16="http://schemas.microsoft.com/office/drawing/2014/main" id="{423B0628-88C7-CC1F-CF4B-6992676A56E1}"/>
              </a:ext>
            </a:extLst>
          </p:cNvPr>
          <p:cNvSpPr txBox="1"/>
          <p:nvPr/>
        </p:nvSpPr>
        <p:spPr>
          <a:xfrm>
            <a:off x="6562688" y="2190449"/>
            <a:ext cx="868377" cy="323918"/>
          </a:xfrm>
          <a:prstGeom prst="rect">
            <a:avLst/>
          </a:prstGeom>
          <a:noFill/>
        </p:spPr>
        <p:txBody>
          <a:bodyPr wrap="none" lIns="0" tIns="0" rIns="0" bIns="0" anchor="ctr" anchorCtr="1">
            <a:noAutofit/>
          </a:bodyPr>
          <a:lstStyle/>
          <a:p>
            <a:pPr algn="ctr"/>
            <a:r>
              <a:rPr lang="en-US" altLang="zh-TW" sz="1200" b="1" dirty="0">
                <a:ea typeface="Cambria Math" panose="02040503050406030204" pitchFamily="18" charset="0"/>
              </a:rPr>
              <a:t>Stable </a:t>
            </a:r>
          </a:p>
          <a:p>
            <a:pPr algn="ctr"/>
            <a:r>
              <a:rPr lang="en-US" altLang="zh-TW" sz="1200" b="1" dirty="0">
                <a:ea typeface="Cambria Math" panose="02040503050406030204" pitchFamily="18" charset="0"/>
              </a:rPr>
              <a:t>Latent </a:t>
            </a:r>
            <a:r>
              <a:rPr lang="en-US" altLang="zh-TW" sz="1200" b="1" dirty="0" err="1">
                <a:ea typeface="Cambria Math" panose="02040503050406030204" pitchFamily="18" charset="0"/>
              </a:rPr>
              <a:t>MoE</a:t>
            </a:r>
            <a:endParaRPr lang="en-US" altLang="zh-TW" sz="1200" b="1" dirty="0">
              <a:ea typeface="Cambria Math" panose="02040503050406030204" pitchFamily="18" charset="0"/>
            </a:endParaRPr>
          </a:p>
        </p:txBody>
      </p:sp>
      <p:sp>
        <p:nvSpPr>
          <p:cNvPr id="146" name="箭號: 彎曲 145">
            <a:extLst>
              <a:ext uri="{FF2B5EF4-FFF2-40B4-BE49-F238E27FC236}">
                <a16:creationId xmlns:a16="http://schemas.microsoft.com/office/drawing/2014/main" id="{02C38765-5FCC-0715-78F9-4B4C3544BE0E}"/>
              </a:ext>
            </a:extLst>
          </p:cNvPr>
          <p:cNvSpPr/>
          <p:nvPr/>
        </p:nvSpPr>
        <p:spPr>
          <a:xfrm flipH="1">
            <a:off x="7451798" y="1556362"/>
            <a:ext cx="413456" cy="3554085"/>
          </a:xfrm>
          <a:prstGeom prst="bentArrow">
            <a:avLst/>
          </a:prstGeom>
          <a:solidFill>
            <a:schemeClr val="tx2">
              <a:lumMod val="20000"/>
              <a:lumOff val="80000"/>
              <a:alpha val="70000"/>
            </a:schemeClr>
          </a:solid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48" name="文字方塊 147">
            <a:extLst>
              <a:ext uri="{FF2B5EF4-FFF2-40B4-BE49-F238E27FC236}">
                <a16:creationId xmlns:a16="http://schemas.microsoft.com/office/drawing/2014/main" id="{F870F759-27CB-BCD9-0E67-87C7AF37F2DD}"/>
              </a:ext>
            </a:extLst>
          </p:cNvPr>
          <p:cNvSpPr txBox="1"/>
          <p:nvPr/>
        </p:nvSpPr>
        <p:spPr>
          <a:xfrm>
            <a:off x="7529795" y="3048828"/>
            <a:ext cx="868377" cy="323918"/>
          </a:xfrm>
          <a:prstGeom prst="rect">
            <a:avLst/>
          </a:prstGeom>
          <a:noFill/>
        </p:spPr>
        <p:txBody>
          <a:bodyPr wrap="none" lIns="0" tIns="0" rIns="0" bIns="0" anchor="ctr" anchorCtr="1">
            <a:noAutofit/>
          </a:bodyPr>
          <a:lstStyle/>
          <a:p>
            <a:pPr algn="ctr"/>
            <a:r>
              <a:rPr lang="en-US" altLang="zh-TW" sz="1200" dirty="0">
                <a:ea typeface="Cambria Math" panose="02040503050406030204" pitchFamily="18" charset="0"/>
              </a:rPr>
              <a:t>Attention</a:t>
            </a:r>
          </a:p>
          <a:p>
            <a:pPr algn="ctr"/>
            <a:r>
              <a:rPr lang="en-US" altLang="zh-TW" sz="1200" dirty="0">
                <a:ea typeface="Cambria Math" panose="02040503050406030204" pitchFamily="18" charset="0"/>
              </a:rPr>
              <a:t>Residual</a:t>
            </a:r>
          </a:p>
        </p:txBody>
      </p:sp>
      <p:sp>
        <p:nvSpPr>
          <p:cNvPr id="150" name="箭號: 彎曲 149">
            <a:extLst>
              <a:ext uri="{FF2B5EF4-FFF2-40B4-BE49-F238E27FC236}">
                <a16:creationId xmlns:a16="http://schemas.microsoft.com/office/drawing/2014/main" id="{B3E32E45-2D56-A954-84BE-F4C9FB3CA66F}"/>
              </a:ext>
            </a:extLst>
          </p:cNvPr>
          <p:cNvSpPr/>
          <p:nvPr/>
        </p:nvSpPr>
        <p:spPr>
          <a:xfrm flipH="1">
            <a:off x="5013115" y="1556362"/>
            <a:ext cx="413456" cy="3270161"/>
          </a:xfrm>
          <a:prstGeom prst="bentArrow">
            <a:avLst/>
          </a:prstGeom>
          <a:solidFill>
            <a:schemeClr val="tx2">
              <a:lumMod val="20000"/>
              <a:lumOff val="80000"/>
              <a:alpha val="70000"/>
            </a:schemeClr>
          </a:solid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52" name="文字方塊 151">
            <a:extLst>
              <a:ext uri="{FF2B5EF4-FFF2-40B4-BE49-F238E27FC236}">
                <a16:creationId xmlns:a16="http://schemas.microsoft.com/office/drawing/2014/main" id="{147E54B6-404C-95E3-8AC1-C7632743D62C}"/>
              </a:ext>
            </a:extLst>
          </p:cNvPr>
          <p:cNvSpPr txBox="1"/>
          <p:nvPr/>
        </p:nvSpPr>
        <p:spPr>
          <a:xfrm>
            <a:off x="5091112" y="3048828"/>
            <a:ext cx="868377" cy="323918"/>
          </a:xfrm>
          <a:prstGeom prst="rect">
            <a:avLst/>
          </a:prstGeom>
          <a:noFill/>
        </p:spPr>
        <p:txBody>
          <a:bodyPr wrap="none" lIns="0" tIns="0" rIns="0" bIns="0" anchor="ctr" anchorCtr="1">
            <a:noAutofit/>
          </a:bodyPr>
          <a:lstStyle/>
          <a:p>
            <a:pPr algn="ctr"/>
            <a:r>
              <a:rPr lang="en-US" altLang="zh-TW" sz="1200" dirty="0" err="1">
                <a:ea typeface="Cambria Math" panose="02040503050406030204" pitchFamily="18" charset="0"/>
              </a:rPr>
              <a:t>mHC</a:t>
            </a:r>
            <a:endParaRPr lang="en-US" altLang="zh-TW" sz="1200" dirty="0">
              <a:ea typeface="Cambria Math" panose="02040503050406030204" pitchFamily="18" charset="0"/>
            </a:endParaRPr>
          </a:p>
        </p:txBody>
      </p:sp>
      <p:sp>
        <p:nvSpPr>
          <p:cNvPr id="154" name="箭號: 彎曲 153">
            <a:extLst>
              <a:ext uri="{FF2B5EF4-FFF2-40B4-BE49-F238E27FC236}">
                <a16:creationId xmlns:a16="http://schemas.microsoft.com/office/drawing/2014/main" id="{6F07CC16-A84E-414C-DBCA-09F3EA906016}"/>
              </a:ext>
            </a:extLst>
          </p:cNvPr>
          <p:cNvSpPr/>
          <p:nvPr/>
        </p:nvSpPr>
        <p:spPr>
          <a:xfrm flipH="1">
            <a:off x="2574417" y="1556363"/>
            <a:ext cx="413456" cy="2952758"/>
          </a:xfrm>
          <a:prstGeom prst="bentArrow">
            <a:avLst/>
          </a:prstGeom>
          <a:solidFill>
            <a:schemeClr val="tx2">
              <a:lumMod val="20000"/>
              <a:lumOff val="80000"/>
              <a:alpha val="70000"/>
            </a:schemeClr>
          </a:solid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56" name="文字方塊 155">
            <a:extLst>
              <a:ext uri="{FF2B5EF4-FFF2-40B4-BE49-F238E27FC236}">
                <a16:creationId xmlns:a16="http://schemas.microsoft.com/office/drawing/2014/main" id="{B8B4BFD4-0153-271A-6311-94115AF90769}"/>
              </a:ext>
            </a:extLst>
          </p:cNvPr>
          <p:cNvSpPr txBox="1"/>
          <p:nvPr/>
        </p:nvSpPr>
        <p:spPr>
          <a:xfrm>
            <a:off x="2652414" y="3048828"/>
            <a:ext cx="868377" cy="323918"/>
          </a:xfrm>
          <a:prstGeom prst="rect">
            <a:avLst/>
          </a:prstGeom>
          <a:noFill/>
        </p:spPr>
        <p:txBody>
          <a:bodyPr wrap="none" lIns="0" tIns="0" rIns="0" bIns="0" anchor="ctr" anchorCtr="1">
            <a:noAutofit/>
          </a:bodyPr>
          <a:lstStyle/>
          <a:p>
            <a:pPr algn="ctr"/>
            <a:r>
              <a:rPr lang="en-US" altLang="zh-TW" sz="1200" dirty="0">
                <a:ea typeface="Cambria Math" panose="02040503050406030204" pitchFamily="18" charset="0"/>
              </a:rPr>
              <a:t>Per Layer</a:t>
            </a:r>
          </a:p>
          <a:p>
            <a:pPr algn="ctr"/>
            <a:r>
              <a:rPr lang="en-US" altLang="zh-TW" sz="1200" dirty="0">
                <a:ea typeface="Cambria Math" panose="02040503050406030204" pitchFamily="18" charset="0"/>
              </a:rPr>
              <a:t>Embedding</a:t>
            </a:r>
          </a:p>
        </p:txBody>
      </p:sp>
      <p:sp>
        <p:nvSpPr>
          <p:cNvPr id="158" name="文字方塊 157">
            <a:extLst>
              <a:ext uri="{FF2B5EF4-FFF2-40B4-BE49-F238E27FC236}">
                <a16:creationId xmlns:a16="http://schemas.microsoft.com/office/drawing/2014/main" id="{060FB22B-0BF2-7919-611D-2AE2F80DF17C}"/>
              </a:ext>
            </a:extLst>
          </p:cNvPr>
          <p:cNvSpPr txBox="1"/>
          <p:nvPr/>
        </p:nvSpPr>
        <p:spPr>
          <a:xfrm>
            <a:off x="1588462" y="3814561"/>
            <a:ext cx="1086557" cy="236797"/>
          </a:xfrm>
          <a:prstGeom prst="rect">
            <a:avLst/>
          </a:prstGeom>
          <a:solidFill>
            <a:schemeClr val="accent1">
              <a:lumMod val="75000"/>
              <a:alpha val="20000"/>
            </a:schemeClr>
          </a:solidFill>
          <a:ln w="15875">
            <a:solidFill>
              <a:schemeClr val="accent1">
                <a:lumMod val="60000"/>
                <a:lumOff val="40000"/>
              </a:schemeClr>
            </a:solidFill>
          </a:ln>
        </p:spPr>
        <p:txBody>
          <a:bodyPr wrap="none" lIns="36000" tIns="36000" rIns="0" bIns="0" anchor="t" anchorCtr="0">
            <a:noAutofit/>
          </a:bodyPr>
          <a:lstStyle/>
          <a:p>
            <a:pPr>
              <a:lnSpc>
                <a:spcPts val="1400"/>
              </a:lnSpc>
              <a:buNone/>
            </a:pPr>
            <a:r>
              <a:rPr lang="en-US" altLang="zh-TW" sz="1000" u="none" strike="noStrike" dirty="0" err="1">
                <a:solidFill>
                  <a:schemeClr val="tx1">
                    <a:lumMod val="95000"/>
                    <a:lumOff val="5000"/>
                  </a:schemeClr>
                </a:solidFill>
                <a:effectLst/>
                <a:latin typeface="Gadugi" panose="020B0502040204020203" pitchFamily="34" charset="0"/>
                <a:ea typeface="Gadugi" panose="020B0502040204020203" pitchFamily="34" charset="0"/>
                <a:cs typeface="ADLaM Display" panose="02010000000000000000" pitchFamily="2" charset="0"/>
              </a:rPr>
              <a:t>RoPE</a:t>
            </a:r>
            <a:endParaRPr lang="en-US" altLang="zh-TW" sz="1000" u="none" strike="noStrike" dirty="0">
              <a:solidFill>
                <a:schemeClr val="tx1">
                  <a:lumMod val="95000"/>
                  <a:lumOff val="5000"/>
                </a:schemeClr>
              </a:solidFill>
              <a:effectLst/>
              <a:latin typeface="Gadugi" panose="020B0502040204020203" pitchFamily="34" charset="0"/>
              <a:ea typeface="Gadugi" panose="020B0502040204020203" pitchFamily="34" charset="0"/>
              <a:cs typeface="ADLaM Display" panose="02010000000000000000" pitchFamily="2" charset="0"/>
            </a:endParaRPr>
          </a:p>
        </p:txBody>
      </p:sp>
      <p:sp>
        <p:nvSpPr>
          <p:cNvPr id="160" name="文字方塊 159">
            <a:extLst>
              <a:ext uri="{FF2B5EF4-FFF2-40B4-BE49-F238E27FC236}">
                <a16:creationId xmlns:a16="http://schemas.microsoft.com/office/drawing/2014/main" id="{E47E1660-E2C1-EF19-2063-E1FF5E91AE36}"/>
              </a:ext>
            </a:extLst>
          </p:cNvPr>
          <p:cNvSpPr txBox="1"/>
          <p:nvPr/>
        </p:nvSpPr>
        <p:spPr>
          <a:xfrm>
            <a:off x="4034246" y="3814561"/>
            <a:ext cx="1086557" cy="236797"/>
          </a:xfrm>
          <a:prstGeom prst="rect">
            <a:avLst/>
          </a:prstGeom>
          <a:solidFill>
            <a:schemeClr val="accent1">
              <a:lumMod val="75000"/>
              <a:alpha val="20000"/>
            </a:schemeClr>
          </a:solidFill>
          <a:ln w="15875">
            <a:solidFill>
              <a:schemeClr val="accent1">
                <a:lumMod val="60000"/>
                <a:lumOff val="40000"/>
              </a:schemeClr>
            </a:solidFill>
          </a:ln>
        </p:spPr>
        <p:txBody>
          <a:bodyPr wrap="none" lIns="36000" tIns="36000" rIns="0" bIns="0" anchor="t" anchorCtr="0">
            <a:noAutofit/>
          </a:bodyPr>
          <a:lstStyle/>
          <a:p>
            <a:pPr>
              <a:lnSpc>
                <a:spcPts val="1400"/>
              </a:lnSpc>
              <a:buNone/>
            </a:pPr>
            <a:r>
              <a:rPr lang="en-US" altLang="zh-TW" sz="1000" u="none" strike="noStrike" dirty="0" err="1">
                <a:solidFill>
                  <a:schemeClr val="tx1">
                    <a:lumMod val="95000"/>
                    <a:lumOff val="5000"/>
                  </a:schemeClr>
                </a:solidFill>
                <a:effectLst/>
                <a:latin typeface="Gadugi" panose="020B0502040204020203" pitchFamily="34" charset="0"/>
                <a:ea typeface="Gadugi" panose="020B0502040204020203" pitchFamily="34" charset="0"/>
                <a:cs typeface="ADLaM Display" panose="02010000000000000000" pitchFamily="2" charset="0"/>
              </a:rPr>
              <a:t>NoPE</a:t>
            </a:r>
            <a:r>
              <a:rPr lang="en-US" altLang="zh-TW" sz="1000" u="none" strike="noStrike" dirty="0">
                <a:solidFill>
                  <a:schemeClr val="tx1">
                    <a:lumMod val="95000"/>
                    <a:lumOff val="5000"/>
                  </a:schemeClr>
                </a:solidFill>
                <a:effectLst/>
                <a:latin typeface="Gadugi" panose="020B0502040204020203" pitchFamily="34" charset="0"/>
                <a:ea typeface="Gadugi" panose="020B0502040204020203" pitchFamily="34" charset="0"/>
                <a:cs typeface="ADLaM Display" panose="02010000000000000000" pitchFamily="2" charset="0"/>
              </a:rPr>
              <a:t> + </a:t>
            </a:r>
            <a:r>
              <a:rPr lang="en-US" altLang="zh-TW" sz="1000" u="none" strike="noStrike" dirty="0" err="1">
                <a:solidFill>
                  <a:schemeClr val="tx1">
                    <a:lumMod val="95000"/>
                    <a:lumOff val="5000"/>
                  </a:schemeClr>
                </a:solidFill>
                <a:effectLst/>
                <a:latin typeface="Gadugi" panose="020B0502040204020203" pitchFamily="34" charset="0"/>
                <a:ea typeface="Gadugi" panose="020B0502040204020203" pitchFamily="34" charset="0"/>
                <a:cs typeface="ADLaM Display" panose="02010000000000000000" pitchFamily="2" charset="0"/>
              </a:rPr>
              <a:t>RoPE</a:t>
            </a:r>
            <a:endParaRPr lang="en-US" altLang="zh-TW" sz="1000" u="none" strike="noStrike" dirty="0">
              <a:solidFill>
                <a:schemeClr val="tx1">
                  <a:lumMod val="95000"/>
                  <a:lumOff val="5000"/>
                </a:schemeClr>
              </a:solidFill>
              <a:effectLst/>
              <a:latin typeface="Gadugi" panose="020B0502040204020203" pitchFamily="34" charset="0"/>
              <a:ea typeface="Gadugi" panose="020B0502040204020203" pitchFamily="34" charset="0"/>
              <a:cs typeface="ADLaM Display" panose="02010000000000000000" pitchFamily="2" charset="0"/>
            </a:endParaRPr>
          </a:p>
        </p:txBody>
      </p:sp>
      <p:sp>
        <p:nvSpPr>
          <p:cNvPr id="162" name="文字方塊 161">
            <a:extLst>
              <a:ext uri="{FF2B5EF4-FFF2-40B4-BE49-F238E27FC236}">
                <a16:creationId xmlns:a16="http://schemas.microsoft.com/office/drawing/2014/main" id="{59F83D2C-47FF-9F9E-C060-30A16E931D20}"/>
              </a:ext>
            </a:extLst>
          </p:cNvPr>
          <p:cNvSpPr txBox="1"/>
          <p:nvPr/>
        </p:nvSpPr>
        <p:spPr>
          <a:xfrm>
            <a:off x="6474208" y="3833359"/>
            <a:ext cx="1086557" cy="236797"/>
          </a:xfrm>
          <a:prstGeom prst="rect">
            <a:avLst/>
          </a:prstGeom>
          <a:solidFill>
            <a:schemeClr val="accent1">
              <a:lumMod val="75000"/>
              <a:alpha val="20000"/>
            </a:schemeClr>
          </a:solidFill>
          <a:ln w="15875">
            <a:solidFill>
              <a:schemeClr val="accent1">
                <a:lumMod val="60000"/>
                <a:lumOff val="40000"/>
              </a:schemeClr>
            </a:solidFill>
          </a:ln>
        </p:spPr>
        <p:txBody>
          <a:bodyPr wrap="none" lIns="36000" tIns="36000" rIns="0" bIns="0" anchor="t" anchorCtr="0">
            <a:noAutofit/>
          </a:bodyPr>
          <a:lstStyle/>
          <a:p>
            <a:pPr>
              <a:lnSpc>
                <a:spcPts val="1400"/>
              </a:lnSpc>
              <a:buNone/>
            </a:pPr>
            <a:r>
              <a:rPr lang="en-US" altLang="zh-TW" sz="1000" u="none" strike="noStrike" dirty="0" err="1">
                <a:solidFill>
                  <a:schemeClr val="tx1">
                    <a:lumMod val="95000"/>
                    <a:lumOff val="5000"/>
                  </a:schemeClr>
                </a:solidFill>
                <a:effectLst/>
                <a:latin typeface="Gadugi" panose="020B0502040204020203" pitchFamily="34" charset="0"/>
                <a:ea typeface="Gadugi" panose="020B0502040204020203" pitchFamily="34" charset="0"/>
                <a:cs typeface="ADLaM Display" panose="02010000000000000000" pitchFamily="2" charset="0"/>
              </a:rPr>
              <a:t>NoPE</a:t>
            </a:r>
            <a:r>
              <a:rPr lang="en-US" altLang="zh-TW" sz="1000" u="none" strike="noStrike" dirty="0">
                <a:solidFill>
                  <a:schemeClr val="tx1">
                    <a:lumMod val="95000"/>
                    <a:lumOff val="5000"/>
                  </a:schemeClr>
                </a:solidFill>
                <a:effectLst/>
                <a:latin typeface="Gadugi" panose="020B0502040204020203" pitchFamily="34" charset="0"/>
                <a:ea typeface="Gadugi" panose="020B0502040204020203" pitchFamily="34" charset="0"/>
                <a:cs typeface="ADLaM Display" panose="02010000000000000000" pitchFamily="2" charset="0"/>
              </a:rPr>
              <a:t> everywhere</a:t>
            </a:r>
          </a:p>
        </p:txBody>
      </p:sp>
    </p:spTree>
    <p:extLst>
      <p:ext uri="{BB962C8B-B14F-4D97-AF65-F5344CB8AC3E}">
        <p14:creationId xmlns:p14="http://schemas.microsoft.com/office/powerpoint/2010/main" val="316544642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A6CC2-BDE4-965A-84C4-C8CEAFC9885E}"/>
            </a:ext>
          </a:extLst>
        </p:cNvPr>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F28CCEC3-1387-0743-9796-8CCF90C0AE03}"/>
              </a:ext>
            </a:extLst>
          </p:cNvPr>
          <p:cNvGraphicFramePr>
            <a:graphicFrameLocks noGrp="1"/>
          </p:cNvGraphicFramePr>
          <p:nvPr>
            <p:extLst>
              <p:ext uri="{D42A27DB-BD31-4B8C-83A1-F6EECF244321}">
                <p14:modId xmlns:p14="http://schemas.microsoft.com/office/powerpoint/2010/main" val="141976597"/>
              </p:ext>
            </p:extLst>
          </p:nvPr>
        </p:nvGraphicFramePr>
        <p:xfrm>
          <a:off x="300657" y="1084161"/>
          <a:ext cx="8542691" cy="4276923"/>
        </p:xfrm>
        <a:graphic>
          <a:graphicData uri="http://schemas.openxmlformats.org/drawingml/2006/table">
            <a:tbl>
              <a:tblPr firstRow="1" bandRow="1">
                <a:tableStyleId>{5C22544A-7EE6-4342-B048-85BDC9FD1C3A}</a:tableStyleId>
              </a:tblPr>
              <a:tblGrid>
                <a:gridCol w="382911">
                  <a:extLst>
                    <a:ext uri="{9D8B030D-6E8A-4147-A177-3AD203B41FA5}">
                      <a16:colId xmlns:a16="http://schemas.microsoft.com/office/drawing/2014/main" val="3115215194"/>
                    </a:ext>
                  </a:extLst>
                </a:gridCol>
                <a:gridCol w="766178">
                  <a:extLst>
                    <a:ext uri="{9D8B030D-6E8A-4147-A177-3AD203B41FA5}">
                      <a16:colId xmlns:a16="http://schemas.microsoft.com/office/drawing/2014/main" val="4024420245"/>
                    </a:ext>
                  </a:extLst>
                </a:gridCol>
                <a:gridCol w="766178">
                  <a:extLst>
                    <a:ext uri="{9D8B030D-6E8A-4147-A177-3AD203B41FA5}">
                      <a16:colId xmlns:a16="http://schemas.microsoft.com/office/drawing/2014/main" val="2857999959"/>
                    </a:ext>
                  </a:extLst>
                </a:gridCol>
                <a:gridCol w="766178">
                  <a:extLst>
                    <a:ext uri="{9D8B030D-6E8A-4147-A177-3AD203B41FA5}">
                      <a16:colId xmlns:a16="http://schemas.microsoft.com/office/drawing/2014/main" val="310011697"/>
                    </a:ext>
                  </a:extLst>
                </a:gridCol>
                <a:gridCol w="766178">
                  <a:extLst>
                    <a:ext uri="{9D8B030D-6E8A-4147-A177-3AD203B41FA5}">
                      <a16:colId xmlns:a16="http://schemas.microsoft.com/office/drawing/2014/main" val="932094440"/>
                    </a:ext>
                  </a:extLst>
                </a:gridCol>
                <a:gridCol w="1039744">
                  <a:extLst>
                    <a:ext uri="{9D8B030D-6E8A-4147-A177-3AD203B41FA5}">
                      <a16:colId xmlns:a16="http://schemas.microsoft.com/office/drawing/2014/main" val="1885199976"/>
                    </a:ext>
                  </a:extLst>
                </a:gridCol>
                <a:gridCol w="1080120">
                  <a:extLst>
                    <a:ext uri="{9D8B030D-6E8A-4147-A177-3AD203B41FA5}">
                      <a16:colId xmlns:a16="http://schemas.microsoft.com/office/drawing/2014/main" val="2502900903"/>
                    </a:ext>
                  </a:extLst>
                </a:gridCol>
                <a:gridCol w="743801">
                  <a:extLst>
                    <a:ext uri="{9D8B030D-6E8A-4147-A177-3AD203B41FA5}">
                      <a16:colId xmlns:a16="http://schemas.microsoft.com/office/drawing/2014/main" val="2600189719"/>
                    </a:ext>
                  </a:extLst>
                </a:gridCol>
                <a:gridCol w="743801">
                  <a:extLst>
                    <a:ext uri="{9D8B030D-6E8A-4147-A177-3AD203B41FA5}">
                      <a16:colId xmlns:a16="http://schemas.microsoft.com/office/drawing/2014/main" val="217543664"/>
                    </a:ext>
                  </a:extLst>
                </a:gridCol>
                <a:gridCol w="743801">
                  <a:extLst>
                    <a:ext uri="{9D8B030D-6E8A-4147-A177-3AD203B41FA5}">
                      <a16:colId xmlns:a16="http://schemas.microsoft.com/office/drawing/2014/main" val="2209626822"/>
                    </a:ext>
                  </a:extLst>
                </a:gridCol>
                <a:gridCol w="743801">
                  <a:extLst>
                    <a:ext uri="{9D8B030D-6E8A-4147-A177-3AD203B41FA5}">
                      <a16:colId xmlns:a16="http://schemas.microsoft.com/office/drawing/2014/main" val="2727600684"/>
                    </a:ext>
                  </a:extLst>
                </a:gridCol>
              </a:tblGrid>
              <a:tr h="668032">
                <a:tc>
                  <a:txBody>
                    <a:bodyPr/>
                    <a:lstStyle/>
                    <a:p>
                      <a:pPr algn="l"/>
                      <a:endParaRPr lang="en-US" altLang="zh-TW" sz="1200" b="1" cap="none" spc="0" dirty="0">
                        <a:ln w="0"/>
                        <a:solidFill>
                          <a:schemeClr val="tx1"/>
                        </a:solidFill>
                        <a:effectLst/>
                        <a:latin typeface="+mn-lt"/>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Modern Open-Source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Backbone</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Cross-Border Academic Collaboration</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Community</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-Driven</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Pioneers</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Independent &amp;</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Native Pillars</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1" cap="none" spc="0" dirty="0">
                        <a:ln w="0"/>
                        <a:solidFill>
                          <a:schemeClr val="tx1"/>
                        </a:solidFill>
                        <a:effectLst/>
                        <a:latin typeface="+mn-lt"/>
                      </a:endParaRPr>
                    </a:p>
                  </a:txBody>
                  <a:tcPr marL="0" marR="0" marT="0" marB="0" anchor="ctr" anchorCtr="1">
                    <a:lnL w="6350" cap="flat" cmpd="sng" algn="ctr">
                      <a:solidFill>
                        <a:schemeClr val="accent4">
                          <a:lumMod val="75000"/>
                        </a:schemeClr>
                      </a:solidFill>
                      <a:prstDash val="solid"/>
                      <a:round/>
                      <a:headEnd type="none" w="med" len="med"/>
                      <a:tailEnd type="none" w="med" len="med"/>
                    </a:lnL>
                    <a:lnR w="6350" cap="flat" cmpd="sng" algn="ctr">
                      <a:solidFill>
                        <a:schemeClr val="accent4">
                          <a:lumMod val="75000"/>
                        </a:schemeClr>
                      </a:solidFill>
                      <a:prstDash val="solid"/>
                      <a:round/>
                      <a:headEnd type="none" w="med" len="med"/>
                      <a:tailEnd type="none" w="med" len="med"/>
                    </a:lnR>
                    <a:lnT w="6350" cap="flat" cmpd="sng" algn="ctr">
                      <a:solidFill>
                        <a:schemeClr val="accent4">
                          <a:lumMod val="75000"/>
                        </a:schemeClr>
                      </a:solidFill>
                      <a:prstDash val="solid"/>
                      <a:round/>
                      <a:headEnd type="none" w="med" len="med"/>
                      <a:tailEnd type="none" w="med" len="med"/>
                    </a:lnT>
                    <a:lnB w="635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3213515898"/>
                  </a:ext>
                </a:extLst>
              </a:tr>
              <a:tr h="75780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9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DeepMind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(Google)</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Phi</a:t>
                      </a:r>
                      <a:br>
                        <a:rPr kumimoji="0" lang="en-US" altLang="zh-TW" sz="1200" b="1" i="0" u="none" strike="noStrike" kern="1200" cap="none" spc="0" normalizeH="0" baseline="0" noProof="0" dirty="0">
                          <a:ln w="0"/>
                          <a:solidFill>
                            <a:schemeClr val="tx2"/>
                          </a:solidFill>
                          <a:effectLst/>
                          <a:uLnTx/>
                          <a:uFillTx/>
                          <a:latin typeface="+mn-lt"/>
                          <a:ea typeface="+mn-ea"/>
                          <a:cs typeface="+mn-cs"/>
                        </a:rPr>
                      </a:br>
                      <a:r>
                        <a:rPr kumimoji="0" lang="en-US" altLang="zh-TW" sz="1000" b="0" i="0" u="none" strike="noStrike" kern="1200" cap="none" spc="0" normalizeH="0" baseline="0" noProof="0" dirty="0">
                          <a:ln w="0"/>
                          <a:solidFill>
                            <a:schemeClr val="tx2"/>
                          </a:solidFill>
                          <a:effectLst/>
                          <a:uLnTx/>
                          <a:uFillTx/>
                          <a:latin typeface="+mn-lt"/>
                          <a:ea typeface="+mn-ea"/>
                          <a:cs typeface="+mn-cs"/>
                        </a:rPr>
                        <a:t>(Microsoft)</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75000"/>
                        <a:alpha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Meta AI</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(FAIR)</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Mistral AI</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(Europe)</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BigScience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(Hugging Face, France</a:t>
                      </a:r>
                      <a:r>
                        <a:rPr kumimoji="0" lang="zh-TW" altLang="en-US" sz="1000" b="0" i="0" u="none" strike="noStrike" kern="1200" cap="none" spc="0" normalizeH="0" baseline="0" noProof="0" dirty="0">
                          <a:ln w="0"/>
                          <a:solidFill>
                            <a:schemeClr val="tx2"/>
                          </a:solidFill>
                          <a:effectLst/>
                          <a:uLnTx/>
                          <a:uFillTx/>
                          <a:latin typeface="+mn-lt"/>
                          <a:ea typeface="+mn-ea"/>
                          <a:cs typeface="+mn-cs"/>
                        </a:rPr>
                        <a:t> </a:t>
                      </a:r>
                      <a:r>
                        <a:rPr kumimoji="0" lang="en-US" altLang="zh-TW" sz="1000" b="0" i="0" u="none" strike="noStrike" kern="1200" cap="none" spc="0" normalizeH="0" baseline="0" noProof="0" dirty="0">
                          <a:ln w="0"/>
                          <a:solidFill>
                            <a:schemeClr val="tx2"/>
                          </a:solidFill>
                          <a:effectLst/>
                          <a:uLnTx/>
                          <a:uFillTx/>
                          <a:latin typeface="+mn-lt"/>
                          <a:ea typeface="+mn-ea"/>
                          <a:cs typeface="+mn-cs"/>
                        </a:rPr>
                        <a:t> and 1000+ scientists )</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EleutherAI</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(Hugging Face, CoreWeave,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Stability AI, …)</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C000">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Technology Innovation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Institute </a:t>
                      </a:r>
                      <a:r>
                        <a:rPr kumimoji="0" lang="en-US" altLang="zh-TW" sz="1000" b="0" i="0" u="none" strike="noStrike" kern="1200" cap="none" spc="0" normalizeH="0" baseline="0" noProof="0" dirty="0">
                          <a:ln w="0"/>
                          <a:solidFill>
                            <a:schemeClr val="tx2"/>
                          </a:solidFill>
                          <a:effectLst/>
                          <a:uLnTx/>
                          <a:uFillTx/>
                          <a:latin typeface="+mn-lt"/>
                          <a:ea typeface="+mn-ea"/>
                          <a:cs typeface="+mn-cs"/>
                        </a:rPr>
                        <a:t>(NV)</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Qwen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(Alibaba)</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rgbClr val="2260DC">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DS MoE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(DeepSeek)</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KIMI</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(Moonshot)</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603224414"/>
                  </a:ext>
                </a:extLst>
              </a:tr>
              <a:tr h="3173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2020</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9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75000"/>
                        <a:alpha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GPT-Neo</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FC000">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2260DC">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5">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341340391"/>
                  </a:ext>
                </a:extLst>
              </a:tr>
              <a:tr h="3173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2021</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9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75000"/>
                        <a:alpha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GPT-J</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FC000">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2260DC">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5">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49642222"/>
                  </a:ext>
                </a:extLst>
              </a:tr>
              <a:tr h="3173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2022</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9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75000"/>
                        <a:alpha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OPT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bg2">
                              <a:lumMod val="50000"/>
                            </a:schemeClr>
                          </a:solidFill>
                          <a:effectLst/>
                          <a:uLnTx/>
                          <a:uFillTx/>
                          <a:latin typeface="+mn-lt"/>
                          <a:ea typeface="+mn-ea"/>
                          <a:cs typeface="+mn-cs"/>
                        </a:rPr>
                        <a:t>BLOOM</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GPT-</a:t>
                      </a:r>
                      <a:r>
                        <a:rPr kumimoji="0" lang="en-US" altLang="zh-TW" sz="1200" b="0" i="0" u="none" strike="noStrike" kern="1200" cap="none" spc="0" normalizeH="0" baseline="0" noProof="0" dirty="0" err="1">
                          <a:ln w="0"/>
                          <a:solidFill>
                            <a:prstClr val="black"/>
                          </a:solidFill>
                          <a:effectLst/>
                          <a:uLnTx/>
                          <a:uFillTx/>
                          <a:latin typeface="+mn-lt"/>
                          <a:ea typeface="+mn-ea"/>
                          <a:cs typeface="+mn-cs"/>
                        </a:rPr>
                        <a:t>NeoX</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FC000">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2260DC">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5">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148326291"/>
                  </a:ext>
                </a:extLst>
              </a:tr>
              <a:tr h="39537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2023</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9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Phi-1</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75000"/>
                        <a:alpha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Llama 1</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Mistral 7B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Mixtral</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12700" cap="flat" cmpd="sng" algn="ctr">
                      <a:solidFill>
                        <a:schemeClr val="accent4">
                          <a:lumMod val="20000"/>
                          <a:lumOff val="8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12700" cap="flat" cmpd="sng" algn="ctr">
                      <a:solidFill>
                        <a:schemeClr val="accent4">
                          <a:lumMod val="20000"/>
                          <a:lumOff val="8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err="1">
                          <a:ln w="0"/>
                          <a:solidFill>
                            <a:prstClr val="black"/>
                          </a:solidFill>
                          <a:effectLst/>
                          <a:uLnTx/>
                          <a:uFillTx/>
                          <a:latin typeface="+mn-lt"/>
                          <a:ea typeface="+mn-ea"/>
                          <a:cs typeface="+mn-cs"/>
                        </a:rPr>
                        <a:t>LLeMA</a:t>
                      </a: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1270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FC000">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Falcon</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Qwen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1.0</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2260DC">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DeepSeek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LLM</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5">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714491690"/>
                  </a:ext>
                </a:extLst>
              </a:tr>
              <a:tr h="39537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2024</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9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Phi-3</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75000"/>
                        <a:alpha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Llama 3</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12700" cap="flat" cmpd="sng" algn="ctr">
                      <a:solidFill>
                        <a:schemeClr val="accent4">
                          <a:lumMod val="20000"/>
                          <a:lumOff val="8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12700" cap="flat" cmpd="sng" algn="ctr">
                      <a:solidFill>
                        <a:schemeClr val="accent4">
                          <a:lumMod val="20000"/>
                          <a:lumOff val="8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schemeClr val="tx2">
                            <a:lumMod val="75000"/>
                          </a:schemeClr>
                        </a:solidFill>
                        <a:effectLst/>
                        <a:uLnTx/>
                        <a:uFillTx/>
                        <a:latin typeface="+mn-lt"/>
                        <a:ea typeface="+mn-ea"/>
                        <a:cs typeface="+mn-cs"/>
                      </a:endParaRPr>
                    </a:p>
                  </a:txBody>
                  <a:tcPr marL="0" marR="0" marT="0" marB="0" anchor="ctr" anchorCtr="1">
                    <a:lnL w="1270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FC000">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Falcon 3</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Qwen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2.5</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2260DC">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DeepSeek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V3</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5">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559259351"/>
                  </a:ext>
                </a:extLst>
              </a:tr>
              <a:tr h="39537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2025</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9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Gemma 3</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Phi-4</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75000"/>
                        <a:alpha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Llama 4</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Mistral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Large 3</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12700" cap="flat" cmpd="sng" algn="ctr">
                      <a:solidFill>
                        <a:schemeClr val="accent4">
                          <a:lumMod val="20000"/>
                          <a:lumOff val="8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12700" cap="flat" cmpd="sng" algn="ctr">
                      <a:solidFill>
                        <a:schemeClr val="accent4">
                          <a:lumMod val="20000"/>
                          <a:lumOff val="8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lumMod val="50000"/>
                              <a:lumOff val="50000"/>
                            </a:schemeClr>
                          </a:solidFill>
                          <a:effectLst/>
                          <a:uLnTx/>
                          <a:uFillTx/>
                          <a:latin typeface="+mn-lt"/>
                          <a:ea typeface="+mn-ea"/>
                          <a:cs typeface="+mn-cs"/>
                        </a:rPr>
                        <a:t>The Common Pile</a:t>
                      </a:r>
                    </a:p>
                  </a:txBody>
                  <a:tcPr marL="0" marR="0" marT="0" marB="0" anchor="ctr" anchorCtr="1">
                    <a:lnL w="1270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FC000">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Falcon H1</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Qwen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3.0</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2260DC">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5">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772492193"/>
                  </a:ext>
                </a:extLst>
              </a:tr>
              <a:tr h="39537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2026</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9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Gemma 4</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Phi-4</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Vision</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75000"/>
                        <a:alpha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Muse 1</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Mistral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Small 4</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12700" cap="flat" cmpd="sng" algn="ctr">
                      <a:solidFill>
                        <a:schemeClr val="accent4">
                          <a:lumMod val="20000"/>
                          <a:lumOff val="8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12700" cap="flat" cmpd="sng" algn="ctr">
                      <a:solidFill>
                        <a:schemeClr val="accent4">
                          <a:lumMod val="20000"/>
                          <a:lumOff val="8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12700" cap="flat" cmpd="sng" algn="ctr">
                      <a:solidFill>
                        <a:schemeClr val="accent4">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lumMod val="50000"/>
                              <a:lumOff val="50000"/>
                            </a:schemeClr>
                          </a:solidFill>
                          <a:effectLst/>
                          <a:uLnTx/>
                          <a:uFillTx/>
                          <a:latin typeface="+mn-lt"/>
                          <a:ea typeface="+mn-ea"/>
                          <a:cs typeface="+mn-cs"/>
                        </a:rPr>
                        <a:t>LM-Evaluation-Harness</a:t>
                      </a:r>
                      <a:endParaRPr kumimoji="0" lang="zh-TW" altLang="en-US" sz="1200" b="0" i="0" u="none" strike="noStrike" kern="1200" cap="none" spc="0" normalizeH="0" baseline="0" noProof="0" dirty="0">
                        <a:ln w="0"/>
                        <a:solidFill>
                          <a:schemeClr val="tx1">
                            <a:lumMod val="50000"/>
                            <a:lumOff val="50000"/>
                          </a:schemeClr>
                        </a:solidFill>
                        <a:effectLst/>
                        <a:uLnTx/>
                        <a:uFillTx/>
                        <a:latin typeface="+mn-lt"/>
                        <a:ea typeface="+mn-ea"/>
                        <a:cs typeface="+mn-cs"/>
                      </a:endParaRPr>
                    </a:p>
                  </a:txBody>
                  <a:tcPr marL="0" marR="0" marT="0" marB="0" anchor="ctr" anchorCtr="1">
                    <a:lnL w="1270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FC000">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Falcon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H1R</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Qwen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3.8</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rgbClr val="2260DC">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DeepSeek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V4</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Kimi</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K3</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0024983"/>
                  </a:ext>
                </a:extLst>
              </a:tr>
              <a:tr h="3173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accent4">
                          <a:lumMod val="20000"/>
                          <a:lumOff val="80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schemeClr val="tx2">
                            <a:lumMod val="75000"/>
                          </a:schemeClr>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22451293"/>
                  </a:ext>
                </a:extLst>
              </a:tr>
            </a:tbl>
          </a:graphicData>
        </a:graphic>
      </p:graphicFrame>
      <p:sp>
        <p:nvSpPr>
          <p:cNvPr id="6" name="標題 1">
            <a:extLst>
              <a:ext uri="{FF2B5EF4-FFF2-40B4-BE49-F238E27FC236}">
                <a16:creationId xmlns:a16="http://schemas.microsoft.com/office/drawing/2014/main" id="{2584B682-80DC-5350-E199-F653A8484A51}"/>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The Evolution of Open-Source LLMs</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From 2020 to 2026.</a:t>
            </a: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pic>
        <p:nvPicPr>
          <p:cNvPr id="10" name="圖片 9">
            <a:extLst>
              <a:ext uri="{FF2B5EF4-FFF2-40B4-BE49-F238E27FC236}">
                <a16:creationId xmlns:a16="http://schemas.microsoft.com/office/drawing/2014/main" id="{9C034926-36B1-924C-1E61-4CBCD515102C}"/>
              </a:ext>
            </a:extLst>
          </p:cNvPr>
          <p:cNvPicPr>
            <a:picLocks noChangeAspect="1"/>
          </p:cNvPicPr>
          <p:nvPr/>
        </p:nvPicPr>
        <p:blipFill>
          <a:blip r:embed="rId3"/>
          <a:stretch>
            <a:fillRect/>
          </a:stretch>
        </p:blipFill>
        <p:spPr>
          <a:xfrm>
            <a:off x="6807316" y="5216376"/>
            <a:ext cx="284964" cy="284964"/>
          </a:xfrm>
          <a:prstGeom prst="rect">
            <a:avLst/>
          </a:prstGeom>
          <a:effectLst>
            <a:glow rad="12700">
              <a:schemeClr val="bg1">
                <a:lumMod val="95000"/>
                <a:alpha val="40000"/>
              </a:schemeClr>
            </a:glow>
            <a:softEdge rad="25400"/>
          </a:effectLst>
        </p:spPr>
      </p:pic>
      <p:pic>
        <p:nvPicPr>
          <p:cNvPr id="12" name="圖片 11">
            <a:extLst>
              <a:ext uri="{FF2B5EF4-FFF2-40B4-BE49-F238E27FC236}">
                <a16:creationId xmlns:a16="http://schemas.microsoft.com/office/drawing/2014/main" id="{B49E799F-C565-ABB2-F1E1-804D95D1669C}"/>
              </a:ext>
            </a:extLst>
          </p:cNvPr>
          <p:cNvPicPr>
            <a:picLocks noChangeAspect="1"/>
          </p:cNvPicPr>
          <p:nvPr/>
        </p:nvPicPr>
        <p:blipFill>
          <a:blip r:embed="rId4"/>
          <a:stretch>
            <a:fillRect/>
          </a:stretch>
        </p:blipFill>
        <p:spPr>
          <a:xfrm>
            <a:off x="7533826" y="5208414"/>
            <a:ext cx="350542" cy="284964"/>
          </a:xfrm>
          <a:prstGeom prst="rect">
            <a:avLst/>
          </a:prstGeom>
        </p:spPr>
      </p:pic>
      <p:pic>
        <p:nvPicPr>
          <p:cNvPr id="16" name="圖片 15">
            <a:extLst>
              <a:ext uri="{FF2B5EF4-FFF2-40B4-BE49-F238E27FC236}">
                <a16:creationId xmlns:a16="http://schemas.microsoft.com/office/drawing/2014/main" id="{37610F10-8CC5-F71E-FB14-609A88EA39AD}"/>
              </a:ext>
            </a:extLst>
          </p:cNvPr>
          <p:cNvPicPr>
            <a:picLocks noChangeAspect="1"/>
          </p:cNvPicPr>
          <p:nvPr/>
        </p:nvPicPr>
        <p:blipFill>
          <a:blip r:embed="rId5"/>
          <a:stretch>
            <a:fillRect/>
          </a:stretch>
        </p:blipFill>
        <p:spPr>
          <a:xfrm>
            <a:off x="3275856" y="5184697"/>
            <a:ext cx="284964" cy="284964"/>
          </a:xfrm>
          <a:prstGeom prst="rect">
            <a:avLst/>
          </a:prstGeom>
        </p:spPr>
      </p:pic>
      <p:pic>
        <p:nvPicPr>
          <p:cNvPr id="20" name="圖片 19">
            <a:extLst>
              <a:ext uri="{FF2B5EF4-FFF2-40B4-BE49-F238E27FC236}">
                <a16:creationId xmlns:a16="http://schemas.microsoft.com/office/drawing/2014/main" id="{3C663D43-268C-53AE-455E-FD0977CCE05C}"/>
              </a:ext>
            </a:extLst>
          </p:cNvPr>
          <p:cNvPicPr>
            <a:picLocks noChangeAspect="1"/>
          </p:cNvPicPr>
          <p:nvPr/>
        </p:nvPicPr>
        <p:blipFill>
          <a:blip r:embed="rId6"/>
          <a:stretch>
            <a:fillRect/>
          </a:stretch>
        </p:blipFill>
        <p:spPr>
          <a:xfrm>
            <a:off x="879223" y="5151468"/>
            <a:ext cx="380409" cy="380409"/>
          </a:xfrm>
          <a:prstGeom prst="rect">
            <a:avLst/>
          </a:prstGeom>
          <a:effectLst>
            <a:glow rad="25400">
              <a:schemeClr val="accent5">
                <a:lumMod val="40000"/>
                <a:lumOff val="60000"/>
                <a:alpha val="40000"/>
              </a:schemeClr>
            </a:glow>
            <a:softEdge rad="12700"/>
          </a:effectLst>
        </p:spPr>
      </p:pic>
      <p:pic>
        <p:nvPicPr>
          <p:cNvPr id="9" name="圖片 8">
            <a:extLst>
              <a:ext uri="{FF2B5EF4-FFF2-40B4-BE49-F238E27FC236}">
                <a16:creationId xmlns:a16="http://schemas.microsoft.com/office/drawing/2014/main" id="{F5012F1A-6F0A-97DF-CC14-7D190C26E4F0}"/>
              </a:ext>
            </a:extLst>
          </p:cNvPr>
          <p:cNvPicPr>
            <a:picLocks noChangeAspect="1"/>
          </p:cNvPicPr>
          <p:nvPr/>
        </p:nvPicPr>
        <p:blipFill>
          <a:blip r:embed="rId7"/>
          <a:stretch>
            <a:fillRect/>
          </a:stretch>
        </p:blipFill>
        <p:spPr>
          <a:xfrm>
            <a:off x="2483768" y="5240323"/>
            <a:ext cx="284964" cy="225568"/>
          </a:xfrm>
          <a:prstGeom prst="rect">
            <a:avLst/>
          </a:prstGeom>
        </p:spPr>
      </p:pic>
      <p:pic>
        <p:nvPicPr>
          <p:cNvPr id="22" name="圖片 21">
            <a:extLst>
              <a:ext uri="{FF2B5EF4-FFF2-40B4-BE49-F238E27FC236}">
                <a16:creationId xmlns:a16="http://schemas.microsoft.com/office/drawing/2014/main" id="{3D4C8B4F-8579-798A-BD81-2A9ED45B4E54}"/>
              </a:ext>
            </a:extLst>
          </p:cNvPr>
          <p:cNvPicPr>
            <a:picLocks noChangeAspect="1"/>
          </p:cNvPicPr>
          <p:nvPr/>
        </p:nvPicPr>
        <p:blipFill>
          <a:blip r:embed="rId8"/>
          <a:stretch>
            <a:fillRect/>
          </a:stretch>
        </p:blipFill>
        <p:spPr>
          <a:xfrm>
            <a:off x="8317433" y="5208413"/>
            <a:ext cx="287015" cy="284965"/>
          </a:xfrm>
          <a:prstGeom prst="rect">
            <a:avLst/>
          </a:prstGeom>
        </p:spPr>
      </p:pic>
      <p:pic>
        <p:nvPicPr>
          <p:cNvPr id="30" name="圖片 29">
            <a:extLst>
              <a:ext uri="{FF2B5EF4-FFF2-40B4-BE49-F238E27FC236}">
                <a16:creationId xmlns:a16="http://schemas.microsoft.com/office/drawing/2014/main" id="{46A64EA5-8F7A-E610-5F8F-CE72FAA64EBE}"/>
              </a:ext>
            </a:extLst>
          </p:cNvPr>
          <p:cNvPicPr>
            <a:picLocks noChangeAspect="1"/>
          </p:cNvPicPr>
          <p:nvPr/>
        </p:nvPicPr>
        <p:blipFill>
          <a:blip r:embed="rId9"/>
          <a:stretch>
            <a:fillRect/>
          </a:stretch>
        </p:blipFill>
        <p:spPr>
          <a:xfrm>
            <a:off x="3779912" y="2942072"/>
            <a:ext cx="980309" cy="265437"/>
          </a:xfrm>
          <a:prstGeom prst="rect">
            <a:avLst/>
          </a:prstGeom>
          <a:effectLst>
            <a:glow rad="50800">
              <a:schemeClr val="tx1">
                <a:alpha val="20000"/>
              </a:schemeClr>
            </a:glow>
            <a:softEdge rad="0"/>
          </a:effectLst>
        </p:spPr>
      </p:pic>
      <p:pic>
        <p:nvPicPr>
          <p:cNvPr id="31" name="圖片 30" descr="EleutherAI">
            <a:extLst>
              <a:ext uri="{FF2B5EF4-FFF2-40B4-BE49-F238E27FC236}">
                <a16:creationId xmlns:a16="http://schemas.microsoft.com/office/drawing/2014/main" id="{B9927168-FE93-7A1D-D637-FBC5D13D256E}"/>
              </a:ext>
            </a:extLst>
          </p:cNvPr>
          <p:cNvPicPr>
            <a:picLocks noChangeAspect="1"/>
          </p:cNvPicPr>
          <p:nvPr/>
        </p:nvPicPr>
        <p:blipFill>
          <a:blip r:embed="rId10"/>
          <a:stretch>
            <a:fillRect/>
          </a:stretch>
        </p:blipFill>
        <p:spPr>
          <a:xfrm>
            <a:off x="4355976" y="3915928"/>
            <a:ext cx="1595502" cy="331066"/>
          </a:xfrm>
          <a:prstGeom prst="rect">
            <a:avLst/>
          </a:prstGeom>
          <a:effectLst>
            <a:glow rad="76200">
              <a:schemeClr val="tx1">
                <a:alpha val="80000"/>
              </a:schemeClr>
            </a:glow>
            <a:softEdge rad="0"/>
          </a:effectLst>
        </p:spPr>
      </p:pic>
      <p:pic>
        <p:nvPicPr>
          <p:cNvPr id="34" name="圖片 33">
            <a:extLst>
              <a:ext uri="{FF2B5EF4-FFF2-40B4-BE49-F238E27FC236}">
                <a16:creationId xmlns:a16="http://schemas.microsoft.com/office/drawing/2014/main" id="{736F2CD2-8368-1411-CDA1-CD7BED977C1D}"/>
              </a:ext>
            </a:extLst>
          </p:cNvPr>
          <p:cNvPicPr>
            <a:picLocks noChangeAspect="1"/>
          </p:cNvPicPr>
          <p:nvPr/>
        </p:nvPicPr>
        <p:blipFill>
          <a:blip r:embed="rId11"/>
          <a:stretch>
            <a:fillRect/>
          </a:stretch>
        </p:blipFill>
        <p:spPr>
          <a:xfrm>
            <a:off x="6084168" y="5184558"/>
            <a:ext cx="272407" cy="332674"/>
          </a:xfrm>
          <a:prstGeom prst="rect">
            <a:avLst/>
          </a:prstGeom>
        </p:spPr>
      </p:pic>
      <p:pic>
        <p:nvPicPr>
          <p:cNvPr id="36" name="圖片 35">
            <a:extLst>
              <a:ext uri="{FF2B5EF4-FFF2-40B4-BE49-F238E27FC236}">
                <a16:creationId xmlns:a16="http://schemas.microsoft.com/office/drawing/2014/main" id="{19738192-72EC-1EEB-D2CA-5EDC92128DB0}"/>
              </a:ext>
            </a:extLst>
          </p:cNvPr>
          <p:cNvPicPr>
            <a:picLocks noChangeAspect="1"/>
          </p:cNvPicPr>
          <p:nvPr/>
        </p:nvPicPr>
        <p:blipFill>
          <a:blip r:embed="rId12"/>
          <a:stretch>
            <a:fillRect/>
          </a:stretch>
        </p:blipFill>
        <p:spPr>
          <a:xfrm>
            <a:off x="1715117" y="5184558"/>
            <a:ext cx="288546" cy="281333"/>
          </a:xfrm>
          <a:prstGeom prst="rect">
            <a:avLst/>
          </a:prstGeom>
        </p:spPr>
      </p:pic>
    </p:spTree>
    <p:extLst>
      <p:ext uri="{BB962C8B-B14F-4D97-AF65-F5344CB8AC3E}">
        <p14:creationId xmlns:p14="http://schemas.microsoft.com/office/powerpoint/2010/main" val="230050673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theme/theme1.xml><?xml version="1.0" encoding="utf-8"?>
<a:theme xmlns:a="http://schemas.openxmlformats.org/drawingml/2006/main" name="Defaul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1">
            <a:alpha val="70000"/>
          </a:schemeClr>
        </a:solidFill>
        <a:ln w="12700">
          <a:solidFill>
            <a:schemeClr val="bg1">
              <a:lumMod val="75000"/>
            </a:schemeClr>
          </a:solid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簡報1" id="{3349570C-DE3B-48BB-8671-1853FC12C45D}" vid="{424F00FA-23EC-402E-8D8B-A6A8EB048657}"/>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TM02900688[[fn=多面向]]</Template>
  <TotalTime>2313</TotalTime>
  <Words>4817</Words>
  <Application>Microsoft Office PowerPoint</Application>
  <PresentationFormat>如螢幕大小 (4:3)</PresentationFormat>
  <Paragraphs>974</Paragraphs>
  <Slides>25</Slides>
  <Notes>15</Notes>
  <HiddenSlides>1</HiddenSlides>
  <MMClips>0</MMClips>
  <ScaleCrop>false</ScaleCrop>
  <HeadingPairs>
    <vt:vector size="6" baseType="variant">
      <vt:variant>
        <vt:lpstr>使用字型</vt:lpstr>
      </vt:variant>
      <vt:variant>
        <vt:i4>9</vt:i4>
      </vt:variant>
      <vt:variant>
        <vt:lpstr>佈景主題</vt:lpstr>
      </vt:variant>
      <vt:variant>
        <vt:i4>1</vt:i4>
      </vt:variant>
      <vt:variant>
        <vt:lpstr>投影片標題</vt:lpstr>
      </vt:variant>
      <vt:variant>
        <vt:i4>25</vt:i4>
      </vt:variant>
    </vt:vector>
  </HeadingPairs>
  <TitlesOfParts>
    <vt:vector size="35" baseType="lpstr">
      <vt:lpstr>Google Sans</vt:lpstr>
      <vt:lpstr>Noto Sans HK</vt:lpstr>
      <vt:lpstr>微軟正黑體</vt:lpstr>
      <vt:lpstr>ADLaM Display</vt:lpstr>
      <vt:lpstr>Arial</vt:lpstr>
      <vt:lpstr>Calibri</vt:lpstr>
      <vt:lpstr>Cambria Math</vt:lpstr>
      <vt:lpstr>Gadugi</vt:lpstr>
      <vt:lpstr>Wingdings</vt:lpstr>
      <vt:lpstr>Default</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Progress Report</dc:title>
  <dc:creator>Felix Tien(田慶豐)</dc:creator>
  <cp:lastModifiedBy>Allen Ni(倪士凱)</cp:lastModifiedBy>
  <cp:revision>1886</cp:revision>
  <cp:lastPrinted>2024-07-30T01:44:15Z</cp:lastPrinted>
  <dcterms:created xsi:type="dcterms:W3CDTF">2019-11-08T03:01:47Z</dcterms:created>
  <dcterms:modified xsi:type="dcterms:W3CDTF">2026-09-18T07:14:34Z</dcterms:modified>
</cp:coreProperties>
</file>