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4"/>
  </p:notesMasterIdLst>
  <p:handoutMasterIdLst>
    <p:handoutMasterId r:id="rId15"/>
  </p:handoutMasterIdLst>
  <p:sldIdLst>
    <p:sldId id="3459" r:id="rId2"/>
    <p:sldId id="3472" r:id="rId3"/>
    <p:sldId id="3504" r:id="rId4"/>
    <p:sldId id="3427" r:id="rId5"/>
    <p:sldId id="3503" r:id="rId6"/>
    <p:sldId id="3465" r:id="rId7"/>
    <p:sldId id="3484" r:id="rId8"/>
    <p:sldId id="3508" r:id="rId9"/>
    <p:sldId id="3505" r:id="rId10"/>
    <p:sldId id="3549" r:id="rId11"/>
    <p:sldId id="3550" r:id="rId12"/>
    <p:sldId id="3519" r:id="rId1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Machine Learning" id="{B661AA10-C3FF-4E46-A114-E951FEA8A6DC}">
          <p14:sldIdLst>
            <p14:sldId id="3504"/>
            <p14:sldId id="3427"/>
            <p14:sldId id="3503"/>
          </p14:sldIdLst>
        </p14:section>
        <p14:section name="Models" id="{5A048767-0D58-44AF-B962-12C29493294F}">
          <p14:sldIdLst>
            <p14:sldId id="3465"/>
            <p14:sldId id="3484"/>
            <p14:sldId id="3508"/>
            <p14:sldId id="3505"/>
          </p14:sldIdLst>
        </p14:section>
        <p14:section name="Conclusion" id="{D9E6914C-A73F-4176-B0F8-3F87EAC09119}">
          <p14:sldIdLst>
            <p14:sldId id="3549"/>
            <p14:sldId id="3550"/>
            <p14:sldId id="351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71958" autoAdjust="0"/>
  </p:normalViewPr>
  <p:slideViewPr>
    <p:cSldViewPr>
      <p:cViewPr>
        <p:scale>
          <a:sx n="110" d="100"/>
          <a:sy n="110" d="100"/>
        </p:scale>
        <p:origin x="1314" y="7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huggingface.co/taide" TargetMode="External"/><Relationship Id="rId2" Type="http://schemas.openxmlformats.org/officeDocument/2006/relationships/slide" Target="../slides/slide11.xml"/><Relationship Id="rId1" Type="http://schemas.openxmlformats.org/officeDocument/2006/relationships/notesMaster" Target="../notesMasters/notesMaster1.xml"/><Relationship Id="rId5" Type="http://schemas.openxmlformats.org/officeDocument/2006/relationships/hyperlink" Target="https://huggingface.co/collections/MediaTek-Research/breeze-2-family" TargetMode="External"/><Relationship Id="rId4" Type="http://schemas.openxmlformats.org/officeDocument/2006/relationships/hyperlink" Target="https://huggingface.co/UOfficeForceX/Tame-Llama3"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台灣目前的主權 AI 發展策略，</a:t>
            </a:r>
            <a:r>
              <a:rPr lang="zh-TW" altLang="zh-TW" sz="1200" b="1" u="none" strike="noStrike" kern="1200" dirty="0">
                <a:solidFill>
                  <a:schemeClr val="tx1"/>
                </a:solidFill>
                <a:effectLst/>
                <a:latin typeface="+mn-lt"/>
                <a:ea typeface="+mn-ea"/>
                <a:cs typeface="+mn-cs"/>
              </a:rPr>
              <a:t>全數以「開放權重（Open Weights/Open Source）」為核心</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這些模型的模型權重與代碼，基本上都已經在主流的 AI 社群 Hugging Face 上開源，任何人都可以免費下載、進行地端部署，甚至提供給企業商業使用。 </a:t>
            </a:r>
          </a:p>
          <a:p>
            <a:r>
              <a:rPr lang="zh-TW" altLang="zh-TW" sz="1200" b="0" u="none" strike="noStrike" kern="1200" dirty="0">
                <a:solidFill>
                  <a:schemeClr val="tx1"/>
                </a:solidFill>
                <a:effectLst/>
                <a:latin typeface="+mn-lt"/>
                <a:ea typeface="+mn-ea"/>
                <a:cs typeface="+mn-cs"/>
              </a:rPr>
              <a:t>以下是這些台灣開源模型的</a:t>
            </a:r>
            <a:r>
              <a:rPr lang="zh-TW" altLang="zh-TW" sz="1200" b="1" u="none" strike="noStrike" kern="1200" dirty="0">
                <a:solidFill>
                  <a:schemeClr val="tx1"/>
                </a:solidFill>
                <a:effectLst/>
                <a:latin typeface="+mn-lt"/>
                <a:ea typeface="+mn-ea"/>
                <a:cs typeface="+mn-cs"/>
              </a:rPr>
              <a:t>具體釋出版版本與下載資源</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TAIDE 系列（官方國家隊）</a:t>
            </a:r>
          </a:p>
          <a:p>
            <a:r>
              <a:rPr lang="zh-TW" altLang="zh-TW" sz="1200" b="0" u="none" strike="noStrike" kern="1200" dirty="0">
                <a:solidFill>
                  <a:schemeClr val="tx1"/>
                </a:solidFill>
                <a:effectLst/>
                <a:latin typeface="+mn-lt"/>
                <a:ea typeface="+mn-ea"/>
                <a:cs typeface="+mn-cs"/>
              </a:rPr>
              <a:t>TAIDE 計畫秉持「還財於民、推動在地產業」的精神，發布的版本皆為</a:t>
            </a:r>
            <a:r>
              <a:rPr lang="zh-TW" altLang="zh-TW" sz="1200" b="1" u="none" strike="noStrike" kern="1200" dirty="0">
                <a:solidFill>
                  <a:schemeClr val="tx1"/>
                </a:solidFill>
                <a:effectLst/>
                <a:latin typeface="+mn-lt"/>
                <a:ea typeface="+mn-ea"/>
                <a:cs typeface="+mn-cs"/>
              </a:rPr>
              <a:t>可商用</a:t>
            </a:r>
            <a:r>
              <a:rPr lang="zh-TW" altLang="zh-TW" sz="1200" b="0" u="none" strike="noStrike" kern="1200" dirty="0">
                <a:solidFill>
                  <a:schemeClr val="tx1"/>
                </a:solidFill>
                <a:effectLst/>
                <a:latin typeface="+mn-lt"/>
                <a:ea typeface="+mn-ea"/>
                <a:cs typeface="+mn-cs"/>
              </a:rPr>
              <a:t>的開源授權。</a:t>
            </a:r>
          </a:p>
          <a:p>
            <a:pPr lvl="0"/>
            <a:r>
              <a:rPr lang="zh-TW" altLang="zh-TW" sz="1200" b="1" u="none" strike="noStrike" kern="1200" dirty="0">
                <a:solidFill>
                  <a:schemeClr val="tx1"/>
                </a:solidFill>
                <a:effectLst/>
                <a:latin typeface="+mn-lt"/>
                <a:ea typeface="+mn-ea"/>
                <a:cs typeface="+mn-cs"/>
              </a:rPr>
              <a:t>旗艦推理版本</a:t>
            </a:r>
            <a:r>
              <a:rPr lang="zh-TW"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hlinkClick r:id="rId3"/>
              </a:rPr>
              <a:t>taide/Gemma-3-TAIDE-12b-Chat</a:t>
            </a:r>
            <a:r>
              <a:rPr lang="zh-TW" altLang="zh-TW" sz="1200" b="0" u="none" strike="noStrike" kern="1200" dirty="0">
                <a:solidFill>
                  <a:schemeClr val="tx1"/>
                </a:solidFill>
                <a:effectLst/>
                <a:latin typeface="+mn-lt"/>
                <a:ea typeface="+mn-ea"/>
                <a:cs typeface="+mn-cs"/>
              </a:rPr>
              <a:t>（結合 Google Gemma 3 的多模態與長文本能力微調）。</a:t>
            </a:r>
          </a:p>
          <a:p>
            <a:pPr lvl="0"/>
            <a:r>
              <a:rPr lang="zh-TW" altLang="zh-TW" sz="1200" b="1" u="none" strike="noStrike" kern="1200" dirty="0">
                <a:solidFill>
                  <a:schemeClr val="tx1"/>
                </a:solidFill>
                <a:effectLst/>
                <a:latin typeface="+mn-lt"/>
                <a:ea typeface="+mn-ea"/>
                <a:cs typeface="+mn-cs"/>
              </a:rPr>
              <a:t>經典地端商用版</a:t>
            </a:r>
            <a:r>
              <a:rPr lang="zh-TW" altLang="zh-TW" sz="1200" b="0" u="none" strike="noStrike" kern="1200" dirty="0">
                <a:solidFill>
                  <a:schemeClr val="tx1"/>
                </a:solidFill>
                <a:effectLst/>
                <a:latin typeface="+mn-lt"/>
                <a:ea typeface="+mn-ea"/>
                <a:cs typeface="+mn-cs"/>
              </a:rPr>
              <a:t>：TAIDE-LX-7B、TAIDE-LX-13B（基於 Llama 底座訓練）。</a:t>
            </a:r>
            <a:r>
              <a:rPr lang="zh-TW" altLang="zh-TW" sz="1200" b="1" u="none" strike="noStrike" kern="1200" dirty="0">
                <a:solidFill>
                  <a:schemeClr val="tx1"/>
                </a:solidFill>
                <a:effectLst/>
                <a:latin typeface="+mn-lt"/>
                <a:ea typeface="+mn-ea"/>
                <a:cs typeface="+mn-cs"/>
              </a:rPr>
              <a:t>社群量化版</a:t>
            </a:r>
            <a:r>
              <a:rPr lang="zh-TW" altLang="zh-TW" sz="1200" b="0" u="none" strike="noStrike" kern="1200" dirty="0">
                <a:solidFill>
                  <a:schemeClr val="tx1"/>
                </a:solidFill>
                <a:effectLst/>
                <a:latin typeface="+mn-lt"/>
                <a:ea typeface="+mn-ea"/>
                <a:cs typeface="+mn-cs"/>
              </a:rPr>
              <a:t>：有熱心網友製作了 GGUF 格式（如 Gemma-3-TAIDE-12b-Chat-Q4_K_M.gguf），讓使用者能用一般家用筆電的 CPU 直接跑地端。</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Project TAME 與 Taiwan-LLaMA 系列（學術與產業結盟）</a:t>
            </a:r>
          </a:p>
          <a:p>
            <a:r>
              <a:rPr lang="zh-TW" altLang="zh-TW" sz="1200" b="0" u="none" strike="noStrike" kern="1200" dirty="0">
                <a:solidFill>
                  <a:schemeClr val="tx1"/>
                </a:solidFill>
                <a:effectLst/>
                <a:latin typeface="+mn-lt"/>
                <a:ea typeface="+mn-ea"/>
                <a:cs typeface="+mn-cs"/>
              </a:rPr>
              <a:t>台大陳縕儂教授團隊將模型成果完全回饋給開源社群，其衍生出的 Taiwan-LLaMA 更是台灣下載量最高的繁中開源系列之一。</a:t>
            </a:r>
          </a:p>
          <a:p>
            <a:pPr lvl="0"/>
            <a:r>
              <a:rPr lang="zh-TW" altLang="zh-TW" sz="1200" b="1" u="none" strike="noStrike" kern="1200" dirty="0">
                <a:solidFill>
                  <a:schemeClr val="tx1"/>
                </a:solidFill>
                <a:effectLst/>
                <a:latin typeface="+mn-lt"/>
                <a:ea typeface="+mn-ea"/>
                <a:cs typeface="+mn-cs"/>
              </a:rPr>
              <a:t>Project TAME 產業專家版</a:t>
            </a:r>
            <a:r>
              <a:rPr lang="zh-TW"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hlinkClick r:id="rId4"/>
              </a:rPr>
              <a:t>UOfficeForceX/Tame-Llama3</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台灣通用對話版</a:t>
            </a:r>
            <a:r>
              <a:rPr lang="zh-TW" altLang="zh-TW" sz="1200" b="0" u="none" strike="noStrike" kern="1200" dirty="0">
                <a:solidFill>
                  <a:schemeClr val="tx1"/>
                </a:solidFill>
                <a:effectLst/>
                <a:latin typeface="+mn-lt"/>
                <a:ea typeface="+mn-ea"/>
                <a:cs typeface="+mn-cs"/>
              </a:rPr>
              <a:t>：由林彥廷博士發布的 yentinglin/Llama-3-Taiwan-8B-Instruct 與 70B-Instruct（涵蓋 80 億與 700 億參數等級）。</a:t>
            </a:r>
          </a:p>
          <a:p>
            <a:pPr lvl="0"/>
            <a:r>
              <a:rPr lang="zh-TW" altLang="zh-TW" sz="1200" b="1" u="none" strike="noStrike" kern="1200" dirty="0">
                <a:solidFill>
                  <a:schemeClr val="tx1"/>
                </a:solidFill>
                <a:effectLst/>
                <a:latin typeface="+mn-lt"/>
                <a:ea typeface="+mn-ea"/>
                <a:cs typeface="+mn-cs"/>
              </a:rPr>
              <a:t>長文本外推版</a:t>
            </a:r>
            <a:r>
              <a:rPr lang="zh-TW" altLang="zh-TW" sz="1200" b="0" u="none" strike="noStrike" kern="1200" dirty="0">
                <a:solidFill>
                  <a:schemeClr val="tx1"/>
                </a:solidFill>
                <a:effectLst/>
                <a:latin typeface="+mn-lt"/>
                <a:ea typeface="+mn-ea"/>
                <a:cs typeface="+mn-cs"/>
              </a:rPr>
              <a:t>：Llama-3-Taiwan-8B-Instruct-128k（支援 12.8 萬字上下文）。</a:t>
            </a:r>
            <a:r>
              <a:rPr lang="zh-TW" altLang="zh-TW" sz="1200" b="1" u="none" strike="noStrike" kern="1200" dirty="0">
                <a:solidFill>
                  <a:schemeClr val="tx1"/>
                </a:solidFill>
                <a:effectLst/>
                <a:latin typeface="+mn-lt"/>
                <a:ea typeface="+mn-ea"/>
                <a:cs typeface="+mn-cs"/>
              </a:rPr>
              <a:t>最新底座升級</a:t>
            </a:r>
            <a:r>
              <a:rPr lang="zh-TW" altLang="zh-TW" sz="1200" b="0" u="none" strike="noStrike" kern="1200" dirty="0">
                <a:solidFill>
                  <a:schemeClr val="tx1"/>
                </a:solidFill>
                <a:effectLst/>
                <a:latin typeface="+mn-lt"/>
                <a:ea typeface="+mn-ea"/>
                <a:cs typeface="+mn-cs"/>
              </a:rPr>
              <a:t>：社群也已跟進釋出 Llama-3.1-Taiwan-8B 及微型化的 Llama-3.2-Taiwan-3B 系列。</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3. MediaTek Research (聯發科) Breeze 系列</a:t>
            </a:r>
          </a:p>
          <a:p>
            <a:r>
              <a:rPr lang="zh-TW" altLang="zh-TW" sz="1200" b="0" u="none" strike="noStrike" kern="1200" dirty="0">
                <a:solidFill>
                  <a:schemeClr val="tx1"/>
                </a:solidFill>
                <a:effectLst/>
                <a:latin typeface="+mn-lt"/>
                <a:ea typeface="+mn-ea"/>
                <a:cs typeface="+mn-cs"/>
              </a:rPr>
              <a:t>聯發科創新基地不僅開源了模型，還特別針對繁體中文優化了詞表，使中文推理速度比原生 Llama 快上許多。 </a:t>
            </a:r>
          </a:p>
          <a:p>
            <a:pPr lvl="0"/>
            <a:r>
              <a:rPr lang="zh-TW" altLang="zh-TW" sz="1200" b="1" u="none" strike="noStrike" kern="1200" dirty="0">
                <a:solidFill>
                  <a:schemeClr val="tx1"/>
                </a:solidFill>
                <a:effectLst/>
                <a:latin typeface="+mn-lt"/>
                <a:ea typeface="+mn-ea"/>
                <a:cs typeface="+mn-cs"/>
              </a:rPr>
              <a:t>Breeze 2 最新系列</a:t>
            </a:r>
            <a:r>
              <a:rPr lang="zh-TW"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hlinkClick r:id="rId5"/>
              </a:rPr>
              <a:t>MediaTek-Research/Llama-Breeze2-8B-Instruct</a:t>
            </a:r>
            <a:r>
              <a:rPr lang="zh-TW" altLang="zh-TW" sz="1200" b="0" u="none" strike="noStrike" kern="1200" dirty="0">
                <a:solidFill>
                  <a:schemeClr val="tx1"/>
                </a:solidFill>
                <a:effectLst/>
                <a:latin typeface="+mn-lt"/>
                <a:ea typeface="+mn-ea"/>
                <a:cs typeface="+mn-cs"/>
              </a:rPr>
              <a:t> 與 Llama-Breeze2-3B-Instruct。</a:t>
            </a:r>
            <a:r>
              <a:rPr lang="zh-TW" altLang="zh-TW" sz="1200" b="1" u="none" strike="noStrike" kern="1200" dirty="0">
                <a:solidFill>
                  <a:schemeClr val="tx1"/>
                </a:solidFill>
                <a:effectLst/>
                <a:latin typeface="+mn-lt"/>
                <a:ea typeface="+mn-ea"/>
                <a:cs typeface="+mn-cs"/>
              </a:rPr>
              <a:t>混合專家 MoE 版</a:t>
            </a:r>
            <a:r>
              <a:rPr lang="zh-TW" altLang="zh-TW" sz="1200" b="0" u="none" strike="noStrike" kern="1200" dirty="0">
                <a:solidFill>
                  <a:schemeClr val="tx1"/>
                </a:solidFill>
                <a:effectLst/>
                <a:latin typeface="+mn-lt"/>
                <a:ea typeface="+mn-ea"/>
                <a:cs typeface="+mn-cs"/>
              </a:rPr>
              <a:t>：Breexe-8x7B-Instruct-v0_1（適合需要更強大推理邏輯的場景）。</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4. 預告開源新勢力：FoxBrain（鴻海研究院）</a:t>
            </a:r>
          </a:p>
          <a:p>
            <a:pPr lvl="0"/>
            <a:r>
              <a:rPr lang="zh-TW" altLang="zh-TW" sz="1200" b="1" u="none" strike="noStrike" kern="1200" dirty="0">
                <a:solidFill>
                  <a:schemeClr val="tx1"/>
                </a:solidFill>
                <a:effectLst/>
                <a:latin typeface="+mn-lt"/>
                <a:ea typeface="+mn-ea"/>
                <a:cs typeface="+mn-cs"/>
              </a:rPr>
              <a:t>未來趨勢</a:t>
            </a:r>
            <a:r>
              <a:rPr lang="zh-TW" altLang="zh-TW" sz="1200" b="0" u="none" strike="noStrike" kern="1200" dirty="0">
                <a:solidFill>
                  <a:schemeClr val="tx1"/>
                </a:solidFill>
                <a:effectLst/>
                <a:latin typeface="+mn-lt"/>
                <a:ea typeface="+mn-ea"/>
                <a:cs typeface="+mn-cs"/>
              </a:rPr>
              <a:t>：鴻海（Foxconn）也宣布研發首款以 Llama 3.1 70B 為基礎的繁中大型語言模型 </a:t>
            </a:r>
            <a:r>
              <a:rPr lang="zh-TW" altLang="zh-TW" sz="1200" b="1" u="none" strike="noStrike" kern="1200" dirty="0">
                <a:solidFill>
                  <a:schemeClr val="tx1"/>
                </a:solidFill>
                <a:effectLst/>
                <a:latin typeface="+mn-lt"/>
                <a:ea typeface="+mn-ea"/>
                <a:cs typeface="+mn-cs"/>
              </a:rPr>
              <a:t>FoxBrain</a:t>
            </a:r>
            <a:r>
              <a:rPr lang="zh-TW" altLang="zh-TW" sz="1200" b="0" u="none" strike="noStrike" kern="1200" dirty="0">
                <a:solidFill>
                  <a:schemeClr val="tx1"/>
                </a:solidFill>
                <a:effectLst/>
                <a:latin typeface="+mn-lt"/>
                <a:ea typeface="+mn-ea"/>
                <a:cs typeface="+mn-cs"/>
              </a:rPr>
              <a:t>，主打合成資料訓練與超強的數學、邏輯推理能力，並已規劃在後續完全</a:t>
            </a:r>
            <a:r>
              <a:rPr lang="zh-TW" altLang="zh-TW" sz="1200" b="1" u="none" strike="noStrike" kern="1200" dirty="0">
                <a:solidFill>
                  <a:schemeClr val="tx1"/>
                </a:solidFill>
                <a:effectLst/>
                <a:latin typeface="+mn-lt"/>
                <a:ea typeface="+mn-ea"/>
                <a:cs typeface="+mn-cs"/>
              </a:rPr>
              <a:t>開源</a:t>
            </a:r>
            <a:r>
              <a:rPr lang="zh-TW" altLang="zh-TW" sz="1200" b="0" u="none" strike="noStrike" kern="1200" dirty="0">
                <a:solidFill>
                  <a:schemeClr val="tx1"/>
                </a:solidFill>
                <a:effectLst/>
                <a:latin typeface="+mn-lt"/>
                <a:ea typeface="+mn-ea"/>
                <a:cs typeface="+mn-cs"/>
              </a:rPr>
              <a:t>。</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41624313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19.png"/><Relationship Id="rId5" Type="http://schemas.openxmlformats.org/officeDocument/2006/relationships/image" Target="../media/image3.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hyperlink" Target="https://medium.com/@simon3458/project-tame-llama-3-taiwan-%E6%A8%A1%E5%9E%8B-taiwan-llm-%E6%A8%A1%E5%9E%8B%E7%B3%BB%E5%88%97%E5%86%8D%E6%9B%B4%E6%96%B0-1b249b88ab67"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hyperlink" Target="https://deep-learning-101.github.io/Blog/TW-LLM-Benchmark" TargetMode="External"/><Relationship Id="rId4" Type="http://schemas.openxmlformats.org/officeDocument/2006/relationships/hyperlink" Target="https://www.reddit.com/r/taiwan/comments/1t48c98/%E5%8F%B0%E7%81%A3%E7%9A%84%E4%B8%BB%E6%AC%8Allm/"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jpeg"/><Relationship Id="rId5" Type="http://schemas.openxmlformats.org/officeDocument/2006/relationships/image" Target="../media/image24.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943848"/>
          </a:xfrm>
          <a:prstGeom prst="rect">
            <a:avLst/>
          </a:prstGeom>
          <a:noFill/>
        </p:spPr>
        <p:txBody>
          <a:bodyPr wrap="square" rtlCol="0">
            <a:spAutoFit/>
          </a:bodyPr>
          <a:lstStyle/>
          <a:p>
            <a:pPr algn="ctr"/>
            <a:r>
              <a:rPr lang="en-US" altLang="zh-TW" sz="4000" b="1" dirty="0"/>
              <a:t>Overview</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err="1">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RNN</a:t>
            </a:r>
            <a:r>
              <a:rPr lang="en-US" altLang="zh-TW" sz="2800" b="1" dirty="0" err="1">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2800" b="1" dirty="0" err="1">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ong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LSTM networks operate similarly to RNNs but include specialized mechanisms called gates.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These gates regulate how information flows through the network, allowing it to retain important information over extended periods.</a:t>
            </a:r>
          </a:p>
        </p:txBody>
      </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0A251C17-D9A1-5FBF-8E07-DD7E1122850A}"/>
              </a:ext>
            </a:extLst>
          </p:cNvPr>
          <p:cNvPicPr>
            <a:picLocks noChangeAspect="1"/>
          </p:cNvPicPr>
          <p:nvPr/>
        </p:nvPicPr>
        <p:blipFill>
          <a:blip r:embed="rId4"/>
          <a:stretch>
            <a:fillRect/>
          </a:stretch>
        </p:blipFill>
        <p:spPr>
          <a:xfrm>
            <a:off x="127453" y="3591374"/>
            <a:ext cx="5198703" cy="307798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48CFBCEE-8054-7693-F011-D81631C72338}"/>
              </a:ext>
            </a:extLst>
          </p:cNvPr>
          <p:cNvSpPr txBox="1"/>
          <p:nvPr/>
        </p:nvSpPr>
        <p:spPr>
          <a:xfrm>
            <a:off x="323528" y="620688"/>
            <a:ext cx="8352928" cy="1333635"/>
          </a:xfrm>
          <a:prstGeom prst="rect">
            <a:avLst/>
          </a:prstGeom>
          <a:noFill/>
        </p:spPr>
        <p:txBody>
          <a:bodyPr wrap="square">
            <a:spAutoFit/>
          </a:bodyPr>
          <a:lstStyle/>
          <a:p>
            <a:pPr marL="0" marR="0">
              <a:lnSpc>
                <a:spcPts val="1400"/>
              </a:lnSpc>
              <a:buNone/>
            </a:pPr>
            <a:r>
              <a:rPr lang="zh-TW" altLang="zh-TW" sz="1000" b="0" u="none" strike="noStrike" dirty="0">
                <a:effectLst/>
                <a:latin typeface="微軟正黑體" panose="020B0604030504040204" pitchFamily="34" charset="-120"/>
                <a:ea typeface="微軟正黑體" panose="020B0604030504040204" pitchFamily="34" charset="-120"/>
              </a:rPr>
              <a:t>目前採用或實驗 NoPE 技術的知名模型包含：</a:t>
            </a:r>
            <a:endParaRPr lang="en-US" altLang="zh-TW" sz="10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000" b="1" u="none" strike="noStrike" dirty="0">
                <a:effectLst/>
                <a:latin typeface="微軟正黑體" panose="020B0604030504040204" pitchFamily="34" charset="-120"/>
                <a:ea typeface="微軟正黑體" panose="020B0604030504040204" pitchFamily="34" charset="-120"/>
              </a:rPr>
              <a:t>Kimi K3</a:t>
            </a:r>
            <a:r>
              <a:rPr lang="zh-TW" altLang="zh-TW" sz="1000" b="0" u="none" strike="noStrike" dirty="0">
                <a:effectLst/>
                <a:latin typeface="微軟正黑體" panose="020B0604030504040204" pitchFamily="34" charset="-120"/>
                <a:ea typeface="微軟正黑體" panose="020B0604030504040204" pitchFamily="34" charset="-120"/>
              </a:rPr>
              <a:t>：首個前沿級全面捨棄 RoPE、在全域與 MLA（多頭潛在注意力）層大規模採用 NoPE 的模型，</a:t>
            </a:r>
            <a:endParaRPr lang="en-US" altLang="zh-TW" sz="10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000" b="0" u="none" strike="noStrike" dirty="0">
                <a:effectLst/>
                <a:latin typeface="微軟正黑體" panose="020B0604030504040204" pitchFamily="34" charset="-120"/>
                <a:ea typeface="微軟正黑體" panose="020B0604030504040204" pitchFamily="34" charset="-120"/>
              </a:rPr>
              <a:t>搭配 Kimi Delta Attention 實現百萬級超長上下文。</a:t>
            </a:r>
            <a:endParaRPr lang="en-US" altLang="zh-TW" sz="10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endParaRPr lang="zh-TW" altLang="zh-TW" sz="10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en-US" altLang="zh-TW" sz="1000" b="1" u="none" strike="noStrike" dirty="0">
                <a:effectLst/>
                <a:latin typeface="微軟正黑體" panose="020B0604030504040204" pitchFamily="34" charset="-120"/>
                <a:ea typeface="微軟正黑體" panose="020B0604030504040204" pitchFamily="34" charset="-120"/>
              </a:rPr>
              <a:t>* </a:t>
            </a:r>
            <a:r>
              <a:rPr lang="zh-TW" altLang="zh-TW" sz="1000" b="1" u="none" strike="noStrike" dirty="0">
                <a:effectLst/>
                <a:latin typeface="微軟正黑體" panose="020B0604030504040204" pitchFamily="34" charset="-120"/>
                <a:ea typeface="微軟正黑體" panose="020B0604030504040204" pitchFamily="34" charset="-120"/>
              </a:rPr>
              <a:t>K-EXAONE 2.0</a:t>
            </a:r>
            <a:r>
              <a:rPr lang="zh-TW" altLang="zh-TW" sz="1000" b="0" u="none" strike="noStrike" dirty="0">
                <a:effectLst/>
                <a:latin typeface="微軟正黑體" panose="020B0604030504040204" pitchFamily="34" charset="-120"/>
                <a:ea typeface="微軟正黑體" panose="020B0604030504040204" pitchFamily="34" charset="-120"/>
              </a:rPr>
              <a:t>：LG AI Research 推出的旗艦級開源混合專家模型，其全域自注意力</a:t>
            </a:r>
            <a:r>
              <a:rPr lang="en-US" altLang="zh-TW" sz="1000" b="0" u="none" strike="noStrike" dirty="0">
                <a:effectLst/>
                <a:latin typeface="微軟正黑體" panose="020B0604030504040204" pitchFamily="34" charset="-120"/>
                <a:ea typeface="微軟正黑體" panose="020B0604030504040204" pitchFamily="34" charset="-120"/>
              </a:rPr>
              <a:t>(</a:t>
            </a:r>
            <a:r>
              <a:rPr lang="zh-TW" altLang="zh-TW" sz="1000" b="0" u="none" strike="noStrike" dirty="0">
                <a:effectLst/>
                <a:latin typeface="微軟正黑體" panose="020B0604030504040204" pitchFamily="34" charset="-120"/>
                <a:ea typeface="微軟正黑體" panose="020B0604030504040204" pitchFamily="34" charset="-120"/>
              </a:rPr>
              <a:t>Global Attention</a:t>
            </a:r>
            <a:r>
              <a:rPr lang="en-US" altLang="zh-TW" sz="1000" b="0" u="none" strike="noStrike" dirty="0">
                <a:effectLst/>
                <a:latin typeface="微軟正黑體" panose="020B0604030504040204" pitchFamily="34" charset="-120"/>
                <a:ea typeface="微軟正黑體" panose="020B0604030504040204" pitchFamily="34" charset="-120"/>
              </a:rPr>
              <a:t>)</a:t>
            </a:r>
            <a:r>
              <a:rPr lang="zh-TW" altLang="zh-TW" sz="1000" b="0" u="none" strike="noStrike" dirty="0">
                <a:effectLst/>
                <a:latin typeface="微軟正黑體" panose="020B0604030504040204" pitchFamily="34" charset="-120"/>
                <a:ea typeface="微軟正黑體" panose="020B0604030504040204" pitchFamily="34" charset="-120"/>
              </a:rPr>
              <a:t>層採用了無位置編碼（NoPE）架構。</a:t>
            </a:r>
          </a:p>
          <a:p>
            <a:pPr marR="0" lvl="0">
              <a:lnSpc>
                <a:spcPts val="1400"/>
              </a:lnSpc>
            </a:pPr>
            <a:r>
              <a:rPr lang="en-US" altLang="zh-TW" sz="1000" b="1" u="none" strike="noStrike" dirty="0">
                <a:effectLst/>
                <a:latin typeface="微軟正黑體" panose="020B0604030504040204" pitchFamily="34" charset="-120"/>
                <a:ea typeface="微軟正黑體" panose="020B0604030504040204" pitchFamily="34" charset="-120"/>
              </a:rPr>
              <a:t>* </a:t>
            </a:r>
            <a:r>
              <a:rPr lang="zh-TW" altLang="zh-TW" sz="1000" b="1" u="none" strike="noStrike" dirty="0">
                <a:effectLst/>
                <a:latin typeface="微軟正黑體" panose="020B0604030504040204" pitchFamily="34" charset="-120"/>
                <a:ea typeface="微軟正黑體" panose="020B0604030504040204" pitchFamily="34" charset="-120"/>
              </a:rPr>
              <a:t>SmolLM3</a:t>
            </a:r>
            <a:r>
              <a:rPr lang="zh-TW" altLang="zh-TW" sz="1000" b="0" u="none" strike="noStrike" dirty="0">
                <a:effectLst/>
                <a:latin typeface="微軟正黑體" panose="020B0604030504040204" pitchFamily="34" charset="-120"/>
                <a:ea typeface="微軟正黑體" panose="020B0604030504040204" pitchFamily="34" charset="-120"/>
              </a:rPr>
              <a:t>：Hugging Face 的輕量多語言推理模型，在架構實驗中選擇性地（如每 4 層中）導入 NoPE 技術以增強長度泛化能力。</a:t>
            </a:r>
          </a:p>
          <a:p>
            <a:pPr marR="0" lvl="0">
              <a:lnSpc>
                <a:spcPts val="1400"/>
              </a:lnSpc>
            </a:pPr>
            <a:r>
              <a:rPr lang="en-US" altLang="zh-TW" sz="1000" b="1" u="none" strike="noStrike" dirty="0">
                <a:effectLst/>
                <a:latin typeface="微軟正黑體" panose="020B0604030504040204" pitchFamily="34" charset="-120"/>
                <a:ea typeface="微軟正黑體" panose="020B0604030504040204" pitchFamily="34" charset="-120"/>
              </a:rPr>
              <a:t>* </a:t>
            </a:r>
            <a:r>
              <a:rPr lang="zh-TW" altLang="zh-TW" sz="1000" b="1" u="none" strike="noStrike" dirty="0">
                <a:effectLst/>
                <a:latin typeface="微軟正黑體" panose="020B0604030504040204" pitchFamily="34" charset="-120"/>
                <a:ea typeface="微軟正黑體" panose="020B0604030504040204" pitchFamily="34" charset="-120"/>
              </a:rPr>
              <a:t>IBM Granite 4.0</a:t>
            </a:r>
            <a:r>
              <a:rPr lang="zh-TW" altLang="zh-TW" sz="1000" b="0" u="none" strike="noStrike" dirty="0">
                <a:effectLst/>
                <a:latin typeface="微軟正黑體" panose="020B0604030504040204" pitchFamily="34" charset="-120"/>
                <a:ea typeface="微軟正黑體" panose="020B0604030504040204" pitchFamily="34" charset="-120"/>
              </a:rPr>
              <a:t>：企業級混合模型系列，在部分架構設計中將 RoPE 替換為 NoPE，利用 Mamba 類的遞歸特性自然保留順序。</a:t>
            </a:r>
          </a:p>
        </p:txBody>
      </p:sp>
      <p:sp>
        <p:nvSpPr>
          <p:cNvPr id="5" name="文字方塊 4">
            <a:extLst>
              <a:ext uri="{FF2B5EF4-FFF2-40B4-BE49-F238E27FC236}">
                <a16:creationId xmlns:a16="http://schemas.microsoft.com/office/drawing/2014/main" id="{F945F798-81D1-C7E5-5F9F-1939E963131A}"/>
              </a:ext>
            </a:extLst>
          </p:cNvPr>
          <p:cNvSpPr txBox="1"/>
          <p:nvPr/>
        </p:nvSpPr>
        <p:spPr>
          <a:xfrm>
            <a:off x="356839" y="1988840"/>
            <a:ext cx="8496944" cy="3631763"/>
          </a:xfrm>
          <a:prstGeom prst="rect">
            <a:avLst/>
          </a:prstGeom>
          <a:noFill/>
        </p:spPr>
        <p:txBody>
          <a:bodyPr wrap="square">
            <a:spAutoFit/>
          </a:bodyPr>
          <a:lstStyle/>
          <a:p>
            <a:pPr marL="0" marR="0">
              <a:lnSpc>
                <a:spcPts val="1200"/>
              </a:lnSpc>
              <a:buNone/>
            </a:pPr>
            <a:r>
              <a:rPr lang="zh-TW" altLang="zh-TW" sz="1000" b="0" u="none" strike="noStrike" dirty="0">
                <a:effectLst/>
                <a:latin typeface="微軟正黑體" panose="020B0604030504040204" pitchFamily="34" charset="-120"/>
                <a:ea typeface="微軟正黑體" panose="020B0604030504040204" pitchFamily="34" charset="-120"/>
              </a:rPr>
              <a:t>目前台灣本土的大型語言模型（LLM）發展非常蓬勃，主要聚焦於</a:t>
            </a:r>
            <a:r>
              <a:rPr lang="zh-TW" altLang="zh-TW" sz="1000" b="1" u="none" strike="noStrike" dirty="0">
                <a:effectLst/>
                <a:latin typeface="微軟正黑體" panose="020B0604030504040204" pitchFamily="34" charset="-120"/>
                <a:ea typeface="微軟正黑體" panose="020B0604030504040204" pitchFamily="34" charset="-120"/>
              </a:rPr>
              <a:t>「主權 AI（Sovereign AI）」</a:t>
            </a:r>
            <a:r>
              <a:rPr lang="zh-TW" altLang="zh-TW" sz="1000" b="0" u="none" strike="noStrike" dirty="0">
                <a:effectLst/>
                <a:latin typeface="微軟正黑體" panose="020B0604030504040204" pitchFamily="34" charset="-120"/>
                <a:ea typeface="微軟正黑體" panose="020B0604030504040204" pitchFamily="34" charset="-120"/>
              </a:rPr>
              <a:t>的建立。為了防止台灣繁體中文、歷史文化與在地價值觀在國際大模型中被簡體或外國語料邊緣化，產、官、學、研各界推出了多款具有「台灣味」的專屬大模型。</a:t>
            </a:r>
          </a:p>
          <a:p>
            <a:pPr marL="0" marR="0">
              <a:lnSpc>
                <a:spcPts val="1200"/>
              </a:lnSpc>
              <a:buNone/>
            </a:pPr>
            <a:r>
              <a:rPr lang="zh-TW" altLang="zh-TW" sz="1000" b="0" u="none" strike="noStrike" dirty="0">
                <a:effectLst/>
                <a:latin typeface="微軟正黑體" panose="020B0604030504040204" pitchFamily="34" charset="-120"/>
                <a:ea typeface="微軟正黑體" panose="020B0604030504040204" pitchFamily="34" charset="-120"/>
              </a:rPr>
              <a:t>以下是目前台灣最具代表性的本土模型系列：</a:t>
            </a:r>
          </a:p>
          <a:p>
            <a:pPr marL="0" marR="0">
              <a:lnSpc>
                <a:spcPts val="1200"/>
              </a:lnSpc>
              <a:buNone/>
            </a:pPr>
            <a:r>
              <a:rPr lang="zh-TW" altLang="zh-TW" sz="1000" b="1" u="none" strike="noStrike" dirty="0">
                <a:effectLst/>
                <a:latin typeface="微軟正黑體" panose="020B0604030504040204" pitchFamily="34" charset="-120"/>
                <a:ea typeface="微軟正黑體" panose="020B0604030504040204" pitchFamily="34" charset="-120"/>
              </a:rPr>
              <a:t>1. 官方國家隊：TAIDE </a:t>
            </a:r>
            <a:r>
              <a:rPr lang="en-US" altLang="zh-TW" sz="1000" b="1" u="none" strike="noStrike" dirty="0">
                <a:solidFill>
                  <a:srgbClr val="FF0000"/>
                </a:solidFill>
                <a:effectLst/>
                <a:latin typeface="微軟正黑體" panose="020B0604030504040204" pitchFamily="34" charset="-120"/>
                <a:ea typeface="微軟正黑體" panose="020B0604030504040204" pitchFamily="34" charset="-120"/>
              </a:rPr>
              <a:t>(</a:t>
            </a:r>
            <a:r>
              <a:rPr lang="zh-TW" altLang="en-US" sz="1000" b="1" u="none" strike="noStrike" dirty="0">
                <a:solidFill>
                  <a:srgbClr val="FF0000"/>
                </a:solidFill>
                <a:effectLst/>
                <a:latin typeface="微軟正黑體" panose="020B0604030504040204" pitchFamily="34" charset="-120"/>
                <a:ea typeface="微軟正黑體" panose="020B0604030504040204" pitchFamily="34" charset="-120"/>
              </a:rPr>
              <a:t>台弟</a:t>
            </a:r>
            <a:r>
              <a:rPr lang="en-US" altLang="zh-TW" sz="1000" b="1" u="none" strike="noStrike" dirty="0">
                <a:solidFill>
                  <a:srgbClr val="FF0000"/>
                </a:solidFill>
                <a:effectLst/>
                <a:latin typeface="微軟正黑體" panose="020B0604030504040204" pitchFamily="34" charset="-120"/>
                <a:ea typeface="微軟正黑體" panose="020B0604030504040204" pitchFamily="34" charset="-120"/>
              </a:rPr>
              <a:t>)</a:t>
            </a:r>
            <a:r>
              <a:rPr lang="zh-TW" altLang="zh-TW" sz="1000" b="1" u="none" strike="noStrike" dirty="0">
                <a:effectLst/>
                <a:latin typeface="微軟正黑體" panose="020B0604030504040204" pitchFamily="34" charset="-120"/>
                <a:ea typeface="微軟正黑體" panose="020B0604030504040204" pitchFamily="34" charset="-120"/>
              </a:rPr>
              <a:t>系列</a:t>
            </a:r>
            <a:r>
              <a:rPr lang="en-US" altLang="zh-TW" sz="1000" b="1" u="none" strike="noStrike" dirty="0">
                <a:effectLst/>
                <a:latin typeface="微軟正黑體" panose="020B0604030504040204" pitchFamily="34" charset="-120"/>
                <a:ea typeface="微軟正黑體" panose="020B0604030504040204" pitchFamily="34" charset="-120"/>
              </a:rPr>
              <a:t>:</a:t>
            </a:r>
            <a:r>
              <a:rPr lang="zh-TW" altLang="en-US" sz="1000" b="1" u="none" strike="noStrike" dirty="0">
                <a:effectLst/>
                <a:latin typeface="微軟正黑體" panose="020B0604030504040204" pitchFamily="34" charset="-120"/>
                <a:ea typeface="微軟正黑體" panose="020B0604030504040204" pitchFamily="34" charset="-120"/>
              </a:rPr>
              <a:t> </a:t>
            </a:r>
            <a:endParaRPr lang="zh-TW" altLang="zh-TW" sz="1000" b="1" u="none" strike="noStrike" dirty="0">
              <a:effectLst/>
              <a:latin typeface="微軟正黑體" panose="020B0604030504040204" pitchFamily="34" charset="-120"/>
              <a:ea typeface="微軟正黑體" panose="020B0604030504040204" pitchFamily="34" charset="-120"/>
            </a:endParaRPr>
          </a:p>
          <a:p>
            <a:pPr marL="0" marR="0">
              <a:lnSpc>
                <a:spcPts val="1200"/>
              </a:lnSpc>
              <a:buNone/>
            </a:pPr>
            <a:r>
              <a:rPr lang="zh-TW" altLang="zh-TW" sz="1000" b="0" u="none" strike="noStrike" dirty="0">
                <a:effectLst/>
                <a:latin typeface="微軟正黑體" panose="020B0604030504040204" pitchFamily="34" charset="-120"/>
                <a:ea typeface="微軟正黑體" panose="020B0604030504040204" pitchFamily="34" charset="-120"/>
              </a:rPr>
              <a:t>由中華民國</a:t>
            </a:r>
            <a:r>
              <a:rPr lang="zh-TW" altLang="zh-TW" sz="1000" b="1" u="none" strike="noStrike" dirty="0">
                <a:effectLst/>
                <a:latin typeface="微軟正黑體" panose="020B0604030504040204" pitchFamily="34" charset="-120"/>
                <a:ea typeface="微軟正黑體" panose="020B0604030504040204" pitchFamily="34" charset="-120"/>
              </a:rPr>
              <a:t>國科會</a:t>
            </a:r>
            <a:r>
              <a:rPr lang="zh-TW" altLang="zh-TW" sz="1000" b="0" u="none" strike="noStrike" dirty="0">
                <a:effectLst/>
                <a:latin typeface="微軟正黑體" panose="020B0604030504040204" pitchFamily="34" charset="-120"/>
                <a:ea typeface="微軟正黑體" panose="020B0604030504040204" pitchFamily="34" charset="-120"/>
              </a:rPr>
              <a:t>主導開發的「可信任生成式AI對話引擎」。這是台灣最核心的主權 AI 專案，採用大量台灣在地的高質量文本（如中央社、政府公文、法規資料庫等）進行訓練。</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代表版本</a:t>
            </a:r>
            <a:r>
              <a:rPr lang="zh-TW" altLang="zh-TW" sz="1000" b="0" u="none" strike="noStrike" dirty="0">
                <a:effectLst/>
                <a:latin typeface="微軟正黑體" panose="020B0604030504040204" pitchFamily="34" charset="-120"/>
                <a:ea typeface="微軟正黑體" panose="020B0604030504040204" pitchFamily="34" charset="-120"/>
              </a:rPr>
              <a:t>：已從早期的 Llama 衍生版，演進到結合國際最新底座的 </a:t>
            </a:r>
            <a:r>
              <a:rPr lang="zh-TW" altLang="zh-TW" sz="1000" b="1" u="none" strike="noStrike" dirty="0">
                <a:effectLst/>
                <a:latin typeface="微軟正黑體" panose="020B0604030504040204" pitchFamily="34" charset="-120"/>
                <a:ea typeface="微軟正黑體" panose="020B0604030504040204" pitchFamily="34" charset="-120"/>
              </a:rPr>
              <a:t>Gemma-3-TAIDE-12b-Chat</a:t>
            </a:r>
            <a:r>
              <a:rPr lang="zh-TW" altLang="zh-TW" sz="1000" b="0" u="none" strike="noStrike" dirty="0">
                <a:effectLst/>
                <a:latin typeface="微軟正黑體" panose="020B0604030504040204" pitchFamily="34" charset="-120"/>
                <a:ea typeface="微軟正黑體" panose="020B0604030504040204" pitchFamily="34" charset="-120"/>
              </a:rPr>
              <a:t>，以及可地端商用的 </a:t>
            </a:r>
            <a:r>
              <a:rPr lang="zh-TW" altLang="zh-TW" sz="1000" b="1" u="none" strike="noStrike" dirty="0">
                <a:effectLst/>
                <a:latin typeface="微軟正黑體" panose="020B0604030504040204" pitchFamily="34" charset="-120"/>
                <a:ea typeface="微軟正黑體" panose="020B0604030504040204" pitchFamily="34" charset="-120"/>
              </a:rPr>
              <a:t>TAIDE LX-7B / 13B</a:t>
            </a:r>
            <a:r>
              <a:rPr lang="zh-TW" altLang="zh-TW" sz="1000" b="0" u="none" strike="noStrike" dirty="0">
                <a:effectLst/>
                <a:latin typeface="微軟正黑體" panose="020B0604030504040204" pitchFamily="34" charset="-120"/>
                <a:ea typeface="微軟正黑體" panose="020B0604030504040204" pitchFamily="34" charset="-120"/>
              </a:rPr>
              <a:t> 等。</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特色</a:t>
            </a:r>
            <a:r>
              <a:rPr lang="zh-TW" altLang="zh-TW" sz="1000" b="0" u="none" strike="noStrike" dirty="0">
                <a:effectLst/>
                <a:latin typeface="微軟正黑體" panose="020B0604030504040204" pitchFamily="34" charset="-120"/>
                <a:ea typeface="微軟正黑體" panose="020B0604030504040204" pitchFamily="34" charset="-120"/>
              </a:rPr>
              <a:t>：公文寫作、繁中翻譯（修正中國翻譯腔）、台客語多聲調支援能力極強。</a:t>
            </a:r>
          </a:p>
          <a:p>
            <a:pPr>
              <a:lnSpc>
                <a:spcPts val="1200"/>
              </a:lnSpc>
            </a:pPr>
            <a:r>
              <a:rPr lang="zh-TW" altLang="zh-TW" sz="1000" b="1" u="none" strike="noStrike" dirty="0">
                <a:effectLst/>
                <a:latin typeface="微軟正黑體" panose="020B0604030504040204" pitchFamily="34" charset="-120"/>
                <a:ea typeface="微軟正黑體" panose="020B0604030504040204" pitchFamily="34" charset="-120"/>
              </a:rPr>
              <a:t>2. 跨產業重磅專家：Project TAME</a:t>
            </a:r>
            <a:r>
              <a:rPr lang="zh-TW" altLang="en-US" sz="1000" b="1" u="none" strike="noStrike" dirty="0">
                <a:effectLst/>
                <a:latin typeface="微軟正黑體" panose="020B0604030504040204" pitchFamily="34" charset="-120"/>
                <a:ea typeface="微軟正黑體" panose="020B0604030504040204" pitchFamily="34" charset="-120"/>
              </a:rPr>
              <a:t> </a:t>
            </a:r>
            <a:r>
              <a:rPr lang="en-US" altLang="zh-TW" sz="1000" b="1" dirty="0">
                <a:solidFill>
                  <a:srgbClr val="FF0000"/>
                </a:solidFill>
                <a:latin typeface="微軟正黑體" panose="020B0604030504040204" pitchFamily="34" charset="-120"/>
                <a:ea typeface="微軟正黑體" panose="020B0604030504040204" pitchFamily="34" charset="-120"/>
              </a:rPr>
              <a:t>(</a:t>
            </a:r>
            <a:r>
              <a:rPr lang="zh-TW" altLang="en-US" sz="1000" b="1" dirty="0">
                <a:solidFill>
                  <a:srgbClr val="FF0000"/>
                </a:solidFill>
                <a:latin typeface="微軟正黑體" panose="020B0604030504040204" pitchFamily="34" charset="-120"/>
                <a:ea typeface="微軟正黑體" panose="020B0604030504040204" pitchFamily="34" charset="-120"/>
              </a:rPr>
              <a:t>台妹</a:t>
            </a:r>
            <a:r>
              <a:rPr lang="en-US" altLang="zh-TW" sz="1000" b="1" dirty="0">
                <a:solidFill>
                  <a:srgbClr val="FF0000"/>
                </a:solidFill>
                <a:latin typeface="微軟正黑體" panose="020B0604030504040204" pitchFamily="34" charset="-120"/>
                <a:ea typeface="微軟正黑體" panose="020B0604030504040204" pitchFamily="34" charset="-120"/>
              </a:rPr>
              <a:t>)</a:t>
            </a:r>
            <a:r>
              <a:rPr lang="zh-TW" altLang="en-US" sz="1000" b="1" dirty="0">
                <a:solidFill>
                  <a:srgbClr val="FF0000"/>
                </a:solidFill>
                <a:latin typeface="微軟正黑體" panose="020B0604030504040204" pitchFamily="34" charset="-120"/>
                <a:ea typeface="微軟正黑體" panose="020B0604030504040204" pitchFamily="34" charset="-120"/>
              </a:rPr>
              <a:t> </a:t>
            </a:r>
            <a:r>
              <a:rPr lang="en-US" altLang="zh-TW" sz="1000" b="1" dirty="0">
                <a:solidFill>
                  <a:srgbClr val="FF0000"/>
                </a:solidFill>
                <a:latin typeface="微軟正黑體" panose="020B0604030504040204" pitchFamily="34" charset="-120"/>
                <a:ea typeface="微軟正黑體" panose="020B0604030504040204" pitchFamily="34" charset="-120"/>
              </a:rPr>
              <a:t>-</a:t>
            </a:r>
            <a:r>
              <a:rPr lang="zh-TW" altLang="en-US" sz="1000" b="1" dirty="0">
                <a:solidFill>
                  <a:srgbClr val="FF0000"/>
                </a:solidFill>
                <a:latin typeface="微軟正黑體" panose="020B0604030504040204" pitchFamily="34" charset="-120"/>
                <a:ea typeface="微軟正黑體" panose="020B0604030504040204" pitchFamily="34" charset="-120"/>
              </a:rPr>
              <a:t> </a:t>
            </a:r>
            <a:endParaRPr lang="zh-TW" altLang="zh-TW" sz="1000" b="1" u="none" strike="noStrike" dirty="0">
              <a:effectLst/>
              <a:latin typeface="微軟正黑體" panose="020B0604030504040204" pitchFamily="34" charset="-120"/>
              <a:ea typeface="微軟正黑體" panose="020B0604030504040204" pitchFamily="34" charset="-120"/>
            </a:endParaRPr>
          </a:p>
          <a:p>
            <a:pPr marL="0" marR="0">
              <a:lnSpc>
                <a:spcPts val="1200"/>
              </a:lnSpc>
              <a:buNone/>
            </a:pPr>
            <a:r>
              <a:rPr lang="zh-TW" altLang="zh-TW" sz="1000" b="0" u="none" strike="noStrike" dirty="0">
                <a:effectLst/>
                <a:latin typeface="微軟正黑體" panose="020B0604030504040204" pitchFamily="34" charset="-120"/>
                <a:ea typeface="微軟正黑體" panose="020B0604030504040204" pitchFamily="34" charset="-120"/>
              </a:rPr>
              <a:t>由台大資工系（陳縕儂教授團隊）與長春集團、和碩聯合科技、長庚醫院、欣興電子、科技報橘等民間企業結盟，並獲得 NVIDIA 算力支援所訓練出的繁體中文混合專家模型（Mixture of Experts）。</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代表版本</a:t>
            </a:r>
            <a:r>
              <a:rPr lang="zh-TW" altLang="zh-TW" sz="1000" b="0" u="none" strike="noStrike" dirty="0">
                <a:effectLst/>
                <a:latin typeface="微軟正黑體" panose="020B0604030504040204" pitchFamily="34" charset="-120"/>
                <a:ea typeface="微軟正黑體" panose="020B0604030504040204" pitchFamily="34" charset="-120"/>
              </a:rPr>
              <a:t>：</a:t>
            </a:r>
            <a:r>
              <a:rPr lang="zh-TW" altLang="zh-TW" sz="1000" b="1" u="none" strike="noStrike" dirty="0">
                <a:effectLst/>
                <a:latin typeface="微軟正黑體" panose="020B0604030504040204" pitchFamily="34" charset="-120"/>
                <a:ea typeface="微軟正黑體" panose="020B0604030504040204" pitchFamily="34" charset="-120"/>
              </a:rPr>
              <a:t>Project TAME（基於 Llama 3 擴充，達 700億參數等級）</a:t>
            </a:r>
            <a:r>
              <a:rPr lang="zh-TW" altLang="zh-TW" sz="1000" b="0" u="none" strike="noStrike" dirty="0">
                <a:effectLst/>
                <a:latin typeface="微軟正黑體" panose="020B0604030504040204" pitchFamily="34" charset="-120"/>
                <a:ea typeface="微軟正黑體" panose="020B0604030504040204" pitchFamily="34" charset="-120"/>
              </a:rPr>
              <a:t>。</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特色</a:t>
            </a:r>
            <a:r>
              <a:rPr lang="zh-TW" altLang="zh-TW" sz="1000" b="0" u="none" strike="noStrike" dirty="0">
                <a:effectLst/>
                <a:latin typeface="微軟正黑體" panose="020B0604030504040204" pitchFamily="34" charset="-120"/>
                <a:ea typeface="微軟正黑體" panose="020B0604030504040204" pitchFamily="34" charset="-120"/>
              </a:rPr>
              <a:t>：專為台灣產業量身打造，涵蓋台灣本地的</a:t>
            </a:r>
            <a:r>
              <a:rPr lang="zh-TW" altLang="zh-TW" sz="1000" b="1" u="none" strike="noStrike" dirty="0">
                <a:effectLst/>
                <a:latin typeface="微軟正黑體" panose="020B0604030504040204" pitchFamily="34" charset="-120"/>
                <a:ea typeface="微軟正黑體" panose="020B0604030504040204" pitchFamily="34" charset="-120"/>
              </a:rPr>
              <a:t>電子製造、醫療問診、石化化工、台灣法律（如律師特考題）</a:t>
            </a:r>
            <a:r>
              <a:rPr lang="zh-TW" altLang="zh-TW" sz="1000" b="0" u="none" strike="noStrike" dirty="0">
                <a:effectLst/>
                <a:latin typeface="微軟正黑體" panose="020B0604030504040204" pitchFamily="34" charset="-120"/>
                <a:ea typeface="微軟正黑體" panose="020B0604030504040204" pitchFamily="34" charset="-120"/>
              </a:rPr>
              <a:t>等領域知識，並能精準聽懂台灣在地流行語</a:t>
            </a:r>
            <a:r>
              <a:rPr lang="en-US" altLang="zh-TW" sz="1000" b="0" u="none" strike="noStrike" dirty="0">
                <a:effectLst/>
                <a:latin typeface="微軟正黑體" panose="020B0604030504040204" pitchFamily="34" charset="-120"/>
                <a:ea typeface="微軟正黑體" panose="020B0604030504040204" pitchFamily="34" charset="-120"/>
              </a:rPr>
              <a:t>(</a:t>
            </a:r>
            <a:r>
              <a:rPr lang="zh-TW" altLang="zh-TW" sz="1000" b="0" u="none" strike="noStrike" dirty="0">
                <a:effectLst/>
                <a:latin typeface="微軟正黑體" panose="020B0604030504040204" pitchFamily="34" charset="-120"/>
                <a:ea typeface="微軟正黑體" panose="020B0604030504040204" pitchFamily="34" charset="-120"/>
              </a:rPr>
              <a:t>如「很盤」</a:t>
            </a:r>
            <a:r>
              <a:rPr lang="en-US" altLang="zh-TW" sz="1000" dirty="0">
                <a:latin typeface="微軟正黑體" panose="020B0604030504040204" pitchFamily="34" charset="-120"/>
                <a:ea typeface="微軟正黑體" panose="020B0604030504040204" pitchFamily="34" charset="-120"/>
              </a:rPr>
              <a:t>)</a:t>
            </a:r>
            <a:r>
              <a:rPr lang="zh-TW" altLang="zh-TW" sz="1000" b="0" u="none" strike="noStrike" dirty="0">
                <a:effectLst/>
                <a:latin typeface="微軟正黑體" panose="020B0604030504040204" pitchFamily="34" charset="-120"/>
                <a:ea typeface="微軟正黑體" panose="020B0604030504040204" pitchFamily="34" charset="-120"/>
              </a:rPr>
              <a:t>。</a:t>
            </a:r>
          </a:p>
          <a:p>
            <a:pPr marL="0" marR="0">
              <a:lnSpc>
                <a:spcPts val="1200"/>
              </a:lnSpc>
              <a:buNone/>
            </a:pPr>
            <a:r>
              <a:rPr lang="zh-TW" altLang="zh-TW" sz="1000" b="1" u="none" strike="noStrike" dirty="0">
                <a:effectLst/>
                <a:latin typeface="微軟正黑體" panose="020B0604030504040204" pitchFamily="34" charset="-120"/>
                <a:ea typeface="微軟正黑體" panose="020B0604030504040204" pitchFamily="34" charset="-120"/>
              </a:rPr>
              <a:t>3. 開源社群與學術先驅：Taiwan-LLaMA 系列</a:t>
            </a:r>
          </a:p>
          <a:p>
            <a:pPr marL="0" marR="0">
              <a:lnSpc>
                <a:spcPts val="1200"/>
              </a:lnSpc>
              <a:buNone/>
            </a:pPr>
            <a:r>
              <a:rPr lang="zh-TW" altLang="zh-TW" sz="1000" b="0" u="none" strike="noStrike" dirty="0">
                <a:effectLst/>
                <a:latin typeface="微軟正黑體" panose="020B0604030504040204" pitchFamily="34" charset="-120"/>
                <a:ea typeface="微軟正黑體" panose="020B0604030504040204" pitchFamily="34" charset="-120"/>
              </a:rPr>
              <a:t>由台大林彥廷博士與開源社群團隊開發，是</a:t>
            </a:r>
            <a:r>
              <a:rPr lang="zh-TW" altLang="zh-TW" sz="1000" b="1" u="none" strike="noStrike" dirty="0">
                <a:effectLst/>
                <a:latin typeface="微軟正黑體" panose="020B0604030504040204" pitchFamily="34" charset="-120"/>
                <a:ea typeface="微軟正黑體" panose="020B0604030504040204" pitchFamily="34" charset="-120"/>
              </a:rPr>
              <a:t>台灣第一個成功釋出的繁體中文開源大模型系列</a:t>
            </a:r>
            <a:r>
              <a:rPr lang="zh-TW" altLang="zh-TW" sz="1000" b="0" u="none" strike="noStrike" dirty="0">
                <a:effectLst/>
                <a:latin typeface="微軟正黑體" panose="020B0604030504040204" pitchFamily="34" charset="-120"/>
                <a:ea typeface="微軟正黑體" panose="020B0604030504040204" pitchFamily="34" charset="-120"/>
              </a:rPr>
              <a:t>。 [</a:t>
            </a:r>
            <a:r>
              <a:rPr lang="zh-TW" altLang="zh-TW" sz="1000" b="0" u="none" strike="noStrike" dirty="0">
                <a:effectLst/>
                <a:latin typeface="微軟正黑體" panose="020B0604030504040204" pitchFamily="34" charset="-120"/>
                <a:ea typeface="微軟正黑體" panose="020B0604030504040204" pitchFamily="34" charset="-120"/>
                <a:hlinkClick r:id="rId3"/>
              </a:rPr>
              <a:t>1</a:t>
            </a:r>
            <a:r>
              <a:rPr lang="zh-TW" altLang="zh-TW" sz="1000" b="0" u="none" strike="noStrike" dirty="0">
                <a:effectLst/>
                <a:latin typeface="微軟正黑體" panose="020B0604030504040204" pitchFamily="34" charset="-120"/>
                <a:ea typeface="微軟正黑體" panose="020B0604030504040204" pitchFamily="34" charset="-120"/>
              </a:rPr>
              <a:t>]</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代表版本</a:t>
            </a:r>
            <a:r>
              <a:rPr lang="zh-TW" altLang="zh-TW" sz="1000" b="0" u="none" strike="noStrike" dirty="0">
                <a:effectLst/>
                <a:latin typeface="微軟正黑體" panose="020B0604030504040204" pitchFamily="34" charset="-120"/>
                <a:ea typeface="微軟正黑體" panose="020B0604030504040204" pitchFamily="34" charset="-120"/>
              </a:rPr>
              <a:t>：Llama-3-Taiwan 系列（包含 8B、70B 等不同參數大小）。</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特色</a:t>
            </a:r>
            <a:r>
              <a:rPr lang="zh-TW" altLang="zh-TW" sz="1000" b="0" u="none" strike="noStrike" dirty="0">
                <a:effectLst/>
                <a:latin typeface="微軟正黑體" panose="020B0604030504040204" pitchFamily="34" charset="-120"/>
                <a:ea typeface="微軟正黑體" panose="020B0604030504040204" pitchFamily="34" charset="-120"/>
              </a:rPr>
              <a:t>：對開源社群極為友好，在地化評測表現優異，是許多台灣獨立開發者和在地 AI Agent（智慧代理）最常部署的地端模型。 [</a:t>
            </a:r>
            <a:r>
              <a:rPr lang="zh-TW" altLang="zh-TW" sz="1000" b="0" u="none" strike="noStrike" dirty="0">
                <a:effectLst/>
                <a:latin typeface="微軟正黑體" panose="020B0604030504040204" pitchFamily="34" charset="-120"/>
                <a:ea typeface="微軟正黑體" panose="020B0604030504040204" pitchFamily="34" charset="-120"/>
                <a:hlinkClick r:id="rId3"/>
              </a:rPr>
              <a:t>1</a:t>
            </a:r>
            <a:r>
              <a:rPr lang="zh-TW" altLang="zh-TW" sz="1000" b="0" u="none" strike="noStrike" dirty="0">
                <a:effectLst/>
                <a:latin typeface="微軟正黑體" panose="020B0604030504040204" pitchFamily="34" charset="-120"/>
                <a:ea typeface="微軟正黑體" panose="020B0604030504040204" pitchFamily="34" charset="-120"/>
              </a:rPr>
              <a:t>, </a:t>
            </a:r>
            <a:r>
              <a:rPr lang="zh-TW" altLang="zh-TW" sz="1000" b="0" u="none" strike="noStrike" dirty="0">
                <a:effectLst/>
                <a:latin typeface="微軟正黑體" panose="020B0604030504040204" pitchFamily="34" charset="-120"/>
                <a:ea typeface="微軟正黑體" panose="020B0604030504040204" pitchFamily="34" charset="-120"/>
                <a:hlinkClick r:id="rId4"/>
              </a:rPr>
              <a:t>2</a:t>
            </a:r>
            <a:r>
              <a:rPr lang="zh-TW" altLang="zh-TW" sz="1000" b="0" u="none" strike="noStrike" dirty="0">
                <a:effectLst/>
                <a:latin typeface="微軟正黑體" panose="020B0604030504040204" pitchFamily="34" charset="-120"/>
                <a:ea typeface="微軟正黑體" panose="020B0604030504040204" pitchFamily="34" charset="-120"/>
              </a:rPr>
              <a:t>, </a:t>
            </a:r>
            <a:r>
              <a:rPr lang="zh-TW" altLang="zh-TW" sz="1000" b="0" u="none" strike="noStrike" dirty="0">
                <a:effectLst/>
                <a:latin typeface="微軟正黑體" panose="020B0604030504040204" pitchFamily="34" charset="-120"/>
                <a:ea typeface="微軟正黑體" panose="020B0604030504040204" pitchFamily="34" charset="-120"/>
                <a:hlinkClick r:id="rId5"/>
              </a:rPr>
              <a:t>3</a:t>
            </a:r>
            <a:r>
              <a:rPr lang="zh-TW" altLang="zh-TW" sz="1000" b="0" u="none" strike="noStrike" dirty="0">
                <a:effectLst/>
                <a:latin typeface="微軟正黑體" panose="020B0604030504040204" pitchFamily="34" charset="-120"/>
                <a:ea typeface="微軟正黑體" panose="020B0604030504040204" pitchFamily="34" charset="-120"/>
              </a:rPr>
              <a:t>]</a:t>
            </a:r>
          </a:p>
          <a:p>
            <a:pPr marL="0" marR="0">
              <a:lnSpc>
                <a:spcPts val="1200"/>
              </a:lnSpc>
              <a:buNone/>
            </a:pPr>
            <a:r>
              <a:rPr lang="zh-TW" altLang="zh-TW" sz="1000" b="1" u="none" strike="noStrike" dirty="0">
                <a:effectLst/>
                <a:latin typeface="微軟正黑體" panose="020B0604030504040204" pitchFamily="34" charset="-120"/>
                <a:ea typeface="微軟正黑體" panose="020B0604030504040204" pitchFamily="34" charset="-120"/>
              </a:rPr>
              <a:t>4. 企業與晶片大廠自研：MR Breeze 系列</a:t>
            </a:r>
          </a:p>
          <a:p>
            <a:pPr marL="0" marR="0">
              <a:lnSpc>
                <a:spcPts val="1200"/>
              </a:lnSpc>
              <a:buNone/>
            </a:pPr>
            <a:r>
              <a:rPr lang="zh-TW" altLang="zh-TW" sz="1000" b="0" u="none" strike="noStrike" dirty="0">
                <a:effectLst/>
                <a:latin typeface="微軟正黑體" panose="020B0604030504040204" pitchFamily="34" charset="-120"/>
                <a:ea typeface="微軟正黑體" panose="020B0604030504040204" pitchFamily="34" charset="-120"/>
              </a:rPr>
              <a:t>由晶片設計大廠</a:t>
            </a:r>
            <a:r>
              <a:rPr lang="zh-TW" altLang="zh-TW" sz="1000" b="1" u="none" strike="noStrike" dirty="0">
                <a:effectLst/>
                <a:latin typeface="微軟正黑體" panose="020B0604030504040204" pitchFamily="34" charset="-120"/>
                <a:ea typeface="微軟正黑體" panose="020B0604030504040204" pitchFamily="34" charset="-120"/>
              </a:rPr>
              <a:t>聯發科技（MediaTek Research）</a:t>
            </a:r>
            <a:r>
              <a:rPr lang="zh-TW" altLang="zh-TW" sz="1000" b="0" u="none" strike="noStrike" dirty="0">
                <a:effectLst/>
                <a:latin typeface="微軟正黑體" panose="020B0604030504040204" pitchFamily="34" charset="-120"/>
                <a:ea typeface="微軟正黑體" panose="020B0604030504040204" pitchFamily="34" charset="-120"/>
              </a:rPr>
              <a:t>所推出的繁體中文大模型系列。 [</a:t>
            </a:r>
            <a:r>
              <a:rPr lang="zh-TW" altLang="zh-TW" sz="1000" b="0" u="none" strike="noStrike" dirty="0">
                <a:effectLst/>
                <a:latin typeface="微軟正黑體" panose="020B0604030504040204" pitchFamily="34" charset="-120"/>
                <a:ea typeface="微軟正黑體" panose="020B0604030504040204" pitchFamily="34" charset="-120"/>
                <a:hlinkClick r:id="rId4"/>
              </a:rPr>
              <a:t>1</a:t>
            </a:r>
            <a:r>
              <a:rPr lang="zh-TW" altLang="zh-TW" sz="1000" b="0" u="none" strike="noStrike" dirty="0">
                <a:effectLst/>
                <a:latin typeface="微軟正黑體" panose="020B0604030504040204" pitchFamily="34" charset="-120"/>
                <a:ea typeface="微軟正黑體" panose="020B0604030504040204" pitchFamily="34" charset="-120"/>
              </a:rPr>
              <a:t>]</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代表版本</a:t>
            </a:r>
            <a:r>
              <a:rPr lang="zh-TW" altLang="zh-TW" sz="1000" b="0" u="none" strike="noStrike" dirty="0">
                <a:effectLst/>
                <a:latin typeface="微軟正黑體" panose="020B0604030504040204" pitchFamily="34" charset="-120"/>
                <a:ea typeface="微軟正黑體" panose="020B0604030504040204" pitchFamily="34" charset="-120"/>
              </a:rPr>
              <a:t>：Breeze-7B、Breeze-8B 等輕量化模型。</a:t>
            </a:r>
          </a:p>
          <a:p>
            <a:pPr marL="342900" marR="0" lvl="0" indent="-342900">
              <a:lnSpc>
                <a:spcPts val="1200"/>
              </a:lnSpc>
              <a:buFont typeface="Arial" panose="020B0604020202020204" pitchFamily="34" charset="0"/>
              <a:buChar char="•"/>
            </a:pPr>
            <a:r>
              <a:rPr lang="zh-TW" altLang="zh-TW" sz="1000" b="1" u="none" strike="noStrike" dirty="0">
                <a:effectLst/>
                <a:latin typeface="微軟正黑體" panose="020B0604030504040204" pitchFamily="34" charset="-120"/>
                <a:ea typeface="微軟正黑體" panose="020B0604030504040204" pitchFamily="34" charset="-120"/>
              </a:rPr>
              <a:t>特色</a:t>
            </a:r>
            <a:r>
              <a:rPr lang="zh-TW" altLang="zh-TW" sz="1000" b="0" u="none" strike="noStrike" dirty="0">
                <a:effectLst/>
                <a:latin typeface="微軟正黑體" panose="020B0604030504040204" pitchFamily="34" charset="-120"/>
                <a:ea typeface="微軟正黑體" panose="020B0604030504040204" pitchFamily="34" charset="-120"/>
              </a:rPr>
              <a:t>：極度優化繁體中文的 Tokenizer（標記法），推理速度飛快且記憶體佔用小，非常適合整合至手機、邊緣運算（Edge AI）或地端企業系統中。</a:t>
            </a:r>
          </a:p>
        </p:txBody>
      </p:sp>
    </p:spTree>
    <p:extLst>
      <p:ext uri="{BB962C8B-B14F-4D97-AF65-F5344CB8AC3E}">
        <p14:creationId xmlns:p14="http://schemas.microsoft.com/office/powerpoint/2010/main" val="33596302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996</TotalTime>
  <Words>5520</Words>
  <Application>Microsoft Office PowerPoint</Application>
  <PresentationFormat>如螢幕大小 (4:3)</PresentationFormat>
  <Paragraphs>792</Paragraphs>
  <Slides>12</Slides>
  <Notes>11</Notes>
  <HiddenSlides>0</HiddenSlides>
  <MMClips>0</MMClips>
  <ScaleCrop>false</ScaleCrop>
  <HeadingPairs>
    <vt:vector size="6" baseType="variant">
      <vt:variant>
        <vt:lpstr>使用字型</vt:lpstr>
      </vt:variant>
      <vt:variant>
        <vt:i4>11</vt:i4>
      </vt:variant>
      <vt:variant>
        <vt:lpstr>佈景主題</vt:lpstr>
      </vt:variant>
      <vt:variant>
        <vt:i4>1</vt:i4>
      </vt:variant>
      <vt:variant>
        <vt:lpstr>投影片標題</vt:lpstr>
      </vt:variant>
      <vt:variant>
        <vt:i4>12</vt:i4>
      </vt:variant>
    </vt:vector>
  </HeadingPairs>
  <TitlesOfParts>
    <vt:vector size="24" baseType="lpstr">
      <vt:lpstr>Google Sans</vt:lpstr>
      <vt:lpstr>Microsoft YaHei Mono</vt:lpstr>
      <vt:lpstr>Noto Sans HK</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1871</cp:revision>
  <cp:lastPrinted>2024-07-30T01:44:15Z</cp:lastPrinted>
  <dcterms:created xsi:type="dcterms:W3CDTF">2019-11-08T03:01:47Z</dcterms:created>
  <dcterms:modified xsi:type="dcterms:W3CDTF">2026-08-21T08:54:50Z</dcterms:modified>
</cp:coreProperties>
</file>