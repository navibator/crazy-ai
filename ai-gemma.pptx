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0" r:id="rId9"/>
    <p:sldId id="3496" r:id="rId10"/>
    <p:sldId id="3506" r:id="rId11"/>
    <p:sldId id="3505" r:id="rId12"/>
    <p:sldId id="3465" r:id="rId13"/>
    <p:sldId id="3482" r:id="rId14"/>
    <p:sldId id="3489" r:id="rId15"/>
    <p:sldId id="3495" r:id="rId16"/>
    <p:sldId id="3503" r:id="rId17"/>
    <p:sldId id="3460" r:id="rId18"/>
    <p:sldId id="3504" r:id="rId19"/>
    <p:sldId id="257" r:id="rId20"/>
    <p:sldId id="265" r:id="rId21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75"/>
          </p14:sldIdLst>
        </p14:section>
        <p14:section name="Gemma 3" id="{91BFD2B5-A843-4933-9519-5889D1D7895D}">
          <p14:sldIdLst>
            <p14:sldId id="3470"/>
            <p14:sldId id="3496"/>
            <p14:sldId id="3506"/>
            <p14:sldId id="3505"/>
          </p14:sldIdLst>
        </p14:section>
        <p14:section name="Gemma 4" id="{5A048767-0D58-44AF-B962-12C29493294F}">
          <p14:sldIdLst>
            <p14:sldId id="3465"/>
            <p14:sldId id="3482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72487" autoAdjust="0"/>
  </p:normalViewPr>
  <p:slideViewPr>
    <p:cSldViewPr>
      <p:cViewPr>
        <p:scale>
          <a:sx n="100" d="100"/>
          <a:sy n="100" d="100"/>
        </p:scale>
        <p:origin x="1428" y="23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cloud.tencent.com/developer/article/2245094" TargetMode="External"/><Relationship Id="rId3" Type="http://schemas.openxmlformats.org/officeDocument/2006/relationships/hyperlink" Target="https://aistudio.baidu.com/blog/detail/731024175967365" TargetMode="External"/><Relationship Id="rId7" Type="http://schemas.openxmlformats.org/officeDocument/2006/relationships/hyperlink" Target="https://hackmd.io/@MtkMWTAMStiGb_5Gc8900Q/BJoVM2VCkg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medium.com/@lmpo/an-overview-instruction-tuning-for-llms-440228e7edab" TargetMode="External"/><Relationship Id="rId5" Type="http://schemas.openxmlformats.org/officeDocument/2006/relationships/hyperlink" Target="https://blog.csdn.net/qq_39388410/article/details/128265846" TargetMode="External"/><Relationship Id="rId4" Type="http://schemas.openxmlformats.org/officeDocument/2006/relationships/hyperlink" Target="https://arxiv.org/pdf/2109.01652" TargetMode="Externa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ACB4D-EB0C-6F94-5AFB-171B565F6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EF19517-2DEC-FC89-C498-25449BA60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FEDAB6F-6B6E-9ECF-4575-0F2CB1462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的演進可以歸納為四大里程碑節點：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2018 - 2020：前身探索（Task-specific Fine-Tuning）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在 BERT 或 GPT-2 時代，微調是針對「單一任務」（如：專門微調一個只會判斷情感的模型）。此時模型還沒有具備統一的通用對話能力。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2021.09：指令微調的誕生（Google FLAN）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Google 發表里程碑論文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FLAN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，首次提出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Instruction Tuning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。他們將數十個標準 NLP 任務全部轉為指令格式來微調模型，證明了「任務微調得越多，模型沒見過的新任務就解得越好」。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2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3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4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2022.03：走向人類偏好（OpenAI InstructGPT）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OpenAI 發表論文，利用真實使用者的 Playground 輸入來標註 Q&amp;A。這宣告了 SFT 從「學術任務」走向「模仿真實人類助理的日常對話」。這也是同年底 ChatGPT 震撼世界的底座技術。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2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2023 - 2024：開源大爆發（Alpaca &amp; LoRA 普及化）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史丹佛大學提出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Alpaca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，展示了如何用 GPT-4 自動生成 SFT 資料（Self-Instruct 蒸餾技術），搭配 LoRA 讓一般人在幾小時內就能微調出自己的 ChatGPT。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dirty="0"/>
          </a:p>
          <a:p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D0520A4-0224-B3B2-056D-6DA174DF5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39835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</a:t>
            </a:r>
            <a:r>
              <a:rPr lang="en-US" altLang="zh-TW" sz="1200" dirty="0" err="1">
                <a:solidFill>
                  <a:prstClr val="black"/>
                </a:solidFill>
              </a:rPr>
              <a:t>eXchange</a:t>
            </a:r>
            <a:r>
              <a:rPr lang="en-US" altLang="zh-TW" sz="1200" dirty="0">
                <a:solidFill>
                  <a:prstClr val="black"/>
                </a:solidFill>
              </a:rPr>
              <a:t>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 err="1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 err="1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 err="1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</a:t>
            </a:r>
            <a:r>
              <a:rPr lang="en-US" altLang="zh-TW" dirty="0" err="1"/>
              <a:t>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</a:t>
            </a:r>
            <a:r>
              <a:rPr lang="en-US" altLang="zh-TW" dirty="0" err="1"/>
              <a:t>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</a:t>
            </a:r>
            <a:r>
              <a:rPr lang="en-US" altLang="zh-TW" dirty="0" err="1"/>
              <a:t>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</a:t>
            </a:r>
            <a:r>
              <a:rPr lang="en-US" altLang="zh-TW" dirty="0" err="1"/>
              <a:t>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3396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(AI Agent, LLM, RAG,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(SLM, Edge, Algorithm, 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Multilingual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Low-Rank Adaptation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(Efficient LLM Fine-Tuning)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1C639E3-E511-933C-E6C6-4C289F817DDD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408F49E-2660-ED9C-C17D-77DCF9AAA22F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rgbClr val="FF0000"/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084239"/>
              </p:ext>
            </p:extLst>
          </p:nvPr>
        </p:nvGraphicFramePr>
        <p:xfrm>
          <a:off x="6403176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Native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Advanced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Query rewriting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Tools in 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515540"/>
              </p:ext>
            </p:extLst>
          </p:nvPr>
        </p:nvGraphicFramePr>
        <p:xfrm>
          <a:off x="3234163" y="3284984"/>
          <a:ext cx="2675673" cy="2860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89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1462308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1972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725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100368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grpSp>
        <p:nvGrpSpPr>
          <p:cNvPr id="22" name="群組 21">
            <a:extLst>
              <a:ext uri="{FF2B5EF4-FFF2-40B4-BE49-F238E27FC236}">
                <a16:creationId xmlns:a16="http://schemas.microsoft.com/office/drawing/2014/main" id="{4CAC32F8-5374-6392-FEA9-BFECB1906D74}"/>
              </a:ext>
            </a:extLst>
          </p:cNvPr>
          <p:cNvGrpSpPr/>
          <p:nvPr/>
        </p:nvGrpSpPr>
        <p:grpSpPr>
          <a:xfrm>
            <a:off x="3245714" y="3861048"/>
            <a:ext cx="1614318" cy="720080"/>
            <a:chOff x="5985884" y="3911212"/>
            <a:chExt cx="1738969" cy="720080"/>
          </a:xfrm>
        </p:grpSpPr>
        <p:sp>
          <p:nvSpPr>
            <p:cNvPr id="6" name="語音泡泡: 圓角矩形 5">
              <a:extLst>
                <a:ext uri="{FF2B5EF4-FFF2-40B4-BE49-F238E27FC236}">
                  <a16:creationId xmlns:a16="http://schemas.microsoft.com/office/drawing/2014/main" id="{F91AC911-0D1C-DF7D-DA5F-71B189376E62}"/>
                </a:ext>
              </a:extLst>
            </p:cNvPr>
            <p:cNvSpPr/>
            <p:nvPr/>
          </p:nvSpPr>
          <p:spPr>
            <a:xfrm>
              <a:off x="5985884" y="3911212"/>
              <a:ext cx="1738969" cy="720080"/>
            </a:xfrm>
            <a:prstGeom prst="wedgeRoundRectCallout">
              <a:avLst>
                <a:gd name="adj1" fmla="val 21301"/>
                <a:gd name="adj2" fmla="val 80445"/>
                <a:gd name="adj3" fmla="val 16667"/>
              </a:avLst>
            </a:prstGeom>
            <a:solidFill>
              <a:schemeClr val="bg1">
                <a:alpha val="70000"/>
              </a:schemeClr>
            </a:solidFill>
            <a:ln w="38100"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dirty="0">
                  <a:ln w="0"/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     </a:t>
              </a:r>
              <a:r>
                <a:rPr lang="en-US" altLang="zh-TW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92A0724E-A38F-5195-50B0-C98F2CF9C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73490" y="4132527"/>
              <a:ext cx="434378" cy="426757"/>
            </a:xfrm>
            <a:prstGeom prst="rect">
              <a:avLst/>
            </a:prstGeom>
          </p:spPr>
        </p:pic>
      </p:grp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C15565B-23FB-5E59-4F90-9D5D878FE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4469572"/>
              </p:ext>
            </p:extLst>
          </p:nvPr>
        </p:nvGraphicFramePr>
        <p:xfrm>
          <a:off x="812083" y="3181276"/>
          <a:ext cx="1590622" cy="1071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6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003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2477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Deployment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1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Customization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57EFCE37-831A-9DEC-F096-56CA8F00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341486"/>
              </p:ext>
            </p:extLst>
          </p:nvPr>
        </p:nvGraphicFramePr>
        <p:xfrm>
          <a:off x="812083" y="4653136"/>
          <a:ext cx="2088232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FDEC58D-CCB1-A42B-F522-40050B01CA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0595420"/>
              </p:ext>
            </p:extLst>
          </p:nvPr>
        </p:nvGraphicFramePr>
        <p:xfrm>
          <a:off x="6327392" y="4996020"/>
          <a:ext cx="1944216" cy="918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21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0783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TensorFlow/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 /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88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9842345"/>
              </p:ext>
            </p:extLst>
          </p:nvPr>
        </p:nvGraphicFramePr>
        <p:xfrm>
          <a:off x="3234163" y="1856742"/>
          <a:ext cx="2675674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16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59164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693302"/>
              </p:ext>
            </p:extLst>
          </p:nvPr>
        </p:nvGraphicFramePr>
        <p:xfrm>
          <a:off x="6740869" y="1229251"/>
          <a:ext cx="1933441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344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Multi-Agent Routing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State &amp; Context Management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Workflow Execution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Resource Optimization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660232" y="1229252"/>
            <a:ext cx="2086085" cy="1206064"/>
          </a:xfrm>
          <a:prstGeom prst="borderCallout1">
            <a:avLst>
              <a:gd name="adj1" fmla="val 83379"/>
              <a:gd name="adj2" fmla="val 96707"/>
              <a:gd name="adj3" fmla="val 109956"/>
              <a:gd name="adj4" fmla="val 124063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2724" y="135794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9869" y="135794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0232" y="836712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1575" y="886369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4228" y="836712"/>
            <a:ext cx="360260" cy="334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</a:t>
            </a:r>
            <a:r>
              <a:rPr lang="en-US" altLang="zh-TW" sz="1600" b="1" dirty="0" err="1"/>
              <a:t>MoE</a:t>
            </a:r>
            <a:r>
              <a:rPr lang="en-US" altLang="zh-TW" sz="1600" b="1" dirty="0"/>
              <a:t>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209216" y="1263958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945062"/>
              </p:ext>
            </p:extLst>
          </p:nvPr>
        </p:nvGraphicFramePr>
        <p:xfrm>
          <a:off x="2016630" y="3166080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408085"/>
              </p:ext>
            </p:extLst>
          </p:nvPr>
        </p:nvGraphicFramePr>
        <p:xfrm>
          <a:off x="906443" y="2109980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AWS, MS Azure,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5697390"/>
              </p:ext>
            </p:extLst>
          </p:nvPr>
        </p:nvGraphicFramePr>
        <p:xfrm>
          <a:off x="351199" y="452181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71A4FAC-3FA4-7F32-0DE0-90701BE854FB}"/>
              </a:ext>
            </a:extLst>
          </p:cNvPr>
          <p:cNvSpPr txBox="1"/>
          <p:nvPr/>
        </p:nvSpPr>
        <p:spPr>
          <a:xfrm>
            <a:off x="6507429" y="4398530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(Next Token)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AD612F0A-91C3-056E-BCE2-B3E95520AE28}"/>
              </a:ext>
            </a:extLst>
          </p:cNvPr>
          <p:cNvSpPr txBox="1"/>
          <p:nvPr/>
        </p:nvSpPr>
        <p:spPr>
          <a:xfrm>
            <a:off x="5508104" y="4398530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(User)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右中括弧 1">
            <a:extLst>
              <a:ext uri="{FF2B5EF4-FFF2-40B4-BE49-F238E27FC236}">
                <a16:creationId xmlns:a16="http://schemas.microsoft.com/office/drawing/2014/main" id="{7F2CD794-D235-521D-97A5-56398293D55C}"/>
              </a:ext>
            </a:extLst>
          </p:cNvPr>
          <p:cNvSpPr/>
          <p:nvPr/>
        </p:nvSpPr>
        <p:spPr>
          <a:xfrm>
            <a:off x="7956376" y="3429000"/>
            <a:ext cx="45719" cy="46032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D2697D1-2609-B729-0E6A-3C9C323849AD}"/>
              </a:ext>
            </a:extLst>
          </p:cNvPr>
          <p:cNvSpPr txBox="1"/>
          <p:nvPr/>
        </p:nvSpPr>
        <p:spPr>
          <a:xfrm>
            <a:off x="8100392" y="3529169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Fast …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A9EF1A9-2994-2037-52D0-3B7B603D7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94157"/>
              </p:ext>
            </p:extLst>
          </p:nvPr>
        </p:nvGraphicFramePr>
        <p:xfrm>
          <a:off x="166935" y="3429000"/>
          <a:ext cx="2866653" cy="17510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41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057241">
                  <a:extLst>
                    <a:ext uri="{9D8B030D-6E8A-4147-A177-3AD203B41FA5}">
                      <a16:colId xmlns:a16="http://schemas.microsoft.com/office/drawing/2014/main" val="2539720991"/>
                    </a:ext>
                  </a:extLst>
                </a:gridCol>
              </a:tblGrid>
              <a:tr h="196486">
                <a:tc gridSpan="2"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 Adjust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648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0408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5658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041651"/>
                  </a:ext>
                </a:extLst>
              </a:tr>
              <a:tr h="26081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Prefix 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897546"/>
                  </a:ext>
                </a:extLst>
              </a:tr>
              <a:tr h="13040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Tuning,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434728"/>
                  </a:ext>
                </a:extLst>
              </a:tr>
              <a:tr h="58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Preference Alignment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ORPO,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072172"/>
                  </a:ext>
                </a:extLst>
              </a:tr>
              <a:tr h="1770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695270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3C07F0B0-AB65-462E-40F1-001FD403F3DD}"/>
              </a:ext>
            </a:extLst>
          </p:cNvPr>
          <p:cNvSpPr txBox="1"/>
          <p:nvPr/>
        </p:nvSpPr>
        <p:spPr>
          <a:xfrm>
            <a:off x="4716016" y="4077072"/>
            <a:ext cx="2044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1.</a:t>
            </a:r>
            <a:r>
              <a:rPr lang="zh-TW" altLang="en-US" dirty="0"/>
              <a:t> 主流技術</a:t>
            </a:r>
            <a:r>
              <a:rPr lang="en-US" altLang="zh-TW" dirty="0"/>
              <a:t>PEFT</a:t>
            </a:r>
            <a:br>
              <a:rPr lang="en-US" altLang="zh-TW" dirty="0"/>
            </a:br>
            <a:r>
              <a:rPr lang="en-US" altLang="zh-TW" dirty="0"/>
              <a:t>2.</a:t>
            </a:r>
            <a:r>
              <a:rPr lang="zh-TW" altLang="en-US" dirty="0"/>
              <a:t> 僅針對</a:t>
            </a:r>
            <a:r>
              <a:rPr lang="en-US" altLang="zh-TW" dirty="0" err="1"/>
              <a:t>LoRA</a:t>
            </a:r>
            <a:r>
              <a:rPr lang="zh-TW" altLang="en-US" dirty="0"/>
              <a:t>解說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551EB79-99C8-CA75-9C05-D5ABDF089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123077"/>
              </p:ext>
            </p:extLst>
          </p:nvPr>
        </p:nvGraphicFramePr>
        <p:xfrm>
          <a:off x="3923928" y="4837127"/>
          <a:ext cx="3456384" cy="1127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10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057580889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337991183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60511082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910252365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Parameters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99%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30528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6582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E6E43-CC03-2DCD-18D3-87ED0D04D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5B447E22-5A1E-EF0E-F809-322E50BF5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845" y="1124744"/>
            <a:ext cx="2367698" cy="1299459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sp>
        <p:nvSpPr>
          <p:cNvPr id="7" name="標題 1">
            <a:extLst>
              <a:ext uri="{FF2B5EF4-FFF2-40B4-BE49-F238E27FC236}">
                <a16:creationId xmlns:a16="http://schemas.microsoft.com/office/drawing/2014/main" id="{ACF18A52-8D6D-846D-45B8-1A03D18B2B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Basic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1AEB47B-29BC-2902-23BF-A4AE3E97C795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rgbClr val="FF0000"/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E4A6892-55CB-4C86-5E95-D9CB630DD7A7}"/>
              </a:ext>
            </a:extLst>
          </p:cNvPr>
          <p:cNvSpPr txBox="1"/>
          <p:nvPr/>
        </p:nvSpPr>
        <p:spPr>
          <a:xfrm>
            <a:off x="1570425" y="5762224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Student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Model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792581F-C1FE-2FEB-D695-B3EE7FDACE26}"/>
              </a:ext>
            </a:extLst>
          </p:cNvPr>
          <p:cNvSpPr txBox="1"/>
          <p:nvPr/>
        </p:nvSpPr>
        <p:spPr>
          <a:xfrm>
            <a:off x="689005" y="4077072"/>
            <a:ext cx="881420" cy="756316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Input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[x0, x1, …, </a:t>
            </a:r>
            <a:r>
              <a:rPr lang="en-US" altLang="zh-TW" sz="1200" dirty="0" err="1"/>
              <a:t>xn</a:t>
            </a:r>
            <a:r>
              <a:rPr lang="en-US" altLang="zh-TW" sz="1200" dirty="0"/>
              <a:t> ]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A00EF93E-F122-2C6B-1031-232B6AB9E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7469407"/>
              </p:ext>
            </p:extLst>
          </p:nvPr>
        </p:nvGraphicFramePr>
        <p:xfrm>
          <a:off x="792471" y="2709358"/>
          <a:ext cx="2437328" cy="10723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9486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1691680" y="26118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4355977" y="1395501"/>
            <a:ext cx="1368152" cy="107232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4644009" y="2691645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952975"/>
              </p:ext>
            </p:extLst>
          </p:nvPr>
        </p:nvGraphicFramePr>
        <p:xfrm>
          <a:off x="1770459" y="2899875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567835"/>
              </p:ext>
            </p:extLst>
          </p:nvPr>
        </p:nvGraphicFramePr>
        <p:xfrm>
          <a:off x="4433457" y="1688729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2940050" y="2827867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181518"/>
              </p:ext>
            </p:extLst>
          </p:nvPr>
        </p:nvGraphicFramePr>
        <p:xfrm>
          <a:off x="2562549" y="3121095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050651"/>
              </p:ext>
            </p:extLst>
          </p:nvPr>
        </p:nvGraphicFramePr>
        <p:xfrm>
          <a:off x="4430267" y="2960293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3148812" y="166030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78535"/>
              </p:ext>
            </p:extLst>
          </p:nvPr>
        </p:nvGraphicFramePr>
        <p:xfrm>
          <a:off x="2855703" y="196066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6169043" y="1660300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9358539"/>
              </p:ext>
            </p:extLst>
          </p:nvPr>
        </p:nvGraphicFramePr>
        <p:xfrm>
          <a:off x="5868145" y="1950969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4932041" y="242048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4169967" y="190206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5648931" y="1902063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2361482" y="316683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4169967" y="3200239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1715914" y="5211925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683307"/>
              </p:ext>
            </p:extLst>
          </p:nvPr>
        </p:nvGraphicFramePr>
        <p:xfrm>
          <a:off x="1932110" y="5517232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2940049" y="5488909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588344"/>
              </p:ext>
            </p:extLst>
          </p:nvPr>
        </p:nvGraphicFramePr>
        <p:xfrm>
          <a:off x="2562549" y="583224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2339753" y="578927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542779"/>
              </p:ext>
            </p:extLst>
          </p:nvPr>
        </p:nvGraphicFramePr>
        <p:xfrm>
          <a:off x="611560" y="4782788"/>
          <a:ext cx="425372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85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8166402"/>
              </p:ext>
            </p:extLst>
          </p:nvPr>
        </p:nvGraphicFramePr>
        <p:xfrm>
          <a:off x="1389570" y="4203813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1695126" y="4382534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994782" y="4382534"/>
            <a:ext cx="743642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1852611" y="4537583"/>
            <a:ext cx="42245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1641385" y="3850356"/>
            <a:ext cx="422451" cy="35345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Next-Gen Architecture &amp; Open Freedom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649EA95-8FB6-78DA-707B-076CC68FA7AD}"/>
              </a:ext>
            </a:extLst>
          </p:cNvPr>
          <p:cNvSpPr txBox="1"/>
          <p:nvPr/>
        </p:nvSpPr>
        <p:spPr>
          <a:xfrm>
            <a:off x="4209975" y="2166636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Gemma 3</a:t>
            </a:r>
            <a:r>
              <a:rPr lang="en-US" altLang="zh-TW" sz="1200" dirty="0"/>
              <a:t>: Google DeepMind's single-GPU powerhouses offering 128K context windows and cross-cultural communication in over 140 languages.</a:t>
            </a:r>
          </a:p>
          <a:p>
            <a:r>
              <a:rPr lang="en-US" altLang="zh-TW" dirty="0"/>
              <a:t>Gemma 4</a:t>
            </a:r>
            <a:r>
              <a:rPr lang="en-US" altLang="zh-TW" sz="1200" dirty="0"/>
              <a:t>: Unlocking true commercial flexibility with an Apache 2.0 license, 256K context expansions, and high-efficiency Mixture-of-Experts (</a:t>
            </a:r>
            <a:r>
              <a:rPr lang="en-US" altLang="zh-TW" sz="1200" dirty="0" err="1"/>
              <a:t>MoE</a:t>
            </a:r>
            <a:r>
              <a:rPr lang="en-US" altLang="zh-TW" sz="1200" dirty="0"/>
              <a:t>) scaling.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2829812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6719590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899592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0F530714-EF5B-2630-007A-ABFDBA3A4E70}"/>
              </a:ext>
            </a:extLst>
          </p:cNvPr>
          <p:cNvGrpSpPr/>
          <p:nvPr/>
        </p:nvGrpSpPr>
        <p:grpSpPr>
          <a:xfrm>
            <a:off x="4536583" y="1202493"/>
            <a:ext cx="1310140" cy="4405650"/>
            <a:chOff x="3849298" y="1201393"/>
            <a:chExt cx="1310140" cy="4405650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8B6B9FF-7B9F-2491-3FC2-CF8C7AD3DBC1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-</a:t>
              </a:r>
              <a:endParaRPr lang="zh-TW" altLang="en-US" dirty="0"/>
            </a:p>
          </p:txBody>
        </p:sp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D054E660-EF42-CBD8-2FA6-2E3298DC2C2D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E0AFB556-52A6-E2AB-18CD-3ADA72D0E04B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5113E01A-30B8-BA91-6D84-593ABFD3736D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6AA99DBC-4A93-596D-730B-1CC8507C53A0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75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247504F2-BFF7-EA0D-04C9-B86B5B3A52E0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2226900-3C29-08A8-EAD2-7664F85C95AE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接點: 肘形 18">
                <a:extLst>
                  <a:ext uri="{FF2B5EF4-FFF2-40B4-BE49-F238E27FC236}">
                    <a16:creationId xmlns:a16="http://schemas.microsoft.com/office/drawing/2014/main" id="{777694FA-BA48-0FF7-8034-2CD9926E19F6}"/>
                  </a:ext>
                </a:extLst>
              </p:cNvPr>
              <p:cNvCxnSpPr>
                <a:cxnSpLocks/>
                <a:stCxn id="13" idx="2"/>
                <a:endCxn id="18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>
                <a:extLst>
                  <a:ext uri="{FF2B5EF4-FFF2-40B4-BE49-F238E27FC236}">
                    <a16:creationId xmlns:a16="http://schemas.microsoft.com/office/drawing/2014/main" id="{7B6BA61C-9084-7884-5020-CEFFC7798120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單箭頭接點 20">
                <a:extLst>
                  <a:ext uri="{FF2B5EF4-FFF2-40B4-BE49-F238E27FC236}">
                    <a16:creationId xmlns:a16="http://schemas.microsoft.com/office/drawing/2014/main" id="{01FBAED6-2D73-EBDC-830A-9878D0105A6B}"/>
                  </a:ext>
                </a:extLst>
              </p:cNvPr>
              <p:cNvCxnSpPr>
                <a:cxnSpLocks/>
                <a:stCxn id="18" idx="0"/>
                <a:endCxn id="12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: 圓角 21">
                <a:extLst>
                  <a:ext uri="{FF2B5EF4-FFF2-40B4-BE49-F238E27FC236}">
                    <a16:creationId xmlns:a16="http://schemas.microsoft.com/office/drawing/2014/main" id="{CB537D79-E32D-F0DE-65D0-E7A6483C7552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3" name="矩形: 圓角 22">
                <a:extLst>
                  <a:ext uri="{FF2B5EF4-FFF2-40B4-BE49-F238E27FC236}">
                    <a16:creationId xmlns:a16="http://schemas.microsoft.com/office/drawing/2014/main" id="{0D7E242E-1815-7182-58FA-019B7787C553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0DD3497E-0FD2-388D-087A-F837807E9DBD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D807B372-9E93-7CCA-D200-CCCF76E64231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AD46D94-09CD-F9AA-F2B7-BEACFE4A0E73}"/>
              </a:ext>
            </a:extLst>
          </p:cNvPr>
          <p:cNvSpPr/>
          <p:nvPr/>
        </p:nvSpPr>
        <p:spPr>
          <a:xfrm>
            <a:off x="5724128" y="4027493"/>
            <a:ext cx="547318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 err="1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CB7A355-21C0-3E1F-35BD-27A7F03ADA4C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3998326"/>
              </p:ext>
            </p:extLst>
          </p:nvPr>
        </p:nvGraphicFramePr>
        <p:xfrm>
          <a:off x="323528" y="1484784"/>
          <a:ext cx="8496944" cy="302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</a:t>
            </a:r>
            <a:r>
              <a:rPr lang="en-US" altLang="zh-CN" sz="1350" b="1" dirty="0" err="1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ReAct</a:t>
            </a:r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 err="1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 err="1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</a:t>
            </a:r>
            <a:r>
              <a:rPr lang="en-US" altLang="zh-CN" sz="600" dirty="0" err="1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Ollama</a:t>
            </a:r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</a:t>
            </a:r>
            <a:r>
              <a:rPr lang="en-US" altLang="zh-CN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lm</a:t>
            </a:r>
            <a:endParaRPr lang="en-US" altLang="zh-CN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9788</Words>
  <Application>Microsoft Office PowerPoint</Application>
  <PresentationFormat>如螢幕大小 (4:3)</PresentationFormat>
  <Paragraphs>1174</Paragraphs>
  <Slides>20</Slides>
  <Notes>19</Notes>
  <HiddenSlides>1</HiddenSlides>
  <MMClips>0</MMClips>
  <ScaleCrop>false</ScaleCrop>
  <HeadingPairs>
    <vt:vector size="6" baseType="variant">
      <vt:variant>
        <vt:lpstr>使用字型</vt:lpstr>
      </vt:variant>
      <vt:variant>
        <vt:i4>13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34" baseType="lpstr">
      <vt:lpstr>Meiryo</vt:lpstr>
      <vt:lpstr>Noto Sans HK</vt:lpstr>
      <vt:lpstr>Noto Sans TC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1685</cp:revision>
  <cp:lastPrinted>2024-07-30T01:44:15Z</cp:lastPrinted>
  <dcterms:created xsi:type="dcterms:W3CDTF">2019-11-08T03:01:47Z</dcterms:created>
  <dcterms:modified xsi:type="dcterms:W3CDTF">2026-07-08T12:49:14Z</dcterms:modified>
</cp:coreProperties>
</file>