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96" r:id="rId10"/>
    <p:sldId id="3506" r:id="rId11"/>
    <p:sldId id="3505" r:id="rId12"/>
    <p:sldId id="3465" r:id="rId13"/>
    <p:sldId id="3482" r:id="rId14"/>
    <p:sldId id="3489" r:id="rId15"/>
    <p:sldId id="3495" r:id="rId16"/>
    <p:sldId id="3503" r:id="rId17"/>
    <p:sldId id="3460" r:id="rId18"/>
    <p:sldId id="3504" r:id="rId1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96"/>
            <p14:sldId id="350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7" autoAdjust="0"/>
  </p:normalViewPr>
  <p:slideViewPr>
    <p:cSldViewPr>
      <p:cViewPr>
        <p:scale>
          <a:sx n="100" d="100"/>
          <a:sy n="100" d="100"/>
        </p:scale>
        <p:origin x="726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tencent.com/developer/article/2245094" TargetMode="External"/><Relationship Id="rId3" Type="http://schemas.openxmlformats.org/officeDocument/2006/relationships/hyperlink" Target="https://aistudio.baidu.com/blog/detail/731024175967365" TargetMode="External"/><Relationship Id="rId7" Type="http://schemas.openxmlformats.org/officeDocument/2006/relationships/hyperlink" Target="https://hackmd.io/@MtkMWTAMStiGb_5Gc8900Q/BJoVM2VCkg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medium.com/@lmpo/an-overview-instruction-tuning-for-llms-440228e7edab" TargetMode="External"/><Relationship Id="rId5" Type="http://schemas.openxmlformats.org/officeDocument/2006/relationships/hyperlink" Target="https://blog.csdn.net/qq_39388410/article/details/128265846" TargetMode="External"/><Relationship Id="rId4" Type="http://schemas.openxmlformats.org/officeDocument/2006/relationships/hyperlink" Target="https://arxiv.org/pdf/2109.01652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ACB4D-EB0C-6F94-5AFB-171B565F6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F19517-2DEC-FC89-C498-25449BA60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FEDAB6F-6B6E-9ECF-4575-0F2CB1462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的演進可以歸納為四大里程碑節點：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2018 - 2020：前身探索（Task-specific Fine-Tuning）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在 BERT 或 GPT-2 時代，微調是針對「單一任務」（如：專門微調一個只會判斷情感的模型）。此時模型還沒有具備統一的通用對話能力。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2021.09：指令微調的誕生（Google FLAN）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Google 發表里程碑論文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FLAN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，首次提出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 Tuning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。他們將數十個標準 NLP 任務全部轉為指令格式來微調模型，證明了「任務微調得越多，模型沒見過的新任務就解得越好」。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4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2022.03：走向人類偏好（OpenAI InstructGPT）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OpenAI 發表論文，利用真實使用者的 Playground 輸入來標註 Q&amp;A。這宣告了 SFT 從「學術任務」走向「模仿真實人類助理的日常對話」。這也是同年底 ChatGPT 震撼世界的底座技術。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2023 - 2024：開源大爆發（Alpaca &amp; LoRA 普及化）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史丹佛大學提出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Alpaca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，展示了如何用 GPT-4 自動生成 SFT 資料（Self-Instruct 蒸餾技術），搭配 LoRA 讓一般人在幾小時內就能微調出自己的 ChatGPT。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dirty="0"/>
          </a:p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0520A4-0224-B3B2-056D-6DA174DF5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39835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[$50]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“10 shares“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Tools in 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515540"/>
              </p:ext>
            </p:extLst>
          </p:nvPr>
        </p:nvGraphicFramePr>
        <p:xfrm>
          <a:off x="3234163" y="3284984"/>
          <a:ext cx="2675673" cy="2860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462308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972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725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100368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245714" y="3861048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341486"/>
              </p:ext>
            </p:extLst>
          </p:nvPr>
        </p:nvGraphicFramePr>
        <p:xfrm>
          <a:off x="812083" y="465313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595420"/>
              </p:ext>
            </p:extLst>
          </p:nvPr>
        </p:nvGraphicFramePr>
        <p:xfrm>
          <a:off x="6327392" y="4996020"/>
          <a:ext cx="1944216" cy="918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0783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842345"/>
              </p:ext>
            </p:extLst>
          </p:nvPr>
        </p:nvGraphicFramePr>
        <p:xfrm>
          <a:off x="3234163" y="1856742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693302"/>
              </p:ext>
            </p:extLst>
          </p:nvPr>
        </p:nvGraphicFramePr>
        <p:xfrm>
          <a:off x="6740869" y="1229251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660232" y="1229252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724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9869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232" y="836712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1575" y="886369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4228" y="836712"/>
            <a:ext cx="360260" cy="3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697390"/>
              </p:ext>
            </p:extLst>
          </p:nvPr>
        </p:nvGraphicFramePr>
        <p:xfrm>
          <a:off x="351199" y="452181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1A4FAC-3FA4-7F32-0DE0-90701BE854FB}"/>
              </a:ext>
            </a:extLst>
          </p:cNvPr>
          <p:cNvSpPr txBox="1"/>
          <p:nvPr/>
        </p:nvSpPr>
        <p:spPr>
          <a:xfrm>
            <a:off x="6507429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(Next Token)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D612F0A-91C3-056E-BCE2-B3E95520AE28}"/>
              </a:ext>
            </a:extLst>
          </p:cNvPr>
          <p:cNvSpPr txBox="1"/>
          <p:nvPr/>
        </p:nvSpPr>
        <p:spPr>
          <a:xfrm>
            <a:off x="5508104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(User)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中括弧 1">
            <a:extLst>
              <a:ext uri="{FF2B5EF4-FFF2-40B4-BE49-F238E27FC236}">
                <a16:creationId xmlns:a16="http://schemas.microsoft.com/office/drawing/2014/main" id="{7F2CD794-D235-521D-97A5-56398293D55C}"/>
              </a:ext>
            </a:extLst>
          </p:cNvPr>
          <p:cNvSpPr/>
          <p:nvPr/>
        </p:nvSpPr>
        <p:spPr>
          <a:xfrm>
            <a:off x="7956376" y="3429000"/>
            <a:ext cx="45719" cy="46032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2697D1-2609-B729-0E6A-3C9C323849AD}"/>
              </a:ext>
            </a:extLst>
          </p:cNvPr>
          <p:cNvSpPr txBox="1"/>
          <p:nvPr/>
        </p:nvSpPr>
        <p:spPr>
          <a:xfrm>
            <a:off x="8100392" y="3529169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E6E43-CC03-2DCD-18D3-87ED0D04D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5B447E22-5A1E-EF0E-F809-322E50BF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845" y="1124744"/>
            <a:ext cx="2367698" cy="1299459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7" name="標題 1">
            <a:extLst>
              <a:ext uri="{FF2B5EF4-FFF2-40B4-BE49-F238E27FC236}">
                <a16:creationId xmlns:a16="http://schemas.microsoft.com/office/drawing/2014/main" id="{ACF18A52-8D6D-846D-45B8-1A03D18B2B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Basic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B424E2B-1F7B-9BB8-1BA7-327F2237D8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372" y="2634995"/>
            <a:ext cx="4578946" cy="159107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1AEB47B-29BC-2902-23BF-A4AE3E97C795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rgbClr val="FF0000"/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E4A6892-55CB-4C86-5E95-D9CB630DD7A7}"/>
              </a:ext>
            </a:extLst>
          </p:cNvPr>
          <p:cNvSpPr txBox="1"/>
          <p:nvPr/>
        </p:nvSpPr>
        <p:spPr>
          <a:xfrm>
            <a:off x="1570425" y="5762224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Model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792581F-C1FE-2FEB-D695-B3EE7FDACE26}"/>
              </a:ext>
            </a:extLst>
          </p:cNvPr>
          <p:cNvSpPr txBox="1"/>
          <p:nvPr/>
        </p:nvSpPr>
        <p:spPr>
          <a:xfrm>
            <a:off x="-71160" y="4832201"/>
            <a:ext cx="881420" cy="756316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[x0, x1, …, </a:t>
            </a:r>
            <a:r>
              <a:rPr lang="en-US" altLang="zh-TW" sz="1200" dirty="0" err="1"/>
              <a:t>xn</a:t>
            </a:r>
            <a:r>
              <a:rPr lang="en-US" altLang="zh-TW" sz="1200" dirty="0"/>
              <a:t> ]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A00EF93E-F122-2C6B-1031-232B6AB9E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03767"/>
              </p:ext>
            </p:extLst>
          </p:nvPr>
        </p:nvGraphicFramePr>
        <p:xfrm>
          <a:off x="2195736" y="4516191"/>
          <a:ext cx="2437328" cy="10723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48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427881" y="241309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4067944" y="1196752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355976" y="249289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67970"/>
              </p:ext>
            </p:extLst>
          </p:nvPr>
        </p:nvGraphicFramePr>
        <p:xfrm>
          <a:off x="1506660" y="2701126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742061"/>
              </p:ext>
            </p:extLst>
          </p:nvPr>
        </p:nvGraphicFramePr>
        <p:xfrm>
          <a:off x="4145424" y="1489980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652017" y="262911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1004716"/>
              </p:ext>
            </p:extLst>
          </p:nvPr>
        </p:nvGraphicFramePr>
        <p:xfrm>
          <a:off x="2274516" y="292234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92751"/>
              </p:ext>
            </p:extLst>
          </p:nvPr>
        </p:nvGraphicFramePr>
        <p:xfrm>
          <a:off x="4142234" y="276154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2860779" y="1461551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5724721"/>
              </p:ext>
            </p:extLst>
          </p:nvPr>
        </p:nvGraphicFramePr>
        <p:xfrm>
          <a:off x="2567670" y="176191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5881010" y="1461551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208041"/>
              </p:ext>
            </p:extLst>
          </p:nvPr>
        </p:nvGraphicFramePr>
        <p:xfrm>
          <a:off x="5580112" y="1752220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644008" y="222173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7014800" y="4249938"/>
            <a:ext cx="422451" cy="52673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P</a:t>
            </a:r>
            <a:r>
              <a:rPr kumimoji="0" lang="en-US" altLang="zh-TW" sz="1400" b="1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2</a:t>
            </a:r>
            <a:r>
              <a:rPr kumimoji="0" lang="en-US" altLang="zh-TW" sz="12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=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3881934" y="170331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360898" y="1703314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073449" y="296808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3881934" y="300149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427881" y="5013176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119300"/>
              </p:ext>
            </p:extLst>
          </p:nvPr>
        </p:nvGraphicFramePr>
        <p:xfrm>
          <a:off x="1506660" y="5301208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652017" y="5229200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278330"/>
              </p:ext>
            </p:extLst>
          </p:nvPr>
        </p:nvGraphicFramePr>
        <p:xfrm>
          <a:off x="2274516" y="5522428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2073449" y="5568166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368675"/>
              </p:ext>
            </p:extLst>
          </p:nvPr>
        </p:nvGraphicFramePr>
        <p:xfrm>
          <a:off x="323527" y="4584039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840790"/>
              </p:ext>
            </p:extLst>
          </p:nvPr>
        </p:nvGraphicFramePr>
        <p:xfrm>
          <a:off x="1101537" y="4005064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407093" y="4183785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733438" y="4184486"/>
            <a:ext cx="716953" cy="399553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0779"/>
              </p:ext>
            </p:extLst>
          </p:nvPr>
        </p:nvGraphicFramePr>
        <p:xfrm>
          <a:off x="323528" y="1484784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01DD0A-FF07-D2B0-AF18-5858432AD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371532"/>
              </p:ext>
            </p:extLst>
          </p:nvPr>
        </p:nvGraphicFramePr>
        <p:xfrm>
          <a:off x="7714270" y="4149080"/>
          <a:ext cx="1106202" cy="102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 Content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510</TotalTime>
  <Words>7373</Words>
  <Application>Microsoft Office PowerPoint</Application>
  <PresentationFormat>如螢幕大小 (4:3)</PresentationFormat>
  <Paragraphs>1000</Paragraphs>
  <Slides>18</Slides>
  <Notes>17</Notes>
  <HiddenSlides>1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1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1680</cp:revision>
  <cp:lastPrinted>2024-07-30T01:44:15Z</cp:lastPrinted>
  <dcterms:created xsi:type="dcterms:W3CDTF">2019-11-08T03:01:47Z</dcterms:created>
  <dcterms:modified xsi:type="dcterms:W3CDTF">2026-07-06T09:50:53Z</dcterms:modified>
</cp:coreProperties>
</file>