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06"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9"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06"/>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9"/>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21587"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2026/7/15</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2026/7/15</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61.png"/><Relationship Id="rId5" Type="http://schemas.openxmlformats.org/officeDocument/2006/relationships/image" Target="../media/image150.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27.png"/><Relationship Id="rId5" Type="http://schemas.openxmlformats.org/officeDocument/2006/relationships/image" Target="../media/image26.sv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14435"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FFNN</a:t>
            </a:r>
          </a:p>
          <a:p>
            <a:pPr marL="111125" lvl="2">
              <a:lnSpc>
                <a:spcPts val="1000"/>
              </a:lnSpc>
              <a:buFont typeface="Arial" panose="020B0604020202020204" pitchFamily="34" charset="0"/>
              <a:buChar char="•"/>
            </a:pPr>
            <a:r>
              <a:rPr lang="en-US" altLang="zh-TW" sz="1000" dirty="0"/>
              <a:t> Token Embedding</a:t>
            </a:r>
          </a:p>
          <a:p>
            <a:pPr marL="111125" lvl="2">
              <a:lnSpc>
                <a:spcPts val="1000"/>
              </a:lnSpc>
              <a:buFont typeface="Arial" panose="020B0604020202020204" pitchFamily="34" charset="0"/>
              <a:buChar char="•"/>
            </a:pPr>
            <a:r>
              <a:rPr lang="en-US" altLang="zh-TW" sz="1000" dirty="0"/>
              <a:t> Rotary of PE</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LLM</a:t>
            </a:r>
          </a:p>
          <a:p>
            <a:pPr marL="111125" lvl="2">
              <a:lnSpc>
                <a:spcPts val="10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000"/>
              </a:lnSpc>
              <a:buFont typeface="Wingdings" panose="05000000000000000000" pitchFamily="2" charset="2"/>
              <a:buChar char="Ø"/>
            </a:pPr>
            <a:r>
              <a:rPr lang="en-US" altLang="zh-TW" sz="1000" b="1" dirty="0"/>
              <a:t> Gemma 3</a:t>
            </a:r>
          </a:p>
          <a:p>
            <a:pPr marL="111125" lvl="2">
              <a:lnSpc>
                <a:spcPts val="1000"/>
              </a:lnSpc>
              <a:buFont typeface="Arial" panose="020B0604020202020204" pitchFamily="34" charset="0"/>
              <a:buChar char="•"/>
              <a:defRPr/>
            </a:pPr>
            <a:r>
              <a:rPr lang="en-US" altLang="zh-TW" sz="1000" dirty="0">
                <a:solidFill>
                  <a:prstClr val="black"/>
                </a:solidFill>
              </a:rPr>
              <a:t> Supervised FT</a:t>
            </a:r>
          </a:p>
          <a:p>
            <a:pPr marL="111125" lvl="2">
              <a:lnSpc>
                <a:spcPts val="10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000"/>
              </a:lnSpc>
              <a:buFont typeface="Wingdings" panose="05000000000000000000" pitchFamily="2" charset="2"/>
              <a:buChar char="Ø"/>
            </a:pPr>
            <a:r>
              <a:rPr lang="en-US" altLang="zh-TW" sz="1000" b="1" dirty="0"/>
              <a:t> Gemma 4</a:t>
            </a:r>
          </a:p>
          <a:p>
            <a:pPr marL="111125" lvl="2">
              <a:lnSpc>
                <a:spcPts val="1000"/>
              </a:lnSpc>
              <a:buFont typeface="Arial" panose="020B0604020202020204" pitchFamily="34" charset="0"/>
              <a:buChar char="•"/>
              <a:defRPr/>
            </a:pPr>
            <a:r>
              <a:rPr lang="en-US" altLang="zh-TW" sz="1000" dirty="0"/>
              <a:t> PLE </a:t>
            </a:r>
          </a:p>
          <a:p>
            <a:pPr marL="111125" lvl="2">
              <a:lnSpc>
                <a:spcPts val="1000"/>
              </a:lnSpc>
              <a:buFont typeface="Arial" panose="020B0604020202020204" pitchFamily="34" charset="0"/>
              <a:buChar char="•"/>
              <a:defRPr/>
            </a:pPr>
            <a:r>
              <a:rPr lang="en-US" altLang="zh-TW" sz="1000" dirty="0">
                <a:solidFill>
                  <a:prstClr val="black"/>
                </a:solidFill>
              </a:rPr>
              <a:t> Comparison</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grpId="2" nodeType="clickEffect">
                                  <p:stCondLst>
                                    <p:cond delay="0"/>
                                  </p:stCondLst>
                                  <p:childTnLst>
                                    <p:set>
                                      <p:cBhvr>
                                        <p:cTn id="80" dur="1" fill="hold">
                                          <p:stCondLst>
                                            <p:cond delay="0"/>
                                          </p:stCondLst>
                                        </p:cTn>
                                        <p:tgtEl>
                                          <p:spTgt spid="2">
                                            <p:bg/>
                                          </p:spTgt>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3" presetClass="emph" presetSubtype="2" fill="hold" grpId="0" nodeType="clickEffect">
                                  <p:stCondLst>
                                    <p:cond delay="0"/>
                                  </p:stCondLst>
                                  <p:childTnLst>
                                    <p:animClr clrSpc="rgb" dir="cw">
                                      <p:cBhvr override="childStyle">
                                        <p:cTn id="84"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3"/>
                                            </p:cond>
                                          </p:stCondLst>
                                          <p:endCondLst>
                                            <p:cond evt="onStopAudio" delay="0">
                                              <p:tgtEl>
                                                <p:sldTgt/>
                                              </p:tgtEl>
                                            </p:cond>
                                          </p:endCondLst>
                                        </p:cTn>
                                        <p:tgtEl>
                                          <p:sndTgt r:embed="rId3" name="type.wav"/>
                                        </p:tgtEl>
                                      </p:cMediaNode>
                                    </p:audio>
                                  </p:sub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0" nodeType="withEffect">
                                  <p:stCondLst>
                                    <p:cond delay="0"/>
                                  </p:stCondLst>
                                  <p:childTnLst>
                                    <p:animClr clrSpc="rgb" dir="cw">
                                      <p:cBhvr override="childStyle">
                                        <p:cTn id="9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7" end="7"/>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9" end="9"/>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10" end="10"/>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1" end="11"/>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2" end="12"/>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2BA49FA9-47A4-8514-A5A1-20E1A6BF6218}"/>
              </a:ext>
            </a:extLst>
          </p:cNvPr>
          <p:cNvSpPr txBox="1"/>
          <p:nvPr/>
        </p:nvSpPr>
        <p:spPr>
          <a:xfrm>
            <a:off x="845586" y="1120676"/>
            <a:ext cx="7452828" cy="4524315"/>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Trend</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Analysis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4</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Edge AI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a:t>
            </a:r>
            <a:r>
              <a:rPr lang="zh-TW" altLang="zh-TW" sz="1200" dirty="0">
                <a:solidFill>
                  <a:schemeClr val="bg1">
                    <a:lumMod val="75000"/>
                  </a:schemeClr>
                </a:solidFill>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Gemma 4 Family was born for Edge AI!)</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QAD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(Quantization-Aware Distillation)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(Quantized Low-Rank Adaptation)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Comparison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(Llama 4, Deep Seek)</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Tree>
    <p:extLst>
      <p:ext uri="{BB962C8B-B14F-4D97-AF65-F5344CB8AC3E}">
        <p14:creationId xmlns:p14="http://schemas.microsoft.com/office/powerpoint/2010/main" val="427710211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3">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3">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3">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3">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3">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3">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3">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3">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3">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3">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3">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3">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3">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3">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3">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3">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3">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3">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3">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3">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3">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3">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3">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3">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3">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3">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0" nodeType="withEffect">
                                  <p:stCondLst>
                                    <p:cond delay="0"/>
                                  </p:stCondLst>
                                  <p:childTnLst>
                                    <p:animClr clrSpc="rgb" dir="cw">
                                      <p:cBhvr override="childStyle">
                                        <p:cTn id="66" dur="500" fill="hold"/>
                                        <p:tgtEl>
                                          <p:spTgt spid="3">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3">
                                            <p:txEl>
                                              <p:pRg st="12" end="12"/>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3">
                                            <p:txEl>
                                              <p:pRg st="13" end="13"/>
                                            </p:txEl>
                                          </p:spTgt>
                                        </p:tgtEl>
                                        <p:attrNameLst>
                                          <p:attrName>style.color</p:attrName>
                                        </p:attrNameLst>
                                      </p:cBhvr>
                                      <p:to>
                                        <a:srgbClr val="D8A09C"/>
                                      </p:to>
                                    </p:animClr>
                                  </p:childTnLst>
                                </p:cTn>
                              </p:par>
                              <p:par>
                                <p:cTn id="71" presetID="3" presetClass="emph" presetSubtype="2" fill="hold" grpId="1" nodeType="withEffect">
                                  <p:stCondLst>
                                    <p:cond delay="0"/>
                                  </p:stCondLst>
                                  <p:childTnLst>
                                    <p:animClr clrSpc="rgb" dir="cw">
                                      <p:cBhvr override="childStyle">
                                        <p:cTn id="72" dur="2000" fill="hold"/>
                                        <p:tgtEl>
                                          <p:spTgt spid="3">
                                            <p:txEl>
                                              <p:pRg st="14" end="14"/>
                                            </p:txEl>
                                          </p:spTgt>
                                        </p:tgtEl>
                                        <p:attrNameLst>
                                          <p:attrName>style.color</p:attrName>
                                        </p:attrNameLst>
                                      </p:cBhvr>
                                      <p:to>
                                        <a:srgbClr val="D8A09C"/>
                                      </p:to>
                                    </p:animClr>
                                  </p:childTnLst>
                                </p:cTn>
                              </p:par>
                            </p:childTnLst>
                          </p:cTn>
                        </p:par>
                      </p:childTnLst>
                    </p:cTn>
                  </p:par>
                  <p:par>
                    <p:cTn id="73" fill="hold">
                      <p:stCondLst>
                        <p:cond delay="indefinite"/>
                      </p:stCondLst>
                      <p:childTnLst>
                        <p:par>
                          <p:cTn id="74" fill="hold">
                            <p:stCondLst>
                              <p:cond delay="0"/>
                            </p:stCondLst>
                            <p:childTnLst>
                              <p:par>
                                <p:cTn id="75" presetID="1" presetClass="exit" presetSubtype="0" fill="hold" grpId="2" nodeType="clickEffect">
                                  <p:stCondLst>
                                    <p:cond delay="0"/>
                                  </p:stCondLst>
                                  <p:childTnLst>
                                    <p:set>
                                      <p:cBhvr>
                                        <p:cTn id="76" dur="1" fill="hold">
                                          <p:stCondLst>
                                            <p:cond delay="0"/>
                                          </p:stCondLst>
                                        </p:cTn>
                                        <p:tgtEl>
                                          <p:spTgt spid="3">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3" grpId="1" uiExpand="1" build="allAtOnce"/>
      <p:bldP spid="3"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361638" y="1636417"/>
            <a:ext cx="3314818" cy="1144511"/>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352169"/>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713911"/>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1885549"/>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520904"/>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507436"/>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1920387"/>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160412"/>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529995"/>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520696"/>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1936091"/>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32494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961612"/>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577662" y="784561"/>
            <a:ext cx="1508519" cy="535795"/>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864816" y="1002417"/>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766006"/>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762745"/>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997615"/>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115265"/>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193336"/>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193336"/>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459296" y="1853187"/>
            <a:ext cx="3082897" cy="832958"/>
            <a:chOff x="5233519" y="1844824"/>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4804"/>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52068"/>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44824"/>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8763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828616"/>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3895100"/>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3889215"/>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161656"/>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161656"/>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256661"/>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08700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034694"/>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266186"/>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18696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190400"/>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243360"/>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17848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861048"/>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073681"/>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095118"/>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095119"/>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095119"/>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285427" y="76795"/>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5778339" y="568537"/>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386242"/>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2959197"/>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28972" y="1678885"/>
            <a:ext cx="288032"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09751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230282"/>
            <a:ext cx="510357" cy="868383"/>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1760240"/>
            <a:ext cx="510357" cy="33842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098665"/>
            <a:ext cx="510357" cy="190783"/>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257232"/>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001682"/>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066448"/>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1531640"/>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1628800"/>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060848"/>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146568"/>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11216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112168"/>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1674520"/>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192288"/>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1674520"/>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19228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001682"/>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1531640"/>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060848"/>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068960"/>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076891"/>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068960"/>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135289"/>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05756" y="84128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628918"/>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06896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068960"/>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23037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230372"/>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620854424"/>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1430</TotalTime>
  <Words>6981</Words>
  <Application>Microsoft Office PowerPoint</Application>
  <PresentationFormat>如螢幕大小 (4:3)</PresentationFormat>
  <Paragraphs>1187</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1746</cp:revision>
  <cp:lastPrinted>2024-07-30T01:44:15Z</cp:lastPrinted>
  <dcterms:created xsi:type="dcterms:W3CDTF">2019-11-08T03:01:47Z</dcterms:created>
  <dcterms:modified xsi:type="dcterms:W3CDTF">2026-07-15T09:33:13Z</dcterms:modified>
</cp:coreProperties>
</file>