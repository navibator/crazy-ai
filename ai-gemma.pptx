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521" r:id="rId7"/>
    <p:sldId id="3520" r:id="rId8"/>
    <p:sldId id="3518" r:id="rId9"/>
    <p:sldId id="3475" r:id="rId10"/>
    <p:sldId id="3465" r:id="rId11"/>
    <p:sldId id="3515" r:id="rId12"/>
    <p:sldId id="3505" r:id="rId13"/>
    <p:sldId id="3514" r:id="rId14"/>
    <p:sldId id="3482" r:id="rId15"/>
    <p:sldId id="3489" r:id="rId16"/>
    <p:sldId id="3519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Edge AI" id="{C5ADF914-F8F1-4215-8A34-A521DDB15BBF}">
          <p14:sldIdLst>
            <p14:sldId id="3502"/>
            <p14:sldId id="3499"/>
            <p14:sldId id="3444"/>
            <p14:sldId id="3521"/>
            <p14:sldId id="3520"/>
            <p14:sldId id="3518"/>
            <p14:sldId id="3475"/>
          </p14:sldIdLst>
        </p14:section>
        <p14:section name="Gemma" id="{5A048767-0D58-44AF-B962-12C29493294F}">
          <p14:sldIdLst>
            <p14:sldId id="3465"/>
            <p14:sldId id="3515"/>
            <p14:sldId id="3505"/>
            <p14:sldId id="3514"/>
            <p14:sldId id="3482"/>
            <p14:sldId id="3489"/>
          </p14:sldIdLst>
        </p14:section>
        <p14:section name="Conclusion" id="{69C35067-BEF2-4B7C-9B54-B6977EB05C72}">
          <p14:sldIdLst>
            <p14:sldId id="3519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FF"/>
    <a:srgbClr val="FF0000"/>
    <a:srgbClr val="CCFF66"/>
    <a:srgbClr val="DCE6F2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406" autoAdjust="0"/>
    <p:restoredTop sz="38667" autoAdjust="0"/>
  </p:normalViewPr>
  <p:slideViewPr>
    <p:cSldViewPr>
      <p:cViewPr>
        <p:scale>
          <a:sx n="100" d="100"/>
          <a:sy n="100" d="100"/>
        </p:scale>
        <p:origin x="1446" y="594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81A17-90A7-9331-3F44-AE3CEE56D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054187F-DC36-B286-6A5E-3E08FF7E43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1273D078-FC4B-EEEB-EC56-F89C13CBA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5DF597F-45FE-5CE4-D640-6655A52604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692754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FA828-BB81-20B9-F8FF-D51EE5A55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1EB7EF0-23BF-7613-C8F0-A77854388C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1DE388F-6C85-7B21-1F63-CC5157628D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我們可以從以下四個最關鍵的維度，來看各個推理引擎的本質差異：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速度與吞吐量（Throughput）的巨大落差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SGLang（API 伺服器之王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內建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PagedAttention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專為「多人同時使用」設計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單機之王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它沒有高併發優化，如果 100 個人同時連進來，它會排隊排到天荒地老。但如果是「你一個人」在電腦前用，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Time-to-First-Token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非常快。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硬體支援度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底層優化對象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zh-TW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TensorRT-LLM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Nvidia 官方的硬體作弊外掛。它會把 Llama 的矩陣乘法，直接編譯成特定 GPU（如 A100 或 RTX 4090）的最底層硬體指令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是所有引擎中最快的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llama.cpp / 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：主打「什麼硬體都能跑」。它的底層是用 C++ 寫的，對 Apple Silicon的神經網路引擎和記憶體頻寬做了神級優化。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OpenVINO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Intel 的專屬引擎，專門把 Llama 優化在 Intel Xeon 處理器、Intel Ultra 筆電晶片或 Arc 顯卡上執行。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動態外掛（Multi-LoRA）的支援能力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如果你微調了好多個不同功能的 LoRA 外掛（例如一個負責寫信、一個負責寫程式、一個負責客服）：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vLLM / 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：支援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「動態熱插拔 Multi-LoRA」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。伺服器記憶體裡只需要載入一個 Llama 基底模型，當 A 請求需要客服、B 請求需要寫程式時，引擎可以在微秒等級內動態切換計算圖分支。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 / 傳統引擎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：通常不支援或支援得很差。你可能必須為了客服開一個 15GB 的模型服務，為了寫程式又開另一個 15GB 的模型服務，極度浪費顯存（VRAM）。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功能性與生態系（開發便利度）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Ollama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：主打「零設定」。它把複雜的編譯、權重載入、硬體分配全部包裝起來。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SGLang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：主打「複雜 Prompt 與 Agent 加速」。SGLang 的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RadixAttention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技術會把那些重複的系統提示詞（System Prompt）永遠快取在顯存裡。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5C79EC1-ECFE-2D05-74F8-6C0BB1DEFB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2420787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C430-FB32-5602-3DB0-5E8B5F79D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B763E16-AD96-B65B-01CE-46AB664453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75913C2-1FFD-6EC2-6E74-DAE194F03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本頁亮點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Optimizer, Quantization-Aware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SGD (Stochastic Gradient Descent)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：記憶體佔用極低。除了模型參數本身，只需要額外儲存 1 份動量（Momentum）數據。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：固定學習率很難收斂，調參非常痛苦。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Standard Adam (Adaptive Moment Estimation)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：為每個參數精準調整步長，收斂速度極快。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：在加入 L2 正規化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Weight Decay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其數學公式會把權重衰減與梯度放在一起計算，導致權重並未如預期般衰減，容易過擬合。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AdamW (Adam with Weight Decoupled)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：完美解決了 Adam 的 L2 正規化問題。它將權重衰減的步驟獨立出來，既保留了 Adam 快速收斂的特性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又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泛化能力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Generalization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。目前 95% 以上的 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 LLaMA, GPT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預訓練預設都用它。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：非常吃顯存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。除了模型參數，它還必須在顯存中常駐一階矩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FP32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這往往是顯存爆炸的主因。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Paged AdamW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：數學邏輯與 AdamW 完全相同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但它允許 GPU 在顯存不夠時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把 AdamW 的優化器狀態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一、二階矩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暫時換出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Page-out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到電腦的系統記憶體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中。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：因為資料需要透過 PCIe 總線在 GPU 和 CPU 之間來回搬運，訓練速度會比原生 AdamW 慢 10% ~ 30% 不等。</a:t>
            </a:r>
          </a:p>
          <a:p>
            <a:endParaRPr lang="zh-TW" altLang="zh-TW" dirty="0"/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QAT（Quantization-Aware Training，量化感知訓練）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zh-TW" altLang="zh-TW" dirty="0"/>
              <a:t>是一種 AI 模型優化技術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。它在訓練過程中模擬低精度（如 INT8）的誤差，讓神經網路提前「適應」量化損失。相較於直接量化，這能大幅減少精準度下降，常用於邊緣設備。</a:t>
            </a:r>
            <a:br>
              <a:rPr lang="en-US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核心原理與運作方式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偽量化（Fake Quantization）：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在訓練階段，將高精度（通常為 FP32）的權重與激活值壓縮為低精度（如 INT8），計算完後再解壓縮回高精度。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模擬誤差：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讓模型在訓練時就能察覺到量化所產生的噪聲（Noise），並學會自我調整去彌補這些誤差。 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權重更新：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為了在不可微分的量化函數下進行反向傳播（Backpropagation），QAT 使用直通估計器（Straight-Through Estimator, STE）來順利更新權重。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STE（Straight-Through Estimator，直通估計器）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是深度學習中用於解決「不可微分函數」反向傳播問題的一種特殊技巧。在模型量化（如 QAT）或二值化神經網路（BNN）中，它是不可或缺的核心機制。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數學困境：</a:t>
            </a:r>
            <a:r>
              <a:rPr lang="zh-TW" altLang="zh-TW" dirty="0"/>
              <a:t> 階梯函數的導數（梯度）在絕大多數地方都是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zh-TW" altLang="zh-TW" dirty="0"/>
              <a:t>，而在跳躍的邊界點則是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無限大（不存在）</a:t>
            </a:r>
            <a:r>
              <a:rPr lang="zh-TW" altLang="zh-TW" dirty="0"/>
              <a:t>。</a:t>
            </a:r>
            <a:br>
              <a:rPr lang="zh-TW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💡 STE 的運作原理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STE 的核心思想非常直接且「粗暴」：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在正向傳播時使用量化函數，但在反向傳播時，直接假裝量化函數不存在。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正向傳播（Forward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正常執行量化運算（例如將 2.7 四捨五入變成 3），讓模型體驗低精度帶來的誤差與噪聲。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反向傳播（Backward Pass）：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當梯度傳回來到這個量化節點時，STE 直接將梯度「原封不動」地傳遞過去（相當於假設該節點的導數為 1）。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簡單來說，它就像是在反向傳播時，在不可微分的階梯函數上架了一座「直通橋梁」，讓梯度順利通過並更新前一層的 FP32 權重。</a:t>
            </a:r>
          </a:p>
          <a:p>
            <a:endParaRPr lang="zh-TW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optimizer, 作法</a:t>
            </a:r>
          </a:p>
          <a:p>
            <a:pPr rt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Adam（Adaptive Moment Estimation，自適應動態矩量估計）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結合了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Momentum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動態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RMSprop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均方根傳播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的優點，既能像動態法一樣衝過局部最小值，又能為每個參數獨立調整學習率。</a:t>
            </a: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2FE20-B45B-F4FE-5FF4-77187FF080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965032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797C2-856D-7C78-822E-DA2B9845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01D36F-2A90-C039-12E9-94ACB21359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D287985-DD70-EAFB-BA76-359D9B2CA1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B8C7DA-B5D4-A1F6-335B-4A2BE3F7BA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92126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Trainium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/>
              <a:t>Trainium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eXchange).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2026/7/22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svg"/><Relationship Id="rId4" Type="http://schemas.openxmlformats.org/officeDocument/2006/relationships/image" Target="../media/image20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7" Type="http://schemas.openxmlformats.org/officeDocument/2006/relationships/image" Target="../media/image27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svg"/><Relationship Id="rId5" Type="http://schemas.openxmlformats.org/officeDocument/2006/relationships/image" Target="../media/image25.svg"/><Relationship Id="rId4" Type="http://schemas.openxmlformats.org/officeDocument/2006/relationships/image" Target="../media/image2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jpe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9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1.png"/><Relationship Id="rId5" Type="http://schemas.openxmlformats.org/officeDocument/2006/relationships/image" Target="../media/image230.png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4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340768"/>
            <a:ext cx="74528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(Environment of AI Agent, SLM, LLM, RAG and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(Model Context Protocol)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(Retrieval Augmented Generation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SLM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(Small Language Model)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Emerging Trends in AI Systems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(Edge AI)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Family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Cloud: Gemini </a:t>
            </a:r>
            <a:r>
              <a:rPr lang="zh-TW" altLang="zh-TW" sz="1200" dirty="0">
                <a:solidFill>
                  <a:schemeClr val="bg1">
                    <a:lumMod val="75000"/>
                  </a:schemeClr>
                </a:solidFill>
              </a:rPr>
              <a:t>➔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Agent: Gemma 4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Fine-Tuning: PEFT)</a:t>
            </a:r>
            <a:endParaRPr lang="en-US" altLang="zh-TW" dirty="0"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PEFT: QLoRA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(Memory-efficient tuning via 4-bit quantized base models)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PEFT: DoRA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(Decoupled weight learning matching full fine-tuning performance.)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4: 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Code Intelligence Benchmarking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(LiveCodeBench)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Building a Bio-IT AI Agent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(Select model and FT framework)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8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3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6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0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7955689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Router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2987802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of MR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D5FBE2F2-1040-BE2C-2C2E-7066E339EACC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9621121"/>
              </p:ext>
            </p:extLst>
          </p:nvPr>
        </p:nvGraphicFramePr>
        <p:xfrm>
          <a:off x="6444208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Vanilla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 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 Wiki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 Asset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B812E67-743B-F13D-2FC6-D1A10ED6204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flipH="1">
            <a:off x="6516216" y="4751084"/>
            <a:ext cx="406453" cy="382591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80F2CF-11A7-726A-D27F-288DAEACC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圓角 3">
            <a:extLst>
              <a:ext uri="{FF2B5EF4-FFF2-40B4-BE49-F238E27FC236}">
                <a16:creationId xmlns:a16="http://schemas.microsoft.com/office/drawing/2014/main" id="{9182C9CB-190C-B5DD-2D63-BF54E7B24615}"/>
              </a:ext>
            </a:extLst>
          </p:cNvPr>
          <p:cNvSpPr/>
          <p:nvPr/>
        </p:nvSpPr>
        <p:spPr>
          <a:xfrm>
            <a:off x="3779912" y="1700809"/>
            <a:ext cx="1224934" cy="1800199"/>
          </a:xfrm>
          <a:prstGeom prst="roundRect">
            <a:avLst>
              <a:gd name="adj" fmla="val 8706"/>
            </a:avLst>
          </a:prstGeom>
          <a:solidFill>
            <a:schemeClr val="accent4">
              <a:lumMod val="5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99FF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LLM Wiki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1" i="0" u="none" strike="noStrike" kern="1200" cap="none" spc="0" normalizeH="0" baseline="0" noProof="0" dirty="0">
              <a:ln>
                <a:noFill/>
              </a:ln>
              <a:solidFill>
                <a:srgbClr val="FF99FF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F92D9B42-3B09-1CD3-3E9A-F0CD5AE15C1A}"/>
              </a:ext>
            </a:extLst>
          </p:cNvPr>
          <p:cNvSpPr txBox="1"/>
          <p:nvPr/>
        </p:nvSpPr>
        <p:spPr>
          <a:xfrm>
            <a:off x="512390" y="1653482"/>
            <a:ext cx="1224934" cy="880037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endParaRPr lang="en-US" altLang="zh-TW" sz="1200" b="1" dirty="0"/>
          </a:p>
          <a:p>
            <a:pPr algn="ctr">
              <a:lnSpc>
                <a:spcPts val="1400"/>
              </a:lnSpc>
            </a:pPr>
            <a:r>
              <a:rPr lang="en-US" altLang="zh-TW" sz="1400" b="1" dirty="0"/>
              <a:t>AI Agent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C350211F-8F9D-C9F9-1FDE-5B97D695C1C8}"/>
              </a:ext>
            </a:extLst>
          </p:cNvPr>
          <p:cNvSpPr txBox="1"/>
          <p:nvPr/>
        </p:nvSpPr>
        <p:spPr>
          <a:xfrm>
            <a:off x="213023" y="5048016"/>
            <a:ext cx="6807249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Human-in-the-Loop Framework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Ingest(raw)</a:t>
            </a:r>
            <a:r>
              <a:rPr lang="en-US" altLang="zh-TW" sz="1200" b="1" dirty="0"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lang="en-US" altLang="zh-TW" sz="1600" b="1" dirty="0"/>
              <a:t> Instruct(C/Q/L)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Review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➔ </a:t>
            </a: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Setup(schema)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GitHub: </a:t>
            </a:r>
            <a:r>
              <a:rPr lang="en-US" altLang="zh-TW" sz="1600" dirty="0" err="1"/>
              <a:t>nashsu</a:t>
            </a:r>
            <a:r>
              <a:rPr lang="en-US" altLang="zh-TW" sz="1600" dirty="0"/>
              <a:t>/</a:t>
            </a:r>
            <a:r>
              <a:rPr lang="en-US" altLang="zh-TW" sz="1600" dirty="0" err="1"/>
              <a:t>llm_wiki</a:t>
            </a:r>
            <a:r>
              <a:rPr lang="en-US" altLang="zh-TW" sz="1600" dirty="0"/>
              <a:t>, </a:t>
            </a:r>
            <a:r>
              <a:rPr lang="en-US" altLang="zh-TW" sz="1600" u="none" strike="noStrike" dirty="0" err="1">
                <a:effectLst/>
              </a:rPr>
              <a:t>atomicstrata</a:t>
            </a:r>
            <a:r>
              <a:rPr lang="en-US" altLang="zh-TW" sz="1600" u="none" strike="noStrike" dirty="0">
                <a:effectLst/>
              </a:rPr>
              <a:t>/</a:t>
            </a:r>
            <a:r>
              <a:rPr lang="en-US" altLang="zh-TW" sz="1600" u="none" strike="noStrike" dirty="0" err="1">
                <a:effectLst/>
              </a:rPr>
              <a:t>llm</a:t>
            </a:r>
            <a:r>
              <a:rPr lang="en-US" altLang="zh-TW" sz="1600" u="none" strike="noStrike" dirty="0">
                <a:effectLst/>
              </a:rPr>
              <a:t>-wiki-compiler, </a:t>
            </a:r>
            <a:r>
              <a:rPr lang="en-US" altLang="zh-TW" sz="1600" dirty="0"/>
              <a:t>Knowledge-vault.</a:t>
            </a:r>
          </a:p>
        </p:txBody>
      </p:sp>
      <p:sp>
        <p:nvSpPr>
          <p:cNvPr id="28" name="標題 1">
            <a:extLst>
              <a:ext uri="{FF2B5EF4-FFF2-40B4-BE49-F238E27FC236}">
                <a16:creationId xmlns:a16="http://schemas.microsoft.com/office/drawing/2014/main" id="{9F314D84-1AAB-B228-251F-99F15D589F7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</a:t>
            </a:r>
            <a:r>
              <a:rPr kumimoji="0" lang="zh-TW" alt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Wiki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LLMs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eliminate the boring bookkeeping of knowledge management, ensuring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wikis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grow effortlessly.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92738DE3-C538-771F-1E0C-B8B7C3311206}"/>
              </a:ext>
            </a:extLst>
          </p:cNvPr>
          <p:cNvSpPr txBox="1"/>
          <p:nvPr/>
        </p:nvSpPr>
        <p:spPr>
          <a:xfrm>
            <a:off x="713958" y="2847964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4F7827C-F186-7D7D-4FA3-D9FA4AE1A51F}"/>
              </a:ext>
            </a:extLst>
          </p:cNvPr>
          <p:cNvSpPr/>
          <p:nvPr/>
        </p:nvSpPr>
        <p:spPr>
          <a:xfrm>
            <a:off x="1475023" y="2356725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407DB130-C749-D9E8-D70D-CEB8209A0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32052"/>
              </p:ext>
            </p:extLst>
          </p:nvPr>
        </p:nvGraphicFramePr>
        <p:xfrm>
          <a:off x="5148064" y="1735012"/>
          <a:ext cx="3266106" cy="1731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610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224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Andrej </a:t>
                      </a:r>
                      <a:r>
                        <a:rPr lang="en-US" altLang="zh-TW" sz="16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Karpathy’s</a:t>
                      </a: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Gist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313227"/>
                  </a:ext>
                </a:extLst>
              </a:tr>
              <a:tr h="2120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level: Raw / Wiki / Schema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Raw stores assets, Wiki compiles knowledge, and Schema directs the AI Agent.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Instruct: Compile / Query / Lint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611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Compile integrate data, Query retrieves insights, and Lint audits the final knowledge base.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A7F2C415-DBCE-468D-EE83-BADC8BFEB6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4033066" y="2176499"/>
            <a:ext cx="718626" cy="676437"/>
          </a:xfrm>
          <a:prstGeom prst="rect">
            <a:avLst/>
          </a:prstGeom>
          <a:effectLst>
            <a:glow rad="25400">
              <a:schemeClr val="accent4">
                <a:lumMod val="60000"/>
                <a:lumOff val="40000"/>
                <a:alpha val="40000"/>
              </a:schemeClr>
            </a:glow>
            <a:softEdge rad="31750"/>
          </a:effectLst>
        </p:spPr>
      </p:pic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96593FAD-CC06-C829-3F7E-087D4EC457BE}"/>
              </a:ext>
            </a:extLst>
          </p:cNvPr>
          <p:cNvCxnSpPr>
            <a:cxnSpLocks/>
            <a:stCxn id="4" idx="1"/>
            <a:endCxn id="105" idx="3"/>
          </p:cNvCxnSpPr>
          <p:nvPr/>
        </p:nvCxnSpPr>
        <p:spPr>
          <a:xfrm flipH="1" flipV="1">
            <a:off x="1979712" y="2600908"/>
            <a:ext cx="1800200" cy="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圖形 38" descr="科學思想 以實心填滿">
            <a:extLst>
              <a:ext uri="{FF2B5EF4-FFF2-40B4-BE49-F238E27FC236}">
                <a16:creationId xmlns:a16="http://schemas.microsoft.com/office/drawing/2014/main" id="{EA236300-D8AB-566A-3CE5-C7422D3D1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10230" y="1725491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7702053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BEB54-E13D-0276-16FE-3B8439DAEC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表格 21">
            <a:extLst>
              <a:ext uri="{FF2B5EF4-FFF2-40B4-BE49-F238E27FC236}">
                <a16:creationId xmlns:a16="http://schemas.microsoft.com/office/drawing/2014/main" id="{78C81D66-7DBF-D198-FAB7-3DFAAD6B25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1323926"/>
              </p:ext>
            </p:extLst>
          </p:nvPr>
        </p:nvGraphicFramePr>
        <p:xfrm>
          <a:off x="5984016" y="5308267"/>
          <a:ext cx="1369755" cy="1158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975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Edge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Engine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6858249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Ollama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llama.cpp (Geek)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 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6317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ONNX Runtime (MS)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1102146"/>
                  </a:ext>
                </a:extLst>
              </a:tr>
            </a:tbl>
          </a:graphicData>
        </a:graphic>
      </p:graphicFrame>
      <p:cxnSp>
        <p:nvCxnSpPr>
          <p:cNvPr id="16" name="直線單箭頭接點 15">
            <a:extLst>
              <a:ext uri="{FF2B5EF4-FFF2-40B4-BE49-F238E27FC236}">
                <a16:creationId xmlns:a16="http://schemas.microsoft.com/office/drawing/2014/main" id="{249B7A46-0ED9-7ED9-7510-EE78F29FE5F5}"/>
              </a:ext>
            </a:extLst>
          </p:cNvPr>
          <p:cNvCxnSpPr>
            <a:cxnSpLocks/>
            <a:stCxn id="15" idx="3"/>
            <a:endCxn id="11" idx="1"/>
          </p:cNvCxnSpPr>
          <p:nvPr/>
        </p:nvCxnSpPr>
        <p:spPr>
          <a:xfrm flipV="1">
            <a:off x="3005148" y="2758040"/>
            <a:ext cx="3223036" cy="477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文字方塊 2">
            <a:extLst>
              <a:ext uri="{FF2B5EF4-FFF2-40B4-BE49-F238E27FC236}">
                <a16:creationId xmlns:a16="http://schemas.microsoft.com/office/drawing/2014/main" id="{A4DB92DA-78BD-3302-8B24-83FB829FB96B}"/>
              </a:ext>
            </a:extLst>
          </p:cNvPr>
          <p:cNvSpPr txBox="1"/>
          <p:nvPr/>
        </p:nvSpPr>
        <p:spPr>
          <a:xfrm>
            <a:off x="2123728" y="3846670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SFT &amp;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Quantization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(Edge AI)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132786DE-BC20-A5F8-DB31-949D81B2F497}"/>
              </a:ext>
            </a:extLst>
          </p:cNvPr>
          <p:cNvSpPr txBox="1"/>
          <p:nvPr/>
        </p:nvSpPr>
        <p:spPr>
          <a:xfrm>
            <a:off x="6228184" y="2379882"/>
            <a:ext cx="881420" cy="756316"/>
          </a:xfrm>
          <a:prstGeom prst="rect">
            <a:avLst/>
          </a:prstGeom>
          <a:solidFill>
            <a:schemeClr val="accent1">
              <a:lumMod val="40000"/>
              <a:lumOff val="60000"/>
              <a:alpha val="9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Inference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tx2"/>
                </a:solidFill>
              </a:rPr>
              <a:t>Server</a:t>
            </a:r>
            <a:endParaRPr lang="en-US" altLang="zh-TW" sz="1400" b="1" u="none" strike="noStrike" dirty="0">
              <a:solidFill>
                <a:schemeClr val="tx2"/>
              </a:solidFill>
              <a:effectLst/>
            </a:endParaRP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solidFill>
                  <a:schemeClr val="tx2"/>
                </a:solidFill>
                <a:effectLst/>
              </a:rPr>
              <a:t>(LLM)</a:t>
            </a: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774BD80B-9201-734C-6443-E9C6EDE515F5}"/>
              </a:ext>
            </a:extLst>
          </p:cNvPr>
          <p:cNvSpPr txBox="1"/>
          <p:nvPr/>
        </p:nvSpPr>
        <p:spPr>
          <a:xfrm>
            <a:off x="6228185" y="3846670"/>
            <a:ext cx="881419" cy="75631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bg1">
                <a:lumMod val="85000"/>
              </a:schemeClr>
            </a:solidFill>
            <a:prstDash val="solid"/>
          </a:ln>
        </p:spPr>
        <p:txBody>
          <a:bodyPr wrap="none" lIns="0" tIns="0" rIns="0" bIns="0" anchor="ctr" anchorCtr="1">
            <a:noAutofit/>
          </a:bodyPr>
          <a:lstStyle/>
          <a:p>
            <a:pPr lvl="0" algn="ctr">
              <a:lnSpc>
                <a:spcPts val="1400"/>
              </a:lnSpc>
              <a:defRPr/>
            </a:pP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AI</a:t>
            </a:r>
            <a:r>
              <a:rPr lang="zh-TW" altLang="en-US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 </a:t>
            </a:r>
            <a: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PC</a:t>
            </a:r>
            <a:br>
              <a:rPr lang="en-US" altLang="zh-TW" sz="14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</a:br>
            <a:r>
              <a:rPr lang="en-US" altLang="zh-TW" sz="1200" b="1" dirty="0">
                <a:solidFill>
                  <a:schemeClr val="tx2"/>
                </a:solidFill>
                <a:latin typeface="Calibri"/>
                <a:ea typeface="新細明體" panose="02020500000000000000" pitchFamily="18" charset="-120"/>
              </a:rPr>
              <a:t>(SLM)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09120A9-3216-3A4D-C130-3BB79B2385CA}"/>
              </a:ext>
            </a:extLst>
          </p:cNvPr>
          <p:cNvSpPr txBox="1"/>
          <p:nvPr/>
        </p:nvSpPr>
        <p:spPr>
          <a:xfrm>
            <a:off x="2123728" y="2384652"/>
            <a:ext cx="881420" cy="756316"/>
          </a:xfrm>
          <a:prstGeom prst="rect">
            <a:avLst/>
          </a:prstGeom>
          <a:solidFill>
            <a:schemeClr val="accent2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Training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Stage</a:t>
            </a:r>
          </a:p>
          <a:p>
            <a:pPr algn="ctr">
              <a:lnSpc>
                <a:spcPts val="1400"/>
              </a:lnSpc>
              <a:buNone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(Cloud)</a:t>
            </a:r>
            <a:endParaRPr lang="en-US" altLang="zh-TW" sz="1400" b="1" u="none" strike="noStrike" dirty="0">
              <a:solidFill>
                <a:schemeClr val="accent2"/>
              </a:solidFill>
              <a:effectLst/>
            </a:endParaRPr>
          </a:p>
        </p:txBody>
      </p:sp>
      <p:graphicFrame>
        <p:nvGraphicFramePr>
          <p:cNvPr id="37" name="表格 36">
            <a:extLst>
              <a:ext uri="{FF2B5EF4-FFF2-40B4-BE49-F238E27FC236}">
                <a16:creationId xmlns:a16="http://schemas.microsoft.com/office/drawing/2014/main" id="{A1EF5383-5464-5C40-CD95-1BC634B8A8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4986763"/>
              </p:ext>
            </p:extLst>
          </p:nvPr>
        </p:nvGraphicFramePr>
        <p:xfrm>
          <a:off x="1925027" y="4889888"/>
          <a:ext cx="1278821" cy="117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882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 w="0"/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FT-Engine</a:t>
                      </a:r>
                      <a:endParaRPr kumimoji="0" lang="zh-TW" altLang="en-US" sz="1400" b="1" i="0" u="none" strike="noStrike" kern="1200" cap="none" spc="0" normalizeH="0" baseline="0" noProof="0" dirty="0">
                        <a:ln w="0"/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871076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 TRL</a:t>
                      </a:r>
                      <a:endParaRPr kumimoji="0" lang="zh-TW" altLang="en-US" sz="1200" b="1" i="0" u="none" strike="noStrike" kern="1200" cap="none" spc="0" normalizeH="0" baseline="0" noProof="0" dirty="0">
                        <a:ln w="0"/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 err="1">
                          <a:ln w="0"/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Unsloth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(No Code)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0973834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Axolotl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(Geek)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-Factory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07060"/>
                  </a:ext>
                </a:extLst>
              </a:tr>
              <a:tr h="1930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602166"/>
                  </a:ext>
                </a:extLst>
              </a:tr>
            </a:tbl>
          </a:graphicData>
        </a:graphic>
      </p:graphicFrame>
      <p:sp>
        <p:nvSpPr>
          <p:cNvPr id="4" name="標題 1">
            <a:extLst>
              <a:ext uri="{FF2B5EF4-FFF2-40B4-BE49-F238E27FC236}">
                <a16:creationId xmlns:a16="http://schemas.microsoft.com/office/drawing/2014/main" id="{C51F32BB-AF5D-9A70-D14E-236B9B033709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Small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Edge engines optimize for ultra-low TTFT, low memory footprint, and cross-platform edge execution.</a:t>
            </a:r>
          </a:p>
        </p:txBody>
      </p:sp>
      <p:pic>
        <p:nvPicPr>
          <p:cNvPr id="27" name="圖片 26">
            <a:extLst>
              <a:ext uri="{FF2B5EF4-FFF2-40B4-BE49-F238E27FC236}">
                <a16:creationId xmlns:a16="http://schemas.microsoft.com/office/drawing/2014/main" id="{135EA092-B215-BD47-7043-C4AF5B4B4F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4960218"/>
            <a:ext cx="306197" cy="288032"/>
          </a:xfrm>
          <a:prstGeom prst="rect">
            <a:avLst/>
          </a:prstGeom>
          <a:effectLst>
            <a:glow rad="76200">
              <a:schemeClr val="bg1">
                <a:alpha val="40000"/>
              </a:schemeClr>
            </a:glow>
          </a:effectLst>
        </p:spPr>
      </p:pic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DD8956EC-8C58-4EE6-3794-15E7D4F27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629276"/>
              </p:ext>
            </p:extLst>
          </p:nvPr>
        </p:nvGraphicFramePr>
        <p:xfrm>
          <a:off x="3297799" y="5313459"/>
          <a:ext cx="802885" cy="112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288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20919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Llama 3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rgbClr val="FF0000"/>
                          </a:solidFill>
                          <a:effectLst/>
                        </a:rPr>
                        <a:t>Gemma 4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DeepSeek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Qwen 3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04120"/>
                  </a:ext>
                </a:extLst>
              </a:tr>
              <a:tr h="17305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Mistral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4733770"/>
                  </a:ext>
                </a:extLst>
              </a:tr>
            </a:tbl>
          </a:graphicData>
        </a:graphic>
      </p:graphicFrame>
      <p:pic>
        <p:nvPicPr>
          <p:cNvPr id="30" name="圖片 29">
            <a:extLst>
              <a:ext uri="{FF2B5EF4-FFF2-40B4-BE49-F238E27FC236}">
                <a16:creationId xmlns:a16="http://schemas.microsoft.com/office/drawing/2014/main" id="{20DBAEDD-C1F2-2405-DE74-D94FB68D52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4329" y="5455513"/>
            <a:ext cx="337951" cy="390669"/>
          </a:xfrm>
          <a:prstGeom prst="rect">
            <a:avLst/>
          </a:prstGeom>
          <a:solidFill>
            <a:schemeClr val="bg1">
              <a:alpha val="60000"/>
            </a:schemeClr>
          </a:solidFill>
        </p:spPr>
      </p:pic>
      <p:sp>
        <p:nvSpPr>
          <p:cNvPr id="38" name="文字方塊 37">
            <a:extLst>
              <a:ext uri="{FF2B5EF4-FFF2-40B4-BE49-F238E27FC236}">
                <a16:creationId xmlns:a16="http://schemas.microsoft.com/office/drawing/2014/main" id="{AB992DA8-098A-C85A-0E0A-EC2464CCE1A3}"/>
              </a:ext>
            </a:extLst>
          </p:cNvPr>
          <p:cNvSpPr txBox="1"/>
          <p:nvPr/>
        </p:nvSpPr>
        <p:spPr>
          <a:xfrm>
            <a:off x="3106216" y="2444150"/>
            <a:ext cx="1033736" cy="31437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Backward Pass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Checkpointing</a:t>
            </a:r>
            <a:endParaRPr lang="zh-TW" altLang="en-US" sz="1200" dirty="0"/>
          </a:p>
        </p:txBody>
      </p:sp>
      <p:sp>
        <p:nvSpPr>
          <p:cNvPr id="42" name="文字方塊 41">
            <a:extLst>
              <a:ext uri="{FF2B5EF4-FFF2-40B4-BE49-F238E27FC236}">
                <a16:creationId xmlns:a16="http://schemas.microsoft.com/office/drawing/2014/main" id="{C011670A-AD18-D760-4725-AC87CA0E0A6E}"/>
              </a:ext>
            </a:extLst>
          </p:cNvPr>
          <p:cNvSpPr txBox="1"/>
          <p:nvPr/>
        </p:nvSpPr>
        <p:spPr>
          <a:xfrm>
            <a:off x="5500146" y="2444149"/>
            <a:ext cx="702888" cy="313891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Attention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KV-Cache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662A56FC-70A6-FA2D-9DC3-8EDA197AAAA4}"/>
              </a:ext>
            </a:extLst>
          </p:cNvPr>
          <p:cNvSpPr txBox="1"/>
          <p:nvPr/>
        </p:nvSpPr>
        <p:spPr>
          <a:xfrm>
            <a:off x="3103440" y="3865792"/>
            <a:ext cx="820488" cy="3552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Throughput,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PEFT</a:t>
            </a:r>
            <a:endParaRPr lang="zh-TW" altLang="en-US" sz="1200" dirty="0"/>
          </a:p>
        </p:txBody>
      </p: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FEB0228A-4144-BC54-6225-6205E276FBE3}"/>
              </a:ext>
            </a:extLst>
          </p:cNvPr>
          <p:cNvCxnSpPr>
            <a:cxnSpLocks/>
            <a:stCxn id="3" idx="3"/>
            <a:endCxn id="13" idx="1"/>
          </p:cNvCxnSpPr>
          <p:nvPr/>
        </p:nvCxnSpPr>
        <p:spPr>
          <a:xfrm>
            <a:off x="3005148" y="4224828"/>
            <a:ext cx="3223037" cy="0"/>
          </a:xfrm>
          <a:prstGeom prst="straightConnector1">
            <a:avLst/>
          </a:prstGeom>
          <a:ln w="25400">
            <a:solidFill>
              <a:schemeClr val="bg1">
                <a:lumMod val="75000"/>
              </a:schemeClr>
            </a:solidFill>
            <a:headEnd w="med" len="lg"/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圖片 13">
            <a:extLst>
              <a:ext uri="{FF2B5EF4-FFF2-40B4-BE49-F238E27FC236}">
                <a16:creationId xmlns:a16="http://schemas.microsoft.com/office/drawing/2014/main" id="{6A19A26D-0595-B833-26F8-539F4EB87F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664" y="5320258"/>
            <a:ext cx="288033" cy="288032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C1A9147E-F72B-ADB6-4DA8-0242A9E1BF56}"/>
              </a:ext>
            </a:extLst>
          </p:cNvPr>
          <p:cNvSpPr txBox="1"/>
          <p:nvPr/>
        </p:nvSpPr>
        <p:spPr>
          <a:xfrm>
            <a:off x="5076056" y="3865792"/>
            <a:ext cx="1107903" cy="34949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Latency, TTFT,</a:t>
            </a:r>
          </a:p>
          <a:p>
            <a:pPr marL="0" marR="0" lvl="0" indent="0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Operator Fusion</a:t>
            </a:r>
            <a:endParaRPr lang="zh-TW" altLang="en-US" sz="1200" dirty="0"/>
          </a:p>
        </p:txBody>
      </p:sp>
      <p:sp>
        <p:nvSpPr>
          <p:cNvPr id="102" name="文字方塊 101">
            <a:extLst>
              <a:ext uri="{FF2B5EF4-FFF2-40B4-BE49-F238E27FC236}">
                <a16:creationId xmlns:a16="http://schemas.microsoft.com/office/drawing/2014/main" id="{F3B204E8-9E74-B3D1-6886-09D4188A55E7}"/>
              </a:ext>
            </a:extLst>
          </p:cNvPr>
          <p:cNvSpPr txBox="1"/>
          <p:nvPr/>
        </p:nvSpPr>
        <p:spPr>
          <a:xfrm>
            <a:off x="3258531" y="4362433"/>
            <a:ext cx="881419" cy="365815"/>
          </a:xfrm>
          <a:prstGeom prst="rect">
            <a:avLst/>
          </a:prstGeom>
          <a:solidFill>
            <a:schemeClr val="bg1">
              <a:lumMod val="8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</a:rPr>
              <a:t>Model File</a:t>
            </a:r>
          </a:p>
          <a:p>
            <a:pPr algn="ctr">
              <a:lnSpc>
                <a:spcPts val="1200"/>
              </a:lnSpc>
              <a:buNone/>
            </a:pPr>
            <a:r>
              <a:rPr lang="en-US" altLang="zh-TW" sz="1000" dirty="0"/>
              <a:t>(GGUF, ONNX)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47" name="文字方塊 46">
            <a:extLst>
              <a:ext uri="{FF2B5EF4-FFF2-40B4-BE49-F238E27FC236}">
                <a16:creationId xmlns:a16="http://schemas.microsoft.com/office/drawing/2014/main" id="{400FAA8A-4147-8B00-9580-A50FE9BFA505}"/>
              </a:ext>
            </a:extLst>
          </p:cNvPr>
          <p:cNvSpPr txBox="1"/>
          <p:nvPr/>
        </p:nvSpPr>
        <p:spPr>
          <a:xfrm>
            <a:off x="213023" y="968241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Training Framework:</a:t>
            </a:r>
            <a:r>
              <a:rPr lang="en-US" altLang="zh-TW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Optimizes</a:t>
            </a:r>
            <a:r>
              <a:rPr lang="en-US" altLang="zh-TW" sz="1600" dirty="0"/>
              <a:t> model weights using gradients.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Inference Engine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Runs</a:t>
            </a:r>
            <a:r>
              <a:rPr lang="en-US" altLang="zh-TW" sz="1600" dirty="0"/>
              <a:t> trained models to generate predictions.</a:t>
            </a:r>
          </a:p>
        </p:txBody>
      </p:sp>
      <p:cxnSp>
        <p:nvCxnSpPr>
          <p:cNvPr id="64" name="直線接點 63">
            <a:extLst>
              <a:ext uri="{FF2B5EF4-FFF2-40B4-BE49-F238E27FC236}">
                <a16:creationId xmlns:a16="http://schemas.microsoft.com/office/drawing/2014/main" id="{4250BB2F-3E2E-142D-8E2C-0C55A2542BDA}"/>
              </a:ext>
            </a:extLst>
          </p:cNvPr>
          <p:cNvCxnSpPr>
            <a:cxnSpLocks/>
            <a:stCxn id="102" idx="2"/>
            <a:endCxn id="9" idx="0"/>
          </p:cNvCxnSpPr>
          <p:nvPr/>
        </p:nvCxnSpPr>
        <p:spPr>
          <a:xfrm>
            <a:off x="3699241" y="4728248"/>
            <a:ext cx="0" cy="58521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58CF7F8B-C53A-57E9-4723-186600068448}"/>
              </a:ext>
            </a:extLst>
          </p:cNvPr>
          <p:cNvCxnSpPr>
            <a:cxnSpLocks/>
            <a:stCxn id="13" idx="2"/>
            <a:endCxn id="22" idx="0"/>
          </p:cNvCxnSpPr>
          <p:nvPr/>
        </p:nvCxnSpPr>
        <p:spPr>
          <a:xfrm flipH="1">
            <a:off x="6668893" y="4602986"/>
            <a:ext cx="2" cy="70528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線接點 72">
            <a:extLst>
              <a:ext uri="{FF2B5EF4-FFF2-40B4-BE49-F238E27FC236}">
                <a16:creationId xmlns:a16="http://schemas.microsoft.com/office/drawing/2014/main" id="{C75B7D8C-9A37-CC8D-DAA6-3D999E4C7378}"/>
              </a:ext>
            </a:extLst>
          </p:cNvPr>
          <p:cNvCxnSpPr>
            <a:cxnSpLocks/>
            <a:stCxn id="3" idx="2"/>
            <a:endCxn id="37" idx="0"/>
          </p:cNvCxnSpPr>
          <p:nvPr/>
        </p:nvCxnSpPr>
        <p:spPr>
          <a:xfrm flipH="1">
            <a:off x="2564437" y="4602986"/>
            <a:ext cx="1" cy="286902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54291EA9-298A-7ADF-0020-17EE71DA7083}"/>
              </a:ext>
            </a:extLst>
          </p:cNvPr>
          <p:cNvCxnSpPr/>
          <p:nvPr/>
        </p:nvCxnSpPr>
        <p:spPr>
          <a:xfrm>
            <a:off x="899592" y="3501008"/>
            <a:ext cx="7560840" cy="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文字方塊 79">
            <a:extLst>
              <a:ext uri="{FF2B5EF4-FFF2-40B4-BE49-F238E27FC236}">
                <a16:creationId xmlns:a16="http://schemas.microsoft.com/office/drawing/2014/main" id="{CA014519-788B-AB92-B84F-36E7C69222BC}"/>
              </a:ext>
            </a:extLst>
          </p:cNvPr>
          <p:cNvSpPr txBox="1"/>
          <p:nvPr/>
        </p:nvSpPr>
        <p:spPr>
          <a:xfrm>
            <a:off x="7699522" y="3188590"/>
            <a:ext cx="588146" cy="6248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 w="0"/>
                <a:effectLst/>
                <a:uLnTx/>
                <a:uFillTx/>
                <a:latin typeface="+mn-lt"/>
                <a:ea typeface="+mn-ea"/>
                <a:cs typeface="+mn-cs"/>
              </a:rPr>
              <a:t>Cloud</a:t>
            </a:r>
          </a:p>
          <a:p>
            <a:pPr marL="0" marR="0" lvl="0" indent="0" algn="ctr" defTabSz="914400" rtl="0" eaLnBrk="1" fontAlgn="auto" latinLnBrk="0" hangingPunct="1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</a:rPr>
              <a:t>Edge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7794988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297A6AF-A59A-D8E8-D402-8B80C8509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C0694D5-25AF-678F-4839-D5482C6055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4464103"/>
              </p:ext>
            </p:extLst>
          </p:nvPr>
        </p:nvGraphicFramePr>
        <p:xfrm>
          <a:off x="827584" y="2132856"/>
          <a:ext cx="7694238" cy="28519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2373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5124889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204991320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795597008"/>
                    </a:ext>
                  </a:extLst>
                </a:gridCol>
                <a:gridCol w="1282373">
                  <a:extLst>
                    <a:ext uri="{9D8B030D-6E8A-4147-A177-3AD203B41FA5}">
                      <a16:colId xmlns:a16="http://schemas.microsoft.com/office/drawing/2014/main" val="3504260209"/>
                    </a:ext>
                  </a:extLst>
                </a:gridCol>
              </a:tblGrid>
              <a:tr h="62836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LLaMA-Factory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/ˈlɑː.mə/</a:t>
                      </a:r>
                      <a:r>
                        <a:rPr lang="zh-TW" altLang="en-US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小羊駝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Hugging Face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TRL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MLX-LM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(Apple)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Axolotl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/ˈæk.sə.lɑ.təl/</a:t>
                      </a:r>
                      <a:r>
                        <a:rPr lang="zh-TW" altLang="zh-TW" sz="1000" b="1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美西螈</a:t>
                      </a:r>
                      <a:endParaRPr lang="zh-TW" altLang="en-US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Unsloth</a:t>
                      </a: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/ʌn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slɑːθ/</a:t>
                      </a:r>
                      <a:r>
                        <a:rPr lang="zh-TW" altLang="zh-TW" sz="1000" b="0" i="0" kern="1200" dirty="0"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樹懶</a:t>
                      </a:r>
                      <a:endParaRPr lang="en-US" altLang="zh-TW" sz="10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Ultralytics</a:t>
                      </a: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/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/ˈʌl.trə</a:t>
                      </a:r>
                      <a:r>
                        <a:rPr lang="en-US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r>
                        <a:rPr lang="zh-TW" altLang="zh-TW" sz="12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ˈlɪt.ɪks/</a:t>
                      </a:r>
                      <a:r>
                        <a:rPr kumimoji="0" lang="zh-TW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WebUI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HF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YAML</a:t>
                      </a:r>
                      <a:b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Disruptive Tech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Offline Dominator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YOLO 11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ONNX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Easy-to-use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(Low-code)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Python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One-command local fine-tuning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Flexible,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config-driven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Ultra-fast,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Low-memory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High-performance,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real-time object detection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352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PyTorch FSDP2,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 TRL,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lashAttention-3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Multipack, xFormers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PyTorch,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Triton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TensorRT,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OpenVINO Toolkit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Megatron-DeepSpeed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Megatron-LM, CUDA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NV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8881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  <p:pic>
        <p:nvPicPr>
          <p:cNvPr id="8" name="圖片 7">
            <a:extLst>
              <a:ext uri="{FF2B5EF4-FFF2-40B4-BE49-F238E27FC236}">
                <a16:creationId xmlns:a16="http://schemas.microsoft.com/office/drawing/2014/main" id="{3E4BF44D-72A8-155F-5FEF-FF52AE9835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8173" y="1571103"/>
            <a:ext cx="468845" cy="61218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5AB2B3A-E1D8-12EC-C70D-F1D3314C8DA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1324" y="1630331"/>
            <a:ext cx="511322" cy="51132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8FE807A9-33DB-3107-644A-5FA5F1404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00" y="1609550"/>
            <a:ext cx="798718" cy="535293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5C6322F9-E94E-0EA9-1F00-B7B8D761985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1292" y="1642124"/>
            <a:ext cx="511320" cy="5113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17769C83-A1FB-75F4-4253-A03E2A898C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78" y="1621837"/>
            <a:ext cx="584846" cy="56145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A9192D10-9C29-66BC-B2D1-87AFD7FFA8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28171" y="1608689"/>
            <a:ext cx="610836" cy="57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4682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(MoE)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058349" y="1193012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Emerging Trends in AI Systems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infrastructure to intelligence at the edge.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9788904"/>
              </p:ext>
            </p:extLst>
          </p:nvPr>
        </p:nvGraphicFramePr>
        <p:xfrm>
          <a:off x="1865763" y="3095134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5046559"/>
              </p:ext>
            </p:extLst>
          </p:nvPr>
        </p:nvGraphicFramePr>
        <p:xfrm>
          <a:off x="262039" y="2030859"/>
          <a:ext cx="1233671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367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Azure, AWS, GPT, 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 Code, Grok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流程圖: 合併 49">
            <a:extLst>
              <a:ext uri="{FF2B5EF4-FFF2-40B4-BE49-F238E27FC236}">
                <a16:creationId xmlns:a16="http://schemas.microsoft.com/office/drawing/2014/main" id="{8447D011-EBCC-D1FB-0C69-2143A03943FE}"/>
              </a:ext>
            </a:extLst>
          </p:cNvPr>
          <p:cNvSpPr/>
          <p:nvPr/>
        </p:nvSpPr>
        <p:spPr>
          <a:xfrm>
            <a:off x="4716016" y="4437112"/>
            <a:ext cx="432048" cy="2139202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94A6F720-5FB8-E782-4A1C-29BF54922B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643606"/>
              </p:ext>
            </p:extLst>
          </p:nvPr>
        </p:nvGraphicFramePr>
        <p:xfrm>
          <a:off x="716896" y="4131303"/>
          <a:ext cx="7704856" cy="23220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120">
                  <a:extLst>
                    <a:ext uri="{9D8B030D-6E8A-4147-A177-3AD203B41FA5}">
                      <a16:colId xmlns:a16="http://schemas.microsoft.com/office/drawing/2014/main" val="4198244561"/>
                    </a:ext>
                  </a:extLst>
                </a:gridCol>
                <a:gridCol w="85703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73197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060818">
                  <a:extLst>
                    <a:ext uri="{9D8B030D-6E8A-4147-A177-3AD203B41FA5}">
                      <a16:colId xmlns:a16="http://schemas.microsoft.com/office/drawing/2014/main" val="3328686525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75258163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3948573510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2054525474"/>
                    </a:ext>
                  </a:extLst>
                </a:gridCol>
                <a:gridCol w="993728">
                  <a:extLst>
                    <a:ext uri="{9D8B030D-6E8A-4147-A177-3AD203B41FA5}">
                      <a16:colId xmlns:a16="http://schemas.microsoft.com/office/drawing/2014/main" val="1920063261"/>
                    </a:ext>
                  </a:extLst>
                </a:gridCol>
              </a:tblGrid>
              <a:tr h="328084">
                <a:tc rowSpan="2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Number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Language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Window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 consumption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6024">
                <a:tc vMerge="1">
                  <a:txBody>
                    <a:bodyPr/>
                    <a:lstStyle/>
                    <a:p>
                      <a:pPr algn="ctr"/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1155207"/>
                  </a:ext>
                </a:extLst>
              </a:tr>
              <a:tr h="28056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Server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82991">
                <a:tc vMerge="1"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Diffusion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26B(4B)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439318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PC/NB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27442"/>
                  </a:ext>
                </a:extLst>
              </a:tr>
              <a:tr h="354133">
                <a:tc rowSpan="2"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Dense,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128k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8B (4.5+3.5)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320920">
                <a:tc vMerge="1">
                  <a:txBody>
                    <a:bodyPr/>
                    <a:lstStyle/>
                    <a:p>
                      <a:pPr algn="l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72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5B (2.3+2.8)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~2.9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179511" y="1377042"/>
            <a:ext cx="6470846" cy="132343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3: </a:t>
            </a:r>
            <a:r>
              <a:rPr lang="en-US" altLang="zh-TW" sz="1600" dirty="0"/>
              <a:t>Multimodal, multilingual 140+ and single chip.</a:t>
            </a:r>
            <a:endParaRPr lang="en-US" altLang="zh-TW" sz="1600" b="1" dirty="0"/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Gemma 4: </a:t>
            </a:r>
            <a:r>
              <a:rPr lang="en-US" altLang="zh-TW" sz="1600" dirty="0"/>
              <a:t>Native Multimodal, Apache 2.0, CoT,  &lt;|think|&gt;, multi-token prediction</a:t>
            </a:r>
            <a:r>
              <a:rPr lang="zh-TW" altLang="en-US" sz="1600" dirty="0"/>
              <a:t> </a:t>
            </a:r>
            <a:r>
              <a:rPr lang="en-US" altLang="zh-TW" sz="1600" dirty="0"/>
              <a:t>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MTP</a:t>
            </a:r>
            <a:r>
              <a:rPr lang="en-US" altLang="zh-TW" sz="1600" dirty="0"/>
              <a:t>) and Per Layer Embedding (</a:t>
            </a:r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</a:rPr>
              <a:t>PLE</a:t>
            </a:r>
            <a:r>
              <a:rPr lang="en-US" altLang="zh-TW" sz="1600" dirty="0"/>
              <a:t>).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1" y="116632"/>
            <a:ext cx="8779627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Family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Gemma 4 empowers local devices with autonomous agency.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5" name="圖形 14" descr="伺服器 以實心填滿">
            <a:extLst>
              <a:ext uri="{FF2B5EF4-FFF2-40B4-BE49-F238E27FC236}">
                <a16:creationId xmlns:a16="http://schemas.microsoft.com/office/drawing/2014/main" id="{629E4120-1637-0AAB-6A3B-AB7FEACB7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32025" y="4830909"/>
            <a:ext cx="254275" cy="254275"/>
          </a:xfrm>
          <a:prstGeom prst="rect">
            <a:avLst/>
          </a:prstGeom>
        </p:spPr>
      </p:pic>
      <p:pic>
        <p:nvPicPr>
          <p:cNvPr id="17" name="圖形 16" descr="筆記型電腦 以實心填滿">
            <a:extLst>
              <a:ext uri="{FF2B5EF4-FFF2-40B4-BE49-F238E27FC236}">
                <a16:creationId xmlns:a16="http://schemas.microsoft.com/office/drawing/2014/main" id="{E0B85A7F-5C8E-F628-BF10-ADC5F47E11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38047" y="5517232"/>
            <a:ext cx="245454" cy="245454"/>
          </a:xfrm>
          <a:prstGeom prst="rect">
            <a:avLst/>
          </a:prstGeom>
        </p:spPr>
      </p:pic>
      <p:pic>
        <p:nvPicPr>
          <p:cNvPr id="19" name="圖形 18" descr="電腦 以實心填滿">
            <a:extLst>
              <a:ext uri="{FF2B5EF4-FFF2-40B4-BE49-F238E27FC236}">
                <a16:creationId xmlns:a16="http://schemas.microsoft.com/office/drawing/2014/main" id="{94FDF6EB-1889-FE73-1996-CB12F1E1426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01440" y="5208870"/>
            <a:ext cx="315444" cy="315444"/>
          </a:xfrm>
          <a:prstGeom prst="rect">
            <a:avLst/>
          </a:prstGeom>
        </p:spPr>
      </p:pic>
      <p:pic>
        <p:nvPicPr>
          <p:cNvPr id="21" name="圖形 20" descr="智慧型手機 以實心填滿">
            <a:extLst>
              <a:ext uri="{FF2B5EF4-FFF2-40B4-BE49-F238E27FC236}">
                <a16:creationId xmlns:a16="http://schemas.microsoft.com/office/drawing/2014/main" id="{174E9551-9AA7-A945-F67E-E80B80582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44043" y="5805264"/>
            <a:ext cx="245454" cy="245454"/>
          </a:xfrm>
          <a:prstGeom prst="rect">
            <a:avLst/>
          </a:prstGeom>
        </p:spPr>
      </p:pic>
      <p:pic>
        <p:nvPicPr>
          <p:cNvPr id="23" name="圖形 22" descr="頭戴式耳機 以實心填滿">
            <a:extLst>
              <a:ext uri="{FF2B5EF4-FFF2-40B4-BE49-F238E27FC236}">
                <a16:creationId xmlns:a16="http://schemas.microsoft.com/office/drawing/2014/main" id="{92BA1BF4-2981-0AD1-D22C-7372851B626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436436" y="6093296"/>
            <a:ext cx="245454" cy="245454"/>
          </a:xfrm>
          <a:prstGeom prst="rect">
            <a:avLst/>
          </a:prstGeom>
        </p:spPr>
      </p:pic>
      <p:sp>
        <p:nvSpPr>
          <p:cNvPr id="26" name="雲朵形 25">
            <a:extLst>
              <a:ext uri="{FF2B5EF4-FFF2-40B4-BE49-F238E27FC236}">
                <a16:creationId xmlns:a16="http://schemas.microsoft.com/office/drawing/2014/main" id="{509766CE-DFB7-2679-00B7-E99E3812B74C}"/>
              </a:ext>
            </a:extLst>
          </p:cNvPr>
          <p:cNvSpPr/>
          <p:nvPr/>
        </p:nvSpPr>
        <p:spPr>
          <a:xfrm>
            <a:off x="291675" y="3212976"/>
            <a:ext cx="1400005" cy="654398"/>
          </a:xfrm>
          <a:prstGeom prst="cloud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600" dirty="0">
              <a:solidFill>
                <a:schemeClr val="tx2"/>
              </a:solidFill>
            </a:endParaRP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28016021-6586-F018-2D1F-235DAF68DE53}"/>
              </a:ext>
            </a:extLst>
          </p:cNvPr>
          <p:cNvSpPr txBox="1"/>
          <p:nvPr/>
        </p:nvSpPr>
        <p:spPr>
          <a:xfrm>
            <a:off x="683568" y="4291005"/>
            <a:ext cx="1193834" cy="32323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 4</a:t>
            </a:r>
          </a:p>
        </p:txBody>
      </p: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CE94DF6-B418-F3D9-7106-9607209A20C4}"/>
              </a:ext>
            </a:extLst>
          </p:cNvPr>
          <p:cNvCxnSpPr>
            <a:cxnSpLocks/>
            <a:stCxn id="29" idx="2"/>
            <a:endCxn id="27" idx="0"/>
          </p:cNvCxnSpPr>
          <p:nvPr/>
        </p:nvCxnSpPr>
        <p:spPr>
          <a:xfrm>
            <a:off x="981887" y="3726324"/>
            <a:ext cx="298598" cy="564681"/>
          </a:xfrm>
          <a:prstGeom prst="straightConnector1">
            <a:avLst/>
          </a:prstGeom>
          <a:ln w="25400">
            <a:solidFill>
              <a:schemeClr val="accent6">
                <a:alpha val="80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2AE78E0C-913E-773C-0B33-35D2814AA505}"/>
              </a:ext>
            </a:extLst>
          </p:cNvPr>
          <p:cNvSpPr txBox="1"/>
          <p:nvPr/>
        </p:nvSpPr>
        <p:spPr>
          <a:xfrm>
            <a:off x="469567" y="3356992"/>
            <a:ext cx="1024639" cy="3693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dirty="0">
                <a:solidFill>
                  <a:schemeClr val="accent1">
                    <a:lumMod val="60000"/>
                    <a:lumOff val="4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Gemini 3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24B0F035-97FD-79C3-C3A0-2E744AC34D19}"/>
              </a:ext>
            </a:extLst>
          </p:cNvPr>
          <p:cNvSpPr/>
          <p:nvPr/>
        </p:nvSpPr>
        <p:spPr>
          <a:xfrm>
            <a:off x="6670406" y="5838875"/>
            <a:ext cx="487445" cy="562041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D26C871-0A6F-156B-6741-2D1BCEF1AF39}"/>
              </a:ext>
            </a:extLst>
          </p:cNvPr>
          <p:cNvSpPr txBox="1"/>
          <p:nvPr/>
        </p:nvSpPr>
        <p:spPr>
          <a:xfrm>
            <a:off x="7848364" y="44624"/>
            <a:ext cx="1240083" cy="3813095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effectLst/>
              </a:rPr>
              <a:t> Overview</a:t>
            </a:r>
            <a:endParaRPr lang="en-US" altLang="zh-TW" sz="1000" u="none" strike="noStrike" dirty="0">
              <a:effectLst/>
            </a:endParaRPr>
          </a:p>
          <a:p>
            <a:pPr marL="111125" lvl="3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ML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Training Stages</a:t>
            </a:r>
            <a:endParaRPr lang="en-US" altLang="zh-TW" sz="1000" u="none" strike="noStrike" dirty="0">
              <a:effectLst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Transformer</a:t>
            </a:r>
            <a:endParaRPr lang="en-US" altLang="zh-TW" sz="1000" dirty="0"/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Program Flow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Self-Attention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FFN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zh-TW" altLang="en-US" sz="1000" dirty="0"/>
              <a:t> </a:t>
            </a:r>
            <a:r>
              <a:rPr lang="en-US" altLang="zh-TW" sz="1000" dirty="0"/>
              <a:t>Embeddings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</a:pPr>
            <a:r>
              <a:rPr lang="en-US" altLang="zh-TW" sz="1000" dirty="0"/>
              <a:t> Position Encoding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MLP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  <a:r>
              <a:rPr lang="en-US" altLang="zh-TW" sz="1000" dirty="0"/>
              <a:t> 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 marL="111125" marR="0" lvl="2" algn="l" defTabSz="914400" rtl="0" eaLnBrk="1" fontAlgn="auto" latinLnBrk="0" hangingPunct="1">
              <a:lnSpc>
                <a:spcPts val="10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AI Ecosystem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MCP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RAG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SLM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Emerging Trends </a:t>
            </a:r>
            <a:endParaRPr lang="en-US" altLang="zh-TW" sz="1000" dirty="0">
              <a:solidFill>
                <a:prstClr val="black"/>
              </a:solidFill>
            </a:endParaRP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zh-TW" altLang="en-US" sz="1000" b="1" dirty="0"/>
              <a:t> </a:t>
            </a:r>
            <a:r>
              <a:rPr lang="en-US" altLang="zh-TW" sz="1000" b="1" dirty="0">
                <a:solidFill>
                  <a:srgbClr val="FF0000"/>
                </a:solidFill>
              </a:rPr>
              <a:t>Gemma Family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QLoRA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PEFT: DoRA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Gemma4: PLE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Benchmarking</a:t>
            </a:r>
          </a:p>
          <a:p>
            <a:pPr>
              <a:lnSpc>
                <a:spcPts val="10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Building the Agent</a:t>
            </a:r>
          </a:p>
          <a:p>
            <a:pPr marL="111125" lvl="2">
              <a:lnSpc>
                <a:spcPts val="10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prstClr val="black"/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86993-55F6-655D-6F3A-DCF41E0E7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矩形: 圓角 92">
            <a:extLst>
              <a:ext uri="{FF2B5EF4-FFF2-40B4-BE49-F238E27FC236}">
                <a16:creationId xmlns:a16="http://schemas.microsoft.com/office/drawing/2014/main" id="{9BC5D209-CD0F-8B4F-B117-FFBA97F7BB22}"/>
              </a:ext>
            </a:extLst>
          </p:cNvPr>
          <p:cNvSpPr/>
          <p:nvPr/>
        </p:nvSpPr>
        <p:spPr>
          <a:xfrm>
            <a:off x="567640" y="1714074"/>
            <a:ext cx="1219522" cy="1720987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27688924-6F43-FE20-F39C-E0229359FB31}"/>
              </a:ext>
            </a:extLst>
          </p:cNvPr>
          <p:cNvSpPr txBox="1"/>
          <p:nvPr/>
        </p:nvSpPr>
        <p:spPr>
          <a:xfrm>
            <a:off x="635034" y="1793757"/>
            <a:ext cx="1086557" cy="936151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CA709BE2-1656-D0B4-AAC6-15D6C3575E40}"/>
              </a:ext>
            </a:extLst>
          </p:cNvPr>
          <p:cNvSpPr txBox="1"/>
          <p:nvPr/>
        </p:nvSpPr>
        <p:spPr>
          <a:xfrm>
            <a:off x="635034" y="2870996"/>
            <a:ext cx="1086557" cy="487960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" name="直線單箭頭接點 30">
            <a:extLst>
              <a:ext uri="{FF2B5EF4-FFF2-40B4-BE49-F238E27FC236}">
                <a16:creationId xmlns:a16="http://schemas.microsoft.com/office/drawing/2014/main" id="{942C8466-D1D5-4EF3-2363-E4C21E214E95}"/>
              </a:ext>
            </a:extLst>
          </p:cNvPr>
          <p:cNvCxnSpPr>
            <a:cxnSpLocks/>
            <a:stCxn id="8" idx="0"/>
            <a:endCxn id="137" idx="2"/>
          </p:cNvCxnSpPr>
          <p:nvPr/>
        </p:nvCxnSpPr>
        <p:spPr>
          <a:xfrm flipH="1" flipV="1">
            <a:off x="1177120" y="1513424"/>
            <a:ext cx="1193" cy="28033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C78A0572-1A63-5E70-B09A-4C3D3A0EC38F}"/>
              </a:ext>
            </a:extLst>
          </p:cNvPr>
          <p:cNvCxnSpPr>
            <a:cxnSpLocks/>
            <a:stCxn id="73" idx="0"/>
            <a:endCxn id="29" idx="2"/>
          </p:cNvCxnSpPr>
          <p:nvPr/>
        </p:nvCxnSpPr>
        <p:spPr>
          <a:xfrm flipV="1">
            <a:off x="1177402" y="3358956"/>
            <a:ext cx="911" cy="27479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BED8C8EA-0B18-FE3A-ACAC-8ED247CD33DA}"/>
              </a:ext>
            </a:extLst>
          </p:cNvPr>
          <p:cNvCxnSpPr>
            <a:cxnSpLocks/>
            <a:stCxn id="29" idx="0"/>
            <a:endCxn id="8" idx="2"/>
          </p:cNvCxnSpPr>
          <p:nvPr/>
        </p:nvCxnSpPr>
        <p:spPr>
          <a:xfrm flipV="1">
            <a:off x="1178313" y="2729908"/>
            <a:ext cx="0" cy="141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文字方塊 72">
            <a:extLst>
              <a:ext uri="{FF2B5EF4-FFF2-40B4-BE49-F238E27FC236}">
                <a16:creationId xmlns:a16="http://schemas.microsoft.com/office/drawing/2014/main" id="{89DFAE5F-76DE-A380-A8BC-634A17D2929C}"/>
              </a:ext>
            </a:extLst>
          </p:cNvPr>
          <p:cNvSpPr txBox="1"/>
          <p:nvPr/>
        </p:nvSpPr>
        <p:spPr>
          <a:xfrm>
            <a:off x="567641" y="3633747"/>
            <a:ext cx="1219522" cy="587341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  </a:t>
            </a:r>
            <a:r>
              <a:rPr lang="en-US" altLang="zh-TW" sz="1200" b="1" u="sng" strike="noStrike" kern="1200" spc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Dataset   </a:t>
            </a:r>
            <a:endParaRPr lang="en-US" altLang="zh-TW" sz="1200" u="sng" strike="noStrike" kern="1200" spc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</a:t>
            </a:r>
            <a:r>
              <a:rPr lang="en-US" altLang="zh-TW" sz="1200" u="sng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…</a:t>
            </a: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</a:t>
            </a:r>
            <a:endParaRPr kumimoji="0" lang="zh-TW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 … </a:t>
            </a:r>
            <a:r>
              <a:rPr kumimoji="0" lang="zh-TW" altLang="en-US" sz="1200" u="sng" strike="noStrike" kern="1200" cap="none" spc="0" normalizeH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     </a:t>
            </a:r>
            <a:endParaRPr kumimoji="0" lang="en-US" altLang="zh-TW" sz="1200" u="sng" strike="noStrike" kern="1200" cap="none" spc="0" normalizeH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7" name="矩形: 圓角 116">
            <a:extLst>
              <a:ext uri="{FF2B5EF4-FFF2-40B4-BE49-F238E27FC236}">
                <a16:creationId xmlns:a16="http://schemas.microsoft.com/office/drawing/2014/main" id="{CBBF751A-4841-643D-D672-6495988B1BA0}"/>
              </a:ext>
            </a:extLst>
          </p:cNvPr>
          <p:cNvSpPr/>
          <p:nvPr/>
        </p:nvSpPr>
        <p:spPr>
          <a:xfrm>
            <a:off x="2471724" y="1704468"/>
            <a:ext cx="1064550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18" name="文字方塊 117">
            <a:extLst>
              <a:ext uri="{FF2B5EF4-FFF2-40B4-BE49-F238E27FC236}">
                <a16:creationId xmlns:a16="http://schemas.microsoft.com/office/drawing/2014/main" id="{0F5AF795-3B3C-801B-75CE-99F18D920572}"/>
              </a:ext>
            </a:extLst>
          </p:cNvPr>
          <p:cNvSpPr txBox="1"/>
          <p:nvPr/>
        </p:nvSpPr>
        <p:spPr>
          <a:xfrm>
            <a:off x="2539118" y="1768192"/>
            <a:ext cx="931588" cy="37085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4F679991-33F8-2BC7-D7D4-C417EBD90EEA}"/>
              </a:ext>
            </a:extLst>
          </p:cNvPr>
          <p:cNvSpPr txBox="1"/>
          <p:nvPr/>
        </p:nvSpPr>
        <p:spPr>
          <a:xfrm>
            <a:off x="2539118" y="2239634"/>
            <a:ext cx="931587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122" name="直線單箭頭接點 121">
            <a:extLst>
              <a:ext uri="{FF2B5EF4-FFF2-40B4-BE49-F238E27FC236}">
                <a16:creationId xmlns:a16="http://schemas.microsoft.com/office/drawing/2014/main" id="{BBCCED22-9B60-A6F6-30FE-BEE684D117D3}"/>
              </a:ext>
            </a:extLst>
          </p:cNvPr>
          <p:cNvCxnSpPr>
            <a:cxnSpLocks/>
            <a:stCxn id="125" idx="0"/>
            <a:endCxn id="119" idx="2"/>
          </p:cNvCxnSpPr>
          <p:nvPr/>
        </p:nvCxnSpPr>
        <p:spPr>
          <a:xfrm flipH="1" flipV="1">
            <a:off x="3004912" y="2610492"/>
            <a:ext cx="4083" cy="220905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直線單箭頭接點 122">
            <a:extLst>
              <a:ext uri="{FF2B5EF4-FFF2-40B4-BE49-F238E27FC236}">
                <a16:creationId xmlns:a16="http://schemas.microsoft.com/office/drawing/2014/main" id="{76B940A6-6BCF-781A-CE7D-374C0654CC82}"/>
              </a:ext>
            </a:extLst>
          </p:cNvPr>
          <p:cNvCxnSpPr>
            <a:cxnSpLocks/>
            <a:stCxn id="119" idx="0"/>
            <a:endCxn id="118" idx="2"/>
          </p:cNvCxnSpPr>
          <p:nvPr/>
        </p:nvCxnSpPr>
        <p:spPr>
          <a:xfrm flipV="1">
            <a:off x="3004912" y="2139050"/>
            <a:ext cx="0" cy="10058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252A4D11-98C1-E2CE-76F9-54E64CE32887}"/>
              </a:ext>
            </a:extLst>
          </p:cNvPr>
          <p:cNvSpPr txBox="1"/>
          <p:nvPr/>
        </p:nvSpPr>
        <p:spPr>
          <a:xfrm>
            <a:off x="2651259" y="2831397"/>
            <a:ext cx="715471" cy="46013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t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Mentor</a:t>
            </a:r>
          </a:p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Model</a:t>
            </a:r>
          </a:p>
        </p:txBody>
      </p:sp>
      <p:sp>
        <p:nvSpPr>
          <p:cNvPr id="137" name="文字方塊 136">
            <a:extLst>
              <a:ext uri="{FF2B5EF4-FFF2-40B4-BE49-F238E27FC236}">
                <a16:creationId xmlns:a16="http://schemas.microsoft.com/office/drawing/2014/main" id="{3B21D428-399E-48DA-FA3B-F4D2934EFEFE}"/>
              </a:ext>
            </a:extLst>
          </p:cNvPr>
          <p:cNvSpPr txBox="1"/>
          <p:nvPr/>
        </p:nvSpPr>
        <p:spPr>
          <a:xfrm>
            <a:off x="747752" y="1126708"/>
            <a:ext cx="858736" cy="3867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139" name="文字方塊 138">
            <a:extLst>
              <a:ext uri="{FF2B5EF4-FFF2-40B4-BE49-F238E27FC236}">
                <a16:creationId xmlns:a16="http://schemas.microsoft.com/office/drawing/2014/main" id="{D5B44D3B-4241-2BF9-F500-31CADFD0B569}"/>
              </a:ext>
            </a:extLst>
          </p:cNvPr>
          <p:cNvSpPr txBox="1"/>
          <p:nvPr/>
        </p:nvSpPr>
        <p:spPr>
          <a:xfrm>
            <a:off x="2539118" y="1143594"/>
            <a:ext cx="931583" cy="37791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Loss of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Token</a:t>
            </a:r>
          </a:p>
        </p:txBody>
      </p:sp>
      <p:sp>
        <p:nvSpPr>
          <p:cNvPr id="315" name="矩形: 圓角 314">
            <a:extLst>
              <a:ext uri="{FF2B5EF4-FFF2-40B4-BE49-F238E27FC236}">
                <a16:creationId xmlns:a16="http://schemas.microsoft.com/office/drawing/2014/main" id="{FAAA9A43-CE4C-B3F6-E773-87ECFC273B53}"/>
              </a:ext>
            </a:extLst>
          </p:cNvPr>
          <p:cNvSpPr/>
          <p:nvPr/>
        </p:nvSpPr>
        <p:spPr>
          <a:xfrm>
            <a:off x="5793256" y="2470586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6" name="文字方塊 315">
            <a:extLst>
              <a:ext uri="{FF2B5EF4-FFF2-40B4-BE49-F238E27FC236}">
                <a16:creationId xmlns:a16="http://schemas.microsoft.com/office/drawing/2014/main" id="{777D1806-1AC5-A090-0E2F-7F659A74A141}"/>
              </a:ext>
            </a:extLst>
          </p:cNvPr>
          <p:cNvSpPr txBox="1"/>
          <p:nvPr/>
        </p:nvSpPr>
        <p:spPr>
          <a:xfrm>
            <a:off x="5870354" y="2534310"/>
            <a:ext cx="416433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17" name="文字方塊 316">
            <a:extLst>
              <a:ext uri="{FF2B5EF4-FFF2-40B4-BE49-F238E27FC236}">
                <a16:creationId xmlns:a16="http://schemas.microsoft.com/office/drawing/2014/main" id="{B636CD72-4E44-11EE-89CB-634CD940FF09}"/>
              </a:ext>
            </a:extLst>
          </p:cNvPr>
          <p:cNvSpPr txBox="1"/>
          <p:nvPr/>
        </p:nvSpPr>
        <p:spPr>
          <a:xfrm>
            <a:off x="5870354" y="3005752"/>
            <a:ext cx="416433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18" name="直線單箭頭接點 317">
            <a:extLst>
              <a:ext uri="{FF2B5EF4-FFF2-40B4-BE49-F238E27FC236}">
                <a16:creationId xmlns:a16="http://schemas.microsoft.com/office/drawing/2014/main" id="{47BCA9D0-43E0-3E34-1EAB-DAC8C02BE71F}"/>
              </a:ext>
            </a:extLst>
          </p:cNvPr>
          <p:cNvCxnSpPr>
            <a:cxnSpLocks/>
            <a:stCxn id="316" idx="0"/>
            <a:endCxn id="322" idx="2"/>
          </p:cNvCxnSpPr>
          <p:nvPr/>
        </p:nvCxnSpPr>
        <p:spPr>
          <a:xfrm flipH="1" flipV="1">
            <a:off x="6076721" y="2372434"/>
            <a:ext cx="1850" cy="1618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直線單箭頭接點 318">
            <a:extLst>
              <a:ext uri="{FF2B5EF4-FFF2-40B4-BE49-F238E27FC236}">
                <a16:creationId xmlns:a16="http://schemas.microsoft.com/office/drawing/2014/main" id="{5085AE20-60EC-AD40-341B-68DC9CFF1AA3}"/>
              </a:ext>
            </a:extLst>
          </p:cNvPr>
          <p:cNvCxnSpPr>
            <a:cxnSpLocks/>
            <a:stCxn id="321" idx="0"/>
            <a:endCxn id="317" idx="2"/>
          </p:cNvCxnSpPr>
          <p:nvPr/>
        </p:nvCxnSpPr>
        <p:spPr>
          <a:xfrm flipV="1">
            <a:off x="6078570" y="3376610"/>
            <a:ext cx="1" cy="138088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1" name="文字方塊 320">
            <a:extLst>
              <a:ext uri="{FF2B5EF4-FFF2-40B4-BE49-F238E27FC236}">
                <a16:creationId xmlns:a16="http://schemas.microsoft.com/office/drawing/2014/main" id="{6050EABD-57B0-7FFB-D65A-5E5C8A88B497}"/>
              </a:ext>
            </a:extLst>
          </p:cNvPr>
          <p:cNvSpPr txBox="1"/>
          <p:nvPr/>
        </p:nvSpPr>
        <p:spPr>
          <a:xfrm>
            <a:off x="5862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22" name="文字方塊 321">
            <a:extLst>
              <a:ext uri="{FF2B5EF4-FFF2-40B4-BE49-F238E27FC236}">
                <a16:creationId xmlns:a16="http://schemas.microsoft.com/office/drawing/2014/main" id="{BBB5E49F-166C-829A-96D9-BC04ED271FAF}"/>
              </a:ext>
            </a:extLst>
          </p:cNvPr>
          <p:cNvSpPr txBox="1"/>
          <p:nvPr/>
        </p:nvSpPr>
        <p:spPr>
          <a:xfrm>
            <a:off x="5853249" y="2181676"/>
            <a:ext cx="446943" cy="190758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324" name="文字方塊 323">
            <a:extLst>
              <a:ext uri="{FF2B5EF4-FFF2-40B4-BE49-F238E27FC236}">
                <a16:creationId xmlns:a16="http://schemas.microsoft.com/office/drawing/2014/main" id="{D8AF711C-01F8-2383-A166-72304A75F5CF}"/>
              </a:ext>
            </a:extLst>
          </p:cNvPr>
          <p:cNvSpPr txBox="1"/>
          <p:nvPr/>
        </p:nvSpPr>
        <p:spPr>
          <a:xfrm>
            <a:off x="6320394" y="2534310"/>
            <a:ext cx="190225" cy="433924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25" name="文字方塊 324">
            <a:extLst>
              <a:ext uri="{FF2B5EF4-FFF2-40B4-BE49-F238E27FC236}">
                <a16:creationId xmlns:a16="http://schemas.microsoft.com/office/drawing/2014/main" id="{4C6AA02B-3311-B121-FEAD-3A83EEDD19D0}"/>
              </a:ext>
            </a:extLst>
          </p:cNvPr>
          <p:cNvSpPr txBox="1"/>
          <p:nvPr/>
        </p:nvSpPr>
        <p:spPr>
          <a:xfrm>
            <a:off x="6320394" y="3005752"/>
            <a:ext cx="190225" cy="370858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32" name="流程圖: 合併 331">
            <a:extLst>
              <a:ext uri="{FF2B5EF4-FFF2-40B4-BE49-F238E27FC236}">
                <a16:creationId xmlns:a16="http://schemas.microsoft.com/office/drawing/2014/main" id="{BCEAC993-7B03-4603-7D4F-16080ED42D99}"/>
              </a:ext>
            </a:extLst>
          </p:cNvPr>
          <p:cNvSpPr/>
          <p:nvPr/>
        </p:nvSpPr>
        <p:spPr>
          <a:xfrm>
            <a:off x="5174863" y="130360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VRAM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68" name="矩形: 圓角 367">
            <a:extLst>
              <a:ext uri="{FF2B5EF4-FFF2-40B4-BE49-F238E27FC236}">
                <a16:creationId xmlns:a16="http://schemas.microsoft.com/office/drawing/2014/main" id="{9EA0A467-5651-59AE-9729-2BEAA8CBE8A7}"/>
              </a:ext>
            </a:extLst>
          </p:cNvPr>
          <p:cNvSpPr/>
          <p:nvPr/>
        </p:nvSpPr>
        <p:spPr>
          <a:xfrm>
            <a:off x="6876256" y="2470502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9" name="文字方塊 368">
            <a:extLst>
              <a:ext uri="{FF2B5EF4-FFF2-40B4-BE49-F238E27FC236}">
                <a16:creationId xmlns:a16="http://schemas.microsoft.com/office/drawing/2014/main" id="{C0659B23-491F-B9F4-046F-3D6F8970265F}"/>
              </a:ext>
            </a:extLst>
          </p:cNvPr>
          <p:cNvSpPr txBox="1"/>
          <p:nvPr/>
        </p:nvSpPr>
        <p:spPr>
          <a:xfrm>
            <a:off x="6953354" y="2534226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370" name="文字方塊 369">
            <a:extLst>
              <a:ext uri="{FF2B5EF4-FFF2-40B4-BE49-F238E27FC236}">
                <a16:creationId xmlns:a16="http://schemas.microsoft.com/office/drawing/2014/main" id="{EF22FC26-3919-51CE-75E8-79C3F3E93FDE}"/>
              </a:ext>
            </a:extLst>
          </p:cNvPr>
          <p:cNvSpPr txBox="1"/>
          <p:nvPr/>
        </p:nvSpPr>
        <p:spPr>
          <a:xfrm>
            <a:off x="6953354" y="3005668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71" name="直線單箭頭接點 370">
            <a:extLst>
              <a:ext uri="{FF2B5EF4-FFF2-40B4-BE49-F238E27FC236}">
                <a16:creationId xmlns:a16="http://schemas.microsoft.com/office/drawing/2014/main" id="{DB65FBC4-B58B-615F-380B-357BFECFF890}"/>
              </a:ext>
            </a:extLst>
          </p:cNvPr>
          <p:cNvCxnSpPr>
            <a:cxnSpLocks/>
            <a:stCxn id="369" idx="0"/>
            <a:endCxn id="54" idx="2"/>
          </p:cNvCxnSpPr>
          <p:nvPr/>
        </p:nvCxnSpPr>
        <p:spPr>
          <a:xfrm flipH="1" flipV="1">
            <a:off x="7159721" y="2372434"/>
            <a:ext cx="1850" cy="16179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2" name="直線單箭頭接點 371">
            <a:extLst>
              <a:ext uri="{FF2B5EF4-FFF2-40B4-BE49-F238E27FC236}">
                <a16:creationId xmlns:a16="http://schemas.microsoft.com/office/drawing/2014/main" id="{80417F5D-C68B-59D2-FCA6-5DDA7D38F16F}"/>
              </a:ext>
            </a:extLst>
          </p:cNvPr>
          <p:cNvCxnSpPr>
            <a:cxnSpLocks/>
            <a:stCxn id="373" idx="0"/>
            <a:endCxn id="370" idx="2"/>
          </p:cNvCxnSpPr>
          <p:nvPr/>
        </p:nvCxnSpPr>
        <p:spPr>
          <a:xfrm flipV="1">
            <a:off x="7161570" y="3376526"/>
            <a:ext cx="1" cy="13817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文字方塊 372">
            <a:extLst>
              <a:ext uri="{FF2B5EF4-FFF2-40B4-BE49-F238E27FC236}">
                <a16:creationId xmlns:a16="http://schemas.microsoft.com/office/drawing/2014/main" id="{719E8EC6-A31B-D42A-C145-2ADBE0C744F6}"/>
              </a:ext>
            </a:extLst>
          </p:cNvPr>
          <p:cNvSpPr txBox="1"/>
          <p:nvPr/>
        </p:nvSpPr>
        <p:spPr>
          <a:xfrm>
            <a:off x="6945546" y="3514698"/>
            <a:ext cx="432048" cy="352634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600"/>
              </a:lnSpc>
              <a:buNone/>
            </a:pPr>
            <a:r>
              <a:rPr lang="en-US" altLang="zh-TW" sz="1000" b="1" u="sng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</a:rPr>
              <a:t>Q&amp;A</a:t>
            </a:r>
            <a:endParaRPr lang="en-US" altLang="zh-TW" sz="1000" u="sng" strike="noStrike" kern="1200" spc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lvl="0" algn="ctr" defTabSz="914400" rtl="0" eaLnBrk="1" fontAlgn="ctr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schemeClr val="bg2">
                    <a:lumMod val="25000"/>
                  </a:schemeClr>
                </a:solidFill>
                <a:latin typeface="Consolas" panose="020B0609020204030204" pitchFamily="49" charset="0"/>
                <a:ea typeface="新細明體" panose="02020500000000000000" pitchFamily="18" charset="-120"/>
              </a:rPr>
              <a:t>(MCQ)</a:t>
            </a:r>
            <a:endParaRPr kumimoji="0" lang="zh-TW" altLang="zh-TW" sz="1000" strike="noStrike" kern="1200" cap="none" spc="0" normalizeH="0" noProof="0" dirty="0">
              <a:ln>
                <a:noFill/>
              </a:ln>
              <a:solidFill>
                <a:schemeClr val="bg2">
                  <a:lumMod val="25000"/>
                </a:schemeClr>
              </a:solidFill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6" name="文字方塊 375">
            <a:extLst>
              <a:ext uri="{FF2B5EF4-FFF2-40B4-BE49-F238E27FC236}">
                <a16:creationId xmlns:a16="http://schemas.microsoft.com/office/drawing/2014/main" id="{26919418-A789-EDA6-86D0-96CC2155BFCB}"/>
              </a:ext>
            </a:extLst>
          </p:cNvPr>
          <p:cNvSpPr txBox="1"/>
          <p:nvPr/>
        </p:nvSpPr>
        <p:spPr>
          <a:xfrm>
            <a:off x="7403394" y="2534226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7" name="文字方塊 376">
            <a:extLst>
              <a:ext uri="{FF2B5EF4-FFF2-40B4-BE49-F238E27FC236}">
                <a16:creationId xmlns:a16="http://schemas.microsoft.com/office/drawing/2014/main" id="{385AF1C9-D14F-F596-B42A-EACBA5A9AD44}"/>
              </a:ext>
            </a:extLst>
          </p:cNvPr>
          <p:cNvSpPr txBox="1"/>
          <p:nvPr/>
        </p:nvSpPr>
        <p:spPr>
          <a:xfrm>
            <a:off x="7403394" y="3005668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BCA1F0A1-C78B-4C44-6484-9B782920E7FF}"/>
              </a:ext>
            </a:extLst>
          </p:cNvPr>
          <p:cNvSpPr/>
          <p:nvPr/>
        </p:nvSpPr>
        <p:spPr>
          <a:xfrm>
            <a:off x="484964" y="1607424"/>
            <a:ext cx="1394497" cy="1918598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66B49238-60F6-67AA-9BF6-00D4A655770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SFT shapes behavior via structured, high-quality QA pairs, not knowledge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618F6AD0-83FA-9357-73ED-4F671D392F32}"/>
              </a:ext>
            </a:extLst>
          </p:cNvPr>
          <p:cNvSpPr txBox="1"/>
          <p:nvPr/>
        </p:nvSpPr>
        <p:spPr>
          <a:xfrm>
            <a:off x="747752" y="1756903"/>
            <a:ext cx="872480" cy="143886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Optimizer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SGD,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Adam,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6">
                    <a:lumMod val="75000"/>
                  </a:schemeClr>
                </a:solidFill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*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AdamW,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Paged AdamW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…</a:t>
            </a:r>
            <a:endParaRPr lang="en-US" altLang="zh-TW" sz="1000" u="none" strike="noStrike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2" name="標題 1">
            <a:extLst>
              <a:ext uri="{FF2B5EF4-FFF2-40B4-BE49-F238E27FC236}">
                <a16:creationId xmlns:a16="http://schemas.microsoft.com/office/drawing/2014/main" id="{7A53AD3C-F2BB-4EE2-24CD-86C8D28B9CA8}"/>
              </a:ext>
            </a:extLst>
          </p:cNvPr>
          <p:cNvSpPr txBox="1">
            <a:spLocks/>
          </p:cNvSpPr>
          <p:nvPr/>
        </p:nvSpPr>
        <p:spPr>
          <a:xfrm>
            <a:off x="2760419" y="3326392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Distillation</a:t>
            </a:r>
          </a:p>
        </p:txBody>
      </p:sp>
      <p:sp>
        <p:nvSpPr>
          <p:cNvPr id="24" name="流程圖: 合併 23">
            <a:extLst>
              <a:ext uri="{FF2B5EF4-FFF2-40B4-BE49-F238E27FC236}">
                <a16:creationId xmlns:a16="http://schemas.microsoft.com/office/drawing/2014/main" id="{CF8E78C1-A247-3230-83FA-CB76161D9B1F}"/>
              </a:ext>
            </a:extLst>
          </p:cNvPr>
          <p:cNvSpPr/>
          <p:nvPr/>
        </p:nvSpPr>
        <p:spPr>
          <a:xfrm>
            <a:off x="2123728" y="1317518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Time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5" name="標題 1">
            <a:extLst>
              <a:ext uri="{FF2B5EF4-FFF2-40B4-BE49-F238E27FC236}">
                <a16:creationId xmlns:a16="http://schemas.microsoft.com/office/drawing/2014/main" id="{B37A615F-552C-F797-9035-FB5C2D0F26EE}"/>
              </a:ext>
            </a:extLst>
          </p:cNvPr>
          <p:cNvSpPr txBox="1">
            <a:spLocks/>
          </p:cNvSpPr>
          <p:nvPr/>
        </p:nvSpPr>
        <p:spPr>
          <a:xfrm>
            <a:off x="6827284" y="3935370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PTQ</a:t>
            </a:r>
            <a:b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</a:br>
            <a:r>
              <a:rPr lang="en-US" altLang="zh-TW" sz="1000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(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Precision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58" name="標題 1">
            <a:extLst>
              <a:ext uri="{FF2B5EF4-FFF2-40B4-BE49-F238E27FC236}">
                <a16:creationId xmlns:a16="http://schemas.microsoft.com/office/drawing/2014/main" id="{0090CFC2-B2C3-795C-E73F-AE2C84936473}"/>
              </a:ext>
            </a:extLst>
          </p:cNvPr>
          <p:cNvSpPr txBox="1">
            <a:spLocks/>
          </p:cNvSpPr>
          <p:nvPr/>
        </p:nvSpPr>
        <p:spPr>
          <a:xfrm>
            <a:off x="5803721" y="3944782"/>
            <a:ext cx="640487" cy="272442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ts val="1000"/>
              </a:lnSpc>
            </a:pPr>
            <a:r>
              <a:rPr lang="en-US" altLang="zh-TW" sz="1200" b="1" dirty="0"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PRUNING</a:t>
            </a:r>
          </a:p>
          <a:p>
            <a:pPr lvl="0" algn="ctr">
              <a:lnSpc>
                <a:spcPts val="1000"/>
              </a:lnSpc>
              <a:spcBef>
                <a:spcPts val="0"/>
              </a:spcBef>
              <a:defRPr/>
            </a:pP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(Dimension</a:t>
            </a:r>
            <a:r>
              <a:rPr lang="en-US" altLang="zh-TW" sz="1000" b="1" dirty="0">
                <a:latin typeface="Noto Sans HK" panose="020B0200000000000000" pitchFamily="34" charset="-120"/>
                <a:ea typeface="Noto Sans HK" panose="020B0200000000000000" pitchFamily="34" charset="-120"/>
                <a:cs typeface="Calibri" panose="020F0502020204030204" pitchFamily="34" charset="0"/>
              </a:rPr>
              <a:t> ↓</a:t>
            </a:r>
            <a:r>
              <a:rPr kumimoji="0" lang="en-US" altLang="zh-TW" sz="10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新細明體" panose="02020500000000000000" pitchFamily="18" charset="-120"/>
                <a:cs typeface="+mn-cs"/>
              </a:rPr>
              <a:t>)</a:t>
            </a:r>
          </a:p>
        </p:txBody>
      </p:sp>
      <p:sp>
        <p:nvSpPr>
          <p:cNvPr id="16" name="標題 1">
            <a:extLst>
              <a:ext uri="{FF2B5EF4-FFF2-40B4-BE49-F238E27FC236}">
                <a16:creationId xmlns:a16="http://schemas.microsoft.com/office/drawing/2014/main" id="{D7904C49-4BB8-1FF5-995D-DC1BDC65925E}"/>
              </a:ext>
            </a:extLst>
          </p:cNvPr>
          <p:cNvSpPr txBox="1">
            <a:spLocks/>
          </p:cNvSpPr>
          <p:nvPr/>
        </p:nvSpPr>
        <p:spPr>
          <a:xfrm>
            <a:off x="929053" y="4262496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Pre-Training</a:t>
            </a:r>
          </a:p>
        </p:txBody>
      </p:sp>
      <p:sp>
        <p:nvSpPr>
          <p:cNvPr id="54" name="文字方塊 53">
            <a:extLst>
              <a:ext uri="{FF2B5EF4-FFF2-40B4-BE49-F238E27FC236}">
                <a16:creationId xmlns:a16="http://schemas.microsoft.com/office/drawing/2014/main" id="{9E691904-0820-18B0-4CA4-0C81702D74D5}"/>
              </a:ext>
            </a:extLst>
          </p:cNvPr>
          <p:cNvSpPr txBox="1"/>
          <p:nvPr/>
        </p:nvSpPr>
        <p:spPr>
          <a:xfrm>
            <a:off x="6936249" y="2181592"/>
            <a:ext cx="446943" cy="190842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Score</a:t>
            </a:r>
          </a:p>
        </p:txBody>
      </p:sp>
      <p:sp>
        <p:nvSpPr>
          <p:cNvPr id="10" name="標題 1">
            <a:extLst>
              <a:ext uri="{FF2B5EF4-FFF2-40B4-BE49-F238E27FC236}">
                <a16:creationId xmlns:a16="http://schemas.microsoft.com/office/drawing/2014/main" id="{6D8F9B5A-AD42-7F5E-59D3-5A2BC7763CF0}"/>
              </a:ext>
            </a:extLst>
          </p:cNvPr>
          <p:cNvSpPr txBox="1">
            <a:spLocks/>
          </p:cNvSpPr>
          <p:nvPr/>
        </p:nvSpPr>
        <p:spPr>
          <a:xfrm>
            <a:off x="6899462" y="4376830"/>
            <a:ext cx="496133" cy="174616"/>
          </a:xfrm>
          <a:prstGeom prst="rect">
            <a:avLst/>
          </a:prstGeom>
          <a:ln>
            <a:noFill/>
          </a:ln>
        </p:spPr>
        <p:txBody>
          <a:bodyPr wrap="none" lIns="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b="1" dirty="0">
                <a:solidFill>
                  <a:schemeClr val="tx2">
                    <a:lumMod val="50000"/>
                  </a:schemeClr>
                </a:solidFill>
                <a:latin typeface="+mn-lt"/>
                <a:ea typeface="Noto Sans HK" panose="020B0200000000000000" pitchFamily="34" charset="-120"/>
                <a:cs typeface="Arial" panose="020B0604020202020204" pitchFamily="34" charset="0"/>
              </a:rPr>
              <a:t>QAD</a:t>
            </a:r>
          </a:p>
        </p:txBody>
      </p: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958C702D-720A-4007-6D16-2D4BCAC13B6B}"/>
              </a:ext>
            </a:extLst>
          </p:cNvPr>
          <p:cNvCxnSpPr>
            <a:cxnSpLocks/>
            <a:stCxn id="118" idx="0"/>
            <a:endCxn id="139" idx="2"/>
          </p:cNvCxnSpPr>
          <p:nvPr/>
        </p:nvCxnSpPr>
        <p:spPr>
          <a:xfrm flipH="1" flipV="1">
            <a:off x="3004910" y="1521510"/>
            <a:ext cx="2" cy="246682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矩形: 圓角 134">
            <a:extLst>
              <a:ext uri="{FF2B5EF4-FFF2-40B4-BE49-F238E27FC236}">
                <a16:creationId xmlns:a16="http://schemas.microsoft.com/office/drawing/2014/main" id="{EFEB4379-478B-ED90-928C-8ABA214FEFAD}"/>
              </a:ext>
            </a:extLst>
          </p:cNvPr>
          <p:cNvSpPr/>
          <p:nvPr/>
        </p:nvSpPr>
        <p:spPr>
          <a:xfrm>
            <a:off x="2422005" y="1607424"/>
            <a:ext cx="1157348" cy="1121017"/>
          </a:xfrm>
          <a:prstGeom prst="roundRect">
            <a:avLst>
              <a:gd name="adj" fmla="val 429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56AA90C8-F0F4-60D7-CC2D-4ACFC9D0DB57}"/>
              </a:ext>
            </a:extLst>
          </p:cNvPr>
          <p:cNvSpPr txBox="1"/>
          <p:nvPr/>
        </p:nvSpPr>
        <p:spPr>
          <a:xfrm>
            <a:off x="2619400" y="1855569"/>
            <a:ext cx="872480" cy="548097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Layer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</a:t>
            </a:r>
          </a:p>
          <a:p>
            <a:pPr algn="ctr">
              <a:lnSpc>
                <a:spcPts val="1400"/>
              </a:lnSpc>
            </a:pPr>
            <a:r>
              <a:rPr lang="en-US" altLang="zh-TW" sz="1000" dirty="0">
                <a:effectLst>
                  <a:glow rad="1270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Dimension</a:t>
            </a:r>
            <a:r>
              <a:rPr lang="en-US" altLang="zh-TW" sz="1000" b="1" dirty="0">
                <a:effectLst>
                  <a:glow rad="127000">
                    <a:srgbClr val="FFFF00"/>
                  </a:glow>
                </a:effectLs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↓</a:t>
            </a:r>
            <a:endParaRPr lang="en-US" altLang="zh-TW" sz="1000" b="1" dirty="0">
              <a:effectLst>
                <a:glow rad="127000">
                  <a:srgbClr val="FFFF00"/>
                </a:glow>
              </a:effectLst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25" name="矩形: 圓角 24">
            <a:extLst>
              <a:ext uri="{FF2B5EF4-FFF2-40B4-BE49-F238E27FC236}">
                <a16:creationId xmlns:a16="http://schemas.microsoft.com/office/drawing/2014/main" id="{038139EC-2911-D766-E9F4-9EC4A47613F0}"/>
              </a:ext>
            </a:extLst>
          </p:cNvPr>
          <p:cNvSpPr/>
          <p:nvPr/>
        </p:nvSpPr>
        <p:spPr>
          <a:xfrm>
            <a:off x="6871636" y="4882671"/>
            <a:ext cx="794968" cy="973888"/>
          </a:xfrm>
          <a:prstGeom prst="roundRect">
            <a:avLst>
              <a:gd name="adj" fmla="val 516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solidFill>
                <a:schemeClr val="tx2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888D032C-2C1E-12FF-C88A-C93002A64CFF}"/>
              </a:ext>
            </a:extLst>
          </p:cNvPr>
          <p:cNvSpPr txBox="1"/>
          <p:nvPr/>
        </p:nvSpPr>
        <p:spPr>
          <a:xfrm>
            <a:off x="6948734" y="4946395"/>
            <a:ext cx="416433" cy="433924"/>
          </a:xfrm>
          <a:prstGeom prst="rect">
            <a:avLst/>
          </a:prstGeom>
          <a:solidFill>
            <a:srgbClr val="B7C9E7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44886D9A-736F-C281-2F59-B52D321C5207}"/>
              </a:ext>
            </a:extLst>
          </p:cNvPr>
          <p:cNvSpPr txBox="1"/>
          <p:nvPr/>
        </p:nvSpPr>
        <p:spPr>
          <a:xfrm>
            <a:off x="6948734" y="5417837"/>
            <a:ext cx="416433" cy="370858"/>
          </a:xfrm>
          <a:prstGeom prst="rect">
            <a:avLst/>
          </a:prstGeom>
          <a:solidFill>
            <a:srgbClr val="FEC203">
              <a:alpha val="1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7858E5B8-E8AC-C548-9D59-288F9AD872C0}"/>
              </a:ext>
            </a:extLst>
          </p:cNvPr>
          <p:cNvCxnSpPr>
            <a:cxnSpLocks/>
            <a:stCxn id="34" idx="0"/>
            <a:endCxn id="27" idx="2"/>
          </p:cNvCxnSpPr>
          <p:nvPr/>
        </p:nvCxnSpPr>
        <p:spPr>
          <a:xfrm flipV="1">
            <a:off x="7155100" y="5788695"/>
            <a:ext cx="1851" cy="20277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BDF147AB-9484-60B6-4538-414E0D6275A5}"/>
              </a:ext>
            </a:extLst>
          </p:cNvPr>
          <p:cNvSpPr txBox="1"/>
          <p:nvPr/>
        </p:nvSpPr>
        <p:spPr>
          <a:xfrm>
            <a:off x="6899462" y="5991469"/>
            <a:ext cx="511276" cy="288032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kumimoji="0" lang="en-US" altLang="zh-TW" sz="1000" b="1" strike="noStrike" kern="1200" cap="none" spc="0" normalizeH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rPr>
              <a:t>Mentor</a:t>
            </a:r>
          </a:p>
          <a:p>
            <a:pPr marL="0" algn="ctr" rtl="0" eaLnBrk="1" fontAlgn="ctr" latinLnBrk="0" hangingPunct="1">
              <a:lnSpc>
                <a:spcPts val="1200"/>
              </a:lnSpc>
              <a:buNone/>
            </a:pPr>
            <a:r>
              <a:rPr lang="en-US" altLang="zh-TW" sz="1000" b="1" dirty="0">
                <a:latin typeface="Consolas" panose="020B0609020204030204" pitchFamily="49" charset="0"/>
                <a:ea typeface="新細明體" panose="02020500000000000000" pitchFamily="18" charset="-120"/>
              </a:rPr>
              <a:t>Model</a:t>
            </a:r>
            <a:endParaRPr kumimoji="0" lang="zh-TW" altLang="zh-TW" sz="1000" strike="noStrike" kern="1200" cap="none" spc="0" normalizeH="0" noProof="0" dirty="0">
              <a:ln>
                <a:noFill/>
              </a:ln>
              <a:effectLst/>
              <a:uLnTx/>
              <a:uFillTx/>
              <a:latin typeface="Consolas" panose="020B0609020204030204" pitchFamily="49" charset="0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B4E66B93-719D-CBB5-EF4B-34F3D4D5E385}"/>
              </a:ext>
            </a:extLst>
          </p:cNvPr>
          <p:cNvSpPr txBox="1"/>
          <p:nvPr/>
        </p:nvSpPr>
        <p:spPr>
          <a:xfrm>
            <a:off x="7398774" y="4946395"/>
            <a:ext cx="190225" cy="433924"/>
          </a:xfrm>
          <a:prstGeom prst="rect">
            <a:avLst/>
          </a:prstGeom>
          <a:solidFill>
            <a:srgbClr val="B7C9E7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tx2"/>
                </a:solidFill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778BE287-ABAE-8938-B37C-19FD2B4B229E}"/>
              </a:ext>
            </a:extLst>
          </p:cNvPr>
          <p:cNvSpPr txBox="1"/>
          <p:nvPr/>
        </p:nvSpPr>
        <p:spPr>
          <a:xfrm>
            <a:off x="7398774" y="5417837"/>
            <a:ext cx="190225" cy="370858"/>
          </a:xfrm>
          <a:prstGeom prst="rect">
            <a:avLst/>
          </a:prstGeom>
          <a:solidFill>
            <a:srgbClr val="FEC203">
              <a:alpha val="3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2"/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</a:t>
            </a:r>
          </a:p>
        </p:txBody>
      </p:sp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5DE4A9B2-62EF-A9B5-5ECE-ED795AB7D94A}"/>
              </a:ext>
            </a:extLst>
          </p:cNvPr>
          <p:cNvSpPr/>
          <p:nvPr/>
        </p:nvSpPr>
        <p:spPr>
          <a:xfrm>
            <a:off x="6802561" y="4820861"/>
            <a:ext cx="862185" cy="1098601"/>
          </a:xfrm>
          <a:prstGeom prst="roundRect">
            <a:avLst>
              <a:gd name="adj" fmla="val 1682"/>
            </a:avLst>
          </a:prstGeom>
          <a:solidFill>
            <a:schemeClr val="accent2">
              <a:lumMod val="50000"/>
              <a:alpha val="60000"/>
            </a:schemeClr>
          </a:solidFill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cxnSp>
        <p:nvCxnSpPr>
          <p:cNvPr id="60" name="直線單箭頭接點 59">
            <a:extLst>
              <a:ext uri="{FF2B5EF4-FFF2-40B4-BE49-F238E27FC236}">
                <a16:creationId xmlns:a16="http://schemas.microsoft.com/office/drawing/2014/main" id="{2C954AD7-E402-6AFC-8B91-CBAD6E53D57E}"/>
              </a:ext>
            </a:extLst>
          </p:cNvPr>
          <p:cNvCxnSpPr>
            <a:cxnSpLocks/>
            <a:stCxn id="26" idx="0"/>
            <a:endCxn id="62" idx="2"/>
          </p:cNvCxnSpPr>
          <p:nvPr/>
        </p:nvCxnSpPr>
        <p:spPr>
          <a:xfrm flipH="1" flipV="1">
            <a:off x="7155101" y="4747761"/>
            <a:ext cx="1850" cy="19863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D36BF304-77E9-0856-4BC0-AEEE5DDEDB92}"/>
              </a:ext>
            </a:extLst>
          </p:cNvPr>
          <p:cNvSpPr txBox="1"/>
          <p:nvPr/>
        </p:nvSpPr>
        <p:spPr>
          <a:xfrm>
            <a:off x="6931629" y="4592854"/>
            <a:ext cx="446943" cy="154907"/>
          </a:xfrm>
          <a:prstGeom prst="rect">
            <a:avLst/>
          </a:prstGeom>
          <a:noFill/>
          <a:ln w="15875"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>
                  <a:glow rad="177800">
                    <a:srgbClr val="FFFF00"/>
                  </a:glow>
                </a:effectLst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Logit</a:t>
            </a:r>
          </a:p>
        </p:txBody>
      </p: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2AB2E4CD-81A2-C891-8A8A-C932E820910C}"/>
              </a:ext>
            </a:extLst>
          </p:cNvPr>
          <p:cNvSpPr txBox="1"/>
          <p:nvPr/>
        </p:nvSpPr>
        <p:spPr>
          <a:xfrm>
            <a:off x="8100392" y="2492896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u="none" strike="noStrike" dirty="0">
                <a:effectLst/>
              </a:rPr>
              <a:t>Full-FT</a:t>
            </a:r>
            <a:br>
              <a:rPr lang="en-US" altLang="zh-TW" sz="1400" b="1" u="none" strike="noStrike" dirty="0">
                <a:effectLst/>
              </a:rPr>
            </a:br>
            <a:r>
              <a:rPr lang="en-US" altLang="zh-TW" sz="1200" u="none" strike="noStrike" dirty="0">
                <a:effectLst/>
              </a:rPr>
              <a:t>mobile</a:t>
            </a:r>
            <a:r>
              <a:rPr lang="zh-TW" altLang="en-US" sz="1200" u="none" strike="noStrike" dirty="0">
                <a:effectLst/>
              </a:rPr>
              <a:t> </a:t>
            </a:r>
            <a:r>
              <a:rPr lang="en-US" altLang="zh-TW" sz="1200" u="none" strike="noStrike" dirty="0">
                <a:effectLst/>
              </a:rPr>
              <a:t>phone</a:t>
            </a: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8E46294F-E8D5-8000-D7A7-61B2407B3F27}"/>
              </a:ext>
            </a:extLst>
          </p:cNvPr>
          <p:cNvSpPr txBox="1"/>
          <p:nvPr/>
        </p:nvSpPr>
        <p:spPr>
          <a:xfrm>
            <a:off x="8100392" y="4221088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INT4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NV, Qualcomm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99" name="文字方塊 98">
            <a:extLst>
              <a:ext uri="{FF2B5EF4-FFF2-40B4-BE49-F238E27FC236}">
                <a16:creationId xmlns:a16="http://schemas.microsoft.com/office/drawing/2014/main" id="{088F6325-C28A-4157-F3A9-7C1C0E7C8669}"/>
              </a:ext>
            </a:extLst>
          </p:cNvPr>
          <p:cNvSpPr txBox="1"/>
          <p:nvPr/>
        </p:nvSpPr>
        <p:spPr>
          <a:xfrm>
            <a:off x="8100392" y="3068960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PEFT + Q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4-bit / 8-bit</a:t>
            </a:r>
          </a:p>
        </p:txBody>
      </p:sp>
      <p:graphicFrame>
        <p:nvGraphicFramePr>
          <p:cNvPr id="101" name="表格 100">
            <a:extLst>
              <a:ext uri="{FF2B5EF4-FFF2-40B4-BE49-F238E27FC236}">
                <a16:creationId xmlns:a16="http://schemas.microsoft.com/office/drawing/2014/main" id="{62234615-AD4E-B363-8156-95B96ED52A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4184708"/>
              </p:ext>
            </p:extLst>
          </p:nvPr>
        </p:nvGraphicFramePr>
        <p:xfrm>
          <a:off x="446679" y="5483659"/>
          <a:ext cx="2061433" cy="8716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1433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296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Quantization-Aware (QA)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Fake Quantization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FP: Quantization Noise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9197690"/>
                  </a:ext>
                </a:extLst>
              </a:tr>
              <a:tr h="1761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BP: Straight-Through Estimator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6899233"/>
                  </a:ext>
                </a:extLst>
              </a:tr>
            </a:tbl>
          </a:graphicData>
        </a:graphic>
      </p:graphicFrame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7C945779-99C8-E510-B0CC-B3511BDE59A2}"/>
              </a:ext>
            </a:extLst>
          </p:cNvPr>
          <p:cNvSpPr/>
          <p:nvPr/>
        </p:nvSpPr>
        <p:spPr>
          <a:xfrm>
            <a:off x="5604492" y="1916832"/>
            <a:ext cx="2204154" cy="440421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r>
              <a:rPr lang="en-US" altLang="zh-TW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Quantization</a:t>
            </a:r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grpSp>
        <p:nvGrpSpPr>
          <p:cNvPr id="149" name="群組 148">
            <a:extLst>
              <a:ext uri="{FF2B5EF4-FFF2-40B4-BE49-F238E27FC236}">
                <a16:creationId xmlns:a16="http://schemas.microsoft.com/office/drawing/2014/main" id="{325668A4-D446-9102-28ED-F52E943FA4E6}"/>
              </a:ext>
            </a:extLst>
          </p:cNvPr>
          <p:cNvGrpSpPr/>
          <p:nvPr/>
        </p:nvGrpSpPr>
        <p:grpSpPr>
          <a:xfrm>
            <a:off x="3971048" y="1140776"/>
            <a:ext cx="1105008" cy="2271474"/>
            <a:chOff x="3971048" y="1140776"/>
            <a:chExt cx="1105008" cy="2271474"/>
          </a:xfrm>
        </p:grpSpPr>
        <p:sp>
          <p:nvSpPr>
            <p:cNvPr id="231" name="矩形: 圓角 230">
              <a:extLst>
                <a:ext uri="{FF2B5EF4-FFF2-40B4-BE49-F238E27FC236}">
                  <a16:creationId xmlns:a16="http://schemas.microsoft.com/office/drawing/2014/main" id="{45D54DA9-81FE-C438-046A-1A46ED3096E4}"/>
                </a:ext>
              </a:extLst>
            </p:cNvPr>
            <p:cNvSpPr/>
            <p:nvPr/>
          </p:nvSpPr>
          <p:spPr>
            <a:xfrm>
              <a:off x="4039595" y="1701650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232" name="文字方塊 231">
              <a:extLst>
                <a:ext uri="{FF2B5EF4-FFF2-40B4-BE49-F238E27FC236}">
                  <a16:creationId xmlns:a16="http://schemas.microsoft.com/office/drawing/2014/main" id="{2915F053-5BA3-91A3-F3A0-E318E31CF1D9}"/>
                </a:ext>
              </a:extLst>
            </p:cNvPr>
            <p:cNvSpPr txBox="1"/>
            <p:nvPr/>
          </p:nvSpPr>
          <p:spPr>
            <a:xfrm>
              <a:off x="4106989" y="1765374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233" name="文字方塊 232">
              <a:extLst>
                <a:ext uri="{FF2B5EF4-FFF2-40B4-BE49-F238E27FC236}">
                  <a16:creationId xmlns:a16="http://schemas.microsoft.com/office/drawing/2014/main" id="{26EFE7DA-DC3D-61EF-CA7F-CDB6E8A8BB1F}"/>
                </a:ext>
              </a:extLst>
            </p:cNvPr>
            <p:cNvSpPr txBox="1"/>
            <p:nvPr/>
          </p:nvSpPr>
          <p:spPr>
            <a:xfrm>
              <a:off x="4106989" y="2236816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235" name="直線單箭頭接點 234">
              <a:extLst>
                <a:ext uri="{FF2B5EF4-FFF2-40B4-BE49-F238E27FC236}">
                  <a16:creationId xmlns:a16="http://schemas.microsoft.com/office/drawing/2014/main" id="{280F35D4-BAD6-1EA4-8951-F083A9B10714}"/>
                </a:ext>
              </a:extLst>
            </p:cNvPr>
            <p:cNvCxnSpPr>
              <a:cxnSpLocks/>
              <a:stCxn id="237" idx="0"/>
              <a:endCxn id="233" idx="2"/>
            </p:cNvCxnSpPr>
            <p:nvPr/>
          </p:nvCxnSpPr>
          <p:spPr>
            <a:xfrm flipV="1">
              <a:off x="4366676" y="2607674"/>
              <a:ext cx="1857" cy="23811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6" name="直線單箭頭接點 235">
              <a:extLst>
                <a:ext uri="{FF2B5EF4-FFF2-40B4-BE49-F238E27FC236}">
                  <a16:creationId xmlns:a16="http://schemas.microsoft.com/office/drawing/2014/main" id="{FFBF7D4D-75E4-EAF1-B65E-C8CB1B654F37}"/>
                </a:ext>
              </a:extLst>
            </p:cNvPr>
            <p:cNvCxnSpPr>
              <a:cxnSpLocks/>
              <a:stCxn id="233" idx="0"/>
              <a:endCxn id="232" idx="2"/>
            </p:cNvCxnSpPr>
            <p:nvPr/>
          </p:nvCxnSpPr>
          <p:spPr>
            <a:xfrm flipV="1">
              <a:off x="4368533" y="2136232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7" name="文字方塊 236">
              <a:extLst>
                <a:ext uri="{FF2B5EF4-FFF2-40B4-BE49-F238E27FC236}">
                  <a16:creationId xmlns:a16="http://schemas.microsoft.com/office/drawing/2014/main" id="{E79CA7A2-37EC-63CC-FF32-801B15CF6DFD}"/>
                </a:ext>
              </a:extLst>
            </p:cNvPr>
            <p:cNvSpPr txBox="1"/>
            <p:nvPr/>
          </p:nvSpPr>
          <p:spPr>
            <a:xfrm>
              <a:off x="4150652" y="2845785"/>
              <a:ext cx="432048" cy="367191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238" name="文字方塊 237">
              <a:extLst>
                <a:ext uri="{FF2B5EF4-FFF2-40B4-BE49-F238E27FC236}">
                  <a16:creationId xmlns:a16="http://schemas.microsoft.com/office/drawing/2014/main" id="{E4CBB606-3145-C366-F2CA-61F748F8E672}"/>
                </a:ext>
              </a:extLst>
            </p:cNvPr>
            <p:cNvSpPr txBox="1"/>
            <p:nvPr/>
          </p:nvSpPr>
          <p:spPr>
            <a:xfrm>
              <a:off x="3971048" y="1140776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5" name="標題 1">
              <a:extLst>
                <a:ext uri="{FF2B5EF4-FFF2-40B4-BE49-F238E27FC236}">
                  <a16:creationId xmlns:a16="http://schemas.microsoft.com/office/drawing/2014/main" id="{6F6F6AAC-AA6F-4EE2-07D9-BB9A5FBD34B2}"/>
                </a:ext>
              </a:extLst>
            </p:cNvPr>
            <p:cNvSpPr txBox="1">
              <a:spLocks/>
            </p:cNvSpPr>
            <p:nvPr/>
          </p:nvSpPr>
          <p:spPr>
            <a:xfrm>
              <a:off x="4094886" y="3212976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Full-FT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cxnSp>
          <p:nvCxnSpPr>
            <p:cNvPr id="234" name="直線單箭頭接點 233">
              <a:extLst>
                <a:ext uri="{FF2B5EF4-FFF2-40B4-BE49-F238E27FC236}">
                  <a16:creationId xmlns:a16="http://schemas.microsoft.com/office/drawing/2014/main" id="{AFADEF92-C88A-CA53-FDE0-5F7892DC5CFD}"/>
                </a:ext>
              </a:extLst>
            </p:cNvPr>
            <p:cNvCxnSpPr>
              <a:cxnSpLocks/>
              <a:stCxn id="232" idx="0"/>
              <a:endCxn id="238" idx="2"/>
            </p:cNvCxnSpPr>
            <p:nvPr/>
          </p:nvCxnSpPr>
          <p:spPr>
            <a:xfrm flipH="1" flipV="1">
              <a:off x="4368532" y="1518692"/>
              <a:ext cx="1" cy="24668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0" name="矩形: 圓角 299">
              <a:extLst>
                <a:ext uri="{FF2B5EF4-FFF2-40B4-BE49-F238E27FC236}">
                  <a16:creationId xmlns:a16="http://schemas.microsoft.com/office/drawing/2014/main" id="{72283385-EF65-D064-44F7-ED7DF89F2AE4}"/>
                </a:ext>
              </a:extLst>
            </p:cNvPr>
            <p:cNvSpPr/>
            <p:nvPr/>
          </p:nvSpPr>
          <p:spPr>
            <a:xfrm>
              <a:off x="3976886" y="1605576"/>
              <a:ext cx="746408" cy="1121017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07" name="矩形: 圓角 106">
              <a:extLst>
                <a:ext uri="{FF2B5EF4-FFF2-40B4-BE49-F238E27FC236}">
                  <a16:creationId xmlns:a16="http://schemas.microsoft.com/office/drawing/2014/main" id="{B9D231FB-B9CF-9880-E698-8380D24C64B4}"/>
                </a:ext>
              </a:extLst>
            </p:cNvPr>
            <p:cNvSpPr/>
            <p:nvPr/>
          </p:nvSpPr>
          <p:spPr>
            <a:xfrm>
              <a:off x="4716016" y="3222501"/>
              <a:ext cx="345765" cy="174616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28" name="群組 127">
            <a:extLst>
              <a:ext uri="{FF2B5EF4-FFF2-40B4-BE49-F238E27FC236}">
                <a16:creationId xmlns:a16="http://schemas.microsoft.com/office/drawing/2014/main" id="{54D06E2C-3FA0-3B42-0585-4F52CCF2DA87}"/>
              </a:ext>
            </a:extLst>
          </p:cNvPr>
          <p:cNvGrpSpPr/>
          <p:nvPr/>
        </p:nvGrpSpPr>
        <p:grpSpPr>
          <a:xfrm>
            <a:off x="3923928" y="3645024"/>
            <a:ext cx="1125186" cy="2088232"/>
            <a:chOff x="3923928" y="3645024"/>
            <a:chExt cx="1125186" cy="2088232"/>
          </a:xfrm>
        </p:grpSpPr>
        <p:sp>
          <p:nvSpPr>
            <p:cNvPr id="303" name="矩形: 圓角 302">
              <a:extLst>
                <a:ext uri="{FF2B5EF4-FFF2-40B4-BE49-F238E27FC236}">
                  <a16:creationId xmlns:a16="http://schemas.microsoft.com/office/drawing/2014/main" id="{E979668C-1675-047A-AB0A-72961AD64DC2}"/>
                </a:ext>
              </a:extLst>
            </p:cNvPr>
            <p:cNvSpPr/>
            <p:nvPr/>
          </p:nvSpPr>
          <p:spPr>
            <a:xfrm>
              <a:off x="3992475" y="4058948"/>
              <a:ext cx="881418" cy="973888"/>
            </a:xfrm>
            <a:prstGeom prst="roundRect">
              <a:avLst>
                <a:gd name="adj" fmla="val 5163"/>
              </a:avLst>
            </a:prstGeom>
            <a:solidFill>
              <a:srgbClr val="DDDDDD">
                <a:alpha val="4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04" name="文字方塊 303">
              <a:extLst>
                <a:ext uri="{FF2B5EF4-FFF2-40B4-BE49-F238E27FC236}">
                  <a16:creationId xmlns:a16="http://schemas.microsoft.com/office/drawing/2014/main" id="{1BE78960-095F-03AA-5CF1-43CA262380D5}"/>
                </a:ext>
              </a:extLst>
            </p:cNvPr>
            <p:cNvSpPr txBox="1"/>
            <p:nvPr/>
          </p:nvSpPr>
          <p:spPr>
            <a:xfrm>
              <a:off x="4059869" y="4122672"/>
              <a:ext cx="523087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FFN</a:t>
              </a:r>
            </a:p>
          </p:txBody>
        </p:sp>
        <p:sp>
          <p:nvSpPr>
            <p:cNvPr id="305" name="文字方塊 304">
              <a:extLst>
                <a:ext uri="{FF2B5EF4-FFF2-40B4-BE49-F238E27FC236}">
                  <a16:creationId xmlns:a16="http://schemas.microsoft.com/office/drawing/2014/main" id="{BE3E2506-D931-6DDB-E8E2-4F6D4B155C8E}"/>
                </a:ext>
              </a:extLst>
            </p:cNvPr>
            <p:cNvSpPr txBox="1"/>
            <p:nvPr/>
          </p:nvSpPr>
          <p:spPr>
            <a:xfrm>
              <a:off x="4059869" y="4594114"/>
              <a:ext cx="52308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2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MHA</a:t>
              </a:r>
            </a:p>
          </p:txBody>
        </p:sp>
        <p:cxnSp>
          <p:nvCxnSpPr>
            <p:cNvPr id="306" name="直線單箭頭接點 305">
              <a:extLst>
                <a:ext uri="{FF2B5EF4-FFF2-40B4-BE49-F238E27FC236}">
                  <a16:creationId xmlns:a16="http://schemas.microsoft.com/office/drawing/2014/main" id="{CED5AFD8-7F9E-115D-A10B-D6EB519C0C2C}"/>
                </a:ext>
              </a:extLst>
            </p:cNvPr>
            <p:cNvCxnSpPr>
              <a:cxnSpLocks/>
              <a:stCxn id="304" idx="0"/>
              <a:endCxn id="310" idx="2"/>
            </p:cNvCxnSpPr>
            <p:nvPr/>
          </p:nvCxnSpPr>
          <p:spPr>
            <a:xfrm flipH="1" flipV="1">
              <a:off x="4321412" y="4022940"/>
              <a:ext cx="1" cy="997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7" name="直線單箭頭接點 306">
              <a:extLst>
                <a:ext uri="{FF2B5EF4-FFF2-40B4-BE49-F238E27FC236}">
                  <a16:creationId xmlns:a16="http://schemas.microsoft.com/office/drawing/2014/main" id="{E4C3FB2A-315E-23D6-2838-943D77BE79D1}"/>
                </a:ext>
              </a:extLst>
            </p:cNvPr>
            <p:cNvCxnSpPr>
              <a:cxnSpLocks/>
              <a:stCxn id="309" idx="0"/>
              <a:endCxn id="305" idx="2"/>
            </p:cNvCxnSpPr>
            <p:nvPr/>
          </p:nvCxnSpPr>
          <p:spPr>
            <a:xfrm flipV="1">
              <a:off x="4319556" y="4964972"/>
              <a:ext cx="1857" cy="1790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直線單箭頭接點 307">
              <a:extLst>
                <a:ext uri="{FF2B5EF4-FFF2-40B4-BE49-F238E27FC236}">
                  <a16:creationId xmlns:a16="http://schemas.microsoft.com/office/drawing/2014/main" id="{8AD3E93F-3282-D2F8-28FA-263D53C0A3D6}"/>
                </a:ext>
              </a:extLst>
            </p:cNvPr>
            <p:cNvCxnSpPr>
              <a:cxnSpLocks/>
              <a:stCxn id="305" idx="0"/>
              <a:endCxn id="304" idx="2"/>
            </p:cNvCxnSpPr>
            <p:nvPr/>
          </p:nvCxnSpPr>
          <p:spPr>
            <a:xfrm flipV="1">
              <a:off x="4321413" y="4493530"/>
              <a:ext cx="0" cy="10058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9" name="文字方塊 308">
              <a:extLst>
                <a:ext uri="{FF2B5EF4-FFF2-40B4-BE49-F238E27FC236}">
                  <a16:creationId xmlns:a16="http://schemas.microsoft.com/office/drawing/2014/main" id="{C07C3214-A890-341F-2ABA-EC9F5BDE38A4}"/>
                </a:ext>
              </a:extLst>
            </p:cNvPr>
            <p:cNvSpPr txBox="1"/>
            <p:nvPr/>
          </p:nvSpPr>
          <p:spPr>
            <a:xfrm>
              <a:off x="4103532" y="5144030"/>
              <a:ext cx="432048" cy="373202"/>
            </a:xfrm>
            <a:prstGeom prst="rect">
              <a:avLst/>
            </a:prstGeom>
            <a:solidFill>
              <a:srgbClr val="FDE7DA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0" tIns="0" rIns="0" bIns="0" anchor="t" anchorCtr="1">
              <a:noAutofit/>
            </a:bodyPr>
            <a:lstStyle/>
            <a:p>
              <a:pPr marL="0" algn="ctr" rtl="0" eaLnBrk="1" fontAlgn="ctr" latinLnBrk="0" hangingPunct="1">
                <a:lnSpc>
                  <a:spcPts val="1600"/>
                </a:lnSpc>
                <a:buNone/>
              </a:pPr>
              <a:r>
                <a:rPr lang="en-US" altLang="zh-TW" sz="1200" u="sng" strike="noStrike" kern="1200" spc="0" dirty="0">
                  <a:ln>
                    <a:noFill/>
                  </a:ln>
                  <a:solidFill>
                    <a:srgbClr val="000000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zh-TW" sz="1200" b="1" u="sng" dirty="0">
                  <a:solidFill>
                    <a:srgbClr val="000000"/>
                  </a:solidFill>
                  <a:latin typeface="Consolas" panose="020B0609020204030204" pitchFamily="49" charset="0"/>
                </a:rPr>
                <a:t>Q&amp;A</a:t>
              </a:r>
              <a:r>
                <a:rPr lang="en-US" altLang="zh-TW" sz="1200" b="1" u="sng" strike="noStrike" kern="1200" spc="0" dirty="0">
                  <a:ln>
                    <a:noFill/>
                  </a:ln>
                  <a:effectLst/>
                  <a:latin typeface="Consolas" panose="020B0609020204030204" pitchFamily="49" charset="0"/>
                </a:rPr>
                <a:t> </a:t>
              </a:r>
              <a:endParaRPr lang="en-US" altLang="zh-TW" sz="1200" u="sng" strike="noStrike" kern="1200" spc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algn="ctr" defTabSz="914400" rtl="0" eaLnBrk="1" fontAlgn="ctr" latinLnBrk="0" hangingPunct="1">
                <a:lnSpc>
                  <a:spcPts val="1200"/>
                </a:lnSpc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kumimoji="0" lang="zh-TW" altLang="en-US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</a:t>
              </a:r>
              <a:r>
                <a:rPr lang="en-US" altLang="zh-TW" sz="1200" dirty="0">
                  <a:solidFill>
                    <a:schemeClr val="bg1">
                      <a:lumMod val="50000"/>
                    </a:schemeClr>
                  </a:solidFill>
                  <a:latin typeface="Consolas" panose="020B0609020204030204" pitchFamily="49" charset="0"/>
                  <a:ea typeface="新細明體" panose="02020500000000000000" pitchFamily="18" charset="-120"/>
                </a:rPr>
                <a:t>…</a:t>
              </a:r>
              <a:r>
                <a:rPr kumimoji="0" lang="en-US" altLang="zh-TW" sz="1200" strike="noStrike" kern="1200" cap="none" spc="0" normalizeH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Consolas" panose="020B0609020204030204" pitchFamily="49" charset="0"/>
                  <a:ea typeface="新細明體" panose="02020500000000000000" pitchFamily="18" charset="-120"/>
                  <a:cs typeface="+mn-cs"/>
                </a:rPr>
                <a:t>  </a:t>
              </a:r>
              <a:endParaRPr kumimoji="0" lang="zh-TW" altLang="zh-TW" sz="1200" strike="noStrike" kern="1200" cap="none" spc="0" normalizeH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Consolas" panose="020B0609020204030204" pitchFamily="49" charset="0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10" name="文字方塊 309">
              <a:extLst>
                <a:ext uri="{FF2B5EF4-FFF2-40B4-BE49-F238E27FC236}">
                  <a16:creationId xmlns:a16="http://schemas.microsoft.com/office/drawing/2014/main" id="{3EEE3D60-9DDA-59EF-9DF3-94A1CC72A610}"/>
                </a:ext>
              </a:extLst>
            </p:cNvPr>
            <p:cNvSpPr txBox="1"/>
            <p:nvPr/>
          </p:nvSpPr>
          <p:spPr>
            <a:xfrm>
              <a:off x="3923928" y="3645024"/>
              <a:ext cx="794968" cy="377916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none" lIns="0" tIns="0" rIns="0" bIns="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000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Loss of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100" b="1" u="none" strike="noStrike" dirty="0">
                  <a:effectLst>
                    <a:glow rad="177800">
                      <a:srgbClr val="FFFF00"/>
                    </a:glow>
                  </a:effectLst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Answer</a:t>
              </a:r>
            </a:p>
          </p:txBody>
        </p:sp>
        <p:sp>
          <p:nvSpPr>
            <p:cNvPr id="312" name="文字方塊 311">
              <a:extLst>
                <a:ext uri="{FF2B5EF4-FFF2-40B4-BE49-F238E27FC236}">
                  <a16:creationId xmlns:a16="http://schemas.microsoft.com/office/drawing/2014/main" id="{8A5A3840-A3F7-2154-33FB-3424CAF267FE}"/>
                </a:ext>
              </a:extLst>
            </p:cNvPr>
            <p:cNvSpPr txBox="1"/>
            <p:nvPr/>
          </p:nvSpPr>
          <p:spPr>
            <a:xfrm>
              <a:off x="4642234" y="4122672"/>
              <a:ext cx="189751" cy="370858"/>
            </a:xfrm>
            <a:prstGeom prst="rect">
              <a:avLst/>
            </a:prstGeom>
            <a:solidFill>
              <a:srgbClr val="B7C9E7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dirty="0"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4C70843D-8C4D-B7FB-568A-374C7DC85E55}"/>
                </a:ext>
              </a:extLst>
            </p:cNvPr>
            <p:cNvSpPr txBox="1"/>
            <p:nvPr/>
          </p:nvSpPr>
          <p:spPr>
            <a:xfrm>
              <a:off x="4642234" y="4594114"/>
              <a:ext cx="198767" cy="370858"/>
            </a:xfrm>
            <a:prstGeom prst="rect">
              <a:avLst/>
            </a:prstGeom>
            <a:solidFill>
              <a:srgbClr val="FEC203">
                <a:alpha val="60000"/>
              </a:srgbClr>
            </a:solidFill>
            <a:ln w="15875">
              <a:solidFill>
                <a:schemeClr val="bg1">
                  <a:lumMod val="65000"/>
                </a:schemeClr>
              </a:solidFill>
            </a:ln>
          </p:spPr>
          <p:txBody>
            <a:bodyPr wrap="none" lIns="36000" tIns="36000" rIns="0" bIns="0" anchor="t" anchorCtr="0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000" b="1" u="none" strike="noStrike" dirty="0">
                  <a:effectLst/>
                  <a:latin typeface="Gadugi" panose="020B0502040204020203" pitchFamily="34" charset="0"/>
                  <a:ea typeface="Gadugi" panose="020B0502040204020203" pitchFamily="34" charset="0"/>
                  <a:cs typeface="ADLaM Display" panose="02010000000000000000" pitchFamily="2" charset="0"/>
                </a:rPr>
                <a:t>Adapter</a:t>
              </a:r>
            </a:p>
          </p:txBody>
        </p:sp>
        <p:sp>
          <p:nvSpPr>
            <p:cNvPr id="314" name="矩形: 圓角 313">
              <a:extLst>
                <a:ext uri="{FF2B5EF4-FFF2-40B4-BE49-F238E27FC236}">
                  <a16:creationId xmlns:a16="http://schemas.microsoft.com/office/drawing/2014/main" id="{0A3FD1D8-8B24-8160-A2DC-EA4E3F89C00E}"/>
                </a:ext>
              </a:extLst>
            </p:cNvPr>
            <p:cNvSpPr/>
            <p:nvPr/>
          </p:nvSpPr>
          <p:spPr>
            <a:xfrm>
              <a:off x="4581099" y="4013415"/>
              <a:ext cx="293347" cy="1060951"/>
            </a:xfrm>
            <a:prstGeom prst="roundRect">
              <a:avLst>
                <a:gd name="adj" fmla="val 1682"/>
              </a:avLst>
            </a:prstGeom>
            <a:solidFill>
              <a:schemeClr val="accent2">
                <a:lumMod val="50000"/>
                <a:alpha val="60000"/>
              </a:schemeClr>
            </a:solidFill>
            <a:ln w="15875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00"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3" name="標題 1">
              <a:extLst>
                <a:ext uri="{FF2B5EF4-FFF2-40B4-BE49-F238E27FC236}">
                  <a16:creationId xmlns:a16="http://schemas.microsoft.com/office/drawing/2014/main" id="{C54505D7-E619-DAEA-2B54-9E119C3FCDE0}"/>
                </a:ext>
              </a:extLst>
            </p:cNvPr>
            <p:cNvSpPr txBox="1">
              <a:spLocks/>
            </p:cNvSpPr>
            <p:nvPr/>
          </p:nvSpPr>
          <p:spPr>
            <a:xfrm>
              <a:off x="4067944" y="5533982"/>
              <a:ext cx="981170" cy="199274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PEFT +</a:t>
              </a:r>
              <a:r>
                <a:rPr lang="zh-TW" altLang="en-US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 </a:t>
              </a:r>
              <a:r>
                <a:rPr lang="en-US" altLang="zh-TW" sz="1200" b="1" dirty="0">
                  <a:solidFill>
                    <a:schemeClr val="tx2">
                      <a:lumMod val="50000"/>
                    </a:schemeClr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QAT</a:t>
              </a:r>
            </a:p>
          </p:txBody>
        </p:sp>
        <p:sp>
          <p:nvSpPr>
            <p:cNvPr id="21" name="標題 1">
              <a:extLst>
                <a:ext uri="{FF2B5EF4-FFF2-40B4-BE49-F238E27FC236}">
                  <a16:creationId xmlns:a16="http://schemas.microsoft.com/office/drawing/2014/main" id="{38029C74-2663-CD68-BD22-D629C819599D}"/>
                </a:ext>
              </a:extLst>
            </p:cNvPr>
            <p:cNvSpPr txBox="1">
              <a:spLocks/>
            </p:cNvSpPr>
            <p:nvPr/>
          </p:nvSpPr>
          <p:spPr>
            <a:xfrm>
              <a:off x="4630988" y="5097167"/>
              <a:ext cx="180410" cy="174616"/>
            </a:xfrm>
            <a:prstGeom prst="rect">
              <a:avLst/>
            </a:prstGeom>
            <a:ln>
              <a:noFill/>
            </a:ln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000" b="1" dirty="0">
                  <a:solidFill>
                    <a:srgbClr val="FF0000"/>
                  </a:solidFill>
                  <a:latin typeface="+mn-lt"/>
                  <a:ea typeface="Noto Sans HK" panose="020B0200000000000000" pitchFamily="34" charset="-120"/>
                  <a:cs typeface="Arial" panose="020B0604020202020204" pitchFamily="34" charset="0"/>
                </a:rPr>
                <a:t>1%</a:t>
              </a:r>
            </a:p>
          </p:txBody>
        </p:sp>
        <p:sp>
          <p:nvSpPr>
            <p:cNvPr id="109" name="矩形: 圓角 108">
              <a:extLst>
                <a:ext uri="{FF2B5EF4-FFF2-40B4-BE49-F238E27FC236}">
                  <a16:creationId xmlns:a16="http://schemas.microsoft.com/office/drawing/2014/main" id="{60F6AB3F-3534-E587-A360-D1486A2D7322}"/>
                </a:ext>
              </a:extLst>
            </p:cNvPr>
            <p:cNvSpPr/>
            <p:nvPr/>
          </p:nvSpPr>
          <p:spPr>
            <a:xfrm>
              <a:off x="4635144" y="5540621"/>
              <a:ext cx="340696" cy="186128"/>
            </a:xfrm>
            <a:prstGeom prst="roundRect">
              <a:avLst>
                <a:gd name="adj" fmla="val 1682"/>
              </a:avLst>
            </a:prstGeom>
            <a:noFill/>
            <a:ln w="15875">
              <a:solidFill>
                <a:schemeClr val="accent2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t" anchorCtr="1"/>
            <a:lstStyle/>
            <a:p>
              <a:pPr algn="ctr"/>
              <a:endParaRPr lang="zh-TW" altLang="en-US" sz="1000" dirty="0">
                <a:solidFill>
                  <a:schemeClr val="accent2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111" name="文字方塊 110">
            <a:extLst>
              <a:ext uri="{FF2B5EF4-FFF2-40B4-BE49-F238E27FC236}">
                <a16:creationId xmlns:a16="http://schemas.microsoft.com/office/drawing/2014/main" id="{3BEFA795-6B5D-D44D-7961-3C9B06DB3A44}"/>
              </a:ext>
            </a:extLst>
          </p:cNvPr>
          <p:cNvSpPr txBox="1"/>
          <p:nvPr/>
        </p:nvSpPr>
        <p:spPr>
          <a:xfrm>
            <a:off x="8097490" y="3645024"/>
            <a:ext cx="881419" cy="324086"/>
          </a:xfrm>
          <a:prstGeom prst="rect">
            <a:avLst/>
          </a:prstGeom>
          <a:gradFill>
            <a:gsLst>
              <a:gs pos="0">
                <a:schemeClr val="accent2">
                  <a:lumMod val="40000"/>
                  <a:lumOff val="60000"/>
                </a:schemeClr>
              </a:gs>
              <a:gs pos="10000">
                <a:schemeClr val="accent2">
                  <a:lumMod val="20000"/>
                  <a:lumOff val="80000"/>
                  <a:alpha val="80000"/>
                </a:schemeClr>
              </a:gs>
              <a:gs pos="100000">
                <a:schemeClr val="accent1">
                  <a:lumMod val="20000"/>
                  <a:lumOff val="80000"/>
                </a:schemeClr>
              </a:gs>
            </a:gsLst>
            <a:lin ang="0" scaled="0"/>
          </a:gra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ctr" anchorCtr="1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P </a:t>
            </a:r>
            <a:r>
              <a:rPr kumimoji="0" lang="zh-TW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➔</a:t>
            </a:r>
            <a:r>
              <a:rPr lang="en-US" altLang="zh-TW" sz="14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 INT4</a:t>
            </a:r>
            <a:endParaRPr kumimoji="0" lang="en-US" altLang="zh-TW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Quantization</a:t>
            </a:r>
          </a:p>
        </p:txBody>
      </p:sp>
      <p:sp>
        <p:nvSpPr>
          <p:cNvPr id="132" name="流程圖: 合併 131">
            <a:extLst>
              <a:ext uri="{FF2B5EF4-FFF2-40B4-BE49-F238E27FC236}">
                <a16:creationId xmlns:a16="http://schemas.microsoft.com/office/drawing/2014/main" id="{B318699F-9485-4652-8519-8E7321EEE6C1}"/>
              </a:ext>
            </a:extLst>
          </p:cNvPr>
          <p:cNvSpPr/>
          <p:nvPr/>
        </p:nvSpPr>
        <p:spPr>
          <a:xfrm>
            <a:off x="8388424" y="1327726"/>
            <a:ext cx="189225" cy="942348"/>
          </a:xfrm>
          <a:prstGeom prst="flowChartMerge">
            <a:avLst/>
          </a:prstGeom>
          <a:solidFill>
            <a:srgbClr val="FFC000"/>
          </a:solidFill>
          <a:ln w="25400"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91440" rIns="0" bIns="0" rtlCol="0" anchor="t" anchorCtr="1"/>
          <a:lstStyle/>
          <a:p>
            <a:pPr algn="r"/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</a:rPr>
              <a:t>Cost</a:t>
            </a:r>
            <a:endParaRPr lang="zh-TW" altLang="en-US" sz="12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cxnSp>
        <p:nvCxnSpPr>
          <p:cNvPr id="133" name="接點: 肘形 132">
            <a:extLst>
              <a:ext uri="{FF2B5EF4-FFF2-40B4-BE49-F238E27FC236}">
                <a16:creationId xmlns:a16="http://schemas.microsoft.com/office/drawing/2014/main" id="{25E3FDBC-A31D-8588-0E05-C4418761BDBC}"/>
              </a:ext>
            </a:extLst>
          </p:cNvPr>
          <p:cNvCxnSpPr>
            <a:cxnSpLocks/>
            <a:stCxn id="109" idx="3"/>
            <a:endCxn id="105" idx="1"/>
          </p:cNvCxnSpPr>
          <p:nvPr/>
        </p:nvCxnSpPr>
        <p:spPr>
          <a:xfrm flipV="1">
            <a:off x="4975840" y="4118939"/>
            <a:ext cx="628652" cy="1514746"/>
          </a:xfrm>
          <a:prstGeom prst="bentConnector3">
            <a:avLst>
              <a:gd name="adj1" fmla="val 56061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接點: 肘形 137">
            <a:extLst>
              <a:ext uri="{FF2B5EF4-FFF2-40B4-BE49-F238E27FC236}">
                <a16:creationId xmlns:a16="http://schemas.microsoft.com/office/drawing/2014/main" id="{98D0DC95-1A97-D891-3726-7D42B7DA65C9}"/>
              </a:ext>
            </a:extLst>
          </p:cNvPr>
          <p:cNvCxnSpPr>
            <a:cxnSpLocks/>
            <a:stCxn id="107" idx="3"/>
            <a:endCxn id="105" idx="1"/>
          </p:cNvCxnSpPr>
          <p:nvPr/>
        </p:nvCxnSpPr>
        <p:spPr>
          <a:xfrm>
            <a:off x="5061781" y="3309809"/>
            <a:ext cx="542711" cy="809130"/>
          </a:xfrm>
          <a:prstGeom prst="bentConnector3">
            <a:avLst>
              <a:gd name="adj1" fmla="val 50000"/>
            </a:avLst>
          </a:prstGeom>
          <a:ln w="19050">
            <a:solidFill>
              <a:schemeClr val="accent2"/>
            </a:solidFill>
            <a:prstDash val="sysDot"/>
            <a:headEnd type="none" w="sm" len="sm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19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2456679" y="25151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uantization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ank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daptation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QLoRA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5546170" y="1432160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5505822" y="2644706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5533721"/>
              </p:ext>
            </p:extLst>
          </p:nvPr>
        </p:nvGraphicFramePr>
        <p:xfrm>
          <a:off x="2408514" y="2852936"/>
          <a:ext cx="768819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6273">
                  <a:extLst>
                    <a:ext uri="{9D8B030D-6E8A-4147-A177-3AD203B41FA5}">
                      <a16:colId xmlns:a16="http://schemas.microsoft.com/office/drawing/2014/main" val="336640190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860446"/>
              </p:ext>
            </p:extLst>
          </p:nvPr>
        </p:nvGraphicFramePr>
        <p:xfrm>
          <a:off x="5295270" y="1725388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3801863" y="278092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315104"/>
              </p:ext>
            </p:extLst>
          </p:nvPr>
        </p:nvGraphicFramePr>
        <p:xfrm>
          <a:off x="3426644" y="3074156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1471018"/>
              </p:ext>
            </p:extLst>
          </p:nvPr>
        </p:nvGraphicFramePr>
        <p:xfrm>
          <a:off x="5292080" y="2913354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4010625" y="1721623"/>
            <a:ext cx="678086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42973"/>
              </p:ext>
            </p:extLst>
          </p:nvPr>
        </p:nvGraphicFramePr>
        <p:xfrm>
          <a:off x="3717516" y="199732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7030856" y="1721623"/>
            <a:ext cx="648072" cy="247833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4188969"/>
              </p:ext>
            </p:extLst>
          </p:nvPr>
        </p:nvGraphicFramePr>
        <p:xfrm>
          <a:off x="6729958" y="198762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5793854" y="245714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5031780" y="1938722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6510744" y="1938722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3223295" y="3119894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5031780" y="315330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2577725" y="5199131"/>
            <a:ext cx="695847" cy="23131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038720"/>
              </p:ext>
            </p:extLst>
          </p:nvPr>
        </p:nvGraphicFramePr>
        <p:xfrm>
          <a:off x="2793923" y="5462499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3801862" y="5517232"/>
            <a:ext cx="695847" cy="27699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79731"/>
              </p:ext>
            </p:extLst>
          </p:nvPr>
        </p:nvGraphicFramePr>
        <p:xfrm>
          <a:off x="3424362" y="5777513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3201566" y="573454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9814430"/>
              </p:ext>
            </p:extLst>
          </p:nvPr>
        </p:nvGraphicFramePr>
        <p:xfrm>
          <a:off x="1835696" y="4819447"/>
          <a:ext cx="282316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44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17644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9484635"/>
              </p:ext>
            </p:extLst>
          </p:nvPr>
        </p:nvGraphicFramePr>
        <p:xfrm>
          <a:off x="2251383" y="4330399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2556939" y="4419193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2824829" y="4496168"/>
            <a:ext cx="422451" cy="323279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2627784" y="4640726"/>
            <a:ext cx="422451" cy="1839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2503198" y="3966964"/>
            <a:ext cx="422451" cy="288032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  <p:sp>
        <p:nvSpPr>
          <p:cNvPr id="39" name="右大括弧 38">
            <a:extLst>
              <a:ext uri="{FF2B5EF4-FFF2-40B4-BE49-F238E27FC236}">
                <a16:creationId xmlns:a16="http://schemas.microsoft.com/office/drawing/2014/main" id="{43AD7CAA-9919-2BDC-C547-ADA2F3ADF7DF}"/>
              </a:ext>
            </a:extLst>
          </p:cNvPr>
          <p:cNvSpPr/>
          <p:nvPr/>
        </p:nvSpPr>
        <p:spPr>
          <a:xfrm rot="10800000">
            <a:off x="2043852" y="2728274"/>
            <a:ext cx="108700" cy="988757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8C236E84-CA66-55C6-A353-D96F41563DD1}"/>
              </a:ext>
            </a:extLst>
          </p:cNvPr>
          <p:cNvSpPr txBox="1"/>
          <p:nvPr/>
        </p:nvSpPr>
        <p:spPr>
          <a:xfrm>
            <a:off x="1547664" y="3079993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LoRA</a:t>
            </a:r>
            <a:endParaRPr lang="zh-TW" altLang="en-US" sz="1400" b="1" dirty="0"/>
          </a:p>
        </p:txBody>
      </p: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99A5FBEF-DD1B-027F-7308-223EF51BE499}"/>
              </a:ext>
            </a:extLst>
          </p:cNvPr>
          <p:cNvSpPr txBox="1"/>
          <p:nvPr/>
        </p:nvSpPr>
        <p:spPr>
          <a:xfrm>
            <a:off x="971600" y="5517232"/>
            <a:ext cx="401072" cy="27699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/>
              <a:t>QLoRA</a:t>
            </a:r>
            <a:endParaRPr lang="zh-TW" altLang="en-US" sz="1400" b="1" dirty="0"/>
          </a:p>
        </p:txBody>
      </p:sp>
      <p:sp>
        <p:nvSpPr>
          <p:cNvPr id="55" name="右大括弧 54">
            <a:extLst>
              <a:ext uri="{FF2B5EF4-FFF2-40B4-BE49-F238E27FC236}">
                <a16:creationId xmlns:a16="http://schemas.microsoft.com/office/drawing/2014/main" id="{FDC02000-3510-2BFF-9245-7620E6943787}"/>
              </a:ext>
            </a:extLst>
          </p:cNvPr>
          <p:cNvSpPr/>
          <p:nvPr/>
        </p:nvSpPr>
        <p:spPr>
          <a:xfrm rot="10800000">
            <a:off x="1475656" y="4951131"/>
            <a:ext cx="138303" cy="1378626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59" name="矩形: 圓角 58">
            <a:extLst>
              <a:ext uri="{FF2B5EF4-FFF2-40B4-BE49-F238E27FC236}">
                <a16:creationId xmlns:a16="http://schemas.microsoft.com/office/drawing/2014/main" id="{0B7BD835-FD81-3F02-5FD1-3F2F8343A2F6}"/>
              </a:ext>
            </a:extLst>
          </p:cNvPr>
          <p:cNvSpPr/>
          <p:nvPr/>
        </p:nvSpPr>
        <p:spPr>
          <a:xfrm>
            <a:off x="2324300" y="2814836"/>
            <a:ext cx="92298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79368FC2-23FC-8AFF-A6B0-B3063BDB7FC4}"/>
              </a:ext>
            </a:extLst>
          </p:cNvPr>
          <p:cNvSpPr/>
          <p:nvPr/>
        </p:nvSpPr>
        <p:spPr>
          <a:xfrm>
            <a:off x="2166294" y="4278319"/>
            <a:ext cx="2621730" cy="288032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63889C-D10C-B36A-2721-EFF1DC2986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D35E2BF1-6FE3-3015-8276-1481380950D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PEFT: Weight-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ecomposed L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oRA</a:t>
            </a:r>
          </a:p>
          <a:p>
            <a:r>
              <a:rPr lang="en-US" altLang="zh-TW" sz="1400" b="1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fundamentally improves LoRA by decomposing weights into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magnitude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and </a:t>
            </a: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direction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. 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BEBCF88-3560-5ABF-5D6D-C099FC517E5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680322"/>
              </p:ext>
            </p:extLst>
          </p:nvPr>
        </p:nvGraphicFramePr>
        <p:xfrm>
          <a:off x="2938059" y="2204864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F5969713-48F1-14D8-0B44-BBB25E2E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36973"/>
              </p:ext>
            </p:extLst>
          </p:nvPr>
        </p:nvGraphicFramePr>
        <p:xfrm>
          <a:off x="5585584" y="1381276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69F885FB-F8DB-3366-45FC-8F10E81744B6}"/>
              </a:ext>
            </a:extLst>
          </p:cNvPr>
          <p:cNvSpPr txBox="1"/>
          <p:nvPr/>
        </p:nvSpPr>
        <p:spPr>
          <a:xfrm>
            <a:off x="3320587" y="3597835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A0B7BCF8-5297-D373-E95B-1D2A0407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4240659"/>
              </p:ext>
            </p:extLst>
          </p:nvPr>
        </p:nvGraphicFramePr>
        <p:xfrm>
          <a:off x="3658140" y="2430190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A82BA1F2-8B0F-F56C-5C78-D715BD5F2455}"/>
              </a:ext>
            </a:extLst>
          </p:cNvPr>
          <p:cNvSpPr txBox="1"/>
          <p:nvPr/>
        </p:nvSpPr>
        <p:spPr>
          <a:xfrm>
            <a:off x="1048685" y="1340768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EA5B1A1-E8FE-FFA5-DD35-8926472EC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8188330"/>
              </p:ext>
            </p:extLst>
          </p:nvPr>
        </p:nvGraphicFramePr>
        <p:xfrm>
          <a:off x="755576" y="1641136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7A5A42F4-7CBD-9D47-F69F-2489A0F2911A}"/>
              </a:ext>
            </a:extLst>
          </p:cNvPr>
          <p:cNvSpPr txBox="1"/>
          <p:nvPr/>
        </p:nvSpPr>
        <p:spPr>
          <a:xfrm>
            <a:off x="7398650" y="1340768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A4887E64-451C-2A98-2140-B60E4788F5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3612413"/>
              </p:ext>
            </p:extLst>
          </p:nvPr>
        </p:nvGraphicFramePr>
        <p:xfrm>
          <a:off x="7169760" y="1631437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0" name="文字方塊 19">
            <a:extLst>
              <a:ext uri="{FF2B5EF4-FFF2-40B4-BE49-F238E27FC236}">
                <a16:creationId xmlns:a16="http://schemas.microsoft.com/office/drawing/2014/main" id="{E5328391-F130-91DE-E826-96E58451F388}"/>
              </a:ext>
            </a:extLst>
          </p:cNvPr>
          <p:cNvSpPr txBox="1"/>
          <p:nvPr/>
        </p:nvSpPr>
        <p:spPr>
          <a:xfrm>
            <a:off x="2051720" y="1582531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CBE4D3F9-BE11-216C-0F65-9F89C76CEE67}"/>
              </a:ext>
            </a:extLst>
          </p:cNvPr>
          <p:cNvSpPr txBox="1"/>
          <p:nvPr/>
        </p:nvSpPr>
        <p:spPr>
          <a:xfrm>
            <a:off x="6878538" y="1582531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06666021-CE75-49AD-E5F2-0C852C147D4F}"/>
              </a:ext>
            </a:extLst>
          </p:cNvPr>
          <p:cNvSpPr txBox="1"/>
          <p:nvPr/>
        </p:nvSpPr>
        <p:spPr>
          <a:xfrm>
            <a:off x="3480182" y="247592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30" name="表格 29">
            <a:extLst>
              <a:ext uri="{FF2B5EF4-FFF2-40B4-BE49-F238E27FC236}">
                <a16:creationId xmlns:a16="http://schemas.microsoft.com/office/drawing/2014/main" id="{B73339CD-B5DB-548D-81FC-776E1139B3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5626006"/>
              </p:ext>
            </p:extLst>
          </p:nvPr>
        </p:nvGraphicFramePr>
        <p:xfrm>
          <a:off x="1043608" y="404366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M13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8" name="文字方塊 37">
            <a:extLst>
              <a:ext uri="{FF2B5EF4-FFF2-40B4-BE49-F238E27FC236}">
                <a16:creationId xmlns:a16="http://schemas.microsoft.com/office/drawing/2014/main" id="{CBFA29BC-16EA-8E29-DAF3-456E58026E7D}"/>
              </a:ext>
            </a:extLst>
          </p:cNvPr>
          <p:cNvSpPr txBox="1"/>
          <p:nvPr/>
        </p:nvSpPr>
        <p:spPr>
          <a:xfrm>
            <a:off x="5474120" y="4010908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)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58" name="表格 57">
            <a:extLst>
              <a:ext uri="{FF2B5EF4-FFF2-40B4-BE49-F238E27FC236}">
                <a16:creationId xmlns:a16="http://schemas.microsoft.com/office/drawing/2014/main" id="{3C496CFB-6BBB-3BA0-2E6D-8F5F1098A9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75233"/>
              </p:ext>
            </p:extLst>
          </p:nvPr>
        </p:nvGraphicFramePr>
        <p:xfrm>
          <a:off x="4139953" y="4221088"/>
          <a:ext cx="444549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1227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8125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1896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03417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</a:tbl>
          </a:graphicData>
        </a:graphic>
      </p:graphicFrame>
      <p:cxnSp>
        <p:nvCxnSpPr>
          <p:cNvPr id="60" name="直線接點 59">
            <a:extLst>
              <a:ext uri="{FF2B5EF4-FFF2-40B4-BE49-F238E27FC236}">
                <a16:creationId xmlns:a16="http://schemas.microsoft.com/office/drawing/2014/main" id="{EB1EA629-4209-A850-F1A1-D8BA04D9C9CC}"/>
              </a:ext>
            </a:extLst>
          </p:cNvPr>
          <p:cNvCxnSpPr>
            <a:cxnSpLocks/>
          </p:cNvCxnSpPr>
          <p:nvPr/>
        </p:nvCxnSpPr>
        <p:spPr>
          <a:xfrm>
            <a:off x="3310495" y="4135391"/>
            <a:ext cx="2163625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479E246E-2FCC-8FE5-B733-A981CCE1C6B4}"/>
              </a:ext>
            </a:extLst>
          </p:cNvPr>
          <p:cNvSpPr txBox="1"/>
          <p:nvPr/>
        </p:nvSpPr>
        <p:spPr>
          <a:xfrm>
            <a:off x="4138467" y="4359499"/>
            <a:ext cx="444549" cy="19941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000"/>
              </a:lnSpc>
              <a:buNone/>
            </a:pPr>
            <a:r>
              <a:rPr lang="en-US" altLang="zh-TW" sz="1000" b="1" u="none" strike="noStrike" dirty="0">
                <a:effectLst/>
              </a:rPr>
              <a:t>Norm</a:t>
            </a:r>
          </a:p>
        </p:txBody>
      </p:sp>
      <p:graphicFrame>
        <p:nvGraphicFramePr>
          <p:cNvPr id="68" name="表格 67">
            <a:extLst>
              <a:ext uri="{FF2B5EF4-FFF2-40B4-BE49-F238E27FC236}">
                <a16:creationId xmlns:a16="http://schemas.microsoft.com/office/drawing/2014/main" id="{9EFD464C-B4A7-F135-02DA-626DD5A572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3936189"/>
              </p:ext>
            </p:extLst>
          </p:nvPr>
        </p:nvGraphicFramePr>
        <p:xfrm>
          <a:off x="3745928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graphicFrame>
        <p:nvGraphicFramePr>
          <p:cNvPr id="70" name="表格 69">
            <a:extLst>
              <a:ext uri="{FF2B5EF4-FFF2-40B4-BE49-F238E27FC236}">
                <a16:creationId xmlns:a16="http://schemas.microsoft.com/office/drawing/2014/main" id="{81CA69A3-B5CC-02BB-7359-C1BA5E6B65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1733383"/>
              </p:ext>
            </p:extLst>
          </p:nvPr>
        </p:nvGraphicFramePr>
        <p:xfrm>
          <a:off x="4901041" y="3429000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72" name="文字方塊 71">
            <a:extLst>
              <a:ext uri="{FF2B5EF4-FFF2-40B4-BE49-F238E27FC236}">
                <a16:creationId xmlns:a16="http://schemas.microsoft.com/office/drawing/2014/main" id="{947E49BB-0A02-34B7-7B44-573B60119A2B}"/>
              </a:ext>
            </a:extLst>
          </p:cNvPr>
          <p:cNvSpPr txBox="1"/>
          <p:nvPr/>
        </p:nvSpPr>
        <p:spPr>
          <a:xfrm>
            <a:off x="4394000" y="3595681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76" name="文字方塊 75">
            <a:extLst>
              <a:ext uri="{FF2B5EF4-FFF2-40B4-BE49-F238E27FC236}">
                <a16:creationId xmlns:a16="http://schemas.microsoft.com/office/drawing/2014/main" id="{92780C9C-6CB0-EE4E-3624-E9C83BEC065A}"/>
              </a:ext>
            </a:extLst>
          </p:cNvPr>
          <p:cNvSpPr txBox="1"/>
          <p:nvPr/>
        </p:nvSpPr>
        <p:spPr>
          <a:xfrm>
            <a:off x="2987824" y="4012575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</a:t>
            </a:r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 (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C4461DE9-71CF-6217-CB5B-A3A0EE539051}"/>
              </a:ext>
            </a:extLst>
          </p:cNvPr>
          <p:cNvSpPr txBox="1"/>
          <p:nvPr/>
        </p:nvSpPr>
        <p:spPr>
          <a:xfrm>
            <a:off x="4932961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82" name="文字方塊 81">
            <a:extLst>
              <a:ext uri="{FF2B5EF4-FFF2-40B4-BE49-F238E27FC236}">
                <a16:creationId xmlns:a16="http://schemas.microsoft.com/office/drawing/2014/main" id="{01F0EDB0-BF85-DC0D-9878-3554C87FB711}"/>
              </a:ext>
            </a:extLst>
          </p:cNvPr>
          <p:cNvSpPr txBox="1"/>
          <p:nvPr/>
        </p:nvSpPr>
        <p:spPr>
          <a:xfrm>
            <a:off x="3779912" y="360635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1</a:t>
            </a:r>
          </a:p>
        </p:txBody>
      </p:sp>
      <p:sp>
        <p:nvSpPr>
          <p:cNvPr id="84" name="右大括弧 83">
            <a:extLst>
              <a:ext uri="{FF2B5EF4-FFF2-40B4-BE49-F238E27FC236}">
                <a16:creationId xmlns:a16="http://schemas.microsoft.com/office/drawing/2014/main" id="{DE720BE9-4C36-0318-5B45-E24D7860CFCE}"/>
              </a:ext>
            </a:extLst>
          </p:cNvPr>
          <p:cNvSpPr/>
          <p:nvPr/>
        </p:nvSpPr>
        <p:spPr>
          <a:xfrm rot="5400000">
            <a:off x="4019893" y="2059133"/>
            <a:ext cx="133813" cy="2297484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86" name="右大括弧 85">
            <a:extLst>
              <a:ext uri="{FF2B5EF4-FFF2-40B4-BE49-F238E27FC236}">
                <a16:creationId xmlns:a16="http://schemas.microsoft.com/office/drawing/2014/main" id="{CF43AA5F-9211-1098-2460-3701EE3A76BD}"/>
              </a:ext>
            </a:extLst>
          </p:cNvPr>
          <p:cNvSpPr/>
          <p:nvPr/>
        </p:nvSpPr>
        <p:spPr>
          <a:xfrm rot="5400000">
            <a:off x="6109823" y="1697396"/>
            <a:ext cx="137191" cy="1008112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E393108B-6E78-7538-15D5-25B450E87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5725624"/>
              </p:ext>
            </p:extLst>
          </p:nvPr>
        </p:nvGraphicFramePr>
        <p:xfrm>
          <a:off x="5893372" y="2315344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90" name="文字方塊 89">
            <a:extLst>
              <a:ext uri="{FF2B5EF4-FFF2-40B4-BE49-F238E27FC236}">
                <a16:creationId xmlns:a16="http://schemas.microsoft.com/office/drawing/2014/main" id="{1CA08461-6A73-1D89-9315-A1074039A04F}"/>
              </a:ext>
            </a:extLst>
          </p:cNvPr>
          <p:cNvSpPr txBox="1"/>
          <p:nvPr/>
        </p:nvSpPr>
        <p:spPr>
          <a:xfrm>
            <a:off x="5925292" y="249269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W</a:t>
            </a:r>
            <a:r>
              <a:rPr lang="en-US" altLang="zh-TW" sz="1400" b="1" u="none" strike="noStrike" baseline="-25000" dirty="0">
                <a:effectLst/>
              </a:rPr>
              <a:t>0</a:t>
            </a:r>
          </a:p>
        </p:txBody>
      </p:sp>
      <p:sp>
        <p:nvSpPr>
          <p:cNvPr id="92" name="文字方塊 91">
            <a:extLst>
              <a:ext uri="{FF2B5EF4-FFF2-40B4-BE49-F238E27FC236}">
                <a16:creationId xmlns:a16="http://schemas.microsoft.com/office/drawing/2014/main" id="{DBF2618B-7ED8-C2C2-19D7-3BA9775AF4CF}"/>
              </a:ext>
            </a:extLst>
          </p:cNvPr>
          <p:cNvSpPr txBox="1"/>
          <p:nvPr/>
        </p:nvSpPr>
        <p:spPr>
          <a:xfrm>
            <a:off x="5366373" y="2451264"/>
            <a:ext cx="378033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</a:t>
            </a:r>
            <a:r>
              <a:rPr lang="en-US" altLang="zh-TW" sz="1400" b="1" dirty="0"/>
              <a:t> </a:t>
            </a:r>
            <a:r>
              <a:rPr lang="en-US" altLang="zh-TW" sz="1400" b="1" u="none" strike="noStrike" dirty="0">
                <a:effectLst/>
              </a:rPr>
              <a:t>+ 0.9</a:t>
            </a:r>
            <a:r>
              <a:rPr lang="zh-TW" altLang="en-US" sz="1400" b="1" u="none" strike="noStrike" dirty="0">
                <a:effectLst/>
              </a:rPr>
              <a:t> </a:t>
            </a:r>
            <a:r>
              <a:rPr lang="en-US" altLang="zh-TW" sz="1400" b="1" u="none" strike="noStrike" dirty="0">
                <a:effectLst/>
              </a:rPr>
              <a:t>x</a:t>
            </a:r>
            <a:r>
              <a:rPr lang="zh-TW" altLang="en-US" sz="1400" b="1" u="none" strike="noStrike" dirty="0">
                <a:effectLst/>
              </a:rPr>
              <a:t> </a:t>
            </a:r>
            <a:endParaRPr lang="en-US" altLang="zh-TW" sz="1400" b="1" u="none" strike="noStrike" dirty="0">
              <a:effectLst/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/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94" name="文字方塊 93">
            <a:extLst>
              <a:ext uri="{FF2B5EF4-FFF2-40B4-BE49-F238E27FC236}">
                <a16:creationId xmlns:a16="http://schemas.microsoft.com/office/drawing/2014/main" id="{32F7E401-3DF7-E006-A589-EECCFB9095AE}"/>
              </a:ext>
            </a:extLst>
          </p:cNvPr>
          <p:cNvSpPr txBox="1"/>
          <p:nvPr/>
        </p:nvSpPr>
        <p:spPr>
          <a:xfrm>
            <a:off x="2434003" y="2463423"/>
            <a:ext cx="40357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 0.1 x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0173DE3-5F00-B4F7-46E1-11CEA7497299}"/>
              </a:ext>
            </a:extLst>
          </p:cNvPr>
          <p:cNvSpPr txBox="1"/>
          <p:nvPr/>
        </p:nvSpPr>
        <p:spPr>
          <a:xfrm>
            <a:off x="2862665" y="1921964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BDAE5345-4FEF-8806-2B9A-F6EFAE99D6B2}"/>
              </a:ext>
            </a:extLst>
          </p:cNvPr>
          <p:cNvSpPr txBox="1"/>
          <p:nvPr/>
        </p:nvSpPr>
        <p:spPr>
          <a:xfrm>
            <a:off x="4115099" y="2142158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8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79D5D804-4AE3-B471-BED8-5AE258E2B811}"/>
              </a:ext>
            </a:extLst>
          </p:cNvPr>
          <p:cNvSpPr txBox="1"/>
          <p:nvPr/>
        </p:nvSpPr>
        <p:spPr>
          <a:xfrm>
            <a:off x="1499889" y="3752028"/>
            <a:ext cx="695847" cy="263369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M: 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5BB9756-EA36-B027-E7A2-71CE086E3B6A}"/>
              </a:ext>
            </a:extLst>
          </p:cNvPr>
          <p:cNvSpPr txBox="1"/>
          <p:nvPr/>
        </p:nvSpPr>
        <p:spPr>
          <a:xfrm>
            <a:off x="5796094" y="1106603"/>
            <a:ext cx="754022" cy="26336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7827DFC-85FE-6F70-3512-7A29995ED83A}"/>
              </a:ext>
            </a:extLst>
          </p:cNvPr>
          <p:cNvSpPr txBox="1"/>
          <p:nvPr/>
        </p:nvSpPr>
        <p:spPr>
          <a:xfrm>
            <a:off x="2339752" y="4296921"/>
            <a:ext cx="1362776" cy="59189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b="1" dirty="0">
                <a:solidFill>
                  <a:prstClr val="black"/>
                </a:solidFill>
                <a:ea typeface="Cambria Math" panose="02040503050406030204" pitchFamily="18" charset="0"/>
              </a:rPr>
              <a:t>Hadamard Product</a:t>
            </a:r>
            <a:b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</a:br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Element-wise</a:t>
            </a:r>
          </a:p>
          <a:p>
            <a:r>
              <a:rPr lang="en-US" altLang="zh-TW" sz="1000" dirty="0">
                <a:solidFill>
                  <a:prstClr val="black"/>
                </a:solidFill>
                <a:ea typeface="Cambria Math" panose="02040503050406030204" pitchFamily="18" charset="0"/>
              </a:rPr>
              <a:t>Multiplication</a:t>
            </a:r>
            <a:endParaRPr kumimoji="0" lang="en-US" altLang="zh-TW" sz="10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D1F00872-DD77-6591-7CF4-63B351B612B9}"/>
              </a:ext>
            </a:extLst>
          </p:cNvPr>
          <p:cNvSpPr txBox="1"/>
          <p:nvPr/>
        </p:nvSpPr>
        <p:spPr>
          <a:xfrm>
            <a:off x="4025388" y="4797152"/>
            <a:ext cx="754022" cy="221448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9" name="表格 28">
            <a:extLst>
              <a:ext uri="{FF2B5EF4-FFF2-40B4-BE49-F238E27FC236}">
                <a16:creationId xmlns:a16="http://schemas.microsoft.com/office/drawing/2014/main" id="{742C410A-5519-9D60-F89D-F24FCB8B6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4410213"/>
              </p:ext>
            </p:extLst>
          </p:nvPr>
        </p:nvGraphicFramePr>
        <p:xfrm>
          <a:off x="4139952" y="5483696"/>
          <a:ext cx="573079" cy="609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00">
                  <a:extLst>
                    <a:ext uri="{9D8B030D-6E8A-4147-A177-3AD203B41FA5}">
                      <a16:colId xmlns:a16="http://schemas.microsoft.com/office/drawing/2014/main" val="2877778302"/>
                    </a:ext>
                  </a:extLst>
                </a:gridCol>
                <a:gridCol w="14892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107780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157793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400">
                  <a:extLst>
                    <a:ext uri="{9D8B030D-6E8A-4147-A177-3AD203B41FA5}">
                      <a16:colId xmlns:a16="http://schemas.microsoft.com/office/drawing/2014/main" val="3942451870"/>
                    </a:ext>
                  </a:extLst>
                </a:gridCol>
              </a:tblGrid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14846"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3C0A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800" b="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32" name="文字方塊 31">
            <a:extLst>
              <a:ext uri="{FF2B5EF4-FFF2-40B4-BE49-F238E27FC236}">
                <a16:creationId xmlns:a16="http://schemas.microsoft.com/office/drawing/2014/main" id="{8F638586-DD0F-7B38-ADEB-148121242354}"/>
              </a:ext>
            </a:extLst>
          </p:cNvPr>
          <p:cNvSpPr txBox="1"/>
          <p:nvPr/>
        </p:nvSpPr>
        <p:spPr>
          <a:xfrm>
            <a:off x="4171872" y="5644480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Final</a:t>
            </a:r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EE495000-44A7-A1D6-AFDB-A89929F61919}"/>
              </a:ext>
            </a:extLst>
          </p:cNvPr>
          <p:cNvSpPr txBox="1"/>
          <p:nvPr/>
        </p:nvSpPr>
        <p:spPr>
          <a:xfrm>
            <a:off x="2981052" y="548111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36" name="表格 35">
            <a:extLst>
              <a:ext uri="{FF2B5EF4-FFF2-40B4-BE49-F238E27FC236}">
                <a16:creationId xmlns:a16="http://schemas.microsoft.com/office/drawing/2014/main" id="{D82F859B-7C9B-D910-AF09-635336C66F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218863"/>
              </p:ext>
            </p:extLst>
          </p:nvPr>
        </p:nvGraphicFramePr>
        <p:xfrm>
          <a:off x="2693565" y="5727685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39" name="文字方塊 38">
            <a:extLst>
              <a:ext uri="{FF2B5EF4-FFF2-40B4-BE49-F238E27FC236}">
                <a16:creationId xmlns:a16="http://schemas.microsoft.com/office/drawing/2014/main" id="{AE3E24DD-8382-131D-AED4-CD0C90FD0F59}"/>
              </a:ext>
            </a:extLst>
          </p:cNvPr>
          <p:cNvSpPr txBox="1"/>
          <p:nvPr/>
        </p:nvSpPr>
        <p:spPr>
          <a:xfrm>
            <a:off x="3989709" y="5669080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38235047-EB09-64DA-E23A-B7F18CD8C13D}"/>
              </a:ext>
            </a:extLst>
          </p:cNvPr>
          <p:cNvSpPr txBox="1"/>
          <p:nvPr/>
        </p:nvSpPr>
        <p:spPr>
          <a:xfrm>
            <a:off x="5219948" y="5405912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43" name="表格 42">
            <a:extLst>
              <a:ext uri="{FF2B5EF4-FFF2-40B4-BE49-F238E27FC236}">
                <a16:creationId xmlns:a16="http://schemas.microsoft.com/office/drawing/2014/main" id="{911C3EE7-A426-ADFD-A68E-92DF32F503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970887"/>
              </p:ext>
            </p:extLst>
          </p:nvPr>
        </p:nvGraphicFramePr>
        <p:xfrm>
          <a:off x="4991058" y="5696581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DCA76E16-589B-9769-DD1E-F10E8D3A2835}"/>
              </a:ext>
            </a:extLst>
          </p:cNvPr>
          <p:cNvSpPr txBox="1"/>
          <p:nvPr/>
        </p:nvSpPr>
        <p:spPr>
          <a:xfrm>
            <a:off x="4699836" y="5647675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7" name="矩形: 圓角 46">
            <a:extLst>
              <a:ext uri="{FF2B5EF4-FFF2-40B4-BE49-F238E27FC236}">
                <a16:creationId xmlns:a16="http://schemas.microsoft.com/office/drawing/2014/main" id="{60CCA852-9376-3C28-913E-AAC8857E093D}"/>
              </a:ext>
            </a:extLst>
          </p:cNvPr>
          <p:cNvSpPr/>
          <p:nvPr/>
        </p:nvSpPr>
        <p:spPr>
          <a:xfrm>
            <a:off x="971600" y="4010908"/>
            <a:ext cx="1726706" cy="263368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9" name="矩形: 圓角 48">
            <a:extLst>
              <a:ext uri="{FF2B5EF4-FFF2-40B4-BE49-F238E27FC236}">
                <a16:creationId xmlns:a16="http://schemas.microsoft.com/office/drawing/2014/main" id="{7A2721A8-CA55-88EE-ED72-26D429AD1942}"/>
              </a:ext>
            </a:extLst>
          </p:cNvPr>
          <p:cNvSpPr/>
          <p:nvPr/>
        </p:nvSpPr>
        <p:spPr>
          <a:xfrm>
            <a:off x="3710889" y="3379160"/>
            <a:ext cx="652867" cy="704664"/>
          </a:xfrm>
          <a:prstGeom prst="roundRect">
            <a:avLst>
              <a:gd name="adj" fmla="val 1682"/>
            </a:avLst>
          </a:prstGeom>
          <a:noFill/>
          <a:ln w="158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t" anchorCtr="1"/>
          <a:lstStyle/>
          <a:p>
            <a:pPr algn="ctr"/>
            <a:endParaRPr lang="zh-TW" altLang="en-US" sz="1000" dirty="0">
              <a:solidFill>
                <a:schemeClr val="accent2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1AC6279B-7C82-7076-50F0-8DCC108C2EF4}"/>
              </a:ext>
            </a:extLst>
          </p:cNvPr>
          <p:cNvSpPr txBox="1"/>
          <p:nvPr/>
        </p:nvSpPr>
        <p:spPr>
          <a:xfrm>
            <a:off x="2954502" y="2473024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7D5FD221-D39C-00C4-4B77-1B45AF5D91EC}"/>
              </a:ext>
            </a:extLst>
          </p:cNvPr>
          <p:cNvSpPr txBox="1"/>
          <p:nvPr/>
        </p:nvSpPr>
        <p:spPr>
          <a:xfrm>
            <a:off x="4192223" y="2454603"/>
            <a:ext cx="50923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B</a:t>
            </a:r>
            <a:endParaRPr lang="en-US" altLang="zh-TW" sz="1400" b="1" u="none" strike="noStrike" baseline="-25000" dirty="0">
              <a:effectLst/>
            </a:endParaRPr>
          </a:p>
        </p:txBody>
      </p:sp>
      <p:sp>
        <p:nvSpPr>
          <p:cNvPr id="96" name="右大括弧 95">
            <a:extLst>
              <a:ext uri="{FF2B5EF4-FFF2-40B4-BE49-F238E27FC236}">
                <a16:creationId xmlns:a16="http://schemas.microsoft.com/office/drawing/2014/main" id="{09FEF152-97B2-87C8-447A-FE52110300CB}"/>
              </a:ext>
            </a:extLst>
          </p:cNvPr>
          <p:cNvSpPr/>
          <p:nvPr/>
        </p:nvSpPr>
        <p:spPr>
          <a:xfrm rot="5400000">
            <a:off x="4216932" y="4321960"/>
            <a:ext cx="370934" cy="2163625"/>
          </a:xfrm>
          <a:prstGeom prst="rightBrace">
            <a:avLst>
              <a:gd name="adj1" fmla="val 19145"/>
              <a:gd name="adj2" fmla="val 50440"/>
            </a:avLst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75845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矩形: 圓角 209">
            <a:extLst>
              <a:ext uri="{FF2B5EF4-FFF2-40B4-BE49-F238E27FC236}">
                <a16:creationId xmlns:a16="http://schemas.microsoft.com/office/drawing/2014/main" id="{8152BEA7-2384-6EDC-C5EE-8FA83875660D}"/>
              </a:ext>
            </a:extLst>
          </p:cNvPr>
          <p:cNvSpPr/>
          <p:nvPr/>
        </p:nvSpPr>
        <p:spPr>
          <a:xfrm>
            <a:off x="3780194" y="1910381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54" name="矩形 453">
            <a:extLst>
              <a:ext uri="{FF2B5EF4-FFF2-40B4-BE49-F238E27FC236}">
                <a16:creationId xmlns:a16="http://schemas.microsoft.com/office/drawing/2014/main" id="{05AFD648-1F4F-AE9D-EF01-0F282686B55C}"/>
              </a:ext>
            </a:extLst>
          </p:cNvPr>
          <p:cNvSpPr/>
          <p:nvPr/>
        </p:nvSpPr>
        <p:spPr>
          <a:xfrm>
            <a:off x="8244408" y="2883915"/>
            <a:ext cx="648072" cy="104166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bg2">
                    <a:lumMod val="50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bg2">
                  <a:lumMod val="50000"/>
                </a:schemeClr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>
              <a:lnSpc>
                <a:spcPts val="1600"/>
              </a:lnSpc>
            </a:pPr>
            <a:endParaRPr lang="en-US" altLang="zh-TW" sz="16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5" name="矩形 444">
            <a:extLst>
              <a:ext uri="{FF2B5EF4-FFF2-40B4-BE49-F238E27FC236}">
                <a16:creationId xmlns:a16="http://schemas.microsoft.com/office/drawing/2014/main" id="{F4F43444-68EC-669F-9DC6-881E853A6805}"/>
              </a:ext>
            </a:extLst>
          </p:cNvPr>
          <p:cNvSpPr/>
          <p:nvPr/>
        </p:nvSpPr>
        <p:spPr>
          <a:xfrm>
            <a:off x="8367367" y="2883915"/>
            <a:ext cx="241412" cy="1041669"/>
          </a:xfrm>
          <a:prstGeom prst="rect">
            <a:avLst/>
          </a:prstGeom>
          <a:solidFill>
            <a:schemeClr val="bg2">
              <a:lumMod val="90000"/>
              <a:alpha val="60000"/>
            </a:schemeClr>
          </a:solidFill>
          <a:ln w="19050">
            <a:solidFill>
              <a:schemeClr val="bg2">
                <a:lumMod val="50000"/>
                <a:alpha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b="1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PLE</a:t>
            </a:r>
          </a:p>
          <a:p>
            <a:pPr algn="ctr">
              <a:lnSpc>
                <a:spcPts val="1000"/>
              </a:lnSpc>
            </a:pPr>
            <a:endParaRPr lang="en-US" altLang="zh-TW" sz="1000" dirty="0">
              <a:solidFill>
                <a:schemeClr val="tx1"/>
              </a:solidFill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70" name="矩形: 圓角 169">
            <a:extLst>
              <a:ext uri="{FF2B5EF4-FFF2-40B4-BE49-F238E27FC236}">
                <a16:creationId xmlns:a16="http://schemas.microsoft.com/office/drawing/2014/main" id="{BE19256F-39DD-757C-6459-C5C27369D12B}"/>
              </a:ext>
            </a:extLst>
          </p:cNvPr>
          <p:cNvSpPr/>
          <p:nvPr/>
        </p:nvSpPr>
        <p:spPr>
          <a:xfrm>
            <a:off x="2123728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172" name="矩形: 圓角 171">
            <a:extLst>
              <a:ext uri="{FF2B5EF4-FFF2-40B4-BE49-F238E27FC236}">
                <a16:creationId xmlns:a16="http://schemas.microsoft.com/office/drawing/2014/main" id="{E4FBE54E-BF70-627C-7E2E-725B760BEB6D}"/>
              </a:ext>
            </a:extLst>
          </p:cNvPr>
          <p:cNvSpPr/>
          <p:nvPr/>
        </p:nvSpPr>
        <p:spPr>
          <a:xfrm>
            <a:off x="467544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29" name="矩形: 圓角 228">
            <a:extLst>
              <a:ext uri="{FF2B5EF4-FFF2-40B4-BE49-F238E27FC236}">
                <a16:creationId xmlns:a16="http://schemas.microsoft.com/office/drawing/2014/main" id="{8F1B5488-7BCE-8EA6-44BE-77F3FE5C352E}"/>
              </a:ext>
            </a:extLst>
          </p:cNvPr>
          <p:cNvSpPr/>
          <p:nvPr/>
        </p:nvSpPr>
        <p:spPr>
          <a:xfrm>
            <a:off x="3779912" y="5092506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 Layer</a:t>
            </a:r>
          </a:p>
        </p:txBody>
      </p:sp>
      <p:sp>
        <p:nvSpPr>
          <p:cNvPr id="2" name="矩形: 圓角 1">
            <a:extLst>
              <a:ext uri="{FF2B5EF4-FFF2-40B4-BE49-F238E27FC236}">
                <a16:creationId xmlns:a16="http://schemas.microsoft.com/office/drawing/2014/main" id="{63207710-985C-7A28-4056-2FA6713D85CB}"/>
              </a:ext>
            </a:extLst>
          </p:cNvPr>
          <p:cNvSpPr/>
          <p:nvPr/>
        </p:nvSpPr>
        <p:spPr>
          <a:xfrm>
            <a:off x="467826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F70EDC75-7385-5F95-B4BA-97F9859B8A9F}"/>
              </a:ext>
            </a:extLst>
          </p:cNvPr>
          <p:cNvSpPr txBox="1"/>
          <p:nvPr/>
        </p:nvSpPr>
        <p:spPr>
          <a:xfrm>
            <a:off x="535220" y="2002309"/>
            <a:ext cx="1086557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587727A-BDEF-F32C-B3C5-7C3AB14BD1E5}"/>
              </a:ext>
            </a:extLst>
          </p:cNvPr>
          <p:cNvSpPr txBox="1"/>
          <p:nvPr/>
        </p:nvSpPr>
        <p:spPr>
          <a:xfrm>
            <a:off x="535220" y="3781568"/>
            <a:ext cx="1086557" cy="824652"/>
          </a:xfrm>
          <a:prstGeom prst="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EB078010-CFFF-9CD7-52C0-BC77FCB4C98B}"/>
              </a:ext>
            </a:extLst>
          </p:cNvPr>
          <p:cNvCxnSpPr>
            <a:cxnSpLocks/>
            <a:endCxn id="179" idx="2"/>
          </p:cNvCxnSpPr>
          <p:nvPr/>
        </p:nvCxnSpPr>
        <p:spPr>
          <a:xfrm flipH="1" flipV="1">
            <a:off x="1075281" y="4501648"/>
            <a:ext cx="2307" cy="435063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標題 1">
            <a:extLst>
              <a:ext uri="{FF2B5EF4-FFF2-40B4-BE49-F238E27FC236}">
                <a16:creationId xmlns:a16="http://schemas.microsoft.com/office/drawing/2014/main" id="{6437C88A-0580-6462-84EA-7D74708B04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4: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P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ayer </a:t>
            </a:r>
            <a:r>
              <a:rPr lang="en-US" altLang="zh-TW" sz="2800" b="1" dirty="0">
                <a:solidFill>
                  <a:schemeClr val="accent6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E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mbeddings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PLE is a soft-gated, lightweight MoE variant that dynamically activates layer-wise token embeddings.</a:t>
            </a:r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D10604D-7C92-2E3B-35EC-F4C7CB2B62D2}"/>
              </a:ext>
            </a:extLst>
          </p:cNvPr>
          <p:cNvSpPr/>
          <p:nvPr/>
        </p:nvSpPr>
        <p:spPr>
          <a:xfrm>
            <a:off x="2123728" y="1922626"/>
            <a:ext cx="1219522" cy="27950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E6E0CA71-1BC7-E4CA-433F-7736D51728A0}"/>
              </a:ext>
            </a:extLst>
          </p:cNvPr>
          <p:cNvSpPr txBox="1"/>
          <p:nvPr/>
        </p:nvSpPr>
        <p:spPr>
          <a:xfrm>
            <a:off x="2200023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69BCEB1-E0B0-B90E-2045-1A27BA4B3F18}"/>
              </a:ext>
            </a:extLst>
          </p:cNvPr>
          <p:cNvSpPr txBox="1"/>
          <p:nvPr/>
        </p:nvSpPr>
        <p:spPr>
          <a:xfrm>
            <a:off x="2195735" y="3781568"/>
            <a:ext cx="1086557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cxnSp>
        <p:nvCxnSpPr>
          <p:cNvPr id="23" name="直線單箭頭接點 22">
            <a:extLst>
              <a:ext uri="{FF2B5EF4-FFF2-40B4-BE49-F238E27FC236}">
                <a16:creationId xmlns:a16="http://schemas.microsoft.com/office/drawing/2014/main" id="{A6DD51A0-4E9D-53D5-774B-7FB0D7B40776}"/>
              </a:ext>
            </a:extLst>
          </p:cNvPr>
          <p:cNvCxnSpPr>
            <a:cxnSpLocks/>
            <a:stCxn id="176" idx="0"/>
            <a:endCxn id="177" idx="2"/>
          </p:cNvCxnSpPr>
          <p:nvPr/>
        </p:nvCxnSpPr>
        <p:spPr>
          <a:xfrm flipH="1" flipV="1">
            <a:off x="2726271" y="4501648"/>
            <a:ext cx="2070" cy="25505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: 圓角 113">
            <a:extLst>
              <a:ext uri="{FF2B5EF4-FFF2-40B4-BE49-F238E27FC236}">
                <a16:creationId xmlns:a16="http://schemas.microsoft.com/office/drawing/2014/main" id="{EEB91617-C124-5DE4-BE19-2CEB48DC1241}"/>
              </a:ext>
            </a:extLst>
          </p:cNvPr>
          <p:cNvSpPr/>
          <p:nvPr/>
        </p:nvSpPr>
        <p:spPr>
          <a:xfrm>
            <a:off x="2123728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sp>
        <p:nvSpPr>
          <p:cNvPr id="116" name="矩形: 圓角 115">
            <a:extLst>
              <a:ext uri="{FF2B5EF4-FFF2-40B4-BE49-F238E27FC236}">
                <a16:creationId xmlns:a16="http://schemas.microsoft.com/office/drawing/2014/main" id="{880A86E0-5A57-1AAC-19B8-36E088E57F41}"/>
              </a:ext>
            </a:extLst>
          </p:cNvPr>
          <p:cNvSpPr/>
          <p:nvPr/>
        </p:nvSpPr>
        <p:spPr>
          <a:xfrm>
            <a:off x="467544" y="1405304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117" name="直線單箭頭接點 116">
            <a:extLst>
              <a:ext uri="{FF2B5EF4-FFF2-40B4-BE49-F238E27FC236}">
                <a16:creationId xmlns:a16="http://schemas.microsoft.com/office/drawing/2014/main" id="{85BE5E5C-28BB-97A1-01B2-6768AAA67AEF}"/>
              </a:ext>
            </a:extLst>
          </p:cNvPr>
          <p:cNvCxnSpPr>
            <a:cxnSpLocks/>
            <a:stCxn id="2" idx="0"/>
            <a:endCxn id="116" idx="2"/>
          </p:cNvCxnSpPr>
          <p:nvPr/>
        </p:nvCxnSpPr>
        <p:spPr>
          <a:xfrm flipH="1" flipV="1">
            <a:off x="1077305" y="1750550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直線單箭頭接點 119">
            <a:extLst>
              <a:ext uri="{FF2B5EF4-FFF2-40B4-BE49-F238E27FC236}">
                <a16:creationId xmlns:a16="http://schemas.microsoft.com/office/drawing/2014/main" id="{B696DE89-8A26-544F-3D66-7094163C735B}"/>
              </a:ext>
            </a:extLst>
          </p:cNvPr>
          <p:cNvCxnSpPr>
            <a:cxnSpLocks/>
            <a:stCxn id="19" idx="0"/>
            <a:endCxn id="114" idx="2"/>
          </p:cNvCxnSpPr>
          <p:nvPr/>
        </p:nvCxnSpPr>
        <p:spPr>
          <a:xfrm flipV="1">
            <a:off x="2733489" y="1750550"/>
            <a:ext cx="0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文字方塊 128">
            <a:extLst>
              <a:ext uri="{FF2B5EF4-FFF2-40B4-BE49-F238E27FC236}">
                <a16:creationId xmlns:a16="http://schemas.microsoft.com/office/drawing/2014/main" id="{5E0CAF59-BBBF-C06E-BFAB-579759835897}"/>
              </a:ext>
            </a:extLst>
          </p:cNvPr>
          <p:cNvSpPr txBox="1"/>
          <p:nvPr/>
        </p:nvSpPr>
        <p:spPr>
          <a:xfrm>
            <a:off x="248805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38" name="文字方塊 137">
            <a:extLst>
              <a:ext uri="{FF2B5EF4-FFF2-40B4-BE49-F238E27FC236}">
                <a16:creationId xmlns:a16="http://schemas.microsoft.com/office/drawing/2014/main" id="{8F514093-6F77-65BB-A2D2-6043D3519CE7}"/>
              </a:ext>
            </a:extLst>
          </p:cNvPr>
          <p:cNvSpPr txBox="1"/>
          <p:nvPr/>
        </p:nvSpPr>
        <p:spPr>
          <a:xfrm>
            <a:off x="2787962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0" name="文字方塊 139">
            <a:extLst>
              <a:ext uri="{FF2B5EF4-FFF2-40B4-BE49-F238E27FC236}">
                <a16:creationId xmlns:a16="http://schemas.microsoft.com/office/drawing/2014/main" id="{ECA51B2A-2ABF-6E33-0457-6751CBACF99B}"/>
              </a:ext>
            </a:extLst>
          </p:cNvPr>
          <p:cNvSpPr txBox="1"/>
          <p:nvPr/>
        </p:nvSpPr>
        <p:spPr>
          <a:xfrm>
            <a:off x="3074595" y="2081639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2" name="文字方塊 141">
            <a:extLst>
              <a:ext uri="{FF2B5EF4-FFF2-40B4-BE49-F238E27FC236}">
                <a16:creationId xmlns:a16="http://schemas.microsoft.com/office/drawing/2014/main" id="{744B4012-ACB2-0F3C-758F-4D04EBA7F1FE}"/>
              </a:ext>
            </a:extLst>
          </p:cNvPr>
          <p:cNvSpPr txBox="1"/>
          <p:nvPr/>
        </p:nvSpPr>
        <p:spPr>
          <a:xfrm>
            <a:off x="2195736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4" name="文字方塊 143">
            <a:extLst>
              <a:ext uri="{FF2B5EF4-FFF2-40B4-BE49-F238E27FC236}">
                <a16:creationId xmlns:a16="http://schemas.microsoft.com/office/drawing/2014/main" id="{6AE005A0-05D7-773E-285E-3FCA95F33F2D}"/>
              </a:ext>
            </a:extLst>
          </p:cNvPr>
          <p:cNvSpPr txBox="1"/>
          <p:nvPr/>
        </p:nvSpPr>
        <p:spPr>
          <a:xfrm>
            <a:off x="2483768" y="2350933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6" name="文字方塊 145">
            <a:extLst>
              <a:ext uri="{FF2B5EF4-FFF2-40B4-BE49-F238E27FC236}">
                <a16:creationId xmlns:a16="http://schemas.microsoft.com/office/drawing/2014/main" id="{4051D90B-7D0B-401F-7F76-104C3902FCE5}"/>
              </a:ext>
            </a:extLst>
          </p:cNvPr>
          <p:cNvSpPr txBox="1"/>
          <p:nvPr/>
        </p:nvSpPr>
        <p:spPr>
          <a:xfrm>
            <a:off x="278367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48" name="文字方塊 147">
            <a:extLst>
              <a:ext uri="{FF2B5EF4-FFF2-40B4-BE49-F238E27FC236}">
                <a16:creationId xmlns:a16="http://schemas.microsoft.com/office/drawing/2014/main" id="{BF64FCE1-31A2-A9B7-C357-917B8D840233}"/>
              </a:ext>
            </a:extLst>
          </p:cNvPr>
          <p:cNvSpPr txBox="1"/>
          <p:nvPr/>
        </p:nvSpPr>
        <p:spPr>
          <a:xfrm>
            <a:off x="3074595" y="2350933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14B2865-C3D6-34B0-B1AB-48FB701BAEE5}"/>
              </a:ext>
            </a:extLst>
          </p:cNvPr>
          <p:cNvSpPr txBox="1"/>
          <p:nvPr/>
        </p:nvSpPr>
        <p:spPr>
          <a:xfrm>
            <a:off x="2199071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2" name="文字方塊 151">
            <a:extLst>
              <a:ext uri="{FF2B5EF4-FFF2-40B4-BE49-F238E27FC236}">
                <a16:creationId xmlns:a16="http://schemas.microsoft.com/office/drawing/2014/main" id="{C36BF9ED-BB06-85E2-9031-050919357D81}"/>
              </a:ext>
            </a:extLst>
          </p:cNvPr>
          <p:cNvSpPr txBox="1"/>
          <p:nvPr/>
        </p:nvSpPr>
        <p:spPr>
          <a:xfrm>
            <a:off x="248710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4" name="文字方塊 153">
            <a:extLst>
              <a:ext uri="{FF2B5EF4-FFF2-40B4-BE49-F238E27FC236}">
                <a16:creationId xmlns:a16="http://schemas.microsoft.com/office/drawing/2014/main" id="{689A7308-C46C-A590-0867-D7C276AD8556}"/>
              </a:ext>
            </a:extLst>
          </p:cNvPr>
          <p:cNvSpPr txBox="1"/>
          <p:nvPr/>
        </p:nvSpPr>
        <p:spPr>
          <a:xfrm>
            <a:off x="2787010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6" name="文字方塊 155">
            <a:extLst>
              <a:ext uri="{FF2B5EF4-FFF2-40B4-BE49-F238E27FC236}">
                <a16:creationId xmlns:a16="http://schemas.microsoft.com/office/drawing/2014/main" id="{439DE49D-B3C9-076B-1306-62B820CCC6AA}"/>
              </a:ext>
            </a:extLst>
          </p:cNvPr>
          <p:cNvSpPr txBox="1"/>
          <p:nvPr/>
        </p:nvSpPr>
        <p:spPr>
          <a:xfrm>
            <a:off x="3073643" y="2629440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58" name="文字方塊 157">
            <a:extLst>
              <a:ext uri="{FF2B5EF4-FFF2-40B4-BE49-F238E27FC236}">
                <a16:creationId xmlns:a16="http://schemas.microsoft.com/office/drawing/2014/main" id="{3F814F05-AF87-78FB-274A-CB46919FC54B}"/>
              </a:ext>
            </a:extLst>
          </p:cNvPr>
          <p:cNvSpPr txBox="1"/>
          <p:nvPr/>
        </p:nvSpPr>
        <p:spPr>
          <a:xfrm>
            <a:off x="2194784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0" name="文字方塊 159">
            <a:extLst>
              <a:ext uri="{FF2B5EF4-FFF2-40B4-BE49-F238E27FC236}">
                <a16:creationId xmlns:a16="http://schemas.microsoft.com/office/drawing/2014/main" id="{86604D7E-3B80-431C-B51D-7F28A1DC59B6}"/>
              </a:ext>
            </a:extLst>
          </p:cNvPr>
          <p:cNvSpPr txBox="1"/>
          <p:nvPr/>
        </p:nvSpPr>
        <p:spPr>
          <a:xfrm>
            <a:off x="2482816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2" name="文字方塊 161">
            <a:extLst>
              <a:ext uri="{FF2B5EF4-FFF2-40B4-BE49-F238E27FC236}">
                <a16:creationId xmlns:a16="http://schemas.microsoft.com/office/drawing/2014/main" id="{99CA2173-A9DE-DD28-3E1F-D8D274448690}"/>
              </a:ext>
            </a:extLst>
          </p:cNvPr>
          <p:cNvSpPr txBox="1"/>
          <p:nvPr/>
        </p:nvSpPr>
        <p:spPr>
          <a:xfrm>
            <a:off x="2782723" y="2917472"/>
            <a:ext cx="201168" cy="20116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tx1">
                    <a:lumMod val="95000"/>
                    <a:lumOff val="5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4" name="文字方塊 163">
            <a:extLst>
              <a:ext uri="{FF2B5EF4-FFF2-40B4-BE49-F238E27FC236}">
                <a16:creationId xmlns:a16="http://schemas.microsoft.com/office/drawing/2014/main" id="{DD71B362-A01D-EBB9-D617-94917BA6CDEC}"/>
              </a:ext>
            </a:extLst>
          </p:cNvPr>
          <p:cNvSpPr txBox="1"/>
          <p:nvPr/>
        </p:nvSpPr>
        <p:spPr>
          <a:xfrm>
            <a:off x="3073643" y="2917472"/>
            <a:ext cx="201168" cy="201168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u="none" strike="noStrike" dirty="0">
                <a:solidFill>
                  <a:schemeClr val="bg1">
                    <a:lumMod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E</a:t>
            </a:r>
          </a:p>
        </p:txBody>
      </p:sp>
      <p:sp>
        <p:nvSpPr>
          <p:cNvPr id="168" name="矩形 167">
            <a:extLst>
              <a:ext uri="{FF2B5EF4-FFF2-40B4-BE49-F238E27FC236}">
                <a16:creationId xmlns:a16="http://schemas.microsoft.com/office/drawing/2014/main" id="{4984473E-2D74-7C5F-7523-1066200E0569}"/>
              </a:ext>
            </a:extLst>
          </p:cNvPr>
          <p:cNvSpPr/>
          <p:nvPr/>
        </p:nvSpPr>
        <p:spPr>
          <a:xfrm>
            <a:off x="607229" y="4756564"/>
            <a:ext cx="933795" cy="393156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6" name="矩形 175">
            <a:extLst>
              <a:ext uri="{FF2B5EF4-FFF2-40B4-BE49-F238E27FC236}">
                <a16:creationId xmlns:a16="http://schemas.microsoft.com/office/drawing/2014/main" id="{ACB06678-7FB7-4292-ABE6-B489A21D9B47}"/>
              </a:ext>
            </a:extLst>
          </p:cNvPr>
          <p:cNvSpPr/>
          <p:nvPr/>
        </p:nvSpPr>
        <p:spPr>
          <a:xfrm>
            <a:off x="2476313" y="4756705"/>
            <a:ext cx="504056" cy="393015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DA06AFCC-47AC-D0E2-83E9-2D3F7A51BC37}"/>
              </a:ext>
            </a:extLst>
          </p:cNvPr>
          <p:cNvSpPr/>
          <p:nvPr/>
        </p:nvSpPr>
        <p:spPr>
          <a:xfrm>
            <a:off x="2474243" y="4069600"/>
            <a:ext cx="504056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2048</a:t>
            </a:r>
          </a:p>
        </p:txBody>
      </p:sp>
      <p:sp>
        <p:nvSpPr>
          <p:cNvPr id="179" name="矩形: 圓角 178">
            <a:extLst>
              <a:ext uri="{FF2B5EF4-FFF2-40B4-BE49-F238E27FC236}">
                <a16:creationId xmlns:a16="http://schemas.microsoft.com/office/drawing/2014/main" id="{EC117753-EFAC-91F3-0AE6-4EB0623CBA38}"/>
              </a:ext>
            </a:extLst>
          </p:cNvPr>
          <p:cNvSpPr/>
          <p:nvPr/>
        </p:nvSpPr>
        <p:spPr>
          <a:xfrm>
            <a:off x="607229" y="4069600"/>
            <a:ext cx="936104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 x 8192</a:t>
            </a:r>
          </a:p>
        </p:txBody>
      </p:sp>
      <p:sp>
        <p:nvSpPr>
          <p:cNvPr id="181" name="矩形: 圓角 180">
            <a:extLst>
              <a:ext uri="{FF2B5EF4-FFF2-40B4-BE49-F238E27FC236}">
                <a16:creationId xmlns:a16="http://schemas.microsoft.com/office/drawing/2014/main" id="{1C7D8B6E-9018-D3B0-9050-78C4C703439B}"/>
              </a:ext>
            </a:extLst>
          </p:cNvPr>
          <p:cNvSpPr/>
          <p:nvPr/>
        </p:nvSpPr>
        <p:spPr>
          <a:xfrm>
            <a:off x="607229" y="2472158"/>
            <a:ext cx="936104" cy="1093386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11" name="文字方塊 210">
            <a:extLst>
              <a:ext uri="{FF2B5EF4-FFF2-40B4-BE49-F238E27FC236}">
                <a16:creationId xmlns:a16="http://schemas.microsoft.com/office/drawing/2014/main" id="{E8BBC1BD-B857-3E87-A92C-9AD7F8FD3FDD}"/>
              </a:ext>
            </a:extLst>
          </p:cNvPr>
          <p:cNvSpPr txBox="1"/>
          <p:nvPr/>
        </p:nvSpPr>
        <p:spPr>
          <a:xfrm>
            <a:off x="3851920" y="1990064"/>
            <a:ext cx="754719" cy="1635243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FFN</a:t>
            </a:r>
          </a:p>
        </p:txBody>
      </p:sp>
      <p:sp>
        <p:nvSpPr>
          <p:cNvPr id="212" name="文字方塊 211">
            <a:extLst>
              <a:ext uri="{FF2B5EF4-FFF2-40B4-BE49-F238E27FC236}">
                <a16:creationId xmlns:a16="http://schemas.microsoft.com/office/drawing/2014/main" id="{8BCA93BD-0565-5A58-CC44-CB484CF1AC63}"/>
              </a:ext>
            </a:extLst>
          </p:cNvPr>
          <p:cNvSpPr txBox="1"/>
          <p:nvPr/>
        </p:nvSpPr>
        <p:spPr>
          <a:xfrm>
            <a:off x="3851921" y="3769323"/>
            <a:ext cx="755000" cy="824652"/>
          </a:xfrm>
          <a:prstGeom prst="rect">
            <a:avLst/>
          </a:prstGeom>
          <a:solidFill>
            <a:srgbClr val="DCE6F2">
              <a:alpha val="20000"/>
            </a:srgbClr>
          </a:solidFill>
          <a:ln w="15875">
            <a:solidFill>
              <a:schemeClr val="bg1">
                <a:lumMod val="85000"/>
              </a:schemeClr>
            </a:solidFill>
          </a:ln>
        </p:spPr>
        <p:txBody>
          <a:bodyPr wrap="none" lIns="36000" tIns="36000" rIns="0" bIns="0" anchor="t" anchorCtr="0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b="1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MHA</a:t>
            </a:r>
          </a:p>
        </p:txBody>
      </p:sp>
      <p:sp>
        <p:nvSpPr>
          <p:cNvPr id="214" name="矩形: 圓角 213">
            <a:extLst>
              <a:ext uri="{FF2B5EF4-FFF2-40B4-BE49-F238E27FC236}">
                <a16:creationId xmlns:a16="http://schemas.microsoft.com/office/drawing/2014/main" id="{B8497F08-95D0-F2C5-894C-7C8B7701641F}"/>
              </a:ext>
            </a:extLst>
          </p:cNvPr>
          <p:cNvSpPr/>
          <p:nvPr/>
        </p:nvSpPr>
        <p:spPr>
          <a:xfrm>
            <a:off x="3779912" y="1393059"/>
            <a:ext cx="1219522" cy="345246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Next Layer</a:t>
            </a:r>
          </a:p>
        </p:txBody>
      </p:sp>
      <p:cxnSp>
        <p:nvCxnSpPr>
          <p:cNvPr id="215" name="直線單箭頭接點 214">
            <a:extLst>
              <a:ext uri="{FF2B5EF4-FFF2-40B4-BE49-F238E27FC236}">
                <a16:creationId xmlns:a16="http://schemas.microsoft.com/office/drawing/2014/main" id="{28BE8337-43EE-0003-F107-E86F662BD722}"/>
              </a:ext>
            </a:extLst>
          </p:cNvPr>
          <p:cNvCxnSpPr>
            <a:cxnSpLocks/>
            <a:stCxn id="210" idx="0"/>
            <a:endCxn id="214" idx="2"/>
          </p:cNvCxnSpPr>
          <p:nvPr/>
        </p:nvCxnSpPr>
        <p:spPr>
          <a:xfrm flipH="1" flipV="1">
            <a:off x="4389673" y="1738305"/>
            <a:ext cx="282" cy="17207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B1EC08CE-E011-D4FD-3B57-E460890E997B}"/>
              </a:ext>
            </a:extLst>
          </p:cNvPr>
          <p:cNvSpPr/>
          <p:nvPr/>
        </p:nvSpPr>
        <p:spPr>
          <a:xfrm>
            <a:off x="3995936" y="2468760"/>
            <a:ext cx="485573" cy="1096784"/>
          </a:xfrm>
          <a:prstGeom prst="roundRect">
            <a:avLst>
              <a:gd name="adj" fmla="val 13748"/>
            </a:avLst>
          </a:prstGeom>
          <a:solidFill>
            <a:schemeClr val="accent2">
              <a:lumMod val="20000"/>
              <a:lumOff val="80000"/>
            </a:schemeClr>
          </a:solidFill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FFN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Nxd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232" name="直線單箭頭接點 231">
            <a:extLst>
              <a:ext uri="{FF2B5EF4-FFF2-40B4-BE49-F238E27FC236}">
                <a16:creationId xmlns:a16="http://schemas.microsoft.com/office/drawing/2014/main" id="{F26B60A0-8C3B-AFEC-E949-85B592C35EA9}"/>
              </a:ext>
            </a:extLst>
          </p:cNvPr>
          <p:cNvCxnSpPr>
            <a:cxnSpLocks/>
            <a:stCxn id="233" idx="0"/>
            <a:endCxn id="234" idx="2"/>
          </p:cNvCxnSpPr>
          <p:nvPr/>
        </p:nvCxnSpPr>
        <p:spPr>
          <a:xfrm flipH="1" flipV="1">
            <a:off x="4226493" y="4508771"/>
            <a:ext cx="3979" cy="233287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矩形 232">
            <a:extLst>
              <a:ext uri="{FF2B5EF4-FFF2-40B4-BE49-F238E27FC236}">
                <a16:creationId xmlns:a16="http://schemas.microsoft.com/office/drawing/2014/main" id="{EE8233CC-685F-7D13-2602-C521F75A2832}"/>
              </a:ext>
            </a:extLst>
          </p:cNvPr>
          <p:cNvSpPr/>
          <p:nvPr/>
        </p:nvSpPr>
        <p:spPr>
          <a:xfrm>
            <a:off x="4032960" y="4742058"/>
            <a:ext cx="395024" cy="407662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9144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X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NxD</a:t>
            </a:r>
          </a:p>
        </p:txBody>
      </p:sp>
      <p:sp>
        <p:nvSpPr>
          <p:cNvPr id="234" name="矩形: 圓角 233">
            <a:extLst>
              <a:ext uri="{FF2B5EF4-FFF2-40B4-BE49-F238E27FC236}">
                <a16:creationId xmlns:a16="http://schemas.microsoft.com/office/drawing/2014/main" id="{ECD326D8-B7FF-4E8B-8C79-96380FFA8CB5}"/>
              </a:ext>
            </a:extLst>
          </p:cNvPr>
          <p:cNvSpPr/>
          <p:nvPr/>
        </p:nvSpPr>
        <p:spPr>
          <a:xfrm>
            <a:off x="4025003" y="4069600"/>
            <a:ext cx="402980" cy="439171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QKV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Nx1536</a:t>
            </a:r>
          </a:p>
        </p:txBody>
      </p:sp>
      <p:sp>
        <p:nvSpPr>
          <p:cNvPr id="243" name="矩形: 圓角 242">
            <a:extLst>
              <a:ext uri="{FF2B5EF4-FFF2-40B4-BE49-F238E27FC236}">
                <a16:creationId xmlns:a16="http://schemas.microsoft.com/office/drawing/2014/main" id="{D2F0EB87-8852-A70A-3723-552C9C22DAC4}"/>
              </a:ext>
            </a:extLst>
          </p:cNvPr>
          <p:cNvSpPr/>
          <p:nvPr/>
        </p:nvSpPr>
        <p:spPr>
          <a:xfrm>
            <a:off x="2467914" y="3224554"/>
            <a:ext cx="516929" cy="436010"/>
          </a:xfrm>
          <a:prstGeom prst="roundRect">
            <a:avLst>
              <a:gd name="adj" fmla="val 8860"/>
            </a:avLst>
          </a:prstGeom>
          <a:solidFill>
            <a:schemeClr val="accent2">
              <a:lumMod val="20000"/>
              <a:lumOff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MoE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Router</a:t>
            </a:r>
          </a:p>
        </p:txBody>
      </p:sp>
      <p:graphicFrame>
        <p:nvGraphicFramePr>
          <p:cNvPr id="247" name="表格 246">
            <a:extLst>
              <a:ext uri="{FF2B5EF4-FFF2-40B4-BE49-F238E27FC236}">
                <a16:creationId xmlns:a16="http://schemas.microsoft.com/office/drawing/2014/main" id="{61885D46-3697-0E37-AEE5-5620963F4D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438005"/>
              </p:ext>
            </p:extLst>
          </p:nvPr>
        </p:nvGraphicFramePr>
        <p:xfrm>
          <a:off x="5652400" y="1777144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D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3" name="表格 252">
            <a:extLst>
              <a:ext uri="{FF2B5EF4-FFF2-40B4-BE49-F238E27FC236}">
                <a16:creationId xmlns:a16="http://schemas.microsoft.com/office/drawing/2014/main" id="{DC5B4798-CEC6-AFB5-C676-A6C5088940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3125562"/>
              </p:ext>
            </p:extLst>
          </p:nvPr>
        </p:nvGraphicFramePr>
        <p:xfrm>
          <a:off x="6823274" y="3400354"/>
          <a:ext cx="1264220" cy="273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48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4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36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v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59" name="表格 258">
            <a:extLst>
              <a:ext uri="{FF2B5EF4-FFF2-40B4-BE49-F238E27FC236}">
                <a16:creationId xmlns:a16="http://schemas.microsoft.com/office/drawing/2014/main" id="{BB345011-E72A-4B57-7623-0F079D3A82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851739"/>
              </p:ext>
            </p:extLst>
          </p:nvPr>
        </p:nvGraphicFramePr>
        <p:xfrm>
          <a:off x="6823274" y="4066479"/>
          <a:ext cx="1264220" cy="276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844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844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14565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360038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</a:tblGrid>
              <a:tr h="27677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g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261" name="表格 260">
            <a:extLst>
              <a:ext uri="{FF2B5EF4-FFF2-40B4-BE49-F238E27FC236}">
                <a16:creationId xmlns:a16="http://schemas.microsoft.com/office/drawing/2014/main" id="{FFB275EB-4E36-DB50-7280-FD028F5641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0050720"/>
              </p:ext>
            </p:extLst>
          </p:nvPr>
        </p:nvGraphicFramePr>
        <p:xfrm>
          <a:off x="5652120" y="5265132"/>
          <a:ext cx="252000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X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277" name="接點: 肘形 276">
            <a:extLst>
              <a:ext uri="{FF2B5EF4-FFF2-40B4-BE49-F238E27FC236}">
                <a16:creationId xmlns:a16="http://schemas.microsoft.com/office/drawing/2014/main" id="{928978F1-37A7-0A94-71DE-2F6FA9EC1494}"/>
              </a:ext>
            </a:extLst>
          </p:cNvPr>
          <p:cNvCxnSpPr>
            <a:cxnSpLocks/>
            <a:stCxn id="247" idx="1"/>
            <a:endCxn id="353" idx="3"/>
          </p:cNvCxnSpPr>
          <p:nvPr/>
        </p:nvCxnSpPr>
        <p:spPr>
          <a:xfrm rot="10800000" flipV="1">
            <a:off x="5148064" y="1908071"/>
            <a:ext cx="504336" cy="175749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8" name="接點: 肘形 277">
            <a:extLst>
              <a:ext uri="{FF2B5EF4-FFF2-40B4-BE49-F238E27FC236}">
                <a16:creationId xmlns:a16="http://schemas.microsoft.com/office/drawing/2014/main" id="{717C5D64-7B86-5E45-0548-0FDD29BF909A}"/>
              </a:ext>
            </a:extLst>
          </p:cNvPr>
          <p:cNvCxnSpPr>
            <a:cxnSpLocks/>
            <a:stCxn id="355" idx="3"/>
            <a:endCxn id="261" idx="1"/>
          </p:cNvCxnSpPr>
          <p:nvPr/>
        </p:nvCxnSpPr>
        <p:spPr>
          <a:xfrm>
            <a:off x="5148064" y="3789373"/>
            <a:ext cx="504056" cy="1626888"/>
          </a:xfrm>
          <a:prstGeom prst="bentConnector3">
            <a:avLst>
              <a:gd name="adj1" fmla="val 50000"/>
            </a:avLst>
          </a:prstGeom>
          <a:ln>
            <a:solidFill>
              <a:schemeClr val="tx1">
                <a:lumMod val="50000"/>
                <a:lumOff val="50000"/>
              </a:schemeClr>
            </a:solidFill>
            <a:prstDash val="dash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3" name="直線接點 292">
            <a:extLst>
              <a:ext uri="{FF2B5EF4-FFF2-40B4-BE49-F238E27FC236}">
                <a16:creationId xmlns:a16="http://schemas.microsoft.com/office/drawing/2014/main" id="{A2D0A9B0-FA90-7699-CF4F-9C904905E5EC}"/>
              </a:ext>
            </a:extLst>
          </p:cNvPr>
          <p:cNvCxnSpPr>
            <a:cxnSpLocks/>
            <a:stCxn id="447" idx="1"/>
            <a:endCxn id="253" idx="3"/>
          </p:cNvCxnSpPr>
          <p:nvPr/>
        </p:nvCxnSpPr>
        <p:spPr>
          <a:xfrm flipH="1">
            <a:off x="8087494" y="3537181"/>
            <a:ext cx="275854" cy="0"/>
          </a:xfrm>
          <a:prstGeom prst="line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文字方塊 322">
            <a:extLst>
              <a:ext uri="{FF2B5EF4-FFF2-40B4-BE49-F238E27FC236}">
                <a16:creationId xmlns:a16="http://schemas.microsoft.com/office/drawing/2014/main" id="{28DFD3BC-A87F-A5C7-534C-3F0D49144805}"/>
              </a:ext>
            </a:extLst>
          </p:cNvPr>
          <p:cNvSpPr txBox="1"/>
          <p:nvPr/>
        </p:nvSpPr>
        <p:spPr>
          <a:xfrm>
            <a:off x="5652120" y="5069655"/>
            <a:ext cx="899391" cy="209704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Gating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Router</a:t>
            </a:r>
          </a:p>
        </p:txBody>
      </p:sp>
      <p:sp>
        <p:nvSpPr>
          <p:cNvPr id="238" name="矩形: 圓角 237">
            <a:extLst>
              <a:ext uri="{FF2B5EF4-FFF2-40B4-BE49-F238E27FC236}">
                <a16:creationId xmlns:a16="http://schemas.microsoft.com/office/drawing/2014/main" id="{4B06301D-1BE8-1326-B4FC-7F4CF91E61AE}"/>
              </a:ext>
            </a:extLst>
          </p:cNvPr>
          <p:cNvSpPr/>
          <p:nvPr/>
        </p:nvSpPr>
        <p:spPr>
          <a:xfrm>
            <a:off x="4755291" y="2941403"/>
            <a:ext cx="72008" cy="1093386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  <a:alpha val="40000"/>
            </a:schemeClr>
          </a:solidFill>
          <a:ln w="15875">
            <a:solidFill>
              <a:schemeClr val="accent6">
                <a:lumMod val="75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363" name="文字方塊 362">
            <a:extLst>
              <a:ext uri="{FF2B5EF4-FFF2-40B4-BE49-F238E27FC236}">
                <a16:creationId xmlns:a16="http://schemas.microsoft.com/office/drawing/2014/main" id="{525FB032-A4CB-7C4D-2D54-F9DD83D1962B}"/>
              </a:ext>
            </a:extLst>
          </p:cNvPr>
          <p:cNvSpPr txBox="1"/>
          <p:nvPr/>
        </p:nvSpPr>
        <p:spPr>
          <a:xfrm>
            <a:off x="6823274" y="3839199"/>
            <a:ext cx="963697" cy="2645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Token Indexing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365" name="接點: 肘形 364">
            <a:extLst>
              <a:ext uri="{FF2B5EF4-FFF2-40B4-BE49-F238E27FC236}">
                <a16:creationId xmlns:a16="http://schemas.microsoft.com/office/drawing/2014/main" id="{DD415140-B33D-1548-4B58-7C4C4747B9D4}"/>
              </a:ext>
            </a:extLst>
          </p:cNvPr>
          <p:cNvCxnSpPr>
            <a:cxnSpLocks/>
            <a:stCxn id="233" idx="3"/>
            <a:endCxn id="369" idx="2"/>
          </p:cNvCxnSpPr>
          <p:nvPr/>
        </p:nvCxnSpPr>
        <p:spPr>
          <a:xfrm flipV="1">
            <a:off x="4427984" y="4501648"/>
            <a:ext cx="357953" cy="444241"/>
          </a:xfrm>
          <a:prstGeom prst="bentConnector2">
            <a:avLst/>
          </a:prstGeom>
          <a:ln w="19050">
            <a:solidFill>
              <a:schemeClr val="tx1"/>
            </a:solidFill>
            <a:headEnd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9" name="矩形: 圓角 368">
            <a:extLst>
              <a:ext uri="{FF2B5EF4-FFF2-40B4-BE49-F238E27FC236}">
                <a16:creationId xmlns:a16="http://schemas.microsoft.com/office/drawing/2014/main" id="{DE9F4776-897F-EF38-755B-22FC78B99362}"/>
              </a:ext>
            </a:extLst>
          </p:cNvPr>
          <p:cNvSpPr/>
          <p:nvPr/>
        </p:nvSpPr>
        <p:spPr>
          <a:xfrm>
            <a:off x="4644008" y="4069600"/>
            <a:ext cx="283858" cy="432048"/>
          </a:xfrm>
          <a:prstGeom prst="roundRect">
            <a:avLst/>
          </a:prstGeom>
          <a:solidFill>
            <a:schemeClr val="bg1"/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256</a:t>
            </a:r>
          </a:p>
        </p:txBody>
      </p:sp>
      <p:sp>
        <p:nvSpPr>
          <p:cNvPr id="379" name="矩形: 圓角 378">
            <a:extLst>
              <a:ext uri="{FF2B5EF4-FFF2-40B4-BE49-F238E27FC236}">
                <a16:creationId xmlns:a16="http://schemas.microsoft.com/office/drawing/2014/main" id="{C319F167-CD75-A554-5FB6-13D7673C674F}"/>
              </a:ext>
            </a:extLst>
          </p:cNvPr>
          <p:cNvSpPr/>
          <p:nvPr/>
        </p:nvSpPr>
        <p:spPr>
          <a:xfrm>
            <a:off x="8355366" y="5135343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W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 err="1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sp>
        <p:nvSpPr>
          <p:cNvPr id="402" name="文字方塊 401">
            <a:extLst>
              <a:ext uri="{FF2B5EF4-FFF2-40B4-BE49-F238E27FC236}">
                <a16:creationId xmlns:a16="http://schemas.microsoft.com/office/drawing/2014/main" id="{72FAC1CD-FDAF-2C4E-5F25-3580BA933392}"/>
              </a:ext>
            </a:extLst>
          </p:cNvPr>
          <p:cNvSpPr txBox="1"/>
          <p:nvPr/>
        </p:nvSpPr>
        <p:spPr>
          <a:xfrm>
            <a:off x="8172400" y="5135343"/>
            <a:ext cx="182966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07" name="接點: 弧形 406">
            <a:extLst>
              <a:ext uri="{FF2B5EF4-FFF2-40B4-BE49-F238E27FC236}">
                <a16:creationId xmlns:a16="http://schemas.microsoft.com/office/drawing/2014/main" id="{6B75EBEC-48B3-25A0-46E3-2D8C9256BCD5}"/>
              </a:ext>
            </a:extLst>
          </p:cNvPr>
          <p:cNvCxnSpPr>
            <a:cxnSpLocks/>
            <a:stCxn id="406" idx="0"/>
            <a:endCxn id="259" idx="3"/>
          </p:cNvCxnSpPr>
          <p:nvPr/>
        </p:nvCxnSpPr>
        <p:spPr>
          <a:xfrm rot="16200000" flipV="1">
            <a:off x="8118153" y="4174208"/>
            <a:ext cx="354412" cy="415730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接點: 弧形 413">
            <a:extLst>
              <a:ext uri="{FF2B5EF4-FFF2-40B4-BE49-F238E27FC236}">
                <a16:creationId xmlns:a16="http://schemas.microsoft.com/office/drawing/2014/main" id="{6A8855D9-5D93-9B03-FA67-8CB796C3379A}"/>
              </a:ext>
            </a:extLst>
          </p:cNvPr>
          <p:cNvCxnSpPr>
            <a:cxnSpLocks/>
            <a:stCxn id="379" idx="0"/>
            <a:endCxn id="404" idx="3"/>
          </p:cNvCxnSpPr>
          <p:nvPr/>
        </p:nvCxnSpPr>
        <p:spPr>
          <a:xfrm rot="16200000" flipV="1">
            <a:off x="8139011" y="4775254"/>
            <a:ext cx="321471" cy="398708"/>
          </a:xfrm>
          <a:prstGeom prst="curvedConnector2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0" name="文字方塊 399">
            <a:extLst>
              <a:ext uri="{FF2B5EF4-FFF2-40B4-BE49-F238E27FC236}">
                <a16:creationId xmlns:a16="http://schemas.microsoft.com/office/drawing/2014/main" id="{C2D0AA9D-2CF4-2067-F683-7B9B3215C81A}"/>
              </a:ext>
            </a:extLst>
          </p:cNvPr>
          <p:cNvSpPr txBox="1"/>
          <p:nvPr/>
        </p:nvSpPr>
        <p:spPr>
          <a:xfrm>
            <a:off x="8100392" y="4559279"/>
            <a:ext cx="252367" cy="276776"/>
          </a:xfrm>
          <a:prstGeom prst="rect">
            <a:avLst/>
          </a:prstGeom>
          <a:solidFill>
            <a:schemeClr val="bg1"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06" name="矩形: 圓角 405">
            <a:extLst>
              <a:ext uri="{FF2B5EF4-FFF2-40B4-BE49-F238E27FC236}">
                <a16:creationId xmlns:a16="http://schemas.microsoft.com/office/drawing/2014/main" id="{67454EB2-CB74-516D-45F4-16E55A222BF8}"/>
              </a:ext>
            </a:extLst>
          </p:cNvPr>
          <p:cNvSpPr/>
          <p:nvPr/>
        </p:nvSpPr>
        <p:spPr>
          <a:xfrm>
            <a:off x="8365657" y="4559279"/>
            <a:ext cx="275134" cy="276776"/>
          </a:xfrm>
          <a:prstGeom prst="roundRect">
            <a:avLst>
              <a:gd name="adj" fmla="val 13748"/>
            </a:avLst>
          </a:prstGeom>
          <a:solidFill>
            <a:schemeClr val="bg1">
              <a:alpha val="60000"/>
            </a:scheme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l-GR" altLang="zh-TW" sz="14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σ</a:t>
            </a:r>
            <a:endParaRPr lang="en-US" altLang="zh-TW" sz="1400" b="1" dirty="0">
              <a:solidFill>
                <a:prstClr val="black"/>
              </a:solidFill>
              <a:latin typeface="Calibri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ts val="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00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rPr>
              <a:t>1xd</a:t>
            </a:r>
          </a:p>
        </p:txBody>
      </p:sp>
      <p:graphicFrame>
        <p:nvGraphicFramePr>
          <p:cNvPr id="404" name="表格 403">
            <a:extLst>
              <a:ext uri="{FF2B5EF4-FFF2-40B4-BE49-F238E27FC236}">
                <a16:creationId xmlns:a16="http://schemas.microsoft.com/office/drawing/2014/main" id="{EC50C037-BABC-90C0-4103-A8A24C9457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7970535"/>
              </p:ext>
            </p:extLst>
          </p:nvPr>
        </p:nvGraphicFramePr>
        <p:xfrm>
          <a:off x="6836172" y="4662743"/>
          <a:ext cx="1264220" cy="3022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60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19521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141685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180603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361205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302259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solidFill>
                        <a:schemeClr val="accent6">
                          <a:lumMod val="60000"/>
                          <a:lumOff val="4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w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256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27" name="文字方塊 426">
            <a:extLst>
              <a:ext uri="{FF2B5EF4-FFF2-40B4-BE49-F238E27FC236}">
                <a16:creationId xmlns:a16="http://schemas.microsoft.com/office/drawing/2014/main" id="{CA43E46A-4463-4F26-3FD5-3A646BC83E23}"/>
              </a:ext>
            </a:extLst>
          </p:cNvPr>
          <p:cNvSpPr txBox="1"/>
          <p:nvPr/>
        </p:nvSpPr>
        <p:spPr>
          <a:xfrm>
            <a:off x="6836172" y="4475026"/>
            <a:ext cx="646847" cy="20330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Sigmoid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35" name="矩形 434">
            <a:extLst>
              <a:ext uri="{FF2B5EF4-FFF2-40B4-BE49-F238E27FC236}">
                <a16:creationId xmlns:a16="http://schemas.microsoft.com/office/drawing/2014/main" id="{5197D484-ABC8-13C5-E5F6-FB749CE8FAC9}"/>
              </a:ext>
            </a:extLst>
          </p:cNvPr>
          <p:cNvSpPr/>
          <p:nvPr/>
        </p:nvSpPr>
        <p:spPr>
          <a:xfrm>
            <a:off x="282880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7" name="矩形 436">
            <a:extLst>
              <a:ext uri="{FF2B5EF4-FFF2-40B4-BE49-F238E27FC236}">
                <a16:creationId xmlns:a16="http://schemas.microsoft.com/office/drawing/2014/main" id="{69BE9F70-005C-830C-0F84-3A9F03A44EB7}"/>
              </a:ext>
            </a:extLst>
          </p:cNvPr>
          <p:cNvSpPr/>
          <p:nvPr/>
        </p:nvSpPr>
        <p:spPr>
          <a:xfrm>
            <a:off x="1939064" y="5308701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39" name="矩形 438">
            <a:extLst>
              <a:ext uri="{FF2B5EF4-FFF2-40B4-BE49-F238E27FC236}">
                <a16:creationId xmlns:a16="http://schemas.microsoft.com/office/drawing/2014/main" id="{5140CBF9-9A18-5C52-07CB-4AD7B2111DA5}"/>
              </a:ext>
            </a:extLst>
          </p:cNvPr>
          <p:cNvSpPr/>
          <p:nvPr/>
        </p:nvSpPr>
        <p:spPr>
          <a:xfrm>
            <a:off x="3595248" y="5300108"/>
            <a:ext cx="362588" cy="424555"/>
          </a:xfrm>
          <a:prstGeom prst="rect">
            <a:avLst/>
          </a:prstGeom>
          <a:solidFill>
            <a:schemeClr val="bg2">
              <a:lumMod val="90000"/>
            </a:schemeClr>
          </a:solidFill>
          <a:ln w="381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6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6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3" name="矩形 442">
            <a:extLst>
              <a:ext uri="{FF2B5EF4-FFF2-40B4-BE49-F238E27FC236}">
                <a16:creationId xmlns:a16="http://schemas.microsoft.com/office/drawing/2014/main" id="{6FDA76AC-3819-6910-C4B2-7A5CE3BC76C1}"/>
              </a:ext>
            </a:extLst>
          </p:cNvPr>
          <p:cNvSpPr/>
          <p:nvPr/>
        </p:nvSpPr>
        <p:spPr>
          <a:xfrm>
            <a:off x="4870424" y="2942439"/>
            <a:ext cx="104230" cy="479089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VC</a:t>
            </a:r>
            <a:endParaRPr lang="en-US" altLang="zh-TW" sz="1000" baseline="-25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447" name="矩形: 圓角 446">
            <a:extLst>
              <a:ext uri="{FF2B5EF4-FFF2-40B4-BE49-F238E27FC236}">
                <a16:creationId xmlns:a16="http://schemas.microsoft.com/office/drawing/2014/main" id="{C0B6E053-FF58-D53D-1860-D25BEA29989C}"/>
              </a:ext>
            </a:extLst>
          </p:cNvPr>
          <p:cNvSpPr/>
          <p:nvPr/>
        </p:nvSpPr>
        <p:spPr>
          <a:xfrm>
            <a:off x="8363348" y="3501266"/>
            <a:ext cx="257333" cy="71829"/>
          </a:xfrm>
          <a:prstGeom prst="roundRect">
            <a:avLst>
              <a:gd name="adj" fmla="val 13748"/>
            </a:avLst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cxnSp>
        <p:nvCxnSpPr>
          <p:cNvPr id="448" name="接點: 肘形 447">
            <a:extLst>
              <a:ext uri="{FF2B5EF4-FFF2-40B4-BE49-F238E27FC236}">
                <a16:creationId xmlns:a16="http://schemas.microsoft.com/office/drawing/2014/main" id="{7E15CB88-84AE-BF15-F851-06F42158E725}"/>
              </a:ext>
            </a:extLst>
          </p:cNvPr>
          <p:cNvCxnSpPr>
            <a:cxnSpLocks/>
            <a:stCxn id="363" idx="3"/>
            <a:endCxn id="447" idx="2"/>
          </p:cNvCxnSpPr>
          <p:nvPr/>
        </p:nvCxnSpPr>
        <p:spPr>
          <a:xfrm flipV="1">
            <a:off x="7786971" y="3573095"/>
            <a:ext cx="705044" cy="398354"/>
          </a:xfrm>
          <a:prstGeom prst="bentConnector2">
            <a:avLst/>
          </a:prstGeom>
          <a:ln>
            <a:solidFill>
              <a:schemeClr val="accent6">
                <a:lumMod val="50000"/>
              </a:schemeClr>
            </a:solidFill>
            <a:prstDash val="sysDot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6" name="文字方塊 465">
            <a:extLst>
              <a:ext uri="{FF2B5EF4-FFF2-40B4-BE49-F238E27FC236}">
                <a16:creationId xmlns:a16="http://schemas.microsoft.com/office/drawing/2014/main" id="{9EDE28DD-20E0-22B3-9112-F36B0AF38090}"/>
              </a:ext>
            </a:extLst>
          </p:cNvPr>
          <p:cNvSpPr txBox="1"/>
          <p:nvPr/>
        </p:nvSpPr>
        <p:spPr>
          <a:xfrm>
            <a:off x="6823274" y="3191127"/>
            <a:ext cx="1135886" cy="20922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Layer</a:t>
            </a:r>
            <a:r>
              <a:rPr lang="zh-TW" altLang="en-US" sz="1200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Embedding</a:t>
            </a:r>
          </a:p>
        </p:txBody>
      </p:sp>
      <p:sp>
        <p:nvSpPr>
          <p:cNvPr id="479" name="矩形: 圓角 478">
            <a:extLst>
              <a:ext uri="{FF2B5EF4-FFF2-40B4-BE49-F238E27FC236}">
                <a16:creationId xmlns:a16="http://schemas.microsoft.com/office/drawing/2014/main" id="{D1FB5A6B-242D-349D-5C43-049DCFA823B7}"/>
              </a:ext>
            </a:extLst>
          </p:cNvPr>
          <p:cNvSpPr/>
          <p:nvPr/>
        </p:nvSpPr>
        <p:spPr>
          <a:xfrm>
            <a:off x="7365587" y="2787416"/>
            <a:ext cx="287468" cy="302259"/>
          </a:xfrm>
          <a:prstGeom prst="roundRect">
            <a:avLst>
              <a:gd name="adj" fmla="val 13748"/>
            </a:avLst>
          </a:prstGeom>
          <a:solidFill>
            <a:srgbClr val="DCE6F2">
              <a:alpha val="40000"/>
            </a:srgbClr>
          </a:solidFill>
          <a:ln w="19050">
            <a:solidFill>
              <a:schemeClr val="bg1">
                <a:lumMod val="50000"/>
                <a:alpha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b" anchorCtr="1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U</a:t>
            </a:r>
            <a:b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</a:br>
            <a:r>
              <a:rPr lang="en-US" altLang="zh-TW" sz="1000" dirty="0">
                <a:solidFill>
                  <a:prstClr val="black"/>
                </a:solidFill>
                <a:latin typeface="Calibri"/>
                <a:ea typeface="微軟正黑體" panose="020B0604030504040204" pitchFamily="34" charset="-120"/>
              </a:rPr>
              <a:t>dxD</a:t>
            </a:r>
            <a:endParaRPr kumimoji="0" lang="en-US" altLang="zh-TW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 panose="020B0604030504040204" pitchFamily="34" charset="-120"/>
              <a:cs typeface="+mn-cs"/>
            </a:endParaRPr>
          </a:p>
        </p:txBody>
      </p:sp>
      <p:graphicFrame>
        <p:nvGraphicFramePr>
          <p:cNvPr id="481" name="表格 480">
            <a:extLst>
              <a:ext uri="{FF2B5EF4-FFF2-40B4-BE49-F238E27FC236}">
                <a16:creationId xmlns:a16="http://schemas.microsoft.com/office/drawing/2014/main" id="{8198FD95-2130-DE8C-2894-D9D277FFDE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412873"/>
              </p:ext>
            </p:extLst>
          </p:nvPr>
        </p:nvGraphicFramePr>
        <p:xfrm>
          <a:off x="5652400" y="2209192"/>
          <a:ext cx="2520000" cy="2618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00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7396536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2375451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34335693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850820999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3242229700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261855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a1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a2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</a:t>
                      </a:r>
                      <a:endParaRPr lang="zh-TW" altLang="en-US" sz="12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a</a:t>
                      </a:r>
                      <a:r>
                        <a:rPr lang="en-US" altLang="zh-TW" sz="1200" b="0" baseline="-2500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1536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ap="flat" cmpd="sng" algn="ctr">
                      <a:solidFill>
                        <a:schemeClr val="accent6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83" name="表格 482">
            <a:extLst>
              <a:ext uri="{FF2B5EF4-FFF2-40B4-BE49-F238E27FC236}">
                <a16:creationId xmlns:a16="http://schemas.microsoft.com/office/drawing/2014/main" id="{ACBE89B7-C0CF-4307-100A-AE10558D9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0568234"/>
              </p:ext>
            </p:extLst>
          </p:nvPr>
        </p:nvGraphicFramePr>
        <p:xfrm>
          <a:off x="6823274" y="2787342"/>
          <a:ext cx="375653" cy="293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653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935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dirty="0">
                          <a:solidFill>
                            <a:schemeClr val="tx1"/>
                          </a:solidFill>
                          <a:latin typeface="+mn-lt"/>
                          <a:ea typeface="ADLaM Display" panose="02010000000000000000" pitchFamily="2" charset="0"/>
                          <a:cs typeface="ADLaM Display" panose="02010000000000000000" pitchFamily="2" charset="0"/>
                        </a:rPr>
                        <a:t>1xd</a:t>
                      </a:r>
                      <a:endParaRPr lang="zh-TW" altLang="en-US" sz="1200" b="0" baseline="-25000" dirty="0">
                        <a:solidFill>
                          <a:schemeClr val="tx1"/>
                        </a:solidFill>
                        <a:latin typeface="+mn-lt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485" name="文字方塊 484">
            <a:extLst>
              <a:ext uri="{FF2B5EF4-FFF2-40B4-BE49-F238E27FC236}">
                <a16:creationId xmlns:a16="http://schemas.microsoft.com/office/drawing/2014/main" id="{CFCE0F9D-ED6F-C81A-D59B-0D98F8DCA129}"/>
              </a:ext>
            </a:extLst>
          </p:cNvPr>
          <p:cNvSpPr txBox="1"/>
          <p:nvPr/>
        </p:nvSpPr>
        <p:spPr>
          <a:xfrm>
            <a:off x="7211082" y="2831087"/>
            <a:ext cx="131861" cy="19951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57" name="文字方塊 256">
            <a:extLst>
              <a:ext uri="{FF2B5EF4-FFF2-40B4-BE49-F238E27FC236}">
                <a16:creationId xmlns:a16="http://schemas.microsoft.com/office/drawing/2014/main" id="{C7691DC9-6984-0D23-A0E0-6E7D19059F8F}"/>
              </a:ext>
            </a:extLst>
          </p:cNvPr>
          <p:cNvSpPr txBox="1"/>
          <p:nvPr/>
        </p:nvSpPr>
        <p:spPr>
          <a:xfrm>
            <a:off x="7936010" y="3839925"/>
            <a:ext cx="31342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kumimoji="0" lang="az-Cyrl-AZ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Ꙩ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87" name="文字方塊 486">
            <a:extLst>
              <a:ext uri="{FF2B5EF4-FFF2-40B4-BE49-F238E27FC236}">
                <a16:creationId xmlns:a16="http://schemas.microsoft.com/office/drawing/2014/main" id="{8B4A16DF-DE69-01D3-C03A-0A8EAB36D537}"/>
              </a:ext>
            </a:extLst>
          </p:cNvPr>
          <p:cNvSpPr txBox="1"/>
          <p:nvPr/>
        </p:nvSpPr>
        <p:spPr>
          <a:xfrm>
            <a:off x="6588779" y="1981367"/>
            <a:ext cx="313421" cy="27365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400" b="1" dirty="0">
                <a:solidFill>
                  <a:prstClr val="black"/>
                </a:solidFill>
                <a:ea typeface="Cambria Math" panose="02040503050406030204" pitchFamily="18" charset="0"/>
              </a:rPr>
              <a:t> </a:t>
            </a:r>
            <a:r>
              <a:rPr lang="en-US" altLang="zh-TW" sz="1400" b="1" dirty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493" name="文字方塊 492">
            <a:extLst>
              <a:ext uri="{FF2B5EF4-FFF2-40B4-BE49-F238E27FC236}">
                <a16:creationId xmlns:a16="http://schemas.microsoft.com/office/drawing/2014/main" id="{0ADB9979-292B-C90A-3C7E-205F7E7CC282}"/>
              </a:ext>
            </a:extLst>
          </p:cNvPr>
          <p:cNvSpPr txBox="1"/>
          <p:nvPr/>
        </p:nvSpPr>
        <p:spPr>
          <a:xfrm>
            <a:off x="5652120" y="1549320"/>
            <a:ext cx="1321377" cy="27365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Residual Connection</a:t>
            </a:r>
            <a:endParaRPr kumimoji="0" lang="en-US" altLang="zh-TW" sz="12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cxnSp>
        <p:nvCxnSpPr>
          <p:cNvPr id="494" name="接點: 弧形 493">
            <a:extLst>
              <a:ext uri="{FF2B5EF4-FFF2-40B4-BE49-F238E27FC236}">
                <a16:creationId xmlns:a16="http://schemas.microsoft.com/office/drawing/2014/main" id="{903D6AF1-D490-6992-844B-1553A488E0AA}"/>
              </a:ext>
            </a:extLst>
          </p:cNvPr>
          <p:cNvCxnSpPr>
            <a:cxnSpLocks/>
            <a:stCxn id="479" idx="3"/>
            <a:endCxn id="481" idx="3"/>
          </p:cNvCxnSpPr>
          <p:nvPr/>
        </p:nvCxnSpPr>
        <p:spPr>
          <a:xfrm flipV="1">
            <a:off x="7653055" y="2340119"/>
            <a:ext cx="519345" cy="598427"/>
          </a:xfrm>
          <a:prstGeom prst="curvedConnector3">
            <a:avLst>
              <a:gd name="adj1" fmla="val 144017"/>
            </a:avLst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6" name="群組 515">
            <a:extLst>
              <a:ext uri="{FF2B5EF4-FFF2-40B4-BE49-F238E27FC236}">
                <a16:creationId xmlns:a16="http://schemas.microsoft.com/office/drawing/2014/main" id="{82F115A4-A0A4-7463-9E32-D2D6620DD405}"/>
              </a:ext>
            </a:extLst>
          </p:cNvPr>
          <p:cNvGrpSpPr/>
          <p:nvPr/>
        </p:nvGrpSpPr>
        <p:grpSpPr>
          <a:xfrm>
            <a:off x="4648622" y="3605968"/>
            <a:ext cx="499442" cy="247608"/>
            <a:chOff x="4648622" y="3181392"/>
            <a:chExt cx="499442" cy="247608"/>
          </a:xfrm>
        </p:grpSpPr>
        <p:sp>
          <p:nvSpPr>
            <p:cNvPr id="355" name="矩形 354">
              <a:extLst>
                <a:ext uri="{FF2B5EF4-FFF2-40B4-BE49-F238E27FC236}">
                  <a16:creationId xmlns:a16="http://schemas.microsoft.com/office/drawing/2014/main" id="{D1BE1B28-A0DE-7CDB-7938-F60BA3CC21F8}"/>
                </a:ext>
              </a:extLst>
            </p:cNvPr>
            <p:cNvSpPr/>
            <p:nvPr/>
          </p:nvSpPr>
          <p:spPr>
            <a:xfrm>
              <a:off x="4788024" y="3300594"/>
              <a:ext cx="360040" cy="128406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353" name="矩形 352">
              <a:extLst>
                <a:ext uri="{FF2B5EF4-FFF2-40B4-BE49-F238E27FC236}">
                  <a16:creationId xmlns:a16="http://schemas.microsoft.com/office/drawing/2014/main" id="{05F2B42F-45F0-D38D-1A71-B66F6E61569D}"/>
                </a:ext>
              </a:extLst>
            </p:cNvPr>
            <p:cNvSpPr/>
            <p:nvPr/>
          </p:nvSpPr>
          <p:spPr>
            <a:xfrm>
              <a:off x="4789926" y="3181392"/>
              <a:ext cx="358138" cy="119202"/>
            </a:xfrm>
            <a:prstGeom prst="rect">
              <a:avLst/>
            </a:prstGeom>
            <a:noFill/>
            <a:ln w="3175">
              <a:noFill/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endParaRPr kumimoji="0" lang="en-US" altLang="zh-TW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 panose="020B0604030504040204" pitchFamily="34" charset="-120"/>
                <a:cs typeface="+mn-cs"/>
              </a:endParaRPr>
            </a:p>
          </p:txBody>
        </p:sp>
        <p:sp>
          <p:nvSpPr>
            <p:cNvPr id="513" name="矩形 512">
              <a:extLst>
                <a:ext uri="{FF2B5EF4-FFF2-40B4-BE49-F238E27FC236}">
                  <a16:creationId xmlns:a16="http://schemas.microsoft.com/office/drawing/2014/main" id="{65F2EBF5-7322-0EF5-533C-66A32F123AD3}"/>
                </a:ext>
              </a:extLst>
            </p:cNvPr>
            <p:cNvSpPr/>
            <p:nvPr/>
          </p:nvSpPr>
          <p:spPr>
            <a:xfrm>
              <a:off x="4648622" y="3240992"/>
              <a:ext cx="427434" cy="123805"/>
            </a:xfrm>
            <a:prstGeom prst="rect">
              <a:avLst/>
            </a:prstGeom>
            <a:noFill/>
            <a:ln w="3175">
              <a:solidFill>
                <a:schemeClr val="tx1">
                  <a:lumMod val="85000"/>
                  <a:lumOff val="15000"/>
                </a:schemeClr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>
                <a:lnSpc>
                  <a:spcPts val="1200"/>
                </a:lnSpc>
              </a:pPr>
              <a:r>
                <a:rPr kumimoji="0" lang="en-US" altLang="zh-TW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微軟正黑體" panose="020B0604030504040204" pitchFamily="34" charset="-120"/>
                  <a:cs typeface="+mn-cs"/>
                </a:rPr>
                <a:t>token</a:t>
              </a:r>
            </a:p>
          </p:txBody>
        </p:sp>
      </p:grpSp>
      <p:sp>
        <p:nvSpPr>
          <p:cNvPr id="6" name="右大括弧 5">
            <a:extLst>
              <a:ext uri="{FF2B5EF4-FFF2-40B4-BE49-F238E27FC236}">
                <a16:creationId xmlns:a16="http://schemas.microsoft.com/office/drawing/2014/main" id="{9E7BBFE7-8CE2-0E13-D1DA-41B96806AD58}"/>
              </a:ext>
            </a:extLst>
          </p:cNvPr>
          <p:cNvSpPr/>
          <p:nvPr/>
        </p:nvSpPr>
        <p:spPr>
          <a:xfrm rot="5400000">
            <a:off x="6865727" y="4375632"/>
            <a:ext cx="92783" cy="2519999"/>
          </a:xfrm>
          <a:prstGeom prst="rightBrac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EBDAFB9-FF64-AF0E-65A2-88DBF5A1232D}"/>
              </a:ext>
            </a:extLst>
          </p:cNvPr>
          <p:cNvSpPr txBox="1"/>
          <p:nvPr/>
        </p:nvSpPr>
        <p:spPr>
          <a:xfrm>
            <a:off x="6712434" y="5620158"/>
            <a:ext cx="247476" cy="22619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2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568952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Code Intelligence Benchmarking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Gemma 4 sets a new efficiency standard by delivering flagship-level intelligence on edge devices.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9" name="表格 108">
            <a:extLst>
              <a:ext uri="{FF2B5EF4-FFF2-40B4-BE49-F238E27FC236}">
                <a16:creationId xmlns:a16="http://schemas.microsoft.com/office/drawing/2014/main" id="{21D0682F-D0D5-3FEB-FA02-4B5EAE7E36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823281"/>
              </p:ext>
            </p:extLst>
          </p:nvPr>
        </p:nvGraphicFramePr>
        <p:xfrm>
          <a:off x="2411760" y="4034730"/>
          <a:ext cx="1354882" cy="2050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88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27041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8229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sp>
        <p:nvSpPr>
          <p:cNvPr id="3" name="文字方塊 2">
            <a:extLst>
              <a:ext uri="{FF2B5EF4-FFF2-40B4-BE49-F238E27FC236}">
                <a16:creationId xmlns:a16="http://schemas.microsoft.com/office/drawing/2014/main" id="{F014465A-7992-6D2B-0ED2-2EFC285D37EC}"/>
              </a:ext>
            </a:extLst>
          </p:cNvPr>
          <p:cNvSpPr txBox="1"/>
          <p:nvPr/>
        </p:nvSpPr>
        <p:spPr>
          <a:xfrm>
            <a:off x="213023" y="1052736"/>
            <a:ext cx="875146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Buildup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Fine-Tuning Solution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b="0" u="none" strike="noStrike" dirty="0">
                <a:effectLst/>
              </a:rPr>
              <a:t>Support QLoRA</a:t>
            </a:r>
            <a:r>
              <a:rPr lang="en-US" altLang="zh-TW" sz="1600" dirty="0"/>
              <a:t>. (</a:t>
            </a:r>
            <a:r>
              <a:rPr lang="en-US" altLang="zh-TW" sz="1600" dirty="0" err="1"/>
              <a:t>Unsloth</a:t>
            </a:r>
            <a:r>
              <a:rPr lang="en-US" altLang="zh-TW" sz="1600" dirty="0"/>
              <a:t>,</a:t>
            </a:r>
            <a:r>
              <a:rPr lang="zh-TW" altLang="en-US" sz="1600" dirty="0"/>
              <a:t> </a:t>
            </a:r>
            <a:r>
              <a:rPr lang="en-US" altLang="zh-TW" sz="1600" dirty="0" err="1"/>
              <a:t>Ollama</a:t>
            </a:r>
            <a:r>
              <a:rPr lang="en-US" altLang="zh-TW" sz="1600" dirty="0"/>
              <a:t>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</a:t>
            </a:r>
            <a:r>
              <a:rPr lang="en-US" altLang="zh-TW" sz="1600" dirty="0"/>
              <a:t>: Gemma 4.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Agent</a:t>
            </a:r>
            <a:r>
              <a:rPr lang="en-US" altLang="zh-TW" sz="1600" dirty="0"/>
              <a:t>:</a:t>
            </a:r>
            <a:r>
              <a:rPr lang="zh-TW" altLang="en-US" sz="1600" dirty="0"/>
              <a:t> </a:t>
            </a:r>
            <a:r>
              <a:rPr lang="en-US" altLang="zh-TW" sz="1600" dirty="0"/>
              <a:t>OpenClaw and bio-python library.</a:t>
            </a:r>
          </a:p>
        </p:txBody>
      </p:sp>
      <p:sp>
        <p:nvSpPr>
          <p:cNvPr id="5" name="標題 1">
            <a:extLst>
              <a:ext uri="{FF2B5EF4-FFF2-40B4-BE49-F238E27FC236}">
                <a16:creationId xmlns:a16="http://schemas.microsoft.com/office/drawing/2014/main" id="{A6861017-B894-8BC1-F162-75F3B0AC580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85698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Building the Bio-IT AI</a:t>
            </a:r>
            <a:r>
              <a:rPr lang="zh-TW" altLang="en-US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Agent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Designing an agent capable of interpreting genomic data and tissue images.</a:t>
            </a:r>
          </a:p>
        </p:txBody>
      </p:sp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45B540ED-60EE-58A7-8070-E5C33AF10E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4432599"/>
              </p:ext>
            </p:extLst>
          </p:nvPr>
        </p:nvGraphicFramePr>
        <p:xfrm>
          <a:off x="4826419" y="4019587"/>
          <a:ext cx="1217339" cy="205004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429442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79470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82589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4" name="圖片 3">
            <a:extLst>
              <a:ext uri="{FF2B5EF4-FFF2-40B4-BE49-F238E27FC236}">
                <a16:creationId xmlns:a16="http://schemas.microsoft.com/office/drawing/2014/main" id="{F9EE3A7A-38B4-D1E9-5799-C8A7D35B9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4451" y="3845698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42" name="接點: 肘形 41">
            <a:extLst>
              <a:ext uri="{FF2B5EF4-FFF2-40B4-BE49-F238E27FC236}">
                <a16:creationId xmlns:a16="http://schemas.microsoft.com/office/drawing/2014/main" id="{FC7173A3-FD52-3361-7E1C-CBD7A5EB8814}"/>
              </a:ext>
            </a:extLst>
          </p:cNvPr>
          <p:cNvCxnSpPr>
            <a:cxnSpLocks/>
            <a:stCxn id="8" idx="2"/>
            <a:endCxn id="46" idx="1"/>
          </p:cNvCxnSpPr>
          <p:nvPr/>
        </p:nvCxnSpPr>
        <p:spPr>
          <a:xfrm rot="16200000" flipH="1">
            <a:off x="3519681" y="3964968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矩形 45">
            <a:extLst>
              <a:ext uri="{FF2B5EF4-FFF2-40B4-BE49-F238E27FC236}">
                <a16:creationId xmlns:a16="http://schemas.microsoft.com/office/drawing/2014/main" id="{063E6162-D5C9-01FE-BA92-C6CBDE280172}"/>
              </a:ext>
            </a:extLst>
          </p:cNvPr>
          <p:cNvSpPr/>
          <p:nvPr/>
        </p:nvSpPr>
        <p:spPr>
          <a:xfrm>
            <a:off x="4254532" y="4545827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37" name="群組 36">
            <a:extLst>
              <a:ext uri="{FF2B5EF4-FFF2-40B4-BE49-F238E27FC236}">
                <a16:creationId xmlns:a16="http://schemas.microsoft.com/office/drawing/2014/main" id="{AD71FA00-73CF-96E2-DB9D-29D266518612}"/>
              </a:ext>
            </a:extLst>
          </p:cNvPr>
          <p:cNvGrpSpPr/>
          <p:nvPr/>
        </p:nvGrpSpPr>
        <p:grpSpPr>
          <a:xfrm>
            <a:off x="4484767" y="4781802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38" name="文字方塊 37">
              <a:extLst>
                <a:ext uri="{FF2B5EF4-FFF2-40B4-BE49-F238E27FC236}">
                  <a16:creationId xmlns:a16="http://schemas.microsoft.com/office/drawing/2014/main" id="{DBE13760-C824-72A8-0F6C-52D418E9F327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39" name="圖片 38">
              <a:extLst>
                <a:ext uri="{FF2B5EF4-FFF2-40B4-BE49-F238E27FC236}">
                  <a16:creationId xmlns:a16="http://schemas.microsoft.com/office/drawing/2014/main" id="{BDD586E3-E3B0-BBF3-6C2C-F304D5C0DCF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51" name="矩形 50">
            <a:extLst>
              <a:ext uri="{FF2B5EF4-FFF2-40B4-BE49-F238E27FC236}">
                <a16:creationId xmlns:a16="http://schemas.microsoft.com/office/drawing/2014/main" id="{BD9F5FA8-DF10-F8FD-719D-E220A101592C}"/>
              </a:ext>
            </a:extLst>
          </p:cNvPr>
          <p:cNvSpPr/>
          <p:nvPr/>
        </p:nvSpPr>
        <p:spPr>
          <a:xfrm>
            <a:off x="6350708" y="3880539"/>
            <a:ext cx="534601" cy="397207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38100">
            <a:solidFill>
              <a:schemeClr val="accent3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Bio-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accent4">
                    <a:lumMod val="75000"/>
                  </a:schemeClr>
                </a:solidFill>
              </a:rPr>
              <a:t>Python</a:t>
            </a:r>
            <a:endParaRPr lang="zh-TW" altLang="en-US" sz="12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67F5AA83-B63F-1EB5-698E-7FFF4D222A30}"/>
              </a:ext>
            </a:extLst>
          </p:cNvPr>
          <p:cNvSpPr txBox="1"/>
          <p:nvPr/>
        </p:nvSpPr>
        <p:spPr>
          <a:xfrm>
            <a:off x="5010741" y="2981602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496B558-57D1-8B0F-DD92-B32AFC3E6647}"/>
              </a:ext>
            </a:extLst>
          </p:cNvPr>
          <p:cNvCxnSpPr>
            <a:cxnSpLocks/>
            <a:stCxn id="61" idx="2"/>
            <a:endCxn id="4" idx="0"/>
          </p:cNvCxnSpPr>
          <p:nvPr/>
        </p:nvCxnSpPr>
        <p:spPr>
          <a:xfrm flipH="1">
            <a:off x="5330475" y="3266305"/>
            <a:ext cx="3347" cy="57939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直線單箭頭接點 100">
            <a:extLst>
              <a:ext uri="{FF2B5EF4-FFF2-40B4-BE49-F238E27FC236}">
                <a16:creationId xmlns:a16="http://schemas.microsoft.com/office/drawing/2014/main" id="{DA424801-F801-7754-6900-FA56043A9135}"/>
              </a:ext>
            </a:extLst>
          </p:cNvPr>
          <p:cNvCxnSpPr>
            <a:cxnSpLocks/>
            <a:stCxn id="4" idx="3"/>
            <a:endCxn id="122" idx="0"/>
          </p:cNvCxnSpPr>
          <p:nvPr/>
        </p:nvCxnSpPr>
        <p:spPr>
          <a:xfrm flipV="1">
            <a:off x="5546499" y="4061721"/>
            <a:ext cx="390288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箭號: 向下 121">
            <a:extLst>
              <a:ext uri="{FF2B5EF4-FFF2-40B4-BE49-F238E27FC236}">
                <a16:creationId xmlns:a16="http://schemas.microsoft.com/office/drawing/2014/main" id="{33B733D2-7161-33F4-79FD-E649F748C48C}"/>
              </a:ext>
            </a:extLst>
          </p:cNvPr>
          <p:cNvSpPr/>
          <p:nvPr/>
        </p:nvSpPr>
        <p:spPr>
          <a:xfrm rot="16200000">
            <a:off x="6003799" y="3831784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23" name="接點: 肘形 122">
            <a:extLst>
              <a:ext uri="{FF2B5EF4-FFF2-40B4-BE49-F238E27FC236}">
                <a16:creationId xmlns:a16="http://schemas.microsoft.com/office/drawing/2014/main" id="{86FF8C34-7087-86E9-F333-164B1E3A395E}"/>
              </a:ext>
            </a:extLst>
          </p:cNvPr>
          <p:cNvCxnSpPr>
            <a:cxnSpLocks/>
            <a:stCxn id="4" idx="2"/>
            <a:endCxn id="46" idx="3"/>
          </p:cNvCxnSpPr>
          <p:nvPr/>
        </p:nvCxnSpPr>
        <p:spPr>
          <a:xfrm rot="5400000">
            <a:off x="5011427" y="4380770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805C6CFD-1267-A5F6-F337-D02B15A18DC9}"/>
              </a:ext>
            </a:extLst>
          </p:cNvPr>
          <p:cNvSpPr/>
          <p:nvPr/>
        </p:nvSpPr>
        <p:spPr>
          <a:xfrm>
            <a:off x="5690515" y="2864864"/>
            <a:ext cx="1329757" cy="636144"/>
          </a:xfrm>
          <a:prstGeom prst="wedgeRoundRectCallout">
            <a:avLst>
              <a:gd name="adj1" fmla="val -68885"/>
              <a:gd name="adj2" fmla="val 58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Dr. </a:t>
            </a:r>
            <a:r>
              <a:rPr kumimoji="0" lang="en-US" altLang="zh-TW" sz="1200" i="0" u="none" strike="noStrike" kern="1200" cap="none" spc="0" normalizeH="0" baseline="0" noProof="0" dirty="0" err="1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BioByte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,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Please interpret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My 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gut biopsy.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5" name="語音泡泡: 圓角矩形 14">
            <a:extLst>
              <a:ext uri="{FF2B5EF4-FFF2-40B4-BE49-F238E27FC236}">
                <a16:creationId xmlns:a16="http://schemas.microsoft.com/office/drawing/2014/main" id="{7646EECD-3620-7195-6E62-42B29BED12D2}"/>
              </a:ext>
            </a:extLst>
          </p:cNvPr>
          <p:cNvSpPr/>
          <p:nvPr/>
        </p:nvSpPr>
        <p:spPr>
          <a:xfrm>
            <a:off x="3895382" y="3269634"/>
            <a:ext cx="1219070" cy="610905"/>
          </a:xfrm>
          <a:prstGeom prst="wedgeRoundRectCallout">
            <a:avLst>
              <a:gd name="adj1" fmla="val 59020"/>
              <a:gd name="adj2" fmla="val 57509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Terrible, </a:t>
            </a:r>
            <a:b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</a:b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Zero fast food.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Eat real grass.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6BEE719D-AA9B-D04C-EC5E-E63F70E1E42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514" y="4005064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114" name="文字方塊 113">
            <a:extLst>
              <a:ext uri="{FF2B5EF4-FFF2-40B4-BE49-F238E27FC236}">
                <a16:creationId xmlns:a16="http://schemas.microsoft.com/office/drawing/2014/main" id="{A157AB89-C11C-9FF7-93B3-94697A292BC9}"/>
              </a:ext>
            </a:extLst>
          </p:cNvPr>
          <p:cNvSpPr txBox="1"/>
          <p:nvPr/>
        </p:nvSpPr>
        <p:spPr>
          <a:xfrm>
            <a:off x="2843808" y="4477776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 err="1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455514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60C3417-DCE7-01E2-CCA3-357A9BF7E8E5}"/>
              </a:ext>
            </a:extLst>
          </p:cNvPr>
          <p:cNvSpPr txBox="1"/>
          <p:nvPr/>
        </p:nvSpPr>
        <p:spPr>
          <a:xfrm>
            <a:off x="2286000" y="1556792"/>
            <a:ext cx="4662264" cy="33259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500" b="0" u="none" strike="noStrike" dirty="0">
                <a:effectLst/>
                <a:latin typeface="Google Sans"/>
              </a:rPr>
              <a:t>python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1. 配置量化與 LoRA 參數 (呼叫現成工具，不改底層)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peft_config = LoraConfig(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r=16,           # 決定旁路矩陣的大小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lora_alpha=32,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target_modules=["q_proj", "v_proj"], # 指定要外掛在哪些權重矩陣旁邊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2. 指定優化器與訓練超參數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training_args = TrainingArguments(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per_device_train_batch_size=4,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gradient_accumulation_steps=4,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learning_rate=2e-4,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optim="paged_adamw_8bit", # 直接調用封裝好的 8-bit 優化器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    fp16=True,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)</a:t>
            </a:r>
          </a:p>
          <a:p>
            <a:pPr marL="0" marR="0" rtl="0">
              <a:lnSpc>
                <a:spcPts val="1200"/>
              </a:lnSpc>
              <a:buNone/>
            </a:pPr>
            <a:endParaRPr lang="zh-TW" altLang="zh-TW" sz="1050" b="0" u="none" strike="noStrike" dirty="0">
              <a:effectLst/>
              <a:latin typeface="Courier New" panose="020703090202050204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# 3. 執行訓練 ➔ 此時系統會自動去更新 LoRA 的權重矩陣</a:t>
            </a:r>
          </a:p>
          <a:p>
            <a:pPr marL="0" marR="0" rtl="0">
              <a:lnSpc>
                <a:spcPts val="1200"/>
              </a:lnSpc>
              <a:buNone/>
            </a:pPr>
            <a:r>
              <a:rPr lang="zh-TW" altLang="zh-TW" sz="1050" b="0" u="none" strike="noStrike" dirty="0">
                <a:effectLst/>
                <a:latin typeface="Courier New" panose="02070309020205020404" pitchFamily="49" charset="0"/>
              </a:rPr>
              <a:t>trainer.train()</a:t>
            </a: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(ReAct)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 i="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 i="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</a:p>
          <a:p>
            <a: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Ollama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mlx-lm</a:t>
            </a: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 advClick="0"/>
    </mc:Choice>
    <mc:Fallback>
      <p:transition advClick="0"/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1393</TotalTime>
  <Words>9255</Words>
  <Application>Microsoft Office PowerPoint</Application>
  <PresentationFormat>如螢幕大小 (4:3)</PresentationFormat>
  <Paragraphs>1281</Paragraphs>
  <Slides>20</Slides>
  <Notes>17</Notes>
  <HiddenSlides>1</HiddenSlides>
  <MMClips>0</MMClips>
  <ScaleCrop>false</ScaleCrop>
  <HeadingPairs>
    <vt:vector size="6" baseType="variant">
      <vt:variant>
        <vt:lpstr>使用字型</vt:lpstr>
      </vt:variant>
      <vt:variant>
        <vt:i4>14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5" baseType="lpstr">
      <vt:lpstr>Google Sans</vt:lpstr>
      <vt:lpstr>Meiryo</vt:lpstr>
      <vt:lpstr>Noto Sans HK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Courier New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1798</cp:revision>
  <cp:lastPrinted>2024-07-30T01:44:15Z</cp:lastPrinted>
  <dcterms:created xsi:type="dcterms:W3CDTF">2019-11-08T03:01:47Z</dcterms:created>
  <dcterms:modified xsi:type="dcterms:W3CDTF">2026-07-22T09:08:55Z</dcterms:modified>
</cp:coreProperties>
</file>