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459" r:id="rId2"/>
    <p:sldId id="3472" r:id="rId3"/>
    <p:sldId id="3517" r:id="rId4"/>
    <p:sldId id="3530" r:id="rId5"/>
    <p:sldId id="3529" r:id="rId6"/>
    <p:sldId id="3528" r:id="rId7"/>
    <p:sldId id="3527" r:id="rId8"/>
    <p:sldId id="3518" r:id="rId9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  <p14:sldId id="3517"/>
            <p14:sldId id="3530"/>
            <p14:sldId id="3529"/>
            <p14:sldId id="3528"/>
            <p14:sldId id="3527"/>
            <p14:sldId id="351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AEAEA"/>
    <a:srgbClr val="339933"/>
    <a:srgbClr val="DCE6F2"/>
    <a:srgbClr val="FFFF99"/>
    <a:srgbClr val="E3C0AB"/>
    <a:srgbClr val="F3E4DB"/>
    <a:srgbClr val="FFCC99"/>
    <a:srgbClr val="CBDCA8"/>
    <a:srgbClr val="C5D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2727" autoAdjust="0"/>
    <p:restoredTop sz="38667" autoAdjust="0"/>
  </p:normalViewPr>
  <p:slideViewPr>
    <p:cSldViewPr>
      <p:cViewPr>
        <p:scale>
          <a:sx n="100" d="100"/>
          <a:sy n="100" d="100"/>
        </p:scale>
        <p:origin x="1428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mc.ncbi.nlm.nih.gov/articles/PMC11573887/" TargetMode="External"/><Relationship Id="rId2" Type="http://schemas.openxmlformats.org/officeDocument/2006/relationships/hyperlink" Target="https://cherrylab.stanford.edu/projects/regulomedb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BIO-IT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Agent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Centrillion Tech	</a:t>
            </a:r>
            <a:r>
              <a:rPr lang="en-US" altLang="zh-TW" sz="1000" dirty="0">
                <a:sym typeface="Wingdings" panose="05000000000000000000" pitchFamily="2" charset="2"/>
              </a:rPr>
              <a:t>	Bio-Info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EA47C7B-38D5-FD2B-DAC1-C685C483C02A}"/>
              </a:ext>
            </a:extLst>
          </p:cNvPr>
          <p:cNvSpPr/>
          <p:nvPr/>
        </p:nvSpPr>
        <p:spPr>
          <a:xfrm>
            <a:off x="6228184" y="4800246"/>
            <a:ext cx="2808311" cy="1467069"/>
          </a:xfrm>
          <a:prstGeom prst="rect">
            <a:avLst/>
          </a:prstGeom>
          <a:solidFill>
            <a:schemeClr val="bg1">
              <a:lumMod val="95000"/>
              <a:alpha val="60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三階段目標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 marL="228600" indent="-228600">
              <a:lnSpc>
                <a:spcPts val="1600"/>
              </a:lnSpc>
              <a:buAutoNum type="arabicPeriod"/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一般解說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存文字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查詢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[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公開資料庫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],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1" indent="228600"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回答醫學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基因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生物資訊關問題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2026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 marL="228600" indent="-228600">
              <a:lnSpc>
                <a:spcPts val="1600"/>
              </a:lnSpc>
              <a:buAutoNum type="arabicPeriod"/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讀取照片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多模態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分析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summit2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的照片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</a:p>
          <a:p>
            <a:pPr marL="0" lvl="1" indent="228600"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取得分型結果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2027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 marL="228600" indent="-228600">
              <a:lnSpc>
                <a:spcPts val="1600"/>
              </a:lnSpc>
              <a:buAutoNum type="arabicPeriod"/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解讀數據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解讀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summit spatial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照片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228600"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與其空間定序數據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en-US" altLang="zh-TW" sz="11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2028</a:t>
            </a:r>
            <a:r>
              <a:rPr lang="en-US" altLang="zh-TW" sz="11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Goal: Bio-IT AI Agent (Dr. Bio-Byte)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6A12B706-1D5F-BC8C-6A88-B1F33BE9AA9B}"/>
              </a:ext>
            </a:extLst>
          </p:cNvPr>
          <p:cNvCxnSpPr>
            <a:cxnSpLocks/>
          </p:cNvCxnSpPr>
          <p:nvPr/>
        </p:nvCxnSpPr>
        <p:spPr>
          <a:xfrm flipH="1">
            <a:off x="2900724" y="5634113"/>
            <a:ext cx="5992440" cy="2302705"/>
          </a:xfrm>
          <a:prstGeom prst="straightConnector1">
            <a:avLst/>
          </a:prstGeom>
          <a:ln w="25400"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43E5657-DB10-F6AE-CFC3-017685DF86AD}"/>
              </a:ext>
            </a:extLst>
          </p:cNvPr>
          <p:cNvCxnSpPr>
            <a:cxnSpLocks/>
          </p:cNvCxnSpPr>
          <p:nvPr/>
        </p:nvCxnSpPr>
        <p:spPr>
          <a:xfrm flipV="1">
            <a:off x="1603896" y="2816813"/>
            <a:ext cx="6727184" cy="2669048"/>
          </a:xfrm>
          <a:prstGeom prst="straightConnector1">
            <a:avLst/>
          </a:prstGeom>
          <a:ln w="25400">
            <a:noFill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右大括弧 1">
            <a:extLst>
              <a:ext uri="{FF2B5EF4-FFF2-40B4-BE49-F238E27FC236}">
                <a16:creationId xmlns:a16="http://schemas.microsoft.com/office/drawing/2014/main" id="{07AA5869-7FE2-7031-11DD-D3AEAB9E2592}"/>
              </a:ext>
            </a:extLst>
          </p:cNvPr>
          <p:cNvSpPr/>
          <p:nvPr/>
        </p:nvSpPr>
        <p:spPr>
          <a:xfrm>
            <a:off x="7690340" y="557022"/>
            <a:ext cx="202726" cy="612186"/>
          </a:xfrm>
          <a:prstGeom prst="rightBrac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156FA7E-B280-17C1-AEF2-E7F7ED3D4268}"/>
              </a:ext>
            </a:extLst>
          </p:cNvPr>
          <p:cNvSpPr/>
          <p:nvPr/>
        </p:nvSpPr>
        <p:spPr>
          <a:xfrm>
            <a:off x="1205043" y="1289400"/>
            <a:ext cx="3366956" cy="93352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BIO-AI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智能體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目標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一般解說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存文字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查詢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[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公開資料庫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],</a:t>
            </a: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回答醫學或生物資訊相關問題</a:t>
            </a: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</a:p>
        </p:txBody>
      </p:sp>
      <p:sp>
        <p:nvSpPr>
          <p:cNvPr id="22" name="左大括弧 21">
            <a:extLst>
              <a:ext uri="{FF2B5EF4-FFF2-40B4-BE49-F238E27FC236}">
                <a16:creationId xmlns:a16="http://schemas.microsoft.com/office/drawing/2014/main" id="{AE9FCB81-9066-8EE6-AE38-BD08A816BC90}"/>
              </a:ext>
            </a:extLst>
          </p:cNvPr>
          <p:cNvSpPr/>
          <p:nvPr/>
        </p:nvSpPr>
        <p:spPr>
          <a:xfrm>
            <a:off x="7322968" y="555881"/>
            <a:ext cx="202726" cy="612186"/>
          </a:xfrm>
          <a:prstGeom prst="leftBrace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F723D2E-C0DA-87BC-131E-A5314F10B11D}"/>
              </a:ext>
            </a:extLst>
          </p:cNvPr>
          <p:cNvSpPr/>
          <p:nvPr/>
        </p:nvSpPr>
        <p:spPr>
          <a:xfrm>
            <a:off x="1205042" y="2345187"/>
            <a:ext cx="3366957" cy="63276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選擇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OpenClaw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模型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 Ollama,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Gemma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微調工具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HF-TRL, Unsloth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6C6E7FE-E181-D3B4-CC38-DAC92F2D7E0B}"/>
              </a:ext>
            </a:extLst>
          </p:cNvPr>
          <p:cNvSpPr/>
          <p:nvPr/>
        </p:nvSpPr>
        <p:spPr>
          <a:xfrm>
            <a:off x="1205042" y="3043728"/>
            <a:ext cx="3366957" cy="73908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架設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MCP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Server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並與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Biomedical-MCP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連線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呼叫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MyVariant.info API: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解讀檔案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VCF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gonoAD: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GraphQL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0010BDAA-C79D-DF37-3CE2-38ECB3D7A907}"/>
              </a:ext>
            </a:extLst>
          </p:cNvPr>
          <p:cNvSpPr/>
          <p:nvPr/>
        </p:nvSpPr>
        <p:spPr>
          <a:xfrm>
            <a:off x="1205042" y="4238603"/>
            <a:ext cx="3366957" cy="912173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微調方案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1.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針對基因分型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強化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BIO-AI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2.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Unsloth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的微調學習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調用公開資料庫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遠端數據與資料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),</a:t>
            </a: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6EEA5AB-EC13-074E-E90C-7ED275610B8B}"/>
              </a:ext>
            </a:extLst>
          </p:cNvPr>
          <p:cNvSpPr txBox="1"/>
          <p:nvPr/>
        </p:nvSpPr>
        <p:spPr>
          <a:xfrm>
            <a:off x="5021516" y="3344585"/>
            <a:ext cx="2504178" cy="646331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zh-TW" sz="120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使用 Python / LangChain 自己架設一個可以連線 API 的 BIO-IT Agent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en-US" sz="12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008A3BE-FAA8-D069-BE58-7E4850445FDF}"/>
              </a:ext>
            </a:extLst>
          </p:cNvPr>
          <p:cNvSpPr/>
          <p:nvPr/>
        </p:nvSpPr>
        <p:spPr>
          <a:xfrm>
            <a:off x="1217246" y="5426220"/>
            <a:ext cx="3366957" cy="73908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評估方案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</a:p>
          <a:p>
            <a:pPr>
              <a:lnSpc>
                <a:spcPts val="1600"/>
              </a:lnSpc>
            </a:pP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使用</a:t>
            </a: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Unsloth</a:t>
            </a:r>
            <a:r>
              <a:rPr lang="zh-TW" altLang="en-US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的微調學習</a:t>
            </a:r>
            <a:endParaRPr lang="en-US" altLang="zh-TW" sz="12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A67FEAAE-5A60-5228-EC62-6C07AE54F497}"/>
              </a:ext>
            </a:extLst>
          </p:cNvPr>
          <p:cNvSpPr txBox="1"/>
          <p:nvPr/>
        </p:nvSpPr>
        <p:spPr>
          <a:xfrm>
            <a:off x="3635896" y="4817421"/>
            <a:ext cx="1512168" cy="48378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600"/>
              </a:lnSpc>
            </a:pPr>
            <a:r>
              <a:rPr lang="en-US" altLang="zh-TW" sz="11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Apollo-Corpus:</a:t>
            </a:r>
          </a:p>
          <a:p>
            <a:pPr>
              <a:lnSpc>
                <a:spcPts val="1600"/>
              </a:lnSpc>
            </a:pP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MedQA / USMLE: </a:t>
            </a:r>
            <a:endParaRPr lang="en-US" altLang="zh-TW" sz="11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16956821-88D8-CAE9-C436-B01965649CF4}"/>
              </a:ext>
            </a:extLst>
          </p:cNvPr>
          <p:cNvSpPr/>
          <p:nvPr/>
        </p:nvSpPr>
        <p:spPr>
          <a:xfrm>
            <a:off x="4835732" y="1603184"/>
            <a:ext cx="581422" cy="720080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accent4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rgbClr val="7030A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MCP 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rgbClr val="7030A0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Server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933EB4AF-4853-9400-B2B9-C3FC20DF31C7}"/>
              </a:ext>
            </a:extLst>
          </p:cNvPr>
          <p:cNvSpPr/>
          <p:nvPr/>
        </p:nvSpPr>
        <p:spPr>
          <a:xfrm>
            <a:off x="5697563" y="5373216"/>
            <a:ext cx="3033034" cy="1185267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Public Database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RegulomeDB (Stanford University)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GTEx Portal (Single-Cell Gene Expression Data)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Ensembl Regulation (EBI/Sanger)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D0FCB7C8-D55B-C23C-EBA3-E4239EBFE3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Architecture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DB1F8FA5-669F-FAFF-FA6E-54EBC5D8B5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64047"/>
              </p:ext>
            </p:extLst>
          </p:nvPr>
        </p:nvGraphicFramePr>
        <p:xfrm>
          <a:off x="910206" y="1929586"/>
          <a:ext cx="1432386" cy="1425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08993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0A6737D-2318-2B46-8BAC-55963F25B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752209"/>
              </p:ext>
            </p:extLst>
          </p:nvPr>
        </p:nvGraphicFramePr>
        <p:xfrm>
          <a:off x="3402369" y="1914444"/>
          <a:ext cx="1217339" cy="1407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167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907366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5" name="圖片 4">
            <a:extLst>
              <a:ext uri="{FF2B5EF4-FFF2-40B4-BE49-F238E27FC236}">
                <a16:creationId xmlns:a16="http://schemas.microsoft.com/office/drawing/2014/main" id="{1AE1465A-57AB-C852-BB9C-E6ADA5CC7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401" y="1740554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7" name="接點: 肘形 6">
            <a:extLst>
              <a:ext uri="{FF2B5EF4-FFF2-40B4-BE49-F238E27FC236}">
                <a16:creationId xmlns:a16="http://schemas.microsoft.com/office/drawing/2014/main" id="{31B2BDD8-0CDC-7F98-2502-AA1B5489ED3F}"/>
              </a:ext>
            </a:extLst>
          </p:cNvPr>
          <p:cNvCxnSpPr>
            <a:cxnSpLocks/>
            <a:stCxn id="20" idx="2"/>
            <a:endCxn id="8" idx="1"/>
          </p:cNvCxnSpPr>
          <p:nvPr/>
        </p:nvCxnSpPr>
        <p:spPr>
          <a:xfrm rot="16200000" flipH="1">
            <a:off x="2095631" y="1859824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7A5C6EA7-6D54-4902-EDE7-26C790AFF4B4}"/>
              </a:ext>
            </a:extLst>
          </p:cNvPr>
          <p:cNvSpPr/>
          <p:nvPr/>
        </p:nvSpPr>
        <p:spPr>
          <a:xfrm>
            <a:off x="2830482" y="2440683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5C52DA3A-73E2-5C45-B124-B126F7341A19}"/>
              </a:ext>
            </a:extLst>
          </p:cNvPr>
          <p:cNvGrpSpPr/>
          <p:nvPr/>
        </p:nvGrpSpPr>
        <p:grpSpPr>
          <a:xfrm>
            <a:off x="3060717" y="2676658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ABF06599-2BD0-1813-4939-5A5A4C75B9B4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5E5876E1-2AD1-481F-0AE7-98C9C92AE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5ADE032-C306-9696-54D2-4EA4994F6034}"/>
              </a:ext>
            </a:extLst>
          </p:cNvPr>
          <p:cNvSpPr txBox="1"/>
          <p:nvPr/>
        </p:nvSpPr>
        <p:spPr>
          <a:xfrm>
            <a:off x="3583344" y="1052736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CAA31234-478F-6B09-B023-CBC177553873}"/>
              </a:ext>
            </a:extLst>
          </p:cNvPr>
          <p:cNvCxnSpPr>
            <a:cxnSpLocks/>
            <a:stCxn id="13" idx="2"/>
            <a:endCxn id="5" idx="0"/>
          </p:cNvCxnSpPr>
          <p:nvPr/>
        </p:nvCxnSpPr>
        <p:spPr>
          <a:xfrm>
            <a:off x="3906425" y="1337439"/>
            <a:ext cx="0" cy="403115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8C6F0AE6-D1A7-B1CE-B27E-05D7A3EEA827}"/>
              </a:ext>
            </a:extLst>
          </p:cNvPr>
          <p:cNvCxnSpPr>
            <a:cxnSpLocks/>
            <a:stCxn id="5" idx="3"/>
            <a:endCxn id="16" idx="0"/>
          </p:cNvCxnSpPr>
          <p:nvPr/>
        </p:nvCxnSpPr>
        <p:spPr>
          <a:xfrm flipV="1">
            <a:off x="4122449" y="1956577"/>
            <a:ext cx="288033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7D0722E7-3E2B-E75E-AA03-7172B9D76EBA}"/>
              </a:ext>
            </a:extLst>
          </p:cNvPr>
          <p:cNvSpPr/>
          <p:nvPr/>
        </p:nvSpPr>
        <p:spPr>
          <a:xfrm rot="16200000">
            <a:off x="4477494" y="1726640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3FF0AA03-13D7-FC95-EC01-D24C42965E41}"/>
              </a:ext>
            </a:extLst>
          </p:cNvPr>
          <p:cNvCxnSpPr>
            <a:cxnSpLocks/>
            <a:stCxn id="5" idx="2"/>
            <a:endCxn id="8" idx="3"/>
          </p:cNvCxnSpPr>
          <p:nvPr/>
        </p:nvCxnSpPr>
        <p:spPr>
          <a:xfrm rot="5400000">
            <a:off x="3587377" y="2275626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圖片 19">
            <a:extLst>
              <a:ext uri="{FF2B5EF4-FFF2-40B4-BE49-F238E27FC236}">
                <a16:creationId xmlns:a16="http://schemas.microsoft.com/office/drawing/2014/main" id="{0BB06E71-32EA-03E7-346A-AEB63F3F28D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464" y="1899920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101BE5B7-93B4-6DCE-D32E-FA5623F11642}"/>
              </a:ext>
            </a:extLst>
          </p:cNvPr>
          <p:cNvSpPr txBox="1"/>
          <p:nvPr/>
        </p:nvSpPr>
        <p:spPr>
          <a:xfrm>
            <a:off x="1419758" y="2372632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C1823606-DE97-1F54-9BDE-7AE26A6C49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052" y="2706564"/>
            <a:ext cx="411308" cy="386908"/>
          </a:xfrm>
          <a:prstGeom prst="rect">
            <a:avLst/>
          </a:prstGeom>
          <a:effectLst>
            <a:glow rad="76200">
              <a:schemeClr val="accent6">
                <a:lumMod val="20000"/>
                <a:lumOff val="80000"/>
              </a:schemeClr>
            </a:glow>
            <a:softEdge rad="50800"/>
          </a:effectLst>
        </p:spPr>
      </p:pic>
      <p:sp>
        <p:nvSpPr>
          <p:cNvPr id="35" name="矩形 34">
            <a:extLst>
              <a:ext uri="{FF2B5EF4-FFF2-40B4-BE49-F238E27FC236}">
                <a16:creationId xmlns:a16="http://schemas.microsoft.com/office/drawing/2014/main" id="{6279E747-9DBA-AD9F-63D2-8B62A2813FB7}"/>
              </a:ext>
            </a:extLst>
          </p:cNvPr>
          <p:cNvSpPr/>
          <p:nvPr/>
        </p:nvSpPr>
        <p:spPr>
          <a:xfrm>
            <a:off x="904601" y="851724"/>
            <a:ext cx="1437774" cy="786305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Bio-Medical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and Geomatics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Q&amp;A</a:t>
            </a:r>
          </a:p>
        </p:txBody>
      </p:sp>
      <p:sp>
        <p:nvSpPr>
          <p:cNvPr id="26" name="右大括弧 25">
            <a:extLst>
              <a:ext uri="{FF2B5EF4-FFF2-40B4-BE49-F238E27FC236}">
                <a16:creationId xmlns:a16="http://schemas.microsoft.com/office/drawing/2014/main" id="{7EE880E3-65D9-4BC5-9BF9-44D219BEE23E}"/>
              </a:ext>
            </a:extLst>
          </p:cNvPr>
          <p:cNvSpPr/>
          <p:nvPr/>
        </p:nvSpPr>
        <p:spPr>
          <a:xfrm rot="16200000">
            <a:off x="2383718" y="4373639"/>
            <a:ext cx="85362" cy="1385657"/>
          </a:xfrm>
          <a:prstGeom prst="rightBrac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57D1422-5DA7-0C0B-092B-4BE535F5A53F}"/>
              </a:ext>
            </a:extLst>
          </p:cNvPr>
          <p:cNvSpPr/>
          <p:nvPr/>
        </p:nvSpPr>
        <p:spPr>
          <a:xfrm>
            <a:off x="3119227" y="1730269"/>
            <a:ext cx="585275" cy="398634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Bio-AI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Agent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2D3571A-B004-AFB9-882A-55F61C5BF45F}"/>
              </a:ext>
            </a:extLst>
          </p:cNvPr>
          <p:cNvSpPr/>
          <p:nvPr/>
        </p:nvSpPr>
        <p:spPr>
          <a:xfrm>
            <a:off x="4835732" y="2374101"/>
            <a:ext cx="1959735" cy="1185267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CPT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000" dirty="0" err="1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Centrillion</a:t>
            </a:r>
            <a:r>
              <a:rPr lang="en-US" altLang="zh-TW" sz="10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Power Tool)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Based on BioPython, PyVCF …</a:t>
            </a:r>
          </a:p>
          <a:p>
            <a:pPr>
              <a:lnSpc>
                <a:spcPts val="1600"/>
              </a:lnSpc>
            </a:pPr>
            <a:endParaRPr lang="en-US" altLang="zh-TW" sz="12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rgbClr val="1F497D"/>
                </a:solidFill>
                <a:effectLst/>
                <a:uLnTx/>
                <a:uFillTx/>
                <a:latin typeface="Calibri"/>
                <a:ea typeface="ADLaM Display" panose="02010000000000000000" pitchFamily="2" charset="0"/>
                <a:cs typeface="ADLaM Display" panose="02010000000000000000" pitchFamily="2" charset="0"/>
              </a:rPr>
              <a:t>(External Database)</a:t>
            </a:r>
          </a:p>
        </p:txBody>
      </p:sp>
    </p:spTree>
    <p:extLst>
      <p:ext uri="{BB962C8B-B14F-4D97-AF65-F5344CB8AC3E}">
        <p14:creationId xmlns:p14="http://schemas.microsoft.com/office/powerpoint/2010/main" val="19136711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01079-BD53-8815-A72F-FDC0CB2B7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29519B75-C16B-BC56-3A1F-B0992731039F}"/>
              </a:ext>
            </a:extLst>
          </p:cNvPr>
          <p:cNvSpPr/>
          <p:nvPr/>
        </p:nvSpPr>
        <p:spPr>
          <a:xfrm>
            <a:off x="971600" y="1916832"/>
            <a:ext cx="1656184" cy="1624722"/>
          </a:xfrm>
          <a:prstGeom prst="rect">
            <a:avLst/>
          </a:prstGeom>
          <a:solidFill>
            <a:schemeClr val="accent6">
              <a:lumMod val="20000"/>
              <a:lumOff val="80000"/>
              <a:alpha val="60000"/>
            </a:schemeClr>
          </a:solidFill>
          <a:ln w="38100">
            <a:solidFill>
              <a:schemeClr val="bg1">
                <a:lumMod val="75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91440" bIns="0" rtlCol="0" anchor="t" anchorCtr="0"/>
          <a:lstStyle/>
          <a:p>
            <a:pPr algn="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SFT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6A0EE13-83C7-A75B-B783-29616C77D97D}"/>
              </a:ext>
            </a:extLst>
          </p:cNvPr>
          <p:cNvSpPr/>
          <p:nvPr/>
        </p:nvSpPr>
        <p:spPr>
          <a:xfrm>
            <a:off x="4067945" y="2038867"/>
            <a:ext cx="1974169" cy="427605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Apollo-Corpus</a:t>
            </a:r>
          </a:p>
          <a:p>
            <a:pPr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BioInstruct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50FD3551-DEE5-3094-BB6E-B7F9B42C5F4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Fine-Tunning</a:t>
            </a:r>
          </a:p>
          <a:p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39DE903-A55C-8698-235D-E9279F6AC1C0}"/>
              </a:ext>
            </a:extLst>
          </p:cNvPr>
          <p:cNvSpPr/>
          <p:nvPr/>
        </p:nvSpPr>
        <p:spPr>
          <a:xfrm>
            <a:off x="4067944" y="3098729"/>
            <a:ext cx="1974170" cy="258263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PMC Open Access Subset</a:t>
            </a:r>
          </a:p>
        </p:txBody>
      </p:sp>
      <p:sp>
        <p:nvSpPr>
          <p:cNvPr id="30" name="右大括弧 29">
            <a:extLst>
              <a:ext uri="{FF2B5EF4-FFF2-40B4-BE49-F238E27FC236}">
                <a16:creationId xmlns:a16="http://schemas.microsoft.com/office/drawing/2014/main" id="{20607DF1-B775-F356-AAE2-424FB0B3FE4C}"/>
              </a:ext>
            </a:extLst>
          </p:cNvPr>
          <p:cNvSpPr/>
          <p:nvPr/>
        </p:nvSpPr>
        <p:spPr>
          <a:xfrm rot="16200000">
            <a:off x="5776590" y="5515156"/>
            <a:ext cx="85362" cy="1385657"/>
          </a:xfrm>
          <a:prstGeom prst="rightBrac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543ABFA-F7AA-406F-B195-6B4AC3E3305A}"/>
              </a:ext>
            </a:extLst>
          </p:cNvPr>
          <p:cNvSpPr/>
          <p:nvPr/>
        </p:nvSpPr>
        <p:spPr>
          <a:xfrm>
            <a:off x="1479833" y="2276872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73C9E5A5-1A4C-E1DD-BA22-A7EADD80F137}"/>
              </a:ext>
            </a:extLst>
          </p:cNvPr>
          <p:cNvSpPr/>
          <p:nvPr/>
        </p:nvSpPr>
        <p:spPr>
          <a:xfrm>
            <a:off x="757664" y="2852936"/>
            <a:ext cx="645984" cy="307983"/>
          </a:xfrm>
          <a:prstGeom prst="rect">
            <a:avLst/>
          </a:prstGeom>
          <a:noFill/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Unsloth</a:t>
            </a:r>
            <a:endParaRPr lang="zh-TW" alt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C9698038-0D96-CDF9-A56E-0536E5A4EDC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378" y="2434282"/>
            <a:ext cx="432048" cy="36659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pic>
        <p:nvPicPr>
          <p:cNvPr id="4" name="圖片 3" descr="python™">
            <a:extLst>
              <a:ext uri="{FF2B5EF4-FFF2-40B4-BE49-F238E27FC236}">
                <a16:creationId xmlns:a16="http://schemas.microsoft.com/office/drawing/2014/main" id="{8EB164CC-EC9D-9D61-72C6-9F751510B1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012" y="1197608"/>
            <a:ext cx="1691952" cy="478414"/>
          </a:xfrm>
          <a:prstGeom prst="rect">
            <a:avLst/>
          </a:prstGeom>
          <a:solidFill>
            <a:schemeClr val="accent1">
              <a:lumMod val="50000"/>
            </a:schemeClr>
          </a:solidFill>
          <a:effectLst>
            <a:glow rad="50800">
              <a:schemeClr val="bg1">
                <a:lumMod val="95000"/>
                <a:alpha val="40000"/>
              </a:schemeClr>
            </a:glow>
            <a:softEdge rad="25400"/>
          </a:effectLst>
        </p:spPr>
      </p:pic>
      <p:grpSp>
        <p:nvGrpSpPr>
          <p:cNvPr id="15" name="群組 14">
            <a:extLst>
              <a:ext uri="{FF2B5EF4-FFF2-40B4-BE49-F238E27FC236}">
                <a16:creationId xmlns:a16="http://schemas.microsoft.com/office/drawing/2014/main" id="{C1EA90EB-047E-49BA-865A-387295BFECE3}"/>
              </a:ext>
            </a:extLst>
          </p:cNvPr>
          <p:cNvGrpSpPr/>
          <p:nvPr/>
        </p:nvGrpSpPr>
        <p:grpSpPr>
          <a:xfrm>
            <a:off x="1520958" y="1088858"/>
            <a:ext cx="856522" cy="695914"/>
            <a:chOff x="4271804" y="324357"/>
            <a:chExt cx="931978" cy="842197"/>
          </a:xfrm>
        </p:grpSpPr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380A6DDE-81A5-EF82-8AD5-62E65A1B384D}"/>
                </a:ext>
              </a:extLst>
            </p:cNvPr>
            <p:cNvSpPr/>
            <p:nvPr/>
          </p:nvSpPr>
          <p:spPr>
            <a:xfrm>
              <a:off x="4375730" y="814722"/>
              <a:ext cx="724129" cy="307983"/>
            </a:xfrm>
            <a:prstGeom prst="rect">
              <a:avLst/>
            </a:prstGeom>
            <a:noFill/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Q-A.json</a:t>
              </a:r>
              <a:endParaRPr lang="zh-TW" altLang="en-US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pic>
          <p:nvPicPr>
            <p:cNvPr id="8" name="圖片 7" descr="json logo">
              <a:extLst>
                <a:ext uri="{FF2B5EF4-FFF2-40B4-BE49-F238E27FC236}">
                  <a16:creationId xmlns:a16="http://schemas.microsoft.com/office/drawing/2014/main" id="{614D0D0A-8724-C2C7-40B5-DA4C7CF33C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40633" y="395698"/>
              <a:ext cx="394320" cy="419025"/>
            </a:xfrm>
            <a:prstGeom prst="rect">
              <a:avLst/>
            </a:prstGeom>
          </p:spPr>
        </p:pic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9BAE93DD-61DC-729E-DF61-A00C337731CF}"/>
                </a:ext>
              </a:extLst>
            </p:cNvPr>
            <p:cNvSpPr/>
            <p:nvPr/>
          </p:nvSpPr>
          <p:spPr>
            <a:xfrm>
              <a:off x="4271804" y="324357"/>
              <a:ext cx="931978" cy="842197"/>
            </a:xfrm>
            <a:prstGeom prst="rect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600"/>
                </a:lnSpc>
              </a:pPr>
              <a:endPara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  <a:p>
              <a:pPr algn="ctr">
                <a:lnSpc>
                  <a:spcPts val="1600"/>
                </a:lnSpc>
              </a:pPr>
              <a:endPara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913C2FB1-8335-61DD-DE12-719E8CBBA1D9}"/>
              </a:ext>
            </a:extLst>
          </p:cNvPr>
          <p:cNvSpPr/>
          <p:nvPr/>
        </p:nvSpPr>
        <p:spPr>
          <a:xfrm>
            <a:off x="1805203" y="1718038"/>
            <a:ext cx="288032" cy="331298"/>
          </a:xfrm>
          <a:prstGeom prst="downArrow">
            <a:avLst/>
          </a:prstGeom>
          <a:solidFill>
            <a:schemeClr val="accent2">
              <a:alpha val="7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箭號: 迴轉箭號 16">
            <a:extLst>
              <a:ext uri="{FF2B5EF4-FFF2-40B4-BE49-F238E27FC236}">
                <a16:creationId xmlns:a16="http://schemas.microsoft.com/office/drawing/2014/main" id="{59AB95D8-6D09-7FA4-7166-01EC53870C35}"/>
              </a:ext>
            </a:extLst>
          </p:cNvPr>
          <p:cNvSpPr/>
          <p:nvPr/>
        </p:nvSpPr>
        <p:spPr>
          <a:xfrm rot="10800000">
            <a:off x="1475656" y="2780928"/>
            <a:ext cx="556629" cy="671272"/>
          </a:xfrm>
          <a:prstGeom prst="uturnArrow">
            <a:avLst>
              <a:gd name="adj1" fmla="val 26770"/>
              <a:gd name="adj2" fmla="val 25000"/>
              <a:gd name="adj3" fmla="val 32079"/>
              <a:gd name="adj4" fmla="val 43750"/>
              <a:gd name="adj5" fmla="val 62630"/>
            </a:avLst>
          </a:prstGeom>
          <a:solidFill>
            <a:schemeClr val="accent2">
              <a:alpha val="7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E404EA2-E81F-60BD-20D4-80E149497416}"/>
              </a:ext>
            </a:extLst>
          </p:cNvPr>
          <p:cNvSpPr/>
          <p:nvPr/>
        </p:nvSpPr>
        <p:spPr>
          <a:xfrm>
            <a:off x="4067946" y="2466472"/>
            <a:ext cx="1974170" cy="63225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MedQA / USMLE</a:t>
            </a:r>
          </a:p>
          <a:p>
            <a:pPr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PubMedQA</a:t>
            </a:r>
          </a:p>
          <a:p>
            <a:pPr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MedicationQA</a:t>
            </a:r>
          </a:p>
        </p:txBody>
      </p:sp>
      <p:pic>
        <p:nvPicPr>
          <p:cNvPr id="24" name="圖形 23" descr="資料庫 以實心填滿">
            <a:extLst>
              <a:ext uri="{FF2B5EF4-FFF2-40B4-BE49-F238E27FC236}">
                <a16:creationId xmlns:a16="http://schemas.microsoft.com/office/drawing/2014/main" id="{E1DE9328-A7AA-C920-A428-9EA7235341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69291" y="2542972"/>
            <a:ext cx="513450" cy="513450"/>
          </a:xfrm>
          <a:prstGeom prst="rect">
            <a:avLst/>
          </a:prstGeom>
        </p:spPr>
      </p:pic>
      <p:sp>
        <p:nvSpPr>
          <p:cNvPr id="22" name="文字方塊 21">
            <a:extLst>
              <a:ext uri="{FF2B5EF4-FFF2-40B4-BE49-F238E27FC236}">
                <a16:creationId xmlns:a16="http://schemas.microsoft.com/office/drawing/2014/main" id="{81C59E87-C437-57D6-650E-C3343CE9BC70}"/>
              </a:ext>
            </a:extLst>
          </p:cNvPr>
          <p:cNvSpPr txBox="1"/>
          <p:nvPr/>
        </p:nvSpPr>
        <p:spPr>
          <a:xfrm>
            <a:off x="4468972" y="1772816"/>
            <a:ext cx="9671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/>
              <a:t>Data Source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E2D5FF20-ADFF-AE53-E8FF-9EAA8A40C46C}"/>
              </a:ext>
            </a:extLst>
          </p:cNvPr>
          <p:cNvSpPr txBox="1"/>
          <p:nvPr/>
        </p:nvSpPr>
        <p:spPr>
          <a:xfrm>
            <a:off x="2938998" y="1639933"/>
            <a:ext cx="967124" cy="4616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/>
              <a:t>Conver to </a:t>
            </a:r>
          </a:p>
          <a:p>
            <a:pPr algn="ctr"/>
            <a:r>
              <a:rPr lang="en-US" altLang="zh-TW" sz="1200" dirty="0"/>
              <a:t>JSON format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A51BF641-2FAC-71F8-C4B0-676DC3E88BB7}"/>
              </a:ext>
            </a:extLst>
          </p:cNvPr>
          <p:cNvSpPr txBox="1"/>
          <p:nvPr/>
        </p:nvSpPr>
        <p:spPr>
          <a:xfrm>
            <a:off x="814720" y="2060848"/>
            <a:ext cx="531364" cy="309957"/>
          </a:xfrm>
          <a:prstGeom prst="rect">
            <a:avLst/>
          </a:prstGeom>
          <a:noFill/>
        </p:spPr>
        <p:txBody>
          <a:bodyPr wrap="none" lIns="0" tIns="0" rIns="0" bIns="0" anchor="ctr" anchorCtr="1">
            <a:sp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/>
              <a:t>Trainer</a:t>
            </a:r>
          </a:p>
          <a:p>
            <a:pPr>
              <a:lnSpc>
                <a:spcPts val="1200"/>
              </a:lnSpc>
            </a:pPr>
            <a:r>
              <a:rPr lang="en-US" altLang="zh-TW" sz="1200" dirty="0"/>
              <a:t>Program</a:t>
            </a:r>
          </a:p>
        </p:txBody>
      </p:sp>
      <p:sp>
        <p:nvSpPr>
          <p:cNvPr id="29" name="箭號: 彎曲 28">
            <a:extLst>
              <a:ext uri="{FF2B5EF4-FFF2-40B4-BE49-F238E27FC236}">
                <a16:creationId xmlns:a16="http://schemas.microsoft.com/office/drawing/2014/main" id="{F722EC44-A374-210E-5E5D-7441D3F02CFD}"/>
              </a:ext>
            </a:extLst>
          </p:cNvPr>
          <p:cNvSpPr/>
          <p:nvPr/>
        </p:nvSpPr>
        <p:spPr>
          <a:xfrm flipH="1">
            <a:off x="4509786" y="1300206"/>
            <a:ext cx="441842" cy="427605"/>
          </a:xfrm>
          <a:prstGeom prst="bentArrow">
            <a:avLst>
              <a:gd name="adj1" fmla="val 31683"/>
              <a:gd name="adj2" fmla="val 27228"/>
              <a:gd name="adj3" fmla="val 49503"/>
              <a:gd name="adj4" fmla="val 30384"/>
            </a:avLst>
          </a:prstGeom>
          <a:solidFill>
            <a:schemeClr val="accent2">
              <a:alpha val="7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4170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97438-C8B0-5673-4C5F-AC6EEF8F1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215D1878-B489-AFE3-A8C3-A6B0443A3968}"/>
              </a:ext>
            </a:extLst>
          </p:cNvPr>
          <p:cNvSpPr/>
          <p:nvPr/>
        </p:nvSpPr>
        <p:spPr>
          <a:xfrm rot="16200000">
            <a:off x="3043012" y="1900012"/>
            <a:ext cx="325849" cy="85991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E036C336-3A04-69B3-A47E-AB6B16758771}"/>
              </a:ext>
            </a:extLst>
          </p:cNvPr>
          <p:cNvSpPr/>
          <p:nvPr/>
        </p:nvSpPr>
        <p:spPr>
          <a:xfrm>
            <a:off x="4661723" y="4708100"/>
            <a:ext cx="3700753" cy="1257275"/>
          </a:xfrm>
          <a:prstGeom prst="rect">
            <a:avLst/>
          </a:prstGeom>
          <a:noFill/>
          <a:ln w="6350">
            <a:solidFill>
              <a:schemeClr val="accent4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endParaRPr lang="en-US" altLang="zh-TW" sz="1200" dirty="0">
              <a:solidFill>
                <a:schemeClr val="tx2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E8B5B681-38D2-12B5-DB86-61F191452B61}"/>
              </a:ext>
            </a:extLst>
          </p:cNvPr>
          <p:cNvSpPr/>
          <p:nvPr/>
        </p:nvSpPr>
        <p:spPr>
          <a:xfrm>
            <a:off x="2281896" y="4836021"/>
            <a:ext cx="3033034" cy="1185267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Public Database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RegulomeDB (Stanford University)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GTEx Portal (Single-Cell Gene Expression Data)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Ensembl Regulation (EBI/Sanger)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BCD88C0B-1ECB-A061-55F5-5BBF6F58DD7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Biomedical MCP Server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In Runtime, Agent could access public database by BioMCP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24" name="圖形 23" descr="資料庫 以實心填滿">
            <a:extLst>
              <a:ext uri="{FF2B5EF4-FFF2-40B4-BE49-F238E27FC236}">
                <a16:creationId xmlns:a16="http://schemas.microsoft.com/office/drawing/2014/main" id="{1EF39786-3014-9BC9-B7AD-358326E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893066" y="2461734"/>
            <a:ext cx="513450" cy="513450"/>
          </a:xfrm>
          <a:prstGeom prst="rect">
            <a:avLst/>
          </a:prstGeom>
        </p:spPr>
      </p:pic>
      <p:sp>
        <p:nvSpPr>
          <p:cNvPr id="18" name="矩形 17">
            <a:extLst>
              <a:ext uri="{FF2B5EF4-FFF2-40B4-BE49-F238E27FC236}">
                <a16:creationId xmlns:a16="http://schemas.microsoft.com/office/drawing/2014/main" id="{DE400132-0809-AF72-370C-AFEFA6E6B6FC}"/>
              </a:ext>
            </a:extLst>
          </p:cNvPr>
          <p:cNvSpPr/>
          <p:nvPr/>
        </p:nvSpPr>
        <p:spPr>
          <a:xfrm>
            <a:off x="3959116" y="1220289"/>
            <a:ext cx="1653476" cy="2034730"/>
          </a:xfrm>
          <a:prstGeom prst="rect">
            <a:avLst/>
          </a:prstGeom>
          <a:noFill/>
          <a:ln w="381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t" anchorCtr="0"/>
          <a:lstStyle/>
          <a:p>
            <a:pPr algn="ctr">
              <a:lnSpc>
                <a:spcPts val="16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BioMCP</a:t>
            </a:r>
          </a:p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(GenomOncology)</a:t>
            </a:r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42E9BC1C-BFC1-372E-BF18-851CBE7059E2}"/>
              </a:ext>
            </a:extLst>
          </p:cNvPr>
          <p:cNvPicPr preferRelativeResize="0"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5405184" y="1124744"/>
            <a:ext cx="337313" cy="34130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95000"/>
              </a:schemeClr>
            </a:solidFill>
          </a:ln>
          <a:effectLst>
            <a:glow rad="50800">
              <a:schemeClr val="bg1">
                <a:lumMod val="95000"/>
                <a:alpha val="60000"/>
              </a:schemeClr>
            </a:glow>
            <a:softEdge rad="25400"/>
          </a:effectLst>
        </p:spPr>
      </p:pic>
      <p:sp>
        <p:nvSpPr>
          <p:cNvPr id="30" name="右大括弧 29">
            <a:extLst>
              <a:ext uri="{FF2B5EF4-FFF2-40B4-BE49-F238E27FC236}">
                <a16:creationId xmlns:a16="http://schemas.microsoft.com/office/drawing/2014/main" id="{B83A3D07-2AFA-2CE6-EE68-6D15A90882C1}"/>
              </a:ext>
            </a:extLst>
          </p:cNvPr>
          <p:cNvSpPr/>
          <p:nvPr/>
        </p:nvSpPr>
        <p:spPr>
          <a:xfrm rot="16200000">
            <a:off x="5776590" y="5515156"/>
            <a:ext cx="85362" cy="1385657"/>
          </a:xfrm>
          <a:prstGeom prst="rightBrac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4BC3F41-8024-C908-8ADC-35F66696A3CD}"/>
              </a:ext>
            </a:extLst>
          </p:cNvPr>
          <p:cNvSpPr/>
          <p:nvPr/>
        </p:nvSpPr>
        <p:spPr>
          <a:xfrm>
            <a:off x="4048989" y="2707766"/>
            <a:ext cx="1473729" cy="45085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8288" rIns="0" bIns="0" rtlCol="0" anchor="t" anchorCtr="0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MyVariant.info</a:t>
            </a:r>
            <a:b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0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(Scripps Research Institute)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B95387A-8982-D2B1-AFA9-0B75FF57F2F8}"/>
              </a:ext>
            </a:extLst>
          </p:cNvPr>
          <p:cNvSpPr/>
          <p:nvPr/>
        </p:nvSpPr>
        <p:spPr>
          <a:xfrm>
            <a:off x="1043608" y="4032509"/>
            <a:ext cx="990731" cy="49153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Cross-Server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Orchestration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F70D2D0B-D65D-A699-AC91-D431E8C49B8D}"/>
              </a:ext>
            </a:extLst>
          </p:cNvPr>
          <p:cNvSpPr/>
          <p:nvPr/>
        </p:nvSpPr>
        <p:spPr>
          <a:xfrm>
            <a:off x="1765081" y="1786807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92F10185-96A3-36BA-42B0-0C7A06A7673D}"/>
              </a:ext>
            </a:extLst>
          </p:cNvPr>
          <p:cNvSpPr/>
          <p:nvPr/>
        </p:nvSpPr>
        <p:spPr>
          <a:xfrm>
            <a:off x="1765278" y="2174560"/>
            <a:ext cx="859919" cy="307983"/>
          </a:xfrm>
          <a:prstGeom prst="rect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>
                <a:lumMod val="75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AI Agent</a:t>
            </a:r>
            <a:endParaRPr lang="zh-TW" altLang="en-US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BA54547-1DA1-B629-4875-CC7F26099BC9}"/>
              </a:ext>
            </a:extLst>
          </p:cNvPr>
          <p:cNvSpPr txBox="1"/>
          <p:nvPr/>
        </p:nvSpPr>
        <p:spPr>
          <a:xfrm>
            <a:off x="3959117" y="3284984"/>
            <a:ext cx="1653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/>
              <a:t>Clinvar</a:t>
            </a:r>
            <a:r>
              <a:rPr lang="en-US" altLang="zh-TW" sz="1200" dirty="0"/>
              <a:t>, OMIM (NIH)</a:t>
            </a:r>
          </a:p>
          <a:p>
            <a:r>
              <a:rPr lang="zh-TW" altLang="zh-TW" sz="1200" dirty="0"/>
              <a:t>, dbGaP, ClinGen, </a:t>
            </a:r>
            <a:r>
              <a:rPr lang="en-US" altLang="zh-TW" sz="1200" dirty="0"/>
              <a:t> … 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0B7572B-0209-6979-6E58-2123FD8F6C70}"/>
              </a:ext>
            </a:extLst>
          </p:cNvPr>
          <p:cNvSpPr/>
          <p:nvPr/>
        </p:nvSpPr>
        <p:spPr>
          <a:xfrm>
            <a:off x="696456" y="5092095"/>
            <a:ext cx="990731" cy="489287"/>
          </a:xfrm>
          <a:prstGeom prst="rect">
            <a:avLst/>
          </a:prstGeom>
          <a:noFill/>
          <a:ln w="381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Bio-AI-Agent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EED13C0-1FA6-E215-AF9B-54ACA34BE12E}"/>
              </a:ext>
            </a:extLst>
          </p:cNvPr>
          <p:cNvSpPr/>
          <p:nvPr/>
        </p:nvSpPr>
        <p:spPr>
          <a:xfrm>
            <a:off x="8023065" y="591715"/>
            <a:ext cx="792088" cy="64604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2700"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Research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Articles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DE2EA1A-CCAE-DEFA-2A4D-6F6BEF5AE898}"/>
              </a:ext>
            </a:extLst>
          </p:cNvPr>
          <p:cNvSpPr/>
          <p:nvPr/>
        </p:nvSpPr>
        <p:spPr>
          <a:xfrm>
            <a:off x="4111200" y="1650614"/>
            <a:ext cx="1293984" cy="1038762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0" rIns="0" bIns="0" rtlCol="0" anchor="ctr" anchorCtr="0"/>
          <a:lstStyle/>
          <a:p>
            <a:pPr algn="ctr">
              <a:lnSpc>
                <a:spcPts val="14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Cross-Server</a:t>
            </a:r>
          </a:p>
          <a:p>
            <a:pPr algn="ctr">
              <a:lnSpc>
                <a:spcPts val="1200"/>
              </a:lnSpc>
            </a:pPr>
            <a:r>
              <a:rPr lang="en-US" altLang="zh-TW" sz="12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Orchestration</a:t>
            </a:r>
            <a:b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</a:br>
            <a:endParaRPr lang="en-US" altLang="zh-TW" sz="1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Clinical Trials</a:t>
            </a:r>
            <a:r>
              <a:rPr lang="zh-TW" altLang="en-US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 </a:t>
            </a:r>
            <a:r>
              <a:rPr lang="en-US" altLang="zh-TW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API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Genomic Variants API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ea typeface="+mj-ea"/>
                <a:cs typeface="ADLaM Display" panose="02010000000000000000" pitchFamily="2" charset="0"/>
              </a:rPr>
              <a:t>Research Articles API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45359853-F7FF-59F6-3C87-91009F8F42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7886" y="2561755"/>
            <a:ext cx="314611" cy="341305"/>
          </a:xfrm>
          <a:prstGeom prst="rect">
            <a:avLst/>
          </a:prstGeom>
          <a:effectLst>
            <a:glow rad="50800">
              <a:schemeClr val="tx1">
                <a:lumMod val="95000"/>
                <a:lumOff val="5000"/>
                <a:alpha val="60000"/>
              </a:schemeClr>
            </a:glow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20794045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CDA888E0-E178-CA85-DA6A-537E21CE214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VCF Example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Variant Call Format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ED4A5CD-D275-F3CD-78FF-2A57763D2B22}"/>
              </a:ext>
            </a:extLst>
          </p:cNvPr>
          <p:cNvSpPr txBox="1"/>
          <p:nvPr/>
        </p:nvSpPr>
        <p:spPr>
          <a:xfrm>
            <a:off x="179512" y="913944"/>
            <a:ext cx="8184624" cy="1938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200" b="1" dirty="0">
                <a:latin typeface="Consolas" panose="020B0609020204030204" pitchFamily="49" charset="0"/>
              </a:rPr>
              <a:t>text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##fileformat=VCFv4.2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##FILTER=&lt;ID=PASS,Description="All filters passed"&gt;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##INFO=&lt;ID=DP,Number=1,Type=Integer,Description="Total Depth"&gt;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##FORMAT=&lt;ID=GT,Number=1,Type=String,Description="Genotype"&gt;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#CHROM   POS       ID         REF  ALT  QUAL  FILTER  INFO    FORMAT  SAMPLE_001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chr1     10177     rs20177    A    G    60    PASS    DP=25   GT      0/1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chr1     10352     rs11221    T    C    58    PASS    DP=32   GT      1/1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chr2     24194     .          C    T    50    PASS    DP=18   GT      0/0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B952942-4FE4-5020-2256-165B3E4BFAFA}"/>
              </a:ext>
            </a:extLst>
          </p:cNvPr>
          <p:cNvSpPr txBox="1"/>
          <p:nvPr/>
        </p:nvSpPr>
        <p:spPr>
          <a:xfrm>
            <a:off x="323528" y="2846546"/>
            <a:ext cx="8040608" cy="1878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</a:pP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🔍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核心欄位白話拆解（表格每列代表一個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SNP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#CHROM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染色體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：變異位在第幾號染色體（例如：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chr1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POS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基因座標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：該變異在染色體上的精確位置（例如：第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10177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個鹼基）。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ID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識別碼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：通常是國際標準的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SNP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編號（例如：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rs20177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）。如果是尚未被記錄的全新突變，則顯示為一個點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REF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參考鹼基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：正常人類基因組在該位置的標準英文字母（例如：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ALT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變異鹼基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：這個病患在該位置發生的突變英文字母（例如：變成了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G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QUAL &amp; FILTER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品質與過濾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：代表這次定序或晶片檢測的精確度。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PASS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代表這是一個高可信度、沒有雜訊的真實變異。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INFO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附加資訊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：記錄檢測時的技術參數。例如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DP=25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代表這個點位被反覆讀取、覆蓋了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25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次。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FORMAT &amp; SAMPLE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基因型結果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：這是解讀最重要的核心！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0/0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：代表病患兩個染色體都是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REF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（未突變，如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AA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0/1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：代表異型合子（雜合突變，一個正常一個突變，如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AG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DFB809C-200F-DA0F-5FD8-179FC2E41BC6}"/>
              </a:ext>
            </a:extLst>
          </p:cNvPr>
          <p:cNvSpPr txBox="1"/>
          <p:nvPr/>
        </p:nvSpPr>
        <p:spPr>
          <a:xfrm>
            <a:off x="467544" y="5157192"/>
            <a:ext cx="4572000" cy="1038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10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在醫學、生物資訊與基因分型（Genotyping / Variant Calling）領域，有非常多國際頂尖、具備權威公信力且公開開放的資料庫。</a:t>
            </a:r>
          </a:p>
          <a:p>
            <a:pPr marL="0" marR="0"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zh-TW" sz="110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這些資料庫可以分為「變異與疾病臨床解讀」、「群體基因頻率（背景控制組）」、「癌症專屬」以及「本土/特定群體資源」</a:t>
            </a:r>
          </a:p>
        </p:txBody>
      </p:sp>
    </p:spTree>
    <p:extLst>
      <p:ext uri="{BB962C8B-B14F-4D97-AF65-F5344CB8AC3E}">
        <p14:creationId xmlns:p14="http://schemas.microsoft.com/office/powerpoint/2010/main" val="3195498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33158-F686-671C-2ABD-1B9BF719C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3A4ABE55-8661-AC59-3A83-3125F3D55BD9}"/>
              </a:ext>
            </a:extLst>
          </p:cNvPr>
          <p:cNvSpPr txBox="1"/>
          <p:nvPr/>
        </p:nvSpPr>
        <p:spPr>
          <a:xfrm>
            <a:off x="179512" y="1196752"/>
            <a:ext cx="6768752" cy="4248472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requests</a:t>
            </a:r>
            <a:endParaRPr lang="zh-TW" altLang="zh-TW" sz="1000" b="0" u="none" strike="noStrike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query_regulatory_features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(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rsid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: str):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"""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Input the rsID of an SNP to query its regulatory feature score and details in RegulomeDB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"""</a:t>
            </a:r>
          </a:p>
          <a:p>
            <a:pPr>
              <a:lnSpc>
                <a:spcPts val="1200"/>
              </a:lnSpc>
            </a:pPr>
            <a:r>
              <a:rPr lang="en-US" altLang="zh-TW" sz="1000" b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Using public API of MyVariant.info</a:t>
            </a:r>
            <a:endParaRPr lang="en-US" altLang="zh-TW" sz="1000" b="0" u="none" strike="noStrike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url</a:t>
            </a:r>
            <a:r>
              <a:rPr lang="en-US" altLang="zh-TW" sz="1000" dirty="0">
                <a:latin typeface="Consolas" panose="020B0609020204030204" pitchFamily="49" charset="0"/>
              </a:rPr>
              <a:t> =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f"https://myvariant.info</a:t>
            </a:r>
            <a:r>
              <a:rPr lang="en-US" altLang="zh-TW" sz="1000" dirty="0">
                <a:latin typeface="Consolas" panose="020B0609020204030204" pitchFamily="49" charset="0"/>
              </a:rPr>
              <a:t>{rsid}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response</a:t>
            </a:r>
            <a:r>
              <a:rPr lang="en-US" altLang="zh-TW" sz="1000" dirty="0">
                <a:latin typeface="Consolas" panose="020B0609020204030204" pitchFamily="49" charset="0"/>
              </a:rPr>
              <a:t> = requests.get(url)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if</a:t>
            </a:r>
            <a:r>
              <a:rPr lang="en-US" altLang="zh-TW" sz="1000" dirty="0">
                <a:latin typeface="Consolas" panose="020B0609020204030204" pitchFamily="49" charset="0"/>
              </a:rPr>
              <a:t> response.status_code ==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200</a:t>
            </a:r>
            <a:r>
              <a:rPr lang="en-US" altLang="zh-TW" sz="1000" dirty="0">
                <a:latin typeface="Consolas" panose="020B0609020204030204" pitchFamily="49" charset="0"/>
              </a:rPr>
              <a:t>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altLang="zh-TW" sz="1000" dirty="0">
                <a:latin typeface="Consolas" panose="020B0609020204030204" pitchFamily="49" charset="0"/>
              </a:rPr>
              <a:t> = response.json()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Extract the regulatory gene data from RegulomeDB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regulomedb_info</a:t>
            </a:r>
            <a:r>
              <a:rPr lang="en-US" altLang="zh-TW" sz="1000" dirty="0">
                <a:latin typeface="Consolas" panose="020B0609020204030204" pitchFamily="49" charset="0"/>
              </a:rPr>
              <a:t> = data.get(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"regulomedb"</a:t>
            </a:r>
            <a:r>
              <a:rPr lang="en-US" altLang="zh-TW" sz="1000" dirty="0">
                <a:latin typeface="Consolas" panose="020B0609020204030204" pitchFamily="49" charset="0"/>
              </a:rPr>
              <a:t>, {})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score</a:t>
            </a:r>
            <a:r>
              <a:rPr lang="en-US" altLang="zh-TW" sz="1000" dirty="0">
                <a:latin typeface="Consolas" panose="020B0609020204030204" pitchFamily="49" charset="0"/>
              </a:rPr>
              <a:t> = regulomedb_info.get("score",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"None"</a:t>
            </a:r>
            <a:r>
              <a:rPr lang="en-US" altLang="zh-TW" sz="1000" dirty="0">
                <a:latin typeface="Consolas" panose="020B0609020204030204" pitchFamily="49" charset="0"/>
              </a:rPr>
              <a:t>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evidence</a:t>
            </a:r>
            <a:r>
              <a:rPr lang="en-US" altLang="zh-TW" sz="1000" dirty="0">
                <a:latin typeface="Consolas" panose="020B0609020204030204" pitchFamily="49" charset="0"/>
              </a:rPr>
              <a:t> = regulomedb_info.get("evidence", [])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000" dirty="0">
                <a:latin typeface="Consolas" panose="020B0609020204030204" pitchFamily="49" charset="0"/>
              </a:rPr>
              <a:t> {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"rsID"</a:t>
            </a:r>
            <a:r>
              <a:rPr lang="en-US" altLang="zh-TW" sz="1000" dirty="0">
                <a:latin typeface="Consolas" panose="020B0609020204030204" pitchFamily="49" charset="0"/>
              </a:rPr>
              <a:t>: rsid,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"RegulomeDB_Score"</a:t>
            </a:r>
            <a:r>
              <a:rPr lang="en-US" altLang="zh-TW" sz="1000" dirty="0">
                <a:latin typeface="Consolas" panose="020B0609020204030204" pitchFamily="49" charset="0"/>
              </a:rPr>
              <a:t>: score,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"Description"</a:t>
            </a:r>
            <a:r>
              <a:rPr lang="en-US" altLang="zh-TW" sz="1000" dirty="0">
                <a:latin typeface="Consolas" panose="020B0609020204030204" pitchFamily="49" charset="0"/>
              </a:rPr>
              <a:t>: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f"The regulatory potential score of an SNP is</a:t>
            </a:r>
            <a:r>
              <a:rPr lang="zh-TW" altLang="en-US" sz="1000" dirty="0">
                <a:solidFill>
                  <a:srgbClr val="339933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dirty="0">
                <a:latin typeface="Consolas" panose="020B0609020204030204" pitchFamily="49" charset="0"/>
              </a:rPr>
              <a:t>{score}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."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else</a:t>
            </a:r>
            <a:r>
              <a:rPr lang="en-US" altLang="zh-TW" sz="1000" dirty="0">
                <a:latin typeface="Consolas" panose="020B0609020204030204" pitchFamily="49" charset="0"/>
              </a:rPr>
              <a:t>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000" dirty="0">
                <a:latin typeface="Consolas" panose="020B0609020204030204" pitchFamily="49" charset="0"/>
              </a:rPr>
              <a:t> {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"error"</a:t>
            </a:r>
            <a:r>
              <a:rPr lang="en-US" altLang="zh-TW" sz="1000" dirty="0">
                <a:latin typeface="Consolas" panose="020B0609020204030204" pitchFamily="49" charset="0"/>
              </a:rPr>
              <a:t>: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"Unable to connect to the database or SNP not found."</a:t>
            </a:r>
            <a:r>
              <a:rPr lang="en-US" altLang="zh-TW" sz="1000" dirty="0">
                <a:latin typeface="Consolas" panose="020B0609020204030204" pitchFamily="49" charset="0"/>
              </a:rPr>
              <a:t>}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If Agent detects a user asking, "What regulatory function does the rs334 mutation have?".</a:t>
            </a:r>
          </a:p>
          <a:p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it will automatically execute: query_regulatory_features("rs334")</a:t>
            </a:r>
            <a:endParaRPr lang="zh-TW" altLang="en-US" sz="1000" dirty="0">
              <a:solidFill>
                <a:schemeClr val="tx1">
                  <a:lumMod val="50000"/>
                  <a:lumOff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580D9B33-C9E6-CBAA-8212-FEA78ABD82F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Database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Connect to MyVariant.info and RegulomeDB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755CC4A-AA49-61B7-EA2B-71166C677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6056" y="188640"/>
            <a:ext cx="609653" cy="586791"/>
          </a:xfrm>
          <a:prstGeom prst="rect">
            <a:avLst/>
          </a:prstGeom>
          <a:effectLst>
            <a:glow rad="50800">
              <a:schemeClr val="accent1">
                <a:alpha val="60000"/>
              </a:schemeClr>
            </a:glow>
            <a:softEdge rad="254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43F1054-967A-E1AF-34F4-8AFB34BC6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144" y="190203"/>
            <a:ext cx="540897" cy="586791"/>
          </a:xfrm>
          <a:prstGeom prst="rect">
            <a:avLst/>
          </a:prstGeom>
          <a:effectLst>
            <a:glow rad="50800">
              <a:schemeClr val="tx1">
                <a:lumMod val="95000"/>
                <a:lumOff val="5000"/>
                <a:alpha val="60000"/>
              </a:schemeClr>
            </a:glow>
            <a:softEdge rad="25400"/>
          </a:effectLst>
        </p:spPr>
      </p:pic>
      <p:pic>
        <p:nvPicPr>
          <p:cNvPr id="2" name="圖片 1" descr="Regulome logo">
            <a:extLst>
              <a:ext uri="{FF2B5EF4-FFF2-40B4-BE49-F238E27FC236}">
                <a16:creationId xmlns:a16="http://schemas.microsoft.com/office/drawing/2014/main" id="{7F155CD2-267D-7331-150A-369EC507F9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1476" y="255296"/>
            <a:ext cx="1707864" cy="45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921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A9AE59F5-230E-F0C8-13CE-F4C0D87C0A57}"/>
              </a:ext>
            </a:extLst>
          </p:cNvPr>
          <p:cNvSpPr txBox="1"/>
          <p:nvPr/>
        </p:nvSpPr>
        <p:spPr>
          <a:xfrm>
            <a:off x="270892" y="2062879"/>
            <a:ext cx="8712968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最核心的公開調控特徵資料庫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您可以將以下三個權威資料庫作為您 AI Agent 的後端查詢工具：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None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RegulomeDB (史丹佛大學)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：這是專門用來查詢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SNP 對調控元件影響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的黃金標準。它整合了 ENCODE 計畫的大量數據，能告訴您某個 SNP 是否位於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轉錄因子結合位點（TFBS）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DNA 敏感位點（DNase I）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或特定的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組蛋白修飾（Histone modifications）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區域，並給出一個預測影響力的評分（Score）。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GTEx Portal (型態組織基因表達計畫)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：提供最強大的 eQTL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表達量定量性狀基因座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數據。輸入一個 SNP，它能直接告訴您這個變異在哪些特定人體組織中（如心臟、肝臟、大腦），會顯著調控哪個鄰近基因的表達量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Expression level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Ensembl Regulation (EBI/Sanger)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：收錄了豐富的「啟動子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(P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romoters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」和「增強子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Enhancers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」基因體座標，支援 programmatic 批量查詢。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8EB9EF8-8E47-D338-AE6B-F8AC1522266E}"/>
              </a:ext>
            </a:extLst>
          </p:cNvPr>
          <p:cNvSpPr txBox="1"/>
          <p:nvPr/>
        </p:nvSpPr>
        <p:spPr>
          <a:xfrm>
            <a:off x="251520" y="764704"/>
            <a:ext cx="8712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現今國際上有非常豐富且完全公開的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非編碼區（Non-coding region）與功能基因體學資料庫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buNone/>
            </a:pP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由於絕大多數的 SNP 都位於不直接轉譯成蛋白質的非編碼區，它們主要是透過影響「轉錄因子結合」、「染色質結構」或「基因表達量」等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調控特徵（Regulatory Features）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來影響人體生理。</a:t>
            </a:r>
          </a:p>
          <a:p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以下為您盤點如何利用公開資訊與 API，將您的「基因分型資料（SNP/VCF）」與「調控特徵」無縫串接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1E3A784-11F7-84EA-DB38-617A15DD03FA}"/>
              </a:ext>
            </a:extLst>
          </p:cNvPr>
          <p:cNvSpPr txBox="1"/>
          <p:nvPr/>
        </p:nvSpPr>
        <p:spPr>
          <a:xfrm>
            <a:off x="251520" y="4315162"/>
            <a:ext cx="86409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AI Agent 如何自動化串接？（程式碼與 API 實作）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您不需要下載幾百 GB 的原始檔，這些資料庫多數提供免費的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REST API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或專門的 MyVariant.info 整合介面。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以下是訓練 AI Agent 時，您可以寫成 Python Tool（函式）供 Agent 自行呼叫的範例（以 MyVariant.info 查詢 RegulomeDB 調控分數為例）：</a:t>
            </a:r>
          </a:p>
        </p:txBody>
      </p:sp>
    </p:spTree>
    <p:extLst>
      <p:ext uri="{BB962C8B-B14F-4D97-AF65-F5344CB8AC3E}">
        <p14:creationId xmlns:p14="http://schemas.microsoft.com/office/powerpoint/2010/main" val="2359596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1446</TotalTime>
  <Words>1534</Words>
  <Application>Microsoft Office PowerPoint</Application>
  <PresentationFormat>如螢幕大小 (4:3)</PresentationFormat>
  <Paragraphs>174</Paragraphs>
  <Slides>8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</vt:i4>
      </vt:variant>
    </vt:vector>
  </HeadingPairs>
  <TitlesOfParts>
    <vt:vector size="17" baseType="lpstr">
      <vt:lpstr>Noto Sans HK</vt:lpstr>
      <vt:lpstr>微軟正黑體</vt:lpstr>
      <vt:lpstr>新細明體</vt:lpstr>
      <vt:lpstr>ADLaM Display</vt:lpstr>
      <vt:lpstr>Arial</vt:lpstr>
      <vt:lpstr>Calibri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1804</cp:revision>
  <cp:lastPrinted>2024-07-30T01:44:15Z</cp:lastPrinted>
  <dcterms:created xsi:type="dcterms:W3CDTF">2019-11-08T03:01:47Z</dcterms:created>
  <dcterms:modified xsi:type="dcterms:W3CDTF">2026-07-30T09:20:26Z</dcterms:modified>
</cp:coreProperties>
</file>