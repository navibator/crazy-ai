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modernComment_D5C_E5DE535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459" r:id="rId2"/>
    <p:sldId id="3472" r:id="rId3"/>
    <p:sldId id="3501" r:id="rId4"/>
    <p:sldId id="3500" r:id="rId5"/>
    <p:sldId id="3444" r:id="rId6"/>
    <p:sldId id="3499" r:id="rId7"/>
    <p:sldId id="3493" r:id="rId8"/>
    <p:sldId id="3495" r:id="rId9"/>
    <p:sldId id="3477" r:id="rId10"/>
    <p:sldId id="3496" r:id="rId11"/>
    <p:sldId id="3475" r:id="rId12"/>
    <p:sldId id="3470" r:id="rId13"/>
    <p:sldId id="3471" r:id="rId14"/>
    <p:sldId id="3483" r:id="rId15"/>
    <p:sldId id="3465" r:id="rId16"/>
    <p:sldId id="3482" r:id="rId17"/>
    <p:sldId id="3481" r:id="rId18"/>
    <p:sldId id="3489" r:id="rId19"/>
    <p:sldId id="3490" r:id="rId20"/>
    <p:sldId id="3491" r:id="rId21"/>
    <p:sldId id="3461" r:id="rId22"/>
    <p:sldId id="3462" r:id="rId23"/>
    <p:sldId id="3420" r:id="rId24"/>
    <p:sldId id="3460" r:id="rId2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1"/>
            <p14:sldId id="3500"/>
            <p14:sldId id="3444"/>
            <p14:sldId id="3499"/>
            <p14:sldId id="3493"/>
            <p14:sldId id="3495"/>
            <p14:sldId id="3477"/>
            <p14:sldId id="3496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83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CCCC"/>
    <a:srgbClr val="FFDDDD"/>
    <a:srgbClr val="F2DCDB"/>
    <a:srgbClr val="DBFF94"/>
    <a:srgbClr val="CCFF66"/>
    <a:srgbClr val="FFFFFF"/>
    <a:srgbClr val="D7E7F7"/>
    <a:srgbClr val="DCE6F2"/>
    <a:srgbClr val="558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6455" autoAdjust="0"/>
  </p:normalViewPr>
  <p:slideViewPr>
    <p:cSldViewPr>
      <p:cViewPr varScale="1">
        <p:scale>
          <a:sx n="107" d="100"/>
          <a:sy n="107" d="100"/>
        </p:scale>
        <p:origin x="546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omments/modernComment_D5C_E5DE535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D91993-94B2-4C7B-9CD5-D9F83EC3A14C}" authorId="{DEF1DDEA-D49D-B2A5-9D83-8BDFFC6C721F}" created="2026-05-20T02:48:48.86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replyLst>
      <p188:reply id="{C66D0F87-A191-45F6-AD31-11862F22856F}" authorId="{DEF1DDEA-D49D-B2A5-9D83-8BDFFC6C721F}" created="2026-05-20T02:52:24.406">
        <p188:txBody>
          <a:bodyPr/>
          <a:lstStyle/>
          <a:p>
            <a:r>
              <a:rPr lang="zh-TW" altLang="en-US"/>
              <a:t>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    </a:r>
          </a:p>
        </p188:txBody>
      </p188:reply>
    </p188:replyLst>
    <p188:txBody>
      <a:bodyPr/>
      <a:lstStyle/>
      <a:p>
        <a:r>
          <a:rPr lang="zh-TW" altLang="en-US"/>
          <a:t>一、 Edge AI 晶片的硬體成本結構（BOM 結構）
Edge AI 晶片通常以 SoC（系統單晶片） 或 Chiplet（小晶片封裝） 的形式存在。一顆 Edge AI 晶片的硬體製造總成本，主要由以下四大核心區塊組成： 
成本組成項目估計佔比核心說明與成本驅動因子
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</a:r>
      </a:p>
    </p188:txBody>
  </p188:cm>
  <p188:cm id="{FFC719A7-4826-4636-A3DD-EE1595D91AE4}" authorId="{DEF1DDEA-D49D-B2A5-9D83-8BDFFC6C721F}" created="2026-05-20T02:49:34.73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txBody>
      <a:bodyPr/>
      <a:lstStyle/>
      <a:p>
        <a:r>
          <a:rPr lang="zh-TW" altLang="en-US"/>
          <a:t>二、 晶片的晶圓晶粒（Die）內部面積結構分析）
如果將晶片放大來看，在矽晶圓的「晶粒面積（Die Area）」分配上，Edge AI 晶片呈現顯著的「記憶體與算力高度拉鋸」特徵。
記憶體佔地極大（SRAM / Cache, 約 40% - 50%）：AI 推論（Inference）需要频繁讀取權重（Weights）。
為了減少節能殺手——「離開晶片去抓外部記憶體資料」的功耗，設計師會把大量的晶片面積留給片上緩存（On-chip SRAM）。
神經網路加速核心（NPU, 約 25% - 35%）：專門用來執行大量矩陣乘法與累積運算（MAC Array）的硬體電路，是晶片能效比（TOPS/W）的關鍵。
控制與多媒體核心（CPU/DSP/ISP, 約 15% - 20%）：負責系統排程（如 Arm 核心）以及影像訊號預處理（ISP）、音訊處理等。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F09-836B-611E-3920-7AE3A67C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39D021-C0AF-0091-D6F8-0073EB4AD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A4D7BA-4AD0-4EE9-48E0-98B1C61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4A41B9-0B71-33D1-6ED3-C2CF20F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308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隨著RAG應用持續深化，市場也出現更高階的技術架構——Hybrid RAG（混合式檢索增強生成）。相較主要仰賴向量資料庫後比對語意（處理非結構化文本）、或是需重組成結構化資料的高導入門檻；Hybrid RAG可同時整合來自ERP、CRM、SQL等內部營運系統的結構化資料源，透過雙路徑檢索方式，由大型語言模型（LLM）統一進行理解與生成，進一步提升答案的完整性與商業價值。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RAG（檢索增強生成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讓LLM在回答問題前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先從外部知識庫搜尋相關資訊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再根據這些資料來生成最終答案。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這不僅能大幅減少 AI 捏造事實的「幻覺」問題，還能確保資訊準確且可追溯。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的核心概念就像是「開書考」，透過以下五個步驟來完成任務：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資料準備 (Chunking)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：將企業內部文件、網頁或資料庫切分成易於搜尋的小段落，並轉化為電腦能理解的數值向量。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資料儲存 (Vector Database)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：將這些向量儲存於專門的向量資料庫中。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語意檢索 (Retrieval)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：當使用者提問時，系統會分析問題的語意，並從資料庫中找出最相關的幾個文件段落。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增強提示詞 (Augment)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：系統會將使用者的問題與剛才找到的「參考片段」結合，組成完整的指令。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內容生成 (Generate)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：大型語言模型（如 ChatGPT、Gemini 等）讀取這些參考片段，並用流暢的語言生成最終解答</a:t>
            </a:r>
          </a:p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為什麼需要 RAG？主要優勢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大幅減少幻覺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：AI 的回答有所本，所有資訊都來自提供的外部知識庫，而非全憑猜測。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資料即時更新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：無須耗費鉅資重新訓練模型，只需更新知識庫中的文件，AI 就能掌握最新資訊。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資訊可追溯性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：AI 在回答的同時，能明確標註參考來源或出處，方便使用者查核。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企業資料安全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：可結合內部權限控管，確保機密資料不會外洩至公开的預訓練模型中。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</a:t>
            </a:r>
            <a:r>
              <a:rPr kumimoji="0" lang="en-US" altLang="zh-TW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eXchange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半導體製造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封測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電路板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被動元件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/>
          </a:p>
          <a:p>
            <a:r>
              <a:rPr lang="en-US" altLang="zh-TW" dirty="0"/>
              <a:t>Multi GPU </a:t>
            </a:r>
            <a:r>
              <a:rPr lang="en-US" altLang="zh-TW" dirty="0">
                <a:sym typeface="Wingdings" panose="05000000000000000000" pitchFamily="2" charset="2"/>
              </a:rPr>
              <a:t> HBM  CoWoS/CoPos   CPO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WSE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TPU / AI CHIP</a:t>
            </a:r>
          </a:p>
          <a:p>
            <a:r>
              <a:rPr lang="en-US" altLang="zh-TW" dirty="0">
                <a:sym typeface="Wingdings" panose="05000000000000000000" pitchFamily="2" charset="2"/>
              </a:rPr>
              <a:t>CoWoS  PCB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CCL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MLCC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en-US" altLang="zh-TW" dirty="0">
                <a:sym typeface="Wingdings" panose="05000000000000000000" pitchFamily="2" charset="2"/>
              </a:rPr>
              <a:t>HBM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CPO</a:t>
            </a:r>
          </a:p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）是PCB的核心基礎材料，約占PCB成本的40%。</a:t>
            </a:r>
            <a:endParaRPr lang="en-US" altLang="zh-TW" dirty="0"/>
          </a:p>
          <a:p>
            <a:r>
              <a:rPr lang="zh-TW" altLang="zh-TW" dirty="0"/>
              <a:t>其結構猶如「夾心餅乾」，由外層的導電銅箔，與中間夾層的「絕緣補強材料（如玻璃纖維布）」加「樹脂」高溫高壓貼合而成。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銅箔基板的組成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 (約占 40%)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導電層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樹脂 (約占 30%)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絕緣體提供耐熱性與黏合力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補強材料 (約占 30%)</a:t>
            </a:r>
            <a:r>
              <a:rPr lang="zh-TW" altLang="zh-TW" dirty="0"/>
              <a:t>：通常為玻璃纖維布</a:t>
            </a:r>
            <a:r>
              <a:rPr lang="en-US" altLang="zh-TW" dirty="0"/>
              <a:t>.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台廠 CCL 龍頭（概念股）</a:t>
            </a:r>
            <a:r>
              <a:rPr lang="zh-TW" altLang="zh-TW" dirty="0"/>
              <a:t>：包含台光電 (2383)、台燿 (6274)、聯茂 (6213)，以及南亞 (1303) 等。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隨著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伺服器</a:t>
            </a:r>
            <a:r>
              <a:rPr lang="zh-TW" altLang="zh-TW" dirty="0"/>
              <a:t>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5G/高速通訊</a:t>
            </a:r>
            <a:r>
              <a:rPr lang="zh-TW" altLang="zh-TW" dirty="0"/>
              <a:t>快速發展，傳統消費電子的板材已無法負荷龐大的資料傳輸量與高發熱量。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規格升級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AI 伺服器對 CCL 的用量是傳統伺服器的 5 至 7 倍，且「低損耗（Low Loss / M8-M9等級）」材料以避免訊號干擾。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長線商機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CCL 認證門檻高、驗證週期長（通常需 2~3 年），因此一旦打入特定供應鏈，訂單穩定度與毛利率皆相當可觀。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dirty="0"/>
              <a:t>紙質酚醛基板</a:t>
            </a:r>
            <a:r>
              <a:rPr lang="en-US" altLang="zh-TW" dirty="0"/>
              <a:t>(CCL/FR-1)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複合基板</a:t>
            </a:r>
            <a:r>
              <a:rPr lang="en-US" altLang="zh-TW" dirty="0">
                <a:sym typeface="Wingdings" panose="05000000000000000000" pitchFamily="2" charset="2"/>
              </a:rPr>
              <a:t>(CEM),</a:t>
            </a:r>
            <a:r>
              <a:rPr lang="zh-TW" altLang="en-US" dirty="0">
                <a:sym typeface="Wingdings" panose="05000000000000000000" pitchFamily="2" charset="2"/>
              </a:rPr>
              <a:t>玻璃纖維</a:t>
            </a:r>
            <a:r>
              <a:rPr lang="en-US" altLang="zh-TW" dirty="0">
                <a:sym typeface="Wingdings" panose="05000000000000000000" pitchFamily="2" charset="2"/>
              </a:rPr>
              <a:t>(FR-4)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ABF</a:t>
            </a:r>
            <a:r>
              <a:rPr lang="zh-TW" altLang="en-US" dirty="0">
                <a:sym typeface="Wingdings" panose="05000000000000000000" pitchFamily="2" charset="2"/>
              </a:rPr>
              <a:t>載板</a:t>
            </a:r>
            <a:r>
              <a:rPr lang="en-US" altLang="zh-TW" dirty="0">
                <a:sym typeface="Wingdings" panose="05000000000000000000" pitchFamily="2" charset="2"/>
              </a:rPr>
              <a:t>(</a:t>
            </a:r>
            <a:r>
              <a:rPr lang="zh-TW" altLang="zh-TW" dirty="0"/>
              <a:t>在絕緣層上精準電鍍「長」出線路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zh-TW" dirty="0"/>
              <a:t>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玻璃基板（TGV）</a:t>
            </a:r>
            <a:r>
              <a:rPr lang="zh-TW" altLang="zh-TW" dirty="0"/>
              <a:t>」封裝技術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紙質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易碎、耐熱差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玻璃纖維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強韌、耐熱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高階塑膠/樹脂變革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高速、低損耗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純玻璃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極平整、半導體級微細線路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B3D8-A65A-8DC3-8125-3CF44F128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06C11EF-5DF2-9D2F-8C51-7239C10B2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9910A7-45D7-E240-8ACE-A65E4F59C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引發的趨勢討論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7B77A-B900-F0BB-5F92-0973EEDC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66016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5.sv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4.svg"/><Relationship Id="rId4" Type="http://schemas.openxmlformats.org/officeDocument/2006/relationships/image" Target="../media/image6.svg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D5C_E5DE535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98598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Overview of AI Trends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(Trend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of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Cloud Service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and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Edge AI)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(LLM + RAG +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Frameworks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+ Future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(..)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24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Architecture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Multi Modal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-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2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2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378859" y="1350188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 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378859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171916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Supervised 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 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315932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5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Human involvement with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 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1991502" y="916027"/>
            <a:ext cx="188816" cy="341409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1495204" y="2087474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2604355" y="2763254"/>
            <a:ext cx="153043" cy="2952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2234904" y="3739897"/>
            <a:ext cx="1558056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C0447A7-CE70-FFDF-04DF-AACA4B272492}"/>
              </a:ext>
            </a:extLst>
          </p:cNvPr>
          <p:cNvSpPr txBox="1">
            <a:spLocks/>
          </p:cNvSpPr>
          <p:nvPr/>
        </p:nvSpPr>
        <p:spPr>
          <a:xfrm>
            <a:off x="3509863" y="943565"/>
            <a:ext cx="2736304" cy="1170071"/>
          </a:xfrm>
          <a:prstGeom prst="rect">
            <a:avLst/>
          </a:prstGeom>
        </p:spPr>
        <p:txBody>
          <a:bodyPr wrap="none" lIns="91440" tIns="0" rIns="0" bIns="0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zh-TW" sz="12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  <a:p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Emergent Abilities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0ECD3BCB-5C39-0BFD-A8C9-3484AF9790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445244"/>
              </p:ext>
            </p:extLst>
          </p:nvPr>
        </p:nvGraphicFramePr>
        <p:xfrm>
          <a:off x="5082098" y="113334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Parameters in 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Attentions: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FFN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Weights: A, U, D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Vocabulary Embedding Table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Matrix: R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dx16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LLMs integrate and share data with external tools, systems, and data sources?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390251" y="4416991"/>
            <a:ext cx="1440160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2164369" y="4416991"/>
            <a:ext cx="1440160" cy="756316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3918643" y="4416991"/>
            <a:ext cx="1440160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1830411" y="4795149"/>
            <a:ext cx="333958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3604529" y="4795149"/>
            <a:ext cx="31411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8FE94E1-DE20-B25D-2B84-343319FC54D1}"/>
              </a:ext>
            </a:extLst>
          </p:cNvPr>
          <p:cNvSpPr txBox="1"/>
          <p:nvPr/>
        </p:nvSpPr>
        <p:spPr>
          <a:xfrm>
            <a:off x="390252" y="5308318"/>
            <a:ext cx="1440160" cy="1145018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enables systems to tore and recall information.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50A5478-C51E-7690-230E-9B8B84582DDB}"/>
              </a:ext>
            </a:extLst>
          </p:cNvPr>
          <p:cNvSpPr txBox="1"/>
          <p:nvPr/>
        </p:nvSpPr>
        <p:spPr>
          <a:xfrm>
            <a:off x="2164369" y="5300517"/>
            <a:ext cx="1440160" cy="11528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works by storing information in vector databases for efficient recall ...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6799DB-313D-0A2A-26B2-36DF1C9474B3}"/>
              </a:ext>
            </a:extLst>
          </p:cNvPr>
          <p:cNvSpPr txBox="1"/>
          <p:nvPr/>
        </p:nvSpPr>
        <p:spPr>
          <a:xfrm>
            <a:off x="3918643" y="5308317"/>
            <a:ext cx="1440160" cy="11450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Create a report of Q1 sales data.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Report generated and saved to Google Drive. Here is the </a:t>
            </a:r>
            <a:r>
              <a:rPr lang="en-US" altLang="zh-TW" sz="1200" u="sng" dirty="0">
                <a:solidFill>
                  <a:schemeClr val="accent5">
                    <a:lumMod val="75000"/>
                  </a:schemeClr>
                </a:solidFill>
              </a:rPr>
              <a:t>download link</a:t>
            </a:r>
            <a:r>
              <a:rPr lang="en-US" altLang="zh-TW" sz="1200" dirty="0"/>
              <a:t>.</a:t>
            </a: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767810"/>
              </p:ext>
            </p:extLst>
          </p:nvPr>
        </p:nvGraphicFramePr>
        <p:xfrm>
          <a:off x="7181611" y="4094477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02550"/>
              </p:ext>
            </p:extLst>
          </p:nvPr>
        </p:nvGraphicFramePr>
        <p:xfrm>
          <a:off x="5972992" y="267528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Runtime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Reasoning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PLE: Dense 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9257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E70E9-59B0-0AE4-9AC1-6010B948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29D07EE-B055-65C4-2923-CB5F40B25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902848"/>
              </p:ext>
            </p:extLst>
          </p:nvPr>
        </p:nvGraphicFramePr>
        <p:xfrm>
          <a:off x="149678" y="5301208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AD8F2F6-B681-06D9-65BB-95E036E10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635596"/>
              </p:ext>
            </p:extLst>
          </p:nvPr>
        </p:nvGraphicFramePr>
        <p:xfrm>
          <a:off x="149678" y="285461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HuggingFace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 Transformer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86EBB9C-C627-7063-A55F-5AC28670B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389948"/>
              </p:ext>
            </p:extLst>
          </p:nvPr>
        </p:nvGraphicFramePr>
        <p:xfrm>
          <a:off x="149678" y="4015830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1E2A88FD-36C0-356D-D78E-15264982819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LMs integrate and share data with external tools, systems, and data sources?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61BF41E7-DEE5-3BE6-3671-5C327E6F9C2F}"/>
              </a:ext>
            </a:extLst>
          </p:cNvPr>
          <p:cNvSpPr/>
          <p:nvPr/>
        </p:nvSpPr>
        <p:spPr>
          <a:xfrm>
            <a:off x="8388424" y="326477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9DC5329-01E2-35A3-014E-EA9092C2A512}"/>
              </a:ext>
            </a:extLst>
          </p:cNvPr>
          <p:cNvSpPr txBox="1"/>
          <p:nvPr/>
        </p:nvSpPr>
        <p:spPr>
          <a:xfrm>
            <a:off x="1979712" y="2373445"/>
            <a:ext cx="1440160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BF8803-2CCB-204D-F535-E0C5C0217FAB}"/>
              </a:ext>
            </a:extLst>
          </p:cNvPr>
          <p:cNvSpPr txBox="1"/>
          <p:nvPr/>
        </p:nvSpPr>
        <p:spPr>
          <a:xfrm>
            <a:off x="3753830" y="2373445"/>
            <a:ext cx="1440160" cy="756316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0610877-2DEF-D81D-AA0A-2B47D671BCDD}"/>
              </a:ext>
            </a:extLst>
          </p:cNvPr>
          <p:cNvSpPr txBox="1"/>
          <p:nvPr/>
        </p:nvSpPr>
        <p:spPr>
          <a:xfrm>
            <a:off x="5508104" y="2373445"/>
            <a:ext cx="1440160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801ACF5-1B92-296E-C4DE-D27FCED11099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419872" y="2751603"/>
            <a:ext cx="333958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E8EF8017-2626-927E-0F64-133D5B1C295E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5193990" y="2751603"/>
            <a:ext cx="31411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標題 1">
            <a:extLst>
              <a:ext uri="{FF2B5EF4-FFF2-40B4-BE49-F238E27FC236}">
                <a16:creationId xmlns:a16="http://schemas.microsoft.com/office/drawing/2014/main" id="{FDABF47D-145E-8453-E1C7-B002CCB1212A}"/>
              </a:ext>
            </a:extLst>
          </p:cNvPr>
          <p:cNvSpPr txBox="1">
            <a:spLocks/>
          </p:cNvSpPr>
          <p:nvPr/>
        </p:nvSpPr>
        <p:spPr>
          <a:xfrm>
            <a:off x="1833552" y="1802518"/>
            <a:ext cx="3840556" cy="52590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The 3-Layer Architecture for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Building Smarter, More Reliable AI Agents.</a:t>
            </a:r>
            <a:endParaRPr lang="en-US" altLang="zh-TW" sz="12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3A37B5D-E84D-81F8-6EE6-6B9B8ECDD053}"/>
              </a:ext>
            </a:extLst>
          </p:cNvPr>
          <p:cNvSpPr txBox="1"/>
          <p:nvPr/>
        </p:nvSpPr>
        <p:spPr>
          <a:xfrm>
            <a:off x="1979713" y="3264772"/>
            <a:ext cx="1440160" cy="1145018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enables systems to tore and recall information.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E1894B7-DDC4-03E8-92B1-3E85B45F1B84}"/>
              </a:ext>
            </a:extLst>
          </p:cNvPr>
          <p:cNvSpPr txBox="1"/>
          <p:nvPr/>
        </p:nvSpPr>
        <p:spPr>
          <a:xfrm>
            <a:off x="3753830" y="3256971"/>
            <a:ext cx="1440160" cy="11528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works by storing information in vector databases for efficient recall ...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D619E97-14AB-9CFF-B979-ABEBD942C9EC}"/>
              </a:ext>
            </a:extLst>
          </p:cNvPr>
          <p:cNvSpPr txBox="1"/>
          <p:nvPr/>
        </p:nvSpPr>
        <p:spPr>
          <a:xfrm>
            <a:off x="5508104" y="3264771"/>
            <a:ext cx="1440160" cy="11450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Create a report of Q1 sales data.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Report generated and saved to Google Drive. Here is the </a:t>
            </a:r>
            <a:r>
              <a:rPr lang="en-US" altLang="zh-TW" sz="1200" u="sng" dirty="0">
                <a:solidFill>
                  <a:schemeClr val="accent5">
                    <a:lumMod val="75000"/>
                  </a:schemeClr>
                </a:solidFill>
              </a:rPr>
              <a:t>download link</a:t>
            </a:r>
            <a:r>
              <a:rPr lang="en-US" altLang="zh-TW" sz="1200" dirty="0"/>
              <a:t>.</a:t>
            </a: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9AF32B7-07D8-C341-3730-EE282EDAB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718056"/>
              </p:ext>
            </p:extLst>
          </p:nvPr>
        </p:nvGraphicFramePr>
        <p:xfrm>
          <a:off x="3656509" y="4869160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999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zh-TW" altLang="zh-TW" sz="1600" b="1" dirty="0"/>
              <a:t>Chunking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Vector Database</a:t>
            </a:r>
            <a:r>
              <a:rPr lang="en-US" altLang="zh-TW" sz="1600" b="0" u="none" strike="noStrike" dirty="0">
                <a:effectLst/>
              </a:rPr>
              <a:t>:.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Retrieval</a:t>
            </a:r>
            <a:r>
              <a:rPr lang="en-US" altLang="zh-TW" sz="1600" dirty="0"/>
              <a:t>: xx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12D2DAB-D089-704F-F695-06696E5AD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009" y="4091741"/>
            <a:ext cx="4785001" cy="27561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C6F9CF84-20AB-1715-917D-FB3A3D816545}"/>
              </a:ext>
            </a:extLst>
          </p:cNvPr>
          <p:cNvSpPr txBox="1"/>
          <p:nvPr/>
        </p:nvSpPr>
        <p:spPr>
          <a:xfrm>
            <a:off x="3743070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A2A7C74-C46E-C4F3-5F99-5FE71AB7084E}"/>
              </a:ext>
            </a:extLst>
          </p:cNvPr>
          <p:cNvSpPr/>
          <p:nvPr/>
        </p:nvSpPr>
        <p:spPr>
          <a:xfrm>
            <a:off x="3990257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29D1D82-D72A-F951-FDD0-A73830160E46}"/>
              </a:ext>
            </a:extLst>
          </p:cNvPr>
          <p:cNvSpPr txBox="1"/>
          <p:nvPr/>
        </p:nvSpPr>
        <p:spPr>
          <a:xfrm>
            <a:off x="3946996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85675952-78AE-F289-26D3-B31CA038D8A3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4355537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17984D2-C6EE-04FF-8B3E-FFD3B21574ED}"/>
              </a:ext>
            </a:extLst>
          </p:cNvPr>
          <p:cNvSpPr/>
          <p:nvPr/>
        </p:nvSpPr>
        <p:spPr>
          <a:xfrm>
            <a:off x="4859399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C983396-819F-DCE1-B456-3DEA1B766E04}"/>
              </a:ext>
            </a:extLst>
          </p:cNvPr>
          <p:cNvSpPr/>
          <p:nvPr/>
        </p:nvSpPr>
        <p:spPr>
          <a:xfrm>
            <a:off x="4859399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FDF88FEC-FE1E-AB9F-886B-27AF1B9E7F1C}"/>
              </a:ext>
            </a:extLst>
          </p:cNvPr>
          <p:cNvSpPr/>
          <p:nvPr/>
        </p:nvSpPr>
        <p:spPr>
          <a:xfrm>
            <a:off x="4859399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13" name="圖形 12" descr="科學思想 以實心填滿">
            <a:extLst>
              <a:ext uri="{FF2B5EF4-FFF2-40B4-BE49-F238E27FC236}">
                <a16:creationId xmlns:a16="http://schemas.microsoft.com/office/drawing/2014/main" id="{0CFDDD6F-2AE7-949B-3EF3-D52190555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67985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10" idx="1"/>
            <a:endCxn id="20" idx="0"/>
          </p:cNvCxnSpPr>
          <p:nvPr/>
        </p:nvCxnSpPr>
        <p:spPr>
          <a:xfrm rot="10800000">
            <a:off x="2253519" y="2108845"/>
            <a:ext cx="2605880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DB8634B-D7E0-2959-B9D2-9AE7BFA1E965}"/>
              </a:ext>
            </a:extLst>
          </p:cNvPr>
          <p:cNvSpPr txBox="1"/>
          <p:nvPr/>
        </p:nvSpPr>
        <p:spPr>
          <a:xfrm>
            <a:off x="2771759" y="1917848"/>
            <a:ext cx="454270" cy="35320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T=? </a:t>
            </a: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u="none" strike="noStrike" dirty="0">
              <a:solidFill>
                <a:schemeClr val="accent5">
                  <a:lumMod val="75000"/>
                </a:schemeClr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20</a:t>
            </a:r>
            <a:r>
              <a:rPr lang="zh-TW" altLang="en-US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u="none" strike="noStrike" dirty="0">
              <a:solidFill>
                <a:schemeClr val="accent5">
                  <a:lumMod val="75000"/>
                </a:schemeClr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stCxn id="13" idx="1"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.. .s.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14EDAF46-7C60-B24B-8F80-E237E000DCC0}"/>
              </a:ext>
            </a:extLst>
          </p:cNvPr>
          <p:cNvSpPr txBox="1"/>
          <p:nvPr/>
        </p:nvSpPr>
        <p:spPr>
          <a:xfrm>
            <a:off x="770901" y="5570603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F4C778D-1FFF-0FAF-A559-B43E9DEA137C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43070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3990257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46996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55537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4E5935D8-6E03-B021-5C75-9C2435713D8E}"/>
              </a:ext>
            </a:extLst>
          </p:cNvPr>
          <p:cNvSpPr txBox="1"/>
          <p:nvPr/>
        </p:nvSpPr>
        <p:spPr>
          <a:xfrm>
            <a:off x="642837" y="5661883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63325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4652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36634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839288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8" idx="3"/>
          </p:cNvCxnSpPr>
          <p:nvPr/>
        </p:nvCxnSpPr>
        <p:spPr>
          <a:xfrm flipH="1" flipV="1">
            <a:off x="7416633" y="2220502"/>
            <a:ext cx="538019" cy="182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488637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520001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488641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File</a:t>
            </a:r>
            <a:endParaRPr lang="en-US" altLang="zh-TW" sz="1000" dirty="0">
              <a:ea typeface="Meiryo" panose="020B0604030504040204" pitchFamily="34" charset="-128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Systems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546692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488641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054B0EA0-D11F-F5BE-9297-8232C7A04B38}"/>
              </a:ext>
            </a:extLst>
          </p:cNvPr>
          <p:cNvSpPr/>
          <p:nvPr/>
        </p:nvSpPr>
        <p:spPr>
          <a:xfrm>
            <a:off x="4859399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59399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59399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8" idx="1"/>
            <a:endCxn id="87" idx="3"/>
          </p:cNvCxnSpPr>
          <p:nvPr/>
        </p:nvCxnSpPr>
        <p:spPr>
          <a:xfrm flipH="1" flipV="1">
            <a:off x="5364088" y="2219159"/>
            <a:ext cx="1039088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364088" y="2869728"/>
            <a:ext cx="1039088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364088" y="3515302"/>
            <a:ext cx="1039088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CE3FA846-A45D-B90F-F9E8-764AD7B03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4593" y="5383728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67985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87" idx="1"/>
            <a:endCxn id="51" idx="0"/>
          </p:cNvCxnSpPr>
          <p:nvPr/>
        </p:nvCxnSpPr>
        <p:spPr>
          <a:xfrm rot="10800000">
            <a:off x="2253519" y="2108845"/>
            <a:ext cx="2605880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F79187C2-34AB-2BD1-681D-CE1204F4B46F}"/>
              </a:ext>
            </a:extLst>
          </p:cNvPr>
          <p:cNvSpPr txBox="1"/>
          <p:nvPr/>
        </p:nvSpPr>
        <p:spPr>
          <a:xfrm>
            <a:off x="2771759" y="1917848"/>
            <a:ext cx="454270" cy="35320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T=? </a:t>
            </a: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u="none" strike="noStrike" dirty="0">
              <a:solidFill>
                <a:schemeClr val="accent5">
                  <a:lumMod val="75000"/>
                </a:schemeClr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20</a:t>
            </a:r>
            <a:r>
              <a:rPr lang="zh-TW" altLang="en-US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u="none" strike="noStrike" dirty="0">
              <a:solidFill>
                <a:schemeClr val="accent5">
                  <a:lumMod val="75000"/>
                </a:schemeClr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Stack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in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81278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726963"/>
            <a:ext cx="1728192" cy="1192865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 err="1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Ollama</a:t>
            </a:r>
            <a:r>
              <a:rPr kumimoji="0" lang="en-US" altLang="zh-TW" sz="1200" b="0" i="0" u="none" strike="noStrike" kern="120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/ </a:t>
            </a:r>
            <a:r>
              <a:rPr kumimoji="0" lang="en-US" altLang="zh-TW" sz="1200" b="0" i="0" u="none" strike="noStrike" kern="1200" cap="none" spc="0" normalizeH="0" baseline="0" noProof="0" dirty="0" err="1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vLLM</a:t>
            </a:r>
            <a:endParaRPr kumimoji="0" lang="en-US" altLang="zh-TW" sz="1200" b="0" i="0" u="none" strike="noStrike" kern="120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89103"/>
              </p:ext>
            </p:extLst>
          </p:nvPr>
        </p:nvGraphicFramePr>
        <p:xfrm>
          <a:off x="506637" y="4653136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579700"/>
              </p:ext>
            </p:extLst>
          </p:nvPr>
        </p:nvGraphicFramePr>
        <p:xfrm>
          <a:off x="1610660" y="1124744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205" y="3345292"/>
            <a:ext cx="434378" cy="42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</a:t>
            </a:r>
            <a:r>
              <a:rPr kumimoji="0" lang="en-US" altLang="zh-TW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eXchange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585237"/>
              </p:ext>
            </p:extLst>
          </p:nvPr>
        </p:nvGraphicFramePr>
        <p:xfrm>
          <a:off x="351199" y="2708920"/>
          <a:ext cx="8225575" cy="3027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115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Parameter Efficient 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PEFT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Prompt </a:t>
            </a:r>
            <a:r>
              <a:rPr lang="en-US" altLang="zh-TW" sz="1600" b="1" dirty="0"/>
              <a:t>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B03788A-50E8-32DC-8B6B-DDBA58ACD7D0}"/>
              </a:ext>
            </a:extLst>
          </p:cNvPr>
          <p:cNvSpPr txBox="1"/>
          <p:nvPr/>
        </p:nvSpPr>
        <p:spPr>
          <a:xfrm>
            <a:off x="213023" y="2996952"/>
            <a:ext cx="85689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u="none" strike="noStrike" dirty="0">
                <a:effectLst/>
              </a:rPr>
              <a:t>Main Types of ML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Unsupervised</a:t>
            </a:r>
            <a:r>
              <a:rPr lang="en-US" altLang="zh-TW" sz="1600" b="0" u="none" strike="noStrike" dirty="0">
                <a:effectLst/>
              </a:rPr>
              <a:t>: Data is unlabeled, no pre-defined answers provided.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Reduction: PCA, t-SNE and UMAP.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Clustering: K-mean and GMM. 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Supervised</a:t>
            </a:r>
            <a:r>
              <a:rPr lang="en-US" altLang="zh-TW" sz="1600" dirty="0"/>
              <a:t>: Data is labeled, comes with the correct answers.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Semi-Supervised: When labels are expensive.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Medical Imaging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Self-Supervised: When Labels are Plentiful.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GPT-Pretraining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Reinforcement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28B88-7AA3-B71D-342A-4048CF7AF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208750D-5CFB-BEE0-D169-AA0C5A786D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Highlight 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0B217B1-5667-2E9A-3BCD-BE93A5D7F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241474"/>
              </p:ext>
            </p:extLst>
          </p:nvPr>
        </p:nvGraphicFramePr>
        <p:xfrm>
          <a:off x="6223642" y="2843644"/>
          <a:ext cx="2380806" cy="258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6365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4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4057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240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8018</Words>
  <Application>Microsoft Office PowerPoint</Application>
  <PresentationFormat>如螢幕大小 (4:3)</PresentationFormat>
  <Paragraphs>934</Paragraphs>
  <Slides>24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6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1595</cp:revision>
  <cp:lastPrinted>2024-07-30T01:44:15Z</cp:lastPrinted>
  <dcterms:created xsi:type="dcterms:W3CDTF">2019-11-08T03:01:47Z</dcterms:created>
  <dcterms:modified xsi:type="dcterms:W3CDTF">2026-06-27T13:49:50Z</dcterms:modified>
</cp:coreProperties>
</file>