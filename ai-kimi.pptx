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8"/>
  </p:notesMasterIdLst>
  <p:handoutMasterIdLst>
    <p:handoutMasterId r:id="rId29"/>
  </p:handoutMasterIdLst>
  <p:sldIdLst>
    <p:sldId id="3459" r:id="rId2"/>
    <p:sldId id="3472" r:id="rId3"/>
    <p:sldId id="3573" r:id="rId4"/>
    <p:sldId id="3465" r:id="rId5"/>
    <p:sldId id="3574" r:id="rId6"/>
    <p:sldId id="3566" r:id="rId7"/>
    <p:sldId id="3563" r:id="rId8"/>
    <p:sldId id="3562" r:id="rId9"/>
    <p:sldId id="3556" r:id="rId10"/>
    <p:sldId id="3551" r:id="rId11"/>
    <p:sldId id="3559" r:id="rId12"/>
    <p:sldId id="3570" r:id="rId13"/>
    <p:sldId id="3571" r:id="rId14"/>
    <p:sldId id="3572" r:id="rId15"/>
    <p:sldId id="3567" r:id="rId16"/>
    <p:sldId id="3568" r:id="rId17"/>
    <p:sldId id="3561" r:id="rId18"/>
    <p:sldId id="3534" r:id="rId19"/>
    <p:sldId id="3565" r:id="rId20"/>
    <p:sldId id="3451" r:id="rId21"/>
    <p:sldId id="3560" r:id="rId22"/>
    <p:sldId id="3564" r:id="rId23"/>
    <p:sldId id="3536" r:id="rId24"/>
    <p:sldId id="3569" r:id="rId25"/>
    <p:sldId id="3535" r:id="rId26"/>
    <p:sldId id="3549" r:id="rId27"/>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da" id="{30F6892D-1922-4A88-A82D-8CD0653C5411}">
          <p14:sldIdLst>
            <p14:sldId id="3459"/>
            <p14:sldId id="3472"/>
          </p14:sldIdLst>
        </p14:section>
        <p14:section name="LSTM" id="{EE40A592-26E0-44D5-B20C-08484E6740F4}">
          <p14:sldIdLst>
            <p14:sldId id="3573"/>
            <p14:sldId id="3465"/>
            <p14:sldId id="3574"/>
            <p14:sldId id="3566"/>
          </p14:sldIdLst>
        </p14:section>
        <p14:section name="Optimizer-MuON" id="{D96295E3-C59A-456D-AE59-C3D5699A4263}">
          <p14:sldIdLst>
            <p14:sldId id="3563"/>
            <p14:sldId id="3562"/>
            <p14:sldId id="3556"/>
            <p14:sldId id="3551"/>
          </p14:sldIdLst>
        </p14:section>
        <p14:section name="Moonshot-Kimi" id="{7C2BE5B2-C507-46C7-871E-C935EB653EC3}">
          <p14:sldIdLst>
            <p14:sldId id="3559"/>
            <p14:sldId id="3570"/>
            <p14:sldId id="3571"/>
            <p14:sldId id="3572"/>
            <p14:sldId id="3567"/>
            <p14:sldId id="3568"/>
            <p14:sldId id="3561"/>
            <p14:sldId id="3534"/>
            <p14:sldId id="3565"/>
            <p14:sldId id="3451"/>
            <p14:sldId id="3560"/>
            <p14:sldId id="3564"/>
            <p14:sldId id="3536"/>
            <p14:sldId id="3569"/>
          </p14:sldIdLst>
        </p14:section>
        <p14:section name="Conclusion" id="{D9E6914C-A73F-4176-B0F8-3F87EAC09119}">
          <p14:sldIdLst>
            <p14:sldId id="3535"/>
            <p14:sldId id="3549"/>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C203"/>
    <a:srgbClr val="FF9900"/>
    <a:srgbClr val="FDF3DB"/>
    <a:srgbClr val="2260DC"/>
    <a:srgbClr val="F0F0F0"/>
    <a:srgbClr val="F8D462"/>
    <a:srgbClr val="4C6BFF"/>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59738" autoAdjust="0"/>
  </p:normalViewPr>
  <p:slideViewPr>
    <p:cSldViewPr>
      <p:cViewPr varScale="1">
        <p:scale>
          <a:sx n="123" d="100"/>
          <a:sy n="123" d="100"/>
        </p:scale>
        <p:origin x="924" y="102"/>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8/10/relationships/authors" Targe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2026/9/1</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2026/9/1</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aitntnews.com/newDetail.html?newId=21495" TargetMode="External"/><Relationship Id="rId2" Type="http://schemas.openxmlformats.org/officeDocument/2006/relationships/slide" Target="../slides/slide6.xml"/><Relationship Id="rId1" Type="http://schemas.openxmlformats.org/officeDocument/2006/relationships/notesMaster" Target="../notesMasters/notesMaster1.xml"/><Relationship Id="rId4" Type="http://schemas.openxmlformats.org/officeDocument/2006/relationships/hyperlink" Target="https://hao.cnyes.com/post/262066" TargetMode="Externa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CAC8A5-7208-42FD-4AB1-69FB94E8C31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E50C716-EBED-7B37-B89E-FE33A365325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83A44D22-12E4-0B2B-0CE3-74F0B4E51A5B}"/>
              </a:ext>
            </a:extLst>
          </p:cNvPr>
          <p:cNvSpPr>
            <a:spLocks noGrp="1"/>
          </p:cNvSpPr>
          <p:nvPr>
            <p:ph type="body" idx="1"/>
          </p:nvPr>
        </p:nvSpPr>
        <p:spPr/>
        <p:txBody>
          <a:bodyPr/>
          <a:lstStyle/>
          <a:p>
            <a:r>
              <a:rPr lang="zh-TW" altLang="zh-TW" sz="1200" b="0" i="0" kern="1200" dirty="0">
                <a:solidFill>
                  <a:schemeClr val="tx1"/>
                </a:solidFill>
                <a:effectLst/>
                <a:latin typeface="+mn-lt"/>
                <a:ea typeface="+mn-ea"/>
                <a:cs typeface="+mn-cs"/>
              </a:rPr>
              <a:t>Practical applications</a:t>
            </a:r>
          </a:p>
          <a:p>
            <a:r>
              <a:rPr lang="zh-TW" altLang="zh-TW" sz="1200" b="0" i="0" kern="1200" dirty="0">
                <a:solidFill>
                  <a:schemeClr val="tx1"/>
                </a:solidFill>
                <a:effectLst/>
                <a:latin typeface="+mn-lt"/>
                <a:ea typeface="+mn-ea"/>
                <a:cs typeface="+mn-cs"/>
              </a:rPr>
              <a:t>LSTM networks find applications across various domains due to their capabilities to “remember” data. In language processing, they power tasks such as language translation, sentiment analysis, and text generation by understanding and predicting linguistic patterns. For time series forecasting, LSTM networks predict future trends in sequential data like stock prices and medical diagnostics. They also excel in speech recognition by converting spoken language into text and in video analysis by identifying objects and actions.</a:t>
            </a: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Conclusion</a:t>
            </a:r>
          </a:p>
          <a:p>
            <a:r>
              <a:rPr lang="zh-TW" altLang="zh-TW" sz="1200" b="0" i="0" kern="1200" dirty="0">
                <a:solidFill>
                  <a:schemeClr val="tx1"/>
                </a:solidFill>
                <a:effectLst/>
                <a:latin typeface="+mn-lt"/>
                <a:ea typeface="+mn-ea"/>
                <a:cs typeface="+mn-cs"/>
              </a:rPr>
              <a:t>In conclusion, LSTM networks represent an important method in deep learning, enabling machines to understand and predict patterns within sequential data effectively. As research progresses, LSTM networks are increasingly substituted by the dominant transformer architectures. </a:t>
            </a:r>
          </a:p>
          <a:p>
            <a:r>
              <a:rPr lang="zh-TW" altLang="zh-TW" sz="1200" b="0" i="0" kern="1200" dirty="0">
                <a:solidFill>
                  <a:schemeClr val="tx1"/>
                </a:solidFill>
                <a:effectLst/>
                <a:latin typeface="+mn-lt"/>
                <a:ea typeface="+mn-ea"/>
                <a:cs typeface="+mn-cs"/>
              </a:rPr>
              <a:t>Nevertheless, by leveraging the advanced architecture of LSTM networks and exploring bidirectional capabilities, researchers and practitioners can harness the power of deep learning to tackle complex challenges and unlock new opportunities in intelligent systems.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53B19BF4-B58A-E05F-89B6-8578AAFD9E4C}"/>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34364148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i="0" kern="1200" dirty="0">
                <a:solidFill>
                  <a:schemeClr val="tx1"/>
                </a:solidFill>
                <a:effectLst/>
                <a:latin typeface="+mn-lt"/>
                <a:ea typeface="+mn-ea"/>
                <a:cs typeface="+mn-cs"/>
              </a:rPr>
              <a:t>Practical applications</a:t>
            </a:r>
          </a:p>
          <a:p>
            <a:r>
              <a:rPr lang="zh-TW" altLang="zh-TW" sz="1200" b="0" i="0" kern="1200" dirty="0">
                <a:solidFill>
                  <a:schemeClr val="tx1"/>
                </a:solidFill>
                <a:effectLst/>
                <a:latin typeface="+mn-lt"/>
                <a:ea typeface="+mn-ea"/>
                <a:cs typeface="+mn-cs"/>
              </a:rPr>
              <a:t>LSTM networks find applications across various domains due to their capabilities to “remember” data. In language processing, they power tasks such as language translation, sentiment analysis, and text generation by understanding and predicting linguistic patterns. For time series forecasting, LSTM networks predict future trends in sequential data like stock prices and medical diagnostics. They also excel in speech recognition by converting spoken language into text and in video analysis by identifying objects and actions.</a:t>
            </a: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Conclusion</a:t>
            </a:r>
          </a:p>
          <a:p>
            <a:r>
              <a:rPr lang="zh-TW" altLang="zh-TW" sz="1200" b="0" i="0" kern="1200" dirty="0">
                <a:solidFill>
                  <a:schemeClr val="tx1"/>
                </a:solidFill>
                <a:effectLst/>
                <a:latin typeface="+mn-lt"/>
                <a:ea typeface="+mn-ea"/>
                <a:cs typeface="+mn-cs"/>
              </a:rPr>
              <a:t>In conclusion, LSTM networks represent an important method in deep learning, enabling machines to understand and predict patterns within sequential data effectively. As research progresses, LSTM networks are increasingly substituted by the dominant transformer architectures. </a:t>
            </a:r>
          </a:p>
          <a:p>
            <a:r>
              <a:rPr lang="zh-TW" altLang="zh-TW" sz="1200" b="0" i="0" kern="1200" dirty="0">
                <a:solidFill>
                  <a:schemeClr val="tx1"/>
                </a:solidFill>
                <a:effectLst/>
                <a:latin typeface="+mn-lt"/>
                <a:ea typeface="+mn-ea"/>
                <a:cs typeface="+mn-cs"/>
              </a:rPr>
              <a:t>Nevertheless, by leveraging the advanced architecture of LSTM networks and exploring bidirectional capabilities, researchers and practitioners can harness the power of deep learning to tackle complex challenges and unlock new opportunities in intelligent systems.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0B52B-AE4C-4051-C3F5-0DE813B4CE9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8850CCC-3A19-9090-B62D-D6F6158F0B4B}"/>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0644453-D979-7592-6351-6937AA22A0DF}"/>
              </a:ext>
            </a:extLst>
          </p:cNvPr>
          <p:cNvSpPr>
            <a:spLocks noGrp="1"/>
          </p:cNvSpPr>
          <p:nvPr>
            <p:ph type="body" idx="1"/>
          </p:nvPr>
        </p:nvSpPr>
        <p:spPr/>
        <p:txBody>
          <a:bodyPr/>
          <a:lstStyle/>
          <a:p>
            <a:r>
              <a:rPr lang="zh-TW" altLang="zh-TW" sz="1200" b="0" i="0" kern="1200" dirty="0">
                <a:solidFill>
                  <a:schemeClr val="tx1"/>
                </a:solidFill>
                <a:effectLst/>
                <a:latin typeface="+mn-lt"/>
                <a:ea typeface="+mn-ea"/>
                <a:cs typeface="+mn-cs"/>
              </a:rPr>
              <a:t>Practical applications</a:t>
            </a:r>
          </a:p>
          <a:p>
            <a:r>
              <a:rPr lang="zh-TW" altLang="zh-TW" sz="1200" b="0" i="0" kern="1200" dirty="0">
                <a:solidFill>
                  <a:schemeClr val="tx1"/>
                </a:solidFill>
                <a:effectLst/>
                <a:latin typeface="+mn-lt"/>
                <a:ea typeface="+mn-ea"/>
                <a:cs typeface="+mn-cs"/>
              </a:rPr>
              <a:t>LSTM networks find applications across various domains due to their capabilities to “remember” data. In language processing, they power tasks such as language translation, sentiment analysis, and text generation by understanding and predicting linguistic patterns. For time series forecasting, LSTM networks predict future trends in sequential data like stock prices and medical diagnostics. They also excel in speech recognition by converting spoken language into text and in video analysis by identifying objects and actions.</a:t>
            </a: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Conclusion</a:t>
            </a:r>
          </a:p>
          <a:p>
            <a:r>
              <a:rPr lang="zh-TW" altLang="zh-TW" sz="1200" b="0" i="0" kern="1200" dirty="0">
                <a:solidFill>
                  <a:schemeClr val="tx1"/>
                </a:solidFill>
                <a:effectLst/>
                <a:latin typeface="+mn-lt"/>
                <a:ea typeface="+mn-ea"/>
                <a:cs typeface="+mn-cs"/>
              </a:rPr>
              <a:t>In conclusion, LSTM networks represent an important method in deep learning, enabling machines to understand and predict patterns within sequential data effectively. As research progresses, LSTM networks are increasingly substituted by the dominant transformer architectures. </a:t>
            </a:r>
          </a:p>
          <a:p>
            <a:r>
              <a:rPr lang="zh-TW" altLang="zh-TW" sz="1200" b="0" i="0" kern="1200" dirty="0">
                <a:solidFill>
                  <a:schemeClr val="tx1"/>
                </a:solidFill>
                <a:effectLst/>
                <a:latin typeface="+mn-lt"/>
                <a:ea typeface="+mn-ea"/>
                <a:cs typeface="+mn-cs"/>
              </a:rPr>
              <a:t>Nevertheless, by leveraging the advanced architecture of LSTM networks and exploring bidirectional capabilities, researchers and practitioners can harness the power of deep learning to tackle complex challenges and unlock new opportunities in intelligent systems.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95DC47D7-CF20-0354-B2A3-FE46E998FD7E}"/>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15428810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Kimi（月之暗面團隊）的大模型架構與傳統的 </a:t>
            </a:r>
            <a:r>
              <a:rPr lang="zh-TW" altLang="zh-TW" sz="1200" b="1" u="none" strike="noStrike" kern="1200" dirty="0">
                <a:solidFill>
                  <a:schemeClr val="tx1"/>
                </a:solidFill>
                <a:effectLst/>
                <a:latin typeface="+mn-lt"/>
                <a:ea typeface="+mn-ea"/>
                <a:cs typeface="+mn-cs"/>
              </a:rPr>
              <a:t>LSTM（長短期記憶網路）</a:t>
            </a:r>
            <a:r>
              <a:rPr lang="zh-TW" altLang="zh-TW" sz="1200" b="0" u="none" strike="noStrike" kern="1200" dirty="0">
                <a:solidFill>
                  <a:schemeClr val="tx1"/>
                </a:solidFill>
                <a:effectLst/>
                <a:latin typeface="+mn-lt"/>
                <a:ea typeface="+mn-ea"/>
                <a:cs typeface="+mn-cs"/>
              </a:rPr>
              <a:t> 之間，存在著深刻的</a:t>
            </a:r>
            <a:r>
              <a:rPr lang="zh-TW" altLang="zh-TW" sz="1200" b="1" u="none" strike="noStrike" kern="1200" dirty="0">
                <a:solidFill>
                  <a:schemeClr val="tx1"/>
                </a:solidFill>
                <a:effectLst/>
                <a:latin typeface="+mn-lt"/>
                <a:ea typeface="+mn-ea"/>
                <a:cs typeface="+mn-cs"/>
              </a:rPr>
              <a:t>技術演進與「旋轉」概念的傳承</a:t>
            </a:r>
            <a:r>
              <a:rPr lang="zh-TW" altLang="zh-TW" sz="1200" b="0" u="none" strike="noStrike" kern="1200" dirty="0">
                <a:solidFill>
                  <a:schemeClr val="tx1"/>
                </a:solidFill>
                <a:effectLst/>
                <a:latin typeface="+mn-lt"/>
                <a:ea typeface="+mn-ea"/>
                <a:cs typeface="+mn-cs"/>
              </a:rPr>
              <a:t>關係。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在早期，處理序列資料主要依賴像 LSTM 這樣的循環神經網絡</a:t>
            </a:r>
            <a:r>
              <a:rPr lang="en-US" altLang="zh-TW" sz="1200" b="0" u="none" strike="noStrike" kern="1200" dirty="0">
                <a:solidFill>
                  <a:schemeClr val="tx1"/>
                </a:solidFill>
                <a:effectLst/>
                <a:latin typeface="+mn-lt"/>
                <a:ea typeface="+mn-ea"/>
                <a:cs typeface="+mn-cs"/>
              </a:rPr>
              <a:t>(RNN)</a:t>
            </a:r>
            <a:r>
              <a:rPr lang="zh-TW" altLang="zh-TW" sz="1200" b="0" u="none" strike="noStrike" kern="1200" dirty="0">
                <a:solidFill>
                  <a:schemeClr val="tx1"/>
                </a:solidFill>
                <a:effectLst/>
                <a:latin typeface="+mn-lt"/>
                <a:ea typeface="+mn-ea"/>
                <a:cs typeface="+mn-cs"/>
              </a:rPr>
              <a:t>，但它必須像單行道一樣依序排隊處理，速度較慢且容易遺忘長文本。後來以 Transformer 為主的「注意力機制</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Attention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」成為主流。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而 Kimi 團隊在近年</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Kimi Linear 與 KDA 等新架構研究</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對底層技術進行突破時，借鑒並延伸了 LSTM 的核心精神</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pPr lvl="0"/>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將概念「旋轉 90 度」</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OpenAI 創辦人</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Ilya Sutskever 曾提出設想，把按時間序列處理資料的 LSTM「旋轉 90 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將時間軸換成深度軸</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就會變成殘差網路</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ResNet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Kimi 團隊進一步思考：既然時間上的 LSTM 能對應深度上的殘差，那注意力機制也可以如法炮製，推出 </a:t>
            </a:r>
            <a:r>
              <a:rPr lang="zh-TW" altLang="zh-TW" sz="1200" b="1" u="none" strike="noStrike" kern="1200" dirty="0">
                <a:solidFill>
                  <a:schemeClr val="tx1"/>
                </a:solidFill>
                <a:effectLst/>
                <a:latin typeface="+mn-lt"/>
                <a:ea typeface="+mn-ea"/>
                <a:cs typeface="+mn-cs"/>
              </a:rPr>
              <a:t>Attention Residuals（注意力殘差）</a:t>
            </a:r>
            <a:r>
              <a:rPr lang="zh-TW" altLang="zh-TW" sz="1200" b="0" u="none" strike="noStrike" kern="1200" dirty="0">
                <a:solidFill>
                  <a:schemeClr val="tx1"/>
                </a:solidFill>
                <a:effectLst/>
                <a:latin typeface="+mn-lt"/>
                <a:ea typeface="+mn-ea"/>
                <a:cs typeface="+mn-cs"/>
              </a:rPr>
              <a:t> 等技術，讓模型在深度方向也能像 LSTM 處理上下文一樣「回頭看」。 </a:t>
            </a:r>
          </a:p>
          <a:p>
            <a:pPr lvl="0"/>
            <a:endParaRPr lang="en-US" altLang="zh-TW" sz="1200" b="1" u="none" strike="noStrike" kern="1200" dirty="0">
              <a:solidFill>
                <a:schemeClr val="tx1"/>
              </a:solidFill>
              <a:effectLst/>
              <a:latin typeface="+mn-lt"/>
              <a:ea typeface="+mn-ea"/>
              <a:cs typeface="+mn-cs"/>
            </a:endParaRPr>
          </a:p>
          <a:p>
            <a:pPr lvl="0"/>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借鏡遺忘門與記憶衰減</a:t>
            </a:r>
            <a:r>
              <a:rPr lang="zh-TW" altLang="zh-TW" sz="1200" b="0" u="none" strike="noStrike" kern="1200" dirty="0">
                <a:solidFill>
                  <a:schemeClr val="tx1"/>
                </a:solidFill>
                <a:effectLst/>
                <a:latin typeface="+mn-lt"/>
                <a:ea typeface="+mn-ea"/>
                <a:cs typeface="+mn-cs"/>
              </a:rPr>
              <a:t>：在 Kimi 的新型線性注意力機制與記憶架構（如 Kimi Linear/KDA 演算法）中，為了在超長文本（如百萬級上下文）中兼顧速度與記憶能力，他們引入了類似 LSTM「遺忘門（Forget Gate）」的概念，將權重衰減擴展為更精細的對角化矩陣，用來精準控制過去的資訊或記憶要保留多久、何時淡出。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2</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簡單來說，Kimi 並非直接使用古老的 LSTM 來建構現今的千億級大模型，而是</a:t>
            </a:r>
            <a:r>
              <a:rPr lang="zh-TW" altLang="zh-TW" sz="1200" b="1" u="none" strike="noStrike" kern="1200" dirty="0">
                <a:solidFill>
                  <a:schemeClr val="tx1"/>
                </a:solidFill>
                <a:effectLst/>
                <a:latin typeface="+mn-lt"/>
                <a:ea typeface="+mn-ea"/>
                <a:cs typeface="+mn-cs"/>
              </a:rPr>
              <a:t>從 LSTM 的「門控與記憶衰減」機制中汲取靈感</a:t>
            </a:r>
            <a:r>
              <a:rPr lang="zh-TW" altLang="zh-TW" sz="1200" b="0" u="none" strike="noStrike" kern="1200" dirty="0">
                <a:solidFill>
                  <a:schemeClr val="tx1"/>
                </a:solidFill>
                <a:effectLst/>
                <a:latin typeface="+mn-lt"/>
                <a:ea typeface="+mn-ea"/>
                <a:cs typeface="+mn-cs"/>
              </a:rPr>
              <a:t>，將其與現代的注意力機制結合，改良並創造出能高效處理超長文本的新一代線性架構。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7841480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E1B50-36C2-3AAC-6195-6D6290F49DE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4C3EB0F-8828-273B-A955-F1294176FE8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4844179-B599-DDBE-54BC-B8D96AEF4A45}"/>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a:t>
            </a:r>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EDF9E040-D292-65E0-F09A-F6C500D2C282}"/>
              </a:ext>
            </a:extLst>
          </p:cNvPr>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1996536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CEB95-4B28-36E7-87CA-1F30261B4E5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C62F1D8-6DF7-73D8-C9BE-87163917B31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B09A24C-06FD-8BD3-CE5A-4D77584C67AC}"/>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C5A4A188-00BE-20FA-2048-87C75C2A4CBE}"/>
              </a:ext>
            </a:extLst>
          </p:cNvPr>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7669987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dirty="0"/>
              <a:t>1.</a:t>
            </a:r>
            <a:r>
              <a:rPr lang="zh-TW" altLang="en-US" dirty="0"/>
              <a:t> </a:t>
            </a:r>
            <a:r>
              <a:rPr lang="en-US" altLang="zh-TW" dirty="0"/>
              <a:t>token</a:t>
            </a:r>
            <a:r>
              <a:rPr lang="zh-TW" altLang="en-US" dirty="0"/>
              <a:t>效率</a:t>
            </a:r>
            <a:r>
              <a:rPr lang="en-US" altLang="zh-TW" dirty="0">
                <a:sym typeface="Wingdings" panose="05000000000000000000" pitchFamily="2" charset="2"/>
              </a:rPr>
              <a:t></a:t>
            </a:r>
            <a:r>
              <a:rPr lang="zh-TW" altLang="en-US" dirty="0">
                <a:sym typeface="Wingdings" panose="05000000000000000000" pitchFamily="2" charset="2"/>
              </a:rPr>
              <a:t> </a:t>
            </a:r>
            <a:r>
              <a:rPr lang="zh-TW" altLang="en-US" dirty="0"/>
              <a:t>更強的先驗知識</a:t>
            </a:r>
            <a:r>
              <a:rPr lang="en-US" altLang="zh-TW" dirty="0"/>
              <a:t>,</a:t>
            </a:r>
            <a:r>
              <a:rPr lang="zh-TW" altLang="en-US" dirty="0"/>
              <a:t> 讓智能體在做</a:t>
            </a:r>
            <a:r>
              <a:rPr lang="en-US" altLang="zh-TW" dirty="0"/>
              <a:t>RLHF</a:t>
            </a:r>
            <a:r>
              <a:rPr lang="zh-TW" altLang="en-US" dirty="0"/>
              <a:t>時</a:t>
            </a:r>
            <a:r>
              <a:rPr lang="en-US" altLang="zh-TW" dirty="0"/>
              <a:t>,</a:t>
            </a:r>
            <a:r>
              <a:rPr lang="zh-TW" altLang="en-US" dirty="0"/>
              <a:t>能更有效率的搜尋答案</a:t>
            </a:r>
            <a:endParaRPr lang="en-US" altLang="zh-TW" dirty="0"/>
          </a:p>
          <a:p>
            <a:r>
              <a:rPr lang="en-US" altLang="zh-TW" dirty="0"/>
              <a:t>2.</a:t>
            </a:r>
            <a:r>
              <a:rPr lang="zh-TW" altLang="en-US" dirty="0"/>
              <a:t> 長上下文</a:t>
            </a:r>
            <a:r>
              <a:rPr lang="en-US" altLang="zh-TW" dirty="0">
                <a:sym typeface="Wingdings" panose="05000000000000000000" pitchFamily="2" charset="2"/>
              </a:rPr>
              <a:t></a:t>
            </a:r>
            <a:r>
              <a:rPr lang="zh-TW" altLang="en-US" dirty="0">
                <a:sym typeface="Wingdings" panose="05000000000000000000" pitchFamily="2" charset="2"/>
              </a:rPr>
              <a:t> 能持續運作更久的</a:t>
            </a:r>
            <a:r>
              <a:rPr lang="en-US" altLang="zh-TW" dirty="0">
                <a:sym typeface="Wingdings" panose="05000000000000000000" pitchFamily="2" charset="2"/>
              </a:rPr>
              <a:t>Agent, </a:t>
            </a:r>
            <a:r>
              <a:rPr lang="zh-TW" altLang="en-US" dirty="0">
                <a:sym typeface="Wingdings" panose="05000000000000000000" pitchFamily="2" charset="2"/>
              </a:rPr>
              <a:t>能連續執行幾個月</a:t>
            </a:r>
            <a:r>
              <a:rPr lang="en-US" altLang="zh-TW" dirty="0">
                <a:sym typeface="Wingdings" panose="05000000000000000000" pitchFamily="2" charset="2"/>
              </a:rPr>
              <a:t>,</a:t>
            </a:r>
            <a:r>
              <a:rPr lang="zh-TW" altLang="en-US" dirty="0">
                <a:sym typeface="Wingdings" panose="05000000000000000000" pitchFamily="2" charset="2"/>
              </a:rPr>
              <a:t> 完成複雜任務</a:t>
            </a:r>
            <a:r>
              <a:rPr lang="en-US" altLang="zh-TW" dirty="0">
                <a:sym typeface="Wingdings" panose="05000000000000000000" pitchFamily="2" charset="2"/>
              </a:rPr>
              <a:t>.</a:t>
            </a:r>
          </a:p>
          <a:p>
            <a:r>
              <a:rPr lang="en-US" altLang="zh-TW" dirty="0">
                <a:sym typeface="Wingdings" panose="05000000000000000000" pitchFamily="2" charset="2"/>
              </a:rPr>
              <a:t>3.</a:t>
            </a:r>
            <a:r>
              <a:rPr lang="zh-TW" altLang="en-US" dirty="0">
                <a:sym typeface="Wingdings" panose="05000000000000000000" pitchFamily="2" charset="2"/>
              </a:rPr>
              <a:t> </a:t>
            </a:r>
            <a:r>
              <a:rPr lang="en-US" altLang="zh-TW" dirty="0">
                <a:sym typeface="Wingdings" panose="05000000000000000000" pitchFamily="2" charset="2"/>
              </a:rPr>
              <a:t>Agent</a:t>
            </a:r>
            <a:r>
              <a:rPr lang="zh-TW" altLang="en-US" dirty="0">
                <a:sym typeface="Wingdings" panose="05000000000000000000" pitchFamily="2" charset="2"/>
              </a:rPr>
              <a:t>蜂群</a:t>
            </a:r>
            <a:r>
              <a:rPr lang="en-US" altLang="zh-TW" dirty="0">
                <a:sym typeface="Wingdings" panose="05000000000000000000" pitchFamily="2" charset="2"/>
              </a:rPr>
              <a:t></a:t>
            </a:r>
            <a:r>
              <a:rPr lang="zh-TW" altLang="en-US" dirty="0">
                <a:sym typeface="Wingdings" panose="05000000000000000000" pitchFamily="2" charset="2"/>
              </a:rPr>
              <a:t> 疊加前兩者</a:t>
            </a:r>
            <a:r>
              <a:rPr lang="en-US" altLang="zh-TW" dirty="0">
                <a:sym typeface="Wingdings" panose="05000000000000000000" pitchFamily="2" charset="2"/>
              </a:rPr>
              <a:t>.</a:t>
            </a:r>
          </a:p>
          <a:p>
            <a:endParaRPr lang="en-US" altLang="zh-TW" dirty="0">
              <a:sym typeface="Wingdings" panose="05000000000000000000" pitchFamily="2" charset="2"/>
            </a:endParaRPr>
          </a:p>
          <a:p>
            <a:r>
              <a:rPr lang="zh-TW" altLang="en-US" dirty="0"/>
              <a:t>一、 </a:t>
            </a:r>
            <a:r>
              <a:rPr lang="en-US" altLang="zh-TW" dirty="0"/>
              <a:t>Kimi </a:t>
            </a:r>
            <a:r>
              <a:rPr lang="zh-TW" altLang="en-US" dirty="0"/>
              <a:t>的「三板斧」策略</a:t>
            </a:r>
          </a:p>
          <a:p>
            <a:r>
              <a:rPr lang="zh-TW" altLang="en-US" dirty="0"/>
              <a:t>很多大模型只會硬砸錢、堆機器、瘋狂吞資料。但月之暗面（</a:t>
            </a:r>
            <a:r>
              <a:rPr lang="en-US" altLang="zh-TW" dirty="0"/>
              <a:t>Moonshot</a:t>
            </a:r>
            <a:r>
              <a:rPr lang="zh-TW" altLang="en-US" dirty="0"/>
              <a:t>）創辦人楊植麟認為，光靠硬砸不行，得在三個維度上搞創新：</a:t>
            </a:r>
          </a:p>
          <a:p>
            <a:r>
              <a:rPr lang="zh-TW" altLang="en-US" dirty="0"/>
              <a:t>* 讓每一字（</a:t>
            </a:r>
            <a:r>
              <a:rPr lang="en-US" altLang="zh-TW" dirty="0"/>
              <a:t>Token</a:t>
            </a:r>
            <a:r>
              <a:rPr lang="zh-TW" altLang="en-US" dirty="0"/>
              <a:t>）更值錢：不靠乾嗑數據，而是換更好的“發動機”，用同樣的數據練出更聰明的模型。 </a:t>
            </a:r>
          </a:p>
          <a:p>
            <a:r>
              <a:rPr lang="zh-TW" altLang="en-US" dirty="0"/>
              <a:t>* 把記憶拉得極長：讓 </a:t>
            </a:r>
            <a:r>
              <a:rPr lang="en-US" altLang="zh-TW" dirty="0"/>
              <a:t>AI </a:t>
            </a:r>
            <a:r>
              <a:rPr lang="zh-TW" altLang="en-US" dirty="0"/>
              <a:t>能連續工作幾天甚至幾個月，能一口氣讀懂一整個軟體程式碼庫。 </a:t>
            </a:r>
          </a:p>
          <a:p>
            <a:pPr marL="0" indent="0">
              <a:buFont typeface="Arial" panose="020B0604020202020204" pitchFamily="34" charset="0"/>
              <a:buNone/>
            </a:pPr>
            <a:r>
              <a:rPr lang="en-US" altLang="zh-TW" dirty="0"/>
              <a:t>* </a:t>
            </a:r>
            <a:r>
              <a:rPr lang="zh-TW" altLang="en-US" dirty="0"/>
              <a:t>讓 </a:t>
            </a:r>
            <a:r>
              <a:rPr lang="en-US" altLang="zh-TW" dirty="0"/>
              <a:t>AI</a:t>
            </a:r>
            <a:r>
              <a:rPr lang="zh-TW" altLang="en-US" dirty="0"/>
              <a:t>「組團群毆」：不再靠單一 </a:t>
            </a:r>
            <a:r>
              <a:rPr lang="en-US" altLang="zh-TW" dirty="0"/>
              <a:t>AI </a:t>
            </a:r>
            <a:r>
              <a:rPr lang="zh-TW" altLang="en-US" dirty="0"/>
              <a:t>硬抗，而是成立「</a:t>
            </a:r>
            <a:r>
              <a:rPr lang="en-US" altLang="zh-TW" dirty="0"/>
              <a:t>AI </a:t>
            </a:r>
            <a:r>
              <a:rPr lang="zh-TW" altLang="en-US" dirty="0"/>
              <a:t>小分隊」分工合作。</a:t>
            </a:r>
            <a:endParaRPr lang="en-US" altLang="zh-TW" dirty="0"/>
          </a:p>
          <a:p>
            <a:pPr marL="171450" indent="-171450">
              <a:buFont typeface="Arial" panose="020B0604020202020204" pitchFamily="34" charset="0"/>
              <a:buChar char="•"/>
            </a:pPr>
            <a:endParaRPr lang="zh-TW" altLang="en-US" dirty="0"/>
          </a:p>
          <a:p>
            <a:r>
              <a:rPr lang="zh-TW" altLang="en-US" dirty="0"/>
              <a:t>二、 技術大突破：換引擎與防爆倉</a:t>
            </a:r>
          </a:p>
          <a:p>
            <a:r>
              <a:rPr lang="zh-TW" altLang="en-US" dirty="0"/>
              <a:t>* 換上黑科技引擎（</a:t>
            </a:r>
            <a:r>
              <a:rPr lang="en-US" altLang="zh-TW" dirty="0"/>
              <a:t>Muon </a:t>
            </a:r>
            <a:r>
              <a:rPr lang="zh-TW" altLang="en-US" dirty="0"/>
              <a:t>優化器）：他們是全球第一個把這種高階演算法用到萬億參數模型上的團隊。效果極度拔群</a:t>
            </a:r>
            <a:r>
              <a:rPr lang="en-US" altLang="zh-TW" dirty="0"/>
              <a:t>——</a:t>
            </a:r>
            <a:r>
              <a:rPr lang="zh-TW" altLang="en-US" dirty="0"/>
              <a:t>相當於把手裡現有的高品質資料翻了一倍。 </a:t>
            </a:r>
          </a:p>
          <a:p>
            <a:pPr marL="0" indent="0">
              <a:buFont typeface="Arial" panose="020B0604020202020204" pitchFamily="34" charset="0"/>
              <a:buNone/>
            </a:pPr>
            <a:r>
              <a:rPr lang="en-US" altLang="zh-TW" dirty="0"/>
              <a:t>* </a:t>
            </a:r>
            <a:r>
              <a:rPr lang="zh-TW" altLang="en-US" dirty="0"/>
              <a:t>解決 </a:t>
            </a:r>
            <a:r>
              <a:rPr lang="en-US" altLang="zh-TW" dirty="0"/>
              <a:t>AI </a:t>
            </a:r>
            <a:r>
              <a:rPr lang="zh-TW" altLang="en-US" dirty="0"/>
              <a:t>訓練炸機：模型越大，訓練時越容易「走火入魔」把程式搞崩。他們發明了個叫 </a:t>
            </a:r>
            <a:r>
              <a:rPr lang="en-US" altLang="zh-TW" dirty="0"/>
              <a:t>QK Clip </a:t>
            </a:r>
            <a:r>
              <a:rPr lang="zh-TW" altLang="en-US" dirty="0"/>
              <a:t>的小裝置，成功把訓練風險壓住了，破紀錄地讓模型吃了 </a:t>
            </a:r>
            <a:r>
              <a:rPr lang="en-US" altLang="zh-TW" dirty="0"/>
              <a:t>30 </a:t>
            </a:r>
            <a:r>
              <a:rPr lang="zh-TW" altLang="en-US" dirty="0"/>
              <a:t>兆的數據，全程沒崩過一次。</a:t>
            </a:r>
            <a:endParaRPr lang="en-US" altLang="zh-TW" dirty="0"/>
          </a:p>
          <a:p>
            <a:pPr marL="171450" indent="-171450">
              <a:buFont typeface="Arial" panose="020B0604020202020204" pitchFamily="34" charset="0"/>
              <a:buChar char="•"/>
            </a:pPr>
            <a:endParaRPr lang="zh-TW" altLang="en-US" dirty="0"/>
          </a:p>
          <a:p>
            <a:r>
              <a:rPr lang="zh-TW" altLang="en-US" dirty="0"/>
              <a:t>三、 架構進化：長記憶與“把演算法旋轉</a:t>
            </a:r>
            <a:r>
              <a:rPr lang="en-US" altLang="zh-TW" dirty="0"/>
              <a:t>90</a:t>
            </a:r>
            <a:r>
              <a:rPr lang="zh-TW" altLang="en-US" dirty="0"/>
              <a:t>度”</a:t>
            </a:r>
          </a:p>
          <a:p>
            <a:r>
              <a:rPr lang="zh-TW" altLang="en-US" dirty="0"/>
              <a:t>* </a:t>
            </a:r>
            <a:r>
              <a:rPr lang="en-US" altLang="zh-TW" dirty="0"/>
              <a:t>Kimi Linear </a:t>
            </a:r>
            <a:r>
              <a:rPr lang="zh-TW" altLang="en-US" dirty="0"/>
              <a:t>架構</a:t>
            </a:r>
            <a:r>
              <a:rPr lang="en-US" altLang="zh-TW" dirty="0"/>
              <a:t>:</a:t>
            </a:r>
            <a:r>
              <a:rPr lang="zh-TW" altLang="en-US" dirty="0"/>
              <a:t>以前的 </a:t>
            </a:r>
            <a:r>
              <a:rPr lang="en-US" altLang="zh-TW" dirty="0"/>
              <a:t>AI </a:t>
            </a:r>
            <a:r>
              <a:rPr lang="zh-TW" altLang="en-US" dirty="0"/>
              <a:t>要嘛是個「近視眼」</a:t>
            </a:r>
            <a:r>
              <a:rPr lang="en-US" altLang="zh-TW" dirty="0"/>
              <a:t>(</a:t>
            </a:r>
            <a:r>
              <a:rPr lang="zh-TW" altLang="en-US" dirty="0"/>
              <a:t>長文記不住</a:t>
            </a:r>
            <a:r>
              <a:rPr lang="en-US" altLang="zh-TW" dirty="0"/>
              <a:t>), </a:t>
            </a:r>
            <a:r>
              <a:rPr lang="zh-TW" altLang="en-US" dirty="0"/>
              <a:t>要嘛是個「死記硬背狂」</a:t>
            </a:r>
            <a:r>
              <a:rPr lang="en-US" altLang="zh-TW" dirty="0"/>
              <a:t>(</a:t>
            </a:r>
            <a:r>
              <a:rPr lang="zh-TW" altLang="en-US" dirty="0"/>
              <a:t>啥都記</a:t>
            </a:r>
            <a:r>
              <a:rPr lang="en-US" altLang="zh-TW" dirty="0"/>
              <a:t>,</a:t>
            </a:r>
            <a:r>
              <a:rPr lang="zh-TW" altLang="en-US" dirty="0"/>
              <a:t>腦子亂了</a:t>
            </a:r>
            <a:r>
              <a:rPr lang="en-US" altLang="zh-TW" dirty="0"/>
              <a:t>).</a:t>
            </a:r>
            <a:r>
              <a:rPr lang="zh-TW" altLang="en-US" dirty="0"/>
              <a:t> </a:t>
            </a:r>
            <a:r>
              <a:rPr lang="en-US" altLang="zh-TW" dirty="0"/>
              <a:t>Kimi </a:t>
            </a:r>
            <a:r>
              <a:rPr lang="zh-TW" altLang="en-US" dirty="0"/>
              <a:t>換了新結構，學會了像人一樣有選擇地忘記廢話留下精髓</a:t>
            </a:r>
            <a:r>
              <a:rPr lang="en-US" altLang="zh-TW" dirty="0"/>
              <a:t>, </a:t>
            </a:r>
            <a:r>
              <a:rPr lang="zh-TW" altLang="en-US" dirty="0"/>
              <a:t>而且短任務和超長任務都很強。 </a:t>
            </a:r>
          </a:p>
          <a:p>
            <a:pPr marL="0" indent="0">
              <a:buFont typeface="Arial" panose="020B0604020202020204" pitchFamily="34" charset="0"/>
              <a:buNone/>
            </a:pPr>
            <a:r>
              <a:rPr lang="en-US" altLang="zh-TW" dirty="0"/>
              <a:t>* </a:t>
            </a:r>
            <a:r>
              <a:rPr lang="zh-TW" altLang="en-US" dirty="0"/>
              <a:t>注意力殘差：他們做了一個大膽嘗試，把原來用來做「前後記憶」的演算法旋轉了 </a:t>
            </a:r>
            <a:r>
              <a:rPr lang="en-US" altLang="zh-TW" dirty="0"/>
              <a:t>90 </a:t>
            </a:r>
            <a:r>
              <a:rPr lang="zh-TW" altLang="en-US" dirty="0"/>
              <a:t>度用到「網路深度」上，讓 </a:t>
            </a:r>
            <a:r>
              <a:rPr lang="en-US" altLang="zh-TW" dirty="0"/>
              <a:t>AI </a:t>
            </a:r>
            <a:r>
              <a:rPr lang="zh-TW" altLang="en-US" dirty="0"/>
              <a:t>的學習效率又額外提升了 </a:t>
            </a:r>
            <a:r>
              <a:rPr lang="en-US" altLang="zh-TW" dirty="0"/>
              <a:t>24%</a:t>
            </a:r>
            <a:r>
              <a:rPr lang="zh-TW" altLang="en-US" dirty="0"/>
              <a:t>。</a:t>
            </a:r>
            <a:endParaRPr lang="en-US" altLang="zh-TW" dirty="0"/>
          </a:p>
          <a:p>
            <a:pPr marL="171450" indent="-171450">
              <a:buFont typeface="Arial" panose="020B0604020202020204" pitchFamily="34" charset="0"/>
              <a:buChar char="•"/>
            </a:pPr>
            <a:endParaRPr lang="zh-TW" altLang="en-US" dirty="0"/>
          </a:p>
          <a:p>
            <a:r>
              <a:rPr lang="zh-TW" altLang="en-US" dirty="0"/>
              <a:t>四、 </a:t>
            </a:r>
            <a:r>
              <a:rPr lang="en-US" altLang="zh-TW" dirty="0"/>
              <a:t>AI </a:t>
            </a:r>
            <a:r>
              <a:rPr lang="zh-TW" altLang="en-US" dirty="0"/>
              <a:t>小分隊（智能體蜂群）</a:t>
            </a:r>
          </a:p>
          <a:p>
            <a:r>
              <a:rPr lang="zh-TW" altLang="en-US" dirty="0"/>
              <a:t>*  </a:t>
            </a:r>
            <a:r>
              <a:rPr lang="en-US" altLang="zh-TW" dirty="0"/>
              <a:t>AI </a:t>
            </a:r>
            <a:r>
              <a:rPr lang="zh-TW" altLang="en-US" dirty="0"/>
              <a:t>當 </a:t>
            </a:r>
            <a:r>
              <a:rPr lang="en-US" altLang="zh-TW" dirty="0"/>
              <a:t>CEO</a:t>
            </a:r>
            <a:r>
              <a:rPr lang="zh-TW" altLang="en-US" dirty="0"/>
              <a:t>：以前是你跟一個 </a:t>
            </a:r>
            <a:r>
              <a:rPr lang="en-US" altLang="zh-TW" dirty="0"/>
              <a:t>AI </a:t>
            </a:r>
            <a:r>
              <a:rPr lang="zh-TW" altLang="en-US" dirty="0"/>
              <a:t>對話；現在是一個「主控 </a:t>
            </a:r>
            <a:r>
              <a:rPr lang="en-US" altLang="zh-TW" dirty="0"/>
              <a:t>AI</a:t>
            </a:r>
            <a:r>
              <a:rPr lang="zh-TW" altLang="en-US" dirty="0"/>
              <a:t>」當老闆，自動把大任務拆成好幾個小任務，分發給手下一堆「子 </a:t>
            </a:r>
            <a:r>
              <a:rPr lang="en-US" altLang="zh-TW" dirty="0"/>
              <a:t>AI</a:t>
            </a:r>
            <a:r>
              <a:rPr lang="zh-TW" altLang="en-US" dirty="0"/>
              <a:t>」（例如一個去查資料、一個去寫程式碼、一個去審核）。 </a:t>
            </a:r>
          </a:p>
          <a:p>
            <a:pPr marL="0" indent="0">
              <a:buFont typeface="Arial" panose="020B0604020202020204" pitchFamily="34" charset="0"/>
              <a:buNone/>
            </a:pPr>
            <a:r>
              <a:rPr lang="en-US" altLang="zh-TW" dirty="0"/>
              <a:t>* </a:t>
            </a:r>
            <a:r>
              <a:rPr lang="zh-TW" altLang="en-US" dirty="0"/>
              <a:t>防止 </a:t>
            </a:r>
            <a:r>
              <a:rPr lang="en-US" altLang="zh-TW" dirty="0"/>
              <a:t>AI </a:t>
            </a:r>
            <a:r>
              <a:rPr lang="zh-TW" altLang="en-US" dirty="0"/>
              <a:t>磨洋工：為了防止子 </a:t>
            </a:r>
            <a:r>
              <a:rPr lang="en-US" altLang="zh-TW" dirty="0"/>
              <a:t>AI </a:t>
            </a:r>
            <a:r>
              <a:rPr lang="zh-TW" altLang="en-US" dirty="0"/>
              <a:t>亂造假工時，他們設計了一套極其精細的獎懲機制，幹得好有賞，偷懶不完成任務就扣分，讓整支 </a:t>
            </a:r>
            <a:r>
              <a:rPr lang="en-US" altLang="zh-TW" dirty="0"/>
              <a:t>AI </a:t>
            </a:r>
            <a:r>
              <a:rPr lang="zh-TW" altLang="en-US" dirty="0"/>
              <a:t>團隊幹活又快又準。</a:t>
            </a:r>
            <a:endParaRPr lang="en-US" altLang="zh-TW" dirty="0"/>
          </a:p>
          <a:p>
            <a:pPr marL="171450" indent="-171450">
              <a:buFont typeface="Arial" panose="020B0604020202020204" pitchFamily="34" charset="0"/>
              <a:buChar char="•"/>
            </a:pPr>
            <a:endParaRPr lang="zh-TW" altLang="en-US" dirty="0"/>
          </a:p>
          <a:p>
            <a:r>
              <a:rPr lang="zh-TW" altLang="en-US" dirty="0"/>
              <a:t>五、 圖文同修：打破產業的“老偏見”</a:t>
            </a:r>
          </a:p>
          <a:p>
            <a:r>
              <a:rPr lang="zh-TW" altLang="en-US" dirty="0"/>
              <a:t>* 打娘胎裡就圖文雙修：傳統 </a:t>
            </a:r>
            <a:r>
              <a:rPr lang="en-US" altLang="zh-TW" dirty="0"/>
              <a:t>AI </a:t>
            </a:r>
            <a:r>
              <a:rPr lang="zh-TW" altLang="en-US" dirty="0"/>
              <a:t>是先學完文字，再去補習看圖（效果很差）。 </a:t>
            </a:r>
            <a:r>
              <a:rPr lang="en-US" altLang="zh-TW" dirty="0"/>
              <a:t>Kimi </a:t>
            </a:r>
            <a:r>
              <a:rPr lang="zh-TW" altLang="en-US" dirty="0"/>
              <a:t>是從訓練第一天起就把文字和圖片放在一起學習。 </a:t>
            </a:r>
          </a:p>
          <a:p>
            <a:r>
              <a:rPr lang="zh-TW" altLang="en-US" dirty="0"/>
              <a:t>* 出人意料的互相促進：過去行業裡都覺得“讓 </a:t>
            </a:r>
            <a:r>
              <a:rPr lang="en-US" altLang="zh-TW" dirty="0"/>
              <a:t>AI </a:t>
            </a:r>
            <a:r>
              <a:rPr lang="zh-TW" altLang="en-US" dirty="0"/>
              <a:t>學看圖會把文字變蠢”，但 </a:t>
            </a:r>
            <a:r>
              <a:rPr lang="en-US" altLang="zh-TW" dirty="0"/>
              <a:t>Kimi </a:t>
            </a:r>
            <a:r>
              <a:rPr lang="zh-TW" altLang="en-US" dirty="0"/>
              <a:t>證明了看圖能讓 </a:t>
            </a:r>
            <a:r>
              <a:rPr lang="en-US" altLang="zh-TW" dirty="0"/>
              <a:t>AI </a:t>
            </a:r>
            <a:r>
              <a:rPr lang="zh-TW" altLang="en-US" dirty="0"/>
              <a:t>的邏輯推理更強，而文字功底深了，看圖能力也會被順帶拔高！</a:t>
            </a: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14382478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200" b="1" u="none" strike="noStrike" kern="1200" dirty="0">
                <a:solidFill>
                  <a:schemeClr val="tx1"/>
                </a:solidFill>
                <a:effectLst/>
                <a:latin typeface="+mn-lt"/>
                <a:ea typeface="+mn-ea"/>
                <a:cs typeface="+mn-cs"/>
              </a:rPr>
              <a:t>1. </a:t>
            </a:r>
            <a:r>
              <a:rPr lang="zh-TW" altLang="zh-TW" sz="1200" b="1" u="none" strike="noStrike" kern="1200" dirty="0">
                <a:solidFill>
                  <a:schemeClr val="tx1"/>
                </a:solidFill>
                <a:effectLst/>
                <a:latin typeface="+mn-lt"/>
                <a:ea typeface="+mn-ea"/>
                <a:cs typeface="+mn-cs"/>
              </a:rPr>
              <a:t>理論基礎的奠定者（2022年）</a:t>
            </a:r>
          </a:p>
          <a:p>
            <a:pPr lvl="0"/>
            <a:r>
              <a:rPr lang="zh-TW" altLang="zh-TW" sz="1200" b="1" u="none" strike="noStrike" kern="1200" dirty="0">
                <a:solidFill>
                  <a:schemeClr val="tx1"/>
                </a:solidFill>
                <a:effectLst/>
                <a:latin typeface="+mn-lt"/>
                <a:ea typeface="+mn-ea"/>
                <a:cs typeface="+mn-cs"/>
              </a:rPr>
              <a:t>提出團隊</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特拉維夫大學（Tel Aviv University）與 Meta AI</a:t>
            </a:r>
            <a:r>
              <a:rPr lang="zh-TW" altLang="zh-TW" sz="1200" b="0" u="none" strike="noStrike" kern="1200" dirty="0">
                <a:solidFill>
                  <a:schemeClr val="tx1"/>
                </a:solidFill>
                <a:effectLst/>
                <a:latin typeface="+mn-lt"/>
                <a:ea typeface="+mn-ea"/>
                <a:cs typeface="+mn-cs"/>
              </a:rPr>
              <a:t>（由 Adi Haviv、Ori Ram、Ofir Press、Peter Izsak 和 Omer Levy 等人組成）。 </a:t>
            </a:r>
          </a:p>
          <a:p>
            <a:pPr lvl="0"/>
            <a:r>
              <a:rPr lang="zh-TW" altLang="zh-TW" sz="1200" b="1" u="none" strike="noStrike" kern="1200" dirty="0">
                <a:solidFill>
                  <a:schemeClr val="tx1"/>
                </a:solidFill>
                <a:effectLst/>
                <a:latin typeface="+mn-lt"/>
                <a:ea typeface="+mn-ea"/>
                <a:cs typeface="+mn-cs"/>
              </a:rPr>
              <a:t>代表論文</a:t>
            </a:r>
            <a:r>
              <a:rPr lang="zh-TW" altLang="zh-TW" sz="1200" b="0" u="none" strike="noStrike" kern="1200" dirty="0">
                <a:solidFill>
                  <a:schemeClr val="tx1"/>
                </a:solidFill>
                <a:effectLst/>
                <a:latin typeface="+mn-lt"/>
                <a:ea typeface="+mn-ea"/>
                <a:cs typeface="+mn-cs"/>
              </a:rPr>
              <a:t>：發表於 EMNLP 2022 的 </a:t>
            </a:r>
            <a:r>
              <a:rPr lang="zh-TW" altLang="zh-TW" sz="1200" b="0" i="1" u="none" strike="noStrike" kern="1200" dirty="0">
                <a:solidFill>
                  <a:schemeClr val="tx1"/>
                </a:solidFill>
                <a:effectLst/>
                <a:latin typeface="+mn-lt"/>
                <a:ea typeface="+mn-ea"/>
                <a:cs typeface="+mn-cs"/>
              </a:rPr>
              <a:t>《Transformer Language Models without Positional Encodings Still Learn Positional Information》</a:t>
            </a:r>
            <a:r>
              <a:rPr lang="zh-TW" altLang="zh-TW" sz="1200" b="0" u="none" strike="noStrike" kern="1200" dirty="0">
                <a:solidFill>
                  <a:schemeClr val="tx1"/>
                </a:solidFill>
                <a:effectLst/>
                <a:latin typeface="+mn-lt"/>
                <a:ea typeface="+mn-ea"/>
                <a:cs typeface="+mn-cs"/>
              </a:rPr>
              <a:t>。 </a:t>
            </a:r>
          </a:p>
          <a:p>
            <a:pPr lvl="0"/>
            <a:r>
              <a:rPr lang="zh-TW" altLang="zh-TW" sz="1200" b="1" u="none" strike="noStrike" kern="1200" dirty="0">
                <a:solidFill>
                  <a:schemeClr val="tx1"/>
                </a:solidFill>
                <a:effectLst/>
                <a:latin typeface="+mn-lt"/>
                <a:ea typeface="+mn-ea"/>
                <a:cs typeface="+mn-cs"/>
              </a:rPr>
              <a:t>核心貢獻</a:t>
            </a:r>
            <a:r>
              <a:rPr lang="zh-TW" altLang="zh-TW" sz="1200" b="0" u="none" strike="noStrike" kern="1200" dirty="0">
                <a:solidFill>
                  <a:schemeClr val="tx1"/>
                </a:solidFill>
                <a:effectLst/>
                <a:latin typeface="+mn-lt"/>
                <a:ea typeface="+mn-ea"/>
                <a:cs typeface="+mn-cs"/>
              </a:rPr>
              <a:t>：他們首度證實，自迴歸（Decoder-only）架構中的</a:t>
            </a:r>
            <a:r>
              <a:rPr lang="zh-TW" altLang="zh-TW" sz="1200" b="1" u="none" strike="noStrike" kern="1200" dirty="0">
                <a:solidFill>
                  <a:schemeClr val="tx1"/>
                </a:solidFill>
                <a:effectLst/>
                <a:latin typeface="+mn-lt"/>
                <a:ea typeface="+mn-ea"/>
                <a:cs typeface="+mn-cs"/>
              </a:rPr>
              <a:t>因果遮罩（Causal Mask）本身就會漏出時序訊號</a:t>
            </a:r>
            <a:r>
              <a:rPr lang="zh-TW" altLang="zh-TW" sz="1200" b="0" u="none" strike="noStrike" kern="1200" dirty="0">
                <a:solidFill>
                  <a:schemeClr val="tx1"/>
                </a:solidFill>
                <a:effectLst/>
                <a:latin typeface="+mn-lt"/>
                <a:ea typeface="+mn-ea"/>
                <a:cs typeface="+mn-cs"/>
              </a:rPr>
              <a:t>。即使完全不加位置編碼，模型也能隱式學會絕對位置，打破了「Transformer 必須依賴顯式位置編碼」的傳統工程思維。</a:t>
            </a:r>
          </a:p>
          <a:p>
            <a:r>
              <a:rPr lang="zh-TW" altLang="zh-TW" sz="1200" b="1" u="none" strike="noStrike" kern="1200" dirty="0">
                <a:solidFill>
                  <a:schemeClr val="tx1"/>
                </a:solidFill>
                <a:effectLst/>
                <a:latin typeface="+mn-lt"/>
                <a:ea typeface="+mn-ea"/>
                <a:cs typeface="+mn-cs"/>
              </a:rPr>
              <a:t>2. 「NoPE」縮寫的明確定義與實證（2023年）</a:t>
            </a:r>
          </a:p>
          <a:p>
            <a:pPr lvl="0"/>
            <a:r>
              <a:rPr lang="zh-TW" altLang="zh-TW" sz="1200" b="1" u="none" strike="noStrike" kern="1200" dirty="0">
                <a:solidFill>
                  <a:schemeClr val="tx1"/>
                </a:solidFill>
                <a:effectLst/>
                <a:latin typeface="+mn-lt"/>
                <a:ea typeface="+mn-ea"/>
                <a:cs typeface="+mn-cs"/>
              </a:rPr>
              <a:t>提出團隊</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阿姆斯特丹大學（University of Amsterdam）</a:t>
            </a:r>
            <a:r>
              <a:rPr lang="zh-TW" altLang="zh-TW" sz="1200" b="0" u="none" strike="noStrike" kern="1200" dirty="0">
                <a:solidFill>
                  <a:schemeClr val="tx1"/>
                </a:solidFill>
                <a:effectLst/>
                <a:latin typeface="+mn-lt"/>
                <a:ea typeface="+mn-ea"/>
                <a:cs typeface="+mn-cs"/>
              </a:rPr>
              <a:t>（Amir Kazemnejad 等人）。</a:t>
            </a:r>
          </a:p>
          <a:p>
            <a:pPr lvl="0"/>
            <a:r>
              <a:rPr lang="zh-TW" altLang="zh-TW" sz="1200" b="1" u="none" strike="noStrike" kern="1200" dirty="0">
                <a:solidFill>
                  <a:schemeClr val="tx1"/>
                </a:solidFill>
                <a:effectLst/>
                <a:latin typeface="+mn-lt"/>
                <a:ea typeface="+mn-ea"/>
                <a:cs typeface="+mn-cs"/>
              </a:rPr>
              <a:t>代表論文</a:t>
            </a:r>
            <a:r>
              <a:rPr lang="zh-TW" altLang="zh-TW" sz="1200" b="0" u="none" strike="noStrike" kern="1200" dirty="0">
                <a:solidFill>
                  <a:schemeClr val="tx1"/>
                </a:solidFill>
                <a:effectLst/>
                <a:latin typeface="+mn-lt"/>
                <a:ea typeface="+mn-ea"/>
                <a:cs typeface="+mn-cs"/>
              </a:rPr>
              <a:t>：發表於 NeurIPS 2023 的 </a:t>
            </a:r>
            <a:r>
              <a:rPr lang="zh-TW" altLang="zh-TW" sz="1200" b="0" i="1" u="none" strike="noStrike" kern="1200" dirty="0">
                <a:solidFill>
                  <a:schemeClr val="tx1"/>
                </a:solidFill>
                <a:effectLst/>
                <a:latin typeface="+mn-lt"/>
                <a:ea typeface="+mn-ea"/>
                <a:cs typeface="+mn-cs"/>
              </a:rPr>
              <a:t>《The Impact of Positional Encoding on Length Generalization in Transformers》</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核心貢獻</a:t>
            </a:r>
            <a:r>
              <a:rPr lang="zh-TW" altLang="zh-TW" sz="1200" b="0" u="none" strike="noStrike" kern="1200" dirty="0">
                <a:solidFill>
                  <a:schemeClr val="tx1"/>
                </a:solidFill>
                <a:effectLst/>
                <a:latin typeface="+mn-lt"/>
                <a:ea typeface="+mn-ea"/>
                <a:cs typeface="+mn-cs"/>
              </a:rPr>
              <a:t>：這篇論文在社群中</a:t>
            </a:r>
            <a:r>
              <a:rPr lang="zh-TW" altLang="zh-TW" sz="1200" b="1" u="none" strike="noStrike" kern="1200" dirty="0">
                <a:solidFill>
                  <a:schemeClr val="tx1"/>
                </a:solidFill>
                <a:effectLst/>
                <a:latin typeface="+mn-lt"/>
                <a:ea typeface="+mn-ea"/>
                <a:cs typeface="+mn-cs"/>
              </a:rPr>
              <a:t>正式將此架構命名為「NoPE」</a:t>
            </a:r>
            <a:r>
              <a:rPr lang="zh-TW" altLang="zh-TW" sz="1200" b="0" u="none" strike="noStrike" kern="1200" dirty="0">
                <a:solidFill>
                  <a:schemeClr val="tx1"/>
                </a:solidFill>
                <a:effectLst/>
                <a:latin typeface="+mn-lt"/>
                <a:ea typeface="+mn-ea"/>
                <a:cs typeface="+mn-cs"/>
              </a:rPr>
              <a:t>。研究人員透過嚴格的控制變因實驗發現，NoPE 在長度外推（Length Extrapolation）和長文本泛化上的表現，竟然優於當時主流的 ALiBi 或旋轉位置編碼（RoPE），奠定了今日大模型大規模導入的工程信心。</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總結</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簡單來說，</a:t>
            </a:r>
            <a:r>
              <a:rPr lang="zh-TW" altLang="zh-TW" sz="1200" b="1" u="none" strike="noStrike" kern="1200" dirty="0">
                <a:solidFill>
                  <a:schemeClr val="tx1"/>
                </a:solidFill>
                <a:effectLst/>
                <a:latin typeface="+mn-lt"/>
                <a:ea typeface="+mn-ea"/>
                <a:cs typeface="+mn-cs"/>
              </a:rPr>
              <a:t>Meta AI 與特拉維夫大學</a:t>
            </a:r>
            <a:r>
              <a:rPr lang="zh-TW" altLang="zh-TW" sz="1200" b="0" u="none" strike="noStrike" kern="1200" dirty="0">
                <a:solidFill>
                  <a:schemeClr val="tx1"/>
                </a:solidFill>
                <a:effectLst/>
                <a:latin typeface="+mn-lt"/>
                <a:ea typeface="+mn-ea"/>
                <a:cs typeface="+mn-cs"/>
              </a:rPr>
              <a:t>率先發現了「不加位置編碼模型也能運作」的隱式科學現象，而</a:t>
            </a:r>
            <a:r>
              <a:rPr lang="zh-TW" altLang="zh-TW" sz="1200" b="1" u="none" strike="noStrike" kern="1200" dirty="0">
                <a:solidFill>
                  <a:schemeClr val="tx1"/>
                </a:solidFill>
                <a:effectLst/>
                <a:latin typeface="+mn-lt"/>
                <a:ea typeface="+mn-ea"/>
                <a:cs typeface="+mn-cs"/>
              </a:rPr>
              <a:t>阿姆斯特丹大學</a:t>
            </a:r>
            <a:r>
              <a:rPr lang="zh-TW" altLang="zh-TW" sz="1200" b="0" u="none" strike="noStrike" kern="1200" dirty="0">
                <a:solidFill>
                  <a:schemeClr val="tx1"/>
                </a:solidFill>
                <a:effectLst/>
                <a:latin typeface="+mn-lt"/>
                <a:ea typeface="+mn-ea"/>
                <a:cs typeface="+mn-cs"/>
              </a:rPr>
              <a:t>則正式將其定義為「NoPE」技術，並證明了它在長文本上的驚人潛力，進而引發了 Kimi K3、</a:t>
            </a:r>
            <a:r>
              <a:rPr lang="en-US" altLang="zh-TW" sz="1200" b="0" u="none" strike="noStrike" kern="1200" dirty="0">
                <a:solidFill>
                  <a:schemeClr val="tx1"/>
                </a:solidFill>
                <a:effectLst/>
                <a:latin typeface="+mn-lt"/>
                <a:ea typeface="+mn-ea"/>
                <a:cs typeface="+mn-cs"/>
              </a:rPr>
              <a:t>IBM</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Granite 4.0 等新一代前沿大模型架構的革新。</a:t>
            </a:r>
          </a:p>
          <a:p>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C2ADC-2C95-ABF7-695A-C98BD6E65DB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9C820AD-EC54-39E5-1D26-41BCCC7488E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2C0D158-E6C6-9BA9-5A56-BF3DE1E85E9F}"/>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D41D6B82-61C8-3A08-1F2F-D94DBF3D6EE5}"/>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2274291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803191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2" r:id="rId2"/>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1.png"/><Relationship Id="rId3" Type="http://schemas.openxmlformats.org/officeDocument/2006/relationships/image" Target="../media/image12.png"/><Relationship Id="rId7" Type="http://schemas.openxmlformats.org/officeDocument/2006/relationships/image" Target="../media/image16.png"/><Relationship Id="rId12" Type="http://schemas.openxmlformats.org/officeDocument/2006/relationships/hyperlink" Target="https://zhida.zhihu.com/search?content_id=240665807&amp;content_type=Article&amp;match_order=1&amp;q=%E6%A0%87%E5%87%86%E5%8A%A8%E9%87%8FSGD%E7%AE%97%E6%B3%95&amp;zd_token=eyJhbGciOiJIUzI1NiIsInR5cCI6IkpXVCJ9.eyJpc3MiOiJ6aGlkYV9zZXJ2ZXIiLCJleHAiOjE3ODcxOTY4NTgsInEiOiLmoIflh4bliqjph49TR0Tnrpfms5UiLCJ6aGlkYV9zb3VyY2UiOiJlbnRpdHkiLCJjb250ZW50X2lkIjoyNDA2NjU4MDcsImNvbnRlbnRfdHlwZSI6IkFydGljbGUiLCJtYXRjaF9vcmRlciI6MSwiemRfdG9rZW4iOm51bGx9.Sf45ojFVVGocTHv9n7ReJO3xfYKL7Qhnws7r8tZGHms&amp;zhida_source=entity" TargetMode="External"/><Relationship Id="rId2" Type="http://schemas.openxmlformats.org/officeDocument/2006/relationships/image" Target="../media/image11.png"/><Relationship Id="rId16"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5" Type="http://schemas.openxmlformats.org/officeDocument/2006/relationships/image" Target="../media/image23.png"/><Relationship Id="rId10" Type="http://schemas.openxmlformats.org/officeDocument/2006/relationships/image" Target="../media/image19.png"/><Relationship Id="rId4" Type="http://schemas.openxmlformats.org/officeDocument/2006/relationships/image" Target="../media/image13.png"/><Relationship Id="rId9" Type="http://schemas.openxmlformats.org/officeDocument/2006/relationships/image" Target="../media/image18.png"/><Relationship Id="rId14" Type="http://schemas.openxmlformats.org/officeDocument/2006/relationships/image" Target="../media/image22.png"/></Relationships>
</file>

<file path=ppt/slides/_rels/slide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png"/></Relationships>
</file>

<file path=ppt/slides/_rels/slide11.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image" Target="../media/image30.png"/><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40.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360.png"/><Relationship Id="rId4" Type="http://schemas.openxmlformats.org/officeDocument/2006/relationships/image" Target="../media/image350.png"/></Relationships>
</file>

<file path=ppt/slides/_rels/slide2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44.png"/><Relationship Id="rId7" Type="http://schemas.openxmlformats.org/officeDocument/2006/relationships/image" Target="../media/image48.png"/><Relationship Id="rId12" Type="http://schemas.openxmlformats.org/officeDocument/2006/relationships/image" Target="../media/image52.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47.png"/><Relationship Id="rId11" Type="http://schemas.openxmlformats.org/officeDocument/2006/relationships/image" Target="../media/image51.png"/><Relationship Id="rId5" Type="http://schemas.openxmlformats.org/officeDocument/2006/relationships/image" Target="../media/image46.png"/><Relationship Id="rId10" Type="http://schemas.openxmlformats.org/officeDocument/2006/relationships/image" Target="../media/image50.png"/><Relationship Id="rId4" Type="http://schemas.openxmlformats.org/officeDocument/2006/relationships/image" Target="../media/image45.png"/><Relationship Id="rId9" Type="http://schemas.openxmlformats.org/officeDocument/2006/relationships/image" Target="../media/image4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2026/09/03</a:t>
            </a:r>
            <a:endParaRPr lang="zh-TW" altLang="en-US" sz="1000" dirty="0">
              <a:solidFill>
                <a:schemeClr val="accent1"/>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713290"/>
          </a:xfrm>
          <a:prstGeom prst="rect">
            <a:avLst/>
          </a:prstGeom>
          <a:noFill/>
        </p:spPr>
        <p:txBody>
          <a:bodyPr wrap="square" rtlCol="0">
            <a:spAutoFit/>
          </a:bodyPr>
          <a:lstStyle/>
          <a:p>
            <a:pPr algn="ctr"/>
            <a:r>
              <a:rPr lang="en-US" altLang="zh-TW" sz="4000" b="1" dirty="0"/>
              <a:t>Kimi K3:</a:t>
            </a:r>
          </a:p>
          <a:p>
            <a:pPr algn="ctr"/>
            <a:r>
              <a:rPr lang="en-US" altLang="zh-TW" sz="4000" b="1" dirty="0"/>
              <a:t>Open Frontier Intelligence</a:t>
            </a:r>
          </a:p>
          <a:p>
            <a:pPr defTabSz="5467350">
              <a:lnSpc>
                <a:spcPts val="400"/>
              </a:lnSpc>
            </a:pPr>
            <a:r>
              <a:rPr lang="zh-TW" altLang="en-US" sz="1000" b="1" dirty="0"/>
              <a:t> </a:t>
            </a:r>
            <a:r>
              <a:rPr lang="en-US" altLang="zh-TW" sz="1000" b="1" dirty="0"/>
              <a:t>	July  2026</a:t>
            </a: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Moonshot</a:t>
            </a:r>
            <a:r>
              <a:rPr lang="zh-TW" altLang="en-US" sz="1200" b="1" dirty="0">
                <a:sym typeface="Wingdings" panose="05000000000000000000" pitchFamily="2" charset="2"/>
              </a:rPr>
              <a:t> </a:t>
            </a:r>
            <a:r>
              <a:rPr lang="en-US" altLang="zh-TW" sz="1200" b="1" dirty="0">
                <a:sym typeface="Wingdings" panose="05000000000000000000" pitchFamily="2" charset="2"/>
              </a:rPr>
              <a:t>Kimi Team	</a:t>
            </a:r>
            <a:r>
              <a:rPr lang="en-US" altLang="zh-TW" sz="1000" dirty="0">
                <a:sym typeface="Wingdings" panose="05000000000000000000" pitchFamily="2" charset="2"/>
              </a:rPr>
              <a:t>	</a:t>
            </a:r>
            <a:r>
              <a:rPr lang="en-US" altLang="zh-TW" sz="1000" dirty="0" err="1">
                <a:sym typeface="Wingdings" panose="05000000000000000000" pitchFamily="2" charset="2"/>
              </a:rPr>
              <a:t>Tongtong</a:t>
            </a:r>
            <a:r>
              <a:rPr lang="en-US" altLang="zh-TW" sz="1000" dirty="0">
                <a:sym typeface="Wingdings" panose="05000000000000000000" pitchFamily="2" charset="2"/>
              </a:rPr>
              <a:t> Bai and 400 other authors</a:t>
            </a:r>
            <a:endParaRPr lang="zh-TW" altLang="en-US" sz="1000" dirty="0">
              <a:solidFill>
                <a:schemeClr val="accent1">
                  <a:lumMod val="75000"/>
                </a:schemeClr>
              </a:solidFill>
            </a:endParaRPr>
          </a:p>
        </p:txBody>
      </p:sp>
      <p:sp>
        <p:nvSpPr>
          <p:cNvPr id="9" name="文字方塊 8">
            <a:extLst>
              <a:ext uri="{FF2B5EF4-FFF2-40B4-BE49-F238E27FC236}">
                <a16:creationId xmlns:a16="http://schemas.microsoft.com/office/drawing/2014/main" id="{FB98A5CE-C6BF-E5C2-A315-6E118FCEFA4D}"/>
              </a:ext>
            </a:extLst>
          </p:cNvPr>
          <p:cNvSpPr txBox="1"/>
          <p:nvPr/>
        </p:nvSpPr>
        <p:spPr>
          <a:xfrm>
            <a:off x="809581" y="476672"/>
            <a:ext cx="7524837" cy="1313180"/>
          </a:xfrm>
          <a:prstGeom prst="rect">
            <a:avLst/>
          </a:prstGeom>
          <a:noFill/>
        </p:spPr>
        <p:txBody>
          <a:bodyPr wrap="square" rtlCol="0">
            <a:spAutoFit/>
          </a:bodyPr>
          <a:lstStyle/>
          <a:p>
            <a:pPr algn="ctr"/>
            <a:r>
              <a:rPr lang="en-US" altLang="zh-TW" sz="3200" b="1" dirty="0">
                <a:solidFill>
                  <a:schemeClr val="bg1">
                    <a:lumMod val="65000"/>
                  </a:schemeClr>
                </a:solidFill>
              </a:rPr>
              <a:t>Kimi K2.5:</a:t>
            </a:r>
          </a:p>
          <a:p>
            <a:pPr algn="ctr"/>
            <a:r>
              <a:rPr lang="en-US" altLang="zh-TW" sz="3200" b="1" dirty="0">
                <a:solidFill>
                  <a:schemeClr val="bg1">
                    <a:lumMod val="65000"/>
                  </a:schemeClr>
                </a:solidFill>
              </a:rPr>
              <a:t>Visual Agentic Intelligence</a:t>
            </a:r>
          </a:p>
          <a:p>
            <a:pPr defTabSz="54673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February  2026</a:t>
            </a:r>
          </a:p>
          <a:p>
            <a:pPr indent="541338" defTabSz="7269163">
              <a:tabLst>
                <a:tab pos="2955925" algn="l"/>
                <a:tab pos="5470525" algn="l"/>
              </a:tabLst>
            </a:pPr>
            <a:r>
              <a:rPr lang="en-US" altLang="zh-TW" sz="1200" b="1" dirty="0">
                <a:solidFill>
                  <a:schemeClr val="bg1">
                    <a:lumMod val="50000"/>
                  </a:schemeClr>
                </a:solidFill>
              </a:rPr>
              <a:t> 	</a:t>
            </a:r>
            <a:r>
              <a:rPr lang="en-US" altLang="zh-TW" sz="1200" b="1" dirty="0">
                <a:solidFill>
                  <a:schemeClr val="bg1">
                    <a:lumMod val="50000"/>
                  </a:schemeClr>
                </a:solidFill>
                <a:sym typeface="Wingdings" panose="05000000000000000000" pitchFamily="2" charset="2"/>
              </a:rPr>
              <a:t>Moonshot Kimi Team 	</a:t>
            </a:r>
          </a:p>
        </p:txBody>
      </p:sp>
      <p:sp>
        <p:nvSpPr>
          <p:cNvPr id="11" name="箭號: 向下 10">
            <a:extLst>
              <a:ext uri="{FF2B5EF4-FFF2-40B4-BE49-F238E27FC236}">
                <a16:creationId xmlns:a16="http://schemas.microsoft.com/office/drawing/2014/main" id="{95BFB3E6-E9A0-BA95-8A5C-3CBFA1A3A37C}"/>
              </a:ext>
            </a:extLst>
          </p:cNvPr>
          <p:cNvSpPr/>
          <p:nvPr/>
        </p:nvSpPr>
        <p:spPr>
          <a:xfrm>
            <a:off x="4355975" y="1850247"/>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2CAD1-8507-9886-51B1-A666941BA121}"/>
            </a:ext>
          </a:extLst>
        </p:cNvPr>
        <p:cNvGrpSpPr/>
        <p:nvPr/>
      </p:nvGrpSpPr>
      <p:grpSpPr>
        <a:xfrm>
          <a:off x="0" y="0"/>
          <a:ext cx="0" cy="0"/>
          <a:chOff x="0" y="0"/>
          <a:chExt cx="0" cy="0"/>
        </a:xfrm>
      </p:grpSpPr>
      <p:sp>
        <p:nvSpPr>
          <p:cNvPr id="7" name="文字方塊 6">
            <a:extLst>
              <a:ext uri="{FF2B5EF4-FFF2-40B4-BE49-F238E27FC236}">
                <a16:creationId xmlns:a16="http://schemas.microsoft.com/office/drawing/2014/main" id="{9E9524A1-5728-0389-B76D-B76D05DA4637}"/>
              </a:ext>
            </a:extLst>
          </p:cNvPr>
          <p:cNvSpPr txBox="1"/>
          <p:nvPr/>
        </p:nvSpPr>
        <p:spPr>
          <a:xfrm>
            <a:off x="179512" y="1447616"/>
            <a:ext cx="7992888" cy="1477328"/>
          </a:xfrm>
          <a:prstGeom prst="rect">
            <a:avLst/>
          </a:prstGeom>
          <a:noFill/>
        </p:spPr>
        <p:txBody>
          <a:bodyPr wrap="square">
            <a:spAutoFit/>
          </a:bodyPr>
          <a:lstStyle/>
          <a:p>
            <a:pPr>
              <a:lnSpc>
                <a:spcPts val="1800"/>
              </a:lnSpc>
              <a:spcBef>
                <a:spcPts val="600"/>
              </a:spcBef>
              <a:spcAft>
                <a:spcPts val="600"/>
              </a:spcAft>
            </a:pPr>
            <a:r>
              <a:rPr lang="en-US" altLang="zh-TW" sz="2000" b="1" dirty="0"/>
              <a:t>An RNN is simply an FCN with a</a:t>
            </a:r>
            <a:r>
              <a:rPr lang="zh-TW" altLang="en-US" sz="2000" b="1" dirty="0"/>
              <a:t> </a:t>
            </a:r>
            <a:r>
              <a:rPr lang="en-US" altLang="zh-TW" sz="2000" b="1" dirty="0"/>
              <a:t>temporal memory loop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FCN</a:t>
            </a:r>
            <a:r>
              <a:rPr lang="en-US" altLang="zh-TW" sz="1600" dirty="0"/>
              <a:t>: Fully Connection Network.</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LSA</a:t>
            </a:r>
            <a:r>
              <a:rPr lang="en-US" altLang="zh-TW" sz="1600" u="none" strike="noStrike" dirty="0">
                <a:effectLst/>
              </a:rPr>
              <a:t>: Latent semantic analysis </a:t>
            </a:r>
            <a:r>
              <a:rPr lang="en-US" altLang="zh-TW" sz="1600" u="none" strike="noStrike" dirty="0">
                <a:effectLst/>
                <a:sym typeface="Wingdings" panose="05000000000000000000" pitchFamily="2" charset="2"/>
              </a:rPr>
              <a:t> LDA  </a:t>
            </a:r>
            <a:endParaRPr lang="en-US" altLang="zh-TW" sz="160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dirty="0" err="1"/>
              <a:t>pLSA</a:t>
            </a:r>
            <a:r>
              <a:rPr lang="en-US" altLang="zh-TW" sz="1600" dirty="0"/>
              <a:t>: LDA.</a:t>
            </a:r>
          </a:p>
        </p:txBody>
      </p:sp>
      <p:sp>
        <p:nvSpPr>
          <p:cNvPr id="11" name="標題 1">
            <a:extLst>
              <a:ext uri="{FF2B5EF4-FFF2-40B4-BE49-F238E27FC236}">
                <a16:creationId xmlns:a16="http://schemas.microsoft.com/office/drawing/2014/main" id="{18284B0B-93FC-DFA6-2CC8-F67455FF7187}"/>
              </a:ext>
            </a:extLst>
          </p:cNvPr>
          <p:cNvSpPr txBox="1">
            <a:spLocks/>
          </p:cNvSpPr>
          <p:nvPr/>
        </p:nvSpPr>
        <p:spPr>
          <a:xfrm>
            <a:off x="179512" y="116632"/>
            <a:ext cx="8856984"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ecurrent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eural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An RNN is simply an FCN(Fully Connection NN) with a temporal memory loop.</a:t>
            </a:r>
          </a:p>
        </p:txBody>
      </p:sp>
      <p:sp>
        <p:nvSpPr>
          <p:cNvPr id="111" name="文字方塊 110">
            <a:extLst>
              <a:ext uri="{FF2B5EF4-FFF2-40B4-BE49-F238E27FC236}">
                <a16:creationId xmlns:a16="http://schemas.microsoft.com/office/drawing/2014/main" id="{5B934F34-585C-6669-7CC4-CE328B45ABF8}"/>
              </a:ext>
            </a:extLst>
          </p:cNvPr>
          <p:cNvSpPr txBox="1"/>
          <p:nvPr/>
        </p:nvSpPr>
        <p:spPr>
          <a:xfrm>
            <a:off x="1399859" y="4786191"/>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CC6169BB-285E-EDB3-6344-B8208C2C9611}"/>
              </a:ext>
            </a:extLst>
          </p:cNvPr>
          <p:cNvGraphicFramePr>
            <a:graphicFrameLocks noGrp="1"/>
          </p:cNvGraphicFramePr>
          <p:nvPr>
            <p:extLst>
              <p:ext uri="{D42A27DB-BD31-4B8C-83A1-F6EECF244321}">
                <p14:modId xmlns:p14="http://schemas.microsoft.com/office/powerpoint/2010/main" val="64919338"/>
              </p:ext>
            </p:extLst>
          </p:nvPr>
        </p:nvGraphicFramePr>
        <p:xfrm>
          <a:off x="3016227" y="4426290"/>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8" name="文字方塊 7">
            <a:extLst>
              <a:ext uri="{FF2B5EF4-FFF2-40B4-BE49-F238E27FC236}">
                <a16:creationId xmlns:a16="http://schemas.microsoft.com/office/drawing/2014/main" id="{99BBD11D-7E3B-48DD-DF53-6501A8604960}"/>
              </a:ext>
            </a:extLst>
          </p:cNvPr>
          <p:cNvSpPr txBox="1"/>
          <p:nvPr/>
        </p:nvSpPr>
        <p:spPr>
          <a:xfrm>
            <a:off x="821811" y="3809991"/>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pic>
        <p:nvPicPr>
          <p:cNvPr id="20" name="圖片 19">
            <a:extLst>
              <a:ext uri="{FF2B5EF4-FFF2-40B4-BE49-F238E27FC236}">
                <a16:creationId xmlns:a16="http://schemas.microsoft.com/office/drawing/2014/main" id="{CE3E1628-182E-8997-D5C4-ECDCF581F249}"/>
              </a:ext>
            </a:extLst>
          </p:cNvPr>
          <p:cNvPicPr>
            <a:picLocks noChangeAspect="1"/>
          </p:cNvPicPr>
          <p:nvPr/>
        </p:nvPicPr>
        <p:blipFill>
          <a:blip r:embed="rId3"/>
          <a:stretch>
            <a:fillRect/>
          </a:stretch>
        </p:blipFill>
        <p:spPr>
          <a:xfrm>
            <a:off x="4252656" y="3809991"/>
            <a:ext cx="4099125" cy="2360260"/>
          </a:xfrm>
          <a:prstGeom prst="rect">
            <a:avLst/>
          </a:prstGeom>
        </p:spPr>
      </p:pic>
    </p:spTree>
    <p:extLst>
      <p:ext uri="{BB962C8B-B14F-4D97-AF65-F5344CB8AC3E}">
        <p14:creationId xmlns:p14="http://schemas.microsoft.com/office/powerpoint/2010/main" val="37004583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179512" y="1447616"/>
            <a:ext cx="8721352" cy="1477328"/>
          </a:xfrm>
          <a:prstGeom prst="rect">
            <a:avLst/>
          </a:prstGeom>
          <a:noFill/>
        </p:spPr>
        <p:txBody>
          <a:bodyPr wrap="square">
            <a:spAutoFit/>
          </a:bodyPr>
          <a:lstStyle/>
          <a:p>
            <a:pPr>
              <a:lnSpc>
                <a:spcPts val="1800"/>
              </a:lnSpc>
              <a:spcBef>
                <a:spcPts val="600"/>
              </a:spcBef>
              <a:spcAft>
                <a:spcPts val="600"/>
              </a:spcAft>
            </a:pPr>
            <a:r>
              <a:rPr lang="en-US" altLang="zh-TW" sz="2000" b="1" dirty="0"/>
              <a:t>These Gates</a:t>
            </a:r>
            <a:r>
              <a:rPr lang="zh-TW" altLang="en-US" sz="2000" b="1" dirty="0"/>
              <a:t> </a:t>
            </a:r>
            <a:r>
              <a:rPr lang="en-US" altLang="zh-TW" sz="2000" b="1" dirty="0"/>
              <a:t>regulate how information flows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Forget Gate</a:t>
            </a:r>
            <a:r>
              <a:rPr lang="en-US" altLang="zh-TW" sz="1600" u="none" strike="noStrike" dirty="0">
                <a:effectLst/>
              </a:rPr>
              <a:t>: </a:t>
            </a:r>
            <a:r>
              <a:rPr lang="en-US" altLang="zh-TW" sz="1600" dirty="0"/>
              <a:t>D</a:t>
            </a:r>
            <a:r>
              <a:rPr lang="en-US" altLang="zh-TW" sz="1600" u="none" strike="noStrike" dirty="0">
                <a:effectLst/>
              </a:rPr>
              <a:t>ecides which past information to discard.</a:t>
            </a:r>
          </a:p>
          <a:p>
            <a:pPr marL="285750" indent="-285750">
              <a:lnSpc>
                <a:spcPts val="1800"/>
              </a:lnSpc>
              <a:spcBef>
                <a:spcPts val="600"/>
              </a:spcBef>
              <a:spcAft>
                <a:spcPts val="600"/>
              </a:spcAft>
              <a:buFont typeface="Wingdings" panose="05000000000000000000" pitchFamily="2" charset="2"/>
              <a:buChar char="Ø"/>
            </a:pPr>
            <a:r>
              <a:rPr lang="en-US" altLang="zh-TW" sz="1600" b="1" dirty="0"/>
              <a:t>Input Gate</a:t>
            </a:r>
            <a:r>
              <a:rPr lang="en-US" altLang="zh-TW" sz="1600" dirty="0"/>
              <a:t>: Controls the relevance of new information.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Output Gate</a:t>
            </a:r>
            <a:r>
              <a:rPr lang="en-US" altLang="zh-TW" sz="1600" dirty="0"/>
              <a:t>: Manages what information the LSTM unit should pass to the next time stamp.</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8721352"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ong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S</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hort-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emory</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pic>
        <p:nvPicPr>
          <p:cNvPr id="8" name="圖片 7">
            <a:extLst>
              <a:ext uri="{FF2B5EF4-FFF2-40B4-BE49-F238E27FC236}">
                <a16:creationId xmlns:a16="http://schemas.microsoft.com/office/drawing/2014/main" id="{169773E7-B30A-794E-28AC-8FD1CB0E3323}"/>
              </a:ext>
            </a:extLst>
          </p:cNvPr>
          <p:cNvPicPr>
            <a:picLocks noChangeAspect="1"/>
          </p:cNvPicPr>
          <p:nvPr/>
        </p:nvPicPr>
        <p:blipFill>
          <a:blip r:embed="rId3"/>
          <a:stretch>
            <a:fillRect/>
          </a:stretch>
        </p:blipFill>
        <p:spPr>
          <a:xfrm>
            <a:off x="6660232" y="44624"/>
            <a:ext cx="2412268" cy="2880320"/>
          </a:xfrm>
          <a:prstGeom prst="rect">
            <a:avLst/>
          </a:prstGeom>
        </p:spPr>
      </p:pic>
      <p:pic>
        <p:nvPicPr>
          <p:cNvPr id="20" name="圖片 19">
            <a:extLst>
              <a:ext uri="{FF2B5EF4-FFF2-40B4-BE49-F238E27FC236}">
                <a16:creationId xmlns:a16="http://schemas.microsoft.com/office/drawing/2014/main" id="{EA6D820A-9145-B84E-0551-974ECABF6384}"/>
              </a:ext>
            </a:extLst>
          </p:cNvPr>
          <p:cNvPicPr>
            <a:picLocks noChangeAspect="1"/>
          </p:cNvPicPr>
          <p:nvPr/>
        </p:nvPicPr>
        <p:blipFill>
          <a:blip r:embed="rId4"/>
          <a:stretch>
            <a:fillRect/>
          </a:stretch>
        </p:blipFill>
        <p:spPr>
          <a:xfrm>
            <a:off x="283493" y="2945184"/>
            <a:ext cx="6808787" cy="3563339"/>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23217-625E-805F-5AEB-67F8FBD9E70C}"/>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12200328-F543-0FFF-9CEC-73F749406B50}"/>
              </a:ext>
            </a:extLst>
          </p:cNvPr>
          <p:cNvSpPr txBox="1"/>
          <p:nvPr/>
        </p:nvSpPr>
        <p:spPr>
          <a:xfrm>
            <a:off x="899592" y="947302"/>
            <a:ext cx="2664296" cy="1473586"/>
          </a:xfrm>
          <a:prstGeom prst="rect">
            <a:avLst/>
          </a:prstGeom>
          <a:solidFill>
            <a:srgbClr val="FEC203">
              <a:alpha val="40000"/>
            </a:srgbClr>
          </a:solidFill>
          <a:ln w="15875">
            <a:solidFill>
              <a:schemeClr val="bg1">
                <a:lumMod val="65000"/>
              </a:schemeClr>
            </a:solidFill>
          </a:ln>
        </p:spPr>
        <p:txBody>
          <a:bodyPr wrap="none" lIns="0" tIns="18288" rIns="0" bIns="0" anchor="t"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LSTM Memory Cell</a:t>
            </a:r>
          </a:p>
        </p:txBody>
      </p:sp>
      <p:sp>
        <p:nvSpPr>
          <p:cNvPr id="100" name="文字方塊 99">
            <a:extLst>
              <a:ext uri="{FF2B5EF4-FFF2-40B4-BE49-F238E27FC236}">
                <a16:creationId xmlns:a16="http://schemas.microsoft.com/office/drawing/2014/main" id="{068B1AC4-1D4A-0E7B-6991-41083D30C0F0}"/>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06ABD774-6A1D-EFFF-A1FB-05FEF4238262}"/>
              </a:ext>
            </a:extLst>
          </p:cNvPr>
          <p:cNvGraphicFramePr>
            <a:graphicFrameLocks noGrp="1"/>
          </p:cNvGraphicFramePr>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5C00DBFB-4EE6-2BD2-AC77-1593E82FD52C}"/>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5C9E2D2A-C2E9-8210-B437-9A4DC26146A7}"/>
              </a:ext>
            </a:extLst>
          </p:cNvPr>
          <p:cNvGraphicFramePr>
            <a:graphicFrameLocks noGrp="1"/>
          </p:cNvGraphicFramePr>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C1A6C5B2-083E-5F60-62AD-39D3D058A654}"/>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FC6E02AE-7229-E5CA-8217-64EE8B5FA96A}"/>
              </a:ext>
            </a:extLst>
          </p:cNvPr>
          <p:cNvGraphicFramePr>
            <a:graphicFrameLocks noGrp="1"/>
          </p:cNvGraphicFramePr>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797DB904-DE44-6CCE-20E2-23B451A0EE91}"/>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ABB1FFFE-8A62-292A-9DC8-40526C0EE43D}"/>
              </a:ext>
            </a:extLst>
          </p:cNvPr>
          <p:cNvGraphicFramePr>
            <a:graphicFrameLocks noGrp="1"/>
          </p:cNvGraphicFramePr>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31FB7D69-604B-BAD7-055D-8362D8471E69}"/>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69492AF6-68A8-7483-E082-F9118B3C1DA9}"/>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F35B03DF-C661-E7F4-132F-B3954CEC0E6A}"/>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圓角 14">
            <a:extLst>
              <a:ext uri="{FF2B5EF4-FFF2-40B4-BE49-F238E27FC236}">
                <a16:creationId xmlns:a16="http://schemas.microsoft.com/office/drawing/2014/main" id="{E625F811-10EE-A736-270A-F307424E81CD}"/>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C6F17E19-E804-BF89-0930-EB1457F4E72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4AEAC62-A051-C385-365D-BA63201F89C2}"/>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08767653-CF05-F52D-0116-607BA1CF251E}"/>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BA0F4A55-06D6-1B6B-BBC9-2EB74CC463CA}"/>
              </a:ext>
            </a:extLst>
          </p:cNvPr>
          <p:cNvSpPr txBox="1"/>
          <p:nvPr/>
        </p:nvSpPr>
        <p:spPr>
          <a:xfrm>
            <a:off x="6119882" y="3489920"/>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874CF8E5-3026-F7AE-B806-0F8445829B06}"/>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B3698059-07ED-BC5D-78EA-D67B9CD843E5}"/>
              </a:ext>
            </a:extLst>
          </p:cNvPr>
          <p:cNvSpPr txBox="1"/>
          <p:nvPr/>
        </p:nvSpPr>
        <p:spPr>
          <a:xfrm>
            <a:off x="423730" y="2911048"/>
            <a:ext cx="762724" cy="517951"/>
          </a:xfrm>
          <a:prstGeom prst="rect">
            <a:avLst/>
          </a:prstGeom>
          <a:noFill/>
          <a:ln w="15875">
            <a:noFill/>
          </a:ln>
        </p:spPr>
        <p:txBody>
          <a:bodyPr wrap="none" lIns="0" tIns="0" rIns="0" bIns="0" anchor="ctr" anchorCtr="1">
            <a:noAutofit/>
          </a:bodyPr>
          <a:lstStyle/>
          <a:p>
            <a:pPr algn="ctr">
              <a:lnSpc>
                <a:spcPts val="12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Hyperbolic</a:t>
            </a:r>
          </a:p>
          <a:p>
            <a:pPr algn="ctr">
              <a:lnSpc>
                <a:spcPts val="12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Tangent</a:t>
            </a:r>
          </a:p>
          <a:p>
            <a:pPr algn="ctr">
              <a:lnSpc>
                <a:spcPts val="12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Function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C3D8C5D0-B31D-8C57-F8BC-9FA0DDDFD2DF}"/>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39C5AEEC-B235-C7C0-7865-04F87FBF5CAE}"/>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5" name="直線單箭頭接點 24">
            <a:extLst>
              <a:ext uri="{FF2B5EF4-FFF2-40B4-BE49-F238E27FC236}">
                <a16:creationId xmlns:a16="http://schemas.microsoft.com/office/drawing/2014/main" id="{3C0182C2-37AA-8C62-9D0E-C4B1A5BF94B1}"/>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1E5DA509-B255-A4F2-F267-C83B2CE3052B}"/>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6FD8331D-1572-0AD4-2103-AAEDEEAA04FC}"/>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E0483849-D7DC-431A-1B52-57F228AE6EA6}"/>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CD6E85D7-AE92-4AD0-4986-1C8C1EDA47DD}"/>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B13320E2-99BC-252A-016B-ECD56C232498}"/>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1DB39A2A-57D1-33FD-6721-26FDE2F27EFF}"/>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8351ACD9-669B-C8B6-C2B5-B93E4E5CFC35}"/>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31D06E7-DC9D-E210-3CAC-52B5DC0227FD}"/>
              </a:ext>
            </a:extLst>
          </p:cNvPr>
          <p:cNvCxnSpPr>
            <a:cxnSpLocks/>
            <a:stCxn id="14" idx="0"/>
            <a:endCxn id="13" idx="2"/>
          </p:cNvCxnSpPr>
          <p:nvPr/>
        </p:nvCxnSpPr>
        <p:spPr>
          <a:xfrm flipV="1">
            <a:off x="6695946" y="3334388"/>
            <a:ext cx="245882" cy="1555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D80B795B-47F3-2DE8-C9BB-4BABAA455F8B}"/>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EA3386DC-00AE-9700-5760-C55E6411DC06}"/>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5F1DB198-B8B2-90EB-DDB3-303794112C26}"/>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2E01AFC0-1264-6AB6-8213-A8062A689522}"/>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BEAD8D78-7F2D-8CAC-41CF-D2C63C70AEB9}"/>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4E18B4D0-18B6-D36E-B92D-A99DFF9A3A96}"/>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22" name="圖形 21" descr="使用者 外框">
            <a:extLst>
              <a:ext uri="{FF2B5EF4-FFF2-40B4-BE49-F238E27FC236}">
                <a16:creationId xmlns:a16="http://schemas.microsoft.com/office/drawing/2014/main" id="{7F2E2D3F-C058-8BDD-F0B9-53CE6D831EB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50436" y="5407653"/>
            <a:ext cx="387816" cy="387816"/>
          </a:xfrm>
          <a:prstGeom prst="rect">
            <a:avLst/>
          </a:prstGeom>
        </p:spPr>
      </p:pic>
      <p:pic>
        <p:nvPicPr>
          <p:cNvPr id="9" name="圖片 8">
            <a:extLst>
              <a:ext uri="{FF2B5EF4-FFF2-40B4-BE49-F238E27FC236}">
                <a16:creationId xmlns:a16="http://schemas.microsoft.com/office/drawing/2014/main" id="{60AEE403-B0C0-681C-F446-ECF031FD751E}"/>
              </a:ext>
            </a:extLst>
          </p:cNvPr>
          <p:cNvPicPr>
            <a:picLocks noChangeAspect="1"/>
          </p:cNvPicPr>
          <p:nvPr/>
        </p:nvPicPr>
        <p:blipFill>
          <a:blip r:embed="rId4"/>
          <a:stretch>
            <a:fillRect/>
          </a:stretch>
        </p:blipFill>
        <p:spPr>
          <a:xfrm>
            <a:off x="61064" y="3766931"/>
            <a:ext cx="4436729" cy="2626846"/>
          </a:xfrm>
          <a:prstGeom prst="rect">
            <a:avLst/>
          </a:prstGeom>
        </p:spPr>
      </p:pic>
      <p:sp>
        <p:nvSpPr>
          <p:cNvPr id="92" name="文字方塊 91">
            <a:extLst>
              <a:ext uri="{FF2B5EF4-FFF2-40B4-BE49-F238E27FC236}">
                <a16:creationId xmlns:a16="http://schemas.microsoft.com/office/drawing/2014/main" id="{3B7CFB88-4432-804D-D91E-55B20A946B6A}"/>
              </a:ext>
            </a:extLst>
          </p:cNvPr>
          <p:cNvSpPr txBox="1"/>
          <p:nvPr/>
        </p:nvSpPr>
        <p:spPr>
          <a:xfrm>
            <a:off x="1023042" y="1204970"/>
            <a:ext cx="580256" cy="1103243"/>
          </a:xfrm>
          <a:prstGeom prst="rect">
            <a:avLst/>
          </a:prstGeom>
          <a:solidFill>
            <a:schemeClr val="accent1">
              <a:lumMod val="20000"/>
              <a:lumOff val="80000"/>
            </a:schemeClr>
          </a:solidFill>
          <a:ln w="3175">
            <a:solidFill>
              <a:srgbClr val="FEC203"/>
            </a:solidFill>
          </a:ln>
        </p:spPr>
        <p:txBody>
          <a:bodyPr wrap="none" lIns="0" tIns="0" rIns="0" bIns="0" anchor="t"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Forget </a:t>
            </a:r>
            <a:r>
              <a:rPr lang="en-US" altLang="zh-TW" sz="1000" dirty="0">
                <a:latin typeface="Gadugi" panose="020B0502040204020203" pitchFamily="34" charset="0"/>
                <a:ea typeface="Gadugi" panose="020B0502040204020203" pitchFamily="34" charset="0"/>
                <a:cs typeface="ADLaM Display" panose="02010000000000000000" pitchFamily="2" charset="0"/>
              </a:rPr>
              <a:t>gate</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26" name="文字方塊 25">
            <a:extLst>
              <a:ext uri="{FF2B5EF4-FFF2-40B4-BE49-F238E27FC236}">
                <a16:creationId xmlns:a16="http://schemas.microsoft.com/office/drawing/2014/main" id="{4622BC11-D7B6-AEAA-43B9-D44111A21737}"/>
              </a:ext>
            </a:extLst>
          </p:cNvPr>
          <p:cNvSpPr txBox="1"/>
          <p:nvPr/>
        </p:nvSpPr>
        <p:spPr>
          <a:xfrm>
            <a:off x="1726748" y="1204970"/>
            <a:ext cx="973892" cy="1103243"/>
          </a:xfrm>
          <a:prstGeom prst="rect">
            <a:avLst/>
          </a:prstGeom>
          <a:solidFill>
            <a:schemeClr val="accent1">
              <a:lumMod val="20000"/>
              <a:lumOff val="80000"/>
            </a:schemeClr>
          </a:solidFill>
          <a:ln w="3175">
            <a:solidFill>
              <a:srgbClr val="FEC203"/>
            </a:solidFill>
          </a:ln>
        </p:spPr>
        <p:txBody>
          <a:bodyPr wrap="none" lIns="0" tIns="0" rIns="0" bIns="0" anchor="t"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Input</a:t>
            </a:r>
            <a:r>
              <a:rPr lang="zh-TW" altLang="en-US" sz="1000"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000" dirty="0">
                <a:latin typeface="Gadugi" panose="020B0502040204020203" pitchFamily="34" charset="0"/>
                <a:ea typeface="Gadugi" panose="020B0502040204020203" pitchFamily="34" charset="0"/>
                <a:cs typeface="ADLaM Display" panose="02010000000000000000" pitchFamily="2" charset="0"/>
              </a:rPr>
              <a:t>gate</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31" name="文字方塊 30">
            <a:extLst>
              <a:ext uri="{FF2B5EF4-FFF2-40B4-BE49-F238E27FC236}">
                <a16:creationId xmlns:a16="http://schemas.microsoft.com/office/drawing/2014/main" id="{51BEF5BC-506C-BAA4-21B5-F70E94D4FF1F}"/>
              </a:ext>
            </a:extLst>
          </p:cNvPr>
          <p:cNvSpPr txBox="1"/>
          <p:nvPr/>
        </p:nvSpPr>
        <p:spPr>
          <a:xfrm>
            <a:off x="2911624" y="1196752"/>
            <a:ext cx="580256" cy="1103243"/>
          </a:xfrm>
          <a:prstGeom prst="rect">
            <a:avLst/>
          </a:prstGeom>
          <a:solidFill>
            <a:schemeClr val="accent1">
              <a:lumMod val="20000"/>
              <a:lumOff val="80000"/>
            </a:schemeClr>
          </a:solidFill>
          <a:ln w="3175">
            <a:solidFill>
              <a:srgbClr val="FEC203"/>
            </a:solidFill>
          </a:ln>
        </p:spPr>
        <p:txBody>
          <a:bodyPr wrap="none" lIns="0" tIns="0" rIns="0" bIns="0" anchor="t"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Output </a:t>
            </a:r>
            <a:r>
              <a:rPr lang="en-US" altLang="zh-TW" sz="1000" dirty="0">
                <a:latin typeface="Gadugi" panose="020B0502040204020203" pitchFamily="34" charset="0"/>
                <a:ea typeface="Gadugi" panose="020B0502040204020203" pitchFamily="34" charset="0"/>
                <a:cs typeface="ADLaM Display" panose="02010000000000000000" pitchFamily="2" charset="0"/>
              </a:rPr>
              <a:t>gate</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橢圓 32">
            <a:extLst>
              <a:ext uri="{FF2B5EF4-FFF2-40B4-BE49-F238E27FC236}">
                <a16:creationId xmlns:a16="http://schemas.microsoft.com/office/drawing/2014/main" id="{7A7A9FE4-3CA5-0521-13AB-0B6CB004D617}"/>
              </a:ext>
            </a:extLst>
          </p:cNvPr>
          <p:cNvSpPr/>
          <p:nvPr/>
        </p:nvSpPr>
        <p:spPr>
          <a:xfrm>
            <a:off x="1241008" y="14809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900"/>
              </a:lnSpc>
            </a:pPr>
            <a:r>
              <a:rPr lang="en-US" altLang="zh-TW" dirty="0">
                <a:solidFill>
                  <a:schemeClr val="tx1"/>
                </a:solidFill>
              </a:rPr>
              <a:t>x</a:t>
            </a:r>
            <a:endParaRPr lang="zh-TW" altLang="en-US" dirty="0">
              <a:solidFill>
                <a:schemeClr val="tx1"/>
              </a:solidFill>
            </a:endParaRPr>
          </a:p>
        </p:txBody>
      </p:sp>
      <p:sp>
        <p:nvSpPr>
          <p:cNvPr id="39" name="文字方塊 38">
            <a:extLst>
              <a:ext uri="{FF2B5EF4-FFF2-40B4-BE49-F238E27FC236}">
                <a16:creationId xmlns:a16="http://schemas.microsoft.com/office/drawing/2014/main" id="{E9FE29A2-DA20-679A-1C26-83E93D55A60F}"/>
              </a:ext>
            </a:extLst>
          </p:cNvPr>
          <p:cNvSpPr txBox="1"/>
          <p:nvPr/>
        </p:nvSpPr>
        <p:spPr>
          <a:xfrm>
            <a:off x="1238732" y="2060848"/>
            <a:ext cx="152400" cy="188118"/>
          </a:xfrm>
          <a:prstGeom prst="rect">
            <a:avLst/>
          </a:prstGeom>
          <a:noFill/>
          <a:ln w="3175">
            <a:noFill/>
          </a:ln>
        </p:spPr>
        <p:txBody>
          <a:bodyPr wrap="none" lIns="0" tIns="0" rIns="0" bIns="0" anchor="ctr" anchorCtr="1">
            <a:noAutofit/>
          </a:bodyPr>
          <a:lstStyle/>
          <a:p>
            <a:pPr algn="ctr">
              <a:lnSpc>
                <a:spcPts val="2000"/>
              </a:lnSpc>
              <a:buNone/>
            </a:pPr>
            <a:r>
              <a:rPr lang="el-GR" altLang="zh-TW" sz="2000" b="1" u="none" strike="noStrike" dirty="0">
                <a:effectLst/>
                <a:latin typeface="Calibri" panose="020F0502020204030204" pitchFamily="34" charset="0"/>
                <a:ea typeface="Calibri" panose="020F0502020204030204" pitchFamily="34" charset="0"/>
                <a:cs typeface="Calibri" panose="020F0502020204030204" pitchFamily="34" charset="0"/>
              </a:rPr>
              <a:t>σ</a:t>
            </a:r>
            <a:endParaRPr lang="en-US" altLang="zh-TW" sz="2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50" name="直線單箭頭接點 49">
            <a:extLst>
              <a:ext uri="{FF2B5EF4-FFF2-40B4-BE49-F238E27FC236}">
                <a16:creationId xmlns:a16="http://schemas.microsoft.com/office/drawing/2014/main" id="{01B6C39D-DEFC-BEBA-3AFF-9A8AE6F8AD09}"/>
              </a:ext>
            </a:extLst>
          </p:cNvPr>
          <p:cNvCxnSpPr>
            <a:cxnSpLocks/>
            <a:stCxn id="39" idx="0"/>
            <a:endCxn id="33" idx="4"/>
          </p:cNvCxnSpPr>
          <p:nvPr/>
        </p:nvCxnSpPr>
        <p:spPr>
          <a:xfrm flipV="1">
            <a:off x="1314932" y="1624990"/>
            <a:ext cx="2276" cy="435858"/>
          </a:xfrm>
          <a:prstGeom prst="straightConnector1">
            <a:avLst/>
          </a:prstGeom>
          <a:ln w="19050">
            <a:solidFill>
              <a:schemeClr val="tx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8" name="文字方塊 47">
            <a:extLst>
              <a:ext uri="{FF2B5EF4-FFF2-40B4-BE49-F238E27FC236}">
                <a16:creationId xmlns:a16="http://schemas.microsoft.com/office/drawing/2014/main" id="{AB8889CD-C78C-A5A0-D303-EF8C6E09336F}"/>
              </a:ext>
            </a:extLst>
          </p:cNvPr>
          <p:cNvSpPr txBox="1"/>
          <p:nvPr/>
        </p:nvSpPr>
        <p:spPr>
          <a:xfrm>
            <a:off x="1899320" y="2060848"/>
            <a:ext cx="152400" cy="188118"/>
          </a:xfrm>
          <a:prstGeom prst="rect">
            <a:avLst/>
          </a:prstGeom>
          <a:noFill/>
          <a:ln w="3175">
            <a:noFill/>
          </a:ln>
        </p:spPr>
        <p:txBody>
          <a:bodyPr wrap="none" lIns="0" tIns="0" rIns="0" bIns="0" anchor="ctr" anchorCtr="1">
            <a:noAutofit/>
          </a:bodyPr>
          <a:lstStyle/>
          <a:p>
            <a:pPr algn="ctr">
              <a:lnSpc>
                <a:spcPts val="2000"/>
              </a:lnSpc>
              <a:buNone/>
            </a:pPr>
            <a:r>
              <a:rPr lang="el-GR" altLang="zh-TW" sz="2000" b="1" u="none" strike="noStrike" dirty="0">
                <a:effectLst/>
                <a:latin typeface="Calibri" panose="020F0502020204030204" pitchFamily="34" charset="0"/>
                <a:ea typeface="Calibri" panose="020F0502020204030204" pitchFamily="34" charset="0"/>
                <a:cs typeface="Calibri" panose="020F0502020204030204" pitchFamily="34" charset="0"/>
              </a:rPr>
              <a:t>σ</a:t>
            </a:r>
            <a:endParaRPr lang="en-US" altLang="zh-TW" sz="2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51" name="文字方塊 50">
            <a:extLst>
              <a:ext uri="{FF2B5EF4-FFF2-40B4-BE49-F238E27FC236}">
                <a16:creationId xmlns:a16="http://schemas.microsoft.com/office/drawing/2014/main" id="{1A732318-4D7E-87B0-D821-EC6E083EB099}"/>
              </a:ext>
            </a:extLst>
          </p:cNvPr>
          <p:cNvSpPr txBox="1"/>
          <p:nvPr/>
        </p:nvSpPr>
        <p:spPr>
          <a:xfrm>
            <a:off x="2195333" y="2124732"/>
            <a:ext cx="432451" cy="121776"/>
          </a:xfrm>
          <a:prstGeom prst="rect">
            <a:avLst/>
          </a:prstGeom>
          <a:noFill/>
          <a:ln w="3175">
            <a:noFill/>
          </a:ln>
        </p:spPr>
        <p:txBody>
          <a:bodyPr wrap="none" lIns="0" tIns="0" rIns="0" bIns="0" anchor="ctr" anchorCtr="1">
            <a:noAutofit/>
          </a:bodyPr>
          <a:lstStyle/>
          <a:p>
            <a:pPr algn="ctr">
              <a:lnSpc>
                <a:spcPts val="2000"/>
              </a:lnSpc>
              <a:buNone/>
            </a:pPr>
            <a:r>
              <a:rPr lang="en-US" altLang="zh-TW" sz="1400" u="none" strike="noStrike" dirty="0">
                <a:effectLst/>
                <a:latin typeface="ADLaM Display" panose="02010000000000000000" pitchFamily="2" charset="0"/>
                <a:ea typeface="ADLaM Display" panose="02010000000000000000" pitchFamily="2" charset="0"/>
                <a:cs typeface="ADLaM Display" panose="02010000000000000000" pitchFamily="2" charset="0"/>
              </a:rPr>
              <a:t>tanh</a:t>
            </a:r>
          </a:p>
        </p:txBody>
      </p:sp>
      <p:sp>
        <p:nvSpPr>
          <p:cNvPr id="55" name="文字方塊 54">
            <a:extLst>
              <a:ext uri="{FF2B5EF4-FFF2-40B4-BE49-F238E27FC236}">
                <a16:creationId xmlns:a16="http://schemas.microsoft.com/office/drawing/2014/main" id="{3200B7B1-C3E2-407B-B6D2-74D42CFAE87E}"/>
              </a:ext>
            </a:extLst>
          </p:cNvPr>
          <p:cNvSpPr txBox="1"/>
          <p:nvPr/>
        </p:nvSpPr>
        <p:spPr>
          <a:xfrm>
            <a:off x="3140164" y="2060848"/>
            <a:ext cx="152400" cy="188118"/>
          </a:xfrm>
          <a:prstGeom prst="rect">
            <a:avLst/>
          </a:prstGeom>
          <a:noFill/>
          <a:ln w="3175">
            <a:noFill/>
          </a:ln>
        </p:spPr>
        <p:txBody>
          <a:bodyPr wrap="none" lIns="0" tIns="0" rIns="0" bIns="0" anchor="ctr" anchorCtr="1">
            <a:noAutofit/>
          </a:bodyPr>
          <a:lstStyle/>
          <a:p>
            <a:pPr algn="ctr">
              <a:lnSpc>
                <a:spcPts val="2000"/>
              </a:lnSpc>
              <a:buNone/>
            </a:pPr>
            <a:r>
              <a:rPr lang="el-GR" altLang="zh-TW" sz="2000" b="1" u="none" strike="noStrike" dirty="0">
                <a:effectLst/>
                <a:latin typeface="Calibri" panose="020F0502020204030204" pitchFamily="34" charset="0"/>
                <a:ea typeface="Calibri" panose="020F0502020204030204" pitchFamily="34" charset="0"/>
                <a:cs typeface="Calibri" panose="020F0502020204030204" pitchFamily="34" charset="0"/>
              </a:rPr>
              <a:t>σ</a:t>
            </a:r>
            <a:endParaRPr lang="en-US" altLang="zh-TW" sz="2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20" name="橢圓 19">
            <a:extLst>
              <a:ext uri="{FF2B5EF4-FFF2-40B4-BE49-F238E27FC236}">
                <a16:creationId xmlns:a16="http://schemas.microsoft.com/office/drawing/2014/main" id="{0305871E-B55F-FEB4-5354-3C955255ED17}"/>
              </a:ext>
            </a:extLst>
          </p:cNvPr>
          <p:cNvSpPr/>
          <p:nvPr/>
        </p:nvSpPr>
        <p:spPr>
          <a:xfrm>
            <a:off x="2340893" y="148478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2000"/>
              </a:lnSpc>
            </a:pPr>
            <a:r>
              <a:rPr lang="en-US" altLang="zh-TW"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dirty="0">
              <a:solidFill>
                <a:schemeClr val="tx1"/>
              </a:solidFill>
            </a:endParaRPr>
          </a:p>
        </p:txBody>
      </p:sp>
      <p:sp>
        <p:nvSpPr>
          <p:cNvPr id="58" name="橢圓 57">
            <a:extLst>
              <a:ext uri="{FF2B5EF4-FFF2-40B4-BE49-F238E27FC236}">
                <a16:creationId xmlns:a16="http://schemas.microsoft.com/office/drawing/2014/main" id="{C62D1443-FDAD-41D8-E71D-4F1C4FF88C78}"/>
              </a:ext>
            </a:extLst>
          </p:cNvPr>
          <p:cNvSpPr/>
          <p:nvPr/>
        </p:nvSpPr>
        <p:spPr>
          <a:xfrm>
            <a:off x="2339446" y="1810916"/>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900"/>
              </a:lnSpc>
            </a:pPr>
            <a:r>
              <a:rPr lang="en-US" altLang="zh-TW" dirty="0">
                <a:solidFill>
                  <a:schemeClr val="tx1"/>
                </a:solidFill>
              </a:rPr>
              <a:t>x</a:t>
            </a:r>
            <a:endParaRPr lang="zh-TW" altLang="en-US" dirty="0">
              <a:solidFill>
                <a:schemeClr val="tx1"/>
              </a:solidFill>
            </a:endParaRPr>
          </a:p>
        </p:txBody>
      </p:sp>
      <p:cxnSp>
        <p:nvCxnSpPr>
          <p:cNvPr id="59" name="直線單箭頭接點 58">
            <a:extLst>
              <a:ext uri="{FF2B5EF4-FFF2-40B4-BE49-F238E27FC236}">
                <a16:creationId xmlns:a16="http://schemas.microsoft.com/office/drawing/2014/main" id="{230AB2D2-2E3B-10D0-7E7B-56F180A3BFBC}"/>
              </a:ext>
            </a:extLst>
          </p:cNvPr>
          <p:cNvCxnSpPr>
            <a:cxnSpLocks/>
            <a:stCxn id="51" idx="0"/>
            <a:endCxn id="58" idx="4"/>
          </p:cNvCxnSpPr>
          <p:nvPr/>
        </p:nvCxnSpPr>
        <p:spPr>
          <a:xfrm flipV="1">
            <a:off x="2411559" y="1954932"/>
            <a:ext cx="4087" cy="169800"/>
          </a:xfrm>
          <a:prstGeom prst="straightConnector1">
            <a:avLst/>
          </a:prstGeom>
          <a:ln w="19050">
            <a:solidFill>
              <a:schemeClr val="tx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64" name="直線單箭頭接點 63">
            <a:extLst>
              <a:ext uri="{FF2B5EF4-FFF2-40B4-BE49-F238E27FC236}">
                <a16:creationId xmlns:a16="http://schemas.microsoft.com/office/drawing/2014/main" id="{F5C052F5-CA49-3CC7-324D-8A1237AD62C5}"/>
              </a:ext>
            </a:extLst>
          </p:cNvPr>
          <p:cNvCxnSpPr>
            <a:cxnSpLocks/>
            <a:stCxn id="58" idx="0"/>
            <a:endCxn id="20" idx="4"/>
          </p:cNvCxnSpPr>
          <p:nvPr/>
        </p:nvCxnSpPr>
        <p:spPr>
          <a:xfrm flipV="1">
            <a:off x="2415646" y="1628800"/>
            <a:ext cx="1447" cy="182116"/>
          </a:xfrm>
          <a:prstGeom prst="straightConnector1">
            <a:avLst/>
          </a:prstGeom>
          <a:ln w="19050">
            <a:solidFill>
              <a:schemeClr val="tx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接點: 肘形 22">
            <a:extLst>
              <a:ext uri="{FF2B5EF4-FFF2-40B4-BE49-F238E27FC236}">
                <a16:creationId xmlns:a16="http://schemas.microsoft.com/office/drawing/2014/main" id="{FB5C4BBF-079F-0ED7-1300-8A84B44C9232}"/>
              </a:ext>
            </a:extLst>
          </p:cNvPr>
          <p:cNvCxnSpPr>
            <a:cxnSpLocks/>
            <a:stCxn id="48" idx="0"/>
            <a:endCxn id="58" idx="2"/>
          </p:cNvCxnSpPr>
          <p:nvPr/>
        </p:nvCxnSpPr>
        <p:spPr>
          <a:xfrm rot="5400000" flipH="1" flipV="1">
            <a:off x="2068521" y="1789923"/>
            <a:ext cx="177924" cy="363926"/>
          </a:xfrm>
          <a:prstGeom prst="bentConnector2">
            <a:avLst/>
          </a:prstGeom>
          <a:ln w="19050">
            <a:solidFill>
              <a:schemeClr val="tx1"/>
            </a:solidFill>
            <a:headEnd type="none" w="sm" len="sm"/>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759588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7B754B0-027A-B652-8298-85EFEE70CADF}"/>
              </a:ext>
            </a:extLst>
          </p:cNvPr>
          <p:cNvPicPr>
            <a:picLocks noChangeAspect="1"/>
          </p:cNvPicPr>
          <p:nvPr/>
        </p:nvPicPr>
        <p:blipFill>
          <a:blip r:embed="rId3"/>
          <a:stretch>
            <a:fillRect/>
          </a:stretch>
        </p:blipFill>
        <p:spPr>
          <a:xfrm>
            <a:off x="0" y="0"/>
            <a:ext cx="6382641" cy="3829584"/>
          </a:xfrm>
          <a:prstGeom prst="rect">
            <a:avLst/>
          </a:prstGeom>
        </p:spPr>
      </p:pic>
      <p:pic>
        <p:nvPicPr>
          <p:cNvPr id="5" name="圖片 4">
            <a:extLst>
              <a:ext uri="{FF2B5EF4-FFF2-40B4-BE49-F238E27FC236}">
                <a16:creationId xmlns:a16="http://schemas.microsoft.com/office/drawing/2014/main" id="{22F1C41D-3687-518E-0C70-4B97661137E2}"/>
              </a:ext>
            </a:extLst>
          </p:cNvPr>
          <p:cNvPicPr>
            <a:picLocks noChangeAspect="1"/>
          </p:cNvPicPr>
          <p:nvPr/>
        </p:nvPicPr>
        <p:blipFill>
          <a:blip r:embed="rId4"/>
          <a:stretch>
            <a:fillRect/>
          </a:stretch>
        </p:blipFill>
        <p:spPr>
          <a:xfrm>
            <a:off x="179512" y="3933056"/>
            <a:ext cx="5496692" cy="1276528"/>
          </a:xfrm>
          <a:prstGeom prst="rect">
            <a:avLst/>
          </a:prstGeom>
        </p:spPr>
      </p:pic>
      <p:pic>
        <p:nvPicPr>
          <p:cNvPr id="7" name="圖片 6">
            <a:extLst>
              <a:ext uri="{FF2B5EF4-FFF2-40B4-BE49-F238E27FC236}">
                <a16:creationId xmlns:a16="http://schemas.microsoft.com/office/drawing/2014/main" id="{296D0F34-BC94-6A8B-1050-24E9A84D2DA9}"/>
              </a:ext>
            </a:extLst>
          </p:cNvPr>
          <p:cNvPicPr>
            <a:picLocks noChangeAspect="1"/>
          </p:cNvPicPr>
          <p:nvPr/>
        </p:nvPicPr>
        <p:blipFill>
          <a:blip r:embed="rId5"/>
          <a:stretch>
            <a:fillRect/>
          </a:stretch>
        </p:blipFill>
        <p:spPr>
          <a:xfrm>
            <a:off x="184845" y="5313056"/>
            <a:ext cx="5944430" cy="1343212"/>
          </a:xfrm>
          <a:prstGeom prst="rect">
            <a:avLst/>
          </a:prstGeom>
        </p:spPr>
      </p:pic>
      <p:pic>
        <p:nvPicPr>
          <p:cNvPr id="9" name="圖片 8">
            <a:extLst>
              <a:ext uri="{FF2B5EF4-FFF2-40B4-BE49-F238E27FC236}">
                <a16:creationId xmlns:a16="http://schemas.microsoft.com/office/drawing/2014/main" id="{C7768AC6-198F-0B95-D652-44F0E96315F3}"/>
              </a:ext>
            </a:extLst>
          </p:cNvPr>
          <p:cNvPicPr>
            <a:picLocks noChangeAspect="1"/>
          </p:cNvPicPr>
          <p:nvPr/>
        </p:nvPicPr>
        <p:blipFill>
          <a:blip r:embed="rId6"/>
          <a:stretch>
            <a:fillRect/>
          </a:stretch>
        </p:blipFill>
        <p:spPr>
          <a:xfrm>
            <a:off x="2904254" y="201757"/>
            <a:ext cx="6239746" cy="1571844"/>
          </a:xfrm>
          <a:prstGeom prst="rect">
            <a:avLst/>
          </a:prstGeom>
        </p:spPr>
      </p:pic>
      <p:pic>
        <p:nvPicPr>
          <p:cNvPr id="11" name="圖片 10">
            <a:extLst>
              <a:ext uri="{FF2B5EF4-FFF2-40B4-BE49-F238E27FC236}">
                <a16:creationId xmlns:a16="http://schemas.microsoft.com/office/drawing/2014/main" id="{31CA6E19-EF8D-DA11-2613-B8697BCC083E}"/>
              </a:ext>
            </a:extLst>
          </p:cNvPr>
          <p:cNvPicPr>
            <a:picLocks noChangeAspect="1"/>
          </p:cNvPicPr>
          <p:nvPr/>
        </p:nvPicPr>
        <p:blipFill>
          <a:blip r:embed="rId7"/>
          <a:stretch>
            <a:fillRect/>
          </a:stretch>
        </p:blipFill>
        <p:spPr>
          <a:xfrm>
            <a:off x="3762900" y="1877073"/>
            <a:ext cx="5239481" cy="1352739"/>
          </a:xfrm>
          <a:prstGeom prst="rect">
            <a:avLst/>
          </a:prstGeom>
        </p:spPr>
      </p:pic>
      <p:sp>
        <p:nvSpPr>
          <p:cNvPr id="15" name="文字方塊 14">
            <a:extLst>
              <a:ext uri="{FF2B5EF4-FFF2-40B4-BE49-F238E27FC236}">
                <a16:creationId xmlns:a16="http://schemas.microsoft.com/office/drawing/2014/main" id="{08DA9942-5A75-91F2-0080-CBB4DCE111B0}"/>
              </a:ext>
            </a:extLst>
          </p:cNvPr>
          <p:cNvSpPr txBox="1"/>
          <p:nvPr/>
        </p:nvSpPr>
        <p:spPr>
          <a:xfrm>
            <a:off x="6684565" y="4101698"/>
            <a:ext cx="2342149" cy="2554545"/>
          </a:xfrm>
          <a:prstGeom prst="rect">
            <a:avLst/>
          </a:prstGeom>
          <a:noFill/>
        </p:spPr>
        <p:txBody>
          <a:bodyPr wrap="square">
            <a:spAutoFit/>
          </a:bodyPr>
          <a:lstStyle/>
          <a:p>
            <a:pPr>
              <a:lnSpc>
                <a:spcPts val="1200"/>
              </a:lnSpc>
            </a:pPr>
            <a:r>
              <a:rPr lang="zh-TW" altLang="en-US" sz="1000" dirty="0">
                <a:latin typeface="微軟正黑體" panose="020B0604030504040204" pitchFamily="34" charset="-120"/>
                <a:ea typeface="微軟正黑體" panose="020B0604030504040204" pitchFamily="34" charset="-120"/>
              </a:rPr>
              <a:t>💡 實務運作的核心痛點（為什麼要排隊？）</a:t>
            </a:r>
          </a:p>
          <a:p>
            <a:pPr>
              <a:lnSpc>
                <a:spcPts val="1200"/>
              </a:lnSpc>
            </a:pPr>
            <a:r>
              <a:rPr lang="zh-TW" altLang="en-US" sz="1000" dirty="0">
                <a:latin typeface="微軟正黑體" panose="020B0604030504040204" pitchFamily="34" charset="-120"/>
                <a:ea typeface="微軟正黑體" panose="020B0604030504040204" pitchFamily="34" charset="-120"/>
              </a:rPr>
              <a:t>從上述的「作法」中你可以發現，計算第 </a:t>
            </a:r>
            <a:r>
              <a:rPr lang="en-US" altLang="zh-TW" sz="1000" dirty="0">
                <a:latin typeface="微軟正黑體" panose="020B0604030504040204" pitchFamily="34" charset="-120"/>
                <a:ea typeface="微軟正黑體" panose="020B0604030504040204" pitchFamily="34" charset="-120"/>
              </a:rPr>
              <a:t>2 </a:t>
            </a:r>
            <a:r>
              <a:rPr lang="zh-TW" altLang="en-US" sz="1000" dirty="0">
                <a:latin typeface="微軟正黑體" panose="020B0604030504040204" pitchFamily="34" charset="-120"/>
                <a:ea typeface="微軟正黑體" panose="020B0604030504040204" pitchFamily="34" charset="-120"/>
              </a:rPr>
              <a:t>個字時，公式裡必須代入上一步的 </a:t>
            </a:r>
            <a:r>
              <a:rPr lang="en-US" altLang="zh-TW" sz="1000" dirty="0">
                <a:latin typeface="微軟正黑體" panose="020B0604030504040204" pitchFamily="34" charset="-120"/>
                <a:ea typeface="微軟正黑體" panose="020B0604030504040204" pitchFamily="34" charset="-120"/>
              </a:rPr>
              <a:t>h{t-1} </a:t>
            </a:r>
            <a:r>
              <a:rPr lang="zh-TW" altLang="en-US" sz="1000" dirty="0">
                <a:latin typeface="微軟正黑體" panose="020B0604030504040204" pitchFamily="34" charset="-120"/>
                <a:ea typeface="微軟正黑體" panose="020B0604030504040204" pitchFamily="34" charset="-120"/>
              </a:rPr>
              <a:t>和 </a:t>
            </a:r>
            <a:r>
              <a:rPr lang="en-US" altLang="zh-TW" sz="1000" dirty="0">
                <a:latin typeface="微軟正黑體" panose="020B0604030504040204" pitchFamily="34" charset="-120"/>
                <a:ea typeface="微軟正黑體" panose="020B0604030504040204" pitchFamily="34" charset="-120"/>
              </a:rPr>
              <a:t>C_{t-1}</a:t>
            </a:r>
            <a:r>
              <a:rPr lang="zh-TW" altLang="en-US" sz="1000" dirty="0">
                <a:latin typeface="微軟正黑體" panose="020B0604030504040204" pitchFamily="34" charset="-120"/>
                <a:ea typeface="微軟正黑體" panose="020B0604030504040204" pitchFamily="34" charset="-120"/>
              </a:rPr>
              <a:t>。</a:t>
            </a:r>
            <a:br>
              <a:rPr lang="zh-TW" altLang="en-US" sz="1000" dirty="0">
                <a:latin typeface="微軟正黑體" panose="020B0604030504040204" pitchFamily="34" charset="-120"/>
                <a:ea typeface="微軟正黑體" panose="020B0604030504040204" pitchFamily="34" charset="-120"/>
              </a:rPr>
            </a:br>
            <a:r>
              <a:rPr lang="zh-TW" altLang="en-US" sz="1000" dirty="0">
                <a:latin typeface="微軟正黑體" panose="020B0604030504040204" pitchFamily="34" charset="-120"/>
                <a:ea typeface="微軟正黑體" panose="020B0604030504040204" pitchFamily="34" charset="-120"/>
              </a:rPr>
              <a:t>這意味著：</a:t>
            </a:r>
          </a:p>
          <a:p>
            <a:pPr>
              <a:lnSpc>
                <a:spcPts val="1200"/>
              </a:lnSpc>
            </a:pPr>
            <a:r>
              <a:rPr lang="zh-TW" altLang="en-US" sz="1000" dirty="0">
                <a:latin typeface="微軟正黑體" panose="020B0604030504040204" pitchFamily="34" charset="-120"/>
                <a:ea typeface="微軟正黑體" panose="020B0604030504040204" pitchFamily="34" charset="-120"/>
              </a:rPr>
              <a:t>你無法同時計算第 </a:t>
            </a:r>
            <a:r>
              <a:rPr lang="en-US" altLang="zh-TW" sz="1000" dirty="0">
                <a:latin typeface="微軟正黑體" panose="020B0604030504040204" pitchFamily="34" charset="-120"/>
                <a:ea typeface="微軟正黑體" panose="020B0604030504040204" pitchFamily="34" charset="-120"/>
              </a:rPr>
              <a:t>1 </a:t>
            </a:r>
            <a:r>
              <a:rPr lang="zh-TW" altLang="en-US" sz="1000" dirty="0">
                <a:latin typeface="微軟正黑體" panose="020B0604030504040204" pitchFamily="34" charset="-120"/>
                <a:ea typeface="微軟正黑體" panose="020B0604030504040204" pitchFamily="34" charset="-120"/>
              </a:rPr>
              <a:t>個字和第 </a:t>
            </a:r>
            <a:r>
              <a:rPr lang="en-US" altLang="zh-TW" sz="1000" dirty="0">
                <a:latin typeface="微軟正黑體" panose="020B0604030504040204" pitchFamily="34" charset="-120"/>
                <a:ea typeface="微軟正黑體" panose="020B0604030504040204" pitchFamily="34" charset="-120"/>
              </a:rPr>
              <a:t>100 </a:t>
            </a:r>
            <a:r>
              <a:rPr lang="zh-TW" altLang="en-US" sz="1000" dirty="0">
                <a:latin typeface="微軟正黑體" panose="020B0604030504040204" pitchFamily="34" charset="-120"/>
                <a:ea typeface="微軟正黑體" panose="020B0604030504040204" pitchFamily="34" charset="-120"/>
              </a:rPr>
              <a:t>個字。</a:t>
            </a:r>
          </a:p>
          <a:p>
            <a:pPr>
              <a:lnSpc>
                <a:spcPts val="1200"/>
              </a:lnSpc>
            </a:pPr>
            <a:r>
              <a:rPr lang="zh-TW" altLang="en-US" sz="1000" dirty="0">
                <a:latin typeface="微軟正黑體" panose="020B0604030504040204" pitchFamily="34" charset="-120"/>
                <a:ea typeface="微軟正黑體" panose="020B0604030504040204" pitchFamily="34" charset="-120"/>
              </a:rPr>
              <a:t>顯示卡（</a:t>
            </a:r>
            <a:r>
              <a:rPr lang="en-US" altLang="zh-TW" sz="1000" dirty="0">
                <a:latin typeface="微軟正黑體" panose="020B0604030504040204" pitchFamily="34" charset="-120"/>
                <a:ea typeface="微軟正黑體" panose="020B0604030504040204" pitchFamily="34" charset="-120"/>
              </a:rPr>
              <a:t>GPU</a:t>
            </a:r>
            <a:r>
              <a:rPr lang="zh-TW" altLang="en-US" sz="1000" dirty="0">
                <a:latin typeface="微軟正黑體" panose="020B0604030504040204" pitchFamily="34" charset="-120"/>
                <a:ea typeface="微軟正黑體" panose="020B0604030504040204" pitchFamily="34" charset="-120"/>
              </a:rPr>
              <a:t>）有幾千個核心可以並行運算，但在跑 </a:t>
            </a:r>
            <a:r>
              <a:rPr lang="en-US" altLang="zh-TW" sz="1000" dirty="0">
                <a:latin typeface="微軟正黑體" panose="020B0604030504040204" pitchFamily="34" charset="-120"/>
                <a:ea typeface="微軟正黑體" panose="020B0604030504040204" pitchFamily="34" charset="-120"/>
              </a:rPr>
              <a:t>LSTM </a:t>
            </a:r>
            <a:r>
              <a:rPr lang="zh-TW" altLang="en-US" sz="1000" dirty="0">
                <a:latin typeface="微軟正黑體" panose="020B0604030504040204" pitchFamily="34" charset="-120"/>
                <a:ea typeface="微軟正黑體" panose="020B0604030504040204" pitchFamily="34" charset="-120"/>
              </a:rPr>
              <a:t>時，只能逼它們乖乖「排隊」等前一個字算完。</a:t>
            </a:r>
          </a:p>
          <a:p>
            <a:pPr>
              <a:lnSpc>
                <a:spcPts val="1200"/>
              </a:lnSpc>
            </a:pPr>
            <a:r>
              <a:rPr lang="zh-TW" altLang="en-US" sz="1000" dirty="0">
                <a:latin typeface="微軟正黑體" panose="020B0604030504040204" pitchFamily="34" charset="-120"/>
                <a:ea typeface="微軟正黑體" panose="020B0604030504040204" pitchFamily="34" charset="-120"/>
              </a:rPr>
              <a:t>這也是為什麼當前 </a:t>
            </a:r>
            <a:r>
              <a:rPr lang="en-US" altLang="zh-TW" sz="1000" dirty="0">
                <a:latin typeface="微軟正黑體" panose="020B0604030504040204" pitchFamily="34" charset="-120"/>
                <a:ea typeface="微軟正黑體" panose="020B0604030504040204" pitchFamily="34" charset="-120"/>
              </a:rPr>
              <a:t>AI </a:t>
            </a:r>
            <a:r>
              <a:rPr lang="zh-TW" altLang="en-US" sz="1000" dirty="0">
                <a:latin typeface="微軟正黑體" panose="020B0604030504040204" pitchFamily="34" charset="-120"/>
                <a:ea typeface="微軟正黑體" panose="020B0604030504040204" pitchFamily="34" charset="-120"/>
              </a:rPr>
              <a:t>業界全面轉向 </a:t>
            </a:r>
            <a:r>
              <a:rPr lang="en-US" altLang="zh-TW" sz="1000" dirty="0">
                <a:latin typeface="微軟正黑體" panose="020B0604030504040204" pitchFamily="34" charset="-120"/>
                <a:ea typeface="微軟正黑體" panose="020B0604030504040204" pitchFamily="34" charset="-120"/>
              </a:rPr>
              <a:t>Transformer</a:t>
            </a:r>
            <a:r>
              <a:rPr lang="zh-TW" altLang="en-US" sz="1000" dirty="0">
                <a:latin typeface="微軟正黑體" panose="020B0604030504040204" pitchFamily="34" charset="-120"/>
                <a:ea typeface="微軟正黑體" panose="020B0604030504040204" pitchFamily="34" charset="-120"/>
              </a:rPr>
              <a:t>，因為 </a:t>
            </a:r>
            <a:r>
              <a:rPr lang="en-US" altLang="zh-TW" sz="1000" dirty="0">
                <a:latin typeface="微軟正黑體" panose="020B0604030504040204" pitchFamily="34" charset="-120"/>
                <a:ea typeface="微軟正黑體" panose="020B0604030504040204" pitchFamily="34" charset="-120"/>
              </a:rPr>
              <a:t>Transformer </a:t>
            </a:r>
            <a:r>
              <a:rPr lang="zh-TW" altLang="en-US" sz="1000" dirty="0">
                <a:latin typeface="微軟正黑體" panose="020B0604030504040204" pitchFamily="34" charset="-120"/>
                <a:ea typeface="微軟正黑體" panose="020B0604030504040204" pitchFamily="34" charset="-120"/>
              </a:rPr>
              <a:t>的作法是把所有字一次全部丟進去算（</a:t>
            </a:r>
            <a:r>
              <a:rPr lang="en-US" altLang="zh-TW" sz="1000" dirty="0">
                <a:latin typeface="微軟正黑體" panose="020B0604030504040204" pitchFamily="34" charset="-120"/>
                <a:ea typeface="微軟正黑體" panose="020B0604030504040204" pitchFamily="34" charset="-120"/>
              </a:rPr>
              <a:t>Self-Attention</a:t>
            </a:r>
            <a:r>
              <a:rPr lang="zh-TW" altLang="en-US" sz="1000" dirty="0">
                <a:latin typeface="微軟正黑體" panose="020B0604030504040204" pitchFamily="34" charset="-120"/>
                <a:ea typeface="微軟正黑體" panose="020B0604030504040204" pitchFamily="34" charset="-120"/>
              </a:rPr>
              <a:t>），徹底解放了 </a:t>
            </a:r>
            <a:r>
              <a:rPr lang="en-US" altLang="zh-TW" sz="1000" dirty="0">
                <a:latin typeface="微軟正黑體" panose="020B0604030504040204" pitchFamily="34" charset="-120"/>
                <a:ea typeface="微軟正黑體" panose="020B0604030504040204" pitchFamily="34" charset="-120"/>
              </a:rPr>
              <a:t>GPU </a:t>
            </a:r>
            <a:r>
              <a:rPr lang="zh-TW" altLang="en-US" sz="1000" dirty="0">
                <a:latin typeface="微軟正黑體" panose="020B0604030504040204" pitchFamily="34" charset="-120"/>
                <a:ea typeface="微軟正黑體" panose="020B0604030504040204" pitchFamily="34" charset="-120"/>
              </a:rPr>
              <a:t>的並行算力。</a:t>
            </a:r>
          </a:p>
        </p:txBody>
      </p:sp>
    </p:spTree>
    <p:extLst>
      <p:ext uri="{BB962C8B-B14F-4D97-AF65-F5344CB8AC3E}">
        <p14:creationId xmlns:p14="http://schemas.microsoft.com/office/powerpoint/2010/main" val="34978532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F2DBCD-E36C-4249-43A3-591218F550AD}"/>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86AA1F60-58D7-F9B1-6D45-13DD2B5DA90F}"/>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Optimizer</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sp>
        <p:nvSpPr>
          <p:cNvPr id="3" name="文字方塊 2">
            <a:extLst>
              <a:ext uri="{FF2B5EF4-FFF2-40B4-BE49-F238E27FC236}">
                <a16:creationId xmlns:a16="http://schemas.microsoft.com/office/drawing/2014/main" id="{0EDD6D9C-A978-91F6-3789-64D81D9F0816}"/>
              </a:ext>
            </a:extLst>
          </p:cNvPr>
          <p:cNvSpPr txBox="1"/>
          <p:nvPr/>
        </p:nvSpPr>
        <p:spPr>
          <a:xfrm>
            <a:off x="695839"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Stochastic</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4" name="圖片 3">
            <a:extLst>
              <a:ext uri="{FF2B5EF4-FFF2-40B4-BE49-F238E27FC236}">
                <a16:creationId xmlns:a16="http://schemas.microsoft.com/office/drawing/2014/main" id="{3E42D9D0-95A2-92AF-12D9-F820D97983A1}"/>
              </a:ext>
            </a:extLst>
          </p:cNvPr>
          <p:cNvPicPr>
            <a:picLocks noChangeAspect="1"/>
          </p:cNvPicPr>
          <p:nvPr/>
        </p:nvPicPr>
        <p:blipFill>
          <a:blip r:embed="rId2"/>
          <a:stretch>
            <a:fillRect/>
          </a:stretch>
        </p:blipFill>
        <p:spPr>
          <a:xfrm>
            <a:off x="294470" y="1268760"/>
            <a:ext cx="1159890" cy="1281291"/>
          </a:xfrm>
          <a:prstGeom prst="rect">
            <a:avLst/>
          </a:prstGeom>
        </p:spPr>
      </p:pic>
      <p:sp>
        <p:nvSpPr>
          <p:cNvPr id="7" name="文字方塊 6">
            <a:extLst>
              <a:ext uri="{FF2B5EF4-FFF2-40B4-BE49-F238E27FC236}">
                <a16:creationId xmlns:a16="http://schemas.microsoft.com/office/drawing/2014/main" id="{BCAE0738-5BCF-EDD0-10BD-ADAA203AEF16}"/>
              </a:ext>
            </a:extLst>
          </p:cNvPr>
          <p:cNvSpPr txBox="1"/>
          <p:nvPr/>
        </p:nvSpPr>
        <p:spPr>
          <a:xfrm>
            <a:off x="2063991" y="2781904"/>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 +</a:t>
            </a:r>
          </a:p>
          <a:p>
            <a:pPr algn="ctr"/>
            <a:r>
              <a:rPr lang="en-US" altLang="zh-TW" sz="1200" b="1" dirty="0">
                <a:solidFill>
                  <a:prstClr val="black"/>
                </a:solidFill>
                <a:ea typeface="Cambria Math" panose="02040503050406030204" pitchFamily="18" charset="0"/>
              </a:rPr>
              <a:t>Momentum</a:t>
            </a:r>
          </a:p>
          <a:p>
            <a:pPr algn="ctr"/>
            <a:r>
              <a:rPr lang="en-US" altLang="zh-TW" sz="1000" dirty="0">
                <a:solidFill>
                  <a:prstClr val="black"/>
                </a:solidFill>
                <a:ea typeface="Cambria Math" panose="02040503050406030204" pitchFamily="18" charset="0"/>
              </a:rPr>
              <a:t>-</a:t>
            </a:r>
          </a:p>
        </p:txBody>
      </p:sp>
      <p:sp>
        <p:nvSpPr>
          <p:cNvPr id="10" name="文字方塊 9">
            <a:extLst>
              <a:ext uri="{FF2B5EF4-FFF2-40B4-BE49-F238E27FC236}">
                <a16:creationId xmlns:a16="http://schemas.microsoft.com/office/drawing/2014/main" id="{A15F0577-85FD-1352-E80F-EEAE2E7A4FCB}"/>
              </a:ext>
            </a:extLst>
          </p:cNvPr>
          <p:cNvSpPr txBox="1"/>
          <p:nvPr/>
        </p:nvSpPr>
        <p:spPr>
          <a:xfrm>
            <a:off x="3453022"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NAG</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Nesterov’s</a:t>
            </a:r>
          </a:p>
          <a:p>
            <a:pPr algn="ctr"/>
            <a:r>
              <a:rPr lang="en-US" altLang="zh-TW" sz="1000" dirty="0">
                <a:solidFill>
                  <a:prstClr val="black"/>
                </a:solidFill>
                <a:ea typeface="Cambria Math" panose="02040503050406030204" pitchFamily="18" charset="0"/>
              </a:rPr>
              <a:t>Accelerated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Gradient</a:t>
            </a:r>
          </a:p>
        </p:txBody>
      </p:sp>
      <p:sp>
        <p:nvSpPr>
          <p:cNvPr id="14" name="文字方塊 13">
            <a:extLst>
              <a:ext uri="{FF2B5EF4-FFF2-40B4-BE49-F238E27FC236}">
                <a16:creationId xmlns:a16="http://schemas.microsoft.com/office/drawing/2014/main" id="{E5AD7DEF-5E54-8475-7656-A3A8015053CD}"/>
              </a:ext>
            </a:extLst>
          </p:cNvPr>
          <p:cNvSpPr txBox="1"/>
          <p:nvPr/>
        </p:nvSpPr>
        <p:spPr>
          <a:xfrm>
            <a:off x="4842053" y="2781902"/>
            <a:ext cx="1005212" cy="740351"/>
          </a:xfrm>
          <a:prstGeom prst="rect">
            <a:avLst/>
          </a:prstGeom>
          <a:no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AdaGrad</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Ada</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18" name="圖片 17">
            <a:extLst>
              <a:ext uri="{FF2B5EF4-FFF2-40B4-BE49-F238E27FC236}">
                <a16:creationId xmlns:a16="http://schemas.microsoft.com/office/drawing/2014/main" id="{05C3EA48-29BC-E5B4-BF6D-90570F23564A}"/>
              </a:ext>
            </a:extLst>
          </p:cNvPr>
          <p:cNvPicPr>
            <a:picLocks noChangeAspect="1"/>
          </p:cNvPicPr>
          <p:nvPr/>
        </p:nvPicPr>
        <p:blipFill>
          <a:blip r:embed="rId3"/>
          <a:stretch>
            <a:fillRect/>
          </a:stretch>
        </p:blipFill>
        <p:spPr>
          <a:xfrm>
            <a:off x="123637" y="3701380"/>
            <a:ext cx="2436616" cy="650263"/>
          </a:xfrm>
          <a:prstGeom prst="rect">
            <a:avLst/>
          </a:prstGeom>
          <a:effectLst>
            <a:glow rad="50800">
              <a:schemeClr val="accent4">
                <a:lumMod val="20000"/>
                <a:lumOff val="80000"/>
              </a:schemeClr>
            </a:glow>
          </a:effectLst>
        </p:spPr>
      </p:pic>
      <p:pic>
        <p:nvPicPr>
          <p:cNvPr id="21" name="圖片 20">
            <a:extLst>
              <a:ext uri="{FF2B5EF4-FFF2-40B4-BE49-F238E27FC236}">
                <a16:creationId xmlns:a16="http://schemas.microsoft.com/office/drawing/2014/main" id="{207C12AB-C706-B64E-5657-0ADEEF5902C2}"/>
              </a:ext>
            </a:extLst>
          </p:cNvPr>
          <p:cNvPicPr>
            <a:picLocks noChangeAspect="1"/>
          </p:cNvPicPr>
          <p:nvPr/>
        </p:nvPicPr>
        <p:blipFill>
          <a:blip r:embed="rId4"/>
          <a:stretch>
            <a:fillRect/>
          </a:stretch>
        </p:blipFill>
        <p:spPr>
          <a:xfrm>
            <a:off x="755576" y="5445224"/>
            <a:ext cx="5688632" cy="1060738"/>
          </a:xfrm>
          <a:prstGeom prst="rect">
            <a:avLst/>
          </a:prstGeom>
          <a:effectLst>
            <a:glow rad="50800">
              <a:schemeClr val="bg2">
                <a:lumMod val="50000"/>
              </a:schemeClr>
            </a:glow>
          </a:effectLst>
        </p:spPr>
      </p:pic>
      <p:pic>
        <p:nvPicPr>
          <p:cNvPr id="25" name="圖片 24">
            <a:extLst>
              <a:ext uri="{FF2B5EF4-FFF2-40B4-BE49-F238E27FC236}">
                <a16:creationId xmlns:a16="http://schemas.microsoft.com/office/drawing/2014/main" id="{15A74A9B-470C-3A0B-145A-4C29E8FA6E9D}"/>
              </a:ext>
            </a:extLst>
          </p:cNvPr>
          <p:cNvPicPr>
            <a:picLocks noChangeAspect="1"/>
          </p:cNvPicPr>
          <p:nvPr/>
        </p:nvPicPr>
        <p:blipFill>
          <a:blip r:embed="rId5"/>
          <a:stretch>
            <a:fillRect/>
          </a:stretch>
        </p:blipFill>
        <p:spPr>
          <a:xfrm>
            <a:off x="1682771" y="1916832"/>
            <a:ext cx="2220278" cy="599456"/>
          </a:xfrm>
          <a:prstGeom prst="rect">
            <a:avLst/>
          </a:prstGeom>
        </p:spPr>
      </p:pic>
      <p:pic>
        <p:nvPicPr>
          <p:cNvPr id="27" name="圖片 26">
            <a:extLst>
              <a:ext uri="{FF2B5EF4-FFF2-40B4-BE49-F238E27FC236}">
                <a16:creationId xmlns:a16="http://schemas.microsoft.com/office/drawing/2014/main" id="{0246A359-29ED-A79E-511B-C4123647098C}"/>
              </a:ext>
            </a:extLst>
          </p:cNvPr>
          <p:cNvPicPr>
            <a:picLocks noChangeAspect="1"/>
          </p:cNvPicPr>
          <p:nvPr/>
        </p:nvPicPr>
        <p:blipFill>
          <a:blip r:embed="rId6"/>
          <a:stretch>
            <a:fillRect/>
          </a:stretch>
        </p:blipFill>
        <p:spPr>
          <a:xfrm>
            <a:off x="1660720" y="1215406"/>
            <a:ext cx="2234183" cy="564167"/>
          </a:xfrm>
          <a:prstGeom prst="rect">
            <a:avLst/>
          </a:prstGeom>
        </p:spPr>
      </p:pic>
      <p:pic>
        <p:nvPicPr>
          <p:cNvPr id="31" name="圖片 30">
            <a:extLst>
              <a:ext uri="{FF2B5EF4-FFF2-40B4-BE49-F238E27FC236}">
                <a16:creationId xmlns:a16="http://schemas.microsoft.com/office/drawing/2014/main" id="{DFE4AA7B-4CFB-7F09-610B-22863B264E74}"/>
              </a:ext>
            </a:extLst>
          </p:cNvPr>
          <p:cNvPicPr>
            <a:picLocks noChangeAspect="1"/>
          </p:cNvPicPr>
          <p:nvPr/>
        </p:nvPicPr>
        <p:blipFill>
          <a:blip r:embed="rId7"/>
          <a:stretch>
            <a:fillRect/>
          </a:stretch>
        </p:blipFill>
        <p:spPr>
          <a:xfrm>
            <a:off x="3081665" y="682368"/>
            <a:ext cx="1102126" cy="738983"/>
          </a:xfrm>
          <a:prstGeom prst="rect">
            <a:avLst/>
          </a:prstGeom>
        </p:spPr>
      </p:pic>
      <p:sp>
        <p:nvSpPr>
          <p:cNvPr id="35" name="文字方塊 34">
            <a:extLst>
              <a:ext uri="{FF2B5EF4-FFF2-40B4-BE49-F238E27FC236}">
                <a16:creationId xmlns:a16="http://schemas.microsoft.com/office/drawing/2014/main" id="{E34C2F70-D131-6A71-3D37-111EF670880B}"/>
              </a:ext>
            </a:extLst>
          </p:cNvPr>
          <p:cNvSpPr txBox="1"/>
          <p:nvPr/>
        </p:nvSpPr>
        <p:spPr>
          <a:xfrm>
            <a:off x="6231084" y="2772785"/>
            <a:ext cx="1005212" cy="740351"/>
          </a:xfrm>
          <a:prstGeom prst="rect">
            <a:avLst/>
          </a:prstGeom>
          <a:noFill/>
          <a:effectLst>
            <a:glow rad="114300">
              <a:schemeClr val="accent2"/>
            </a:glow>
            <a:softEdge rad="12700"/>
          </a:effectLst>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RMSProp</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grpSp>
        <p:nvGrpSpPr>
          <p:cNvPr id="2" name="群組 1">
            <a:extLst>
              <a:ext uri="{FF2B5EF4-FFF2-40B4-BE49-F238E27FC236}">
                <a16:creationId xmlns:a16="http://schemas.microsoft.com/office/drawing/2014/main" id="{623281E3-0586-017B-EEF2-B923D492DCC6}"/>
              </a:ext>
            </a:extLst>
          </p:cNvPr>
          <p:cNvGrpSpPr/>
          <p:nvPr/>
        </p:nvGrpSpPr>
        <p:grpSpPr>
          <a:xfrm>
            <a:off x="4507739" y="1714453"/>
            <a:ext cx="2656549" cy="994467"/>
            <a:chOff x="3882858" y="1570437"/>
            <a:chExt cx="2656549" cy="994467"/>
          </a:xfrm>
        </p:grpSpPr>
        <p:pic>
          <p:nvPicPr>
            <p:cNvPr id="41" name="圖片 40">
              <a:extLst>
                <a:ext uri="{FF2B5EF4-FFF2-40B4-BE49-F238E27FC236}">
                  <a16:creationId xmlns:a16="http://schemas.microsoft.com/office/drawing/2014/main" id="{CA62DB9E-1B07-6FA2-475D-6FE65D44AE1B}"/>
                </a:ext>
              </a:extLst>
            </p:cNvPr>
            <p:cNvPicPr>
              <a:picLocks noChangeAspect="1"/>
            </p:cNvPicPr>
            <p:nvPr/>
          </p:nvPicPr>
          <p:blipFill>
            <a:blip r:embed="rId8"/>
            <a:stretch>
              <a:fillRect/>
            </a:stretch>
          </p:blipFill>
          <p:spPr>
            <a:xfrm>
              <a:off x="3882858" y="1570437"/>
              <a:ext cx="2086266" cy="657317"/>
            </a:xfrm>
            <a:prstGeom prst="rect">
              <a:avLst/>
            </a:prstGeom>
            <a:effectLst>
              <a:glow rad="50800">
                <a:schemeClr val="accent1">
                  <a:lumMod val="40000"/>
                  <a:lumOff val="60000"/>
                </a:schemeClr>
              </a:glow>
            </a:effectLst>
          </p:spPr>
        </p:pic>
        <p:pic>
          <p:nvPicPr>
            <p:cNvPr id="43" name="圖片 42">
              <a:extLst>
                <a:ext uri="{FF2B5EF4-FFF2-40B4-BE49-F238E27FC236}">
                  <a16:creationId xmlns:a16="http://schemas.microsoft.com/office/drawing/2014/main" id="{BB19E516-DAFA-8C59-0ABB-7A2317726E1B}"/>
                </a:ext>
              </a:extLst>
            </p:cNvPr>
            <p:cNvPicPr>
              <a:picLocks noChangeAspect="1"/>
            </p:cNvPicPr>
            <p:nvPr/>
          </p:nvPicPr>
          <p:blipFill>
            <a:blip r:embed="rId9"/>
            <a:stretch>
              <a:fillRect/>
            </a:stretch>
          </p:blipFill>
          <p:spPr>
            <a:xfrm>
              <a:off x="3959171" y="2135184"/>
              <a:ext cx="2580236" cy="223125"/>
            </a:xfrm>
            <a:prstGeom prst="rect">
              <a:avLst/>
            </a:prstGeom>
            <a:effectLst>
              <a:glow rad="25400">
                <a:schemeClr val="accent1">
                  <a:lumMod val="40000"/>
                  <a:lumOff val="60000"/>
                </a:schemeClr>
              </a:glow>
            </a:effectLst>
          </p:spPr>
        </p:pic>
        <p:pic>
          <p:nvPicPr>
            <p:cNvPr id="45" name="圖片 44">
              <a:extLst>
                <a:ext uri="{FF2B5EF4-FFF2-40B4-BE49-F238E27FC236}">
                  <a16:creationId xmlns:a16="http://schemas.microsoft.com/office/drawing/2014/main" id="{259262C4-DBA7-66AC-ECCB-064629D7BF0B}"/>
                </a:ext>
              </a:extLst>
            </p:cNvPr>
            <p:cNvPicPr>
              <a:picLocks noChangeAspect="1"/>
            </p:cNvPicPr>
            <p:nvPr/>
          </p:nvPicPr>
          <p:blipFill>
            <a:blip r:embed="rId10"/>
            <a:stretch>
              <a:fillRect/>
            </a:stretch>
          </p:blipFill>
          <p:spPr>
            <a:xfrm>
              <a:off x="3959171" y="2337414"/>
              <a:ext cx="1403775" cy="227490"/>
            </a:xfrm>
            <a:prstGeom prst="rect">
              <a:avLst/>
            </a:prstGeom>
            <a:effectLst>
              <a:glow rad="25400">
                <a:schemeClr val="accent1">
                  <a:lumMod val="40000"/>
                  <a:lumOff val="60000"/>
                </a:schemeClr>
              </a:glow>
            </a:effectLst>
          </p:spPr>
        </p:pic>
      </p:grpSp>
      <p:grpSp>
        <p:nvGrpSpPr>
          <p:cNvPr id="74" name="群組 73">
            <a:extLst>
              <a:ext uri="{FF2B5EF4-FFF2-40B4-BE49-F238E27FC236}">
                <a16:creationId xmlns:a16="http://schemas.microsoft.com/office/drawing/2014/main" id="{618E70F5-F50C-936A-373B-C3ACE643F6B4}"/>
              </a:ext>
            </a:extLst>
          </p:cNvPr>
          <p:cNvGrpSpPr/>
          <p:nvPr/>
        </p:nvGrpSpPr>
        <p:grpSpPr>
          <a:xfrm>
            <a:off x="3045614" y="4005064"/>
            <a:ext cx="3182570" cy="1859444"/>
            <a:chOff x="2542188" y="3873812"/>
            <a:chExt cx="3182570" cy="1859444"/>
          </a:xfrm>
        </p:grpSpPr>
        <p:pic>
          <p:nvPicPr>
            <p:cNvPr id="47" name="圖片 46">
              <a:extLst>
                <a:ext uri="{FF2B5EF4-FFF2-40B4-BE49-F238E27FC236}">
                  <a16:creationId xmlns:a16="http://schemas.microsoft.com/office/drawing/2014/main" id="{B6BC6A13-C1B2-13F1-1B1F-F08A81D19AFB}"/>
                </a:ext>
              </a:extLst>
            </p:cNvPr>
            <p:cNvPicPr>
              <a:picLocks noChangeAspect="1"/>
            </p:cNvPicPr>
            <p:nvPr/>
          </p:nvPicPr>
          <p:blipFill>
            <a:blip r:embed="rId11"/>
            <a:stretch>
              <a:fillRect/>
            </a:stretch>
          </p:blipFill>
          <p:spPr>
            <a:xfrm>
              <a:off x="2542188" y="3873812"/>
              <a:ext cx="1456648" cy="923340"/>
            </a:xfrm>
            <a:prstGeom prst="rect">
              <a:avLst/>
            </a:prstGeom>
            <a:effectLst>
              <a:glow rad="50800">
                <a:schemeClr val="tx2"/>
              </a:glow>
            </a:effectLst>
          </p:spPr>
        </p:pic>
        <p:sp>
          <p:nvSpPr>
            <p:cNvPr id="55" name="文字方塊 54">
              <a:extLst>
                <a:ext uri="{FF2B5EF4-FFF2-40B4-BE49-F238E27FC236}">
                  <a16:creationId xmlns:a16="http://schemas.microsoft.com/office/drawing/2014/main" id="{309BF9B5-128D-C8E7-940F-B15484BA4072}"/>
                </a:ext>
              </a:extLst>
            </p:cNvPr>
            <p:cNvSpPr txBox="1"/>
            <p:nvPr/>
          </p:nvSpPr>
          <p:spPr>
            <a:xfrm>
              <a:off x="2938601" y="4717593"/>
              <a:ext cx="2762111" cy="1015663"/>
            </a:xfrm>
            <a:prstGeom prst="rect">
              <a:avLst/>
            </a:prstGeom>
            <a:solidFill>
              <a:schemeClr val="bg1"/>
            </a:solidFill>
            <a:effectLst>
              <a:glow rad="50800">
                <a:schemeClr val="tx2"/>
              </a:glow>
            </a:effectLst>
          </p:spPr>
          <p:txBody>
            <a:bodyPr wrap="square">
              <a:spAutoFit/>
            </a:bodyPr>
            <a:lstStyle/>
            <a:p>
              <a:pPr marL="0" marR="0" indent="0" algn="l">
                <a:buNone/>
              </a:pPr>
              <a:r>
                <a:rPr lang="zh-TW" altLang="zh-TW" sz="1000" b="0" i="0" dirty="0">
                  <a:solidFill>
                    <a:srgbClr val="191B1F"/>
                  </a:solidFill>
                  <a:effectLst/>
                  <a:latin typeface="微軟正黑體" panose="020B0604030504040204" pitchFamily="34" charset="-120"/>
                  <a:ea typeface="微軟正黑體" panose="020B0604030504040204" pitchFamily="34" charset="-120"/>
                </a:rPr>
                <a:t>就是根据当前梯度方向向前走一步之后再计算出来的梯度。通过这种方式，在接近最优解时，Nesterov优化器比</a:t>
              </a:r>
              <a:r>
                <a:rPr lang="zh-TW" altLang="zh-TW" sz="1000" b="0" i="0" u="none" strike="noStrike" dirty="0">
                  <a:solidFill>
                    <a:srgbClr val="09408E"/>
                  </a:solidFill>
                  <a:effectLst/>
                  <a:latin typeface="微軟正黑體" panose="020B0604030504040204" pitchFamily="34" charset="-120"/>
                  <a:ea typeface="微軟正黑體" panose="020B0604030504040204" pitchFamily="34" charset="-120"/>
                  <a:hlinkClick r:id="rId12"/>
                </a:rPr>
                <a:t>标准动量SGD算法</a:t>
              </a:r>
              <a:r>
                <a:rPr lang="zh-TW" altLang="zh-TW" sz="1000" b="0" i="0" dirty="0">
                  <a:solidFill>
                    <a:srgbClr val="191B1F"/>
                  </a:solidFill>
                  <a:effectLst/>
                  <a:latin typeface="微軟正黑體" panose="020B0604030504040204" pitchFamily="34" charset="-120"/>
                  <a:ea typeface="微軟正黑體" panose="020B0604030504040204" pitchFamily="34" charset="-120"/>
                </a:rPr>
                <a:t>有更快的收敛速度。因为这种“前瞻性”的操作能帮助优化器避免走得太远，就像是提前刹车，所以在接近最优解时更加稳定。</a:t>
              </a:r>
              <a:endParaRPr lang="zh-TW" altLang="en-US" sz="1000" dirty="0">
                <a:latin typeface="微軟正黑體" panose="020B0604030504040204" pitchFamily="34" charset="-120"/>
                <a:ea typeface="微軟正黑體" panose="020B0604030504040204" pitchFamily="34" charset="-120"/>
              </a:endParaRPr>
            </a:p>
          </p:txBody>
        </p:sp>
        <p:pic>
          <p:nvPicPr>
            <p:cNvPr id="49" name="圖片 48">
              <a:extLst>
                <a:ext uri="{FF2B5EF4-FFF2-40B4-BE49-F238E27FC236}">
                  <a16:creationId xmlns:a16="http://schemas.microsoft.com/office/drawing/2014/main" id="{ECC39C6B-9DC2-4CBE-7A6F-36D7F7FF3466}"/>
                </a:ext>
              </a:extLst>
            </p:cNvPr>
            <p:cNvPicPr>
              <a:picLocks noChangeAspect="1"/>
            </p:cNvPicPr>
            <p:nvPr/>
          </p:nvPicPr>
          <p:blipFill>
            <a:blip r:embed="rId13"/>
            <a:stretch>
              <a:fillRect/>
            </a:stretch>
          </p:blipFill>
          <p:spPr>
            <a:xfrm>
              <a:off x="3491880" y="4141529"/>
              <a:ext cx="2232878" cy="292628"/>
            </a:xfrm>
            <a:prstGeom prst="rect">
              <a:avLst/>
            </a:prstGeom>
            <a:effectLst>
              <a:glow rad="50800">
                <a:schemeClr val="tx2"/>
              </a:glow>
            </a:effectLst>
          </p:spPr>
        </p:pic>
        <p:pic>
          <p:nvPicPr>
            <p:cNvPr id="51" name="圖片 50">
              <a:extLst>
                <a:ext uri="{FF2B5EF4-FFF2-40B4-BE49-F238E27FC236}">
                  <a16:creationId xmlns:a16="http://schemas.microsoft.com/office/drawing/2014/main" id="{955E8F71-A2DB-504A-1060-AA7778685E2C}"/>
                </a:ext>
              </a:extLst>
            </p:cNvPr>
            <p:cNvPicPr>
              <a:picLocks noChangeAspect="1"/>
            </p:cNvPicPr>
            <p:nvPr/>
          </p:nvPicPr>
          <p:blipFill>
            <a:blip r:embed="rId14"/>
            <a:stretch>
              <a:fillRect/>
            </a:stretch>
          </p:blipFill>
          <p:spPr>
            <a:xfrm>
              <a:off x="4319656" y="4490511"/>
              <a:ext cx="1260901" cy="227082"/>
            </a:xfrm>
            <a:prstGeom prst="rect">
              <a:avLst/>
            </a:prstGeom>
            <a:effectLst>
              <a:glow rad="50800">
                <a:schemeClr val="tx2"/>
              </a:glow>
            </a:effectLst>
          </p:spPr>
        </p:pic>
      </p:grpSp>
      <p:grpSp>
        <p:nvGrpSpPr>
          <p:cNvPr id="75" name="群組 74">
            <a:extLst>
              <a:ext uri="{FF2B5EF4-FFF2-40B4-BE49-F238E27FC236}">
                <a16:creationId xmlns:a16="http://schemas.microsoft.com/office/drawing/2014/main" id="{25F2D184-8ACE-06F5-AE97-7CCE4C518FB5}"/>
              </a:ext>
            </a:extLst>
          </p:cNvPr>
          <p:cNvGrpSpPr/>
          <p:nvPr/>
        </p:nvGrpSpPr>
        <p:grpSpPr>
          <a:xfrm>
            <a:off x="6090567" y="3348054"/>
            <a:ext cx="2081833" cy="945042"/>
            <a:chOff x="6045578" y="3612225"/>
            <a:chExt cx="2081833" cy="945042"/>
          </a:xfrm>
        </p:grpSpPr>
        <p:pic>
          <p:nvPicPr>
            <p:cNvPr id="61" name="圖片 60">
              <a:extLst>
                <a:ext uri="{FF2B5EF4-FFF2-40B4-BE49-F238E27FC236}">
                  <a16:creationId xmlns:a16="http://schemas.microsoft.com/office/drawing/2014/main" id="{71F1B7E1-0FDA-73E1-BD1C-D3F8AF401885}"/>
                </a:ext>
              </a:extLst>
            </p:cNvPr>
            <p:cNvPicPr>
              <a:picLocks noChangeAspect="1"/>
            </p:cNvPicPr>
            <p:nvPr/>
          </p:nvPicPr>
          <p:blipFill>
            <a:blip r:embed="rId15"/>
            <a:stretch>
              <a:fillRect/>
            </a:stretch>
          </p:blipFill>
          <p:spPr>
            <a:xfrm>
              <a:off x="6102055" y="3612225"/>
              <a:ext cx="1735035" cy="474630"/>
            </a:xfrm>
            <a:prstGeom prst="rect">
              <a:avLst/>
            </a:prstGeom>
            <a:effectLst>
              <a:glow rad="50800">
                <a:schemeClr val="accent2"/>
              </a:glow>
            </a:effectLst>
          </p:spPr>
        </p:pic>
        <p:pic>
          <p:nvPicPr>
            <p:cNvPr id="65" name="圖片 64">
              <a:extLst>
                <a:ext uri="{FF2B5EF4-FFF2-40B4-BE49-F238E27FC236}">
                  <a16:creationId xmlns:a16="http://schemas.microsoft.com/office/drawing/2014/main" id="{ECF615E0-E564-1514-B77E-EE87188502FE}"/>
                </a:ext>
              </a:extLst>
            </p:cNvPr>
            <p:cNvPicPr>
              <a:picLocks noChangeAspect="1"/>
            </p:cNvPicPr>
            <p:nvPr/>
          </p:nvPicPr>
          <p:blipFill>
            <a:blip r:embed="rId16"/>
            <a:stretch>
              <a:fillRect/>
            </a:stretch>
          </p:blipFill>
          <p:spPr>
            <a:xfrm>
              <a:off x="6101996" y="4056156"/>
              <a:ext cx="1854380" cy="276920"/>
            </a:xfrm>
            <a:prstGeom prst="rect">
              <a:avLst/>
            </a:prstGeom>
            <a:effectLst>
              <a:glow rad="25400">
                <a:schemeClr val="accent2"/>
              </a:glow>
            </a:effectLst>
          </p:spPr>
        </p:pic>
        <p:sp>
          <p:nvSpPr>
            <p:cNvPr id="69" name="文字方塊 68">
              <a:extLst>
                <a:ext uri="{FF2B5EF4-FFF2-40B4-BE49-F238E27FC236}">
                  <a16:creationId xmlns:a16="http://schemas.microsoft.com/office/drawing/2014/main" id="{468369E3-85D2-7D82-7ED6-4B8326471153}"/>
                </a:ext>
              </a:extLst>
            </p:cNvPr>
            <p:cNvSpPr txBox="1"/>
            <p:nvPr/>
          </p:nvSpPr>
          <p:spPr>
            <a:xfrm>
              <a:off x="6045578" y="4311046"/>
              <a:ext cx="2081833" cy="246221"/>
            </a:xfrm>
            <a:prstGeom prst="rect">
              <a:avLst/>
            </a:prstGeom>
            <a:solidFill>
              <a:schemeClr val="bg1">
                <a:alpha val="40000"/>
              </a:schemeClr>
            </a:solidFill>
            <a:ln>
              <a:solidFill>
                <a:schemeClr val="accent2"/>
              </a:solidFill>
            </a:ln>
          </p:spPr>
          <p:txBody>
            <a:bodyPr wrap="square">
              <a:spAutoFit/>
            </a:bodyPr>
            <a:lstStyle/>
            <a:p>
              <a:r>
                <a:rPr lang="zh-CN" altLang="en-US" sz="1000" dirty="0">
                  <a:latin typeface="微軟正黑體" panose="020B0604030504040204" pitchFamily="34" charset="-120"/>
                  <a:ea typeface="微軟正黑體" panose="020B0604030504040204" pitchFamily="34" charset="-120"/>
                </a:rPr>
                <a:t>代表着历史中所有梯度的平方和</a:t>
              </a:r>
              <a:endParaRPr lang="zh-TW" altLang="en-US" sz="1000" dirty="0">
                <a:latin typeface="微軟正黑體" panose="020B0604030504040204" pitchFamily="34" charset="-120"/>
                <a:ea typeface="微軟正黑體" panose="020B0604030504040204" pitchFamily="34" charset="-120"/>
              </a:endParaRPr>
            </a:p>
          </p:txBody>
        </p:sp>
      </p:grpSp>
    </p:spTree>
    <p:extLst>
      <p:ext uri="{BB962C8B-B14F-4D97-AF65-F5344CB8AC3E}">
        <p14:creationId xmlns:p14="http://schemas.microsoft.com/office/powerpoint/2010/main" val="242559800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E53AF-4039-27D5-1E16-7BA7DD68C621}"/>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7B7E46A5-10E4-B048-8F53-DB5D36B0BE19}"/>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AdamW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 First Principles of LLMs.</a:t>
            </a:r>
          </a:p>
        </p:txBody>
      </p:sp>
      <p:sp>
        <p:nvSpPr>
          <p:cNvPr id="37" name="文字方塊 36">
            <a:extLst>
              <a:ext uri="{FF2B5EF4-FFF2-40B4-BE49-F238E27FC236}">
                <a16:creationId xmlns:a16="http://schemas.microsoft.com/office/drawing/2014/main" id="{A75477C2-792D-52F1-4CA7-1B7180531EB8}"/>
              </a:ext>
            </a:extLst>
          </p:cNvPr>
          <p:cNvSpPr txBox="1"/>
          <p:nvPr/>
        </p:nvSpPr>
        <p:spPr>
          <a:xfrm>
            <a:off x="2771800" y="2772784"/>
            <a:ext cx="1005212" cy="740351"/>
          </a:xfrm>
          <a:prstGeom prst="rect">
            <a:avLst/>
          </a:prstGeom>
          <a:solidFill>
            <a:schemeClr val="accent3">
              <a:lumMod val="20000"/>
              <a:lumOff val="80000"/>
            </a:schemeClr>
          </a:solid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Adam</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SGD</a:t>
            </a:r>
            <a:r>
              <a:rPr kumimoji="0" lang="zh-TW" altLang="en-US" sz="1000" u="none" strike="noStrike" kern="1200" cap="none" spc="0" normalizeH="0" baseline="0" noProof="0" dirty="0">
                <a:ln>
                  <a:noFill/>
                </a:ln>
                <a:solidFill>
                  <a:prstClr val="black"/>
                </a:solidFill>
                <a:effectLst/>
                <a:uLnTx/>
                <a:uFillTx/>
                <a:ea typeface="Cambria Math" panose="02040503050406030204" pitchFamily="18" charset="0"/>
                <a:cs typeface="+mn-cs"/>
              </a:rPr>
              <a:t>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Momentum</a:t>
            </a:r>
          </a:p>
          <a:p>
            <a:pPr algn="ctr"/>
            <a:r>
              <a:rPr lang="en-US" altLang="zh-TW" sz="1000" dirty="0">
                <a:solidFill>
                  <a:prstClr val="black"/>
                </a:solidFill>
                <a:ea typeface="Cambria Math" panose="02040503050406030204" pitchFamily="18" charset="0"/>
              </a:rPr>
              <a:t>+ </a:t>
            </a:r>
            <a:r>
              <a:rPr lang="en-US" altLang="zh-TW" sz="1000" dirty="0" err="1">
                <a:solidFill>
                  <a:prstClr val="black"/>
                </a:solidFill>
                <a:ea typeface="Cambria Math" panose="02040503050406030204" pitchFamily="18" charset="0"/>
              </a:rPr>
              <a:t>RMSProp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71" name="文字方塊 70">
            <a:extLst>
              <a:ext uri="{FF2B5EF4-FFF2-40B4-BE49-F238E27FC236}">
                <a16:creationId xmlns:a16="http://schemas.microsoft.com/office/drawing/2014/main" id="{3EA18BD1-6CA3-B8F0-3C9C-776E7732F598}"/>
              </a:ext>
            </a:extLst>
          </p:cNvPr>
          <p:cNvSpPr txBox="1"/>
          <p:nvPr/>
        </p:nvSpPr>
        <p:spPr>
          <a:xfrm>
            <a:off x="7301833" y="2752702"/>
            <a:ext cx="1005212" cy="740351"/>
          </a:xfrm>
          <a:prstGeom prst="rect">
            <a:avLst/>
          </a:prstGeom>
          <a:solidFill>
            <a:schemeClr val="accent6">
              <a:lumMod val="20000"/>
              <a:lumOff val="80000"/>
            </a:schemeClr>
          </a:solid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AdamW</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pic>
        <p:nvPicPr>
          <p:cNvPr id="73" name="圖片 72">
            <a:extLst>
              <a:ext uri="{FF2B5EF4-FFF2-40B4-BE49-F238E27FC236}">
                <a16:creationId xmlns:a16="http://schemas.microsoft.com/office/drawing/2014/main" id="{847D5CFB-EE93-5B26-ABE6-D0768EBAA04C}"/>
              </a:ext>
            </a:extLst>
          </p:cNvPr>
          <p:cNvPicPr>
            <a:picLocks noChangeAspect="1"/>
          </p:cNvPicPr>
          <p:nvPr/>
        </p:nvPicPr>
        <p:blipFill>
          <a:blip r:embed="rId2"/>
          <a:stretch>
            <a:fillRect/>
          </a:stretch>
        </p:blipFill>
        <p:spPr>
          <a:xfrm>
            <a:off x="5724758" y="2458182"/>
            <a:ext cx="3292206" cy="412866"/>
          </a:xfrm>
          <a:prstGeom prst="rect">
            <a:avLst/>
          </a:prstGeom>
          <a:effectLst>
            <a:glow rad="50800">
              <a:schemeClr val="accent6"/>
            </a:glow>
          </a:effectLst>
        </p:spPr>
      </p:pic>
      <p:pic>
        <p:nvPicPr>
          <p:cNvPr id="77" name="圖片 76">
            <a:extLst>
              <a:ext uri="{FF2B5EF4-FFF2-40B4-BE49-F238E27FC236}">
                <a16:creationId xmlns:a16="http://schemas.microsoft.com/office/drawing/2014/main" id="{B357D767-4994-F193-AAB3-2B7E99909C6F}"/>
              </a:ext>
            </a:extLst>
          </p:cNvPr>
          <p:cNvPicPr>
            <a:picLocks noChangeAspect="1"/>
          </p:cNvPicPr>
          <p:nvPr/>
        </p:nvPicPr>
        <p:blipFill>
          <a:blip r:embed="rId3"/>
          <a:stretch>
            <a:fillRect/>
          </a:stretch>
        </p:blipFill>
        <p:spPr>
          <a:xfrm>
            <a:off x="1223559" y="2027987"/>
            <a:ext cx="3791280" cy="843061"/>
          </a:xfrm>
          <a:prstGeom prst="rect">
            <a:avLst/>
          </a:prstGeom>
          <a:effectLst>
            <a:glow rad="127000">
              <a:schemeClr val="accent3"/>
            </a:glow>
          </a:effectLst>
        </p:spPr>
      </p:pic>
    </p:spTree>
    <p:extLst>
      <p:ext uri="{BB962C8B-B14F-4D97-AF65-F5344CB8AC3E}">
        <p14:creationId xmlns:p14="http://schemas.microsoft.com/office/powerpoint/2010/main" val="2660702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53FB2-FFFD-E6EE-95FE-18E3B114936D}"/>
            </a:ext>
          </a:extLst>
        </p:cNvPr>
        <p:cNvGrpSpPr/>
        <p:nvPr/>
      </p:nvGrpSpPr>
      <p:grpSpPr>
        <a:xfrm>
          <a:off x="0" y="0"/>
          <a:ext cx="0" cy="0"/>
          <a:chOff x="0" y="0"/>
          <a:chExt cx="0" cy="0"/>
        </a:xfrm>
      </p:grpSpPr>
      <p:sp>
        <p:nvSpPr>
          <p:cNvPr id="56" name="矩形 55">
            <a:extLst>
              <a:ext uri="{FF2B5EF4-FFF2-40B4-BE49-F238E27FC236}">
                <a16:creationId xmlns:a16="http://schemas.microsoft.com/office/drawing/2014/main" id="{EF4CF63F-298C-E5F6-65A4-53806A694550}"/>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30B7A68F-2C27-8CD7-3F28-3A6222FAE057}"/>
              </a:ext>
            </a:extLst>
          </p:cNvPr>
          <p:cNvSpPr/>
          <p:nvPr/>
        </p:nvSpPr>
        <p:spPr>
          <a:xfrm>
            <a:off x="6227799" y="6022050"/>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C9D9E8C0-255B-F8B4-CE7B-95CCB63C99C0}"/>
              </a:ext>
            </a:extLst>
          </p:cNvPr>
          <p:cNvSpPr/>
          <p:nvPr/>
        </p:nvSpPr>
        <p:spPr>
          <a:xfrm>
            <a:off x="7515292" y="6022050"/>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BCD56B9F-3CB5-4823-F9B1-6960FDBC0FB5}"/>
              </a:ext>
            </a:extLst>
          </p:cNvPr>
          <p:cNvSpPr/>
          <p:nvPr/>
        </p:nvSpPr>
        <p:spPr>
          <a:xfrm>
            <a:off x="6202530" y="4194205"/>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E91D3EF4-718E-43D3-6A68-4D65ABAEAE94}"/>
              </a:ext>
            </a:extLst>
          </p:cNvPr>
          <p:cNvSpPr txBox="1"/>
          <p:nvPr/>
        </p:nvSpPr>
        <p:spPr>
          <a:xfrm>
            <a:off x="6575500" y="4848653"/>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F60B48F6-4AD3-FDBE-6D45-BD5090544A0F}"/>
              </a:ext>
            </a:extLst>
          </p:cNvPr>
          <p:cNvSpPr/>
          <p:nvPr/>
        </p:nvSpPr>
        <p:spPr>
          <a:xfrm>
            <a:off x="7307919"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38FFBB7D-B5BC-429C-4E65-9D6DC1233F28}"/>
              </a:ext>
            </a:extLst>
          </p:cNvPr>
          <p:cNvSpPr txBox="1"/>
          <p:nvPr/>
        </p:nvSpPr>
        <p:spPr>
          <a:xfrm>
            <a:off x="6202530" y="3180361"/>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35A31170-318B-D58C-C215-E0CD0FCD99FE}"/>
              </a:ext>
            </a:extLst>
          </p:cNvPr>
          <p:cNvSpPr/>
          <p:nvPr/>
        </p:nvSpPr>
        <p:spPr>
          <a:xfrm>
            <a:off x="6291195" y="4653898"/>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9C09900E-1DED-6E3E-EA25-EA3C64BC214D}"/>
              </a:ext>
            </a:extLst>
          </p:cNvPr>
          <p:cNvSpPr txBox="1"/>
          <p:nvPr/>
        </p:nvSpPr>
        <p:spPr>
          <a:xfrm>
            <a:off x="7235911"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FF0E46EC-89B8-24B6-E892-4D08DC3DBAAE}"/>
              </a:ext>
            </a:extLst>
          </p:cNvPr>
          <p:cNvSpPr/>
          <p:nvPr/>
        </p:nvSpPr>
        <p:spPr>
          <a:xfrm>
            <a:off x="8030793"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D585F32F-A502-408B-7DEE-FEA9BA964AF6}"/>
              </a:ext>
            </a:extLst>
          </p:cNvPr>
          <p:cNvSpPr txBox="1"/>
          <p:nvPr/>
        </p:nvSpPr>
        <p:spPr>
          <a:xfrm>
            <a:off x="7481468" y="4749435"/>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cxnSp>
        <p:nvCxnSpPr>
          <p:cNvPr id="13" name="接點: 肘形 12">
            <a:extLst>
              <a:ext uri="{FF2B5EF4-FFF2-40B4-BE49-F238E27FC236}">
                <a16:creationId xmlns:a16="http://schemas.microsoft.com/office/drawing/2014/main" id="{5AB074D7-3E7D-11C6-9321-750F6C36C057}"/>
              </a:ext>
            </a:extLst>
          </p:cNvPr>
          <p:cNvCxnSpPr>
            <a:cxnSpLocks/>
            <a:endCxn id="2" idx="1"/>
          </p:cNvCxnSpPr>
          <p:nvPr/>
        </p:nvCxnSpPr>
        <p:spPr>
          <a:xfrm>
            <a:off x="5736151" y="4720547"/>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F1AD2B78-2C9A-A675-387C-88CE3529E05E}"/>
              </a:ext>
            </a:extLst>
          </p:cNvPr>
          <p:cNvCxnSpPr>
            <a:cxnSpLocks/>
            <a:stCxn id="20" idx="2"/>
            <a:endCxn id="3" idx="0"/>
          </p:cNvCxnSpPr>
          <p:nvPr/>
        </p:nvCxnSpPr>
        <p:spPr>
          <a:xfrm rot="5400000">
            <a:off x="7694508" y="5609695"/>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62B6F707-3B3C-CE48-E8BC-1F3EC56750C5}"/>
              </a:ext>
            </a:extLst>
          </p:cNvPr>
          <p:cNvCxnSpPr>
            <a:cxnSpLocks/>
            <a:stCxn id="20" idx="2"/>
            <a:endCxn id="2" idx="0"/>
          </p:cNvCxnSpPr>
          <p:nvPr/>
        </p:nvCxnSpPr>
        <p:spPr>
          <a:xfrm rot="5400000">
            <a:off x="7137911" y="5053098"/>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988AD252-6AAC-12D3-6A54-384E435AB021}"/>
              </a:ext>
            </a:extLst>
          </p:cNvPr>
          <p:cNvSpPr txBox="1">
            <a:spLocks/>
          </p:cNvSpPr>
          <p:nvPr/>
        </p:nvSpPr>
        <p:spPr>
          <a:xfrm>
            <a:off x="7059396"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37CCDACD-CE3A-ABBC-7F87-D14425849903}"/>
              </a:ext>
            </a:extLst>
          </p:cNvPr>
          <p:cNvSpPr txBox="1">
            <a:spLocks/>
          </p:cNvSpPr>
          <p:nvPr/>
        </p:nvSpPr>
        <p:spPr>
          <a:xfrm>
            <a:off x="7947340"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EBD0AAF9-3F83-3A4B-6993-F26188955CB3}"/>
              </a:ext>
            </a:extLst>
          </p:cNvPr>
          <p:cNvSpPr txBox="1"/>
          <p:nvPr/>
        </p:nvSpPr>
        <p:spPr>
          <a:xfrm>
            <a:off x="6910766" y="479791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3B7FA2A-6E1D-8436-2695-AB694CBC01E5}"/>
              </a:ext>
            </a:extLst>
          </p:cNvPr>
          <p:cNvSpPr txBox="1"/>
          <p:nvPr/>
        </p:nvSpPr>
        <p:spPr>
          <a:xfrm>
            <a:off x="7558838" y="4855196"/>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2DDE61CA-7857-ACD8-4BA5-1837949360DF}"/>
              </a:ext>
            </a:extLst>
          </p:cNvPr>
          <p:cNvSpPr txBox="1"/>
          <p:nvPr/>
        </p:nvSpPr>
        <p:spPr>
          <a:xfrm>
            <a:off x="7969703"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D56AD42F-F5A0-5368-4353-9E57881FA6E5}"/>
              </a:ext>
            </a:extLst>
          </p:cNvPr>
          <p:cNvSpPr txBox="1"/>
          <p:nvPr/>
        </p:nvSpPr>
        <p:spPr>
          <a:xfrm>
            <a:off x="6712616"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CF0AD642-CBF1-EFBA-CC80-09161963EEE7}"/>
              </a:ext>
            </a:extLst>
          </p:cNvPr>
          <p:cNvSpPr txBox="1"/>
          <p:nvPr/>
        </p:nvSpPr>
        <p:spPr>
          <a:xfrm>
            <a:off x="6280384"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963FA891-12E0-B6CB-B4B8-F2D4EA82BC34}"/>
              </a:ext>
            </a:extLst>
          </p:cNvPr>
          <p:cNvSpPr txBox="1"/>
          <p:nvPr/>
        </p:nvSpPr>
        <p:spPr>
          <a:xfrm>
            <a:off x="6905979" y="4749435"/>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51A8739A-B1BC-CF60-2045-EE0CD80942DE}"/>
              </a:ext>
            </a:extLst>
          </p:cNvPr>
          <p:cNvSpPr/>
          <p:nvPr/>
        </p:nvSpPr>
        <p:spPr>
          <a:xfrm>
            <a:off x="6731855" y="4767977"/>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C67B062C-DD24-E639-4308-97680E62C416}"/>
              </a:ext>
            </a:extLst>
          </p:cNvPr>
          <p:cNvSpPr/>
          <p:nvPr/>
        </p:nvSpPr>
        <p:spPr>
          <a:xfrm>
            <a:off x="6525371" y="3920828"/>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10B2BC11-1E5F-41EC-AC1A-D17A516F9D53}"/>
              </a:ext>
            </a:extLst>
          </p:cNvPr>
          <p:cNvSpPr/>
          <p:nvPr/>
        </p:nvSpPr>
        <p:spPr>
          <a:xfrm>
            <a:off x="6227502" y="6318182"/>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C40958A2-B6F8-C15F-A408-2391FE127946}"/>
              </a:ext>
            </a:extLst>
          </p:cNvPr>
          <p:cNvSpPr/>
          <p:nvPr/>
        </p:nvSpPr>
        <p:spPr>
          <a:xfrm>
            <a:off x="163939" y="5085185"/>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30" name="文字方塊 29">
            <a:extLst>
              <a:ext uri="{FF2B5EF4-FFF2-40B4-BE49-F238E27FC236}">
                <a16:creationId xmlns:a16="http://schemas.microsoft.com/office/drawing/2014/main" id="{8F4C6418-8998-8FE3-6A7B-64FA8F82A6B3}"/>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0373013C-8B67-9741-763C-0B12EBCE06DB}"/>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3D2F62BA-F010-0488-4844-EC55BDB986CD}"/>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45B14785-C6A4-B1C5-24AE-992CFE5659FA}"/>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87CD78A-D1B8-7019-4BA5-AB8D626DB688}"/>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EB942EEC-3934-C852-76CB-1FA43A3AD8B7}"/>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A15CDD8B-AEA9-0B19-BAFF-5F6F8D6D0034}"/>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648AA5D1-F0A1-6492-49D6-AA447F98958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022D2868-93FE-C4EE-F632-DDFE0801E8DA}"/>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A61551E6-B1F1-188D-F847-727557FAC397}"/>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8E9F3E85-D9B1-854A-6767-4576DDCE3A9D}"/>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DA2D575E-21FF-543B-50A3-3F9CBF7C57A0}"/>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00BB627C-9C7B-229D-4348-5243254E944E}"/>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BA04D4F6-4DAA-AB3A-5188-3B18E65B8171}"/>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
        <p:nvSpPr>
          <p:cNvPr id="31" name="標題 1">
            <a:extLst>
              <a:ext uri="{FF2B5EF4-FFF2-40B4-BE49-F238E27FC236}">
                <a16:creationId xmlns:a16="http://schemas.microsoft.com/office/drawing/2014/main" id="{2D66367A-4E82-77C6-1B8A-1A8EC1990F34}"/>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Newton-Schulz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5" name="文字方塊 34">
            <a:extLst>
              <a:ext uri="{FF2B5EF4-FFF2-40B4-BE49-F238E27FC236}">
                <a16:creationId xmlns:a16="http://schemas.microsoft.com/office/drawing/2014/main" id="{69C77415-596C-9F0A-13A0-E973BFADAA86}"/>
              </a:ext>
            </a:extLst>
          </p:cNvPr>
          <p:cNvSpPr txBox="1"/>
          <p:nvPr/>
        </p:nvSpPr>
        <p:spPr>
          <a:xfrm>
            <a:off x="236725" y="1440646"/>
            <a:ext cx="8280922"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a:t>
            </a:r>
          </a:p>
        </p:txBody>
      </p:sp>
    </p:spTree>
    <p:extLst>
      <p:ext uri="{BB962C8B-B14F-4D97-AF65-F5344CB8AC3E}">
        <p14:creationId xmlns:p14="http://schemas.microsoft.com/office/powerpoint/2010/main" val="66938635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F4DC-2C5D-1DF8-C13C-2A98212F622C}"/>
            </a:ext>
          </a:extLst>
        </p:cNvPr>
        <p:cNvGrpSpPr/>
        <p:nvPr/>
      </p:nvGrpSpPr>
      <p:grpSpPr>
        <a:xfrm>
          <a:off x="0" y="0"/>
          <a:ext cx="0" cy="0"/>
          <a:chOff x="0" y="0"/>
          <a:chExt cx="0" cy="0"/>
        </a:xfrm>
      </p:grpSpPr>
      <p:sp>
        <p:nvSpPr>
          <p:cNvPr id="31" name="標題 1">
            <a:extLst>
              <a:ext uri="{FF2B5EF4-FFF2-40B4-BE49-F238E27FC236}">
                <a16:creationId xmlns:a16="http://schemas.microsoft.com/office/drawing/2014/main" id="{F34D51B4-CFFC-D6DB-2D03-A832CBED1EFD}"/>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oment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u</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rthogonalized by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ultra-fast optimizer for 2D matrices that updates exclusively via Newton-Schulz orthogonalized direction while completely discarding gradient scale.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9" name="圖片 38">
            <a:extLst>
              <a:ext uri="{FF2B5EF4-FFF2-40B4-BE49-F238E27FC236}">
                <a16:creationId xmlns:a16="http://schemas.microsoft.com/office/drawing/2014/main" id="{F1A33483-58B1-E17F-DEB4-BB4B30FB8180}"/>
              </a:ext>
            </a:extLst>
          </p:cNvPr>
          <p:cNvPicPr>
            <a:picLocks noChangeAspect="1"/>
          </p:cNvPicPr>
          <p:nvPr/>
        </p:nvPicPr>
        <p:blipFill>
          <a:blip r:embed="rId3"/>
          <a:stretch>
            <a:fillRect/>
          </a:stretch>
        </p:blipFill>
        <p:spPr>
          <a:xfrm>
            <a:off x="0" y="2887754"/>
            <a:ext cx="7596336" cy="3637590"/>
          </a:xfrm>
          <a:prstGeom prst="rect">
            <a:avLst/>
          </a:prstGeom>
        </p:spPr>
      </p:pic>
      <p:pic>
        <p:nvPicPr>
          <p:cNvPr id="43" name="圖片 42">
            <a:extLst>
              <a:ext uri="{FF2B5EF4-FFF2-40B4-BE49-F238E27FC236}">
                <a16:creationId xmlns:a16="http://schemas.microsoft.com/office/drawing/2014/main" id="{94C8EA73-D599-5656-F850-1CFC1A026EED}"/>
              </a:ext>
            </a:extLst>
          </p:cNvPr>
          <p:cNvPicPr>
            <a:picLocks noChangeAspect="1"/>
          </p:cNvPicPr>
          <p:nvPr/>
        </p:nvPicPr>
        <p:blipFill>
          <a:blip r:embed="rId4"/>
          <a:stretch>
            <a:fillRect/>
          </a:stretch>
        </p:blipFill>
        <p:spPr>
          <a:xfrm>
            <a:off x="5486826" y="4315270"/>
            <a:ext cx="3621678" cy="2354090"/>
          </a:xfrm>
          <a:prstGeom prst="rect">
            <a:avLst/>
          </a:prstGeom>
        </p:spPr>
      </p:pic>
      <p:pic>
        <p:nvPicPr>
          <p:cNvPr id="3" name="圖片 2">
            <a:extLst>
              <a:ext uri="{FF2B5EF4-FFF2-40B4-BE49-F238E27FC236}">
                <a16:creationId xmlns:a16="http://schemas.microsoft.com/office/drawing/2014/main" id="{2F35AD2E-ABB4-9F25-94C4-94B8A15A67CE}"/>
              </a:ext>
            </a:extLst>
          </p:cNvPr>
          <p:cNvPicPr>
            <a:picLocks noChangeAspect="1"/>
          </p:cNvPicPr>
          <p:nvPr/>
        </p:nvPicPr>
        <p:blipFill>
          <a:blip r:embed="rId5"/>
          <a:stretch>
            <a:fillRect/>
          </a:stretch>
        </p:blipFill>
        <p:spPr>
          <a:xfrm>
            <a:off x="1793042" y="116632"/>
            <a:ext cx="7308304" cy="2682172"/>
          </a:xfrm>
          <a:prstGeom prst="rect">
            <a:avLst/>
          </a:prstGeom>
        </p:spPr>
      </p:pic>
    </p:spTree>
    <p:extLst>
      <p:ext uri="{BB962C8B-B14F-4D97-AF65-F5344CB8AC3E}">
        <p14:creationId xmlns:p14="http://schemas.microsoft.com/office/powerpoint/2010/main" val="126055179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1">
            <a:extLst>
              <a:ext uri="{FF2B5EF4-FFF2-40B4-BE49-F238E27FC236}">
                <a16:creationId xmlns:a16="http://schemas.microsoft.com/office/drawing/2014/main" id="{25A7D983-02B0-5CC5-0F21-9C63F71FCEC8}"/>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vs  Kimi</a:t>
            </a:r>
            <a:r>
              <a:rPr lang="en-US" altLang="zh-TW" sz="2800" dirty="0">
                <a:latin typeface="Malgun Gothic" panose="020B0503020000020004" pitchFamily="34" charset="-127"/>
                <a:ea typeface="Malgun Gothic" panose="020B0503020000020004" pitchFamily="34" charset="-127"/>
                <a:cs typeface="Aharoni" panose="020F0502020204030204" pitchFamily="2" charset="-79"/>
              </a:rPr>
              <a: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Strategy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pic>
        <p:nvPicPr>
          <p:cNvPr id="9" name="圖片 8">
            <a:extLst>
              <a:ext uri="{FF2B5EF4-FFF2-40B4-BE49-F238E27FC236}">
                <a16:creationId xmlns:a16="http://schemas.microsoft.com/office/drawing/2014/main" id="{FC192506-A527-E600-5566-4A160003BBDE}"/>
              </a:ext>
            </a:extLst>
          </p:cNvPr>
          <p:cNvPicPr>
            <a:picLocks noChangeAspect="1"/>
          </p:cNvPicPr>
          <p:nvPr/>
        </p:nvPicPr>
        <p:blipFill>
          <a:blip r:embed="rId3"/>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FEBF8933-4E25-6F2E-7F5D-E835ADCF20ED}"/>
              </a:ext>
            </a:extLst>
          </p:cNvPr>
          <p:cNvPicPr>
            <a:picLocks noChangeAspect="1"/>
          </p:cNvPicPr>
          <p:nvPr/>
        </p:nvPicPr>
        <p:blipFill>
          <a:blip r:embed="rId4"/>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6B33F7C6-40D7-FA44-5ADA-47E3C9C99623}"/>
              </a:ext>
            </a:extLst>
          </p:cNvPr>
          <p:cNvPicPr>
            <a:picLocks noChangeAspect="1"/>
          </p:cNvPicPr>
          <p:nvPr/>
        </p:nvPicPr>
        <p:blipFill>
          <a:blip r:embed="rId5"/>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1B588763-430B-C125-9DA4-C1F7BDB448EC}"/>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FBF60411-7274-612C-05BC-B94FCB38646E}"/>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1C9A1B35-6087-4D88-BC6D-A9C51BE8DB7C}"/>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
        <p:nvSpPr>
          <p:cNvPr id="23" name="文字方塊 22">
            <a:extLst>
              <a:ext uri="{FF2B5EF4-FFF2-40B4-BE49-F238E27FC236}">
                <a16:creationId xmlns:a16="http://schemas.microsoft.com/office/drawing/2014/main" id="{03C2125C-8CFE-D3FC-DE92-F4581EB15102}"/>
              </a:ext>
            </a:extLst>
          </p:cNvPr>
          <p:cNvSpPr txBox="1"/>
          <p:nvPr/>
        </p:nvSpPr>
        <p:spPr>
          <a:xfrm>
            <a:off x="1011566" y="393858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a:t>
            </a:r>
          </a:p>
          <a:p>
            <a:pPr algn="ctr"/>
            <a:r>
              <a:rPr lang="en-US" altLang="zh-TW" sz="1200" b="1" dirty="0">
                <a:solidFill>
                  <a:prstClr val="black"/>
                </a:solidFill>
                <a:ea typeface="Cambria Math" panose="02040503050406030204" pitchFamily="18" charset="0"/>
              </a:rPr>
              <a:t>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350DA7CC-4E6F-1006-E418-FB6BBE36A6FF}"/>
              </a:ext>
            </a:extLst>
          </p:cNvPr>
          <p:cNvSpPr txBox="1"/>
          <p:nvPr/>
        </p:nvSpPr>
        <p:spPr>
          <a:xfrm>
            <a:off x="4067944" y="393858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a:t>
            </a:r>
          </a:p>
          <a:p>
            <a:pPr algn="ctr"/>
            <a:r>
              <a:rPr lang="en-US" altLang="zh-TW" sz="1200" b="1" dirty="0">
                <a:solidFill>
                  <a:prstClr val="black"/>
                </a:solidFill>
                <a:ea typeface="Cambria Math" panose="02040503050406030204" pitchFamily="18" charset="0"/>
              </a:rPr>
              <a:t>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F2208DFA-2BB8-CD97-2D57-8FAA0EF79701}"/>
              </a:ext>
            </a:extLst>
          </p:cNvPr>
          <p:cNvSpPr txBox="1"/>
          <p:nvPr/>
        </p:nvSpPr>
        <p:spPr>
          <a:xfrm>
            <a:off x="7010247" y="3938287"/>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a:t>
            </a:r>
          </a:p>
          <a:p>
            <a:pPr algn="ctr"/>
            <a:r>
              <a:rPr lang="en-US" altLang="zh-TW" sz="1200" b="1" dirty="0">
                <a:solidFill>
                  <a:prstClr val="black"/>
                </a:solidFill>
                <a:ea typeface="Cambria Math" panose="02040503050406030204" pitchFamily="18" charset="0"/>
              </a:rPr>
              <a:t>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7" name="圖片 36">
            <a:extLst>
              <a:ext uri="{FF2B5EF4-FFF2-40B4-BE49-F238E27FC236}">
                <a16:creationId xmlns:a16="http://schemas.microsoft.com/office/drawing/2014/main" id="{6743A732-DF87-690E-A27C-B8A037057841}"/>
              </a:ext>
            </a:extLst>
          </p:cNvPr>
          <p:cNvPicPr>
            <a:picLocks noChangeAspect="1"/>
          </p:cNvPicPr>
          <p:nvPr/>
        </p:nvPicPr>
        <p:blipFill>
          <a:blip r:embed="rId6"/>
          <a:stretch>
            <a:fillRect/>
          </a:stretch>
        </p:blipFill>
        <p:spPr>
          <a:xfrm>
            <a:off x="956590" y="4485621"/>
            <a:ext cx="1488127" cy="1065934"/>
          </a:xfrm>
          <a:prstGeom prst="rect">
            <a:avLst/>
          </a:prstGeom>
        </p:spPr>
      </p:pic>
      <p:pic>
        <p:nvPicPr>
          <p:cNvPr id="39" name="圖片 38">
            <a:extLst>
              <a:ext uri="{FF2B5EF4-FFF2-40B4-BE49-F238E27FC236}">
                <a16:creationId xmlns:a16="http://schemas.microsoft.com/office/drawing/2014/main" id="{2CDF102C-618E-0BFC-91B1-F0CF35A10F45}"/>
              </a:ext>
            </a:extLst>
          </p:cNvPr>
          <p:cNvPicPr>
            <a:picLocks noChangeAspect="1"/>
          </p:cNvPicPr>
          <p:nvPr/>
        </p:nvPicPr>
        <p:blipFill>
          <a:blip r:embed="rId7"/>
          <a:stretch>
            <a:fillRect/>
          </a:stretch>
        </p:blipFill>
        <p:spPr>
          <a:xfrm>
            <a:off x="6810475" y="4485622"/>
            <a:ext cx="1777720" cy="1237889"/>
          </a:xfrm>
          <a:prstGeom prst="rect">
            <a:avLst/>
          </a:prstGeom>
        </p:spPr>
      </p:pic>
      <p:pic>
        <p:nvPicPr>
          <p:cNvPr id="41" name="圖片 40">
            <a:extLst>
              <a:ext uri="{FF2B5EF4-FFF2-40B4-BE49-F238E27FC236}">
                <a16:creationId xmlns:a16="http://schemas.microsoft.com/office/drawing/2014/main" id="{A23BAC22-BE01-3C4C-27B6-57430D8B18A8}"/>
              </a:ext>
            </a:extLst>
          </p:cNvPr>
          <p:cNvPicPr>
            <a:picLocks noChangeAspect="1"/>
          </p:cNvPicPr>
          <p:nvPr/>
        </p:nvPicPr>
        <p:blipFill>
          <a:blip r:embed="rId8"/>
          <a:stretch>
            <a:fillRect/>
          </a:stretch>
        </p:blipFill>
        <p:spPr>
          <a:xfrm>
            <a:off x="4138615" y="4485620"/>
            <a:ext cx="1444934" cy="1065935"/>
          </a:xfrm>
          <a:prstGeom prst="rect">
            <a:avLst/>
          </a:prstGeom>
        </p:spPr>
      </p:pic>
      <p:sp>
        <p:nvSpPr>
          <p:cNvPr id="43" name="文字方塊 42">
            <a:extLst>
              <a:ext uri="{FF2B5EF4-FFF2-40B4-BE49-F238E27FC236}">
                <a16:creationId xmlns:a16="http://schemas.microsoft.com/office/drawing/2014/main" id="{251222A2-2D00-186D-C92E-8C73EDC6465B}"/>
              </a:ext>
            </a:extLst>
          </p:cNvPr>
          <p:cNvSpPr txBox="1"/>
          <p:nvPr/>
        </p:nvSpPr>
        <p:spPr>
          <a:xfrm>
            <a:off x="1115616" y="5849862"/>
            <a:ext cx="1378177" cy="300850"/>
          </a:xfrm>
          <a:prstGeom prst="rect">
            <a:avLst/>
          </a:prstGeom>
          <a:noFill/>
        </p:spPr>
        <p:txBody>
          <a:bodyPr wrap="none" lIns="0" tIns="0" rIns="0" bIns="0" anchor="ctr" anchorCtr="1">
            <a:noAutofit/>
          </a:bodyPr>
          <a:lstStyle/>
          <a:p>
            <a:pPr algn="ct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sym typeface="Wingdings" panose="05000000000000000000" pitchFamily="2" charset="2"/>
              </a:rPr>
              <a:t>MuonClip</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Optimizer</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5" name="文字方塊 44">
            <a:extLst>
              <a:ext uri="{FF2B5EF4-FFF2-40B4-BE49-F238E27FC236}">
                <a16:creationId xmlns:a16="http://schemas.microsoft.com/office/drawing/2014/main" id="{137E073D-D39F-B978-EDE5-B4E94491B044}"/>
              </a:ext>
            </a:extLst>
          </p:cNvPr>
          <p:cNvSpPr txBox="1"/>
          <p:nvPr/>
        </p:nvSpPr>
        <p:spPr>
          <a:xfrm>
            <a:off x="4171994" y="5849862"/>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Kimi Delta Attention</a:t>
            </a:r>
          </a:p>
          <a:p>
            <a:pPr algn="ctr"/>
            <a:r>
              <a:rPr lang="en-US" altLang="zh-TW" sz="1200" dirty="0">
                <a:solidFill>
                  <a:prstClr val="black"/>
                </a:solidFill>
                <a:ea typeface="Cambria Math" panose="02040503050406030204" pitchFamily="18" charset="0"/>
                <a:sym typeface="Wingdings" panose="05000000000000000000" pitchFamily="2" charset="2"/>
              </a:rPr>
              <a:t>Kimi Linear</a:t>
            </a:r>
            <a:endParaRPr lang="en-US" altLang="zh-TW" sz="1200" dirty="0">
              <a:solidFill>
                <a:prstClr val="black"/>
              </a:solidFill>
              <a:ea typeface="Cambria Math" panose="02040503050406030204" pitchFamily="18" charset="0"/>
            </a:endParaRPr>
          </a:p>
        </p:txBody>
      </p:sp>
      <p:sp>
        <p:nvSpPr>
          <p:cNvPr id="47" name="文字方塊 46">
            <a:extLst>
              <a:ext uri="{FF2B5EF4-FFF2-40B4-BE49-F238E27FC236}">
                <a16:creationId xmlns:a16="http://schemas.microsoft.com/office/drawing/2014/main" id="{604FAE4E-7D66-A107-3F09-9D88E3DAE572}"/>
              </a:ext>
            </a:extLst>
          </p:cNvPr>
          <p:cNvSpPr txBox="1"/>
          <p:nvPr/>
        </p:nvSpPr>
        <p:spPr>
          <a:xfrm>
            <a:off x="7114297" y="5849561"/>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Paradigm RL for</a:t>
            </a:r>
          </a:p>
          <a:p>
            <a:pPr algn="ctr"/>
            <a:r>
              <a:rPr lang="en-US" altLang="zh-TW" sz="1200" dirty="0">
                <a:solidFill>
                  <a:prstClr val="black"/>
                </a:solidFill>
                <a:ea typeface="Cambria Math" panose="02040503050406030204" pitchFamily="18" charset="0"/>
                <a:sym typeface="Wingdings" panose="05000000000000000000" pitchFamily="2" charset="2"/>
              </a:rPr>
              <a:t>Agents Swarms</a:t>
            </a:r>
            <a:endParaRPr lang="en-US" altLang="zh-TW" sz="1200" dirty="0">
              <a:solidFill>
                <a:prstClr val="black"/>
              </a:solidFill>
              <a:ea typeface="Cambria Math" panose="02040503050406030204" pitchFamily="18" charset="0"/>
            </a:endParaRPr>
          </a:p>
        </p:txBody>
      </p:sp>
    </p:spTree>
    <p:extLst>
      <p:ext uri="{BB962C8B-B14F-4D97-AF65-F5344CB8AC3E}">
        <p14:creationId xmlns:p14="http://schemas.microsoft.com/office/powerpoint/2010/main" val="21249514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B936BAD-3CA1-5A93-68D0-18D4749B896D}"/>
              </a:ext>
            </a:extLst>
          </p:cNvPr>
          <p:cNvPicPr>
            <a:picLocks noChangeAspect="1"/>
          </p:cNvPicPr>
          <p:nvPr/>
        </p:nvPicPr>
        <p:blipFill>
          <a:blip r:embed="rId2"/>
          <a:stretch>
            <a:fillRect/>
          </a:stretch>
        </p:blipFill>
        <p:spPr>
          <a:xfrm>
            <a:off x="445394" y="0"/>
            <a:ext cx="8253211" cy="6858000"/>
          </a:xfrm>
          <a:prstGeom prst="rect">
            <a:avLst/>
          </a:prstGeom>
        </p:spPr>
      </p:pic>
      <p:sp>
        <p:nvSpPr>
          <p:cNvPr id="5" name="標題 1">
            <a:extLst>
              <a:ext uri="{FF2B5EF4-FFF2-40B4-BE49-F238E27FC236}">
                <a16:creationId xmlns:a16="http://schemas.microsoft.com/office/drawing/2014/main" id="{EA642F90-58F9-AC4E-23F9-20D780B8B74F}"/>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spTree>
    <p:extLst>
      <p:ext uri="{BB962C8B-B14F-4D97-AF65-F5344CB8AC3E}">
        <p14:creationId xmlns:p14="http://schemas.microsoft.com/office/powerpoint/2010/main" val="2211158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505DD-CDA6-FE4C-F217-AF444E3CACAF}"/>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8EB04A97-81D2-A052-5744-4D29BE61D10B}"/>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K</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imi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elta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hybrid linear attention technique created to render the context window of 1M tokens feasible instead of quadratic.</a:t>
            </a:r>
          </a:p>
        </p:txBody>
      </p:sp>
      <p:pic>
        <p:nvPicPr>
          <p:cNvPr id="7" name="圖片 6">
            <a:extLst>
              <a:ext uri="{FF2B5EF4-FFF2-40B4-BE49-F238E27FC236}">
                <a16:creationId xmlns:a16="http://schemas.microsoft.com/office/drawing/2014/main" id="{0A39CAF0-2B6E-920B-22F1-4CB97C3BB504}"/>
              </a:ext>
            </a:extLst>
          </p:cNvPr>
          <p:cNvPicPr>
            <a:picLocks noChangeAspect="1"/>
          </p:cNvPicPr>
          <p:nvPr/>
        </p:nvPicPr>
        <p:blipFill>
          <a:blip r:embed="rId2"/>
          <a:stretch>
            <a:fillRect/>
          </a:stretch>
        </p:blipFill>
        <p:spPr>
          <a:xfrm>
            <a:off x="213047" y="1916832"/>
            <a:ext cx="3839111" cy="4496427"/>
          </a:xfrm>
          <a:prstGeom prst="rect">
            <a:avLst/>
          </a:prstGeom>
        </p:spPr>
      </p:pic>
      <p:pic>
        <p:nvPicPr>
          <p:cNvPr id="4" name="圖片 3">
            <a:extLst>
              <a:ext uri="{FF2B5EF4-FFF2-40B4-BE49-F238E27FC236}">
                <a16:creationId xmlns:a16="http://schemas.microsoft.com/office/drawing/2014/main" id="{C7D648D9-ABFB-3579-6CC8-D919C5327F82}"/>
              </a:ext>
            </a:extLst>
          </p:cNvPr>
          <p:cNvPicPr>
            <a:picLocks noChangeAspect="1"/>
          </p:cNvPicPr>
          <p:nvPr/>
        </p:nvPicPr>
        <p:blipFill>
          <a:blip r:embed="rId3"/>
          <a:stretch>
            <a:fillRect/>
          </a:stretch>
        </p:blipFill>
        <p:spPr>
          <a:xfrm>
            <a:off x="2555776" y="980728"/>
            <a:ext cx="4210638" cy="1419423"/>
          </a:xfrm>
          <a:prstGeom prst="rect">
            <a:avLst/>
          </a:prstGeom>
        </p:spPr>
      </p:pic>
      <p:sp>
        <p:nvSpPr>
          <p:cNvPr id="9" name="文字方塊 8">
            <a:extLst>
              <a:ext uri="{FF2B5EF4-FFF2-40B4-BE49-F238E27FC236}">
                <a16:creationId xmlns:a16="http://schemas.microsoft.com/office/drawing/2014/main" id="{C0DFBAC6-426F-03B3-9FFE-A154CE87BBA1}"/>
              </a:ext>
            </a:extLst>
          </p:cNvPr>
          <p:cNvSpPr txBox="1"/>
          <p:nvPr/>
        </p:nvSpPr>
        <p:spPr>
          <a:xfrm>
            <a:off x="899592" y="164266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KDA</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Kimi Delta Attention</a:t>
            </a:r>
          </a:p>
        </p:txBody>
      </p:sp>
      <p:cxnSp>
        <p:nvCxnSpPr>
          <p:cNvPr id="12" name="直線單箭頭接點 11">
            <a:extLst>
              <a:ext uri="{FF2B5EF4-FFF2-40B4-BE49-F238E27FC236}">
                <a16:creationId xmlns:a16="http://schemas.microsoft.com/office/drawing/2014/main" id="{0436543E-3072-40B4-782F-95CFF0F582CB}"/>
              </a:ext>
            </a:extLst>
          </p:cNvPr>
          <p:cNvCxnSpPr>
            <a:cxnSpLocks/>
            <a:stCxn id="16" idx="2"/>
            <a:endCxn id="17" idx="0"/>
          </p:cNvCxnSpPr>
          <p:nvPr/>
        </p:nvCxnSpPr>
        <p:spPr>
          <a:xfrm>
            <a:off x="7737477" y="2924944"/>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3" name="矩形 12">
            <a:extLst>
              <a:ext uri="{FF2B5EF4-FFF2-40B4-BE49-F238E27FC236}">
                <a16:creationId xmlns:a16="http://schemas.microsoft.com/office/drawing/2014/main" id="{B10808CA-1DF2-8265-C178-CEF922F916DD}"/>
              </a:ext>
            </a:extLst>
          </p:cNvPr>
          <p:cNvSpPr/>
          <p:nvPr/>
        </p:nvSpPr>
        <p:spPr>
          <a:xfrm>
            <a:off x="7380312" y="304006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14" name="矩形 13">
            <a:extLst>
              <a:ext uri="{FF2B5EF4-FFF2-40B4-BE49-F238E27FC236}">
                <a16:creationId xmlns:a16="http://schemas.microsoft.com/office/drawing/2014/main" id="{ED887128-0066-C7E3-0AFA-E38FC88A04B6}"/>
              </a:ext>
            </a:extLst>
          </p:cNvPr>
          <p:cNvSpPr/>
          <p:nvPr/>
        </p:nvSpPr>
        <p:spPr>
          <a:xfrm>
            <a:off x="7398553" y="3335321"/>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MQA</a:t>
            </a:r>
          </a:p>
        </p:txBody>
      </p:sp>
      <p:sp>
        <p:nvSpPr>
          <p:cNvPr id="15" name="矩形 14">
            <a:extLst>
              <a:ext uri="{FF2B5EF4-FFF2-40B4-BE49-F238E27FC236}">
                <a16:creationId xmlns:a16="http://schemas.microsoft.com/office/drawing/2014/main" id="{C33BCE02-7E6C-1470-3C10-7B11AA3BFD50}"/>
              </a:ext>
            </a:extLst>
          </p:cNvPr>
          <p:cNvSpPr/>
          <p:nvPr/>
        </p:nvSpPr>
        <p:spPr>
          <a:xfrm>
            <a:off x="7398553" y="3616375"/>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16" name="矩形 15">
            <a:extLst>
              <a:ext uri="{FF2B5EF4-FFF2-40B4-BE49-F238E27FC236}">
                <a16:creationId xmlns:a16="http://schemas.microsoft.com/office/drawing/2014/main" id="{EC8518F6-35AB-08B9-2B5E-27F751E4F1A5}"/>
              </a:ext>
            </a:extLst>
          </p:cNvPr>
          <p:cNvSpPr/>
          <p:nvPr/>
        </p:nvSpPr>
        <p:spPr>
          <a:xfrm>
            <a:off x="7383315" y="2752028"/>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17" name="矩形 16">
            <a:extLst>
              <a:ext uri="{FF2B5EF4-FFF2-40B4-BE49-F238E27FC236}">
                <a16:creationId xmlns:a16="http://schemas.microsoft.com/office/drawing/2014/main" id="{7459CB1D-35A3-2F99-5B4F-5668C50E7067}"/>
              </a:ext>
            </a:extLst>
          </p:cNvPr>
          <p:cNvSpPr/>
          <p:nvPr/>
        </p:nvSpPr>
        <p:spPr>
          <a:xfrm>
            <a:off x="7398553" y="406662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Tree>
    <p:extLst>
      <p:ext uri="{BB962C8B-B14F-4D97-AF65-F5344CB8AC3E}">
        <p14:creationId xmlns:p14="http://schemas.microsoft.com/office/powerpoint/2010/main" val="40046117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949EC-1316-A85B-5F0E-AEEC5553A7D3}"/>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BF2F72E6-93F4-5D0A-183F-078808B83F1F}"/>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 Residuals</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complete substitute for standard residual connections that Moonshot claims lead to more consistent results as the model grows lager.</a:t>
            </a:r>
          </a:p>
        </p:txBody>
      </p:sp>
    </p:spTree>
    <p:extLst>
      <p:ext uri="{BB962C8B-B14F-4D97-AF65-F5344CB8AC3E}">
        <p14:creationId xmlns:p14="http://schemas.microsoft.com/office/powerpoint/2010/main" val="33605181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1">
            <a:extLst>
              <a:ext uri="{FF2B5EF4-FFF2-40B4-BE49-F238E27FC236}">
                <a16:creationId xmlns:a16="http://schemas.microsoft.com/office/drawing/2014/main" id="{25A7D983-02B0-5CC5-0F21-9C63F71FCEC8}"/>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vs  Kimi</a:t>
            </a:r>
            <a:r>
              <a:rPr lang="en-US" altLang="zh-TW" sz="2800" dirty="0">
                <a:latin typeface="Malgun Gothic" panose="020B0503020000020004" pitchFamily="34" charset="-127"/>
                <a:ea typeface="Malgun Gothic" panose="020B0503020000020004" pitchFamily="34" charset="-127"/>
                <a:cs typeface="Aharoni" panose="020F0502020204030204" pitchFamily="2" charset="-79"/>
              </a:rPr>
              <a: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Strategy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pic>
        <p:nvPicPr>
          <p:cNvPr id="9" name="圖片 8">
            <a:extLst>
              <a:ext uri="{FF2B5EF4-FFF2-40B4-BE49-F238E27FC236}">
                <a16:creationId xmlns:a16="http://schemas.microsoft.com/office/drawing/2014/main" id="{FC192506-A527-E600-5566-4A160003BBDE}"/>
              </a:ext>
            </a:extLst>
          </p:cNvPr>
          <p:cNvPicPr>
            <a:picLocks noChangeAspect="1"/>
          </p:cNvPicPr>
          <p:nvPr/>
        </p:nvPicPr>
        <p:blipFill>
          <a:blip r:embed="rId2"/>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FEBF8933-4E25-6F2E-7F5D-E835ADCF20ED}"/>
              </a:ext>
            </a:extLst>
          </p:cNvPr>
          <p:cNvPicPr>
            <a:picLocks noChangeAspect="1"/>
          </p:cNvPicPr>
          <p:nvPr/>
        </p:nvPicPr>
        <p:blipFill>
          <a:blip r:embed="rId3"/>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6B33F7C6-40D7-FA44-5ADA-47E3C9C99623}"/>
              </a:ext>
            </a:extLst>
          </p:cNvPr>
          <p:cNvPicPr>
            <a:picLocks noChangeAspect="1"/>
          </p:cNvPicPr>
          <p:nvPr/>
        </p:nvPicPr>
        <p:blipFill>
          <a:blip r:embed="rId4"/>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1B588763-430B-C125-9DA4-C1F7BDB448EC}"/>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FBF60411-7274-612C-05BC-B94FCB38646E}"/>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1C9A1B35-6087-4D88-BC6D-A9C51BE8DB7C}"/>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
        <p:nvSpPr>
          <p:cNvPr id="23" name="文字方塊 22">
            <a:extLst>
              <a:ext uri="{FF2B5EF4-FFF2-40B4-BE49-F238E27FC236}">
                <a16:creationId xmlns:a16="http://schemas.microsoft.com/office/drawing/2014/main" id="{03C2125C-8CFE-D3FC-DE92-F4581EB15102}"/>
              </a:ext>
            </a:extLst>
          </p:cNvPr>
          <p:cNvSpPr txBox="1"/>
          <p:nvPr/>
        </p:nvSpPr>
        <p:spPr>
          <a:xfrm>
            <a:off x="1011566" y="407737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 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350DA7CC-4E6F-1006-E418-FB6BBE36A6FF}"/>
              </a:ext>
            </a:extLst>
          </p:cNvPr>
          <p:cNvSpPr txBox="1"/>
          <p:nvPr/>
        </p:nvSpPr>
        <p:spPr>
          <a:xfrm>
            <a:off x="4067944" y="407737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 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F2208DFA-2BB8-CD97-2D57-8FAA0EF79701}"/>
              </a:ext>
            </a:extLst>
          </p:cNvPr>
          <p:cNvSpPr txBox="1"/>
          <p:nvPr/>
        </p:nvSpPr>
        <p:spPr>
          <a:xfrm>
            <a:off x="7010247" y="4077072"/>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 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7" name="圖片 36">
            <a:extLst>
              <a:ext uri="{FF2B5EF4-FFF2-40B4-BE49-F238E27FC236}">
                <a16:creationId xmlns:a16="http://schemas.microsoft.com/office/drawing/2014/main" id="{6743A732-DF87-690E-A27C-B8A037057841}"/>
              </a:ext>
            </a:extLst>
          </p:cNvPr>
          <p:cNvPicPr>
            <a:picLocks noChangeAspect="1"/>
          </p:cNvPicPr>
          <p:nvPr/>
        </p:nvPicPr>
        <p:blipFill>
          <a:blip r:embed="rId5"/>
          <a:stretch>
            <a:fillRect/>
          </a:stretch>
        </p:blipFill>
        <p:spPr>
          <a:xfrm>
            <a:off x="251520" y="4485622"/>
            <a:ext cx="1488127" cy="1065934"/>
          </a:xfrm>
          <a:prstGeom prst="rect">
            <a:avLst/>
          </a:prstGeom>
        </p:spPr>
      </p:pic>
      <p:pic>
        <p:nvPicPr>
          <p:cNvPr id="39" name="圖片 38">
            <a:extLst>
              <a:ext uri="{FF2B5EF4-FFF2-40B4-BE49-F238E27FC236}">
                <a16:creationId xmlns:a16="http://schemas.microsoft.com/office/drawing/2014/main" id="{2CDF102C-618E-0BFC-91B1-F0CF35A10F45}"/>
              </a:ext>
            </a:extLst>
          </p:cNvPr>
          <p:cNvPicPr>
            <a:picLocks noChangeAspect="1"/>
          </p:cNvPicPr>
          <p:nvPr/>
        </p:nvPicPr>
        <p:blipFill>
          <a:blip r:embed="rId6"/>
          <a:stretch>
            <a:fillRect/>
          </a:stretch>
        </p:blipFill>
        <p:spPr>
          <a:xfrm>
            <a:off x="6810475" y="4485622"/>
            <a:ext cx="1777720" cy="1237889"/>
          </a:xfrm>
          <a:prstGeom prst="rect">
            <a:avLst/>
          </a:prstGeom>
        </p:spPr>
      </p:pic>
      <p:pic>
        <p:nvPicPr>
          <p:cNvPr id="41" name="圖片 40">
            <a:extLst>
              <a:ext uri="{FF2B5EF4-FFF2-40B4-BE49-F238E27FC236}">
                <a16:creationId xmlns:a16="http://schemas.microsoft.com/office/drawing/2014/main" id="{A23BAC22-BE01-3C4C-27B6-57430D8B18A8}"/>
              </a:ext>
            </a:extLst>
          </p:cNvPr>
          <p:cNvPicPr>
            <a:picLocks noChangeAspect="1"/>
          </p:cNvPicPr>
          <p:nvPr/>
        </p:nvPicPr>
        <p:blipFill>
          <a:blip r:embed="rId7"/>
          <a:stretch>
            <a:fillRect/>
          </a:stretch>
        </p:blipFill>
        <p:spPr>
          <a:xfrm>
            <a:off x="3213630" y="4485620"/>
            <a:ext cx="1444934" cy="1065935"/>
          </a:xfrm>
          <a:prstGeom prst="rect">
            <a:avLst/>
          </a:prstGeom>
        </p:spPr>
      </p:pic>
      <p:sp>
        <p:nvSpPr>
          <p:cNvPr id="43" name="文字方塊 42">
            <a:extLst>
              <a:ext uri="{FF2B5EF4-FFF2-40B4-BE49-F238E27FC236}">
                <a16:creationId xmlns:a16="http://schemas.microsoft.com/office/drawing/2014/main" id="{251222A2-2D00-186D-C92E-8C73EDC6465B}"/>
              </a:ext>
            </a:extLst>
          </p:cNvPr>
          <p:cNvSpPr txBox="1"/>
          <p:nvPr/>
        </p:nvSpPr>
        <p:spPr>
          <a:xfrm>
            <a:off x="1115616" y="5849862"/>
            <a:ext cx="1378177" cy="300850"/>
          </a:xfrm>
          <a:prstGeom prst="rect">
            <a:avLst/>
          </a:prstGeom>
          <a:noFill/>
        </p:spPr>
        <p:txBody>
          <a:bodyPr wrap="none" lIns="0" tIns="0" rIns="0" bIns="0" anchor="ctr" anchorCtr="1">
            <a:noAutofit/>
          </a:bodyPr>
          <a:lstStyle/>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QK-Clip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5" name="文字方塊 44">
            <a:extLst>
              <a:ext uri="{FF2B5EF4-FFF2-40B4-BE49-F238E27FC236}">
                <a16:creationId xmlns:a16="http://schemas.microsoft.com/office/drawing/2014/main" id="{137E073D-D39F-B978-EDE5-B4E94491B044}"/>
              </a:ext>
            </a:extLst>
          </p:cNvPr>
          <p:cNvSpPr txBox="1"/>
          <p:nvPr/>
        </p:nvSpPr>
        <p:spPr>
          <a:xfrm>
            <a:off x="4171994" y="5849862"/>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Kimi Linear</a:t>
            </a:r>
            <a:endParaRPr lang="en-US" altLang="zh-TW" sz="1200" dirty="0">
              <a:solidFill>
                <a:prstClr val="black"/>
              </a:solidFill>
              <a:ea typeface="Cambria Math" panose="02040503050406030204" pitchFamily="18" charset="0"/>
            </a:endParaRPr>
          </a:p>
        </p:txBody>
      </p:sp>
      <p:sp>
        <p:nvSpPr>
          <p:cNvPr id="47" name="文字方塊 46">
            <a:extLst>
              <a:ext uri="{FF2B5EF4-FFF2-40B4-BE49-F238E27FC236}">
                <a16:creationId xmlns:a16="http://schemas.microsoft.com/office/drawing/2014/main" id="{604FAE4E-7D66-A107-3F09-9D88E3DAE572}"/>
              </a:ext>
            </a:extLst>
          </p:cNvPr>
          <p:cNvSpPr txBox="1"/>
          <p:nvPr/>
        </p:nvSpPr>
        <p:spPr>
          <a:xfrm>
            <a:off x="7114297" y="5849561"/>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f agents</a:t>
            </a:r>
            <a:endParaRPr lang="en-US" altLang="zh-TW" sz="1200" dirty="0">
              <a:solidFill>
                <a:prstClr val="black"/>
              </a:solidFill>
              <a:ea typeface="Cambria Math" panose="02040503050406030204" pitchFamily="18" charset="0"/>
            </a:endParaRPr>
          </a:p>
        </p:txBody>
      </p:sp>
      <p:pic>
        <p:nvPicPr>
          <p:cNvPr id="49" name="圖片 48">
            <a:extLst>
              <a:ext uri="{FF2B5EF4-FFF2-40B4-BE49-F238E27FC236}">
                <a16:creationId xmlns:a16="http://schemas.microsoft.com/office/drawing/2014/main" id="{D3F610A2-6BA4-F8DE-E41D-DA2B1DA00336}"/>
              </a:ext>
            </a:extLst>
          </p:cNvPr>
          <p:cNvPicPr>
            <a:picLocks noChangeAspect="1"/>
          </p:cNvPicPr>
          <p:nvPr/>
        </p:nvPicPr>
        <p:blipFill>
          <a:blip r:embed="rId8"/>
          <a:stretch>
            <a:fillRect/>
          </a:stretch>
        </p:blipFill>
        <p:spPr>
          <a:xfrm>
            <a:off x="1804704" y="4485620"/>
            <a:ext cx="1316743" cy="1065935"/>
          </a:xfrm>
          <a:prstGeom prst="rect">
            <a:avLst/>
          </a:prstGeom>
        </p:spPr>
      </p:pic>
    </p:spTree>
    <p:extLst>
      <p:ext uri="{BB962C8B-B14F-4D97-AF65-F5344CB8AC3E}">
        <p14:creationId xmlns:p14="http://schemas.microsoft.com/office/powerpoint/2010/main" val="834322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1">
            <a:extLst>
              <a:ext uri="{FF2B5EF4-FFF2-40B4-BE49-F238E27FC236}">
                <a16:creationId xmlns:a16="http://schemas.microsoft.com/office/drawing/2014/main" id="{0386F936-F4B8-05C9-432E-EEF681F5A8BD}"/>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Efficient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F30002D9-A4A4-A587-5D56-5B96D6CF016C}"/>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AC00E7AA-1873-38AF-0CDE-FFD343E4A196}"/>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40102178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68678-8819-BF86-96FB-0D6B0474C460}"/>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5C2D5DB0-B13E-CC8D-BEAD-3CFE1FC01260}"/>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 First Principles of LLMs.</a:t>
            </a:r>
          </a:p>
        </p:txBody>
      </p:sp>
      <p:pic>
        <p:nvPicPr>
          <p:cNvPr id="9" name="圖片 8">
            <a:extLst>
              <a:ext uri="{FF2B5EF4-FFF2-40B4-BE49-F238E27FC236}">
                <a16:creationId xmlns:a16="http://schemas.microsoft.com/office/drawing/2014/main" id="{C89A2E64-CE39-0D5A-90FD-BC77BBEBB409}"/>
              </a:ext>
            </a:extLst>
          </p:cNvPr>
          <p:cNvPicPr>
            <a:picLocks noChangeAspect="1"/>
          </p:cNvPicPr>
          <p:nvPr/>
        </p:nvPicPr>
        <p:blipFill>
          <a:blip r:embed="rId2"/>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41C0F3C9-5B35-EEAA-5410-9C94A52BB987}"/>
              </a:ext>
            </a:extLst>
          </p:cNvPr>
          <p:cNvPicPr>
            <a:picLocks noChangeAspect="1"/>
          </p:cNvPicPr>
          <p:nvPr/>
        </p:nvPicPr>
        <p:blipFill>
          <a:blip r:embed="rId3"/>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22971B65-9602-76A3-B159-4A6787C8241C}"/>
              </a:ext>
            </a:extLst>
          </p:cNvPr>
          <p:cNvPicPr>
            <a:picLocks noChangeAspect="1"/>
          </p:cNvPicPr>
          <p:nvPr/>
        </p:nvPicPr>
        <p:blipFill>
          <a:blip r:embed="rId4"/>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3449EE38-D2F0-6E65-391C-051BDCC290D1}"/>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917CB614-9D91-6082-E732-C1EB9B94CBB2}"/>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873A4A8C-4DB5-C8E4-8137-40158A09AA46}"/>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Tree>
    <p:extLst>
      <p:ext uri="{BB962C8B-B14F-4D97-AF65-F5344CB8AC3E}">
        <p14:creationId xmlns:p14="http://schemas.microsoft.com/office/powerpoint/2010/main" val="1328516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 CEO Kimi(</a:t>
            </a:r>
            <a:r>
              <a:rPr lang="zh-TW" altLang="en-US" sz="1400" dirty="0">
                <a:latin typeface="微軟正黑體" panose="020B0604030504040204" pitchFamily="34" charset="-120"/>
                <a:ea typeface="微軟正黑體" panose="020B0604030504040204" pitchFamily="34" charset="-120"/>
              </a:rPr>
              <a:t>楊植麟</a:t>
            </a:r>
            <a:r>
              <a:rPr lang="en-US" altLang="zh-TW" sz="1400" dirty="0">
                <a:latin typeface="微軟正黑體" panose="020B0604030504040204" pitchFamily="34" charset="-120"/>
                <a:ea typeface="微軟正黑體" panose="020B0604030504040204" pitchFamily="34" charset="-120"/>
              </a:rPr>
              <a:t>1992.</a:t>
            </a:r>
            <a:r>
              <a:rPr lang="zh-TW" altLang="en-US" sz="1400" dirty="0">
                <a:latin typeface="微軟正黑體" panose="020B0604030504040204" pitchFamily="34" charset="-120"/>
                <a:ea typeface="微軟正黑體" panose="020B0604030504040204" pitchFamily="34" charset="-120"/>
              </a:rPr>
              <a:t>清華大學</a:t>
            </a:r>
            <a:r>
              <a:rPr lang="en-US" altLang="zh-TW" sz="1400" dirty="0">
                <a:latin typeface="微軟正黑體" panose="020B0604030504040204" pitchFamily="34" charset="-120"/>
                <a:ea typeface="微軟正黑體" panose="020B0604030504040204" pitchFamily="34" charset="-120"/>
              </a:rPr>
              <a:t>.CMU</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AttnRes reduces layers (</a:t>
            </a:r>
            <a:r>
              <a:rPr lang="en-US" altLang="zh-TW" sz="1600" b="1" dirty="0">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MoE: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011E9-ADCA-8AD3-5955-8B4CFF50F99D}"/>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E4DF5537-7767-3FE2-DF63-AAEA1B1D639C}"/>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C1B77582-7129-1481-6EC8-8A0D8D78D952}"/>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27EB0C08-FFAC-265A-35FC-9352AF083829}"/>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318276204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ositional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461876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4618766"/>
                <a:ext cx="3816421" cy="1018760"/>
              </a:xfrm>
              <a:prstGeom prst="rect">
                <a:avLst/>
              </a:prstGeom>
              <a:blipFill>
                <a:blip r:embed="rId3"/>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4509120"/>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4509120"/>
                <a:ext cx="2111120" cy="1018764"/>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5670532"/>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5670532"/>
                <a:ext cx="3068084" cy="712549"/>
              </a:xfrm>
              <a:prstGeom prst="rect">
                <a:avLst/>
              </a:prstGeom>
              <a:blipFill>
                <a:blip r:embed="rId5"/>
                <a:stretch>
                  <a:fillRect/>
                </a:stretch>
              </a:blipFill>
            </p:spPr>
            <p:txBody>
              <a:bodyPr/>
              <a:lstStyle/>
              <a:p>
                <a:r>
                  <a:rPr lang="zh-TW" altLang="en-US">
                    <a:noFill/>
                  </a:rPr>
                  <a:t> </a:t>
                </a:r>
              </a:p>
            </p:txBody>
          </p:sp>
        </mc:Fallback>
      </mc:AlternateContent>
      <p:sp>
        <p:nvSpPr>
          <p:cNvPr id="7" name="文字方塊 6">
            <a:extLst>
              <a:ext uri="{FF2B5EF4-FFF2-40B4-BE49-F238E27FC236}">
                <a16:creationId xmlns:a16="http://schemas.microsoft.com/office/drawing/2014/main" id="{406D497E-F14A-9F07-6A01-416E0160ED6A}"/>
              </a:ext>
            </a:extLst>
          </p:cNvPr>
          <p:cNvSpPr txBox="1"/>
          <p:nvPr/>
        </p:nvSpPr>
        <p:spPr>
          <a:xfrm>
            <a:off x="4788024" y="333735"/>
            <a:ext cx="4176461" cy="1107996"/>
          </a:xfrm>
          <a:prstGeom prst="rect">
            <a:avLst/>
          </a:prstGeom>
          <a:solidFill>
            <a:schemeClr val="accent6">
              <a:lumMod val="20000"/>
              <a:lumOff val="80000"/>
            </a:schemeClr>
          </a:solidFill>
        </p:spPr>
        <p:txBody>
          <a:bodyPr wrap="square">
            <a:spAutoFit/>
          </a:bodyPr>
          <a:lstStyle/>
          <a:p>
            <a:r>
              <a:rPr lang="zh-TW" altLang="zh-TW" sz="1100" b="0" u="none" strike="noStrike" dirty="0">
                <a:effectLst/>
                <a:latin typeface="微軟正黑體" panose="020B0604030504040204" pitchFamily="34" charset="-120"/>
                <a:ea typeface="微軟正黑體" panose="020B0604030504040204" pitchFamily="34" charset="-120"/>
              </a:rPr>
              <a:t>NoPE（No Positional Embedding，無位置編碼）技術在近年（2025-2026年）的大型語言模型架構中受到重視，它完全捨棄傳統的 RoPE 旋轉位置編碼，改由因果注意力遮罩（Causal Mask）或混合線性注意力機制的衰減門控來隱式攜帶時序與位置資訊</a:t>
            </a:r>
            <a:r>
              <a:rPr lang="zh-TW" altLang="zh-TW" sz="1100" dirty="0">
                <a:latin typeface="微軟正黑體" panose="020B0604030504040204" pitchFamily="34" charset="-120"/>
                <a:ea typeface="微軟正黑體" panose="020B0604030504040204" pitchFamily="34" charset="-120"/>
              </a:rPr>
              <a:t>。目前採用或實驗 NoPE 技術的知名模型包含：</a:t>
            </a:r>
            <a:endParaRPr lang="en-US" altLang="zh-TW" sz="1100" dirty="0">
              <a:latin typeface="微軟正黑體" panose="020B0604030504040204" pitchFamily="34" charset="-120"/>
              <a:ea typeface="微軟正黑體" panose="020B0604030504040204" pitchFamily="34" charset="-120"/>
            </a:endParaRPr>
          </a:p>
          <a:p>
            <a:r>
              <a:rPr lang="en-US" altLang="zh-TW" sz="1100" dirty="0">
                <a:latin typeface="微軟正黑體" panose="020B0604030504040204" pitchFamily="34" charset="-120"/>
                <a:ea typeface="微軟正黑體" panose="020B0604030504040204" pitchFamily="34" charset="-120"/>
              </a:rPr>
              <a:t>K-EXAONE 2.0, SmolLM3, IBM Granite 4.0 …</a:t>
            </a:r>
            <a:endParaRPr lang="zh-TW" altLang="en-US" sz="1100" dirty="0">
              <a:latin typeface="微軟正黑體" panose="020B0604030504040204" pitchFamily="34" charset="-120"/>
              <a:ea typeface="微軟正黑體" panose="020B0604030504040204" pitchFamily="34" charset="-120"/>
            </a:endParaRPr>
          </a:p>
        </p:txBody>
      </p:sp>
      <p:sp>
        <p:nvSpPr>
          <p:cNvPr id="12" name="文字方塊 11">
            <a:extLst>
              <a:ext uri="{FF2B5EF4-FFF2-40B4-BE49-F238E27FC236}">
                <a16:creationId xmlns:a16="http://schemas.microsoft.com/office/drawing/2014/main" id="{ACF86D5B-7F2D-D2EE-FB5E-D5D9C77FE2AE}"/>
              </a:ext>
            </a:extLst>
          </p:cNvPr>
          <p:cNvSpPr txBox="1"/>
          <p:nvPr/>
        </p:nvSpPr>
        <p:spPr>
          <a:xfrm>
            <a:off x="4788024" y="1551872"/>
            <a:ext cx="4215949" cy="1157048"/>
          </a:xfrm>
          <a:prstGeom prst="rect">
            <a:avLst/>
          </a:prstGeom>
          <a:solidFill>
            <a:schemeClr val="accent6">
              <a:lumMod val="20000"/>
              <a:lumOff val="80000"/>
            </a:schemeClr>
          </a:solidFill>
        </p:spPr>
        <p:txBody>
          <a:bodyPr wrap="square">
            <a:spAutoFit/>
          </a:bodyPr>
          <a:lstStyle/>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記憶體釋放</a:t>
            </a:r>
            <a:r>
              <a:rPr lang="zh-TW" altLang="zh-TW" sz="1100" b="0" u="none" strike="noStrike" dirty="0">
                <a:effectLst/>
                <a:latin typeface="微軟正黑體" panose="020B0604030504040204" pitchFamily="34" charset="-120"/>
                <a:ea typeface="微軟正黑體" panose="020B0604030504040204" pitchFamily="34" charset="-120"/>
              </a:rPr>
              <a:t>：省去 RoPE 的旋轉矩陣運算，KV Cache 的傳輸與儲存成本顯著降低。</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外推上限解鎖</a:t>
            </a:r>
            <a:r>
              <a:rPr lang="zh-TW" altLang="zh-TW" sz="1100" b="0" u="none" strike="noStrike" dirty="0">
                <a:effectLst/>
                <a:latin typeface="微軟正黑體" panose="020B0604030504040204" pitchFamily="34" charset="-120"/>
                <a:ea typeface="微軟正黑體" panose="020B0604030504040204" pitchFamily="34" charset="-120"/>
              </a:rPr>
              <a:t>：不受 RoPE 頻率基底（Base Frequency）的理論限制，突破長文本的硬性天花板。</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訓練吞吐量提升</a:t>
            </a:r>
            <a:r>
              <a:rPr lang="zh-TW" altLang="zh-TW" sz="1100" b="0" u="none" strike="noStrike" dirty="0">
                <a:effectLst/>
                <a:latin typeface="微軟正黑體" panose="020B0604030504040204" pitchFamily="34" charset="-120"/>
                <a:ea typeface="微軟正黑體" panose="020B0604030504040204" pitchFamily="34" charset="-120"/>
              </a:rPr>
              <a:t>：移除序列長度相關的複數運算，硬體算力（FLOPs）利用率更高。</a:t>
            </a:r>
          </a:p>
        </p:txBody>
      </p:sp>
      <p:sp>
        <p:nvSpPr>
          <p:cNvPr id="16" name="文字方塊 15">
            <a:extLst>
              <a:ext uri="{FF2B5EF4-FFF2-40B4-BE49-F238E27FC236}">
                <a16:creationId xmlns:a16="http://schemas.microsoft.com/office/drawing/2014/main" id="{52E62E83-F6E9-D9DC-EA96-D78887ED8270}"/>
              </a:ext>
            </a:extLst>
          </p:cNvPr>
          <p:cNvSpPr txBox="1"/>
          <p:nvPr/>
        </p:nvSpPr>
        <p:spPr>
          <a:xfrm>
            <a:off x="261350" y="2965450"/>
            <a:ext cx="8784971" cy="1329161"/>
          </a:xfrm>
          <a:prstGeom prst="rect">
            <a:avLst/>
          </a:prstGeom>
          <a:solidFill>
            <a:schemeClr val="accent2">
              <a:lumMod val="20000"/>
              <a:lumOff val="80000"/>
            </a:schemeClr>
          </a:solidFill>
        </p:spPr>
        <p:txBody>
          <a:bodyPr wrap="none" lIns="0" tIns="0" rIns="0" bIns="0">
            <a:no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長度外推原理</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RoPE 的外推失敗，是因為測試長度超過訓練長度時，旋轉角度會進入模型</a:t>
            </a:r>
            <a:r>
              <a:rPr lang="zh-TW" altLang="zh-TW" sz="1100" b="1" u="none" strike="noStrike" dirty="0">
                <a:effectLst/>
                <a:latin typeface="微軟正黑體" panose="020B0604030504040204" pitchFamily="34" charset="-120"/>
                <a:ea typeface="微軟正黑體" panose="020B0604030504040204" pitchFamily="34" charset="-120"/>
              </a:rPr>
              <a:t>從未見過的極端頻率區間</a:t>
            </a:r>
            <a:r>
              <a:rPr lang="zh-TW" altLang="zh-TW" sz="1100" b="0" u="none" strike="noStrike" dirty="0">
                <a:effectLst/>
                <a:latin typeface="微軟正黑體" panose="020B0604030504040204" pitchFamily="34" charset="-120"/>
                <a:ea typeface="微軟正黑體" panose="020B0604030504040204" pitchFamily="34" charset="-120"/>
              </a:rPr>
              <a:t>，導致注意力機制崩潰。</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NoPE 能夠成功外推的關鍵在於：</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因果遮罩的邊界效應</a:t>
            </a:r>
            <a:r>
              <a:rPr lang="zh-TW" altLang="zh-TW" sz="1100" b="0" u="none" strike="noStrike" dirty="0">
                <a:effectLst/>
                <a:latin typeface="微軟正黑體" panose="020B0604030504040204" pitchFamily="34" charset="-120"/>
                <a:ea typeface="微軟正黑體" panose="020B0604030504040204" pitchFamily="34" charset="-120"/>
              </a:rPr>
              <a:t>：在自迴歸模型中，第 \(N\) 個 Token 只能看到前 \(N-1\) 個 Token。</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lvl="0">
              <a:lnSpc>
                <a:spcPts val="1400"/>
              </a:lnSpc>
            </a:pPr>
            <a:r>
              <a:rPr lang="zh-TW" altLang="zh-TW" sz="1100" b="0" u="none" strike="noStrike" dirty="0">
                <a:effectLst/>
                <a:latin typeface="微軟正黑體" panose="020B0604030504040204" pitchFamily="34" charset="-120"/>
                <a:ea typeface="微軟正黑體" panose="020B0604030504040204" pitchFamily="34" charset="-120"/>
              </a:rPr>
              <a:t>這種 Causal Mask 形成了一個天然的「階梯狀」資訊流。模型透過矩陣乘法，能隱式學會「距離當前 Token 多遠」的相對概念。</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注意力梯度的自然衰減</a:t>
            </a:r>
            <a:r>
              <a:rPr lang="zh-TW" altLang="zh-TW" sz="1100" b="0" u="none" strike="noStrike" dirty="0">
                <a:effectLst/>
                <a:latin typeface="微軟正黑體" panose="020B0604030504040204" pitchFamily="34" charset="-120"/>
                <a:ea typeface="微軟正黑體" panose="020B0604030504040204" pitchFamily="34" charset="-120"/>
              </a:rPr>
              <a:t>：隨着序列變長，Softmax 分配給每個 Token 的權重會隨距離自然攤薄。</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lvl="0">
              <a:lnSpc>
                <a:spcPts val="1400"/>
              </a:lnSpc>
            </a:pPr>
            <a:r>
              <a:rPr lang="zh-TW" altLang="zh-TW" sz="1100" b="0" u="none" strike="noStrike" dirty="0">
                <a:effectLst/>
                <a:latin typeface="微軟正黑體" panose="020B0604030504040204" pitchFamily="34" charset="-120"/>
                <a:ea typeface="微軟正黑體" panose="020B0604030504040204" pitchFamily="34" charset="-120"/>
              </a:rPr>
              <a:t>NoPE 轉而依賴這種「距離越遠、影響越弱」的隱式物理規律，而非硬性規定的數學公式，因此在文本無限延伸時，注意力矩陣不會產生突變。</a:t>
            </a:r>
          </a:p>
        </p:txBody>
      </p:sp>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1">
            <a:extLst>
              <a:ext uri="{FF2B5EF4-FFF2-40B4-BE49-F238E27FC236}">
                <a16:creationId xmlns:a16="http://schemas.microsoft.com/office/drawing/2014/main" id="{0386F936-F4B8-05C9-432E-EEF681F5A8BD}"/>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Efficient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F30002D9-A4A4-A587-5D56-5B96D6CF016C}"/>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AC00E7AA-1873-38AF-0CDE-FFD343E4A196}"/>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173597710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4DE73-845E-56B1-338E-79BD8AD2BA71}"/>
            </a:ext>
          </a:extLst>
        </p:cNvPr>
        <p:cNvGrpSpPr/>
        <p:nvPr/>
      </p:nvGrpSpPr>
      <p:grpSpPr>
        <a:xfrm>
          <a:off x="0" y="0"/>
          <a:ext cx="0" cy="0"/>
          <a:chOff x="0" y="0"/>
          <a:chExt cx="0" cy="0"/>
        </a:xfrm>
      </p:grpSpPr>
      <p:sp>
        <p:nvSpPr>
          <p:cNvPr id="16" name="標題 1">
            <a:extLst>
              <a:ext uri="{FF2B5EF4-FFF2-40B4-BE49-F238E27FC236}">
                <a16:creationId xmlns:a16="http://schemas.microsoft.com/office/drawing/2014/main" id="{31387CC2-AA34-BD9A-1D10-662C2C0E7AC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Linear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An Expressive, Efficient Attention, Architecture</a:t>
            </a:r>
          </a:p>
        </p:txBody>
      </p:sp>
      <p:sp>
        <p:nvSpPr>
          <p:cNvPr id="9" name="文字方塊 8">
            <a:extLst>
              <a:ext uri="{FF2B5EF4-FFF2-40B4-BE49-F238E27FC236}">
                <a16:creationId xmlns:a16="http://schemas.microsoft.com/office/drawing/2014/main" id="{9F0C7E82-DA95-DF79-29A5-3FC58C092FFC}"/>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pic>
        <p:nvPicPr>
          <p:cNvPr id="14" name="圖片 13">
            <a:extLst>
              <a:ext uri="{FF2B5EF4-FFF2-40B4-BE49-F238E27FC236}">
                <a16:creationId xmlns:a16="http://schemas.microsoft.com/office/drawing/2014/main" id="{BA39B5A4-81BC-B102-0C1A-F8CFC8E9AE98}"/>
              </a:ext>
            </a:extLst>
          </p:cNvPr>
          <p:cNvPicPr>
            <a:picLocks noChangeAspect="1"/>
          </p:cNvPicPr>
          <p:nvPr/>
        </p:nvPicPr>
        <p:blipFill>
          <a:blip r:embed="rId3"/>
          <a:stretch>
            <a:fillRect/>
          </a:stretch>
        </p:blipFill>
        <p:spPr>
          <a:xfrm>
            <a:off x="0" y="2472698"/>
            <a:ext cx="9144000" cy="1912603"/>
          </a:xfrm>
          <a:prstGeom prst="rect">
            <a:avLst/>
          </a:prstGeom>
        </p:spPr>
      </p:pic>
    </p:spTree>
    <p:extLst>
      <p:ext uri="{BB962C8B-B14F-4D97-AF65-F5344CB8AC3E}">
        <p14:creationId xmlns:p14="http://schemas.microsoft.com/office/powerpoint/2010/main" val="371834071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MoE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3" name="圖片 2" descr="Kimi K3 架构">
            <a:extLst>
              <a:ext uri="{FF2B5EF4-FFF2-40B4-BE49-F238E27FC236}">
                <a16:creationId xmlns:a16="http://schemas.microsoft.com/office/drawing/2014/main" id="{98621101-8A38-BE97-2C19-3040C57E8430}"/>
              </a:ext>
            </a:extLst>
          </p:cNvPr>
          <p:cNvPicPr>
            <a:picLocks noChangeAspect="1"/>
          </p:cNvPicPr>
          <p:nvPr/>
        </p:nvPicPr>
        <p:blipFill>
          <a:blip r:embed="rId3"/>
          <a:stretch>
            <a:fillRect/>
          </a:stretch>
        </p:blipFill>
        <p:spPr>
          <a:xfrm>
            <a:off x="976102" y="0"/>
            <a:ext cx="7191796" cy="6858000"/>
          </a:xfrm>
          <a:prstGeom prst="rect">
            <a:avLst/>
          </a:prstGeom>
        </p:spPr>
      </p:pic>
    </p:spTree>
    <p:extLst>
      <p:ext uri="{BB962C8B-B14F-4D97-AF65-F5344CB8AC3E}">
        <p14:creationId xmlns:p14="http://schemas.microsoft.com/office/powerpoint/2010/main" val="174146994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4" name="圖片 3">
            <a:extLst>
              <a:ext uri="{FF2B5EF4-FFF2-40B4-BE49-F238E27FC236}">
                <a16:creationId xmlns:a16="http://schemas.microsoft.com/office/drawing/2014/main" id="{DFCF731C-6331-9A7E-69D1-E08908ECDFC7}"/>
              </a:ext>
            </a:extLst>
          </p:cNvPr>
          <p:cNvPicPr>
            <a:picLocks noChangeAspect="1"/>
          </p:cNvPicPr>
          <p:nvPr/>
        </p:nvPicPr>
        <p:blipFill>
          <a:blip r:embed="rId3"/>
          <a:stretch>
            <a:fillRect/>
          </a:stretch>
        </p:blipFill>
        <p:spPr>
          <a:xfrm>
            <a:off x="0" y="1090587"/>
            <a:ext cx="9144000" cy="4676825"/>
          </a:xfrm>
          <a:prstGeom prst="rect">
            <a:avLst/>
          </a:prstGeom>
        </p:spPr>
      </p:pic>
      <p:sp>
        <p:nvSpPr>
          <p:cNvPr id="6" name="標題 1">
            <a:extLst>
              <a:ext uri="{FF2B5EF4-FFF2-40B4-BE49-F238E27FC236}">
                <a16:creationId xmlns:a16="http://schemas.microsoft.com/office/drawing/2014/main" id="{C1DFD697-19B0-D518-76E0-8B069936C6F5}"/>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HW Requirement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231</TotalTime>
  <Words>4867</Words>
  <Application>Microsoft Office PowerPoint</Application>
  <PresentationFormat>如螢幕大小 (4:3)</PresentationFormat>
  <Paragraphs>634</Paragraphs>
  <Slides>26</Slides>
  <Notes>16</Notes>
  <HiddenSlides>0</HiddenSlides>
  <MMClips>0</MMClips>
  <ScaleCrop>false</ScaleCrop>
  <HeadingPairs>
    <vt:vector size="6" baseType="variant">
      <vt:variant>
        <vt:lpstr>使用字型</vt:lpstr>
      </vt:variant>
      <vt:variant>
        <vt:i4>9</vt:i4>
      </vt:variant>
      <vt:variant>
        <vt:lpstr>佈景主題</vt:lpstr>
      </vt:variant>
      <vt:variant>
        <vt:i4>1</vt:i4>
      </vt:variant>
      <vt:variant>
        <vt:lpstr>投影片標題</vt:lpstr>
      </vt:variant>
      <vt:variant>
        <vt:i4>26</vt:i4>
      </vt:variant>
    </vt:vector>
  </HeadingPairs>
  <TitlesOfParts>
    <vt:vector size="36" baseType="lpstr">
      <vt:lpstr>Malgun Gothic</vt:lpstr>
      <vt:lpstr>Noto Sans HK</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1884</cp:revision>
  <cp:lastPrinted>2024-07-30T01:44:15Z</cp:lastPrinted>
  <dcterms:created xsi:type="dcterms:W3CDTF">2019-11-08T03:01:47Z</dcterms:created>
  <dcterms:modified xsi:type="dcterms:W3CDTF">2026-09-01T09:37:59Z</dcterms:modified>
</cp:coreProperties>
</file>