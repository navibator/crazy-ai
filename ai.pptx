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9" r:id="rId19"/>
    <p:sldId id="3507"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9"/>
            <p14:sldId id="3507"/>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8D462"/>
    <a:srgbClr val="FEF1E9"/>
    <a:srgbClr val="FFCCCC"/>
    <a:srgbClr val="FF0000"/>
    <a:srgbClr val="B7C9E7"/>
    <a:srgbClr val="9E7800"/>
    <a:srgbClr val="DAA600"/>
    <a:srgbClr val="FDE7DA"/>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2026/7/15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2026/7/15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8.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2026/7/15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0.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341923"/>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14435"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FFNN</a:t>
            </a:r>
          </a:p>
          <a:p>
            <a:pPr marL="111125" lvl="2">
              <a:lnSpc>
                <a:spcPts val="1000"/>
              </a:lnSpc>
              <a:buFont typeface="Arial" panose="020B0604020202020204" pitchFamily="34" charset="0"/>
              <a:buChar char="•"/>
            </a:pPr>
            <a:r>
              <a:rPr lang="en-US" altLang="zh-TW" sz="1000" dirty="0"/>
              <a:t> Token Embedding</a:t>
            </a:r>
          </a:p>
          <a:p>
            <a:pPr marL="111125" lvl="2">
              <a:lnSpc>
                <a:spcPts val="1000"/>
              </a:lnSpc>
              <a:buFont typeface="Arial" panose="020B0604020202020204" pitchFamily="34" charset="0"/>
              <a:buChar char="•"/>
            </a:pPr>
            <a:r>
              <a:rPr lang="en-US" altLang="zh-TW" sz="1000" dirty="0"/>
              <a:t> Rotary of PE</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Basic Model</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t> Inference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LLM</a:t>
            </a:r>
          </a:p>
          <a:p>
            <a:pPr marL="111125" lvl="2">
              <a:lnSpc>
                <a:spcPts val="1000"/>
              </a:lnSpc>
              <a:buFont typeface="Arial" panose="020B0604020202020204" pitchFamily="34" charset="0"/>
              <a:buChar char="•"/>
              <a:defRPr/>
            </a:pPr>
            <a:r>
              <a:rPr lang="en-US" altLang="zh-TW" sz="1000" dirty="0"/>
              <a:t> Trend Analysis </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3</a:t>
            </a:r>
          </a:p>
          <a:p>
            <a:pPr marL="111125" lvl="2">
              <a:lnSpc>
                <a:spcPts val="1000"/>
              </a:lnSpc>
              <a:buFont typeface="Arial" panose="020B0604020202020204" pitchFamily="34" charset="0"/>
              <a:buChar char="•"/>
              <a:defRPr/>
            </a:pPr>
            <a:r>
              <a:rPr lang="en-US" altLang="zh-TW" sz="1000" dirty="0">
                <a:solidFill>
                  <a:prstClr val="black"/>
                </a:solidFill>
              </a:rPr>
              <a:t> Supervised FT</a:t>
            </a:r>
          </a:p>
          <a:p>
            <a:pPr marL="111125" lvl="2">
              <a:lnSpc>
                <a:spcPts val="1000"/>
              </a:lnSpc>
              <a:buFont typeface="Arial" panose="020B0604020202020204" pitchFamily="34" charset="0"/>
              <a:buChar char="•"/>
              <a:defRPr/>
            </a:pPr>
            <a:r>
              <a:rPr lang="en-US" altLang="zh-TW" sz="1000" dirty="0"/>
              <a:t> LoRA</a:t>
            </a:r>
            <a:endParaRPr lang="en-US" altLang="zh-TW" sz="1000" dirty="0">
              <a:solidFill>
                <a:prstClr val="black"/>
              </a:solidFill>
            </a:endParaRPr>
          </a:p>
          <a:p>
            <a:pPr>
              <a:lnSpc>
                <a:spcPts val="1000"/>
              </a:lnSpc>
              <a:buFont typeface="Wingdings" panose="05000000000000000000" pitchFamily="2" charset="2"/>
              <a:buChar char="Ø"/>
            </a:pPr>
            <a:r>
              <a:rPr lang="en-US" altLang="zh-TW" sz="1000" b="1" dirty="0"/>
              <a:t> Gemma 4</a:t>
            </a:r>
          </a:p>
          <a:p>
            <a:pPr marL="111125" lvl="2">
              <a:lnSpc>
                <a:spcPts val="1000"/>
              </a:lnSpc>
              <a:buFont typeface="Arial" panose="020B0604020202020204" pitchFamily="34" charset="0"/>
              <a:buChar char="•"/>
              <a:defRPr/>
            </a:pPr>
            <a:r>
              <a:rPr lang="en-US" altLang="zh-TW" sz="1000" dirty="0"/>
              <a:t> PLE </a:t>
            </a:r>
          </a:p>
          <a:p>
            <a:pPr marL="111125" lvl="2">
              <a:lnSpc>
                <a:spcPts val="1000"/>
              </a:lnSpc>
              <a:buFont typeface="Arial" panose="020B0604020202020204" pitchFamily="34" charset="0"/>
              <a:buChar char="•"/>
              <a:defRPr/>
            </a:pPr>
            <a:r>
              <a:rPr lang="en-US" altLang="zh-TW" sz="1000" dirty="0">
                <a:solidFill>
                  <a:prstClr val="black"/>
                </a:solidFill>
              </a:rPr>
              <a:t> Comparison</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Frameworks </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childTnLst>
                          </p:cTn>
                        </p:par>
                      </p:childTnLst>
                    </p:cTn>
                  </p:par>
                  <p:par>
                    <p:cTn id="77" fill="hold">
                      <p:stCondLst>
                        <p:cond delay="indefinite"/>
                      </p:stCondLst>
                      <p:childTnLst>
                        <p:par>
                          <p:cTn id="78" fill="hold">
                            <p:stCondLst>
                              <p:cond delay="0"/>
                            </p:stCondLst>
                            <p:childTnLst>
                              <p:par>
                                <p:cTn id="79" presetID="1" presetClass="exit" presetSubtype="0" fill="hold" grpId="2" nodeType="clickEffect">
                                  <p:stCondLst>
                                    <p:cond delay="0"/>
                                  </p:stCondLst>
                                  <p:childTnLst>
                                    <p:set>
                                      <p:cBhvr>
                                        <p:cTn id="80" dur="1" fill="hold">
                                          <p:stCondLst>
                                            <p:cond delay="0"/>
                                          </p:stCondLst>
                                        </p:cTn>
                                        <p:tgtEl>
                                          <p:spTgt spid="2">
                                            <p:bg/>
                                          </p:spTgt>
                                        </p:tgtEl>
                                        <p:attrNameLst>
                                          <p:attrName>style.visibility</p:attrName>
                                        </p:attrNameLst>
                                      </p:cBhvr>
                                      <p:to>
                                        <p:strVal val="hidden"/>
                                      </p:to>
                                    </p:set>
                                  </p:childTnLst>
                                </p:cTn>
                              </p:par>
                            </p:childTnLst>
                          </p:cTn>
                        </p:par>
                      </p:childTnLst>
                    </p:cTn>
                  </p:par>
                  <p:par>
                    <p:cTn id="81" fill="hold">
                      <p:stCondLst>
                        <p:cond delay="indefinite"/>
                      </p:stCondLst>
                      <p:childTnLst>
                        <p:par>
                          <p:cTn id="82" fill="hold">
                            <p:stCondLst>
                              <p:cond delay="0"/>
                            </p:stCondLst>
                            <p:childTnLst>
                              <p:par>
                                <p:cTn id="83" presetID="3" presetClass="emph" presetSubtype="2" fill="hold" grpId="0" nodeType="clickEffect">
                                  <p:stCondLst>
                                    <p:cond delay="0"/>
                                  </p:stCondLst>
                                  <p:childTnLst>
                                    <p:animClr clrSpc="rgb" dir="cw">
                                      <p:cBhvr override="childStyle">
                                        <p:cTn id="84"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3"/>
                                            </p:cond>
                                          </p:stCondLst>
                                          <p:endCondLst>
                                            <p:cond evt="onStopAudio" delay="0">
                                              <p:tgtEl>
                                                <p:sldTgt/>
                                              </p:tgtEl>
                                            </p:cond>
                                          </p:endCondLst>
                                        </p:cTn>
                                        <p:tgtEl>
                                          <p:sndTgt r:embed="rId3" name="type.wav"/>
                                        </p:tgtEl>
                                      </p:cMediaNode>
                                    </p:audio>
                                  </p:sub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0" nodeType="withEffect">
                                  <p:stCondLst>
                                    <p:cond delay="0"/>
                                  </p:stCondLst>
                                  <p:childTnLst>
                                    <p:animClr clrSpc="rgb" dir="cw">
                                      <p:cBhvr override="childStyle">
                                        <p:cTn id="90"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1" nodeType="withEffect">
                                  <p:stCondLst>
                                    <p:cond delay="0"/>
                                  </p:stCondLst>
                                  <p:childTnLst>
                                    <p:animClr clrSpc="rgb" dir="cw">
                                      <p:cBhvr override="childStyle">
                                        <p:cTn id="96" dur="2000" fill="hold"/>
                                        <p:tgtEl>
                                          <p:spTgt spid="2">
                                            <p:txEl>
                                              <p:pRg st="7" end="7"/>
                                            </p:txEl>
                                          </p:spTgt>
                                        </p:tgtEl>
                                        <p:attrNameLst>
                                          <p:attrName>style.color</p:attrName>
                                        </p:attrNameLst>
                                      </p:cBhvr>
                                      <p:to>
                                        <a:srgbClr val="4D4D4D"/>
                                      </p:to>
                                    </p:animClr>
                                  </p:childTnLst>
                                </p:cTn>
                              </p:par>
                              <p:par>
                                <p:cTn id="97" presetID="3" presetClass="emph" presetSubtype="2" fill="hold" grpId="1" nodeType="withEffect">
                                  <p:stCondLst>
                                    <p:cond delay="0"/>
                                  </p:stCondLst>
                                  <p:childTnLst>
                                    <p:animClr clrSpc="rgb" dir="cw">
                                      <p:cBhvr override="childStyle">
                                        <p:cTn id="98" dur="2000" fill="hold"/>
                                        <p:tgtEl>
                                          <p:spTgt spid="2">
                                            <p:txEl>
                                              <p:pRg st="9" end="9"/>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10" end="10"/>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1" end="11"/>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2" end="12"/>
                                            </p:txEl>
                                          </p:spTgt>
                                        </p:tgtEl>
                                        <p:attrNameLst>
                                          <p:attrName>style.color</p:attrName>
                                        </p:attrNameLst>
                                      </p:cBhvr>
                                      <p:to>
                                        <a:srgbClr val="4D4D4D"/>
                                      </p:to>
                                    </p:animClr>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120676"/>
            <a:ext cx="7452828" cy="4247317"/>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 on GPT and AI Technology)</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Leading Frameworks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(How to evaluate the performance of model?)</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2">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2">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2">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2">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2">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2169136" y="5700452"/>
            <a:ext cx="376184" cy="398122"/>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843808" y="5705742"/>
            <a:ext cx="375241" cy="398122"/>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635896" y="5705741"/>
            <a:ext cx="530829" cy="398122"/>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451283"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246579" y="5695199"/>
            <a:ext cx="439296" cy="437299"/>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8"/>
          <a:stretch>
            <a:fillRect/>
          </a:stretch>
        </p:blipFill>
        <p:spPr>
          <a:xfrm>
            <a:off x="7272841"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9"/>
          <a:stretch>
            <a:fillRect/>
          </a:stretch>
        </p:blipFill>
        <p:spPr>
          <a:xfrm>
            <a:off x="7247072" y="1999616"/>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10"/>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1"/>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2"/>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3"/>
          <a:stretch>
            <a:fillRect/>
          </a:stretch>
        </p:blipFill>
        <p:spPr>
          <a:xfrm>
            <a:off x="6300192" y="772974"/>
            <a:ext cx="817196" cy="596651"/>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Neural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err="1">
                <a:ea typeface="微軟正黑體" panose="020B0604030504040204" pitchFamily="34" charset="-120"/>
              </a:rPr>
              <a:t>Nxd</a:t>
            </a:r>
            <a:endParaRPr lang="en-US" altLang="zh-TW" sz="1000" dirty="0">
              <a:ea typeface="微軟正黑體" panose="020B0604030504040204" pitchFamily="34" charset="-120"/>
            </a:endParaRP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mc:Choice xmlns:a14="http://schemas.microsoft.com/office/drawing/2010/main"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mc:Choice xmlns:a14="http://schemas.microsoft.com/office/drawing/2010/main"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mc:Choice xmlns:a14="http://schemas.microsoft.com/office/drawing/2010/main"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2877931" y="3994688"/>
            <a:ext cx="5286649" cy="2279298"/>
            <a:chOff x="2300018" y="3140968"/>
            <a:chExt cx="5368326"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5368326" cy="2369355"/>
            </a:xfrm>
            <a:custGeom>
              <a:avLst/>
              <a:gdLst>
                <a:gd name="csX0" fmla="*/ 0 w 5368326"/>
                <a:gd name="csY0" fmla="*/ 69612 h 2369355"/>
                <a:gd name="csX1" fmla="*/ 69612 w 5368326"/>
                <a:gd name="csY1" fmla="*/ 0 h 2369355"/>
                <a:gd name="csX2" fmla="*/ 702914 w 5368326"/>
                <a:gd name="csY2" fmla="*/ 0 h 2369355"/>
                <a:gd name="csX3" fmla="*/ 1127053 w 5368326"/>
                <a:gd name="csY3" fmla="*/ 0 h 2369355"/>
                <a:gd name="csX4" fmla="*/ 1603482 w 5368326"/>
                <a:gd name="csY4" fmla="*/ 0 h 2369355"/>
                <a:gd name="csX5" fmla="*/ 2236784 w 5368326"/>
                <a:gd name="csY5" fmla="*/ 0 h 2369355"/>
                <a:gd name="csX6" fmla="*/ 2713214 w 5368326"/>
                <a:gd name="csY6" fmla="*/ 0 h 2369355"/>
                <a:gd name="csX7" fmla="*/ 3137352 w 5368326"/>
                <a:gd name="csY7" fmla="*/ 0 h 2369355"/>
                <a:gd name="csX8" fmla="*/ 3613781 w 5368326"/>
                <a:gd name="csY8" fmla="*/ 0 h 2369355"/>
                <a:gd name="csX9" fmla="*/ 4142501 w 5368326"/>
                <a:gd name="csY9" fmla="*/ 0 h 2369355"/>
                <a:gd name="csX10" fmla="*/ 4723513 w 5368326"/>
                <a:gd name="csY10" fmla="*/ 0 h 2369355"/>
                <a:gd name="csX11" fmla="*/ 5298714 w 5368326"/>
                <a:gd name="csY11" fmla="*/ 0 h 2369355"/>
                <a:gd name="csX12" fmla="*/ 5368326 w 5368326"/>
                <a:gd name="csY12" fmla="*/ 69612 h 2369355"/>
                <a:gd name="csX13" fmla="*/ 5368326 w 5368326"/>
                <a:gd name="csY13" fmla="*/ 627145 h 2369355"/>
                <a:gd name="csX14" fmla="*/ 5368326 w 5368326"/>
                <a:gd name="csY14" fmla="*/ 1206979 h 2369355"/>
                <a:gd name="csX15" fmla="*/ 5368326 w 5368326"/>
                <a:gd name="csY15" fmla="*/ 1742210 h 2369355"/>
                <a:gd name="csX16" fmla="*/ 5368326 w 5368326"/>
                <a:gd name="csY16" fmla="*/ 2299743 h 2369355"/>
                <a:gd name="csX17" fmla="*/ 5298714 w 5368326"/>
                <a:gd name="csY17" fmla="*/ 2369355 h 2369355"/>
                <a:gd name="csX18" fmla="*/ 4717703 w 5368326"/>
                <a:gd name="csY18" fmla="*/ 2369355 h 2369355"/>
                <a:gd name="csX19" fmla="*/ 4032109 w 5368326"/>
                <a:gd name="csY19" fmla="*/ 2369355 h 2369355"/>
                <a:gd name="csX20" fmla="*/ 3451098 w 5368326"/>
                <a:gd name="csY20" fmla="*/ 2369355 h 2369355"/>
                <a:gd name="csX21" fmla="*/ 2765505 w 5368326"/>
                <a:gd name="csY21" fmla="*/ 2369355 h 2369355"/>
                <a:gd name="csX22" fmla="*/ 2236784 w 5368326"/>
                <a:gd name="csY22" fmla="*/ 2369355 h 2369355"/>
                <a:gd name="csX23" fmla="*/ 1760355 w 5368326"/>
                <a:gd name="csY23" fmla="*/ 2369355 h 2369355"/>
                <a:gd name="csX24" fmla="*/ 1179344 w 5368326"/>
                <a:gd name="csY24" fmla="*/ 2369355 h 2369355"/>
                <a:gd name="csX25" fmla="*/ 69612 w 5368326"/>
                <a:gd name="csY25" fmla="*/ 2369355 h 2369355"/>
                <a:gd name="csX26" fmla="*/ 0 w 5368326"/>
                <a:gd name="csY26" fmla="*/ 2299743 h 2369355"/>
                <a:gd name="csX27" fmla="*/ 0 w 5368326"/>
                <a:gd name="csY27" fmla="*/ 1809114 h 2369355"/>
                <a:gd name="csX28" fmla="*/ 0 w 5368326"/>
                <a:gd name="csY28" fmla="*/ 1229280 h 2369355"/>
                <a:gd name="csX29" fmla="*/ 0 w 5368326"/>
                <a:gd name="csY29" fmla="*/ 716350 h 2369355"/>
                <a:gd name="csX30" fmla="*/ 0 w 5368326"/>
                <a:gd name="csY30"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5368326" h="2369355" fill="none" extrusionOk="0">
                  <a:moveTo>
                    <a:pt x="0" y="69612"/>
                  </a:moveTo>
                  <a:cubicBezTo>
                    <a:pt x="-5133" y="36362"/>
                    <a:pt x="28870" y="4914"/>
                    <a:pt x="69612" y="0"/>
                  </a:cubicBezTo>
                  <a:cubicBezTo>
                    <a:pt x="367348" y="-31791"/>
                    <a:pt x="550892" y="43228"/>
                    <a:pt x="702914" y="0"/>
                  </a:cubicBezTo>
                  <a:cubicBezTo>
                    <a:pt x="854936" y="-43228"/>
                    <a:pt x="1040994" y="50716"/>
                    <a:pt x="1127053" y="0"/>
                  </a:cubicBezTo>
                  <a:cubicBezTo>
                    <a:pt x="1213112" y="-50716"/>
                    <a:pt x="1486410" y="19006"/>
                    <a:pt x="1603482" y="0"/>
                  </a:cubicBezTo>
                  <a:cubicBezTo>
                    <a:pt x="1720554" y="-19006"/>
                    <a:pt x="2052755" y="5528"/>
                    <a:pt x="2236784" y="0"/>
                  </a:cubicBezTo>
                  <a:cubicBezTo>
                    <a:pt x="2420813" y="-5528"/>
                    <a:pt x="2583205" y="22640"/>
                    <a:pt x="2713214" y="0"/>
                  </a:cubicBezTo>
                  <a:cubicBezTo>
                    <a:pt x="2843223" y="-22640"/>
                    <a:pt x="3040238" y="24459"/>
                    <a:pt x="3137352" y="0"/>
                  </a:cubicBezTo>
                  <a:cubicBezTo>
                    <a:pt x="3234466" y="-24459"/>
                    <a:pt x="3450540" y="10905"/>
                    <a:pt x="3613781" y="0"/>
                  </a:cubicBezTo>
                  <a:cubicBezTo>
                    <a:pt x="3777022" y="-10905"/>
                    <a:pt x="3889471" y="17684"/>
                    <a:pt x="4142501" y="0"/>
                  </a:cubicBezTo>
                  <a:cubicBezTo>
                    <a:pt x="4395531" y="-17684"/>
                    <a:pt x="4567241" y="16526"/>
                    <a:pt x="4723513" y="0"/>
                  </a:cubicBezTo>
                  <a:cubicBezTo>
                    <a:pt x="4879785" y="-16526"/>
                    <a:pt x="5153931" y="18604"/>
                    <a:pt x="5298714" y="0"/>
                  </a:cubicBezTo>
                  <a:cubicBezTo>
                    <a:pt x="5339492" y="5995"/>
                    <a:pt x="5372754" y="33226"/>
                    <a:pt x="5368326" y="69612"/>
                  </a:cubicBezTo>
                  <a:cubicBezTo>
                    <a:pt x="5383109" y="294650"/>
                    <a:pt x="5353642" y="348775"/>
                    <a:pt x="5368326" y="627145"/>
                  </a:cubicBezTo>
                  <a:cubicBezTo>
                    <a:pt x="5383010" y="905515"/>
                    <a:pt x="5358228" y="1070291"/>
                    <a:pt x="5368326" y="1206979"/>
                  </a:cubicBezTo>
                  <a:cubicBezTo>
                    <a:pt x="5378424" y="1343667"/>
                    <a:pt x="5364514" y="1593540"/>
                    <a:pt x="5368326" y="1742210"/>
                  </a:cubicBezTo>
                  <a:cubicBezTo>
                    <a:pt x="5372138" y="1890880"/>
                    <a:pt x="5343306" y="2090074"/>
                    <a:pt x="5368326" y="2299743"/>
                  </a:cubicBezTo>
                  <a:cubicBezTo>
                    <a:pt x="5368437" y="2343237"/>
                    <a:pt x="5338470" y="2368180"/>
                    <a:pt x="5298714" y="2369355"/>
                  </a:cubicBezTo>
                  <a:cubicBezTo>
                    <a:pt x="5163777" y="2424400"/>
                    <a:pt x="4983479" y="2348401"/>
                    <a:pt x="4717703" y="2369355"/>
                  </a:cubicBezTo>
                  <a:cubicBezTo>
                    <a:pt x="4451927" y="2390309"/>
                    <a:pt x="4369607" y="2342236"/>
                    <a:pt x="4032109" y="2369355"/>
                  </a:cubicBezTo>
                  <a:cubicBezTo>
                    <a:pt x="3694611" y="2396474"/>
                    <a:pt x="3655813" y="2305373"/>
                    <a:pt x="3451098" y="2369355"/>
                  </a:cubicBezTo>
                  <a:cubicBezTo>
                    <a:pt x="3246383" y="2433337"/>
                    <a:pt x="2906065" y="2296367"/>
                    <a:pt x="2765505" y="2369355"/>
                  </a:cubicBezTo>
                  <a:cubicBezTo>
                    <a:pt x="2624945" y="2442343"/>
                    <a:pt x="2403870" y="2358689"/>
                    <a:pt x="2236784" y="2369355"/>
                  </a:cubicBezTo>
                  <a:cubicBezTo>
                    <a:pt x="2069698" y="2380021"/>
                    <a:pt x="1971989" y="2344672"/>
                    <a:pt x="1760355" y="2369355"/>
                  </a:cubicBezTo>
                  <a:cubicBezTo>
                    <a:pt x="1548721" y="2394038"/>
                    <a:pt x="1417789" y="2327588"/>
                    <a:pt x="1179344" y="2369355"/>
                  </a:cubicBezTo>
                  <a:cubicBezTo>
                    <a:pt x="940899" y="2411122"/>
                    <a:pt x="562199" y="2357045"/>
                    <a:pt x="69612" y="2369355"/>
                  </a:cubicBezTo>
                  <a:cubicBezTo>
                    <a:pt x="36935" y="2364612"/>
                    <a:pt x="281" y="2330009"/>
                    <a:pt x="0" y="2299743"/>
                  </a:cubicBezTo>
                  <a:cubicBezTo>
                    <a:pt x="-29837" y="2091443"/>
                    <a:pt x="39176" y="1952891"/>
                    <a:pt x="0" y="1809114"/>
                  </a:cubicBezTo>
                  <a:cubicBezTo>
                    <a:pt x="-39176" y="1665337"/>
                    <a:pt x="39783" y="1407603"/>
                    <a:pt x="0" y="1229280"/>
                  </a:cubicBezTo>
                  <a:cubicBezTo>
                    <a:pt x="-39783" y="1050957"/>
                    <a:pt x="42460" y="935826"/>
                    <a:pt x="0" y="716350"/>
                  </a:cubicBezTo>
                  <a:cubicBezTo>
                    <a:pt x="-42460" y="496874"/>
                    <a:pt x="22210" y="220714"/>
                    <a:pt x="0" y="69612"/>
                  </a:cubicBezTo>
                  <a:close/>
                </a:path>
                <a:path w="5368326" h="2369355" stroke="0" extrusionOk="0">
                  <a:moveTo>
                    <a:pt x="0" y="69612"/>
                  </a:moveTo>
                  <a:cubicBezTo>
                    <a:pt x="-2069" y="29889"/>
                    <a:pt x="25248" y="2221"/>
                    <a:pt x="69612" y="0"/>
                  </a:cubicBezTo>
                  <a:cubicBezTo>
                    <a:pt x="376702" y="-60479"/>
                    <a:pt x="440279" y="42616"/>
                    <a:pt x="755205" y="0"/>
                  </a:cubicBezTo>
                  <a:cubicBezTo>
                    <a:pt x="1070131" y="-42616"/>
                    <a:pt x="1093915" y="52554"/>
                    <a:pt x="1283926" y="0"/>
                  </a:cubicBezTo>
                  <a:cubicBezTo>
                    <a:pt x="1473937" y="-52554"/>
                    <a:pt x="1635156" y="7454"/>
                    <a:pt x="1760355" y="0"/>
                  </a:cubicBezTo>
                  <a:cubicBezTo>
                    <a:pt x="1885554" y="-7454"/>
                    <a:pt x="2101171" y="70720"/>
                    <a:pt x="2393657" y="0"/>
                  </a:cubicBezTo>
                  <a:cubicBezTo>
                    <a:pt x="2686143" y="-70720"/>
                    <a:pt x="2772320" y="19840"/>
                    <a:pt x="2922378" y="0"/>
                  </a:cubicBezTo>
                  <a:cubicBezTo>
                    <a:pt x="3072436" y="-19840"/>
                    <a:pt x="3346923" y="41222"/>
                    <a:pt x="3607971" y="0"/>
                  </a:cubicBezTo>
                  <a:cubicBezTo>
                    <a:pt x="3869019" y="-41222"/>
                    <a:pt x="3962694" y="10842"/>
                    <a:pt x="4084400" y="0"/>
                  </a:cubicBezTo>
                  <a:cubicBezTo>
                    <a:pt x="4206106" y="-10842"/>
                    <a:pt x="4617252" y="20058"/>
                    <a:pt x="4769994" y="0"/>
                  </a:cubicBezTo>
                  <a:cubicBezTo>
                    <a:pt x="4922736" y="-20058"/>
                    <a:pt x="5174959" y="59560"/>
                    <a:pt x="5298714" y="0"/>
                  </a:cubicBezTo>
                  <a:cubicBezTo>
                    <a:pt x="5335496" y="-95"/>
                    <a:pt x="5370885" y="24150"/>
                    <a:pt x="5368326" y="69612"/>
                  </a:cubicBezTo>
                  <a:cubicBezTo>
                    <a:pt x="5394448" y="286955"/>
                    <a:pt x="5330544" y="482645"/>
                    <a:pt x="5368326" y="649446"/>
                  </a:cubicBezTo>
                  <a:cubicBezTo>
                    <a:pt x="5406108" y="816247"/>
                    <a:pt x="5304606" y="1127322"/>
                    <a:pt x="5368326" y="1251581"/>
                  </a:cubicBezTo>
                  <a:cubicBezTo>
                    <a:pt x="5432046" y="1375840"/>
                    <a:pt x="5301644" y="1979595"/>
                    <a:pt x="5368326" y="2299743"/>
                  </a:cubicBezTo>
                  <a:cubicBezTo>
                    <a:pt x="5360601" y="2339457"/>
                    <a:pt x="5333213" y="2366632"/>
                    <a:pt x="5298714" y="2369355"/>
                  </a:cubicBezTo>
                  <a:cubicBezTo>
                    <a:pt x="5135042" y="2442344"/>
                    <a:pt x="4973011" y="2309958"/>
                    <a:pt x="4665412" y="2369355"/>
                  </a:cubicBezTo>
                  <a:cubicBezTo>
                    <a:pt x="4357813" y="2428752"/>
                    <a:pt x="4319048" y="2352093"/>
                    <a:pt x="4084400" y="2369355"/>
                  </a:cubicBezTo>
                  <a:cubicBezTo>
                    <a:pt x="3849752" y="2386617"/>
                    <a:pt x="3788912" y="2350385"/>
                    <a:pt x="3660262" y="2369355"/>
                  </a:cubicBezTo>
                  <a:cubicBezTo>
                    <a:pt x="3531612" y="2388325"/>
                    <a:pt x="3285949" y="2357041"/>
                    <a:pt x="3183833" y="2369355"/>
                  </a:cubicBezTo>
                  <a:cubicBezTo>
                    <a:pt x="3081717" y="2381669"/>
                    <a:pt x="2650450" y="2337934"/>
                    <a:pt x="2498239" y="2369355"/>
                  </a:cubicBezTo>
                  <a:cubicBezTo>
                    <a:pt x="2346028" y="2400776"/>
                    <a:pt x="2113971" y="2354057"/>
                    <a:pt x="1917228" y="2369355"/>
                  </a:cubicBezTo>
                  <a:cubicBezTo>
                    <a:pt x="1720485" y="2384653"/>
                    <a:pt x="1605567" y="2322037"/>
                    <a:pt x="1440799" y="2369355"/>
                  </a:cubicBezTo>
                  <a:cubicBezTo>
                    <a:pt x="1276031" y="2416673"/>
                    <a:pt x="1134454" y="2320380"/>
                    <a:pt x="859787" y="2369355"/>
                  </a:cubicBezTo>
                  <a:cubicBezTo>
                    <a:pt x="585120" y="2418330"/>
                    <a:pt x="296212" y="2275077"/>
                    <a:pt x="69612" y="2369355"/>
                  </a:cubicBezTo>
                  <a:cubicBezTo>
                    <a:pt x="31433" y="2368534"/>
                    <a:pt x="6925" y="2345677"/>
                    <a:pt x="0" y="2299743"/>
                  </a:cubicBezTo>
                  <a:cubicBezTo>
                    <a:pt x="-5482" y="2011212"/>
                    <a:pt x="39077" y="1868349"/>
                    <a:pt x="0" y="1697608"/>
                  </a:cubicBezTo>
                  <a:cubicBezTo>
                    <a:pt x="-39077" y="1526868"/>
                    <a:pt x="10871" y="1252103"/>
                    <a:pt x="0" y="1117774"/>
                  </a:cubicBezTo>
                  <a:cubicBezTo>
                    <a:pt x="-10871" y="983445"/>
                    <a:pt x="32774" y="796258"/>
                    <a:pt x="0" y="604843"/>
                  </a:cubicBezTo>
                  <a:cubicBezTo>
                    <a:pt x="-32774" y="413428"/>
                    <a:pt x="51226" y="291898"/>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576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5080" y="3926593"/>
              <a:ext cx="610952" cy="610952"/>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029309" y="2348880"/>
            <a:ext cx="2766278" cy="3842021"/>
            <a:chOff x="3029309" y="2348880"/>
            <a:chExt cx="2766278"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766278"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2"/>
              <a:ext cx="607391" cy="1550974"/>
              <a:chOff x="4336438" y="2128458"/>
              <a:chExt cx="607391" cy="1300542"/>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300542"/>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607876"/>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989470" y="908720"/>
            <a:ext cx="2175109" cy="1815483"/>
          </a:xfrm>
          <a:prstGeom prst="borderCallout1">
            <a:avLst>
              <a:gd name="adj1" fmla="val 51349"/>
              <a:gd name="adj2" fmla="val 97160"/>
              <a:gd name="adj3" fmla="val 87426"/>
              <a:gd name="adj4" fmla="val 130412"/>
            </a:avLst>
          </a:prstGeom>
          <a:solidFill>
            <a:schemeClr val="tx2">
              <a:lumMod val="40000"/>
              <a:lumOff val="60000"/>
              <a:alpha val="2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228338" y="4365104"/>
            <a:ext cx="1948127" cy="1180383"/>
          </a:xfrm>
          <a:prstGeom prst="borderCallout1">
            <a:avLst>
              <a:gd name="adj1" fmla="val 17633"/>
              <a:gd name="adj2" fmla="val 8388"/>
              <a:gd name="adj3" fmla="val 51744"/>
              <a:gd name="adj4" fmla="val -69227"/>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441976601"/>
              </p:ext>
            </p:extLst>
          </p:nvPr>
        </p:nvGraphicFramePr>
        <p:xfrm>
          <a:off x="293763" y="4372727"/>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55" name="群組 54">
            <a:extLst>
              <a:ext uri="{FF2B5EF4-FFF2-40B4-BE49-F238E27FC236}">
                <a16:creationId xmlns:a16="http://schemas.microsoft.com/office/drawing/2014/main" id="{4DE2592A-D604-3D0C-91DE-89E097153AD3}"/>
              </a:ext>
            </a:extLst>
          </p:cNvPr>
          <p:cNvGrpSpPr/>
          <p:nvPr/>
        </p:nvGrpSpPr>
        <p:grpSpPr>
          <a:xfrm>
            <a:off x="5962306" y="4192663"/>
            <a:ext cx="1236196" cy="1944216"/>
            <a:chOff x="5178038" y="3429000"/>
            <a:chExt cx="1236196" cy="1944216"/>
          </a:xfrm>
        </p:grpSpPr>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7"/>
            <a:stretch>
              <a:fillRect/>
            </a:stretch>
          </p:blipFill>
          <p:spPr>
            <a:xfrm>
              <a:off x="5841328" y="3678613"/>
              <a:ext cx="527714" cy="830051"/>
            </a:xfrm>
            <a:prstGeom prst="rect">
              <a:avLst/>
            </a:prstGeom>
          </p:spPr>
        </p:pic>
        <p:sp>
          <p:nvSpPr>
            <p:cNvPr id="31" name="文字方塊 30">
              <a:extLst>
                <a:ext uri="{FF2B5EF4-FFF2-40B4-BE49-F238E27FC236}">
                  <a16:creationId xmlns:a16="http://schemas.microsoft.com/office/drawing/2014/main" id="{E1BEF8EA-A31D-8986-4923-DEDDE6E5A93C}"/>
                </a:ext>
              </a:extLst>
            </p:cNvPr>
            <p:cNvSpPr txBox="1"/>
            <p:nvPr/>
          </p:nvSpPr>
          <p:spPr>
            <a:xfrm>
              <a:off x="5796136" y="3429000"/>
              <a:ext cx="618098" cy="1114088"/>
            </a:xfrm>
            <a:prstGeom prst="rect">
              <a:avLst/>
            </a:prstGeom>
            <a:solidFill>
              <a:schemeClr val="bg1">
                <a:alpha val="8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a:t>
              </a:r>
            </a:p>
          </p:txBody>
        </p:sp>
        <p:sp>
          <p:nvSpPr>
            <p:cNvPr id="33" name="文字方塊 32">
              <a:extLst>
                <a:ext uri="{FF2B5EF4-FFF2-40B4-BE49-F238E27FC236}">
                  <a16:creationId xmlns:a16="http://schemas.microsoft.com/office/drawing/2014/main" id="{502C2AD7-0EA0-026D-D4FF-4BC4621F9CF0}"/>
                </a:ext>
              </a:extLst>
            </p:cNvPr>
            <p:cNvSpPr txBox="1"/>
            <p:nvPr/>
          </p:nvSpPr>
          <p:spPr>
            <a:xfrm>
              <a:off x="6143214" y="407375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111117"/>
              <a:ext cx="527714" cy="830051"/>
            </a:xfrm>
            <a:prstGeom prst="rect">
              <a:avLst/>
            </a:prstGeom>
          </p:spPr>
        </p:pic>
        <p:sp>
          <p:nvSpPr>
            <p:cNvPr id="45" name="文字方塊 44">
              <a:extLst>
                <a:ext uri="{FF2B5EF4-FFF2-40B4-BE49-F238E27FC236}">
                  <a16:creationId xmlns:a16="http://schemas.microsoft.com/office/drawing/2014/main" id="{87EADC2A-442B-24AB-BF8E-75BCE8145054}"/>
                </a:ext>
              </a:extLst>
            </p:cNvPr>
            <p:cNvSpPr txBox="1"/>
            <p:nvPr/>
          </p:nvSpPr>
          <p:spPr>
            <a:xfrm>
              <a:off x="5436096" y="3823464"/>
              <a:ext cx="618098" cy="1114088"/>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sp>
          <p:nvSpPr>
            <p:cNvPr id="47" name="文字方塊 46">
              <a:extLst>
                <a:ext uri="{FF2B5EF4-FFF2-40B4-BE49-F238E27FC236}">
                  <a16:creationId xmlns:a16="http://schemas.microsoft.com/office/drawing/2014/main" id="{5E22CC08-ED18-A46F-157B-580E43DEEA91}"/>
                </a:ext>
              </a:extLst>
            </p:cNvPr>
            <p:cNvSpPr txBox="1"/>
            <p:nvPr/>
          </p:nvSpPr>
          <p:spPr>
            <a:xfrm>
              <a:off x="5885156" y="4506257"/>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78038" y="4259128"/>
              <a:ext cx="618098" cy="1114088"/>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223230" y="4508741"/>
              <a:ext cx="527714" cy="830051"/>
            </a:xfrm>
            <a:prstGeom prst="rect">
              <a:avLst/>
            </a:prstGeom>
          </p:spPr>
        </p:pic>
        <p:sp>
          <p:nvSpPr>
            <p:cNvPr id="51" name="文字方塊 50">
              <a:extLst>
                <a:ext uri="{FF2B5EF4-FFF2-40B4-BE49-F238E27FC236}">
                  <a16:creationId xmlns:a16="http://schemas.microsoft.com/office/drawing/2014/main" id="{472EA781-8409-172B-ED33-931C5B8C99DC}"/>
                </a:ext>
              </a:extLst>
            </p:cNvPr>
            <p:cNvSpPr txBox="1"/>
            <p:nvPr/>
          </p:nvSpPr>
          <p:spPr>
            <a:xfrm>
              <a:off x="5525116" y="4903881"/>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153338189"/>
              </p:ext>
            </p:extLst>
          </p:nvPr>
        </p:nvGraphicFramePr>
        <p:xfrm>
          <a:off x="6076298" y="968097"/>
          <a:ext cx="2020094" cy="1706402"/>
        </p:xfrm>
        <a:graphic>
          <a:graphicData uri="http://schemas.openxmlformats.org/drawingml/2006/table">
            <a:tbl>
              <a:tblPr firstRow="1" bandRow="1">
                <a:tableStyleId>{5C22544A-7EE6-4342-B048-85BDC9FD1C3A}</a:tableStyleId>
              </a:tblPr>
              <a:tblGrid>
                <a:gridCol w="2020094">
                  <a:extLst>
                    <a:ext uri="{9D8B030D-6E8A-4147-A177-3AD203B41FA5}">
                      <a16:colId xmlns:a16="http://schemas.microsoft.com/office/drawing/2014/main" val="4512040"/>
                    </a:ext>
                  </a:extLst>
                </a:gridCol>
              </a:tblGrid>
              <a:tr h="2842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52236196"/>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2145302"/>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4017267"/>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7108361"/>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203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65849749"/>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1619672" y="5219306"/>
            <a:ext cx="973462" cy="1059346"/>
            <a:chOff x="6114742" y="721121"/>
            <a:chExt cx="973462"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742"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grpSp>
        <p:nvGrpSpPr>
          <p:cNvPr id="108" name="群組 107">
            <a:extLst>
              <a:ext uri="{FF2B5EF4-FFF2-40B4-BE49-F238E27FC236}">
                <a16:creationId xmlns:a16="http://schemas.microsoft.com/office/drawing/2014/main" id="{8B856D10-59CD-C186-CB30-9D364A137D47}"/>
              </a:ext>
            </a:extLst>
          </p:cNvPr>
          <p:cNvGrpSpPr/>
          <p:nvPr/>
        </p:nvGrpSpPr>
        <p:grpSpPr>
          <a:xfrm>
            <a:off x="7368523" y="2420888"/>
            <a:ext cx="1667973" cy="1543803"/>
            <a:chOff x="4139952" y="548680"/>
            <a:chExt cx="1667973" cy="1543803"/>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130675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1264307"/>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13727" y="1630818"/>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196752"/>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24%</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24%</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83968" y="908720"/>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47%</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229753" y="2527212"/>
            <a:ext cx="1948127" cy="1608749"/>
          </a:xfrm>
          <a:prstGeom prst="borderCallout1">
            <a:avLst>
              <a:gd name="adj1" fmla="val 24803"/>
              <a:gd name="adj2" fmla="val 5180"/>
              <a:gd name="adj3" fmla="val 48340"/>
              <a:gd name="adj4" fmla="val -63390"/>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2557788722"/>
              </p:ext>
            </p:extLst>
          </p:nvPr>
        </p:nvGraphicFramePr>
        <p:xfrm>
          <a:off x="293763" y="2543197"/>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graphicFrame>
        <p:nvGraphicFramePr>
          <p:cNvPr id="61" name="表格 60">
            <a:extLst>
              <a:ext uri="{FF2B5EF4-FFF2-40B4-BE49-F238E27FC236}">
                <a16:creationId xmlns:a16="http://schemas.microsoft.com/office/drawing/2014/main" id="{3D7F18CD-D7BC-D341-2FAF-DEC56D54819F}"/>
              </a:ext>
            </a:extLst>
          </p:cNvPr>
          <p:cNvGraphicFramePr>
            <a:graphicFrameLocks noGrp="1"/>
          </p:cNvGraphicFramePr>
          <p:nvPr>
            <p:extLst>
              <p:ext uri="{D42A27DB-BD31-4B8C-83A1-F6EECF244321}">
                <p14:modId xmlns:p14="http://schemas.microsoft.com/office/powerpoint/2010/main" val="1177698494"/>
              </p:ext>
            </p:extLst>
          </p:nvPr>
        </p:nvGraphicFramePr>
        <p:xfrm>
          <a:off x="539552" y="134076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1375270607"/>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Chips and Semiconductor</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NVIDIA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SK Hynix</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TSMC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Samsung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Broadcom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ASML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MTK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The top 20 leaders in the AI Ecosystem.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512A293C-A59D-C5A0-1E0F-EEEE37412821}"/>
              </a:ext>
            </a:extLst>
          </p:cNvPr>
          <p:cNvGraphicFramePr>
            <a:graphicFrameLocks noGrp="1"/>
          </p:cNvGraphicFramePr>
          <p:nvPr>
            <p:extLst>
              <p:ext uri="{D42A27DB-BD31-4B8C-83A1-F6EECF244321}">
                <p14:modId xmlns:p14="http://schemas.microsoft.com/office/powerpoint/2010/main" val="3537441129"/>
              </p:ext>
            </p:extLst>
          </p:nvPr>
        </p:nvGraphicFramePr>
        <p:xfrm>
          <a:off x="467544"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3067959416"/>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Frontier Foundation Models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Anthropic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QWun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DeepMind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Cohere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x 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6" name="表格 5">
            <a:extLst>
              <a:ext uri="{FF2B5EF4-FFF2-40B4-BE49-F238E27FC236}">
                <a16:creationId xmlns:a16="http://schemas.microsoft.com/office/drawing/2014/main" id="{43110990-9D88-52DB-49E0-2C44433D9579}"/>
              </a:ext>
            </a:extLst>
          </p:cNvPr>
          <p:cNvGraphicFramePr>
            <a:graphicFrameLocks noGrp="1"/>
          </p:cNvGraphicFramePr>
          <p:nvPr>
            <p:extLst>
              <p:ext uri="{D42A27DB-BD31-4B8C-83A1-F6EECF244321}">
                <p14:modId xmlns:p14="http://schemas.microsoft.com/office/powerpoint/2010/main" val="319985866"/>
              </p:ext>
            </p:extLst>
          </p:nvPr>
        </p:nvGraphicFramePr>
        <p:xfrm>
          <a:off x="3635896" y="2780928"/>
          <a:ext cx="2664296" cy="1202431"/>
        </p:xfrm>
        <a:graphic>
          <a:graphicData uri="http://schemas.openxmlformats.org/drawingml/2006/table">
            <a:tbl>
              <a:tblPr firstRow="1" bandRow="1">
                <a:tableStyleId>{5C22544A-7EE6-4342-B048-85BDC9FD1C3A}</a:tableStyleId>
              </a:tblPr>
              <a:tblGrid>
                <a:gridCol w="1332148">
                  <a:extLst>
                    <a:ext uri="{9D8B030D-6E8A-4147-A177-3AD203B41FA5}">
                      <a16:colId xmlns:a16="http://schemas.microsoft.com/office/drawing/2014/main" val="4512040"/>
                    </a:ext>
                  </a:extLst>
                </a:gridCol>
                <a:gridCol w="1332148">
                  <a:extLst>
                    <a:ext uri="{9D8B030D-6E8A-4147-A177-3AD203B41FA5}">
                      <a16:colId xmlns:a16="http://schemas.microsoft.com/office/drawing/2014/main" val="2174767024"/>
                    </a:ext>
                  </a:extLst>
                </a:gridCol>
              </a:tblGrid>
              <a:tr h="288031">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Cloud Services</a:t>
                      </a:r>
                      <a:endParaRPr kumimoji="0" lang="en-US" altLang="zh-TW" sz="1000" b="0" i="0" u="none" strike="noStrike" kern="1200" cap="none" spc="0" normalizeH="0" baseline="0" noProof="0" dirty="0">
                        <a:ln w="0"/>
                        <a:solidFill>
                          <a:srgbClr val="4F81BD"/>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MS Azure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Alibaba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AWS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Tencent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Cloud</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CoreWeave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Platforms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Scale AI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Oracle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graphicFrame>
        <p:nvGraphicFramePr>
          <p:cNvPr id="11" name="表格 10">
            <a:extLst>
              <a:ext uri="{FF2B5EF4-FFF2-40B4-BE49-F238E27FC236}">
                <a16:creationId xmlns:a16="http://schemas.microsoft.com/office/drawing/2014/main" id="{EF86854B-09FE-9F40-F096-6191898F5E74}"/>
              </a:ext>
            </a:extLst>
          </p:cNvPr>
          <p:cNvGraphicFramePr>
            <a:graphicFrameLocks noGrp="1"/>
          </p:cNvGraphicFramePr>
          <p:nvPr>
            <p:extLst>
              <p:ext uri="{D42A27DB-BD31-4B8C-83A1-F6EECF244321}">
                <p14:modId xmlns:p14="http://schemas.microsoft.com/office/powerpoint/2010/main" val="1427700734"/>
              </p:ext>
            </p:extLst>
          </p:nvPr>
        </p:nvGraphicFramePr>
        <p:xfrm>
          <a:off x="6804248" y="1340768"/>
          <a:ext cx="1944216" cy="2205476"/>
        </p:xfrm>
        <a:graphic>
          <a:graphicData uri="http://schemas.openxmlformats.org/drawingml/2006/table">
            <a:tbl>
              <a:tblPr firstRow="1" bandRow="1">
                <a:tableStyleId>{5C22544A-7EE6-4342-B048-85BDC9FD1C3A}</a:tableStyleId>
              </a:tblPr>
              <a:tblGrid>
                <a:gridCol w="1944216">
                  <a:extLst>
                    <a:ext uri="{9D8B030D-6E8A-4147-A177-3AD203B41FA5}">
                      <a16:colId xmlns:a16="http://schemas.microsoft.com/office/drawing/2014/main" val="4512040"/>
                    </a:ext>
                  </a:extLst>
                </a:gridCol>
              </a:tblGrid>
              <a:tr h="3766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Applications</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OpenAI – ChatGPT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 Copilot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Claude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Apple – Apple Intelligence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xAI</a:t>
                      </a:r>
                      <a:r>
                        <a:rPr lang="en-US" altLang="zh-TW" sz="1200" b="0" cap="none" spc="0" dirty="0">
                          <a:ln w="0"/>
                          <a:solidFill>
                            <a:schemeClr val="tx1"/>
                          </a:solidFill>
                          <a:effectLst/>
                        </a:rPr>
                        <a:t> –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Databricks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Palantir</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Salesforce</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354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IBM</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graphicFrame>
        <p:nvGraphicFramePr>
          <p:cNvPr id="15" name="表格 14">
            <a:extLst>
              <a:ext uri="{FF2B5EF4-FFF2-40B4-BE49-F238E27FC236}">
                <a16:creationId xmlns:a16="http://schemas.microsoft.com/office/drawing/2014/main" id="{7F3A25DC-80E9-98E5-7B02-E9FFC6E485AD}"/>
              </a:ext>
            </a:extLst>
          </p:cNvPr>
          <p:cNvGraphicFramePr>
            <a:graphicFrameLocks noGrp="1"/>
          </p:cNvGraphicFramePr>
          <p:nvPr>
            <p:extLst>
              <p:ext uri="{D42A27DB-BD31-4B8C-83A1-F6EECF244321}">
                <p14:modId xmlns:p14="http://schemas.microsoft.com/office/powerpoint/2010/main" val="3318281310"/>
              </p:ext>
            </p:extLst>
          </p:nvPr>
        </p:nvGraphicFramePr>
        <p:xfrm>
          <a:off x="5580112" y="4824184"/>
          <a:ext cx="3024336" cy="1274939"/>
        </p:xfrm>
        <a:graphic>
          <a:graphicData uri="http://schemas.openxmlformats.org/drawingml/2006/table">
            <a:tbl>
              <a:tblPr firstRow="1" bandRow="1">
                <a:tableStyleId>{5C22544A-7EE6-4342-B048-85BDC9FD1C3A}</a:tableStyleId>
              </a:tblPr>
              <a:tblGrid>
                <a:gridCol w="3024336">
                  <a:extLst>
                    <a:ext uri="{9D8B030D-6E8A-4147-A177-3AD203B41FA5}">
                      <a16:colId xmlns:a16="http://schemas.microsoft.com/office/drawing/2014/main" val="4512040"/>
                    </a:ext>
                  </a:extLst>
                </a:gridCol>
              </a:tblGrid>
              <a:tr h="3605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Future  - NPU, TPU, LPU</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AWS, MS, Meta, Grok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Qualcomm, Apple, AMD, Intel, Broadcom,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Cerebras, Samsung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MTK,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Alchip</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Kneron</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Neuchip</a:t>
                      </a:r>
                      <a:r>
                        <a:rPr kumimoji="0" lang="en-US" altLang="zh-TW" sz="1200" b="0" i="0" u="none" strike="noStrike" kern="1200" cap="none" spc="0" normalizeH="0" baseline="0" noProof="0" dirty="0">
                          <a:ln w="0"/>
                          <a:solidFill>
                            <a:prstClr val="black"/>
                          </a:solidFill>
                          <a:effectLst/>
                          <a:uLnTx/>
                          <a:uFillTx/>
                          <a:latin typeface="+mn-lt"/>
                          <a:ea typeface="+mn-ea"/>
                          <a:cs typeface="+mn-cs"/>
                        </a:rPr>
                        <a:t>, GUC, Faraday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HiSillicon</a:t>
                      </a:r>
                      <a:r>
                        <a:rPr lang="en-US" altLang="zh-TW" sz="1200" b="0" cap="none" spc="0" dirty="0">
                          <a:ln w="0"/>
                          <a:solidFill>
                            <a:schemeClr val="tx1"/>
                          </a:solidFill>
                          <a:effectLst/>
                        </a:rPr>
                        <a:t>, </a:t>
                      </a:r>
                      <a:r>
                        <a:rPr lang="en-US" altLang="zh-TW" sz="1200" b="0" cap="none" spc="0" dirty="0" err="1">
                          <a:ln w="0"/>
                          <a:solidFill>
                            <a:schemeClr val="tx1"/>
                          </a:solidFill>
                          <a:effectLst/>
                        </a:rPr>
                        <a:t>Cambricon</a:t>
                      </a:r>
                      <a:r>
                        <a:rPr lang="en-US" altLang="zh-TW" sz="1200" b="0" cap="none" spc="0" dirty="0">
                          <a:ln w="0"/>
                          <a:solidFill>
                            <a:schemeClr val="tx1"/>
                          </a:solidFill>
                          <a:effectLst/>
                        </a:rPr>
                        <a:t>, Axera, Horizon Robotics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bl>
          </a:graphicData>
        </a:graphic>
      </p:graphicFrame>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3372232" y="1268760"/>
            <a:ext cx="3024336" cy="1420358"/>
          </a:xfrm>
          <a:prstGeom prst="rect">
            <a:avLst/>
          </a:prstGeom>
          <a:effectLst>
            <a:glow>
              <a:schemeClr val="accent6">
                <a:satMod val="175000"/>
                <a:alpha val="20000"/>
              </a:schemeClr>
            </a:glow>
            <a:softEdge rad="101600"/>
          </a:effectLst>
        </p:spPr>
      </p:pic>
      <p:graphicFrame>
        <p:nvGraphicFramePr>
          <p:cNvPr id="2" name="表格 1">
            <a:extLst>
              <a:ext uri="{FF2B5EF4-FFF2-40B4-BE49-F238E27FC236}">
                <a16:creationId xmlns:a16="http://schemas.microsoft.com/office/drawing/2014/main" id="{7F258956-61D9-A51C-1A9E-2155CAED7E05}"/>
              </a:ext>
            </a:extLst>
          </p:cNvPr>
          <p:cNvGraphicFramePr>
            <a:graphicFrameLocks noGrp="1"/>
          </p:cNvGraphicFramePr>
          <p:nvPr>
            <p:extLst>
              <p:ext uri="{D42A27DB-BD31-4B8C-83A1-F6EECF244321}">
                <p14:modId xmlns:p14="http://schemas.microsoft.com/office/powerpoint/2010/main" val="1620854424"/>
              </p:ext>
            </p:extLst>
          </p:nvPr>
        </p:nvGraphicFramePr>
        <p:xfrm>
          <a:off x="395536" y="4359384"/>
          <a:ext cx="3816424" cy="941824"/>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1752187802"/>
                    </a:ext>
                  </a:extLst>
                </a:gridCol>
                <a:gridCol w="2880320">
                  <a:extLst>
                    <a:ext uri="{9D8B030D-6E8A-4147-A177-3AD203B41FA5}">
                      <a16:colId xmlns:a16="http://schemas.microsoft.com/office/drawing/2014/main" val="1651389164"/>
                    </a:ext>
                  </a:extLst>
                </a:gridCol>
              </a:tblGrid>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Reasoning</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103664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Intention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7828506"/>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PEFT</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71167571"/>
                  </a:ext>
                </a:extLst>
              </a:tr>
              <a:tr h="2354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Specification</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MCP,</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GGUF,</a:t>
                      </a:r>
                      <a:r>
                        <a:rPr kumimoji="0" lang="zh-TW" alt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ONNX</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3886711"/>
                  </a:ext>
                </a:extLst>
              </a:tr>
            </a:tbl>
          </a:graphicData>
        </a:graphic>
      </p:graphicFrame>
      <p:sp>
        <p:nvSpPr>
          <p:cNvPr id="7" name="圖說文字: 直線 6">
            <a:extLst>
              <a:ext uri="{FF2B5EF4-FFF2-40B4-BE49-F238E27FC236}">
                <a16:creationId xmlns:a16="http://schemas.microsoft.com/office/drawing/2014/main" id="{936D2D76-DCFF-575E-7363-34677C3510CB}"/>
              </a:ext>
            </a:extLst>
          </p:cNvPr>
          <p:cNvSpPr/>
          <p:nvPr/>
        </p:nvSpPr>
        <p:spPr>
          <a:xfrm flipH="1">
            <a:off x="5508104" y="4725144"/>
            <a:ext cx="3168352" cy="1492366"/>
          </a:xfrm>
          <a:prstGeom prst="borderCallout1">
            <a:avLst>
              <a:gd name="adj1" fmla="val 11649"/>
              <a:gd name="adj2" fmla="val 96516"/>
              <a:gd name="adj3" fmla="val 11782"/>
              <a:gd name="adj4" fmla="val 118948"/>
            </a:avLst>
          </a:prstGeom>
          <a:no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1539</TotalTime>
  <Words>7392</Words>
  <Application>Microsoft Office PowerPoint</Application>
  <PresentationFormat>如螢幕大小 (4:3)</PresentationFormat>
  <Paragraphs>1204</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1750</cp:revision>
  <cp:lastPrinted>2024-07-30T01:44:15Z</cp:lastPrinted>
  <dcterms:created xsi:type="dcterms:W3CDTF">2019-11-08T03:01:47Z</dcterms:created>
  <dcterms:modified xsi:type="dcterms:W3CDTF">2026-07-15T12:42:35Z</dcterms:modified>
</cp:coreProperties>
</file>