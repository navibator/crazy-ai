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22.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505729"/>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9937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65836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83311" y="659283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a:rPr lang="en-US" altLang="zh-TW" sz="1400" dirty="0">
                        <a:latin typeface="Cambria Math" panose="02040503050406030204" pitchFamily="18" charset="0"/>
                      </a:rPr>
                      <m:t>	</m:t>
                    </m:r>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5148572" cy="1092607"/>
              </a:xfrm>
              <a:prstGeom prst="rect">
                <a:avLst/>
              </a:prstGeom>
              <a:blipFill>
                <a:blip r:embed="rId3"/>
                <a:stretch>
                  <a:fillRect l="-1183" t="-9497" b="-6704"/>
                </a:stretch>
              </a:blipFill>
            </p:spPr>
            <p:txBody>
              <a:bodyPr/>
              <a:lstStyle/>
              <a:p>
                <a:r>
                  <a:rPr lang="zh-TW" altLang="en-US">
                    <a:noFill/>
                  </a:rPr>
                  <a:t> </a:t>
                </a:r>
              </a:p>
            </p:txBody>
          </p:sp>
        </mc:Fallback>
      </mc:AlternateContent>
      <p:pic>
        <p:nvPicPr>
          <p:cNvPr id="7" name="圖片 6">
            <a:extLst>
              <a:ext uri="{FF2B5EF4-FFF2-40B4-BE49-F238E27FC236}">
                <a16:creationId xmlns:a16="http://schemas.microsoft.com/office/drawing/2014/main" id="{921F85D1-0D1A-EDB4-B1C7-9EA313E43EFA}"/>
              </a:ext>
              <a:ext uri="{C183D7F6-B498-43B3-948B-1728B52AA6E4}">
                <adec:decorative xmlns:adec="http://schemas.microsoft.com/office/drawing/2017/decorative" val="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15795" y="509261"/>
            <a:ext cx="3220701" cy="1767611"/>
          </a:xfrm>
          <a:prstGeom prst="rect">
            <a:avLst/>
          </a:prstGeom>
          <a:effectLst>
            <a:glow rad="63500">
              <a:schemeClr val="accent1">
                <a:satMod val="175000"/>
                <a:alpha val="40000"/>
              </a:schemeClr>
            </a:glow>
          </a:effectLst>
        </p:spPr>
      </p:pic>
      <mc:AlternateContent xmlns:mc="http://schemas.openxmlformats.org/markup-compatibility/2006">
        <mc:Choice xmlns:a14="http://schemas.microsoft.com/office/drawing/2010/main"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2889798004"/>
                  </p:ext>
                </p:extLst>
              </p:nvPr>
            </p:nvGraphicFramePr>
            <p:xfrm>
              <a:off x="661886" y="2234021"/>
              <a:ext cx="8014568" cy="4291667"/>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78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115">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0648">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373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74296">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898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8072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2889798004"/>
                  </p:ext>
                </p:extLst>
              </p:nvPr>
            </p:nvGraphicFramePr>
            <p:xfrm>
              <a:off x="661886" y="2234021"/>
              <a:ext cx="8014568" cy="4291667"/>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78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87736" b="-578302"/>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115">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0648">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58824" r="-376812" b="-27189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58824" r="-141299" b="-27189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58824" r="-40972" b="-271895"/>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9388" r="-376812" b="-18299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9388" r="-141299" b="-18299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9388" r="-40972" b="-182993"/>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7429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696154" r="-376812" b="-24487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696154" r="-141299" b="-24487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696154" r="-40972" b="-244872"/>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898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44737" r="-376812" b="-67544"/>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44737" r="-141299" b="-67544"/>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44737" r="-40972" b="-67544"/>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44737" b="-67544"/>
                          </a:stretch>
                        </a:blipFill>
                      </a:tcPr>
                    </a:tc>
                    <a:extLst>
                      <a:ext uri="{0D108BD9-81ED-4DB2-BD59-A6C34878D82A}">
                        <a16:rowId xmlns:a16="http://schemas.microsoft.com/office/drawing/2014/main" val="1341340391"/>
                      </a:ext>
                    </a:extLst>
                  </a:tr>
                  <a:tr h="38072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4211961"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14" name="文字方塊 13">
            <a:extLst>
              <a:ext uri="{FF2B5EF4-FFF2-40B4-BE49-F238E27FC236}">
                <a16:creationId xmlns:a16="http://schemas.microsoft.com/office/drawing/2014/main" id="{51308E05-3476-EB93-F12C-891ECFA2D15D}"/>
              </a:ext>
            </a:extLst>
          </p:cNvPr>
          <p:cNvSpPr txBox="1"/>
          <p:nvPr/>
        </p:nvSpPr>
        <p:spPr>
          <a:xfrm>
            <a:off x="3597611"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4045246967"/>
              </p:ext>
            </p:extLst>
          </p:nvPr>
        </p:nvGraphicFramePr>
        <p:xfrm>
          <a:off x="1281380" y="1755298"/>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mc:AlternateContent xmlns:mc="http://schemas.openxmlformats.org/markup-compatibility/2006">
        <mc:Choice xmlns:a14="http://schemas.microsoft.com/office/drawing/2010/main"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1999414208"/>
                  </p:ext>
                </p:extLst>
              </p:nvPr>
            </p:nvGraphicFramePr>
            <p:xfrm>
              <a:off x="457354" y="3128782"/>
              <a:ext cx="7941260" cy="2710432"/>
            </p:xfrm>
            <a:graphic>
              <a:graphicData uri="http://schemas.openxmlformats.org/drawingml/2006/table">
                <a:tbl>
                  <a:tblPr firstRow="1" bandRow="1">
                    <a:tableStyleId>{5C22544A-7EE6-4342-B048-85BDC9FD1C3A}</a:tableStyleId>
                  </a:tblPr>
                  <a:tblGrid>
                    <a:gridCol w="858435">
                      <a:extLst>
                        <a:ext uri="{9D8B030D-6E8A-4147-A177-3AD203B41FA5}">
                          <a16:colId xmlns:a16="http://schemas.microsoft.com/office/drawing/2014/main" val="871242339"/>
                        </a:ext>
                      </a:extLst>
                    </a:gridCol>
                    <a:gridCol w="363297">
                      <a:extLst>
                        <a:ext uri="{9D8B030D-6E8A-4147-A177-3AD203B41FA5}">
                          <a16:colId xmlns:a16="http://schemas.microsoft.com/office/drawing/2014/main" val="1201755844"/>
                        </a:ext>
                      </a:extLst>
                    </a:gridCol>
                    <a:gridCol w="610866">
                      <a:extLst>
                        <a:ext uri="{9D8B030D-6E8A-4147-A177-3AD203B41FA5}">
                          <a16:colId xmlns:a16="http://schemas.microsoft.com/office/drawing/2014/main" val="506512337"/>
                        </a:ext>
                      </a:extLst>
                    </a:gridCol>
                    <a:gridCol w="610866">
                      <a:extLst>
                        <a:ext uri="{9D8B030D-6E8A-4147-A177-3AD203B41FA5}">
                          <a16:colId xmlns:a16="http://schemas.microsoft.com/office/drawing/2014/main" val="1340741050"/>
                        </a:ext>
                      </a:extLst>
                    </a:gridCol>
                    <a:gridCol w="610866">
                      <a:extLst>
                        <a:ext uri="{9D8B030D-6E8A-4147-A177-3AD203B41FA5}">
                          <a16:colId xmlns:a16="http://schemas.microsoft.com/office/drawing/2014/main" val="3047107006"/>
                        </a:ext>
                      </a:extLst>
                    </a:gridCol>
                    <a:gridCol w="225041">
                      <a:extLst>
                        <a:ext uri="{9D8B030D-6E8A-4147-A177-3AD203B41FA5}">
                          <a16:colId xmlns:a16="http://schemas.microsoft.com/office/drawing/2014/main" val="3476142927"/>
                        </a:ext>
                      </a:extLst>
                    </a:gridCol>
                    <a:gridCol w="1001767">
                      <a:extLst>
                        <a:ext uri="{9D8B030D-6E8A-4147-A177-3AD203B41FA5}">
                          <a16:colId xmlns:a16="http://schemas.microsoft.com/office/drawing/2014/main" val="1264719254"/>
                        </a:ext>
                      </a:extLst>
                    </a:gridCol>
                    <a:gridCol w="203740">
                      <a:extLst>
                        <a:ext uri="{9D8B030D-6E8A-4147-A177-3AD203B41FA5}">
                          <a16:colId xmlns:a16="http://schemas.microsoft.com/office/drawing/2014/main" val="667147628"/>
                        </a:ext>
                      </a:extLst>
                    </a:gridCol>
                    <a:gridCol w="1440160">
                      <a:extLst>
                        <a:ext uri="{9D8B030D-6E8A-4147-A177-3AD203B41FA5}">
                          <a16:colId xmlns:a16="http://schemas.microsoft.com/office/drawing/2014/main" val="1863192475"/>
                        </a:ext>
                      </a:extLst>
                    </a:gridCol>
                    <a:gridCol w="183624">
                      <a:extLst>
                        <a:ext uri="{9D8B030D-6E8A-4147-A177-3AD203B41FA5}">
                          <a16:colId xmlns:a16="http://schemas.microsoft.com/office/drawing/2014/main" val="750920784"/>
                        </a:ext>
                      </a:extLst>
                    </a:gridCol>
                    <a:gridCol w="610866">
                      <a:extLst>
                        <a:ext uri="{9D8B030D-6E8A-4147-A177-3AD203B41FA5}">
                          <a16:colId xmlns:a16="http://schemas.microsoft.com/office/drawing/2014/main" val="3374793549"/>
                        </a:ext>
                      </a:extLst>
                    </a:gridCol>
                    <a:gridCol w="610866">
                      <a:extLst>
                        <a:ext uri="{9D8B030D-6E8A-4147-A177-3AD203B41FA5}">
                          <a16:colId xmlns:a16="http://schemas.microsoft.com/office/drawing/2014/main" val="2471867410"/>
                        </a:ext>
                      </a:extLst>
                    </a:gridCol>
                    <a:gridCol w="610866">
                      <a:extLst>
                        <a:ext uri="{9D8B030D-6E8A-4147-A177-3AD203B41FA5}">
                          <a16:colId xmlns:a16="http://schemas.microsoft.com/office/drawing/2014/main" val="2043563053"/>
                        </a:ext>
                      </a:extLst>
                    </a:gridCol>
                  </a:tblGrid>
                  <a:tr h="497428">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Input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(x2, x1, b)</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Output</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Activation</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 </a:t>
                          </a:r>
                          <a:r>
                            <a:rPr lang="en-US" altLang="zh-TW" sz="1000" b="0" dirty="0" err="1">
                              <a:solidFill>
                                <a:schemeClr val="tx1">
                                  <a:lumMod val="65000"/>
                                  <a:lumOff val="35000"/>
                                </a:schemeClr>
                              </a:solidFill>
                              <a:latin typeface="ADLaM Display" panose="02010000000000000000" pitchFamily="2" charset="0"/>
                              <a:cs typeface="ADLaM Display" panose="02010000000000000000" pitchFamily="2" charset="0"/>
                            </a:rPr>
                            <a:t>ReLU</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(Y)</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x</m:t>
                                    </m:r>
                                  </m:e>
                                  <m:sub>
                                    <m:r>
                                      <m:rPr>
                                        <m:sty m:val="p"/>
                                      </m:rP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d>
                                  <m:dPr>
                                    <m:ctrlP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dPr>
                                  <m:e>
                                    <m:r>
                                      <m:rPr>
                                        <m:sty m:val="p"/>
                                      </m:rP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a</m:t>
                                    </m:r>
                                    <m: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y</m:t>
                                        </m:r>
                                      </m:e>
                                      <m:sub>
                                        <m:r>
                                          <m:rPr>
                                            <m:sty m:val="p"/>
                                          </m:rPr>
                                          <a:rPr kumimoji="0" lang="en-US" altLang="zh-TW"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t</m:t>
                                        </m:r>
                                      </m:sub>
                                    </m:sSub>
                                  </m:e>
                                </m:d>
                                <m:r>
                                  <a:rPr kumimoji="0" lang="zh-TW" altLang="en-US" sz="1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oMath>
                            </m:oMathPara>
                          </a14:m>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TW" sz="1000" b="0" i="0" u="none" strike="noStrike" kern="1200" cap="none" spc="0" normalizeH="0" baseline="0" noProof="0" dirty="0">
                              <a:ln>
                                <a:noFill/>
                              </a:ln>
                              <a:solidFill>
                                <a:prstClr val="black">
                                  <a:lumMod val="65000"/>
                                  <a:lumOff val="35000"/>
                                </a:prstClr>
                              </a:solidFill>
                              <a:effectLst/>
                              <a:uLnTx/>
                              <a:uFillTx/>
                              <a:latin typeface="ADLaM Display" panose="02010000000000000000" pitchFamily="2" charset="0"/>
                              <a:ea typeface="+mn-ea"/>
                              <a:cs typeface="ADLaM Display" panose="02010000000000000000" pitchFamily="2" charset="0"/>
                            </a:rPr>
                            <a:t>W</a:t>
                          </a:r>
                          <a:r>
                            <a:rPr kumimoji="0" lang="el-GR" altLang="zh-TW" sz="1000" b="0" i="0" u="none" strike="noStrike" kern="1200" cap="none" spc="0" normalizeH="0" baseline="0" noProof="0" dirty="0">
                              <a:ln>
                                <a:noFill/>
                              </a:ln>
                              <a:solidFill>
                                <a:prstClr val="black">
                                  <a:lumMod val="65000"/>
                                  <a:lumOff val="35000"/>
                                </a:prstClr>
                              </a:solidFill>
                              <a:effectLst/>
                              <a:uLnTx/>
                              <a:uFillTx/>
                              <a:latin typeface="Calibri" panose="020F0502020204030204" pitchFamily="34" charset="0"/>
                              <a:ea typeface="Calibri" panose="020F0502020204030204" pitchFamily="34" charset="0"/>
                              <a:cs typeface="Calibri" panose="020F0502020204030204" pitchFamily="34" charset="0"/>
                            </a:rPr>
                            <a:t>η</a:t>
                          </a:r>
                          <a:endParaRPr lang="zh-TW" altLang="en-US" sz="12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lumMod val="65000"/>
                                  <a:lumOff val="35000"/>
                                </a:prstClr>
                              </a:solidFill>
                              <a:effectLst/>
                              <a:uLnTx/>
                              <a:uFillTx/>
                              <a:latin typeface="ADLaM Display" panose="02010000000000000000" pitchFamily="2" charset="0"/>
                              <a:ea typeface="ADLaM Display" panose="02010000000000000000" pitchFamily="2" charset="0"/>
                              <a:cs typeface="ADLaM Display" panose="02010000000000000000" pitchFamily="2" charset="0"/>
                            </a:rPr>
                            <a:t>w</a:t>
                          </a:r>
                          <a:r>
                            <a:rPr kumimoji="0" lang="en-US" altLang="zh-TW" sz="1200" b="0" i="0" u="none" strike="noStrike" kern="1200" cap="none" spc="0" normalizeH="0" baseline="0" noProof="0" dirty="0">
                              <a:ln>
                                <a:noFill/>
                              </a:ln>
                              <a:solidFill>
                                <a:schemeClr val="tx1">
                                  <a:lumMod val="65000"/>
                                  <a:lumOff val="35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r>
                            <a:rPr kumimoji="0" lang="zh-TW" altLang="en-US" sz="1200" b="0" i="0" u="none" strike="noStrike" kern="1200" cap="none" spc="0" normalizeH="0" baseline="0" noProof="0" dirty="0">
                              <a:ln>
                                <a:noFill/>
                              </a:ln>
                              <a:solidFill>
                                <a:schemeClr val="tx1">
                                  <a:lumMod val="65000"/>
                                  <a:lumOff val="35000"/>
                                </a:schemeClr>
                              </a:solidFill>
                              <a:effectLst/>
                              <a:uLnTx/>
                              <a:uFillTx/>
                              <a:latin typeface="ADLaM Display" panose="02010000000000000000" pitchFamily="2" charset="0"/>
                              <a:ea typeface="+mn-ea"/>
                              <a:cs typeface="ADLaM Display" panose="02010000000000000000" pitchFamily="2" charset="0"/>
                            </a:rPr>
                            <a:t>η</a:t>
                          </a:r>
                          <a:endParaRPr lang="zh-TW" altLang="en-US" sz="12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0.02*x2*(0.5-5)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0.02*x1*(0.5-5)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8441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0.02*1*(0.5-5)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bl>
              </a:graphicData>
            </a:graphic>
          </p:graphicFrame>
        </mc:Choice>
        <mc:Fallback>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1999414208"/>
                  </p:ext>
                </p:extLst>
              </p:nvPr>
            </p:nvGraphicFramePr>
            <p:xfrm>
              <a:off x="457354" y="3128782"/>
              <a:ext cx="7941260" cy="2710432"/>
            </p:xfrm>
            <a:graphic>
              <a:graphicData uri="http://schemas.openxmlformats.org/drawingml/2006/table">
                <a:tbl>
                  <a:tblPr firstRow="1" bandRow="1">
                    <a:tableStyleId>{5C22544A-7EE6-4342-B048-85BDC9FD1C3A}</a:tableStyleId>
                  </a:tblPr>
                  <a:tblGrid>
                    <a:gridCol w="858435">
                      <a:extLst>
                        <a:ext uri="{9D8B030D-6E8A-4147-A177-3AD203B41FA5}">
                          <a16:colId xmlns:a16="http://schemas.microsoft.com/office/drawing/2014/main" val="871242339"/>
                        </a:ext>
                      </a:extLst>
                    </a:gridCol>
                    <a:gridCol w="363297">
                      <a:extLst>
                        <a:ext uri="{9D8B030D-6E8A-4147-A177-3AD203B41FA5}">
                          <a16:colId xmlns:a16="http://schemas.microsoft.com/office/drawing/2014/main" val="1201755844"/>
                        </a:ext>
                      </a:extLst>
                    </a:gridCol>
                    <a:gridCol w="610866">
                      <a:extLst>
                        <a:ext uri="{9D8B030D-6E8A-4147-A177-3AD203B41FA5}">
                          <a16:colId xmlns:a16="http://schemas.microsoft.com/office/drawing/2014/main" val="506512337"/>
                        </a:ext>
                      </a:extLst>
                    </a:gridCol>
                    <a:gridCol w="610866">
                      <a:extLst>
                        <a:ext uri="{9D8B030D-6E8A-4147-A177-3AD203B41FA5}">
                          <a16:colId xmlns:a16="http://schemas.microsoft.com/office/drawing/2014/main" val="1340741050"/>
                        </a:ext>
                      </a:extLst>
                    </a:gridCol>
                    <a:gridCol w="610866">
                      <a:extLst>
                        <a:ext uri="{9D8B030D-6E8A-4147-A177-3AD203B41FA5}">
                          <a16:colId xmlns:a16="http://schemas.microsoft.com/office/drawing/2014/main" val="3047107006"/>
                        </a:ext>
                      </a:extLst>
                    </a:gridCol>
                    <a:gridCol w="225041">
                      <a:extLst>
                        <a:ext uri="{9D8B030D-6E8A-4147-A177-3AD203B41FA5}">
                          <a16:colId xmlns:a16="http://schemas.microsoft.com/office/drawing/2014/main" val="3476142927"/>
                        </a:ext>
                      </a:extLst>
                    </a:gridCol>
                    <a:gridCol w="1001767">
                      <a:extLst>
                        <a:ext uri="{9D8B030D-6E8A-4147-A177-3AD203B41FA5}">
                          <a16:colId xmlns:a16="http://schemas.microsoft.com/office/drawing/2014/main" val="1264719254"/>
                        </a:ext>
                      </a:extLst>
                    </a:gridCol>
                    <a:gridCol w="203740">
                      <a:extLst>
                        <a:ext uri="{9D8B030D-6E8A-4147-A177-3AD203B41FA5}">
                          <a16:colId xmlns:a16="http://schemas.microsoft.com/office/drawing/2014/main" val="667147628"/>
                        </a:ext>
                      </a:extLst>
                    </a:gridCol>
                    <a:gridCol w="1440160">
                      <a:extLst>
                        <a:ext uri="{9D8B030D-6E8A-4147-A177-3AD203B41FA5}">
                          <a16:colId xmlns:a16="http://schemas.microsoft.com/office/drawing/2014/main" val="1863192475"/>
                        </a:ext>
                      </a:extLst>
                    </a:gridCol>
                    <a:gridCol w="183624">
                      <a:extLst>
                        <a:ext uri="{9D8B030D-6E8A-4147-A177-3AD203B41FA5}">
                          <a16:colId xmlns:a16="http://schemas.microsoft.com/office/drawing/2014/main" val="750920784"/>
                        </a:ext>
                      </a:extLst>
                    </a:gridCol>
                    <a:gridCol w="610866">
                      <a:extLst>
                        <a:ext uri="{9D8B030D-6E8A-4147-A177-3AD203B41FA5}">
                          <a16:colId xmlns:a16="http://schemas.microsoft.com/office/drawing/2014/main" val="3374793549"/>
                        </a:ext>
                      </a:extLst>
                    </a:gridCol>
                    <a:gridCol w="610866">
                      <a:extLst>
                        <a:ext uri="{9D8B030D-6E8A-4147-A177-3AD203B41FA5}">
                          <a16:colId xmlns:a16="http://schemas.microsoft.com/office/drawing/2014/main" val="2471867410"/>
                        </a:ext>
                      </a:extLst>
                    </a:gridCol>
                    <a:gridCol w="610866">
                      <a:extLst>
                        <a:ext uri="{9D8B030D-6E8A-4147-A177-3AD203B41FA5}">
                          <a16:colId xmlns:a16="http://schemas.microsoft.com/office/drawing/2014/main" val="2043563053"/>
                        </a:ext>
                      </a:extLst>
                    </a:gridCol>
                  </a:tblGrid>
                  <a:tr h="497428">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Input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(x2, x1, b)</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Output</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Activation</a:t>
                          </a:r>
                        </a:p>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 </a:t>
                          </a:r>
                          <a:r>
                            <a:rPr lang="en-US" altLang="zh-TW" sz="1000" b="0" dirty="0" err="1">
                              <a:solidFill>
                                <a:schemeClr val="tx1">
                                  <a:lumMod val="65000"/>
                                  <a:lumOff val="35000"/>
                                </a:schemeClr>
                              </a:solidFill>
                              <a:latin typeface="ADLaM Display" panose="02010000000000000000" pitchFamily="2" charset="0"/>
                              <a:cs typeface="ADLaM Display" panose="02010000000000000000" pitchFamily="2" charset="0"/>
                            </a:rPr>
                            <a:t>ReLU</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(Y)</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312712" t="-1220" r="-140254" b="-454878"/>
                          </a:stretch>
                        </a:blip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TW" sz="1000" b="0" i="0" u="none" strike="noStrike" kern="1200" cap="none" spc="0" normalizeH="0" baseline="0" noProof="0" dirty="0">
                              <a:ln>
                                <a:noFill/>
                              </a:ln>
                              <a:solidFill>
                                <a:prstClr val="black">
                                  <a:lumMod val="65000"/>
                                  <a:lumOff val="35000"/>
                                </a:prstClr>
                              </a:solidFill>
                              <a:effectLst/>
                              <a:uLnTx/>
                              <a:uFillTx/>
                              <a:latin typeface="ADLaM Display" panose="02010000000000000000" pitchFamily="2" charset="0"/>
                              <a:ea typeface="+mn-ea"/>
                              <a:cs typeface="ADLaM Display" panose="02010000000000000000" pitchFamily="2" charset="0"/>
                            </a:rPr>
                            <a:t>W</a:t>
                          </a:r>
                          <a:r>
                            <a:rPr kumimoji="0" lang="el-GR" altLang="zh-TW" sz="1000" b="0" i="0" u="none" strike="noStrike" kern="1200" cap="none" spc="0" normalizeH="0" baseline="0" noProof="0" dirty="0">
                              <a:ln>
                                <a:noFill/>
                              </a:ln>
                              <a:solidFill>
                                <a:prstClr val="black">
                                  <a:lumMod val="65000"/>
                                  <a:lumOff val="35000"/>
                                </a:prstClr>
                              </a:solidFill>
                              <a:effectLst/>
                              <a:uLnTx/>
                              <a:uFillTx/>
                              <a:latin typeface="Calibri" panose="020F0502020204030204" pitchFamily="34" charset="0"/>
                              <a:ea typeface="Calibri" panose="020F0502020204030204" pitchFamily="34" charset="0"/>
                              <a:cs typeface="Calibri" panose="020F0502020204030204" pitchFamily="34" charset="0"/>
                            </a:rPr>
                            <a:t>η</a:t>
                          </a:r>
                          <a:endParaRPr lang="zh-TW" altLang="en-US" sz="12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lumMod val="65000"/>
                                  <a:lumOff val="35000"/>
                                </a:prstClr>
                              </a:solidFill>
                              <a:effectLst/>
                              <a:uLnTx/>
                              <a:uFillTx/>
                              <a:latin typeface="ADLaM Display" panose="02010000000000000000" pitchFamily="2" charset="0"/>
                              <a:ea typeface="ADLaM Display" panose="02010000000000000000" pitchFamily="2" charset="0"/>
                              <a:cs typeface="ADLaM Display" panose="02010000000000000000" pitchFamily="2" charset="0"/>
                            </a:rPr>
                            <a:t>w</a:t>
                          </a:r>
                          <a:r>
                            <a:rPr kumimoji="0" lang="en-US" altLang="zh-TW" sz="1200" b="0" i="0" u="none" strike="noStrike" kern="1200" cap="none" spc="0" normalizeH="0" baseline="0" noProof="0" dirty="0">
                              <a:ln>
                                <a:noFill/>
                              </a:ln>
                              <a:solidFill>
                                <a:schemeClr val="tx1">
                                  <a:lumMod val="65000"/>
                                  <a:lumOff val="35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r>
                            <a:rPr kumimoji="0" lang="zh-TW" altLang="en-US" sz="1200" b="0" i="0" u="none" strike="noStrike" kern="1200" cap="none" spc="0" normalizeH="0" baseline="0" noProof="0" dirty="0">
                              <a:ln>
                                <a:noFill/>
                              </a:ln>
                              <a:solidFill>
                                <a:schemeClr val="tx1">
                                  <a:lumMod val="65000"/>
                                  <a:lumOff val="35000"/>
                                </a:schemeClr>
                              </a:solidFill>
                              <a:effectLst/>
                              <a:uLnTx/>
                              <a:uFillTx/>
                              <a:latin typeface="ADLaM Display" panose="02010000000000000000" pitchFamily="2" charset="0"/>
                              <a:ea typeface="+mn-ea"/>
                              <a:cs typeface="ADLaM Display" panose="02010000000000000000" pitchFamily="2" charset="0"/>
                            </a:rPr>
                            <a:t>η</a:t>
                          </a:r>
                          <a:endParaRPr lang="zh-TW" altLang="en-US" sz="12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0.02*x2*(0.5-5)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0.02*x1*(0.5-5)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8441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0.02*1*(0.5-5)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1844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1844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bl>
              </a:graphicData>
            </a:graphic>
          </p:graphicFrame>
        </mc:Fallback>
      </mc:AlternateContent>
      <p:sp>
        <p:nvSpPr>
          <p:cNvPr id="97" name="文字方塊 96">
            <a:extLst>
              <a:ext uri="{FF2B5EF4-FFF2-40B4-BE49-F238E27FC236}">
                <a16:creationId xmlns:a16="http://schemas.microsoft.com/office/drawing/2014/main" id="{D66AEB5B-76AA-0C2A-C7C5-2A9385A7535F}"/>
              </a:ext>
            </a:extLst>
          </p:cNvPr>
          <p:cNvSpPr txBox="1"/>
          <p:nvPr/>
        </p:nvSpPr>
        <p:spPr>
          <a:xfrm>
            <a:off x="1314311" y="105917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1188561" y="136217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4027158468"/>
              </p:ext>
            </p:extLst>
          </p:nvPr>
        </p:nvGraphicFramePr>
        <p:xfrm>
          <a:off x="1964185" y="1018786"/>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Example</a:t>
            </a:r>
          </a:p>
          <a:p>
            <a:r>
              <a:rPr lang="en-US" altLang="zh-TW" sz="1400" dirty="0" err="1">
                <a:latin typeface="Noto Sans HK" panose="020B0200000000000000" pitchFamily="34" charset="-120"/>
                <a:ea typeface="Noto Sans HK" panose="020B0200000000000000" pitchFamily="34" charset="-120"/>
                <a:cs typeface="Arial" panose="020B0604020202020204" pitchFamily="34" charset="0"/>
              </a:rPr>
              <a:t>ReLU</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and MSE</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376065914"/>
              </p:ext>
            </p:extLst>
          </p:nvPr>
        </p:nvGraphicFramePr>
        <p:xfrm>
          <a:off x="1115616" y="1196752"/>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1547664" y="2636912"/>
            <a:ext cx="2776219" cy="1417098"/>
          </a:xfrm>
          <a:prstGeom prst="borderCallout1">
            <a:avLst>
              <a:gd name="adj1" fmla="val 17633"/>
              <a:gd name="adj2" fmla="val 8388"/>
              <a:gd name="adj3" fmla="val -32946"/>
              <a:gd name="adj4" fmla="val 3509"/>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2381257835"/>
              </p:ext>
            </p:extLst>
          </p:nvPr>
        </p:nvGraphicFramePr>
        <p:xfrm>
          <a:off x="1603626" y="2705381"/>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702160026"/>
              </p:ext>
            </p:extLst>
          </p:nvPr>
        </p:nvGraphicFramePr>
        <p:xfrm>
          <a:off x="2555776" y="4237566"/>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730877134"/>
              </p:ext>
            </p:extLst>
          </p:nvPr>
        </p:nvGraphicFramePr>
        <p:xfrm>
          <a:off x="5508104" y="2694929"/>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(Anysphere)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Waymo</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780969409"/>
              </p:ext>
            </p:extLst>
          </p:nvPr>
        </p:nvGraphicFramePr>
        <p:xfrm>
          <a:off x="5580112" y="4286876"/>
          <a:ext cx="3384376" cy="1274939"/>
        </p:xfrm>
        <a:graphic>
          <a:graphicData uri="http://schemas.openxmlformats.org/drawingml/2006/table">
            <a:tbl>
              <a:tblPr firstRow="1" bandRow="1">
                <a:tableStyleId>{5C22544A-7EE6-4342-B048-85BDC9FD1C3A}</a:tableStyleId>
              </a:tblPr>
              <a:tblGrid>
                <a:gridCol w="338437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a:t>
                      </a:r>
                      <a:r>
                        <a:rPr lang="en-US" altLang="zh-TW" sz="1200" b="0" cap="none" spc="0">
                          <a:ln w="0"/>
                          <a:solidFill>
                            <a:schemeClr val="tx1"/>
                          </a:solidFill>
                          <a:effectLst/>
                        </a:rPr>
                        <a:t>Horizon Robotics</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4227167" y="1049313"/>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3057737227"/>
              </p:ext>
            </p:extLst>
          </p:nvPr>
        </p:nvGraphicFramePr>
        <p:xfrm>
          <a:off x="395536" y="5609042"/>
          <a:ext cx="4532503" cy="793654"/>
        </p:xfrm>
        <a:graphic>
          <a:graphicData uri="http://schemas.openxmlformats.org/drawingml/2006/table">
            <a:tbl>
              <a:tblPr firstRow="1" bandRow="1">
                <a:tableStyleId>{5C22544A-7EE6-4342-B048-85BDC9FD1C3A}</a:tableStyleId>
              </a:tblPr>
              <a:tblGrid>
                <a:gridCol w="1133126">
                  <a:extLst>
                    <a:ext uri="{9D8B030D-6E8A-4147-A177-3AD203B41FA5}">
                      <a16:colId xmlns:a16="http://schemas.microsoft.com/office/drawing/2014/main" val="1752187802"/>
                    </a:ext>
                  </a:extLst>
                </a:gridCol>
                <a:gridCol w="1133126">
                  <a:extLst>
                    <a:ext uri="{9D8B030D-6E8A-4147-A177-3AD203B41FA5}">
                      <a16:colId xmlns:a16="http://schemas.microsoft.com/office/drawing/2014/main" val="673498157"/>
                    </a:ext>
                  </a:extLst>
                </a:gridCol>
                <a:gridCol w="995777">
                  <a:extLst>
                    <a:ext uri="{9D8B030D-6E8A-4147-A177-3AD203B41FA5}">
                      <a16:colId xmlns:a16="http://schemas.microsoft.com/office/drawing/2014/main" val="190418895"/>
                    </a:ext>
                  </a:extLst>
                </a:gridCol>
                <a:gridCol w="1270474">
                  <a:extLst>
                    <a:ext uri="{9D8B030D-6E8A-4147-A177-3AD203B41FA5}">
                      <a16:colId xmlns:a16="http://schemas.microsoft.com/office/drawing/2014/main" val="3756933833"/>
                    </a:ext>
                  </a:extLst>
                </a:gridCol>
              </a:tblGrid>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Specification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(GGUF, ONNX)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NPU</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4957744"/>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551</TotalTime>
  <Words>6392</Words>
  <Application>Microsoft Office PowerPoint</Application>
  <PresentationFormat>如螢幕大小 (4:3)</PresentationFormat>
  <Paragraphs>1271</Paragraphs>
  <Slides>21</Slides>
  <Notes>19</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21</vt:i4>
      </vt:variant>
    </vt:vector>
  </HeadingPairs>
  <TitlesOfParts>
    <vt:vector size="36"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1701</cp:revision>
  <cp:lastPrinted>2024-07-30T01:44:15Z</cp:lastPrinted>
  <dcterms:created xsi:type="dcterms:W3CDTF">2019-11-08T03:01:47Z</dcterms:created>
  <dcterms:modified xsi:type="dcterms:W3CDTF">2026-07-09T09:43:06Z</dcterms:modified>
</cp:coreProperties>
</file>