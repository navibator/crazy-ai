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0"/>
  </p:notesMasterIdLst>
  <p:handoutMasterIdLst>
    <p:handoutMasterId r:id="rId51"/>
  </p:handoutMasterIdLst>
  <p:sldIdLst>
    <p:sldId id="3459" r:id="rId2"/>
    <p:sldId id="3472" r:id="rId3"/>
    <p:sldId id="3511" r:id="rId4"/>
    <p:sldId id="3504" r:id="rId5"/>
    <p:sldId id="3427" r:id="rId6"/>
    <p:sldId id="3503" r:id="rId7"/>
    <p:sldId id="3470" r:id="rId8"/>
    <p:sldId id="3471" r:id="rId9"/>
    <p:sldId id="3482" r:id="rId10"/>
    <p:sldId id="3557" r:id="rId11"/>
    <p:sldId id="3483" r:id="rId12"/>
    <p:sldId id="3428" r:id="rId13"/>
    <p:sldId id="3451" r:id="rId14"/>
    <p:sldId id="3552" r:id="rId15"/>
    <p:sldId id="3465" r:id="rId16"/>
    <p:sldId id="3484" r:id="rId17"/>
    <p:sldId id="3508" r:id="rId18"/>
    <p:sldId id="3505" r:id="rId19"/>
    <p:sldId id="3507" r:id="rId20"/>
    <p:sldId id="3460" r:id="rId21"/>
    <p:sldId id="3509" r:id="rId22"/>
    <p:sldId id="3479" r:id="rId23"/>
    <p:sldId id="3467" r:id="rId24"/>
    <p:sldId id="3531" r:id="rId25"/>
    <p:sldId id="3499" r:id="rId26"/>
    <p:sldId id="3444" r:id="rId27"/>
    <p:sldId id="3532" r:id="rId28"/>
    <p:sldId id="3520" r:id="rId29"/>
    <p:sldId id="3518" r:id="rId30"/>
    <p:sldId id="3475" r:id="rId31"/>
    <p:sldId id="3527" r:id="rId32"/>
    <p:sldId id="3550" r:id="rId33"/>
    <p:sldId id="3551" r:id="rId34"/>
    <p:sldId id="3515" r:id="rId35"/>
    <p:sldId id="3556" r:id="rId36"/>
    <p:sldId id="3528" r:id="rId37"/>
    <p:sldId id="3514" r:id="rId38"/>
    <p:sldId id="3529" r:id="rId39"/>
    <p:sldId id="3555" r:id="rId40"/>
    <p:sldId id="3553" r:id="rId41"/>
    <p:sldId id="3554" r:id="rId42"/>
    <p:sldId id="3549" r:id="rId43"/>
    <p:sldId id="3519" r:id="rId44"/>
    <p:sldId id="3530" r:id="rId45"/>
    <p:sldId id="269" r:id="rId46"/>
    <p:sldId id="270" r:id="rId47"/>
    <p:sldId id="257" r:id="rId48"/>
    <p:sldId id="265" r:id="rId49"/>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557"/>
            <p14:sldId id="3483"/>
            <p14:sldId id="3428"/>
            <p14:sldId id="3451"/>
            <p14:sldId id="3552"/>
          </p14:sldIdLst>
        </p14:section>
        <p14:section name="OpenAI-GPT" id="{5A048767-0D58-44AF-B962-12C29493294F}">
          <p14:sldIdLst>
            <p14:sldId id="3465"/>
            <p14:sldId id="3484"/>
            <p14:sldId id="3508"/>
            <p14:sldId id="3505"/>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50"/>
            <p14:sldId id="3551"/>
            <p14:sldId id="3515"/>
            <p14:sldId id="3556"/>
            <p14:sldId id="3528"/>
            <p14:sldId id="3514"/>
            <p14:sldId id="3529"/>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8145" autoAdjust="0"/>
  </p:normalViewPr>
  <p:slideViewPr>
    <p:cSldViewPr>
      <p:cViewPr>
        <p:scale>
          <a:sx n="100" d="100"/>
          <a:sy n="100" d="100"/>
        </p:scale>
        <p:origin x="1584"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8/10/relationships/authors" Target="authors.xml"/><Relationship Id="rId8" Type="http://schemas.openxmlformats.org/officeDocument/2006/relationships/slide" Target="slides/slide7.xml"/><Relationship Id="rId51"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2026/9/7</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2026/9/7</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arxiv.org/abs/2104.09864" TargetMode="External"/><Relationship Id="rId2" Type="http://schemas.openxmlformats.org/officeDocument/2006/relationships/slide" Target="../slides/slide13.xml"/><Relationship Id="rId1" Type="http://schemas.openxmlformats.org/officeDocument/2006/relationships/notesMaster" Target="../notesMasters/notesMaster1.xml"/><Relationship Id="rId4" Type="http://schemas.openxmlformats.org/officeDocument/2006/relationships/hyperlink" Target="https://arxiv.org/abs/2104.09864"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1.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4"/>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在 2017 年 Google 提出的原始 Transformer 論文《</a:t>
            </a:r>
            <a:r>
              <a:rPr lang="zh-TW" altLang="zh-TW" sz="1200" b="0" i="1" u="none" strike="noStrike" kern="1200" dirty="0">
                <a:solidFill>
                  <a:schemeClr val="tx1"/>
                </a:solidFill>
                <a:effectLst/>
                <a:latin typeface="+mn-lt"/>
                <a:ea typeface="+mn-ea"/>
                <a:cs typeface="+mn-cs"/>
              </a:rPr>
              <a:t>Attention Is All You Need</a:t>
            </a:r>
            <a:r>
              <a:rPr lang="zh-TW" altLang="zh-TW" sz="1200" b="0" u="none" strike="noStrike" kern="1200" dirty="0">
                <a:solidFill>
                  <a:schemeClr val="tx1"/>
                </a:solidFill>
                <a:effectLst/>
                <a:latin typeface="+mn-lt"/>
                <a:ea typeface="+mn-ea"/>
                <a:cs typeface="+mn-cs"/>
              </a:rPr>
              <a:t>》中，使用的是</a:t>
            </a:r>
            <a:r>
              <a:rPr lang="zh-TW" altLang="zh-TW" sz="1200" b="1" u="none" strike="noStrike" kern="1200" dirty="0">
                <a:solidFill>
                  <a:schemeClr val="tx1"/>
                </a:solidFill>
                <a:effectLst/>
                <a:latin typeface="+mn-lt"/>
                <a:ea typeface="+mn-ea"/>
                <a:cs typeface="+mn-cs"/>
              </a:rPr>
              <a:t>正弦和餘弦函數的絕對位置編碼（Sinusoidal Position Embedding）</a:t>
            </a:r>
            <a:r>
              <a:rPr lang="zh-TW" altLang="zh-TW" sz="1200" b="0" u="none" strike="noStrike" kern="1200" dirty="0">
                <a:solidFill>
                  <a:schemeClr val="tx1"/>
                </a:solidFill>
                <a:effectLst/>
                <a:latin typeface="+mn-lt"/>
                <a:ea typeface="+mn-ea"/>
                <a:cs typeface="+mn-cs"/>
              </a:rPr>
              <a:t>。</a:t>
            </a:r>
          </a:p>
          <a:p>
            <a:r>
              <a:rPr lang="zh-TW" altLang="zh-TW" dirty="0"/>
              <a:t>因為 Transformer 的自注意力機制（Self-Attention）本身是「置換不變」的（把句子裡的字順序打亂，算出來的注意力分數完全一樣），所以必須在輸入端人工注入位置資訊。</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42113585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87461-455B-BEDB-76B5-75ACCB2C687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1879068-66F0-45C8-E23C-8864F6C70E5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74AD433-C54F-150C-EB90-6C30F289F391}"/>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低秩投影（Low-Rank Projection）</a:t>
            </a:r>
            <a:r>
              <a:rPr lang="zh-TW" altLang="zh-TW" sz="1200" b="0" u="none" strike="noStrike" kern="1200" dirty="0">
                <a:solidFill>
                  <a:schemeClr val="tx1"/>
                </a:solidFill>
                <a:effectLst/>
                <a:latin typeface="+mn-lt"/>
                <a:ea typeface="+mn-ea"/>
                <a:cs typeface="+mn-cs"/>
              </a:rPr>
              <a:t>是機器學習與大語言模型（LLM）中，用來</a:t>
            </a:r>
            <a:r>
              <a:rPr lang="zh-TW" altLang="zh-TW" sz="1200" b="1" u="none" strike="noStrike" kern="1200" dirty="0">
                <a:solidFill>
                  <a:schemeClr val="tx1"/>
                </a:solidFill>
                <a:effectLst/>
                <a:latin typeface="+mn-lt"/>
                <a:ea typeface="+mn-ea"/>
                <a:cs typeface="+mn-cs"/>
              </a:rPr>
              <a:t>「將高維度特徵極度壓縮、再還原」</a:t>
            </a:r>
            <a:r>
              <a:rPr lang="zh-TW" altLang="zh-TW" sz="1200" b="0" u="none" strike="noStrike" kern="1200" dirty="0">
                <a:solidFill>
                  <a:schemeClr val="tx1"/>
                </a:solidFill>
                <a:effectLst/>
                <a:latin typeface="+mn-lt"/>
                <a:ea typeface="+mn-ea"/>
                <a:cs typeface="+mn-cs"/>
              </a:rPr>
              <a:t>的核心數學技術。</a:t>
            </a:r>
          </a:p>
          <a:p>
            <a:r>
              <a:rPr lang="zh-TW" altLang="zh-TW" sz="1200" b="0" u="none" strike="noStrike" kern="1200" dirty="0">
                <a:solidFill>
                  <a:schemeClr val="tx1"/>
                </a:solidFill>
                <a:effectLst/>
                <a:latin typeface="+mn-lt"/>
                <a:ea typeface="+mn-ea"/>
                <a:cs typeface="+mn-cs"/>
              </a:rPr>
              <a:t>它的本質就是利用</a:t>
            </a:r>
            <a:r>
              <a:rPr lang="zh-TW" altLang="zh-TW" sz="1200" b="1" u="none" strike="noStrike" kern="1200" dirty="0">
                <a:solidFill>
                  <a:schemeClr val="tx1"/>
                </a:solidFill>
                <a:effectLst/>
                <a:latin typeface="+mn-lt"/>
                <a:ea typeface="+mn-ea"/>
                <a:cs typeface="+mn-cs"/>
              </a:rPr>
              <a:t>矩陣分解（Matrix Decomposition）</a:t>
            </a:r>
            <a:r>
              <a:rPr lang="zh-TW" altLang="zh-TW" sz="1200" b="0" u="none" strike="noStrike" kern="1200" dirty="0">
                <a:solidFill>
                  <a:schemeClr val="tx1"/>
                </a:solidFill>
                <a:effectLst/>
                <a:latin typeface="+mn-lt"/>
                <a:ea typeface="+mn-ea"/>
                <a:cs typeface="+mn-cs"/>
              </a:rPr>
              <a:t>，把一個原本體積巨大的矩陣，拆解成兩個或多個小矩陣的乘積，從而大幅減少計算量與記憶體佔用。</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核心數學原理</a:t>
            </a:r>
          </a:p>
          <a:p>
            <a:r>
              <a:rPr lang="zh-TW" altLang="zh-TW" sz="1200" b="0" u="none" strike="noStrike" kern="1200" dirty="0">
                <a:solidFill>
                  <a:schemeClr val="tx1"/>
                </a:solidFill>
                <a:effectLst/>
                <a:latin typeface="+mn-lt"/>
                <a:ea typeface="+mn-ea"/>
                <a:cs typeface="+mn-cs"/>
              </a:rPr>
              <a:t>假設你有一個尺寸為 d × d 的巨大特陣（例如大模型中的詞向量維度 d = 4096，那這個矩陣就有 4096 × 4096 = 1,677萬 個參數）。</a:t>
            </a:r>
          </a:p>
          <a:p>
            <a:pPr lvl="0"/>
            <a:r>
              <a:rPr lang="zh-TW" altLang="zh-TW" sz="1200" b="1" u="none" strike="noStrike" kern="1200" dirty="0">
                <a:solidFill>
                  <a:schemeClr val="tx1"/>
                </a:solidFill>
                <a:effectLst/>
                <a:latin typeface="+mn-lt"/>
                <a:ea typeface="+mn-ea"/>
                <a:cs typeface="+mn-cs"/>
              </a:rPr>
              <a:t>向下投影（Down-projection / 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d × r 的矩陣，把維度從 4096 壓到 128。這時特徵會被濃縮成一個高密度的「潛在向量（Latent Vector）」。</a:t>
            </a:r>
          </a:p>
          <a:p>
            <a:pPr lvl="0"/>
            <a:r>
              <a:rPr lang="zh-TW" altLang="zh-TW" sz="1200" b="1" u="none" strike="noStrike" kern="1200" dirty="0">
                <a:solidFill>
                  <a:schemeClr val="tx1"/>
                </a:solidFill>
                <a:effectLst/>
                <a:latin typeface="+mn-lt"/>
                <a:ea typeface="+mn-ea"/>
                <a:cs typeface="+mn-cs"/>
              </a:rPr>
              <a:t>向上投影（Up-projection / Decompression）：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r × d 的矩陣，在需要計算時，再把 128 維度放大回 4096。</a:t>
            </a:r>
          </a:p>
          <a:p>
            <a:r>
              <a:rPr lang="zh-TW" altLang="zh-TW" sz="1200" b="0" u="none" strike="noStrike" kern="1200" dirty="0">
                <a:solidFill>
                  <a:schemeClr val="tx1"/>
                </a:solidFill>
                <a:effectLst/>
                <a:latin typeface="+mn-lt"/>
                <a:ea typeface="+mn-ea"/>
                <a:cs typeface="+mn-cs"/>
              </a:rPr>
              <a:t>因為 r 遠小於 d，這就叫做</a:t>
            </a:r>
            <a:r>
              <a:rPr lang="zh-TW" altLang="zh-TW" sz="1200" b="1" u="none" strike="noStrike" kern="1200" dirty="0">
                <a:solidFill>
                  <a:schemeClr val="tx1"/>
                </a:solidFill>
                <a:effectLst/>
                <a:latin typeface="+mn-lt"/>
                <a:ea typeface="+mn-ea"/>
                <a:cs typeface="+mn-cs"/>
              </a:rPr>
              <a:t>低秩（Low-Rank）</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引進低秩前（直接計算）</a:t>
            </a:r>
            <a:r>
              <a:rPr lang="zh-TW" altLang="zh-TW" sz="1200" b="0" u="none" strike="noStrike" kern="1200" dirty="0">
                <a:solidFill>
                  <a:schemeClr val="tx1"/>
                </a:solidFill>
                <a:effectLst/>
                <a:latin typeface="+mn-lt"/>
                <a:ea typeface="+mn-ea"/>
                <a:cs typeface="+mn-cs"/>
              </a:rPr>
              <a:t>：參數量 = 4096 × 4096 ≈ 1,677 萬</a:t>
            </a:r>
          </a:p>
          <a:p>
            <a:pPr lvl="0"/>
            <a:r>
              <a:rPr lang="zh-TW" altLang="zh-TW" sz="1200" b="1" u="none" strike="noStrike" kern="1200" dirty="0">
                <a:solidFill>
                  <a:schemeClr val="tx1"/>
                </a:solidFill>
                <a:effectLst/>
                <a:latin typeface="+mn-lt"/>
                <a:ea typeface="+mn-ea"/>
                <a:cs typeface="+mn-cs"/>
              </a:rPr>
              <a:t>引進低秩後（拆成兩個）</a:t>
            </a:r>
            <a:r>
              <a:rPr lang="zh-TW" altLang="zh-TW" sz="1200" b="0" u="none" strike="noStrike" kern="1200" dirty="0">
                <a:solidFill>
                  <a:schemeClr val="tx1"/>
                </a:solidFill>
                <a:effectLst/>
                <a:latin typeface="+mn-lt"/>
                <a:ea typeface="+mn-ea"/>
                <a:cs typeface="+mn-cs"/>
              </a:rPr>
              <a:t>：參數量 = (4096 × 128) + (128 × 4096) ≈ 104 萬</a:t>
            </a:r>
          </a:p>
          <a:p>
            <a:pPr lvl="0"/>
            <a:r>
              <a:rPr lang="zh-TW" altLang="zh-TW" sz="1200" b="1" u="none" strike="noStrike" kern="1200" dirty="0">
                <a:solidFill>
                  <a:schemeClr val="tx1"/>
                </a:solidFill>
                <a:effectLst/>
                <a:latin typeface="+mn-lt"/>
                <a:ea typeface="+mn-ea"/>
                <a:cs typeface="+mn-cs"/>
              </a:rPr>
              <a:t>結果</a:t>
            </a:r>
            <a:r>
              <a:rPr lang="zh-TW" altLang="zh-TW" sz="1200" b="0" u="none" strike="noStrike" kern="1200" dirty="0">
                <a:solidFill>
                  <a:schemeClr val="tx1"/>
                </a:solidFill>
                <a:effectLst/>
                <a:latin typeface="+mn-lt"/>
                <a:ea typeface="+mn-ea"/>
                <a:cs typeface="+mn-cs"/>
              </a:rPr>
              <a:t>：記憶體與計算量直接暴減了 </a:t>
            </a:r>
            <a:r>
              <a:rPr lang="zh-TW" altLang="zh-TW" sz="1200" b="1" u="none" strike="noStrike" kern="1200" dirty="0">
                <a:solidFill>
                  <a:schemeClr val="tx1"/>
                </a:solidFill>
                <a:effectLst/>
                <a:latin typeface="+mn-lt"/>
                <a:ea typeface="+mn-ea"/>
                <a:cs typeface="+mn-cs"/>
              </a:rPr>
              <a:t>16 倍</a:t>
            </a:r>
            <a:r>
              <a:rPr lang="zh-TW" altLang="zh-TW" sz="1200" b="0" u="none" strike="noStrike" kern="1200" dirty="0">
                <a:solidFill>
                  <a:schemeClr val="tx1"/>
                </a:solidFill>
                <a:effectLst/>
                <a:latin typeface="+mn-lt"/>
                <a:ea typeface="+mn-ea"/>
                <a:cs typeface="+mn-cs"/>
              </a:rPr>
              <a:t>！</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為什麼大模型可以這樣做？（低秩假設）</a:t>
            </a:r>
          </a:p>
          <a:p>
            <a:r>
              <a:rPr lang="zh-TW" altLang="zh-TW" sz="1200" b="0" u="none" strike="noStrike" kern="1200" dirty="0">
                <a:solidFill>
                  <a:schemeClr val="tx1"/>
                </a:solidFill>
                <a:effectLst/>
                <a:latin typeface="+mn-lt"/>
                <a:ea typeface="+mn-ea"/>
                <a:cs typeface="+mn-cs"/>
              </a:rPr>
              <a:t>你可能會問：把 4096 維度壓到 128 維度，資訊不會全部漏光嗎？</a:t>
            </a:r>
          </a:p>
          <a:p>
            <a:r>
              <a:rPr lang="zh-TW" altLang="zh-TW" sz="1200" b="0" u="none" strike="noStrike" kern="1200" dirty="0">
                <a:solidFill>
                  <a:schemeClr val="tx1"/>
                </a:solidFill>
                <a:effectLst/>
                <a:latin typeface="+mn-lt"/>
                <a:ea typeface="+mn-ea"/>
                <a:cs typeface="+mn-cs"/>
              </a:rPr>
              <a:t>答案是：不會。因為在真實世界中，數據（如人類的語言）雖然表面上維度很高（高維空間），但它們背後真正起作用的「核心特徵」其實很少。大模型在處理語義時，很多維度是冗餘、重複或相關聯的。這在數學上稱為</a:t>
            </a:r>
            <a:r>
              <a:rPr lang="zh-TW" altLang="zh-TW" sz="1200" b="1" u="none" strike="noStrike" kern="1200" dirty="0">
                <a:solidFill>
                  <a:schemeClr val="tx1"/>
                </a:solidFill>
                <a:effectLst/>
                <a:latin typeface="+mn-lt"/>
                <a:ea typeface="+mn-ea"/>
                <a:cs typeface="+mn-cs"/>
              </a:rPr>
              <a:t>低秩假設（Low-Rank Hypothesis）</a:t>
            </a:r>
            <a:r>
              <a:rPr lang="zh-TW" altLang="zh-TW" sz="1200" b="0" u="none" strike="noStrike" kern="1200" dirty="0">
                <a:solidFill>
                  <a:schemeClr val="tx1"/>
                </a:solidFill>
                <a:effectLst/>
                <a:latin typeface="+mn-lt"/>
                <a:ea typeface="+mn-ea"/>
                <a:cs typeface="+mn-cs"/>
              </a:rPr>
              <a:t>。大模型只需要捕捉到那 128 個最核心的隱藏規律，就能完美還原原本的語義。</a:t>
            </a:r>
          </a:p>
          <a:p>
            <a:endParaRPr lang="en-US" altLang="zh-TW" dirty="0"/>
          </a:p>
          <a:p>
            <a:r>
              <a:rPr lang="zh-TW" altLang="zh-TW" sz="1200" b="1" u="none" strike="noStrike" kern="1200" dirty="0">
                <a:solidFill>
                  <a:schemeClr val="tx1"/>
                </a:solidFill>
                <a:effectLst/>
                <a:latin typeface="+mn-lt"/>
                <a:ea typeface="+mn-ea"/>
                <a:cs typeface="+mn-cs"/>
              </a:rPr>
              <a:t>3. 常見的熱門應用</a:t>
            </a:r>
          </a:p>
          <a:p>
            <a:r>
              <a:rPr lang="zh-TW" altLang="zh-TW" sz="1200" b="0" u="none" strike="noStrike" kern="1200" dirty="0">
                <a:solidFill>
                  <a:schemeClr val="tx1"/>
                </a:solidFill>
                <a:effectLst/>
                <a:latin typeface="+mn-lt"/>
                <a:ea typeface="+mn-ea"/>
                <a:cs typeface="+mn-cs"/>
              </a:rPr>
              <a:t>低秩投影是近代大模型得以走向「平民化」和「長文本化」的功臣，最著名的應用包括：</a:t>
            </a:r>
          </a:p>
          <a:p>
            <a:pPr lvl="0"/>
            <a:r>
              <a:rPr lang="zh-TW" altLang="zh-TW" sz="1200" b="1" u="none" strike="noStrike" kern="1200" dirty="0">
                <a:solidFill>
                  <a:schemeClr val="tx1"/>
                </a:solidFill>
                <a:effectLst/>
                <a:latin typeface="+mn-lt"/>
                <a:ea typeface="+mn-ea"/>
                <a:cs typeface="+mn-cs"/>
              </a:rPr>
              <a:t>LoRA (Low-Rank Adaptation) 微調技術</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在微調大模型時，凍結原本的幾百億參數（高秩），只在旁邊外掛兩個低秩投影的小矩陣（A 和 B）來訓練。讓一般人只用一張顯卡就能微調大模型。</a:t>
            </a:r>
          </a:p>
          <a:p>
            <a:pPr lvl="0"/>
            <a:r>
              <a:rPr lang="zh-TW" altLang="zh-TW" sz="1200" b="1" u="none" strike="noStrike" kern="1200" dirty="0">
                <a:solidFill>
                  <a:schemeClr val="tx1"/>
                </a:solidFill>
                <a:effectLst/>
                <a:latin typeface="+mn-lt"/>
                <a:ea typeface="+mn-ea"/>
                <a:cs typeface="+mn-cs"/>
              </a:rPr>
              <a:t>DeepSeek 的 MLA (Multi-head Latent Attention)</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這就是我們前面聊到的！傳統 Transformer 必須要把每個 Token 巨大的 KV 向量（高維）存進顯存（KV Cache）。DeepSeek 利用</a:t>
            </a:r>
            <a:r>
              <a:rPr lang="zh-TW" altLang="zh-TW" sz="1200" b="1" u="none" strike="noStrike" kern="1200" dirty="0">
                <a:solidFill>
                  <a:schemeClr val="tx1"/>
                </a:solidFill>
                <a:effectLst/>
                <a:latin typeface="+mn-lt"/>
                <a:ea typeface="+mn-ea"/>
                <a:cs typeface="+mn-cs"/>
              </a:rPr>
              <a:t>低秩投影</a:t>
            </a:r>
            <a:r>
              <a:rPr lang="zh-TW" altLang="zh-TW" sz="1200" b="0" u="none" strike="noStrike" kern="1200" dirty="0">
                <a:solidFill>
                  <a:schemeClr val="tx1"/>
                </a:solidFill>
                <a:effectLst/>
                <a:latin typeface="+mn-lt"/>
                <a:ea typeface="+mn-ea"/>
                <a:cs typeface="+mn-cs"/>
              </a:rPr>
              <a:t>，把所有 Token 的 KV 向量壓縮成一個極小的潛在向量存起來。等到要計算 Attention Score 時，再用向上投影矩陣</a:t>
            </a:r>
            <a:r>
              <a:rPr lang="zh-TW" altLang="zh-TW" sz="1200" b="1" u="none" strike="noStrike" kern="1200" dirty="0">
                <a:solidFill>
                  <a:schemeClr val="tx1"/>
                </a:solidFill>
                <a:effectLst/>
                <a:latin typeface="+mn-lt"/>
                <a:ea typeface="+mn-ea"/>
                <a:cs typeface="+mn-cs"/>
              </a:rPr>
              <a:t>「吸收（Absorb）」</a:t>
            </a:r>
            <a:r>
              <a:rPr lang="zh-TW" altLang="zh-TW" sz="1200" b="0" u="none" strike="noStrike" kern="1200" dirty="0">
                <a:solidFill>
                  <a:schemeClr val="tx1"/>
                </a:solidFill>
                <a:effectLst/>
                <a:latin typeface="+mn-lt"/>
                <a:ea typeface="+mn-ea"/>
                <a:cs typeface="+mn-cs"/>
              </a:rPr>
              <a:t>還原。這正是 NoPE 技術存在的前提。</a:t>
            </a: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低秩投影就像是</a:t>
            </a:r>
            <a:r>
              <a:rPr lang="zh-TW" altLang="zh-TW" sz="1200" b="1" u="none" strike="noStrike" kern="1200" dirty="0">
                <a:solidFill>
                  <a:schemeClr val="tx1"/>
                </a:solidFill>
                <a:effectLst/>
                <a:latin typeface="+mn-lt"/>
                <a:ea typeface="+mn-ea"/>
                <a:cs typeface="+mn-cs"/>
              </a:rPr>
              <a:t>「把 4K 高清影片壓縮成 MP4 檔案儲存（Down-projection），播放時再透過解碼器在螢幕上流暢渲染（Up-projection）」</a:t>
            </a:r>
            <a:r>
              <a:rPr lang="zh-TW" altLang="zh-TW" sz="1200" b="0" u="none" strike="noStrike" kern="1200" dirty="0">
                <a:solidFill>
                  <a:schemeClr val="tx1"/>
                </a:solidFill>
                <a:effectLst/>
                <a:latin typeface="+mn-lt"/>
                <a:ea typeface="+mn-ea"/>
                <a:cs typeface="+mn-cs"/>
              </a:rPr>
              <a:t>。它用極小的精度損失，換取了驚人的速度與空間。</a:t>
            </a:r>
          </a:p>
          <a:p>
            <a:endParaRPr lang="zh-TW" altLang="zh-TW" dirty="0"/>
          </a:p>
        </p:txBody>
      </p:sp>
      <p:sp>
        <p:nvSpPr>
          <p:cNvPr id="4" name="投影片編號版面配置區 3">
            <a:extLst>
              <a:ext uri="{FF2B5EF4-FFF2-40B4-BE49-F238E27FC236}">
                <a16:creationId xmlns:a16="http://schemas.microsoft.com/office/drawing/2014/main" id="{CA6E37FD-9424-18B4-0B03-40E88DF731AE}"/>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8723904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在程式碼實作中，LoRA 凍結原始模型權重的方式非常直接：</a:t>
            </a:r>
            <a:r>
              <a:rPr lang="zh-TW" altLang="zh-TW" sz="1200" b="1" u="none" strike="noStrike" kern="1200" dirty="0">
                <a:solidFill>
                  <a:schemeClr val="tx1"/>
                </a:solidFill>
                <a:effectLst/>
                <a:latin typeface="+mn-lt"/>
                <a:ea typeface="+mn-ea"/>
                <a:cs typeface="+mn-cs"/>
              </a:rPr>
              <a:t>將原始模型所有層的參數設定為「不計算梯度」（requires_grad = False）</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當你使用 Hugging Face 的 peft 函式庫時，底層的運作邏輯如下：</a:t>
            </a:r>
          </a:p>
          <a:p>
            <a:r>
              <a:rPr lang="zh-TW" altLang="zh-TW" sz="1200" b="1" u="none" strike="noStrike" kern="1200" dirty="0">
                <a:solidFill>
                  <a:schemeClr val="tx1"/>
                </a:solidFill>
                <a:effectLst/>
                <a:latin typeface="+mn-lt"/>
                <a:ea typeface="+mn-ea"/>
                <a:cs typeface="+mn-cs"/>
              </a:rPr>
              <a:t>🛠 核心實作三步驟</a:t>
            </a:r>
          </a:p>
          <a:p>
            <a:pPr lvl="0"/>
            <a:r>
              <a:rPr lang="zh-TW" altLang="zh-TW" sz="1200" b="1" u="none" strike="noStrike" kern="1200" dirty="0">
                <a:solidFill>
                  <a:schemeClr val="tx1"/>
                </a:solidFill>
                <a:effectLst/>
                <a:latin typeface="+mn-lt"/>
                <a:ea typeface="+mn-ea"/>
                <a:cs typeface="+mn-cs"/>
              </a:rPr>
              <a:t>步驟一：凍結全部 (Freeze All)</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遍歷原始模型（如 LLaMA 或 SVD）的所有參數，將它們的 requires_grad 屬性全部設為 False。此時反向傳播不會計算這些參數的梯度，記憶體（顯存）大解放。</a:t>
            </a:r>
          </a:p>
          <a:p>
            <a:pPr lvl="0"/>
            <a:r>
              <a:rPr lang="zh-TW" altLang="zh-TW" sz="1200" b="1" u="none" strike="noStrike" kern="1200" dirty="0">
                <a:solidFill>
                  <a:schemeClr val="tx1"/>
                </a:solidFill>
                <a:effectLst/>
                <a:latin typeface="+mn-lt"/>
                <a:ea typeface="+mn-ea"/>
                <a:cs typeface="+mn-cs"/>
              </a:rPr>
              <a:t>步驟二：注入 LoRA 旁路 (Inject Layers)</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在指定的線性層（Linear Layers）旁邊，外掛 A 和 B 兩個低秩矩陣。</a:t>
            </a:r>
          </a:p>
          <a:p>
            <a:pPr lvl="0"/>
            <a:r>
              <a:rPr lang="zh-TW" altLang="zh-TW" sz="1200" b="1" u="none" strike="noStrike" kern="1200" dirty="0">
                <a:solidFill>
                  <a:schemeClr val="tx1"/>
                </a:solidFill>
                <a:effectLst/>
                <a:latin typeface="+mn-lt"/>
                <a:ea typeface="+mn-ea"/>
                <a:cs typeface="+mn-cs"/>
              </a:rPr>
              <a:t>步驟三：單獨激活 (Activate LoRA)</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將這兩個新加入的 A 和 B 矩陣參數，其 requires_grad 屬性設定為 True。</a:t>
            </a:r>
          </a:p>
          <a:p>
            <a:endParaRPr lang="zh-TW" altLang="zh-TW" dirty="0"/>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39</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40</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41</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42</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47</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48</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2026/9/7</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2026/9/7</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0.pn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0.png"/><Relationship Id="rId9" Type="http://schemas.openxmlformats.org/officeDocument/2006/relationships/image" Target="../media/image22.png"/><Relationship Id="rId1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20.svg"/></Relationships>
</file>

<file path=ppt/slides/_rels/slide1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0.png"/><Relationship Id="rId7" Type="http://schemas.openxmlformats.org/officeDocument/2006/relationships/image" Target="../media/image43.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18.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7.png"/><Relationship Id="rId4" Type="http://schemas.openxmlformats.org/officeDocument/2006/relationships/image" Target="../media/image46.png"/></Relationships>
</file>

<file path=ppt/slides/_rels/slide20.xml.rels><?xml version="1.0" encoding="UTF-8" standalone="yes"?>
<Relationships xmlns="http://schemas.openxmlformats.org/package/2006/relationships"><Relationship Id="rId3" Type="http://schemas.openxmlformats.org/officeDocument/2006/relationships/image" Target="../media/image48.svg"/><Relationship Id="rId7" Type="http://schemas.openxmlformats.org/officeDocument/2006/relationships/image" Target="../media/image52.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51.png"/><Relationship Id="rId5" Type="http://schemas.openxmlformats.org/officeDocument/2006/relationships/image" Target="../media/image50.svg"/><Relationship Id="rId4" Type="http://schemas.openxmlformats.org/officeDocument/2006/relationships/image" Target="../media/image49.png"/></Relationships>
</file>

<file path=ppt/slides/_rels/slide2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55.jp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8" Type="http://schemas.openxmlformats.org/officeDocument/2006/relationships/image" Target="../media/image63.svg"/><Relationship Id="rId3" Type="http://schemas.openxmlformats.org/officeDocument/2006/relationships/image" Target="../media/image58.svg"/><Relationship Id="rId7" Type="http://schemas.openxmlformats.org/officeDocument/2006/relationships/image" Target="../media/image62.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1.svg"/><Relationship Id="rId5" Type="http://schemas.openxmlformats.org/officeDocument/2006/relationships/image" Target="../media/image60.png"/><Relationship Id="rId10" Type="http://schemas.openxmlformats.org/officeDocument/2006/relationships/image" Target="../media/image65.svg"/><Relationship Id="rId4" Type="http://schemas.openxmlformats.org/officeDocument/2006/relationships/image" Target="../media/image59.svg"/><Relationship Id="rId9" Type="http://schemas.openxmlformats.org/officeDocument/2006/relationships/image" Target="../media/image64.svg"/></Relationships>
</file>

<file path=ppt/slides/_rels/slide26.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59.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7.svg"/><Relationship Id="rId5" Type="http://schemas.openxmlformats.org/officeDocument/2006/relationships/image" Target="../media/image66.svg"/><Relationship Id="rId4" Type="http://schemas.openxmlformats.org/officeDocument/2006/relationships/image" Target="../media/image61.svg"/></Relationships>
</file>

<file path=ppt/slides/_rels/slide2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69.svg"/></Relationships>
</file>

<file path=ppt/slides/_rels/slide2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71.png"/><Relationship Id="rId1" Type="http://schemas.openxmlformats.org/officeDocument/2006/relationships/slideLayout" Target="../slideLayouts/slideLayout3.xml"/><Relationship Id="rId4" Type="http://schemas.openxmlformats.org/officeDocument/2006/relationships/image" Target="../media/image72.jpeg"/></Relationships>
</file>

<file path=ppt/slides/_rels/slide29.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73.png"/><Relationship Id="rId7" Type="http://schemas.openxmlformats.org/officeDocument/2006/relationships/image" Target="../media/image77.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jpeg"/></Relationships>
</file>

<file path=ppt/slides/_rels/slide30.xml.rels><?xml version="1.0" encoding="UTF-8" standalone="yes"?>
<Relationships xmlns="http://schemas.openxmlformats.org/package/2006/relationships"><Relationship Id="rId3" Type="http://schemas.openxmlformats.org/officeDocument/2006/relationships/image" Target="../media/image78.sv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9.svg"/></Relationships>
</file>

<file path=ppt/slides/_rels/slide31.xml.rels><?xml version="1.0" encoding="UTF-8" standalone="yes"?>
<Relationships xmlns="http://schemas.openxmlformats.org/package/2006/relationships"><Relationship Id="rId3" Type="http://schemas.openxmlformats.org/officeDocument/2006/relationships/image" Target="../media/image80.svg"/><Relationship Id="rId7" Type="http://schemas.openxmlformats.org/officeDocument/2006/relationships/image" Target="../media/image84.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83.svg"/><Relationship Id="rId5" Type="http://schemas.openxmlformats.org/officeDocument/2006/relationships/image" Target="../media/image82.svg"/><Relationship Id="rId4" Type="http://schemas.openxmlformats.org/officeDocument/2006/relationships/image" Target="../media/image81.svg"/></Relationships>
</file>

<file path=ppt/slides/_rels/slide32.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86.png"/></Relationships>
</file>

<file path=ppt/slides/_rels/slide33.xml.rels><?xml version="1.0" encoding="UTF-8" standalone="yes"?>
<Relationships xmlns="http://schemas.openxmlformats.org/package/2006/relationships"><Relationship Id="rId3" Type="http://schemas.openxmlformats.org/officeDocument/2006/relationships/hyperlink" Target="https://x.com/googlegemma/status/2051694045869879749" TargetMode="External"/><Relationship Id="rId2" Type="http://schemas.openxmlformats.org/officeDocument/2006/relationships/image" Target="../media/image87.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34.xml"/><Relationship Id="rId1" Type="http://schemas.openxmlformats.org/officeDocument/2006/relationships/slideLayout" Target="../slideLayouts/slideLayout3.xml"/><Relationship Id="rId5" Type="http://schemas.openxmlformats.org/officeDocument/2006/relationships/image" Target="../media/image89.png"/><Relationship Id="rId4" Type="http://schemas.openxmlformats.org/officeDocument/2006/relationships/hyperlink" Target="https://deepswe.datacurve.ai/"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5.xml"/><Relationship Id="rId1" Type="http://schemas.openxmlformats.org/officeDocument/2006/relationships/slideLayout" Target="../slideLayouts/slideLayout3.xml"/><Relationship Id="rId5" Type="http://schemas.openxmlformats.org/officeDocument/2006/relationships/image" Target="../media/image92.png"/><Relationship Id="rId4" Type="http://schemas.openxmlformats.org/officeDocument/2006/relationships/image" Target="../media/image91.png"/></Relationships>
</file>

<file path=ppt/slides/_rels/slide4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36.xml"/><Relationship Id="rId1" Type="http://schemas.openxmlformats.org/officeDocument/2006/relationships/slideLayout" Target="../slideLayouts/slideLayout3.xml"/><Relationship Id="rId6" Type="http://schemas.openxmlformats.org/officeDocument/2006/relationships/image" Target="../media/image95.png"/><Relationship Id="rId5" Type="http://schemas.openxmlformats.org/officeDocument/2006/relationships/image" Target="../media/image94.png"/><Relationship Id="rId4" Type="http://schemas.openxmlformats.org/officeDocument/2006/relationships/hyperlink" Target="https://arena.ai/leaderboard/text/pareto" TargetMode="External"/></Relationships>
</file>

<file path=ppt/slides/_rels/slide42.xml.rels><?xml version="1.0" encoding="UTF-8" standalone="yes"?>
<Relationships xmlns="http://schemas.openxmlformats.org/package/2006/relationships"><Relationship Id="rId8" Type="http://schemas.openxmlformats.org/officeDocument/2006/relationships/image" Target="../media/image96.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100.png"/><Relationship Id="rId2" Type="http://schemas.openxmlformats.org/officeDocument/2006/relationships/notesSlide" Target="../notesSlides/notesSlide37.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9.png"/><Relationship Id="rId5" Type="http://schemas.openxmlformats.org/officeDocument/2006/relationships/image" Target="../media/image3.png"/><Relationship Id="rId10" Type="http://schemas.openxmlformats.org/officeDocument/2006/relationships/image" Target="../media/image98.png"/><Relationship Id="rId4" Type="http://schemas.openxmlformats.org/officeDocument/2006/relationships/image" Target="../media/image2.png"/><Relationship Id="rId9" Type="http://schemas.openxmlformats.org/officeDocument/2006/relationships/image" Target="../media/image97.png"/></Relationships>
</file>

<file path=ppt/slides/_rels/slide43.xml.rels><?xml version="1.0" encoding="UTF-8" standalone="yes"?>
<Relationships xmlns="http://schemas.openxmlformats.org/package/2006/relationships"><Relationship Id="rId3" Type="http://schemas.openxmlformats.org/officeDocument/2006/relationships/image" Target="../media/image102.png"/><Relationship Id="rId7" Type="http://schemas.openxmlformats.org/officeDocument/2006/relationships/image" Target="../media/image71.png"/><Relationship Id="rId2" Type="http://schemas.openxmlformats.org/officeDocument/2006/relationships/image" Target="../media/image101.png"/><Relationship Id="rId1" Type="http://schemas.openxmlformats.org/officeDocument/2006/relationships/slideLayout" Target="../slideLayouts/slideLayout3.xml"/><Relationship Id="rId6" Type="http://schemas.openxmlformats.org/officeDocument/2006/relationships/image" Target="../media/image72.jpeg"/><Relationship Id="rId5" Type="http://schemas.openxmlformats.org/officeDocument/2006/relationships/image" Target="../media/image60.png"/><Relationship Id="rId4" Type="http://schemas.openxmlformats.org/officeDocument/2006/relationships/image" Target="../media/image103.png"/></Relationships>
</file>

<file path=ppt/slides/_rels/slide44.xml.rels><?xml version="1.0" encoding="UTF-8" standalone="yes"?>
<Relationships xmlns="http://schemas.openxmlformats.org/package/2006/relationships"><Relationship Id="rId2" Type="http://schemas.openxmlformats.org/officeDocument/2006/relationships/image" Target="../media/image72.jpeg"/><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4.xml"/><Relationship Id="rId5" Type="http://schemas.openxmlformats.org/officeDocument/2006/relationships/image" Target="../media/image107.png"/><Relationship Id="rId4" Type="http://schemas.openxmlformats.org/officeDocument/2006/relationships/image" Target="../media/image106.png"/></Relationships>
</file>

<file path=ppt/slides/_rels/slide46.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4.xml"/><Relationship Id="rId5" Type="http://schemas.openxmlformats.org/officeDocument/2006/relationships/image" Target="../media/image111.png"/><Relationship Id="rId4" Type="http://schemas.openxmlformats.org/officeDocument/2006/relationships/image" Target="../media/image110.png"/></Relationships>
</file>

<file path=ppt/slides/_rels/slide47.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2.png"/><Relationship Id="rId7" Type="http://schemas.openxmlformats.org/officeDocument/2006/relationships/image" Target="../media/image115.png"/><Relationship Id="rId2" Type="http://schemas.openxmlformats.org/officeDocument/2006/relationships/notesSlide" Target="../notesSlides/notesSlide38.xml"/><Relationship Id="rId1" Type="http://schemas.openxmlformats.org/officeDocument/2006/relationships/slideLayout" Target="../slideLayouts/slideLayout4.xml"/><Relationship Id="rId6" Type="http://schemas.openxmlformats.org/officeDocument/2006/relationships/image" Target="../media/image114.png"/><Relationship Id="rId5" Type="http://schemas.openxmlformats.org/officeDocument/2006/relationships/image" Target="../media/image2300.png"/><Relationship Id="rId4" Type="http://schemas.openxmlformats.org/officeDocument/2006/relationships/image" Target="../media/image113.png"/></Relationships>
</file>

<file path=ppt/slides/_rels/slide48.xml.rels><?xml version="1.0" encoding="UTF-8" standalone="yes"?>
<Relationships xmlns="http://schemas.openxmlformats.org/package/2006/relationships"><Relationship Id="rId8" Type="http://schemas.openxmlformats.org/officeDocument/2006/relationships/image" Target="../media/image122.png"/><Relationship Id="rId3" Type="http://schemas.openxmlformats.org/officeDocument/2006/relationships/image" Target="../media/image117.png"/><Relationship Id="rId7" Type="http://schemas.openxmlformats.org/officeDocument/2006/relationships/image" Target="../media/image121.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120.png"/><Relationship Id="rId5" Type="http://schemas.openxmlformats.org/officeDocument/2006/relationships/image" Target="../media/image119.png"/><Relationship Id="rId4" Type="http://schemas.openxmlformats.org/officeDocument/2006/relationships/image" Target="../media/image118.png"/><Relationship Id="rId9" Type="http://schemas.openxmlformats.org/officeDocument/2006/relationships/image" Target="../media/image1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353582182"/>
              </p:ext>
            </p:extLst>
          </p:nvPr>
        </p:nvGraphicFramePr>
        <p:xfrm>
          <a:off x="467544" y="908720"/>
          <a:ext cx="8208915" cy="5162641"/>
        </p:xfrm>
        <a:graphic>
          <a:graphicData uri="http://schemas.openxmlformats.org/drawingml/2006/table">
            <a:tbl>
              <a:tblPr firstRow="1" bandRow="1">
                <a:tableStyleId>{5C22544A-7EE6-4342-B048-85BDC9FD1C3A}</a:tableStyleId>
              </a:tblPr>
              <a:tblGrid>
                <a:gridCol w="452323">
                  <a:extLst>
                    <a:ext uri="{9D8B030D-6E8A-4147-A177-3AD203B41FA5}">
                      <a16:colId xmlns:a16="http://schemas.microsoft.com/office/drawing/2014/main" val="3115215194"/>
                    </a:ext>
                  </a:extLst>
                </a:gridCol>
                <a:gridCol w="1083586">
                  <a:extLst>
                    <a:ext uri="{9D8B030D-6E8A-4147-A177-3AD203B41FA5}">
                      <a16:colId xmlns:a16="http://schemas.microsoft.com/office/drawing/2014/main" val="2438358024"/>
                    </a:ext>
                  </a:extLst>
                </a:gridCol>
                <a:gridCol w="938612">
                  <a:extLst>
                    <a:ext uri="{9D8B030D-6E8A-4147-A177-3AD203B41FA5}">
                      <a16:colId xmlns:a16="http://schemas.microsoft.com/office/drawing/2014/main" val="4024420245"/>
                    </a:ext>
                  </a:extLst>
                </a:gridCol>
                <a:gridCol w="938612">
                  <a:extLst>
                    <a:ext uri="{9D8B030D-6E8A-4147-A177-3AD203B41FA5}">
                      <a16:colId xmlns:a16="http://schemas.microsoft.com/office/drawing/2014/main" val="1885199976"/>
                    </a:ext>
                  </a:extLst>
                </a:gridCol>
                <a:gridCol w="938612">
                  <a:extLst>
                    <a:ext uri="{9D8B030D-6E8A-4147-A177-3AD203B41FA5}">
                      <a16:colId xmlns:a16="http://schemas.microsoft.com/office/drawing/2014/main" val="2600189719"/>
                    </a:ext>
                  </a:extLst>
                </a:gridCol>
                <a:gridCol w="1041335">
                  <a:extLst>
                    <a:ext uri="{9D8B030D-6E8A-4147-A177-3AD203B41FA5}">
                      <a16:colId xmlns:a16="http://schemas.microsoft.com/office/drawing/2014/main" val="459902815"/>
                    </a:ext>
                  </a:extLst>
                </a:gridCol>
                <a:gridCol w="1041335">
                  <a:extLst>
                    <a:ext uri="{9D8B030D-6E8A-4147-A177-3AD203B41FA5}">
                      <a16:colId xmlns:a16="http://schemas.microsoft.com/office/drawing/2014/main" val="4019554014"/>
                    </a:ext>
                  </a:extLst>
                </a:gridCol>
                <a:gridCol w="835888">
                  <a:extLst>
                    <a:ext uri="{9D8B030D-6E8A-4147-A177-3AD203B41FA5}">
                      <a16:colId xmlns:a16="http://schemas.microsoft.com/office/drawing/2014/main" val="1289474231"/>
                    </a:ext>
                  </a:extLst>
                </a:gridCol>
                <a:gridCol w="938612">
                  <a:extLst>
                    <a:ext uri="{9D8B030D-6E8A-4147-A177-3AD203B41FA5}">
                      <a16:colId xmlns:a16="http://schemas.microsoft.com/office/drawing/2014/main" val="2173516547"/>
                    </a:ext>
                  </a:extLst>
                </a:gridCol>
              </a:tblGrid>
              <a:tr h="281591">
                <a:tc gridSpan="9">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624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2015</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RSN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97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MLA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1748438"/>
                  </a:ext>
                </a:extLst>
              </a:tr>
              <a:tr h="21989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526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5796025"/>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5172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22045">
                <a:tc gridSpan="9">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Kimi K3,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473367" y="609329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265460" y="6093296"/>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139803" y="6093296"/>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511172" y="6093296"/>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499814" y="2276872"/>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499814" y="1848212"/>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596336"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596336"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596336"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381840" y="5895776"/>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75959" y="544587"/>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1835696" y="6120308"/>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2" name="橢圓 1">
            <a:extLst>
              <a:ext uri="{FF2B5EF4-FFF2-40B4-BE49-F238E27FC236}">
                <a16:creationId xmlns:a16="http://schemas.microsoft.com/office/drawing/2014/main" id="{58FCC1D3-CB19-6525-2CEC-E0FFC7808DAA}"/>
              </a:ext>
            </a:extLst>
          </p:cNvPr>
          <p:cNvSpPr/>
          <p:nvPr/>
        </p:nvSpPr>
        <p:spPr>
          <a:xfrm>
            <a:off x="7151290" y="64811"/>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AI</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5" name="橢圓 4">
            <a:extLst>
              <a:ext uri="{FF2B5EF4-FFF2-40B4-BE49-F238E27FC236}">
                <a16:creationId xmlns:a16="http://schemas.microsoft.com/office/drawing/2014/main" id="{7B937A27-6075-35E6-8CE6-9DE516AEDFCB}"/>
              </a:ext>
            </a:extLst>
          </p:cNvPr>
          <p:cNvSpPr/>
          <p:nvPr/>
        </p:nvSpPr>
        <p:spPr>
          <a:xfrm>
            <a:off x="7386703" y="377756"/>
            <a:ext cx="1012726" cy="103502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7" name="橢圓 6">
            <a:extLst>
              <a:ext uri="{FF2B5EF4-FFF2-40B4-BE49-F238E27FC236}">
                <a16:creationId xmlns:a16="http://schemas.microsoft.com/office/drawing/2014/main" id="{4A1EEFD0-FAA8-1BA6-678F-0C8999245900}"/>
              </a:ext>
            </a:extLst>
          </p:cNvPr>
          <p:cNvSpPr/>
          <p:nvPr/>
        </p:nvSpPr>
        <p:spPr>
          <a:xfrm>
            <a:off x="7710739" y="905421"/>
            <a:ext cx="364654" cy="363339"/>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DL</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1382004302"/>
              </p:ext>
            </p:extLst>
          </p:nvPr>
        </p:nvGraphicFramePr>
        <p:xfrm>
          <a:off x="5490780" y="443711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47463446"/>
              </p:ext>
            </p:extLst>
          </p:nvPr>
        </p:nvGraphicFramePr>
        <p:xfrm>
          <a:off x="4410659" y="5301208"/>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28803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a:off x="4851370" y="4149080"/>
            <a:ext cx="0" cy="107690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915620249"/>
              </p:ext>
            </p:extLst>
          </p:nvPr>
        </p:nvGraphicFramePr>
        <p:xfrm>
          <a:off x="2621428" y="5013176"/>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86409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2D9BD50B-577F-B4B4-A220-E73A646B5989}"/>
              </a:ext>
            </a:extLst>
          </p:cNvPr>
          <p:cNvGraphicFramePr>
            <a:graphicFrameLocks noGrp="1"/>
          </p:cNvGraphicFramePr>
          <p:nvPr>
            <p:extLst>
              <p:ext uri="{D42A27DB-BD31-4B8C-83A1-F6EECF244321}">
                <p14:modId xmlns:p14="http://schemas.microsoft.com/office/powerpoint/2010/main" val="2533785094"/>
              </p:ext>
            </p:extLst>
          </p:nvPr>
        </p:nvGraphicFramePr>
        <p:xfrm>
          <a:off x="3485298" y="6093296"/>
          <a:ext cx="1366071" cy="395501"/>
        </p:xfrm>
        <a:graphic>
          <a:graphicData uri="http://schemas.openxmlformats.org/drawingml/2006/table">
            <a:tbl>
              <a:tblPr firstRow="1" bandRow="1">
                <a:tableStyleId>{5C22544A-7EE6-4342-B048-85BDC9FD1C3A}</a:tableStyleId>
              </a:tblPr>
              <a:tblGrid>
                <a:gridCol w="1366071">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On-Policy Distillation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 (PPO/GRPO)</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1122051268"/>
              </p:ext>
            </p:extLst>
          </p:nvPr>
        </p:nvGraphicFramePr>
        <p:xfrm>
          <a:off x="7022636" y="4375409"/>
          <a:ext cx="1005748" cy="594408"/>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369529">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cxnSp>
        <p:nvCxnSpPr>
          <p:cNvPr id="18" name="直線單箭頭接點 17">
            <a:extLst>
              <a:ext uri="{FF2B5EF4-FFF2-40B4-BE49-F238E27FC236}">
                <a16:creationId xmlns:a16="http://schemas.microsoft.com/office/drawing/2014/main" id="{88021678-B509-2729-868F-CB4CCC276C52}"/>
              </a:ext>
            </a:extLst>
          </p:cNvPr>
          <p:cNvCxnSpPr>
            <a:cxnSpLocks/>
            <a:stCxn id="32" idx="2"/>
            <a:endCxn id="34"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4384151F-FC65-7879-6037-7998E8B5865E}"/>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8" name="矩形 27">
            <a:extLst>
              <a:ext uri="{FF2B5EF4-FFF2-40B4-BE49-F238E27FC236}">
                <a16:creationId xmlns:a16="http://schemas.microsoft.com/office/drawing/2014/main" id="{8B2CFC32-B4FC-5A53-A12B-A62E6642F669}"/>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087EAF49-76A4-9855-A6DB-9CB73E1F2CF1}"/>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2" name="矩形 31">
            <a:extLst>
              <a:ext uri="{FF2B5EF4-FFF2-40B4-BE49-F238E27FC236}">
                <a16:creationId xmlns:a16="http://schemas.microsoft.com/office/drawing/2014/main" id="{457242D4-BBEF-C76A-3C77-93F7F10AB31A}"/>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4" name="矩形 33">
            <a:extLst>
              <a:ext uri="{FF2B5EF4-FFF2-40B4-BE49-F238E27FC236}">
                <a16:creationId xmlns:a16="http://schemas.microsoft.com/office/drawing/2014/main" id="{A27308F5-3E88-93D0-5F86-AD6D42162455}"/>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2765FB0B-B169-4129-2ACA-239130B0C4E2}"/>
              </a:ext>
            </a:extLst>
          </p:cNvPr>
          <p:cNvPicPr>
            <a:picLocks noChangeAspect="1"/>
          </p:cNvPicPr>
          <p:nvPr/>
        </p:nvPicPr>
        <p:blipFill>
          <a:blip r:embed="rId2"/>
          <a:stretch>
            <a:fillRect/>
          </a:stretch>
        </p:blipFill>
        <p:spPr>
          <a:xfrm>
            <a:off x="899592" y="116632"/>
            <a:ext cx="6219650" cy="2990022"/>
          </a:xfrm>
          <a:prstGeom prst="rect">
            <a:avLst/>
          </a:prstGeom>
        </p:spPr>
      </p:pic>
    </p:spTree>
    <p:extLst>
      <p:ext uri="{BB962C8B-B14F-4D97-AF65-F5344CB8AC3E}">
        <p14:creationId xmlns:p14="http://schemas.microsoft.com/office/powerpoint/2010/main" val="1828967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96F189B-CCA9-A190-9342-DFE45EE39B14}"/>
              </a:ext>
            </a:extLst>
          </p:cNvPr>
          <p:cNvPicPr>
            <a:picLocks noChangeAspect="1"/>
          </p:cNvPicPr>
          <p:nvPr/>
        </p:nvPicPr>
        <p:blipFill>
          <a:blip r:embed="rId3"/>
          <a:stretch>
            <a:fillRect/>
          </a:stretch>
        </p:blipFill>
        <p:spPr>
          <a:xfrm>
            <a:off x="3176392" y="2390630"/>
            <a:ext cx="2791215" cy="2076740"/>
          </a:xfrm>
          <a:prstGeom prst="rect">
            <a:avLst/>
          </a:prstGeom>
        </p:spPr>
      </p:pic>
      <p:sp>
        <p:nvSpPr>
          <p:cNvPr id="5" name="文字方塊 4">
            <a:extLst>
              <a:ext uri="{FF2B5EF4-FFF2-40B4-BE49-F238E27FC236}">
                <a16:creationId xmlns:a16="http://schemas.microsoft.com/office/drawing/2014/main" id="{ACDF7882-DCFE-49CC-16BA-3B03F5D9EC4F}"/>
              </a:ext>
            </a:extLst>
          </p:cNvPr>
          <p:cNvSpPr txBox="1"/>
          <p:nvPr/>
        </p:nvSpPr>
        <p:spPr>
          <a:xfrm>
            <a:off x="395536" y="260648"/>
            <a:ext cx="8352928" cy="797975"/>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1. 編碼公式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原始 Transformer 是直接在輸入的詞向量（Word Embedding）上，</a:t>
            </a:r>
            <a:r>
              <a:rPr lang="zh-TW" altLang="zh-TW" sz="1100" b="1" u="none" strike="noStrike" dirty="0">
                <a:effectLst/>
                <a:latin typeface="微軟正黑體" panose="020B0604030504040204" pitchFamily="34" charset="-120"/>
                <a:ea typeface="微軟正黑體" panose="020B0604030504040204" pitchFamily="34" charset="-120"/>
              </a:rPr>
              <a:t>「逐個維度相加」</a:t>
            </a:r>
            <a:r>
              <a:rPr lang="zh-TW" altLang="zh-TW" sz="1100" b="0" u="none" strike="noStrike" dirty="0">
                <a:effectLst/>
                <a:latin typeface="微軟正黑體" panose="020B0604030504040204" pitchFamily="34" charset="-120"/>
                <a:ea typeface="微軟正黑體" panose="020B0604030504040204" pitchFamily="34" charset="-120"/>
              </a:rPr>
              <a:t>一個固定計算出來的位置向量。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對於句子中第 pos 個位置的字，它對應的編碼向量中第 i 個維度的計算公式如下：</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en-US" altLang="zh-TW" sz="1100" b="0" u="none" strike="noStrike" dirty="0">
                <a:effectLst/>
                <a:latin typeface="微軟正黑體" panose="020B0604030504040204" pitchFamily="34" charset="-120"/>
                <a:ea typeface="微軟正黑體" panose="020B0604030504040204" pitchFamily="34" charset="-120"/>
              </a:rPr>
              <a:t>.</a:t>
            </a:r>
            <a:endParaRPr lang="zh-TW" altLang="zh-TW" sz="1100" b="0" u="none" strike="noStrike" dirty="0">
              <a:effectLst/>
              <a:latin typeface="微軟正黑體" panose="020B0604030504040204" pitchFamily="34" charset="-120"/>
              <a:ea typeface="微軟正黑體" panose="020B0604030504040204" pitchFamily="34" charset="-120"/>
            </a:endParaRPr>
          </a:p>
        </p:txBody>
      </p:sp>
      <p:pic>
        <p:nvPicPr>
          <p:cNvPr id="7" name="圖片 6">
            <a:extLst>
              <a:ext uri="{FF2B5EF4-FFF2-40B4-BE49-F238E27FC236}">
                <a16:creationId xmlns:a16="http://schemas.microsoft.com/office/drawing/2014/main" id="{2179AD0A-1E04-6EE4-D5EC-F1355DDD6210}"/>
              </a:ext>
            </a:extLst>
          </p:cNvPr>
          <p:cNvPicPr>
            <a:picLocks noChangeAspect="1"/>
          </p:cNvPicPr>
          <p:nvPr/>
        </p:nvPicPr>
        <p:blipFill>
          <a:blip r:embed="rId4"/>
          <a:stretch>
            <a:fillRect/>
          </a:stretch>
        </p:blipFill>
        <p:spPr>
          <a:xfrm>
            <a:off x="1509284" y="4485279"/>
            <a:ext cx="6125430" cy="1333686"/>
          </a:xfrm>
          <a:prstGeom prst="rect">
            <a:avLst/>
          </a:prstGeom>
        </p:spPr>
      </p:pic>
    </p:spTree>
    <p:extLst>
      <p:ext uri="{BB962C8B-B14F-4D97-AF65-F5344CB8AC3E}">
        <p14:creationId xmlns:p14="http://schemas.microsoft.com/office/powerpoint/2010/main" val="36304154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2806820480"/>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1152780543"/>
              </p:ext>
            </p:extLst>
          </p:nvPr>
        </p:nvGraphicFramePr>
        <p:xfrm>
          <a:off x="539552" y="2708920"/>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1" name="接點: 弧形 20">
            <a:extLst>
              <a:ext uri="{FF2B5EF4-FFF2-40B4-BE49-F238E27FC236}">
                <a16:creationId xmlns:a16="http://schemas.microsoft.com/office/drawing/2014/main" id="{34301705-C84B-C3D0-5E5A-82DF40E8C7FB}"/>
              </a:ext>
            </a:extLst>
          </p:cNvPr>
          <p:cNvCxnSpPr>
            <a:cxnSpLocks/>
            <a:stCxn id="67" idx="0"/>
            <a:endCxn id="76" idx="0"/>
          </p:cNvCxnSpPr>
          <p:nvPr/>
        </p:nvCxnSpPr>
        <p:spPr>
          <a:xfrm rot="5400000" flipH="1" flipV="1">
            <a:off x="1922321" y="2528937"/>
            <a:ext cx="12700" cy="208815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28160" y="132193"/>
            <a:ext cx="423020"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5796136" y="1134865"/>
            <a:ext cx="2667231" cy="1646063"/>
          </a:xfrm>
          <a:prstGeom prst="rect">
            <a:avLst/>
          </a:prstGeom>
          <a:effectLst>
            <a:glow rad="127000">
              <a:schemeClr val="bg1">
                <a:lumMod val="95000"/>
              </a:schemeClr>
            </a:glow>
            <a:softEdge rad="12700"/>
          </a:effectLst>
        </p:spPr>
      </p:pic>
      <mc:AlternateContent xmlns:mc="http://schemas.openxmlformats.org/markup-compatibility/2006">
        <mc:Choice xmlns:a14="http://schemas.microsoft.com/office/drawing/2010/main"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120820"/>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marR="0" lvl="0" indent="-285750" algn="l" defTabSz="19431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Gradient Descent</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14:m>
                  <m:oMath xmlns:m="http://schemas.openxmlformats.org/officeDocument/2006/math">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𝑓</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sSub>
                      <m:sSubPr>
                        <m:ctrl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m:rPr>
                            <m:sty m:val="p"/>
                          </m:r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ω</m:t>
                        </m:r>
                      </m:e>
                      <m:sub>
                        <m:r>
                          <m:rPr>
                            <m:sty m:val="p"/>
                          </m:rP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i</m:t>
                        </m:r>
                      </m:sub>
                    </m:sSub>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oMath>
                </a14:m>
                <a:endParaRPr kumimoji="0" lang="en-US" altLang="zh-TW" sz="14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p:txBody>
          </p:sp>
        </mc:Choice>
        <mc:Fallback>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120820"/>
              </a:xfrm>
              <a:prstGeom prst="rect">
                <a:avLst/>
              </a:prstGeom>
              <a:blipFill>
                <a:blip r:embed="rId4"/>
                <a:stretch>
                  <a:fillRect l="-1333" t="-9239" b="-543"/>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1620202089"/>
                  </p:ext>
                </p:extLst>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1620202089"/>
                  </p:ext>
                </p:extLst>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4199"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413235"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164384" r="-141720"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164384" r="-37866"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413235"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262585" r="-141720"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262585" r="-37866"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413235"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710667" r="-141720"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710667" r="-37866"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413235"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552727" r="-141720"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552727" r="-37866"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71271"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pic>
        <p:nvPicPr>
          <p:cNvPr id="13" name="圖片 12">
            <a:extLst>
              <a:ext uri="{FF2B5EF4-FFF2-40B4-BE49-F238E27FC236}">
                <a16:creationId xmlns:a16="http://schemas.microsoft.com/office/drawing/2014/main" id="{2B189A7E-505F-ADE9-8E91-CD35493F2859}"/>
              </a:ext>
            </a:extLst>
          </p:cNvPr>
          <p:cNvPicPr>
            <a:picLocks noChangeAspect="1"/>
          </p:cNvPicPr>
          <p:nvPr/>
        </p:nvPicPr>
        <p:blipFill>
          <a:blip r:embed="rId6"/>
          <a:stretch>
            <a:fillRect/>
          </a:stretch>
        </p:blipFill>
        <p:spPr>
          <a:xfrm>
            <a:off x="6588224" y="3268354"/>
            <a:ext cx="994846" cy="615170"/>
          </a:xfrm>
          <a:prstGeom prst="rect">
            <a:avLst/>
          </a:prstGeom>
        </p:spPr>
      </p:pic>
      <p:pic>
        <p:nvPicPr>
          <p:cNvPr id="15" name="圖片 14">
            <a:extLst>
              <a:ext uri="{FF2B5EF4-FFF2-40B4-BE49-F238E27FC236}">
                <a16:creationId xmlns:a16="http://schemas.microsoft.com/office/drawing/2014/main" id="{8B3F7023-86A5-86C6-BCA1-ABE50B1D7DDB}"/>
              </a:ext>
            </a:extLst>
          </p:cNvPr>
          <p:cNvPicPr>
            <a:picLocks noChangeAspect="1"/>
          </p:cNvPicPr>
          <p:nvPr/>
        </p:nvPicPr>
        <p:blipFill>
          <a:blip r:embed="rId7"/>
          <a:stretch>
            <a:fillRect/>
          </a:stretch>
        </p:blipFill>
        <p:spPr>
          <a:xfrm>
            <a:off x="3690655" y="3268354"/>
            <a:ext cx="1169377" cy="615170"/>
          </a:xfrm>
          <a:prstGeom prst="rect">
            <a:avLst/>
          </a:prstGeom>
        </p:spPr>
      </p:pic>
      <mc:AlternateContent xmlns:mc="http://schemas.openxmlformats.org/markup-compatibility/2006">
        <mc:Choice xmlns:a14="http://schemas.microsoft.com/office/drawing/2010/main" Requires="a14">
          <p:sp>
            <p:nvSpPr>
              <p:cNvPr id="19" name="文字方塊 18">
                <a:extLst>
                  <a:ext uri="{FF2B5EF4-FFF2-40B4-BE49-F238E27FC236}">
                    <a16:creationId xmlns:a16="http://schemas.microsoft.com/office/drawing/2014/main" id="{36C3DCCE-5704-9750-F478-419CFFFF27A6}"/>
                  </a:ext>
                </a:extLst>
              </p:cNvPr>
              <p:cNvSpPr txBox="1"/>
              <p:nvPr/>
            </p:nvSpPr>
            <p:spPr>
              <a:xfrm>
                <a:off x="6584086" y="1010064"/>
                <a:ext cx="1421904" cy="539571"/>
              </a:xfrm>
              <a:prstGeom prst="rect">
                <a:avLst/>
              </a:prstGeom>
              <a:noFill/>
            </p:spPr>
            <p:txBody>
              <a:bodyPr wrap="square">
                <a:spAutoFit/>
              </a:bodyPr>
              <a:lstStyle/>
              <a:p>
                <a:pPr/>
                <a14:m>
                  <m:oMathPara xmlns:m="http://schemas.openxmlformats.org/officeDocument/2006/math">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oMath>
                  </m:oMathPara>
                </a14:m>
                <a:endParaRPr lang="zh-TW" altLang="en-US" dirty="0"/>
              </a:p>
            </p:txBody>
          </p:sp>
        </mc:Choice>
        <mc:Fallback>
          <p:sp>
            <p:nvSpPr>
              <p:cNvPr id="19" name="文字方塊 18">
                <a:extLst>
                  <a:ext uri="{FF2B5EF4-FFF2-40B4-BE49-F238E27FC236}">
                    <a16:creationId xmlns:a16="http://schemas.microsoft.com/office/drawing/2014/main" id="{36C3DCCE-5704-9750-F478-419CFFFF27A6}"/>
                  </a:ext>
                </a:extLst>
              </p:cNvPr>
              <p:cNvSpPr txBox="1">
                <a:spLocks noRot="1" noChangeAspect="1" noMove="1" noResize="1" noEditPoints="1" noAdjustHandles="1" noChangeArrowheads="1" noChangeShapeType="1" noTextEdit="1"/>
              </p:cNvSpPr>
              <p:nvPr/>
            </p:nvSpPr>
            <p:spPr>
              <a:xfrm>
                <a:off x="6584086" y="1010064"/>
                <a:ext cx="1421904" cy="539571"/>
              </a:xfrm>
              <a:prstGeom prst="rect">
                <a:avLst/>
              </a:prstGeom>
              <a:blipFill>
                <a:blip r:embed="rId8"/>
                <a:stretch>
                  <a:fillRect l="-12876" t="-117045" r="-23176" b="-165909"/>
                </a:stretch>
              </a:blipFill>
            </p:spPr>
            <p:txBody>
              <a:bodyPr/>
              <a:lstStyle/>
              <a:p>
                <a:r>
                  <a:rPr lang="zh-TW" altLang="en-US">
                    <a:noFill/>
                  </a:rPr>
                  <a:t> </a:t>
                </a:r>
              </a:p>
            </p:txBody>
          </p:sp>
        </mc:Fallback>
      </mc:AlternateContent>
      <p:sp>
        <p:nvSpPr>
          <p:cNvPr id="23" name="文字方塊 22">
            <a:extLst>
              <a:ext uri="{FF2B5EF4-FFF2-40B4-BE49-F238E27FC236}">
                <a16:creationId xmlns:a16="http://schemas.microsoft.com/office/drawing/2014/main" id="{360BE63E-7EC8-768F-2762-F4EC51AFBB8A}"/>
              </a:ext>
            </a:extLst>
          </p:cNvPr>
          <p:cNvSpPr txBox="1"/>
          <p:nvPr/>
        </p:nvSpPr>
        <p:spPr>
          <a:xfrm>
            <a:off x="7375268" y="2208165"/>
            <a:ext cx="629531" cy="369332"/>
          </a:xfrm>
          <a:prstGeom prst="rect">
            <a:avLst/>
          </a:prstGeom>
          <a:noFill/>
        </p:spPr>
        <p:txBody>
          <a:bodyPr wrap="none" lIns="0" tIns="0" rIns="0" bIns="0" anchor="ctr" anchorCtr="1">
            <a:spAutoFit/>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E798FE84-9387-1315-3091-EDB00726333D}"/>
              </a:ext>
            </a:extLst>
          </p:cNvPr>
          <p:cNvPicPr>
            <a:picLocks noChangeAspect="1"/>
          </p:cNvPicPr>
          <p:nvPr/>
        </p:nvPicPr>
        <p:blipFill>
          <a:blip r:embed="rId3"/>
          <a:stretch>
            <a:fillRect/>
          </a:stretch>
        </p:blipFill>
        <p:spPr>
          <a:xfrm>
            <a:off x="3707904" y="3809228"/>
            <a:ext cx="5436095" cy="2716116"/>
          </a:xfrm>
          <a:prstGeom prst="rect">
            <a:avLst/>
          </a:prstGeom>
        </p:spPr>
      </p:pic>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136906" cy="109260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Weight Memory Transfer:  </a:t>
            </a:r>
            <a:r>
              <a:rPr lang="en-US" altLang="zh-TW" sz="1600" dirty="0"/>
              <a:t>Occupy 99% time of GPU and waiting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
            </a:r>
          </a:p>
        </p:txBody>
      </p:sp>
      <p:sp>
        <p:nvSpPr>
          <p:cNvPr id="30" name="文字方塊 29">
            <a:extLst>
              <a:ext uri="{FF2B5EF4-FFF2-40B4-BE49-F238E27FC236}">
                <a16:creationId xmlns:a16="http://schemas.microsoft.com/office/drawing/2014/main" id="{C68F4D52-7DDA-E906-AEF9-75AB0D6D67EB}"/>
              </a:ext>
            </a:extLst>
          </p:cNvPr>
          <p:cNvSpPr txBox="1"/>
          <p:nvPr/>
        </p:nvSpPr>
        <p:spPr>
          <a:xfrm>
            <a:off x="5631248" y="2050030"/>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2" name="文字方塊 31">
            <a:extLst>
              <a:ext uri="{FF2B5EF4-FFF2-40B4-BE49-F238E27FC236}">
                <a16:creationId xmlns:a16="http://schemas.microsoft.com/office/drawing/2014/main" id="{15D53514-7DA9-D9FB-4264-0830E97431FD}"/>
              </a:ext>
            </a:extLst>
          </p:cNvPr>
          <p:cNvSpPr txBox="1"/>
          <p:nvPr/>
        </p:nvSpPr>
        <p:spPr>
          <a:xfrm>
            <a:off x="6081288" y="2050030"/>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4" name="文字方塊 33">
            <a:extLst>
              <a:ext uri="{FF2B5EF4-FFF2-40B4-BE49-F238E27FC236}">
                <a16:creationId xmlns:a16="http://schemas.microsoft.com/office/drawing/2014/main" id="{A3ED4D5A-2FA6-F6C0-FEE8-5735067DCADB}"/>
              </a:ext>
            </a:extLst>
          </p:cNvPr>
          <p:cNvSpPr txBox="1"/>
          <p:nvPr/>
        </p:nvSpPr>
        <p:spPr>
          <a:xfrm>
            <a:off x="6714248" y="2049946"/>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6" name="文字方塊 35">
            <a:extLst>
              <a:ext uri="{FF2B5EF4-FFF2-40B4-BE49-F238E27FC236}">
                <a16:creationId xmlns:a16="http://schemas.microsoft.com/office/drawing/2014/main" id="{6D41B027-6CB9-15A2-F2EB-19E086D5F65B}"/>
              </a:ext>
            </a:extLst>
          </p:cNvPr>
          <p:cNvSpPr txBox="1"/>
          <p:nvPr/>
        </p:nvSpPr>
        <p:spPr>
          <a:xfrm>
            <a:off x="7164288" y="2049946"/>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8" name="文字方塊 37">
            <a:extLst>
              <a:ext uri="{FF2B5EF4-FFF2-40B4-BE49-F238E27FC236}">
                <a16:creationId xmlns:a16="http://schemas.microsoft.com/office/drawing/2014/main" id="{3E93E0DD-1CD6-2807-5949-BB79CACA7C2C}"/>
              </a:ext>
            </a:extLst>
          </p:cNvPr>
          <p:cNvSpPr txBox="1"/>
          <p:nvPr/>
        </p:nvSpPr>
        <p:spPr>
          <a:xfrm>
            <a:off x="5639306" y="1544868"/>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45" name="矩形: 圓角 44">
            <a:extLst>
              <a:ext uri="{FF2B5EF4-FFF2-40B4-BE49-F238E27FC236}">
                <a16:creationId xmlns:a16="http://schemas.microsoft.com/office/drawing/2014/main" id="{C47303AB-CC78-3E3D-AA29-57163C0B7720}"/>
              </a:ext>
            </a:extLst>
          </p:cNvPr>
          <p:cNvSpPr/>
          <p:nvPr/>
        </p:nvSpPr>
        <p:spPr>
          <a:xfrm>
            <a:off x="632352" y="3809064"/>
            <a:ext cx="787215"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Drafter</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179512"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1948634" y="3517566"/>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944417" y="2780928"/>
            <a:ext cx="899391" cy="432048"/>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p>
        </p:txBody>
      </p:sp>
      <p:sp>
        <p:nvSpPr>
          <p:cNvPr id="66" name="矩形: 圓角 65">
            <a:extLst>
              <a:ext uri="{FF2B5EF4-FFF2-40B4-BE49-F238E27FC236}">
                <a16:creationId xmlns:a16="http://schemas.microsoft.com/office/drawing/2014/main" id="{62549C96-57A6-8E49-C72C-979C7315D3D7}"/>
              </a:ext>
            </a:extLst>
          </p:cNvPr>
          <p:cNvSpPr/>
          <p:nvPr/>
        </p:nvSpPr>
        <p:spPr>
          <a:xfrm>
            <a:off x="1944417" y="394961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1944417" y="4381662"/>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70" name="文字方塊 69">
            <a:extLst>
              <a:ext uri="{FF2B5EF4-FFF2-40B4-BE49-F238E27FC236}">
                <a16:creationId xmlns:a16="http://schemas.microsoft.com/office/drawing/2014/main" id="{C39C5F38-7BE6-E27C-ADC0-D7659C83F68C}"/>
              </a:ext>
            </a:extLst>
          </p:cNvPr>
          <p:cNvSpPr txBox="1"/>
          <p:nvPr/>
        </p:nvSpPr>
        <p:spPr>
          <a:xfrm>
            <a:off x="677611" y="3425944"/>
            <a:ext cx="685869"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Guess</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76" name="接點: 肘形 75">
            <a:extLst>
              <a:ext uri="{FF2B5EF4-FFF2-40B4-BE49-F238E27FC236}">
                <a16:creationId xmlns:a16="http://schemas.microsoft.com/office/drawing/2014/main" id="{CBE0D687-6904-CD48-E1F7-D1BFA75F08C0}"/>
              </a:ext>
            </a:extLst>
          </p:cNvPr>
          <p:cNvCxnSpPr>
            <a:stCxn id="45" idx="3"/>
            <a:endCxn id="51" idx="1"/>
          </p:cNvCxnSpPr>
          <p:nvPr/>
        </p:nvCxnSpPr>
        <p:spPr>
          <a:xfrm flipV="1">
            <a:off x="1419567" y="3625578"/>
            <a:ext cx="529067" cy="42993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419567" y="4055508"/>
            <a:ext cx="524850" cy="43416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stCxn id="45" idx="3"/>
            <a:endCxn id="66" idx="1"/>
          </p:cNvCxnSpPr>
          <p:nvPr/>
        </p:nvCxnSpPr>
        <p:spPr>
          <a:xfrm>
            <a:off x="1419567" y="4055508"/>
            <a:ext cx="52485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4" name="矩形 83">
            <a:extLst>
              <a:ext uri="{FF2B5EF4-FFF2-40B4-BE49-F238E27FC236}">
                <a16:creationId xmlns:a16="http://schemas.microsoft.com/office/drawing/2014/main" id="{8FBD71DA-F9C3-EF21-B37E-21EEC4D3134B}"/>
              </a:ext>
            </a:extLst>
          </p:cNvPr>
          <p:cNvSpPr/>
          <p:nvPr/>
        </p:nvSpPr>
        <p:spPr>
          <a:xfrm>
            <a:off x="838359" y="4725143"/>
            <a:ext cx="364371" cy="197917"/>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4xD</a:t>
            </a:r>
          </a:p>
        </p:txBody>
      </p:sp>
      <p:sp>
        <p:nvSpPr>
          <p:cNvPr id="86" name="文字方塊 85">
            <a:extLst>
              <a:ext uri="{FF2B5EF4-FFF2-40B4-BE49-F238E27FC236}">
                <a16:creationId xmlns:a16="http://schemas.microsoft.com/office/drawing/2014/main" id="{E9EE2942-ABD2-5BD4-E744-D02D15505AAD}"/>
              </a:ext>
            </a:extLst>
          </p:cNvPr>
          <p:cNvSpPr txBox="1"/>
          <p:nvPr/>
        </p:nvSpPr>
        <p:spPr>
          <a:xfrm>
            <a:off x="1997526" y="4678804"/>
            <a:ext cx="685868" cy="393156"/>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Cross</a:t>
            </a:r>
          </a:p>
          <a:p>
            <a:pPr algn="ct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Attention</a:t>
            </a:r>
          </a:p>
        </p:txBody>
      </p:sp>
      <p:pic>
        <p:nvPicPr>
          <p:cNvPr id="4" name="圖片 3">
            <a:extLst>
              <a:ext uri="{FF2B5EF4-FFF2-40B4-BE49-F238E27FC236}">
                <a16:creationId xmlns:a16="http://schemas.microsoft.com/office/drawing/2014/main" id="{9D68BBA3-60F4-05F6-FAA0-F121ECE3FC4D}"/>
              </a:ext>
            </a:extLst>
          </p:cNvPr>
          <p:cNvPicPr>
            <a:picLocks noChangeAspect="1"/>
          </p:cNvPicPr>
          <p:nvPr/>
        </p:nvPicPr>
        <p:blipFill>
          <a:blip r:embed="rId4"/>
          <a:stretch>
            <a:fillRect/>
          </a:stretch>
        </p:blipFill>
        <p:spPr>
          <a:xfrm>
            <a:off x="1494912" y="5211437"/>
            <a:ext cx="1869682" cy="1234073"/>
          </a:xfrm>
          <a:prstGeom prst="rect">
            <a:avLst/>
          </a:prstGeom>
        </p:spPr>
      </p:pic>
      <p:sp>
        <p:nvSpPr>
          <p:cNvPr id="58" name="文字方塊 57">
            <a:extLst>
              <a:ext uri="{FF2B5EF4-FFF2-40B4-BE49-F238E27FC236}">
                <a16:creationId xmlns:a16="http://schemas.microsoft.com/office/drawing/2014/main" id="{65BA10AA-33E3-ECA2-4515-138A0D1409A1}"/>
              </a:ext>
            </a:extLst>
          </p:cNvPr>
          <p:cNvSpPr txBox="1"/>
          <p:nvPr/>
        </p:nvSpPr>
        <p:spPr>
          <a:xfrm>
            <a:off x="3195392" y="3428998"/>
            <a:ext cx="685868"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Verify</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1" name="矩形: 圓角 60">
            <a:extLst>
              <a:ext uri="{FF2B5EF4-FFF2-40B4-BE49-F238E27FC236}">
                <a16:creationId xmlns:a16="http://schemas.microsoft.com/office/drawing/2014/main" id="{5A88E48D-B52B-E48D-6640-1A585B7A6A98}"/>
              </a:ext>
            </a:extLst>
          </p:cNvPr>
          <p:cNvSpPr/>
          <p:nvPr/>
        </p:nvSpPr>
        <p:spPr>
          <a:xfrm>
            <a:off x="3150133" y="3813298"/>
            <a:ext cx="787215" cy="488654"/>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64" name="矩形 63">
            <a:extLst>
              <a:ext uri="{FF2B5EF4-FFF2-40B4-BE49-F238E27FC236}">
                <a16:creationId xmlns:a16="http://schemas.microsoft.com/office/drawing/2014/main" id="{939139B8-4151-0F3D-2D0F-B01B422C961E}"/>
              </a:ext>
            </a:extLst>
          </p:cNvPr>
          <p:cNvSpPr/>
          <p:nvPr/>
        </p:nvSpPr>
        <p:spPr>
          <a:xfrm>
            <a:off x="4283968"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72" name="文字方塊 71">
            <a:extLst>
              <a:ext uri="{FF2B5EF4-FFF2-40B4-BE49-F238E27FC236}">
                <a16:creationId xmlns:a16="http://schemas.microsoft.com/office/drawing/2014/main" id="{765DBC9F-3032-1B58-3F70-6F270C5B9448}"/>
              </a:ext>
            </a:extLst>
          </p:cNvPr>
          <p:cNvSpPr txBox="1"/>
          <p:nvPr/>
        </p:nvSpPr>
        <p:spPr>
          <a:xfrm>
            <a:off x="4032649" y="3428998"/>
            <a:ext cx="899391" cy="216025"/>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Guarantee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0FC98B3D-CE3A-2655-CAED-4A93F8E16C9C}"/>
              </a:ext>
            </a:extLst>
          </p:cNvPr>
          <p:cNvPicPr>
            <a:picLocks noChangeAspect="1"/>
          </p:cNvPicPr>
          <p:nvPr/>
        </p:nvPicPr>
        <p:blipFill>
          <a:blip r:embed="rId2"/>
          <a:stretch>
            <a:fillRect/>
          </a:stretch>
        </p:blipFill>
        <p:spPr>
          <a:xfrm>
            <a:off x="4901007" y="92208"/>
            <a:ext cx="3913986" cy="6550604"/>
          </a:xfrm>
          <a:prstGeom prst="rect">
            <a:avLst/>
          </a:prstGeom>
        </p:spPr>
      </p:pic>
      <p:sp>
        <p:nvSpPr>
          <p:cNvPr id="9" name="標題 1">
            <a:extLst>
              <a:ext uri="{FF2B5EF4-FFF2-40B4-BE49-F238E27FC236}">
                <a16:creationId xmlns:a16="http://schemas.microsoft.com/office/drawing/2014/main" id="{1280E1EC-97E0-5FC3-6A26-36F67C8121E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Draft Model for E2B</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Gemma 4 models generate text autoregressively and produce one token at a time.</a:t>
            </a:r>
          </a:p>
        </p:txBody>
      </p:sp>
      <p:sp>
        <p:nvSpPr>
          <p:cNvPr id="11" name="文字方塊 10">
            <a:extLst>
              <a:ext uri="{FF2B5EF4-FFF2-40B4-BE49-F238E27FC236}">
                <a16:creationId xmlns:a16="http://schemas.microsoft.com/office/drawing/2014/main" id="{3398CB3A-483F-A496-9993-0FCAB38D1C3B}"/>
              </a:ext>
            </a:extLst>
          </p:cNvPr>
          <p:cNvSpPr txBox="1"/>
          <p:nvPr/>
        </p:nvSpPr>
        <p:spPr>
          <a:xfrm>
            <a:off x="153958" y="2204864"/>
            <a:ext cx="2041778" cy="307777"/>
          </a:xfrm>
          <a:prstGeom prst="rect">
            <a:avLst/>
          </a:prstGeom>
          <a:noFill/>
        </p:spPr>
        <p:txBody>
          <a:bodyPr wrap="square">
            <a:spAutoFit/>
          </a:bodyPr>
          <a:lstStyle/>
          <a:p>
            <a:r>
              <a:rPr lang="en-US" altLang="zh-TW" sz="1400" dirty="0">
                <a:latin typeface="Noto Sans HK" panose="020B0200000000000000" pitchFamily="34" charset="-120"/>
                <a:ea typeface="Noto Sans HK" panose="020B0200000000000000" pitchFamily="34" charset="-120"/>
                <a:cs typeface="Aharoni" panose="020F0502020204030204" pitchFamily="2" charset="-79"/>
                <a:hlinkClick r:id="rId3"/>
              </a:rPr>
              <a:t>Speculative Decoding</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endParaRPr>
          </a:p>
        </p:txBody>
      </p:sp>
      <p:sp>
        <p:nvSpPr>
          <p:cNvPr id="3" name="文字方塊 2">
            <a:extLst>
              <a:ext uri="{FF2B5EF4-FFF2-40B4-BE49-F238E27FC236}">
                <a16:creationId xmlns:a16="http://schemas.microsoft.com/office/drawing/2014/main" id="{C0F54843-5DBB-EA74-B49B-292EF4873A75}"/>
              </a:ext>
            </a:extLst>
          </p:cNvPr>
          <p:cNvSpPr txBox="1"/>
          <p:nvPr/>
        </p:nvSpPr>
        <p:spPr>
          <a:xfrm>
            <a:off x="179512" y="3861048"/>
            <a:ext cx="4572000" cy="646331"/>
          </a:xfrm>
          <a:prstGeom prst="rect">
            <a:avLst/>
          </a:prstGeom>
          <a:noFill/>
        </p:spPr>
        <p:txBody>
          <a:bodyPr wrap="square">
            <a:spAutoFit/>
          </a:bodyPr>
          <a:lstStyle/>
          <a:p>
            <a:r>
              <a:rPr lang="zh-TW" altLang="en-US" dirty="0"/>
              <a:t>https://x.com/googlegemma/status/2051694045869879749</a:t>
            </a:r>
          </a:p>
        </p:txBody>
      </p:sp>
    </p:spTree>
    <p:extLst>
      <p:ext uri="{BB962C8B-B14F-4D97-AF65-F5344CB8AC3E}">
        <p14:creationId xmlns:p14="http://schemas.microsoft.com/office/powerpoint/2010/main" val="227919321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extLst>
              <p:ext uri="{D42A27DB-BD31-4B8C-83A1-F6EECF244321}">
                <p14:modId xmlns:p14="http://schemas.microsoft.com/office/powerpoint/2010/main" val="2721847558"/>
              </p:ext>
            </p:extLst>
          </p:nvPr>
        </p:nvGraphicFramePr>
        <p:xfrm>
          <a:off x="446679" y="5769446"/>
          <a:ext cx="2061433" cy="76058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B28934C4-E141-B876-09BC-40349200C9C7}"/>
              </a:ext>
            </a:extLst>
          </p:cNvPr>
          <p:cNvGraphicFramePr>
            <a:graphicFrameLocks noGrp="1"/>
          </p:cNvGraphicFramePr>
          <p:nvPr>
            <p:extLst>
              <p:ext uri="{D42A27DB-BD31-4B8C-83A1-F6EECF244321}">
                <p14:modId xmlns:p14="http://schemas.microsoft.com/office/powerpoint/2010/main" val="988163058"/>
              </p:ext>
            </p:extLst>
          </p:nvPr>
        </p:nvGraphicFramePr>
        <p:xfrm>
          <a:off x="446679" y="5085184"/>
          <a:ext cx="2061433" cy="580749"/>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871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Parameter-Efficient</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Fine-Tuning (PEFT)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93583">
                <a:tc>
                  <a:txBody>
                    <a:bodyPr/>
                    <a:lstStyle/>
                    <a:p>
                      <a:pPr algn="l"/>
                      <a:r>
                        <a:rPr lang="en-US" altLang="zh-TW" sz="1200" b="0" cap="none" spc="0" dirty="0">
                          <a:ln w="0"/>
                          <a:solidFill>
                            <a:schemeClr val="tx1"/>
                          </a:solidFill>
                          <a:effectLst/>
                        </a:rPr>
                        <a:t>Fine-Tuning Framework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bl>
          </a:graphicData>
        </a:graphic>
      </p:graphicFrame>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528F1A4-C5F2-B372-FD94-C6C887DEC259}"/>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021CCA31-8B62-ABC4-E286-F329C53D3421}"/>
              </a:ext>
            </a:extLst>
          </p:cNvPr>
          <p:cNvSpPr txBox="1"/>
          <p:nvPr/>
        </p:nvSpPr>
        <p:spPr>
          <a:xfrm>
            <a:off x="2867522" y="2643630"/>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7795B43A-2DB0-CF61-22D8-74C6389C0F9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LoRA achieves PEFT by low-rank decomposition matrices while keeping the original model weights frozen. </a:t>
            </a:r>
          </a:p>
        </p:txBody>
      </p:sp>
      <p:sp>
        <p:nvSpPr>
          <p:cNvPr id="5" name="文字方塊 4">
            <a:extLst>
              <a:ext uri="{FF2B5EF4-FFF2-40B4-BE49-F238E27FC236}">
                <a16:creationId xmlns:a16="http://schemas.microsoft.com/office/drawing/2014/main" id="{7D4C9CE9-0B06-38A1-C39D-EAB1F5576FF4}"/>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6C5AC31E-D92E-A0DB-45D2-EEC916CF6E24}"/>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6B16A943-AE6E-3543-09C3-ECF7F35BE195}"/>
              </a:ext>
            </a:extLst>
          </p:cNvPr>
          <p:cNvGraphicFramePr>
            <a:graphicFrameLocks noGrp="1"/>
          </p:cNvGraphicFramePr>
          <p:nvPr>
            <p:extLst>
              <p:ext uri="{D42A27DB-BD31-4B8C-83A1-F6EECF244321}">
                <p14:modId xmlns:p14="http://schemas.microsoft.com/office/powerpoint/2010/main" val="2282225692"/>
              </p:ext>
            </p:extLst>
          </p:nvPr>
        </p:nvGraphicFramePr>
        <p:xfrm>
          <a:off x="3120606" y="2931662"/>
          <a:ext cx="177959" cy="714884"/>
        </p:xfrm>
        <a:graphic>
          <a:graphicData uri="http://schemas.openxmlformats.org/drawingml/2006/table">
            <a:tbl>
              <a:tblPr firstRow="1" bandRow="1">
                <a:tableStyleId>{5C22544A-7EE6-4342-B048-85BDC9FD1C3A}</a:tableStyleId>
              </a:tblPr>
              <a:tblGrid>
                <a:gridCol w="177959">
                  <a:extLst>
                    <a:ext uri="{9D8B030D-6E8A-4147-A177-3AD203B41FA5}">
                      <a16:colId xmlns:a16="http://schemas.microsoft.com/office/drawing/2014/main" val="871242339"/>
                    </a:ext>
                  </a:extLst>
                </a:gridCol>
              </a:tblGrid>
              <a:tr h="714884">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A</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 name="表格 1">
            <a:extLst>
              <a:ext uri="{FF2B5EF4-FFF2-40B4-BE49-F238E27FC236}">
                <a16:creationId xmlns:a16="http://schemas.microsoft.com/office/drawing/2014/main" id="{D5C12B14-BECA-05BF-E62A-6E9934AEFDEC}"/>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4FBFF317-65B7-E19C-BE9C-2C4C128437E4}"/>
              </a:ext>
            </a:extLst>
          </p:cNvPr>
          <p:cNvSpPr txBox="1"/>
          <p:nvPr/>
        </p:nvSpPr>
        <p:spPr>
          <a:xfrm>
            <a:off x="3946839" y="291335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A7CAAD2B-19AE-9980-2A62-187269884DF2}"/>
              </a:ext>
            </a:extLst>
          </p:cNvPr>
          <p:cNvGraphicFramePr>
            <a:graphicFrameLocks noGrp="1"/>
          </p:cNvGraphicFramePr>
          <p:nvPr>
            <p:extLst>
              <p:ext uri="{D42A27DB-BD31-4B8C-83A1-F6EECF244321}">
                <p14:modId xmlns:p14="http://schemas.microsoft.com/office/powerpoint/2010/main" val="3937663"/>
              </p:ext>
            </p:extLst>
          </p:nvPr>
        </p:nvGraphicFramePr>
        <p:xfrm>
          <a:off x="3748719" y="3153300"/>
          <a:ext cx="1218664" cy="213360"/>
        </p:xfrm>
        <a:graphic>
          <a:graphicData uri="http://schemas.openxmlformats.org/drawingml/2006/table">
            <a:tbl>
              <a:tblPr firstRow="1" bandRow="1">
                <a:tableStyleId>{5C22544A-7EE6-4342-B048-85BDC9FD1C3A}</a:tableStyleId>
              </a:tblPr>
              <a:tblGrid>
                <a:gridCol w="1218664">
                  <a:extLst>
                    <a:ext uri="{9D8B030D-6E8A-4147-A177-3AD203B41FA5}">
                      <a16:colId xmlns:a16="http://schemas.microsoft.com/office/drawing/2014/main" val="871242339"/>
                    </a:ext>
                  </a:extLst>
                </a:gridCol>
              </a:tblGrid>
              <a:tr h="178721">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B</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 name="表格 11">
            <a:extLst>
              <a:ext uri="{FF2B5EF4-FFF2-40B4-BE49-F238E27FC236}">
                <a16:creationId xmlns:a16="http://schemas.microsoft.com/office/drawing/2014/main" id="{0B25FCB5-FCE0-61EB-EEB9-12DE4CD92939}"/>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19D10C5D-E703-AEC1-D9A7-83A4E472DAD5}"/>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727F449C-324A-74B0-C234-3386A0999F0B}"/>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8A4495B5-77BC-46A3-EE79-696BED0BF04C}"/>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F3565446-85A7-C9C4-4A1D-47FEA6E2071E}"/>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D94D7D1A-59F2-6565-206E-687583FA2657}"/>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E3D52E99-CF74-358E-7CB9-468275F7423C}"/>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6966BA9-55FA-A73F-1E8C-DEA8377CF15A}"/>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F421E7A6-42EA-7C31-9EE3-E6013D8ED89D}"/>
              </a:ext>
            </a:extLst>
          </p:cNvPr>
          <p:cNvSpPr txBox="1"/>
          <p:nvPr/>
        </p:nvSpPr>
        <p:spPr>
          <a:xfrm>
            <a:off x="3421354" y="3178304"/>
            <a:ext cx="177958" cy="21336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FB8CF55E-F91C-C53B-CA11-D8E651B5808A}"/>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18" name="文字方塊 17">
            <a:extLst>
              <a:ext uri="{FF2B5EF4-FFF2-40B4-BE49-F238E27FC236}">
                <a16:creationId xmlns:a16="http://schemas.microsoft.com/office/drawing/2014/main" id="{4C6464BD-CB0F-1E4C-16C0-48EB91D59EEF}"/>
              </a:ext>
            </a:extLst>
          </p:cNvPr>
          <p:cNvSpPr txBox="1"/>
          <p:nvPr/>
        </p:nvSpPr>
        <p:spPr>
          <a:xfrm>
            <a:off x="179510" y="1377042"/>
            <a:ext cx="813690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SVD: </a:t>
            </a:r>
            <a:r>
              <a:rPr lang="en-US" altLang="zh-TW" sz="1600" dirty="0"/>
              <a:t>Matrix Decomposition.</a:t>
            </a:r>
            <a:endParaRPr lang="en-US" altLang="zh-TW" sz="1600" b="1" dirty="0"/>
          </a:p>
        </p:txBody>
      </p:sp>
    </p:spTree>
    <p:extLst>
      <p:ext uri="{BB962C8B-B14F-4D97-AF65-F5344CB8AC3E}">
        <p14:creationId xmlns:p14="http://schemas.microsoft.com/office/powerpoint/2010/main" val="1781003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aphicFrame>
        <p:nvGraphicFramePr>
          <p:cNvPr id="8" name="表格 7">
            <a:extLst>
              <a:ext uri="{FF2B5EF4-FFF2-40B4-BE49-F238E27FC236}">
                <a16:creationId xmlns:a16="http://schemas.microsoft.com/office/drawing/2014/main" id="{3E5C1892-EFAE-EC36-F73D-E996CC3D8860}"/>
              </a:ext>
            </a:extLst>
          </p:cNvPr>
          <p:cNvGraphicFramePr>
            <a:graphicFrameLocks noGrp="1"/>
          </p:cNvGraphicFramePr>
          <p:nvPr>
            <p:extLst>
              <p:ext uri="{D42A27DB-BD31-4B8C-83A1-F6EECF244321}">
                <p14:modId xmlns:p14="http://schemas.microsoft.com/office/powerpoint/2010/main" val="3641951112"/>
              </p:ext>
            </p:extLst>
          </p:nvPr>
        </p:nvGraphicFramePr>
        <p:xfrm>
          <a:off x="446679" y="1588297"/>
          <a:ext cx="2061433" cy="94346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LoRA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Freeze All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Inject 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Active LoRA (A+B)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Quantization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00520025"/>
                  </a:ext>
                </a:extLst>
              </a:tr>
            </a:tbl>
          </a:graphicData>
        </a:graphic>
      </p:graphicFrame>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1288</TotalTime>
  <Words>18448</Words>
  <Application>Microsoft Office PowerPoint</Application>
  <PresentationFormat>如螢幕大小 (4:3)</PresentationFormat>
  <Paragraphs>2661</Paragraphs>
  <Slides>48</Slides>
  <Notes>39</Notes>
  <HiddenSlides>7</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48</vt:i4>
      </vt:variant>
    </vt:vector>
  </HeadingPairs>
  <TitlesOfParts>
    <vt:vector size="66"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1889</cp:revision>
  <cp:lastPrinted>2024-07-30T01:44:15Z</cp:lastPrinted>
  <dcterms:created xsi:type="dcterms:W3CDTF">2019-11-08T03:01:47Z</dcterms:created>
  <dcterms:modified xsi:type="dcterms:W3CDTF">2026-09-07T03:59:46Z</dcterms:modified>
</cp:coreProperties>
</file>