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51"/>
  </p:notesMasterIdLst>
  <p:handoutMasterIdLst>
    <p:handoutMasterId r:id="rId52"/>
  </p:handoutMasterIdLst>
  <p:sldIdLst>
    <p:sldId id="3459" r:id="rId2"/>
    <p:sldId id="3472" r:id="rId3"/>
    <p:sldId id="3511" r:id="rId4"/>
    <p:sldId id="3504" r:id="rId5"/>
    <p:sldId id="3427" r:id="rId6"/>
    <p:sldId id="3503" r:id="rId7"/>
    <p:sldId id="3470" r:id="rId8"/>
    <p:sldId id="3471" r:id="rId9"/>
    <p:sldId id="3561" r:id="rId10"/>
    <p:sldId id="3482" r:id="rId11"/>
    <p:sldId id="3560" r:id="rId12"/>
    <p:sldId id="3557" r:id="rId13"/>
    <p:sldId id="3483" r:id="rId14"/>
    <p:sldId id="3428" r:id="rId15"/>
    <p:sldId id="3451" r:id="rId16"/>
    <p:sldId id="3552" r:id="rId17"/>
    <p:sldId id="3465" r:id="rId18"/>
    <p:sldId id="3558" r:id="rId19"/>
    <p:sldId id="3559" r:id="rId20"/>
    <p:sldId id="3505" r:id="rId21"/>
    <p:sldId id="3507" r:id="rId22"/>
    <p:sldId id="3460" r:id="rId23"/>
    <p:sldId id="3509" r:id="rId24"/>
    <p:sldId id="3479" r:id="rId25"/>
    <p:sldId id="3467" r:id="rId26"/>
    <p:sldId id="3531" r:id="rId27"/>
    <p:sldId id="3499" r:id="rId28"/>
    <p:sldId id="3444" r:id="rId29"/>
    <p:sldId id="3532" r:id="rId30"/>
    <p:sldId id="3520" r:id="rId31"/>
    <p:sldId id="3518" r:id="rId32"/>
    <p:sldId id="3475" r:id="rId33"/>
    <p:sldId id="3527" r:id="rId34"/>
    <p:sldId id="3550" r:id="rId35"/>
    <p:sldId id="3515" r:id="rId36"/>
    <p:sldId id="3556" r:id="rId37"/>
    <p:sldId id="3528" r:id="rId38"/>
    <p:sldId id="3514" r:id="rId39"/>
    <p:sldId id="3529" r:id="rId40"/>
    <p:sldId id="3555" r:id="rId41"/>
    <p:sldId id="3553" r:id="rId42"/>
    <p:sldId id="3554" r:id="rId43"/>
    <p:sldId id="3549" r:id="rId44"/>
    <p:sldId id="3519" r:id="rId45"/>
    <p:sldId id="3530" r:id="rId46"/>
    <p:sldId id="269" r:id="rId47"/>
    <p:sldId id="270" r:id="rId48"/>
    <p:sldId id="257" r:id="rId49"/>
    <p:sldId id="265" r:id="rId50"/>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561"/>
            <p14:sldId id="3482"/>
            <p14:sldId id="3560"/>
            <p14:sldId id="3557"/>
            <p14:sldId id="3483"/>
            <p14:sldId id="3428"/>
            <p14:sldId id="3451"/>
            <p14:sldId id="3552"/>
          </p14:sldIdLst>
        </p14:section>
        <p14:section name="OpenAI-GPT" id="{5A048767-0D58-44AF-B962-12C29493294F}">
          <p14:sldIdLst>
            <p14:sldId id="3465"/>
            <p14:sldId id="3558"/>
            <p14:sldId id="3559"/>
            <p14:sldId id="3505"/>
          </p14:sldIdLst>
        </p14:section>
        <p14:section name="Hardware" id="{69C35067-BEF2-4B7C-9B54-B6977EB05C72}">
          <p14:sldIdLst>
            <p14:sldId id="3507"/>
            <p14:sldId id="3460"/>
            <p14:sldId id="3509"/>
            <p14:sldId id="3479"/>
          </p14:sldIdLst>
        </p14:section>
        <p14:section name="MS-bitNet" id="{8BFD7CAD-ECFE-4ED7-B08B-0E68D3D2B9C8}">
          <p14:sldIdLst>
            <p14:sldId id="3467"/>
          </p14:sldIdLst>
        </p14:section>
        <p14:section name="Edge AI" id="{53FF88DE-B3A4-42C9-8839-DDE9CA6AA9E3}">
          <p14:sldIdLst>
            <p14:sldId id="3531"/>
            <p14:sldId id="3499"/>
            <p14:sldId id="3444"/>
            <p14:sldId id="3532"/>
            <p14:sldId id="3520"/>
            <p14:sldId id="3518"/>
            <p14:sldId id="3475"/>
          </p14:sldIdLst>
        </p14:section>
        <p14:section name="Google-Gemma" id="{4AE07F0F-1A3A-4225-AACF-3E87DCBDDC1F}">
          <p14:sldIdLst>
            <p14:sldId id="3527"/>
            <p14:sldId id="3550"/>
            <p14:sldId id="3515"/>
            <p14:sldId id="3556"/>
            <p14:sldId id="3528"/>
            <p14:sldId id="3514"/>
            <p14:sldId id="3529"/>
          </p14:sldIdLst>
        </p14:section>
        <p14:section name="Conclusion" id="{D9E6914C-A73F-4176-B0F8-3F87EAC09119}">
          <p14:sldIdLst>
            <p14:sldId id="3555"/>
            <p14:sldId id="3553"/>
            <p14:sldId id="3554"/>
            <p14:sldId id="3549"/>
          </p14:sldIdLst>
        </p14:section>
        <p14:section name="Practice" id="{AB14B10E-2A9D-450D-89ED-7B2D6325130A}">
          <p14:sldIdLst>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CC00"/>
    <a:srgbClr val="FDF3DB"/>
    <a:srgbClr val="2260DC"/>
    <a:srgbClr val="F0F0F0"/>
    <a:srgbClr val="F8D462"/>
    <a:srgbClr val="4C6BFF"/>
    <a:srgbClr val="FF9900"/>
    <a:srgbClr val="FEC203"/>
    <a:srgbClr val="3079EF"/>
    <a:srgbClr val="B8EAC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68194" autoAdjust="0"/>
  </p:normalViewPr>
  <p:slideViewPr>
    <p:cSldViewPr>
      <p:cViewPr>
        <p:scale>
          <a:sx n="100" d="100"/>
          <a:sy n="100" d="100"/>
        </p:scale>
        <p:origin x="846" y="73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8/10/relationships/authors" Target="author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2026/9/11</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2026/9/11</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3" Type="http://schemas.openxmlformats.org/officeDocument/2006/relationships/hyperlink" Target="https://arxiv.org/abs/2104.09864" TargetMode="External"/><Relationship Id="rId2" Type="http://schemas.openxmlformats.org/officeDocument/2006/relationships/slide" Target="../slides/slide15.xml"/><Relationship Id="rId1" Type="http://schemas.openxmlformats.org/officeDocument/2006/relationships/notesMaster" Target="../notesMasters/notesMaster1.xml"/><Relationship Id="rId4" Type="http://schemas.openxmlformats.org/officeDocument/2006/relationships/hyperlink" Target="https://arxiv.org/abs/2104.09864" TargetMode="Externa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23.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3" Type="http://schemas.openxmlformats.org/officeDocument/2006/relationships/hyperlink" Target="https://openrouter.ai/upstage/solar-pro4" TargetMode="External"/><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4101F-2887-956A-A20B-ED3DCF1650B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456C118-83A0-204A-526E-A2E69C5E545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8719A5F2-8E55-3987-CC5F-D50EDB9D9F24}"/>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CE750DFB-5486-524C-10D1-424B3401F6BE}"/>
              </a:ext>
            </a:extLst>
          </p:cNvPr>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5597250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3"/>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4"/>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在 2017 年 Google 提出的原始 Transformer 論文《</a:t>
            </a:r>
            <a:r>
              <a:rPr lang="zh-TW" altLang="zh-TW" sz="1200" b="0" i="1" u="none" strike="noStrike" kern="1200" dirty="0">
                <a:solidFill>
                  <a:schemeClr val="tx1"/>
                </a:solidFill>
                <a:effectLst/>
                <a:latin typeface="+mn-lt"/>
                <a:ea typeface="+mn-ea"/>
                <a:cs typeface="+mn-cs"/>
              </a:rPr>
              <a:t>Attention Is All You Need</a:t>
            </a:r>
            <a:r>
              <a:rPr lang="zh-TW" altLang="zh-TW" sz="1200" b="0" u="none" strike="noStrike" kern="1200" dirty="0">
                <a:solidFill>
                  <a:schemeClr val="tx1"/>
                </a:solidFill>
                <a:effectLst/>
                <a:latin typeface="+mn-lt"/>
                <a:ea typeface="+mn-ea"/>
                <a:cs typeface="+mn-cs"/>
              </a:rPr>
              <a:t>》中，使用的是</a:t>
            </a:r>
            <a:r>
              <a:rPr lang="zh-TW" altLang="zh-TW" sz="1200" b="1" u="none" strike="noStrike" kern="1200" dirty="0">
                <a:solidFill>
                  <a:schemeClr val="tx1"/>
                </a:solidFill>
                <a:effectLst/>
                <a:latin typeface="+mn-lt"/>
                <a:ea typeface="+mn-ea"/>
                <a:cs typeface="+mn-cs"/>
              </a:rPr>
              <a:t>正弦和餘弦函數的絕對位置編碼（Sinusoidal Position Embedding）</a:t>
            </a:r>
            <a:r>
              <a:rPr lang="zh-TW" altLang="zh-TW" sz="1200" b="0" u="none" strike="noStrike" kern="1200" dirty="0">
                <a:solidFill>
                  <a:schemeClr val="tx1"/>
                </a:solidFill>
                <a:effectLst/>
                <a:latin typeface="+mn-lt"/>
                <a:ea typeface="+mn-ea"/>
                <a:cs typeface="+mn-cs"/>
              </a:rPr>
              <a:t>。</a:t>
            </a:r>
          </a:p>
          <a:p>
            <a:r>
              <a:rPr lang="zh-TW" altLang="zh-TW" dirty="0"/>
              <a:t>因為 Transformer 的自注意力機制（Self-Attention）本身是「置換不變」的（把句子裡的字順序打亂，算出來的注意力分數完全一樣），所以必須在輸入端人工注入位置資訊。</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421135857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C5D5F-7EF0-EFFD-B24F-CCAC4A40B8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E5A4CDD-7936-EA40-D6ED-2DB46AEB4B8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14925B1-0836-7BCD-D30B-D007147D7B8B}"/>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B22A2FEB-B589-C562-4438-BBC349C8B2CB}"/>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140101106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87461-455B-BEDB-76B5-75ACCB2C687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1879068-66F0-45C8-E23C-8864F6C70E5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74AD433-C54F-150C-EB90-6C30F289F391}"/>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低秩投影（Low-Rank Projection）</a:t>
            </a:r>
            <a:r>
              <a:rPr lang="zh-TW" altLang="zh-TW" sz="1200" b="0" u="none" strike="noStrike" kern="1200" dirty="0">
                <a:solidFill>
                  <a:schemeClr val="tx1"/>
                </a:solidFill>
                <a:effectLst/>
                <a:latin typeface="+mn-lt"/>
                <a:ea typeface="+mn-ea"/>
                <a:cs typeface="+mn-cs"/>
              </a:rPr>
              <a:t>是機器學習與大語言模型（LLM）中，用來</a:t>
            </a:r>
            <a:r>
              <a:rPr lang="zh-TW" altLang="zh-TW" sz="1200" b="1" u="none" strike="noStrike" kern="1200" dirty="0">
                <a:solidFill>
                  <a:schemeClr val="tx1"/>
                </a:solidFill>
                <a:effectLst/>
                <a:latin typeface="+mn-lt"/>
                <a:ea typeface="+mn-ea"/>
                <a:cs typeface="+mn-cs"/>
              </a:rPr>
              <a:t>「將高維度特徵極度壓縮、再還原」</a:t>
            </a:r>
            <a:r>
              <a:rPr lang="zh-TW" altLang="zh-TW" sz="1200" b="0" u="none" strike="noStrike" kern="1200" dirty="0">
                <a:solidFill>
                  <a:schemeClr val="tx1"/>
                </a:solidFill>
                <a:effectLst/>
                <a:latin typeface="+mn-lt"/>
                <a:ea typeface="+mn-ea"/>
                <a:cs typeface="+mn-cs"/>
              </a:rPr>
              <a:t>的核心數學技術。</a:t>
            </a:r>
          </a:p>
          <a:p>
            <a:r>
              <a:rPr lang="zh-TW" altLang="zh-TW" sz="1200" b="0" u="none" strike="noStrike" kern="1200" dirty="0">
                <a:solidFill>
                  <a:schemeClr val="tx1"/>
                </a:solidFill>
                <a:effectLst/>
                <a:latin typeface="+mn-lt"/>
                <a:ea typeface="+mn-ea"/>
                <a:cs typeface="+mn-cs"/>
              </a:rPr>
              <a:t>它的本質就是利用</a:t>
            </a:r>
            <a:r>
              <a:rPr lang="zh-TW" altLang="zh-TW" sz="1200" b="1" u="none" strike="noStrike" kern="1200" dirty="0">
                <a:solidFill>
                  <a:schemeClr val="tx1"/>
                </a:solidFill>
                <a:effectLst/>
                <a:latin typeface="+mn-lt"/>
                <a:ea typeface="+mn-ea"/>
                <a:cs typeface="+mn-cs"/>
              </a:rPr>
              <a:t>矩陣分解（Matrix Decomposition）</a:t>
            </a:r>
            <a:r>
              <a:rPr lang="zh-TW" altLang="zh-TW" sz="1200" b="0" u="none" strike="noStrike" kern="1200" dirty="0">
                <a:solidFill>
                  <a:schemeClr val="tx1"/>
                </a:solidFill>
                <a:effectLst/>
                <a:latin typeface="+mn-lt"/>
                <a:ea typeface="+mn-ea"/>
                <a:cs typeface="+mn-cs"/>
              </a:rPr>
              <a:t>，把一個原本體積巨大的矩陣，拆解成兩個或多個小矩陣的乘積，從而大幅減少計算量與記憶體佔用。</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核心數學原理</a:t>
            </a:r>
          </a:p>
          <a:p>
            <a:r>
              <a:rPr lang="zh-TW" altLang="zh-TW" sz="1200" b="0" u="none" strike="noStrike" kern="1200" dirty="0">
                <a:solidFill>
                  <a:schemeClr val="tx1"/>
                </a:solidFill>
                <a:effectLst/>
                <a:latin typeface="+mn-lt"/>
                <a:ea typeface="+mn-ea"/>
                <a:cs typeface="+mn-cs"/>
              </a:rPr>
              <a:t>假設你有一個尺寸為 d × d 的巨大特陣（例如大模型中的詞向量維度 d = 4096，那這個矩陣就有 4096 × 4096 = 1,677萬 個參數）。</a:t>
            </a:r>
          </a:p>
          <a:p>
            <a:pPr lvl="0"/>
            <a:r>
              <a:rPr lang="zh-TW" altLang="zh-TW" sz="1200" b="1" u="none" strike="noStrike" kern="1200" dirty="0">
                <a:solidFill>
                  <a:schemeClr val="tx1"/>
                </a:solidFill>
                <a:effectLst/>
                <a:latin typeface="+mn-lt"/>
                <a:ea typeface="+mn-ea"/>
                <a:cs typeface="+mn-cs"/>
              </a:rPr>
              <a:t>向下投影（Down-projection / Compression）：</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用一個 d × r 的矩陣，把維度從 4096 壓到 128。這時特徵會被濃縮成一個高密度的「潛在向量（Latent Vector）」。</a:t>
            </a:r>
          </a:p>
          <a:p>
            <a:pPr lvl="0"/>
            <a:r>
              <a:rPr lang="zh-TW" altLang="zh-TW" sz="1200" b="1" u="none" strike="noStrike" kern="1200" dirty="0">
                <a:solidFill>
                  <a:schemeClr val="tx1"/>
                </a:solidFill>
                <a:effectLst/>
                <a:latin typeface="+mn-lt"/>
                <a:ea typeface="+mn-ea"/>
                <a:cs typeface="+mn-cs"/>
              </a:rPr>
              <a:t>向上投影（Up-projection / Decompression）：</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用一個 r × d 的矩陣，在需要計算時，再把 128 維度放大回 4096。</a:t>
            </a:r>
          </a:p>
          <a:p>
            <a:r>
              <a:rPr lang="zh-TW" altLang="zh-TW" sz="1200" b="0" u="none" strike="noStrike" kern="1200" dirty="0">
                <a:solidFill>
                  <a:schemeClr val="tx1"/>
                </a:solidFill>
                <a:effectLst/>
                <a:latin typeface="+mn-lt"/>
                <a:ea typeface="+mn-ea"/>
                <a:cs typeface="+mn-cs"/>
              </a:rPr>
              <a:t>因為 r 遠小於 d，這就叫做</a:t>
            </a:r>
            <a:r>
              <a:rPr lang="zh-TW" altLang="zh-TW" sz="1200" b="1" u="none" strike="noStrike" kern="1200" dirty="0">
                <a:solidFill>
                  <a:schemeClr val="tx1"/>
                </a:solidFill>
                <a:effectLst/>
                <a:latin typeface="+mn-lt"/>
                <a:ea typeface="+mn-ea"/>
                <a:cs typeface="+mn-cs"/>
              </a:rPr>
              <a:t>低秩（Low-Rank）</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引進低秩前（直接計算）</a:t>
            </a:r>
            <a:r>
              <a:rPr lang="zh-TW" altLang="zh-TW" sz="1200" b="0" u="none" strike="noStrike" kern="1200" dirty="0">
                <a:solidFill>
                  <a:schemeClr val="tx1"/>
                </a:solidFill>
                <a:effectLst/>
                <a:latin typeface="+mn-lt"/>
                <a:ea typeface="+mn-ea"/>
                <a:cs typeface="+mn-cs"/>
              </a:rPr>
              <a:t>：參數量 = 4096 × 4096 ≈ 1,677 萬</a:t>
            </a:r>
          </a:p>
          <a:p>
            <a:pPr lvl="0"/>
            <a:r>
              <a:rPr lang="zh-TW" altLang="zh-TW" sz="1200" b="1" u="none" strike="noStrike" kern="1200" dirty="0">
                <a:solidFill>
                  <a:schemeClr val="tx1"/>
                </a:solidFill>
                <a:effectLst/>
                <a:latin typeface="+mn-lt"/>
                <a:ea typeface="+mn-ea"/>
                <a:cs typeface="+mn-cs"/>
              </a:rPr>
              <a:t>引進低秩後（拆成兩個）</a:t>
            </a:r>
            <a:r>
              <a:rPr lang="zh-TW" altLang="zh-TW" sz="1200" b="0" u="none" strike="noStrike" kern="1200" dirty="0">
                <a:solidFill>
                  <a:schemeClr val="tx1"/>
                </a:solidFill>
                <a:effectLst/>
                <a:latin typeface="+mn-lt"/>
                <a:ea typeface="+mn-ea"/>
                <a:cs typeface="+mn-cs"/>
              </a:rPr>
              <a:t>：參數量 = (4096 × 128) + (128 × 4096) ≈ 104 萬</a:t>
            </a:r>
          </a:p>
          <a:p>
            <a:pPr lvl="0"/>
            <a:r>
              <a:rPr lang="zh-TW" altLang="zh-TW" sz="1200" b="1" u="none" strike="noStrike" kern="1200" dirty="0">
                <a:solidFill>
                  <a:schemeClr val="tx1"/>
                </a:solidFill>
                <a:effectLst/>
                <a:latin typeface="+mn-lt"/>
                <a:ea typeface="+mn-ea"/>
                <a:cs typeface="+mn-cs"/>
              </a:rPr>
              <a:t>結果</a:t>
            </a:r>
            <a:r>
              <a:rPr lang="zh-TW" altLang="zh-TW" sz="1200" b="0" u="none" strike="noStrike" kern="1200" dirty="0">
                <a:solidFill>
                  <a:schemeClr val="tx1"/>
                </a:solidFill>
                <a:effectLst/>
                <a:latin typeface="+mn-lt"/>
                <a:ea typeface="+mn-ea"/>
                <a:cs typeface="+mn-cs"/>
              </a:rPr>
              <a:t>：記憶體與計算量直接暴減了 </a:t>
            </a:r>
            <a:r>
              <a:rPr lang="zh-TW" altLang="zh-TW" sz="1200" b="1" u="none" strike="noStrike" kern="1200" dirty="0">
                <a:solidFill>
                  <a:schemeClr val="tx1"/>
                </a:solidFill>
                <a:effectLst/>
                <a:latin typeface="+mn-lt"/>
                <a:ea typeface="+mn-ea"/>
                <a:cs typeface="+mn-cs"/>
              </a:rPr>
              <a:t>16 倍</a:t>
            </a:r>
            <a:r>
              <a:rPr lang="zh-TW" altLang="zh-TW" sz="1200" b="0" u="none" strike="noStrike" kern="1200" dirty="0">
                <a:solidFill>
                  <a:schemeClr val="tx1"/>
                </a:solidFill>
                <a:effectLst/>
                <a:latin typeface="+mn-lt"/>
                <a:ea typeface="+mn-ea"/>
                <a:cs typeface="+mn-cs"/>
              </a:rPr>
              <a:t>！</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為什麼大模型可以這樣做？（低秩假設）</a:t>
            </a:r>
          </a:p>
          <a:p>
            <a:r>
              <a:rPr lang="zh-TW" altLang="zh-TW" sz="1200" b="0" u="none" strike="noStrike" kern="1200" dirty="0">
                <a:solidFill>
                  <a:schemeClr val="tx1"/>
                </a:solidFill>
                <a:effectLst/>
                <a:latin typeface="+mn-lt"/>
                <a:ea typeface="+mn-ea"/>
                <a:cs typeface="+mn-cs"/>
              </a:rPr>
              <a:t>你可能會問：把 4096 維度壓到 128 維度，資訊不會全部漏光嗎？</a:t>
            </a:r>
          </a:p>
          <a:p>
            <a:r>
              <a:rPr lang="zh-TW" altLang="zh-TW" sz="1200" b="0" u="none" strike="noStrike" kern="1200" dirty="0">
                <a:solidFill>
                  <a:schemeClr val="tx1"/>
                </a:solidFill>
                <a:effectLst/>
                <a:latin typeface="+mn-lt"/>
                <a:ea typeface="+mn-ea"/>
                <a:cs typeface="+mn-cs"/>
              </a:rPr>
              <a:t>答案是：不會。因為在真實世界中，數據（如人類的語言）雖然表面上維度很高（高維空間），但它們背後真正起作用的「核心特徵」其實很少。大模型在處理語義時，很多維度是冗餘、重複或相關聯的。這在數學上稱為</a:t>
            </a:r>
            <a:r>
              <a:rPr lang="zh-TW" altLang="zh-TW" sz="1200" b="1" u="none" strike="noStrike" kern="1200" dirty="0">
                <a:solidFill>
                  <a:schemeClr val="tx1"/>
                </a:solidFill>
                <a:effectLst/>
                <a:latin typeface="+mn-lt"/>
                <a:ea typeface="+mn-ea"/>
                <a:cs typeface="+mn-cs"/>
              </a:rPr>
              <a:t>低秩假設（Low-Rank Hypothesis）</a:t>
            </a:r>
            <a:r>
              <a:rPr lang="zh-TW" altLang="zh-TW" sz="1200" b="0" u="none" strike="noStrike" kern="1200" dirty="0">
                <a:solidFill>
                  <a:schemeClr val="tx1"/>
                </a:solidFill>
                <a:effectLst/>
                <a:latin typeface="+mn-lt"/>
                <a:ea typeface="+mn-ea"/>
                <a:cs typeface="+mn-cs"/>
              </a:rPr>
              <a:t>。大模型只需要捕捉到那 128 個最核心的隱藏規律，就能完美還原原本的語義。</a:t>
            </a:r>
          </a:p>
          <a:p>
            <a:endParaRPr lang="en-US" altLang="zh-TW" dirty="0"/>
          </a:p>
          <a:p>
            <a:r>
              <a:rPr lang="zh-TW" altLang="zh-TW" sz="1200" b="1" u="none" strike="noStrike" kern="1200" dirty="0">
                <a:solidFill>
                  <a:schemeClr val="tx1"/>
                </a:solidFill>
                <a:effectLst/>
                <a:latin typeface="+mn-lt"/>
                <a:ea typeface="+mn-ea"/>
                <a:cs typeface="+mn-cs"/>
              </a:rPr>
              <a:t>3. 常見的熱門應用</a:t>
            </a:r>
          </a:p>
          <a:p>
            <a:r>
              <a:rPr lang="zh-TW" altLang="zh-TW" sz="1200" b="0" u="none" strike="noStrike" kern="1200" dirty="0">
                <a:solidFill>
                  <a:schemeClr val="tx1"/>
                </a:solidFill>
                <a:effectLst/>
                <a:latin typeface="+mn-lt"/>
                <a:ea typeface="+mn-ea"/>
                <a:cs typeface="+mn-cs"/>
              </a:rPr>
              <a:t>低秩投影是近代大模型得以走向「平民化」和「長文本化」的功臣，最著名的應用包括：</a:t>
            </a:r>
          </a:p>
          <a:p>
            <a:pPr lvl="0"/>
            <a:r>
              <a:rPr lang="zh-TW" altLang="zh-TW" sz="1200" b="1" u="none" strike="noStrike" kern="1200" dirty="0">
                <a:solidFill>
                  <a:schemeClr val="tx1"/>
                </a:solidFill>
                <a:effectLst/>
                <a:latin typeface="+mn-lt"/>
                <a:ea typeface="+mn-ea"/>
                <a:cs typeface="+mn-cs"/>
              </a:rPr>
              <a:t>LoRA (Low-Rank Adaptation) 微調技術</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在微調大模型時，凍結原本的幾百億參數（高秩），只在旁邊外掛兩個低秩投影的小矩陣（A 和 B）來訓練。讓一般人只用一張顯卡就能微調大模型。</a:t>
            </a:r>
          </a:p>
          <a:p>
            <a:pPr lvl="0"/>
            <a:r>
              <a:rPr lang="zh-TW" altLang="zh-TW" sz="1200" b="1" u="none" strike="noStrike" kern="1200" dirty="0">
                <a:solidFill>
                  <a:schemeClr val="tx1"/>
                </a:solidFill>
                <a:effectLst/>
                <a:latin typeface="+mn-lt"/>
                <a:ea typeface="+mn-ea"/>
                <a:cs typeface="+mn-cs"/>
              </a:rPr>
              <a:t>DeepSeek 的 MLA (Multi-head Latent Attention)</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這就是我們前面聊到的！傳統 Transformer 必須要把每個 Token 巨大的 KV 向量（高維）存進顯存（KV Cache）。DeepSeek 利用</a:t>
            </a:r>
            <a:r>
              <a:rPr lang="zh-TW" altLang="zh-TW" sz="1200" b="1" u="none" strike="noStrike" kern="1200" dirty="0">
                <a:solidFill>
                  <a:schemeClr val="tx1"/>
                </a:solidFill>
                <a:effectLst/>
                <a:latin typeface="+mn-lt"/>
                <a:ea typeface="+mn-ea"/>
                <a:cs typeface="+mn-cs"/>
              </a:rPr>
              <a:t>低秩投影</a:t>
            </a:r>
            <a:r>
              <a:rPr lang="zh-TW" altLang="zh-TW" sz="1200" b="0" u="none" strike="noStrike" kern="1200" dirty="0">
                <a:solidFill>
                  <a:schemeClr val="tx1"/>
                </a:solidFill>
                <a:effectLst/>
                <a:latin typeface="+mn-lt"/>
                <a:ea typeface="+mn-ea"/>
                <a:cs typeface="+mn-cs"/>
              </a:rPr>
              <a:t>，把所有 Token 的 KV 向量壓縮成一個極小的潛在向量存起來。等到要計算 Attention Score 時，再用向上投影矩陣</a:t>
            </a:r>
            <a:r>
              <a:rPr lang="zh-TW" altLang="zh-TW" sz="1200" b="1" u="none" strike="noStrike" kern="1200" dirty="0">
                <a:solidFill>
                  <a:schemeClr val="tx1"/>
                </a:solidFill>
                <a:effectLst/>
                <a:latin typeface="+mn-lt"/>
                <a:ea typeface="+mn-ea"/>
                <a:cs typeface="+mn-cs"/>
              </a:rPr>
              <a:t>「吸收（Absorb）」</a:t>
            </a:r>
            <a:r>
              <a:rPr lang="zh-TW" altLang="zh-TW" sz="1200" b="0" u="none" strike="noStrike" kern="1200" dirty="0">
                <a:solidFill>
                  <a:schemeClr val="tx1"/>
                </a:solidFill>
                <a:effectLst/>
                <a:latin typeface="+mn-lt"/>
                <a:ea typeface="+mn-ea"/>
                <a:cs typeface="+mn-cs"/>
              </a:rPr>
              <a:t>還原。這正是 NoPE 技術存在的前提。</a:t>
            </a:r>
          </a:p>
          <a:p>
            <a:r>
              <a:rPr lang="zh-TW" altLang="zh-TW" sz="1200" b="1" u="none" strike="noStrike" kern="1200" dirty="0">
                <a:solidFill>
                  <a:schemeClr val="tx1"/>
                </a:solidFill>
                <a:effectLst/>
                <a:latin typeface="+mn-lt"/>
                <a:ea typeface="+mn-ea"/>
                <a:cs typeface="+mn-cs"/>
              </a:rPr>
              <a:t>總結</a:t>
            </a:r>
          </a:p>
          <a:p>
            <a:r>
              <a:rPr lang="zh-TW" altLang="zh-TW" sz="1200" b="0" u="none" strike="noStrike" kern="1200" dirty="0">
                <a:solidFill>
                  <a:schemeClr val="tx1"/>
                </a:solidFill>
                <a:effectLst/>
                <a:latin typeface="+mn-lt"/>
                <a:ea typeface="+mn-ea"/>
                <a:cs typeface="+mn-cs"/>
              </a:rPr>
              <a:t>低秩投影就像是</a:t>
            </a:r>
            <a:r>
              <a:rPr lang="zh-TW" altLang="zh-TW" sz="1200" b="1" u="none" strike="noStrike" kern="1200" dirty="0">
                <a:solidFill>
                  <a:schemeClr val="tx1"/>
                </a:solidFill>
                <a:effectLst/>
                <a:latin typeface="+mn-lt"/>
                <a:ea typeface="+mn-ea"/>
                <a:cs typeface="+mn-cs"/>
              </a:rPr>
              <a:t>「把 4K 高清影片壓縮成 MP4 檔案儲存（Down-projection），播放時再透過解碼器在螢幕上流暢渲染（Up-projection）」</a:t>
            </a:r>
            <a:r>
              <a:rPr lang="zh-TW" altLang="zh-TW" sz="1200" b="0" u="none" strike="noStrike" kern="1200" dirty="0">
                <a:solidFill>
                  <a:schemeClr val="tx1"/>
                </a:solidFill>
                <a:effectLst/>
                <a:latin typeface="+mn-lt"/>
                <a:ea typeface="+mn-ea"/>
                <a:cs typeface="+mn-cs"/>
              </a:rPr>
              <a:t>。它用極小的精度損失，換取了驚人的速度與空間。</a:t>
            </a:r>
          </a:p>
          <a:p>
            <a:endParaRPr lang="zh-TW" altLang="zh-TW" dirty="0"/>
          </a:p>
        </p:txBody>
      </p:sp>
      <p:sp>
        <p:nvSpPr>
          <p:cNvPr id="4" name="投影片編號版面配置區 3">
            <a:extLst>
              <a:ext uri="{FF2B5EF4-FFF2-40B4-BE49-F238E27FC236}">
                <a16:creationId xmlns:a16="http://schemas.microsoft.com/office/drawing/2014/main" id="{CA6E37FD-9424-18B4-0B03-40E88DF731AE}"/>
              </a:ext>
            </a:extLst>
          </p:cNvPr>
          <p:cNvSpPr>
            <a:spLocks noGrp="1"/>
          </p:cNvSpPr>
          <p:nvPr>
            <p:ph type="sldNum" sz="quarter" idx="5"/>
          </p:nvPr>
        </p:nvSpPr>
        <p:spPr/>
        <p:txBody>
          <a:bodyPr/>
          <a:lstStyle/>
          <a:p>
            <a:fld id="{E3A6CE5E-F349-486D-8749-82EF2AD71FA8}" type="slidenum">
              <a:rPr lang="zh-TW" altLang="en-US" smtClean="0"/>
              <a:t>36</a:t>
            </a:fld>
            <a:endParaRPr lang="zh-TW" altLang="en-US"/>
          </a:p>
        </p:txBody>
      </p:sp>
    </p:spTree>
    <p:extLst>
      <p:ext uri="{BB962C8B-B14F-4D97-AF65-F5344CB8AC3E}">
        <p14:creationId xmlns:p14="http://schemas.microsoft.com/office/powerpoint/2010/main" val="87239044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在程式碼實作中，LoRA 凍結原始模型權重的方式非常直接：</a:t>
            </a:r>
            <a:r>
              <a:rPr lang="zh-TW" altLang="zh-TW" sz="1200" b="1" u="none" strike="noStrike" kern="1200" dirty="0">
                <a:solidFill>
                  <a:schemeClr val="tx1"/>
                </a:solidFill>
                <a:effectLst/>
                <a:latin typeface="+mn-lt"/>
                <a:ea typeface="+mn-ea"/>
                <a:cs typeface="+mn-cs"/>
              </a:rPr>
              <a:t>將原始模型所有層的參數設定為「不計算梯度」（requires_grad = False）</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當你使用 Hugging Face 的 peft 函式庫時，底層的運作邏輯如下：</a:t>
            </a:r>
          </a:p>
          <a:p>
            <a:r>
              <a:rPr lang="zh-TW" altLang="zh-TW" sz="1200" b="1" u="none" strike="noStrike" kern="1200" dirty="0">
                <a:solidFill>
                  <a:schemeClr val="tx1"/>
                </a:solidFill>
                <a:effectLst/>
                <a:latin typeface="+mn-lt"/>
                <a:ea typeface="+mn-ea"/>
                <a:cs typeface="+mn-cs"/>
              </a:rPr>
              <a:t>🛠 核心實作三步驟</a:t>
            </a:r>
          </a:p>
          <a:p>
            <a:pPr lvl="0"/>
            <a:r>
              <a:rPr lang="zh-TW" altLang="zh-TW" sz="1200" b="1" u="none" strike="noStrike" kern="1200" dirty="0">
                <a:solidFill>
                  <a:schemeClr val="tx1"/>
                </a:solidFill>
                <a:effectLst/>
                <a:latin typeface="+mn-lt"/>
                <a:ea typeface="+mn-ea"/>
                <a:cs typeface="+mn-cs"/>
              </a:rPr>
              <a:t>步驟一：凍結全部 (Freeze All)</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遍歷原始模型（如 LLaMA 或 SVD）的所有參數，將它們的 requires_grad 屬性全部設為 False。此時反向傳播不會計算這些參數的梯度，記憶體（顯存）大解放。</a:t>
            </a:r>
          </a:p>
          <a:p>
            <a:pPr lvl="0"/>
            <a:r>
              <a:rPr lang="zh-TW" altLang="zh-TW" sz="1200" b="1" u="none" strike="noStrike" kern="1200" dirty="0">
                <a:solidFill>
                  <a:schemeClr val="tx1"/>
                </a:solidFill>
                <a:effectLst/>
                <a:latin typeface="+mn-lt"/>
                <a:ea typeface="+mn-ea"/>
                <a:cs typeface="+mn-cs"/>
              </a:rPr>
              <a:t>步驟二：注入 LoRA 旁路 (Inject Layers)</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在指定的線性層（Linear Layers）旁邊，外掛 A 和 B 兩個低秩矩陣。</a:t>
            </a:r>
          </a:p>
          <a:p>
            <a:pPr lvl="0"/>
            <a:r>
              <a:rPr lang="zh-TW" altLang="zh-TW" sz="1200" b="1" u="none" strike="noStrike" kern="1200" dirty="0">
                <a:solidFill>
                  <a:schemeClr val="tx1"/>
                </a:solidFill>
                <a:effectLst/>
                <a:latin typeface="+mn-lt"/>
                <a:ea typeface="+mn-ea"/>
                <a:cs typeface="+mn-cs"/>
              </a:rPr>
              <a:t>步驟三：單獨激活 (Activate LoRA)</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將這兩個新加入的 A 和 B 矩陣參數，其 requires_grad 屬性設定為 True。</a:t>
            </a:r>
          </a:p>
          <a:p>
            <a:endParaRPr lang="zh-TW" altLang="zh-TW" dirty="0"/>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37</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38</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39</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深度的軟體工程測試</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DeepSWE</a:t>
            </a:r>
            <a:r>
              <a:rPr lang="zh-TW" altLang="zh-TW" dirty="0"/>
              <a:t> 是由 Datacurve 於 2026 年 5 月開源的一項 </a:t>
            </a:r>
            <a:r>
              <a:rPr lang="zh-TW" altLang="zh-TW" sz="1200" b="1" u="none" strike="noStrike" kern="1200" dirty="0">
                <a:solidFill>
                  <a:schemeClr val="tx1"/>
                </a:solidFill>
                <a:effectLst/>
                <a:latin typeface="+mn-lt"/>
                <a:ea typeface="+mn-ea"/>
                <a:cs typeface="+mn-cs"/>
              </a:rPr>
              <a:t>AI 程式碼生成與Agent基準測試（Benchmark）</a:t>
            </a:r>
            <a:r>
              <a:rPr lang="zh-TW" altLang="zh-TW" dirty="0"/>
              <a:t>，</a:t>
            </a:r>
            <a:endParaRPr lang="en-US" altLang="zh-TW" dirty="0"/>
          </a:p>
          <a:p>
            <a:r>
              <a:rPr lang="zh-TW" altLang="zh-TW" dirty="0"/>
              <a:t>專門用來評估大型語言模型在真實軟體工程任務中的自主處理能力。</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40</a:t>
            </a:fld>
            <a:endParaRPr lang="zh-TW" altLang="en-US"/>
          </a:p>
        </p:txBody>
      </p:sp>
    </p:spTree>
    <p:extLst>
      <p:ext uri="{BB962C8B-B14F-4D97-AF65-F5344CB8AC3E}">
        <p14:creationId xmlns:p14="http://schemas.microsoft.com/office/powerpoint/2010/main" val="31801373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基於工具可靠性、任務完成度和可控性等指標，對模型在實際智慧任務中協調工具的能力進行動態排名。</a:t>
            </a:r>
            <a:endParaRPr lang="en-US" altLang="zh-TW"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41</a:t>
            </a:fld>
            <a:endParaRPr lang="zh-TW" altLang="en-US"/>
          </a:p>
        </p:txBody>
      </p:sp>
    </p:spTree>
    <p:extLst>
      <p:ext uri="{BB962C8B-B14F-4D97-AF65-F5344CB8AC3E}">
        <p14:creationId xmlns:p14="http://schemas.microsoft.com/office/powerpoint/2010/main" val="322822908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查看涵蓋數學、程式設計、創意寫作及其他開放領域中各種人工智慧模型在文字到文字任務中的總體排名。</a:t>
            </a:r>
            <a:endParaRPr lang="en-US" altLang="zh-TW" dirty="0"/>
          </a:p>
          <a:p>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Tencent Hy3</a:t>
            </a:r>
            <a:r>
              <a:rPr lang="zh-TW" altLang="zh-TW" dirty="0"/>
              <a:t>（騰訊混元 Hy3）</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是騰訊於 2026 年 7 月正式發布的大型語言模型，採用「快慢思考」融合的混合專家模型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MoE</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架構，總參數達 2,950 億、啟用參數 210 億，並支援 256K 超長上下文視窗。其性能足以比肩參數規模大其 2 至 5 倍的旗艦模型，主打高性價比與強大智能體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Agent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任務表現。 </a:t>
            </a:r>
            <a:br>
              <a:rPr lang="en-US" altLang="zh-TW" sz="1200" b="0" u="none" strike="noStrike" kern="1200" dirty="0">
                <a:solidFill>
                  <a:schemeClr val="tx1"/>
                </a:solidFill>
                <a:effectLst/>
                <a:latin typeface="+mn-lt"/>
                <a:ea typeface="+mn-ea"/>
                <a:cs typeface="+mn-cs"/>
              </a:rPr>
            </a:b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Korea Upstage solar-pro4: </a:t>
            </a:r>
            <a:r>
              <a:rPr lang="zh-TW" altLang="zh-TW" sz="1200" b="0" u="none" strike="noStrike" kern="1200" dirty="0">
                <a:solidFill>
                  <a:schemeClr val="tx1"/>
                </a:solidFill>
                <a:effectLst/>
                <a:latin typeface="+mn-lt"/>
                <a:ea typeface="+mn-ea"/>
                <a:cs typeface="+mn-cs"/>
              </a:rPr>
              <a:t>韓國人工智慧實驗室 Upstage</a:t>
            </a:r>
            <a:r>
              <a:rPr lang="zh-TW" altLang="zh-TW" dirty="0"/>
              <a:t> 於 2026 年 8 月推出全新商用大型語言模型 </a:t>
            </a:r>
            <a:r>
              <a:rPr lang="zh-TW" altLang="zh-TW" sz="1200" b="1" u="none" strike="noStrike" kern="1200" dirty="0">
                <a:solidFill>
                  <a:schemeClr val="tx1"/>
                </a:solidFill>
                <a:effectLst/>
                <a:latin typeface="+mn-lt"/>
                <a:ea typeface="+mn-ea"/>
                <a:cs typeface="+mn-cs"/>
              </a:rPr>
              <a:t>Solar Pro 4</a:t>
            </a:r>
            <a:r>
              <a:rPr lang="zh-TW" altLang="zh-TW" dirty="0"/>
              <a:t>，專為複雜的 AI 智慧體（Agent）任務與企業長文本工作流程所設計。該模型大幅強化推論與多步驟工具調用能力，是首個正式登入全球平台 </a:t>
            </a:r>
            <a:r>
              <a:rPr lang="zh-TW" altLang="zh-TW" sz="1200" b="0" u="none" strike="noStrike" kern="1200" dirty="0">
                <a:solidFill>
                  <a:schemeClr val="tx1"/>
                </a:solidFill>
                <a:effectLst/>
                <a:latin typeface="+mn-lt"/>
                <a:ea typeface="+mn-ea"/>
                <a:cs typeface="+mn-cs"/>
                <a:hlinkClick r:id="rId3"/>
              </a:rPr>
              <a:t>OpenRouter</a:t>
            </a:r>
            <a:r>
              <a:rPr lang="zh-TW" altLang="zh-TW" dirty="0"/>
              <a:t> 的韓國大型語言模型。</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42</a:t>
            </a:fld>
            <a:endParaRPr lang="zh-TW" altLang="en-US"/>
          </a:p>
        </p:txBody>
      </p:sp>
    </p:spTree>
    <p:extLst>
      <p:ext uri="{BB962C8B-B14F-4D97-AF65-F5344CB8AC3E}">
        <p14:creationId xmlns:p14="http://schemas.microsoft.com/office/powerpoint/2010/main" val="134069069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43</a:t>
            </a:fld>
            <a:endParaRPr lang="zh-TW" altLang="en-US"/>
          </a:p>
        </p:txBody>
      </p:sp>
    </p:spTree>
    <p:extLst>
      <p:ext uri="{BB962C8B-B14F-4D97-AF65-F5344CB8AC3E}">
        <p14:creationId xmlns:p14="http://schemas.microsoft.com/office/powerpoint/2010/main" val="80319181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48</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49</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2026/9/11</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2026/9/11</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 Id="rId14" Type="http://schemas.openxmlformats.org/officeDocument/2006/relationships/image" Target="../media/image12.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90.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80.png"/><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60.png"/></Relationships>
</file>

<file path=ppt/slides/_rels/slide14.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1.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0.png"/><Relationship Id="rId11" Type="http://schemas.openxmlformats.org/officeDocument/2006/relationships/image" Target="../media/image24.png"/><Relationship Id="rId5" Type="http://schemas.openxmlformats.org/officeDocument/2006/relationships/image" Target="../media/image180.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0.png"/><Relationship Id="rId9" Type="http://schemas.openxmlformats.org/officeDocument/2006/relationships/image" Target="../media/image22.png"/><Relationship Id="rId14" Type="http://schemas.openxmlformats.org/officeDocument/2006/relationships/image" Target="../media/image27.png"/></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9.png"/><Relationship Id="rId2" Type="http://schemas.openxmlformats.org/officeDocument/2006/relationships/notesSlide" Target="../notesSlides/notesSlide12.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41.png"/></Relationships>
</file>

<file path=ppt/slides/_rels/slide1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43.svg"/></Relationships>
</file>

<file path=ppt/slides/_rels/slide18.xml.rels><?xml version="1.0" encoding="UTF-8" standalone="yes"?>
<Relationships xmlns="http://schemas.openxmlformats.org/package/2006/relationships"><Relationship Id="rId3" Type="http://schemas.openxmlformats.org/officeDocument/2006/relationships/image" Target="../media/image44.sv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8" Type="http://schemas.openxmlformats.org/officeDocument/2006/relationships/image" Target="../media/image440.png"/><Relationship Id="rId3" Type="http://schemas.openxmlformats.org/officeDocument/2006/relationships/image" Target="../media/image45.png"/><Relationship Id="rId7" Type="http://schemas.openxmlformats.org/officeDocument/2006/relationships/image" Target="../media/image47.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46.png"/><Relationship Id="rId5" Type="http://schemas.openxmlformats.org/officeDocument/2006/relationships/image" Target="../media/image410.png"/><Relationship Id="rId4" Type="http://schemas.openxmlformats.org/officeDocument/2006/relationships/image" Target="../media/image400.png"/></Relationships>
</file>

<file path=ppt/slides/_rels/slide20.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8.xml"/><Relationship Id="rId1" Type="http://schemas.openxmlformats.org/officeDocument/2006/relationships/slideLayout" Target="../slideLayouts/slideLayout3.xml"/><Relationship Id="rId5" Type="http://schemas.openxmlformats.org/officeDocument/2006/relationships/image" Target="../media/image50.png"/><Relationship Id="rId4" Type="http://schemas.openxmlformats.org/officeDocument/2006/relationships/image" Target="../media/image49.png"/></Relationships>
</file>

<file path=ppt/slides/_rels/slide22.xml.rels><?xml version="1.0" encoding="UTF-8" standalone="yes"?>
<Relationships xmlns="http://schemas.openxmlformats.org/package/2006/relationships"><Relationship Id="rId3" Type="http://schemas.openxmlformats.org/officeDocument/2006/relationships/image" Target="../media/image51.svg"/><Relationship Id="rId7" Type="http://schemas.openxmlformats.org/officeDocument/2006/relationships/image" Target="../media/image55.png"/><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54.png"/><Relationship Id="rId5" Type="http://schemas.openxmlformats.org/officeDocument/2006/relationships/image" Target="../media/image53.svg"/><Relationship Id="rId4" Type="http://schemas.openxmlformats.org/officeDocument/2006/relationships/image" Target="../media/image52.png"/></Relationships>
</file>

<file path=ppt/slides/_rels/slide2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57.jp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8" Type="http://schemas.openxmlformats.org/officeDocument/2006/relationships/image" Target="../media/image66.svg"/><Relationship Id="rId3" Type="http://schemas.openxmlformats.org/officeDocument/2006/relationships/image" Target="../media/image60.svg"/><Relationship Id="rId7" Type="http://schemas.openxmlformats.org/officeDocument/2006/relationships/image" Target="../media/image65.sv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64.svg"/><Relationship Id="rId5" Type="http://schemas.openxmlformats.org/officeDocument/2006/relationships/image" Target="../media/image63.png"/><Relationship Id="rId10" Type="http://schemas.openxmlformats.org/officeDocument/2006/relationships/image" Target="../media/image68.svg"/><Relationship Id="rId4" Type="http://schemas.openxmlformats.org/officeDocument/2006/relationships/image" Target="../media/image61.svg"/><Relationship Id="rId9" Type="http://schemas.openxmlformats.org/officeDocument/2006/relationships/image" Target="../media/image67.svg"/></Relationships>
</file>

<file path=ppt/slides/_rels/slide28.xml.rels><?xml version="1.0" encoding="UTF-8" standalone="yes"?>
<Relationships xmlns="http://schemas.openxmlformats.org/package/2006/relationships"><Relationship Id="rId3" Type="http://schemas.openxmlformats.org/officeDocument/2006/relationships/image" Target="../media/image63.png"/><Relationship Id="rId7" Type="http://schemas.openxmlformats.org/officeDocument/2006/relationships/image" Target="../media/image61.svg"/><Relationship Id="rId2" Type="http://schemas.openxmlformats.org/officeDocument/2006/relationships/notesSlide" Target="../notesSlides/notesSlide24.xml"/><Relationship Id="rId1" Type="http://schemas.openxmlformats.org/officeDocument/2006/relationships/slideLayout" Target="../slideLayouts/slideLayout3.xml"/><Relationship Id="rId6" Type="http://schemas.openxmlformats.org/officeDocument/2006/relationships/image" Target="../media/image70.svg"/><Relationship Id="rId5" Type="http://schemas.openxmlformats.org/officeDocument/2006/relationships/image" Target="../media/image69.svg"/><Relationship Id="rId4" Type="http://schemas.openxmlformats.org/officeDocument/2006/relationships/image" Target="../media/image64.svg"/></Relationships>
</file>

<file path=ppt/slides/_rels/slide29.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25.xml"/><Relationship Id="rId1" Type="http://schemas.openxmlformats.org/officeDocument/2006/relationships/slideLayout" Target="../slideLayouts/slideLayout3.xml"/><Relationship Id="rId4" Type="http://schemas.openxmlformats.org/officeDocument/2006/relationships/image" Target="../media/image72.svg"/></Relationships>
</file>

<file path=ppt/slides/_rels/slide30.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73.png"/><Relationship Id="rId1" Type="http://schemas.openxmlformats.org/officeDocument/2006/relationships/slideLayout" Target="../slideLayouts/slideLayout3.xml"/><Relationship Id="rId4" Type="http://schemas.openxmlformats.org/officeDocument/2006/relationships/image" Target="../media/image74.jpeg"/></Relationships>
</file>

<file path=ppt/slides/_rels/slide31.xml.rels><?xml version="1.0" encoding="UTF-8" standalone="yes"?>
<Relationships xmlns="http://schemas.openxmlformats.org/package/2006/relationships"><Relationship Id="rId8" Type="http://schemas.openxmlformats.org/officeDocument/2006/relationships/image" Target="../media/image73.png"/><Relationship Id="rId3" Type="http://schemas.openxmlformats.org/officeDocument/2006/relationships/image" Target="../media/image75.png"/><Relationship Id="rId7" Type="http://schemas.openxmlformats.org/officeDocument/2006/relationships/image" Target="../media/image79.png"/><Relationship Id="rId2" Type="http://schemas.openxmlformats.org/officeDocument/2006/relationships/notesSlide" Target="../notesSlides/notesSlide26.xml"/><Relationship Id="rId1" Type="http://schemas.openxmlformats.org/officeDocument/2006/relationships/slideLayout" Target="../slideLayouts/slideLayout3.xml"/><Relationship Id="rId6" Type="http://schemas.openxmlformats.org/officeDocument/2006/relationships/image" Target="../media/image78.png"/><Relationship Id="rId5" Type="http://schemas.openxmlformats.org/officeDocument/2006/relationships/image" Target="../media/image77.png"/><Relationship Id="rId4" Type="http://schemas.openxmlformats.org/officeDocument/2006/relationships/image" Target="../media/image76.jpeg"/></Relationships>
</file>

<file path=ppt/slides/_rels/slide32.xml.rels><?xml version="1.0" encoding="UTF-8" standalone="yes"?>
<Relationships xmlns="http://schemas.openxmlformats.org/package/2006/relationships"><Relationship Id="rId3" Type="http://schemas.openxmlformats.org/officeDocument/2006/relationships/image" Target="../media/image80.sv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81.svg"/></Relationships>
</file>

<file path=ppt/slides/_rels/slide33.xml.rels><?xml version="1.0" encoding="UTF-8" standalone="yes"?>
<Relationships xmlns="http://schemas.openxmlformats.org/package/2006/relationships"><Relationship Id="rId3" Type="http://schemas.openxmlformats.org/officeDocument/2006/relationships/image" Target="../media/image82.svg"/><Relationship Id="rId7" Type="http://schemas.openxmlformats.org/officeDocument/2006/relationships/image" Target="../media/image86.svg"/><Relationship Id="rId2" Type="http://schemas.openxmlformats.org/officeDocument/2006/relationships/notesSlide" Target="../notesSlides/notesSlide28.xml"/><Relationship Id="rId1" Type="http://schemas.openxmlformats.org/officeDocument/2006/relationships/slideLayout" Target="../slideLayouts/slideLayout3.xml"/><Relationship Id="rId6" Type="http://schemas.openxmlformats.org/officeDocument/2006/relationships/image" Target="../media/image85.svg"/><Relationship Id="rId5" Type="http://schemas.openxmlformats.org/officeDocument/2006/relationships/image" Target="../media/image84.svg"/><Relationship Id="rId4" Type="http://schemas.openxmlformats.org/officeDocument/2006/relationships/image" Target="../media/image83.svg"/></Relationships>
</file>

<file path=ppt/slides/_rels/slide34.xml.rels><?xml version="1.0" encoding="UTF-8" standalone="yes"?>
<Relationships xmlns="http://schemas.openxmlformats.org/package/2006/relationships"><Relationship Id="rId3" Type="http://schemas.openxmlformats.org/officeDocument/2006/relationships/image" Target="../media/image87.sv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88.sv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35.xml"/><Relationship Id="rId1" Type="http://schemas.openxmlformats.org/officeDocument/2006/relationships/slideLayout" Target="../slideLayouts/slideLayout3.xml"/><Relationship Id="rId5" Type="http://schemas.openxmlformats.org/officeDocument/2006/relationships/image" Target="../media/image91.png"/><Relationship Id="rId4" Type="http://schemas.openxmlformats.org/officeDocument/2006/relationships/hyperlink" Target="https://deepswe.datacurve.ai/"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arena.ai/leaderboard/agent/pareto" TargetMode="External"/><Relationship Id="rId2" Type="http://schemas.openxmlformats.org/officeDocument/2006/relationships/notesSlide" Target="../notesSlides/notesSlide36.xml"/><Relationship Id="rId1" Type="http://schemas.openxmlformats.org/officeDocument/2006/relationships/slideLayout" Target="../slideLayouts/slideLayout3.xml"/><Relationship Id="rId5" Type="http://schemas.openxmlformats.org/officeDocument/2006/relationships/image" Target="../media/image93.png"/><Relationship Id="rId4" Type="http://schemas.openxmlformats.org/officeDocument/2006/relationships/image" Target="../media/image92.png"/></Relationships>
</file>

<file path=ppt/slides/_rels/slide42.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37.xml"/><Relationship Id="rId1" Type="http://schemas.openxmlformats.org/officeDocument/2006/relationships/slideLayout" Target="../slideLayouts/slideLayout3.xml"/><Relationship Id="rId6" Type="http://schemas.openxmlformats.org/officeDocument/2006/relationships/image" Target="../media/image96.png"/><Relationship Id="rId5" Type="http://schemas.openxmlformats.org/officeDocument/2006/relationships/image" Target="../media/image95.png"/><Relationship Id="rId4" Type="http://schemas.openxmlformats.org/officeDocument/2006/relationships/hyperlink" Target="https://arena.ai/leaderboard/text/pareto" TargetMode="External"/></Relationships>
</file>

<file path=ppt/slides/_rels/slide43.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1.png"/><Relationship Id="rId7" Type="http://schemas.openxmlformats.org/officeDocument/2006/relationships/image" Target="../media/image11.png"/><Relationship Id="rId12" Type="http://schemas.openxmlformats.org/officeDocument/2006/relationships/image" Target="../media/image100.png"/><Relationship Id="rId2" Type="http://schemas.openxmlformats.org/officeDocument/2006/relationships/notesSlide" Target="../notesSlides/notesSlide38.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9.png"/><Relationship Id="rId5" Type="http://schemas.openxmlformats.org/officeDocument/2006/relationships/image" Target="../media/image3.png"/><Relationship Id="rId10" Type="http://schemas.openxmlformats.org/officeDocument/2006/relationships/image" Target="../media/image98.png"/><Relationship Id="rId4" Type="http://schemas.openxmlformats.org/officeDocument/2006/relationships/image" Target="../media/image2.png"/><Relationship Id="rId9" Type="http://schemas.openxmlformats.org/officeDocument/2006/relationships/image" Target="../media/image97.png"/></Relationships>
</file>

<file path=ppt/slides/_rels/slide44.xml.rels><?xml version="1.0" encoding="UTF-8" standalone="yes"?>
<Relationships xmlns="http://schemas.openxmlformats.org/package/2006/relationships"><Relationship Id="rId3" Type="http://schemas.openxmlformats.org/officeDocument/2006/relationships/image" Target="../media/image102.png"/><Relationship Id="rId7" Type="http://schemas.openxmlformats.org/officeDocument/2006/relationships/image" Target="../media/image73.png"/><Relationship Id="rId2" Type="http://schemas.openxmlformats.org/officeDocument/2006/relationships/image" Target="../media/image101.png"/><Relationship Id="rId1" Type="http://schemas.openxmlformats.org/officeDocument/2006/relationships/slideLayout" Target="../slideLayouts/slideLayout3.xml"/><Relationship Id="rId6" Type="http://schemas.openxmlformats.org/officeDocument/2006/relationships/image" Target="../media/image74.jpeg"/><Relationship Id="rId5" Type="http://schemas.openxmlformats.org/officeDocument/2006/relationships/image" Target="../media/image63.png"/><Relationship Id="rId4" Type="http://schemas.openxmlformats.org/officeDocument/2006/relationships/image" Target="../media/image103.png"/></Relationships>
</file>

<file path=ppt/slides/_rels/slide45.xml.rels><?xml version="1.0" encoding="UTF-8" standalone="yes"?>
<Relationships xmlns="http://schemas.openxmlformats.org/package/2006/relationships"><Relationship Id="rId2" Type="http://schemas.openxmlformats.org/officeDocument/2006/relationships/image" Target="../media/image74.jpeg"/><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4.xml"/><Relationship Id="rId5" Type="http://schemas.openxmlformats.org/officeDocument/2006/relationships/image" Target="../media/image107.png"/><Relationship Id="rId4" Type="http://schemas.openxmlformats.org/officeDocument/2006/relationships/image" Target="../media/image106.png"/></Relationships>
</file>

<file path=ppt/slides/_rels/slide47.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4.xml"/><Relationship Id="rId5" Type="http://schemas.openxmlformats.org/officeDocument/2006/relationships/image" Target="../media/image111.png"/><Relationship Id="rId4" Type="http://schemas.openxmlformats.org/officeDocument/2006/relationships/image" Target="../media/image110.png"/></Relationships>
</file>

<file path=ppt/slides/_rels/slide48.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2.png"/><Relationship Id="rId7" Type="http://schemas.openxmlformats.org/officeDocument/2006/relationships/image" Target="../media/image115.png"/><Relationship Id="rId2" Type="http://schemas.openxmlformats.org/officeDocument/2006/relationships/notesSlide" Target="../notesSlides/notesSlide39.xml"/><Relationship Id="rId1" Type="http://schemas.openxmlformats.org/officeDocument/2006/relationships/slideLayout" Target="../slideLayouts/slideLayout4.xml"/><Relationship Id="rId6" Type="http://schemas.openxmlformats.org/officeDocument/2006/relationships/image" Target="../media/image114.png"/><Relationship Id="rId5" Type="http://schemas.openxmlformats.org/officeDocument/2006/relationships/image" Target="../media/image2300.png"/><Relationship Id="rId4" Type="http://schemas.openxmlformats.org/officeDocument/2006/relationships/image" Target="../media/image113.png"/></Relationships>
</file>

<file path=ppt/slides/_rels/slide49.xml.rels><?xml version="1.0" encoding="UTF-8" standalone="yes"?>
<Relationships xmlns="http://schemas.openxmlformats.org/package/2006/relationships"><Relationship Id="rId8" Type="http://schemas.openxmlformats.org/officeDocument/2006/relationships/image" Target="../media/image122.png"/><Relationship Id="rId3" Type="http://schemas.openxmlformats.org/officeDocument/2006/relationships/image" Target="../media/image117.png"/><Relationship Id="rId7" Type="http://schemas.openxmlformats.org/officeDocument/2006/relationships/image" Target="../media/image121.png"/><Relationship Id="rId2" Type="http://schemas.openxmlformats.org/officeDocument/2006/relationships/notesSlide" Target="../notesSlides/notesSlide40.xml"/><Relationship Id="rId1" Type="http://schemas.openxmlformats.org/officeDocument/2006/relationships/slideLayout" Target="../slideLayouts/slideLayout4.xml"/><Relationship Id="rId6" Type="http://schemas.openxmlformats.org/officeDocument/2006/relationships/image" Target="../media/image120.png"/><Relationship Id="rId5" Type="http://schemas.openxmlformats.org/officeDocument/2006/relationships/image" Target="../media/image119.png"/><Relationship Id="rId4" Type="http://schemas.openxmlformats.org/officeDocument/2006/relationships/image" Target="../media/image118.png"/><Relationship Id="rId9" Type="http://schemas.openxmlformats.org/officeDocument/2006/relationships/image" Target="../media/image1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1847730089"/>
              </p:ext>
            </p:extLst>
          </p:nvPr>
        </p:nvGraphicFramePr>
        <p:xfrm>
          <a:off x="467544" y="908720"/>
          <a:ext cx="8208915" cy="5162641"/>
        </p:xfrm>
        <a:graphic>
          <a:graphicData uri="http://schemas.openxmlformats.org/drawingml/2006/table">
            <a:tbl>
              <a:tblPr firstRow="1" bandRow="1">
                <a:tableStyleId>{5C22544A-7EE6-4342-B048-85BDC9FD1C3A}</a:tableStyleId>
              </a:tblPr>
              <a:tblGrid>
                <a:gridCol w="452323">
                  <a:extLst>
                    <a:ext uri="{9D8B030D-6E8A-4147-A177-3AD203B41FA5}">
                      <a16:colId xmlns:a16="http://schemas.microsoft.com/office/drawing/2014/main" val="3115215194"/>
                    </a:ext>
                  </a:extLst>
                </a:gridCol>
                <a:gridCol w="1083586">
                  <a:extLst>
                    <a:ext uri="{9D8B030D-6E8A-4147-A177-3AD203B41FA5}">
                      <a16:colId xmlns:a16="http://schemas.microsoft.com/office/drawing/2014/main" val="2438358024"/>
                    </a:ext>
                  </a:extLst>
                </a:gridCol>
                <a:gridCol w="938612">
                  <a:extLst>
                    <a:ext uri="{9D8B030D-6E8A-4147-A177-3AD203B41FA5}">
                      <a16:colId xmlns:a16="http://schemas.microsoft.com/office/drawing/2014/main" val="4024420245"/>
                    </a:ext>
                  </a:extLst>
                </a:gridCol>
                <a:gridCol w="938612">
                  <a:extLst>
                    <a:ext uri="{9D8B030D-6E8A-4147-A177-3AD203B41FA5}">
                      <a16:colId xmlns:a16="http://schemas.microsoft.com/office/drawing/2014/main" val="1885199976"/>
                    </a:ext>
                  </a:extLst>
                </a:gridCol>
                <a:gridCol w="938612">
                  <a:extLst>
                    <a:ext uri="{9D8B030D-6E8A-4147-A177-3AD203B41FA5}">
                      <a16:colId xmlns:a16="http://schemas.microsoft.com/office/drawing/2014/main" val="2600189719"/>
                    </a:ext>
                  </a:extLst>
                </a:gridCol>
                <a:gridCol w="688815">
                  <a:extLst>
                    <a:ext uri="{9D8B030D-6E8A-4147-A177-3AD203B41FA5}">
                      <a16:colId xmlns:a16="http://schemas.microsoft.com/office/drawing/2014/main" val="459902815"/>
                    </a:ext>
                  </a:extLst>
                </a:gridCol>
                <a:gridCol w="1393855">
                  <a:extLst>
                    <a:ext uri="{9D8B030D-6E8A-4147-A177-3AD203B41FA5}">
                      <a16:colId xmlns:a16="http://schemas.microsoft.com/office/drawing/2014/main" val="4019554014"/>
                    </a:ext>
                  </a:extLst>
                </a:gridCol>
                <a:gridCol w="835888">
                  <a:extLst>
                    <a:ext uri="{9D8B030D-6E8A-4147-A177-3AD203B41FA5}">
                      <a16:colId xmlns:a16="http://schemas.microsoft.com/office/drawing/2014/main" val="1289474231"/>
                    </a:ext>
                  </a:extLst>
                </a:gridCol>
                <a:gridCol w="938612">
                  <a:extLst>
                    <a:ext uri="{9D8B030D-6E8A-4147-A177-3AD203B41FA5}">
                      <a16:colId xmlns:a16="http://schemas.microsoft.com/office/drawing/2014/main" val="2173516547"/>
                    </a:ext>
                  </a:extLst>
                </a:gridCol>
              </a:tblGrid>
              <a:tr h="281591">
                <a:tc gridSpan="9">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6247">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Attention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2015</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RSN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RoPE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NoPE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978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MLA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BERT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1748438"/>
                  </a:ext>
                </a:extLst>
              </a:tr>
              <a:tr h="21989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Net (1.58)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526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 V4</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5796025"/>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 K3,</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5172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22045">
                <a:tc gridSpan="9">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Kimi K3,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473367" y="609329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265460" y="6093296"/>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139803" y="6093296"/>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511172" y="6093296"/>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499814" y="2276872"/>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499814" y="1848212"/>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557472"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557472"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544066"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6381840" y="5895776"/>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75959" y="544587"/>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1835696" y="6120308"/>
            <a:ext cx="284964" cy="225568"/>
          </a:xfrm>
          <a:prstGeom prst="rect">
            <a:avLst/>
          </a:prstGeom>
        </p:spPr>
      </p:pic>
      <p:pic>
        <p:nvPicPr>
          <p:cNvPr id="8" name="圖片 7">
            <a:extLst>
              <a:ext uri="{FF2B5EF4-FFF2-40B4-BE49-F238E27FC236}">
                <a16:creationId xmlns:a16="http://schemas.microsoft.com/office/drawing/2014/main" id="{7ED36330-513F-6262-DF54-CFB02CB18314}"/>
              </a:ext>
            </a:extLst>
          </p:cNvPr>
          <p:cNvPicPr>
            <a:picLocks noChangeAspect="1"/>
          </p:cNvPicPr>
          <p:nvPr/>
        </p:nvPicPr>
        <p:blipFill>
          <a:blip r:embed="rId14"/>
          <a:stretch>
            <a:fillRect/>
          </a:stretch>
        </p:blipFill>
        <p:spPr>
          <a:xfrm>
            <a:off x="4886498" y="6093296"/>
            <a:ext cx="287015" cy="284965"/>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
        <p:nvSpPr>
          <p:cNvPr id="4" name="橢圓 3">
            <a:extLst>
              <a:ext uri="{FF2B5EF4-FFF2-40B4-BE49-F238E27FC236}">
                <a16:creationId xmlns:a16="http://schemas.microsoft.com/office/drawing/2014/main" id="{D2089391-8D65-40E5-5C46-54BA071E571E}"/>
              </a:ext>
            </a:extLst>
          </p:cNvPr>
          <p:cNvSpPr/>
          <p:nvPr/>
        </p:nvSpPr>
        <p:spPr>
          <a:xfrm>
            <a:off x="7151290" y="64811"/>
            <a:ext cx="1440160" cy="144016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AI</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6" name="橢圓 5">
            <a:extLst>
              <a:ext uri="{FF2B5EF4-FFF2-40B4-BE49-F238E27FC236}">
                <a16:creationId xmlns:a16="http://schemas.microsoft.com/office/drawing/2014/main" id="{23BB26CE-8640-3B58-7377-5C53396750A5}"/>
              </a:ext>
            </a:extLst>
          </p:cNvPr>
          <p:cNvSpPr/>
          <p:nvPr/>
        </p:nvSpPr>
        <p:spPr>
          <a:xfrm>
            <a:off x="7386703" y="377756"/>
            <a:ext cx="1012726" cy="103502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ML</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10" name="橢圓 9">
            <a:extLst>
              <a:ext uri="{FF2B5EF4-FFF2-40B4-BE49-F238E27FC236}">
                <a16:creationId xmlns:a16="http://schemas.microsoft.com/office/drawing/2014/main" id="{17DAC82A-858D-C745-4919-0FB742A474CB}"/>
              </a:ext>
            </a:extLst>
          </p:cNvPr>
          <p:cNvSpPr/>
          <p:nvPr/>
        </p:nvSpPr>
        <p:spPr>
          <a:xfrm>
            <a:off x="7592817" y="748867"/>
            <a:ext cx="600497" cy="55700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DL</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6" name="橢圓 15">
            <a:extLst>
              <a:ext uri="{FF2B5EF4-FFF2-40B4-BE49-F238E27FC236}">
                <a16:creationId xmlns:a16="http://schemas.microsoft.com/office/drawing/2014/main" id="{E7B04C76-E215-E3F7-08DB-60F870A1C84E}"/>
              </a:ext>
            </a:extLst>
          </p:cNvPr>
          <p:cNvSpPr/>
          <p:nvPr/>
        </p:nvSpPr>
        <p:spPr>
          <a:xfrm>
            <a:off x="7770100" y="1027369"/>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LLM</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1382004302"/>
              </p:ext>
            </p:extLst>
          </p:nvPr>
        </p:nvGraphicFramePr>
        <p:xfrm>
          <a:off x="5490780" y="443711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47463446"/>
              </p:ext>
            </p:extLst>
          </p:nvPr>
        </p:nvGraphicFramePr>
        <p:xfrm>
          <a:off x="4410659" y="5301208"/>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28803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a:off x="4851370" y="4149080"/>
            <a:ext cx="0" cy="107690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915620249"/>
              </p:ext>
            </p:extLst>
          </p:nvPr>
        </p:nvGraphicFramePr>
        <p:xfrm>
          <a:off x="2621428" y="5013176"/>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86409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2D9BD50B-577F-B4B4-A220-E73A646B5989}"/>
              </a:ext>
            </a:extLst>
          </p:cNvPr>
          <p:cNvGraphicFramePr>
            <a:graphicFrameLocks noGrp="1"/>
          </p:cNvGraphicFramePr>
          <p:nvPr>
            <p:extLst>
              <p:ext uri="{D42A27DB-BD31-4B8C-83A1-F6EECF244321}">
                <p14:modId xmlns:p14="http://schemas.microsoft.com/office/powerpoint/2010/main" val="2533785094"/>
              </p:ext>
            </p:extLst>
          </p:nvPr>
        </p:nvGraphicFramePr>
        <p:xfrm>
          <a:off x="3485298" y="6093296"/>
          <a:ext cx="1366071" cy="395501"/>
        </p:xfrm>
        <a:graphic>
          <a:graphicData uri="http://schemas.openxmlformats.org/drawingml/2006/table">
            <a:tbl>
              <a:tblPr firstRow="1" bandRow="1">
                <a:tableStyleId>{5C22544A-7EE6-4342-B048-85BDC9FD1C3A}</a:tableStyleId>
              </a:tblPr>
              <a:tblGrid>
                <a:gridCol w="1366071">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On-Policy Distillation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 (PPO/GRPO)</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bl>
          </a:graphicData>
        </a:graphic>
      </p:graphicFrame>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1122051268"/>
              </p:ext>
            </p:extLst>
          </p:nvPr>
        </p:nvGraphicFramePr>
        <p:xfrm>
          <a:off x="7022636" y="4375409"/>
          <a:ext cx="1005748" cy="594408"/>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369529">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cxnSp>
        <p:nvCxnSpPr>
          <p:cNvPr id="18" name="直線單箭頭接點 17">
            <a:extLst>
              <a:ext uri="{FF2B5EF4-FFF2-40B4-BE49-F238E27FC236}">
                <a16:creationId xmlns:a16="http://schemas.microsoft.com/office/drawing/2014/main" id="{88021678-B509-2729-868F-CB4CCC276C52}"/>
              </a:ext>
            </a:extLst>
          </p:cNvPr>
          <p:cNvCxnSpPr>
            <a:cxnSpLocks/>
            <a:stCxn id="32" idx="2"/>
            <a:endCxn id="34" idx="0"/>
          </p:cNvCxnSpPr>
          <p:nvPr/>
        </p:nvCxnSpPr>
        <p:spPr>
          <a:xfrm>
            <a:off x="7737477" y="2924944"/>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6" name="矩形 25">
            <a:extLst>
              <a:ext uri="{FF2B5EF4-FFF2-40B4-BE49-F238E27FC236}">
                <a16:creationId xmlns:a16="http://schemas.microsoft.com/office/drawing/2014/main" id="{4384151F-FC65-7879-6037-7998E8B5865E}"/>
              </a:ext>
            </a:extLst>
          </p:cNvPr>
          <p:cNvSpPr/>
          <p:nvPr/>
        </p:nvSpPr>
        <p:spPr>
          <a:xfrm>
            <a:off x="7380312" y="3040060"/>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28" name="矩形 27">
            <a:extLst>
              <a:ext uri="{FF2B5EF4-FFF2-40B4-BE49-F238E27FC236}">
                <a16:creationId xmlns:a16="http://schemas.microsoft.com/office/drawing/2014/main" id="{8B2CFC32-B4FC-5A53-A12B-A62E6642F669}"/>
              </a:ext>
            </a:extLst>
          </p:cNvPr>
          <p:cNvSpPr/>
          <p:nvPr/>
        </p:nvSpPr>
        <p:spPr>
          <a:xfrm>
            <a:off x="7398553" y="3335321"/>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30" name="矩形 29">
            <a:extLst>
              <a:ext uri="{FF2B5EF4-FFF2-40B4-BE49-F238E27FC236}">
                <a16:creationId xmlns:a16="http://schemas.microsoft.com/office/drawing/2014/main" id="{087EAF49-76A4-9855-A6DB-9CB73E1F2CF1}"/>
              </a:ext>
            </a:extLst>
          </p:cNvPr>
          <p:cNvSpPr/>
          <p:nvPr/>
        </p:nvSpPr>
        <p:spPr>
          <a:xfrm>
            <a:off x="7398553" y="3616375"/>
            <a:ext cx="708323"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32" name="矩形 31">
            <a:extLst>
              <a:ext uri="{FF2B5EF4-FFF2-40B4-BE49-F238E27FC236}">
                <a16:creationId xmlns:a16="http://schemas.microsoft.com/office/drawing/2014/main" id="{457242D4-BBEF-C76A-3C77-93F7F10AB31A}"/>
              </a:ext>
            </a:extLst>
          </p:cNvPr>
          <p:cNvSpPr/>
          <p:nvPr/>
        </p:nvSpPr>
        <p:spPr>
          <a:xfrm>
            <a:off x="7383315" y="2752028"/>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sp>
        <p:nvSpPr>
          <p:cNvPr id="34" name="矩形 33">
            <a:extLst>
              <a:ext uri="{FF2B5EF4-FFF2-40B4-BE49-F238E27FC236}">
                <a16:creationId xmlns:a16="http://schemas.microsoft.com/office/drawing/2014/main" id="{A27308F5-3E88-93D0-5F86-AD6D42162455}"/>
              </a:ext>
            </a:extLst>
          </p:cNvPr>
          <p:cNvSpPr/>
          <p:nvPr/>
        </p:nvSpPr>
        <p:spPr>
          <a:xfrm>
            <a:off x="7398553" y="406662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p:txBody>
      </p:sp>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003070" y="3212032"/>
            <a:ext cx="1214323"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MHA</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248491"/>
            <a:ext cx="219591" cy="675612"/>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187711" cy="61798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200" i="1">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ℎ</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i="1">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7B10DB-CF6A-1B43-D3F4-1F816D455121}"/>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A472C21-C7F0-7F5F-BA8A-A3982575C3B1}"/>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mc:AlternateContent xmlns:mc="http://schemas.openxmlformats.org/markup-compatibility/2006">
        <mc:Choice xmlns:a14="http://schemas.microsoft.com/office/drawing/2010/main" Requires="a14">
          <p:sp>
            <p:nvSpPr>
              <p:cNvPr id="77" name="文字方塊 76">
                <a:extLst>
                  <a:ext uri="{FF2B5EF4-FFF2-40B4-BE49-F238E27FC236}">
                    <a16:creationId xmlns:a16="http://schemas.microsoft.com/office/drawing/2014/main" id="{D0B17E0D-2E78-D8E8-D8D4-0AB578261409}"/>
                  </a:ext>
                </a:extLst>
              </p:cNvPr>
              <p:cNvSpPr txBox="1"/>
              <p:nvPr/>
            </p:nvSpPr>
            <p:spPr>
              <a:xfrm>
                <a:off x="1220938" y="3946452"/>
                <a:ext cx="1409360" cy="1077218"/>
              </a:xfrm>
              <a:prstGeom prst="rect">
                <a:avLst/>
              </a:prstGeom>
              <a:noFill/>
            </p:spPr>
            <p:txBody>
              <a:bodyPr wrap="none" lIns="0" tIns="0" rIns="0" bIns="0" rtlCol="0">
                <a:spAutoFit/>
              </a:bodyPr>
              <a:lstStyle/>
              <a:p>
                <a:pPr>
                  <a:lnSpc>
                    <a:spcPts val="4200"/>
                  </a:lnSpc>
                </a:pPr>
                <a14:m>
                  <m:oMathPara xmlns:m="http://schemas.openxmlformats.org/officeDocument/2006/math">
                    <m:oMathParaPr>
                      <m:jc m:val="left"/>
                    </m:oMathParaPr>
                    <m:oMath>
                      <m:r>
                        <m:rPr>
                          <m:sty m:val="p"/>
                        </m:rPr>
                        <a:rPr lang="en-US" altLang="zh-TW" sz="1000" b="0" i="0" smtClean="0">
                          <a:latin typeface="Cambria Math" panose="02040503050406030204" pitchFamily="18" charset="0"/>
                        </a:rPr>
                        <m:t>Norm</m:t>
                      </m:r>
                      <m:d>
                        <m:dPr>
                          <m:ctrlPr>
                            <a:rPr lang="en-US" altLang="zh-TW" sz="1000" b="0" i="1" smtClean="0">
                              <a:latin typeface="Cambria Math" panose="02040503050406030204" pitchFamily="18" charset="0"/>
                            </a:rPr>
                          </m:ctrlPr>
                        </m:dPr>
                        <m:e>
                          <m:r>
                            <a:rPr lang="en-US" altLang="zh-TW" sz="1000" b="0" i="1" smtClean="0">
                              <a:latin typeface="Cambria Math" panose="02040503050406030204" pitchFamily="18" charset="0"/>
                            </a:rPr>
                            <m:t>𝑥</m:t>
                          </m:r>
                        </m:e>
                      </m:d>
                      <m:r>
                        <a:rPr lang="en-US" altLang="zh-TW" sz="1000" b="0" i="0" smtClean="0">
                          <a:latin typeface="Cambria Math" panose="02040503050406030204" pitchFamily="18" charset="0"/>
                        </a:rPr>
                        <m:t>=</m:t>
                      </m:r>
                      <m:d>
                        <m:dPr>
                          <m:begChr m:val="{"/>
                          <m:endChr m:val="}"/>
                          <m:ctrlPr>
                            <a:rPr lang="en-US" altLang="zh-TW" sz="1000" i="1" dirty="0">
                              <a:latin typeface="Cambria Math" panose="02040503050406030204" pitchFamily="18" charset="0"/>
                            </a:rPr>
                          </m:ctrlPr>
                        </m:dPr>
                        <m:e>
                          <m:f>
                            <m:fPr>
                              <m:ctrlPr>
                                <a:rPr lang="en-US" altLang="zh-TW" sz="1000" i="0" dirty="0"/>
                              </m:ctrlPr>
                            </m:fPr>
                            <m:num>
                              <m:r>
                                <m:rPr>
                                  <m:nor/>
                                </m:rPr>
                                <a:rPr lang="en-US" altLang="zh-TW" sz="1000" i="0" dirty="0"/>
                                <m:t>x</m:t>
                              </m:r>
                              <m:r>
                                <m:rPr>
                                  <m:nor/>
                                </m:rPr>
                                <a:rPr lang="en-US" altLang="zh-TW" sz="1000" i="0" baseline="-25000" dirty="0"/>
                                <m:t>i</m:t>
                              </m:r>
                              <m:r>
                                <m:rPr>
                                  <m:nor/>
                                </m:rPr>
                                <a:rPr lang="en-US" altLang="zh-TW" sz="1000" i="0" dirty="0"/>
                                <m:t>∗γi</m:t>
                              </m:r>
                            </m:num>
                            <m:den>
                              <m:r>
                                <m:rPr>
                                  <m:nor/>
                                </m:rPr>
                                <a:rPr lang="en-US" altLang="zh-TW" sz="1000" i="0" dirty="0"/>
                                <m:t>RMS(x)</m:t>
                              </m:r>
                            </m:den>
                          </m:f>
                        </m:e>
                      </m:d>
                      <m:r>
                        <a:rPr lang="en-US" altLang="zh-TW" sz="1000" b="0" i="0" smtClean="0">
                          <a:latin typeface="Cambria Math" panose="02040503050406030204" pitchFamily="18" charset="0"/>
                        </a:rPr>
                        <m:t>; </m:t>
                      </m:r>
                    </m:oMath>
                  </m:oMathPara>
                </a14:m>
                <a:endParaRPr lang="en-US" altLang="zh-TW" sz="1000" b="0" i="0" dirty="0">
                  <a:latin typeface="Cambria Math" panose="02040503050406030204" pitchFamily="18" charset="0"/>
                </a:endParaRPr>
              </a:p>
              <a:p>
                <a:pPr>
                  <a:lnSpc>
                    <a:spcPts val="4200"/>
                  </a:lnSpc>
                </a:pPr>
                <a14:m>
                  <m:oMathPara xmlns:m="http://schemas.openxmlformats.org/officeDocument/2006/math">
                    <m:oMathParaPr>
                      <m:jc m:val="left"/>
                    </m:oMathParaPr>
                    <m:oMath>
                      <m:r>
                        <m:rPr>
                          <m:sty m:val="p"/>
                        </m:rPr>
                        <a:rPr lang="en-US" altLang="zh-TW" sz="1000" b="0" i="0" smtClean="0">
                          <a:latin typeface="Cambria Math" panose="02040503050406030204" pitchFamily="18" charset="0"/>
                        </a:rPr>
                        <m:t>RMS</m:t>
                      </m:r>
                      <m:d>
                        <m:dPr>
                          <m:ctrlPr>
                            <a:rPr lang="en-US" altLang="zh-TW" sz="1000" b="0" i="1" smtClean="0">
                              <a:latin typeface="Cambria Math" panose="02040503050406030204" pitchFamily="18" charset="0"/>
                            </a:rPr>
                          </m:ctrlPr>
                        </m:dPr>
                        <m:e>
                          <m:r>
                            <a:rPr lang="en-US" altLang="zh-TW" sz="1000" b="0" i="1" smtClean="0">
                              <a:latin typeface="Cambria Math" panose="02040503050406030204" pitchFamily="18" charset="0"/>
                            </a:rPr>
                            <m:t>𝑥</m:t>
                          </m:r>
                        </m:e>
                      </m:d>
                      <m:r>
                        <a:rPr lang="en-US" altLang="zh-TW" sz="1000" b="0" i="1" smtClean="0">
                          <a:latin typeface="Cambria Math" panose="02040503050406030204" pitchFamily="18" charset="0"/>
                        </a:rPr>
                        <m:t>=</m:t>
                      </m:r>
                      <m:rad>
                        <m:radPr>
                          <m:degHide m:val="on"/>
                          <m:ctrlPr>
                            <a:rPr lang="en-US" altLang="zh-TW" sz="1000" b="0" i="1" smtClean="0">
                              <a:latin typeface="Cambria Math" panose="02040503050406030204" pitchFamily="18" charset="0"/>
                            </a:rPr>
                          </m:ctrlPr>
                        </m:radPr>
                        <m:deg/>
                        <m:e>
                          <m:f>
                            <m:fPr>
                              <m:ctrlPr>
                                <a:rPr lang="en-US" altLang="zh-TW" sz="1000" b="0" i="1" smtClean="0">
                                  <a:latin typeface="Cambria Math" panose="02040503050406030204" pitchFamily="18" charset="0"/>
                                </a:rPr>
                              </m:ctrlPr>
                            </m:fPr>
                            <m:num>
                              <m:r>
                                <a:rPr lang="en-US" altLang="zh-TW" sz="1000" b="0" i="1" smtClean="0">
                                  <a:latin typeface="Cambria Math" panose="02040503050406030204" pitchFamily="18" charset="0"/>
                                </a:rPr>
                                <m:t>1</m:t>
                              </m:r>
                            </m:num>
                            <m:den>
                              <m:r>
                                <a:rPr lang="en-US" altLang="zh-TW" sz="1000" b="0" i="1" smtClean="0">
                                  <a:latin typeface="Cambria Math" panose="02040503050406030204" pitchFamily="18" charset="0"/>
                                </a:rPr>
                                <m:t>𝑑</m:t>
                              </m:r>
                            </m:den>
                          </m:f>
                          <m:nary>
                            <m:naryPr>
                              <m:chr m:val="∑"/>
                              <m:limLoc m:val="subSup"/>
                              <m:ctrlPr>
                                <a:rPr lang="en-US" altLang="zh-TW" sz="1000" i="1">
                                  <a:latin typeface="Cambria Math" panose="02040503050406030204" pitchFamily="18" charset="0"/>
                                </a:rPr>
                              </m:ctrlPr>
                            </m:naryPr>
                            <m:sub>
                              <m:r>
                                <m:rPr>
                                  <m:brk m:alnAt="25"/>
                                </m:rPr>
                                <a:rPr lang="en-US" altLang="zh-TW" sz="1000" i="1">
                                  <a:latin typeface="Cambria Math" panose="02040503050406030204" pitchFamily="18" charset="0"/>
                                </a:rPr>
                                <m:t>𝑖</m:t>
                              </m:r>
                            </m:sub>
                            <m:sup>
                              <m:r>
                                <a:rPr lang="en-US" altLang="zh-TW" sz="1000" i="1">
                                  <a:latin typeface="Cambria Math" panose="02040503050406030204" pitchFamily="18" charset="0"/>
                                </a:rPr>
                                <m:t>𝑑</m:t>
                              </m:r>
                            </m:sup>
                            <m:e>
                              <m:sSubSup>
                                <m:sSubSupPr>
                                  <m:ctrlPr>
                                    <a:rPr lang="en-US" altLang="zh-TW" sz="1000" i="1">
                                      <a:latin typeface="Cambria Math" panose="02040503050406030204" pitchFamily="18" charset="0"/>
                                    </a:rPr>
                                  </m:ctrlPr>
                                </m:sSubSupPr>
                                <m:e>
                                  <m:r>
                                    <a:rPr lang="en-US" altLang="zh-TW" sz="1000" i="1">
                                      <a:latin typeface="Cambria Math" panose="02040503050406030204" pitchFamily="18" charset="0"/>
                                    </a:rPr>
                                    <m:t>𝑥</m:t>
                                  </m:r>
                                </m:e>
                                <m:sub>
                                  <m:r>
                                    <a:rPr lang="en-US" altLang="zh-TW" sz="1000" i="1">
                                      <a:latin typeface="Cambria Math" panose="02040503050406030204" pitchFamily="18" charset="0"/>
                                    </a:rPr>
                                    <m:t>𝑖</m:t>
                                  </m:r>
                                </m:sub>
                                <m:sup>
                                  <m:r>
                                    <a:rPr lang="en-US" altLang="zh-TW" sz="1000" i="1">
                                      <a:latin typeface="Cambria Math" panose="02040503050406030204" pitchFamily="18" charset="0"/>
                                    </a:rPr>
                                    <m:t>2</m:t>
                                  </m:r>
                                </m:sup>
                              </m:sSubSup>
                              <m:r>
                                <a:rPr lang="en-US" altLang="zh-TW" sz="1000" i="1">
                                  <a:latin typeface="Cambria Math" panose="02040503050406030204" pitchFamily="18" charset="0"/>
                                </a:rPr>
                                <m:t>+</m:t>
                              </m:r>
                              <m:r>
                                <a:rPr lang="en-US" altLang="zh-TW" sz="1000" i="1">
                                  <a:latin typeface="Cambria Math" panose="02040503050406030204" pitchFamily="18" charset="0"/>
                                </a:rPr>
                                <m:t>𝑒</m:t>
                              </m:r>
                            </m:e>
                          </m:nary>
                        </m:e>
                      </m:rad>
                    </m:oMath>
                  </m:oMathPara>
                </a14:m>
                <a:endParaRPr lang="zh-TW" altLang="en-US" sz="1000" dirty="0"/>
              </a:p>
            </p:txBody>
          </p:sp>
        </mc:Choice>
        <mc:Fallback>
          <p:sp>
            <p:nvSpPr>
              <p:cNvPr id="77" name="文字方塊 76">
                <a:extLst>
                  <a:ext uri="{FF2B5EF4-FFF2-40B4-BE49-F238E27FC236}">
                    <a16:creationId xmlns:a16="http://schemas.microsoft.com/office/drawing/2014/main" id="{D0B17E0D-2E78-D8E8-D8D4-0AB578261409}"/>
                  </a:ext>
                </a:extLst>
              </p:cNvPr>
              <p:cNvSpPr txBox="1">
                <a:spLocks noRot="1" noChangeAspect="1" noMove="1" noResize="1" noEditPoints="1" noAdjustHandles="1" noChangeArrowheads="1" noChangeShapeType="1" noTextEdit="1"/>
              </p:cNvSpPr>
              <p:nvPr/>
            </p:nvSpPr>
            <p:spPr>
              <a:xfrm>
                <a:off x="1220938" y="3946452"/>
                <a:ext cx="1409360" cy="1077218"/>
              </a:xfrm>
              <a:prstGeom prst="rect">
                <a:avLst/>
              </a:prstGeom>
              <a:blipFill>
                <a:blip r:embed="rId3"/>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53" name="文字方塊 152">
                <a:extLst>
                  <a:ext uri="{FF2B5EF4-FFF2-40B4-BE49-F238E27FC236}">
                    <a16:creationId xmlns:a16="http://schemas.microsoft.com/office/drawing/2014/main" id="{C1DAE41F-DE6E-908A-C787-B8211314D7D6}"/>
                  </a:ext>
                </a:extLst>
              </p:cNvPr>
              <p:cNvSpPr txBox="1"/>
              <p:nvPr/>
            </p:nvSpPr>
            <p:spPr>
              <a:xfrm>
                <a:off x="4260542" y="514538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200" i="1">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ℎ</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p:sp>
            <p:nvSpPr>
              <p:cNvPr id="153" name="文字方塊 152">
                <a:extLst>
                  <a:ext uri="{FF2B5EF4-FFF2-40B4-BE49-F238E27FC236}">
                    <a16:creationId xmlns:a16="http://schemas.microsoft.com/office/drawing/2014/main" id="{C1DAE41F-DE6E-908A-C787-B8211314D7D6}"/>
                  </a:ext>
                </a:extLst>
              </p:cNvPr>
              <p:cNvSpPr txBox="1">
                <a:spLocks noRot="1" noChangeAspect="1" noMove="1" noResize="1" noEditPoints="1" noAdjustHandles="1" noChangeArrowheads="1" noChangeShapeType="1" noTextEdit="1"/>
              </p:cNvSpPr>
              <p:nvPr/>
            </p:nvSpPr>
            <p:spPr>
              <a:xfrm>
                <a:off x="4260542" y="5145385"/>
                <a:ext cx="1750479" cy="846642"/>
              </a:xfrm>
              <a:prstGeom prst="rect">
                <a:avLst/>
              </a:prstGeom>
              <a:blipFill>
                <a:blip r:embed="rId4"/>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C166DEC4-8F29-3C20-2572-E6A6FA84756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i="1">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F0AB958-786E-EB27-AA4B-087EE6B5EC37}"/>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46D56A37-52E4-8E2C-6F84-A4ABA37860F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
        <p:nvSpPr>
          <p:cNvPr id="4" name="左中括弧 3">
            <a:extLst>
              <a:ext uri="{FF2B5EF4-FFF2-40B4-BE49-F238E27FC236}">
                <a16:creationId xmlns:a16="http://schemas.microsoft.com/office/drawing/2014/main" id="{63EFA957-2DB8-D18D-C964-1D399C63734C}"/>
              </a:ext>
            </a:extLst>
          </p:cNvPr>
          <p:cNvSpPr/>
          <p:nvPr/>
        </p:nvSpPr>
        <p:spPr>
          <a:xfrm rot="16200000">
            <a:off x="4743301" y="1998899"/>
            <a:ext cx="74412" cy="1743228"/>
          </a:xfrm>
          <a:prstGeom prst="leftBracket">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 name="矩形 4">
            <a:extLst>
              <a:ext uri="{FF2B5EF4-FFF2-40B4-BE49-F238E27FC236}">
                <a16:creationId xmlns:a16="http://schemas.microsoft.com/office/drawing/2014/main" id="{290E9D89-6323-7CF0-13A3-D6B64A8C95D2}"/>
              </a:ext>
            </a:extLst>
          </p:cNvPr>
          <p:cNvSpPr/>
          <p:nvPr/>
        </p:nvSpPr>
        <p:spPr>
          <a:xfrm>
            <a:off x="1762825" y="1063705"/>
            <a:ext cx="2062741" cy="1835509"/>
          </a:xfrm>
          <a:prstGeom prst="rect">
            <a:avLst/>
          </a:prstGeom>
          <a:solidFill>
            <a:schemeClr val="accent6">
              <a:lumMod val="20000"/>
              <a:lumOff val="80000"/>
              <a:alpha val="20000"/>
            </a:schemeClr>
          </a:solidFill>
          <a:ln w="19050">
            <a:solidFill>
              <a:schemeClr val="accent6"/>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6" name="文字方塊 5">
            <a:extLst>
              <a:ext uri="{FF2B5EF4-FFF2-40B4-BE49-F238E27FC236}">
                <a16:creationId xmlns:a16="http://schemas.microsoft.com/office/drawing/2014/main" id="{19B3EA6E-3064-B2A1-07DF-2E0124A54FDC}"/>
              </a:ext>
            </a:extLst>
          </p:cNvPr>
          <p:cNvSpPr txBox="1"/>
          <p:nvPr/>
        </p:nvSpPr>
        <p:spPr>
          <a:xfrm>
            <a:off x="1547664" y="1632543"/>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9" name="矩形 8">
            <a:extLst>
              <a:ext uri="{FF2B5EF4-FFF2-40B4-BE49-F238E27FC236}">
                <a16:creationId xmlns:a16="http://schemas.microsoft.com/office/drawing/2014/main" id="{7DFC1F65-6F58-074D-DB7A-B007F78FCEE6}"/>
              </a:ext>
            </a:extLst>
          </p:cNvPr>
          <p:cNvSpPr/>
          <p:nvPr/>
        </p:nvSpPr>
        <p:spPr>
          <a:xfrm>
            <a:off x="914656" y="1293352"/>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bg2">
                    <a:lumMod val="25000"/>
                  </a:schemeClr>
                </a:solidFill>
                <a:ea typeface="ADLaM Display" panose="02010000000000000000" pitchFamily="2" charset="0"/>
                <a:cs typeface="ADLaM Display" panose="02010000000000000000" pitchFamily="2" charset="0"/>
              </a:rPr>
              <a:t>vocabulary</a:t>
            </a:r>
          </a:p>
        </p:txBody>
      </p:sp>
      <p:sp>
        <p:nvSpPr>
          <p:cNvPr id="11" name="文字方塊 10">
            <a:extLst>
              <a:ext uri="{FF2B5EF4-FFF2-40B4-BE49-F238E27FC236}">
                <a16:creationId xmlns:a16="http://schemas.microsoft.com/office/drawing/2014/main" id="{8B8DFA56-285D-F52E-9815-6769EC852F7B}"/>
              </a:ext>
            </a:extLst>
          </p:cNvPr>
          <p:cNvSpPr txBox="1"/>
          <p:nvPr/>
        </p:nvSpPr>
        <p:spPr>
          <a:xfrm>
            <a:off x="467544" y="2899215"/>
            <a:ext cx="1080120" cy="385769"/>
          </a:xfrm>
          <a:prstGeom prst="rect">
            <a:avLst/>
          </a:prstGeom>
          <a:noFill/>
        </p:spPr>
        <p:txBody>
          <a:bodyPr wrap="none" lIns="0" tIns="0" rIns="0" bIns="0" rtlCol="0" anchor="ctr" anchorCtr="1">
            <a:noAutofit/>
          </a:bodyPr>
          <a:lstStyle/>
          <a:p>
            <a:pPr algn="ctr"/>
            <a:r>
              <a:rPr lang="en-US" altLang="zh-TW" sz="1200" b="1" dirty="0">
                <a:solidFill>
                  <a:schemeClr val="bg2">
                    <a:lumMod val="25000"/>
                  </a:schemeClr>
                </a:solidFill>
              </a:rPr>
              <a:t>Lookup Table</a:t>
            </a:r>
            <a:r>
              <a:rPr lang="en-US" altLang="zh-TW" sz="1200" dirty="0"/>
              <a:t>:</a:t>
            </a:r>
          </a:p>
          <a:p>
            <a:pPr algn="ctr"/>
            <a:r>
              <a:rPr lang="en-US" altLang="zh-TW" sz="1000" dirty="0"/>
              <a:t>Token</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000" dirty="0">
                <a:sym typeface="Wingdings" panose="05000000000000000000" pitchFamily="2" charset="2"/>
              </a:rPr>
              <a:t>Embedding</a:t>
            </a:r>
            <a:endParaRPr lang="zh-TW" altLang="en-US" sz="1000" dirty="0"/>
          </a:p>
        </p:txBody>
      </p:sp>
      <p:sp>
        <p:nvSpPr>
          <p:cNvPr id="13" name="矩形 12">
            <a:extLst>
              <a:ext uri="{FF2B5EF4-FFF2-40B4-BE49-F238E27FC236}">
                <a16:creationId xmlns:a16="http://schemas.microsoft.com/office/drawing/2014/main" id="{F5C87372-C0F1-3364-2CBF-2894C7F60DC1}"/>
              </a:ext>
            </a:extLst>
          </p:cNvPr>
          <p:cNvSpPr/>
          <p:nvPr/>
        </p:nvSpPr>
        <p:spPr>
          <a:xfrm>
            <a:off x="1566405" y="1806025"/>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4" name="矩形 13">
            <a:extLst>
              <a:ext uri="{FF2B5EF4-FFF2-40B4-BE49-F238E27FC236}">
                <a16:creationId xmlns:a16="http://schemas.microsoft.com/office/drawing/2014/main" id="{70859162-71CA-BB4E-CA13-472203A6AD7F}"/>
              </a:ext>
            </a:extLst>
          </p:cNvPr>
          <p:cNvSpPr/>
          <p:nvPr/>
        </p:nvSpPr>
        <p:spPr>
          <a:xfrm>
            <a:off x="1987421" y="1412776"/>
            <a:ext cx="274320" cy="274320"/>
          </a:xfrm>
          <a:prstGeom prst="rect">
            <a:avLst/>
          </a:prstGeom>
          <a:solidFill>
            <a:schemeClr val="accent2">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15" name="矩形 14">
            <a:extLst>
              <a:ext uri="{FF2B5EF4-FFF2-40B4-BE49-F238E27FC236}">
                <a16:creationId xmlns:a16="http://schemas.microsoft.com/office/drawing/2014/main" id="{748635C9-F847-88F6-BC22-D67F2EEAB784}"/>
              </a:ext>
            </a:extLst>
          </p:cNvPr>
          <p:cNvSpPr/>
          <p:nvPr/>
        </p:nvSpPr>
        <p:spPr>
          <a:xfrm>
            <a:off x="1987874" y="1903184"/>
            <a:ext cx="274320" cy="274320"/>
          </a:xfrm>
          <a:prstGeom prst="rect">
            <a:avLst/>
          </a:prstGeom>
          <a:solidFill>
            <a:schemeClr val="accent1">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16" name="矩形 15">
            <a:extLst>
              <a:ext uri="{FF2B5EF4-FFF2-40B4-BE49-F238E27FC236}">
                <a16:creationId xmlns:a16="http://schemas.microsoft.com/office/drawing/2014/main" id="{C674EB33-6561-8356-79AD-1532190CD138}"/>
              </a:ext>
            </a:extLst>
          </p:cNvPr>
          <p:cNvSpPr/>
          <p:nvPr/>
        </p:nvSpPr>
        <p:spPr>
          <a:xfrm>
            <a:off x="1979712" y="2420952"/>
            <a:ext cx="274320" cy="274320"/>
          </a:xfrm>
          <a:prstGeom prst="rect">
            <a:avLst/>
          </a:prstGeom>
          <a:solidFill>
            <a:schemeClr val="accent3">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17" name="文字方塊 16">
            <a:extLst>
              <a:ext uri="{FF2B5EF4-FFF2-40B4-BE49-F238E27FC236}">
                <a16:creationId xmlns:a16="http://schemas.microsoft.com/office/drawing/2014/main" id="{6169CDA7-0DD2-147F-271D-6B78F26FAE13}"/>
              </a:ext>
            </a:extLst>
          </p:cNvPr>
          <p:cNvSpPr txBox="1"/>
          <p:nvPr/>
        </p:nvSpPr>
        <p:spPr>
          <a:xfrm>
            <a:off x="2304149" y="1458496"/>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8" name="文字方塊 17">
            <a:extLst>
              <a:ext uri="{FF2B5EF4-FFF2-40B4-BE49-F238E27FC236}">
                <a16:creationId xmlns:a16="http://schemas.microsoft.com/office/drawing/2014/main" id="{462E0A75-E024-7E84-9447-CA16AB2D3DC8}"/>
              </a:ext>
            </a:extLst>
          </p:cNvPr>
          <p:cNvSpPr txBox="1"/>
          <p:nvPr/>
        </p:nvSpPr>
        <p:spPr>
          <a:xfrm>
            <a:off x="1835696" y="1458496"/>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791FF62D-C942-8B99-5558-A921C6C1ED64}"/>
              </a:ext>
            </a:extLst>
          </p:cNvPr>
          <p:cNvSpPr txBox="1"/>
          <p:nvPr/>
        </p:nvSpPr>
        <p:spPr>
          <a:xfrm>
            <a:off x="1836149" y="1948904"/>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20" name="文字方塊 19">
            <a:extLst>
              <a:ext uri="{FF2B5EF4-FFF2-40B4-BE49-F238E27FC236}">
                <a16:creationId xmlns:a16="http://schemas.microsoft.com/office/drawing/2014/main" id="{8821CD1F-7007-F075-AB29-57AF18B103CE}"/>
              </a:ext>
            </a:extLst>
          </p:cNvPr>
          <p:cNvSpPr txBox="1"/>
          <p:nvPr/>
        </p:nvSpPr>
        <p:spPr>
          <a:xfrm>
            <a:off x="1836149" y="2466672"/>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21" name="文字方塊 20">
            <a:extLst>
              <a:ext uri="{FF2B5EF4-FFF2-40B4-BE49-F238E27FC236}">
                <a16:creationId xmlns:a16="http://schemas.microsoft.com/office/drawing/2014/main" id="{07990E07-7657-FC60-58C0-76A919475C9D}"/>
              </a:ext>
            </a:extLst>
          </p:cNvPr>
          <p:cNvSpPr txBox="1"/>
          <p:nvPr/>
        </p:nvSpPr>
        <p:spPr>
          <a:xfrm>
            <a:off x="2304602" y="1948904"/>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22" name="文字方塊 21">
            <a:extLst>
              <a:ext uri="{FF2B5EF4-FFF2-40B4-BE49-F238E27FC236}">
                <a16:creationId xmlns:a16="http://schemas.microsoft.com/office/drawing/2014/main" id="{424EF0F9-EF13-9A07-2DEF-03514B5F77A3}"/>
              </a:ext>
            </a:extLst>
          </p:cNvPr>
          <p:cNvSpPr txBox="1"/>
          <p:nvPr/>
        </p:nvSpPr>
        <p:spPr>
          <a:xfrm>
            <a:off x="2304602" y="2466672"/>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23" name="文字方塊 22">
            <a:extLst>
              <a:ext uri="{FF2B5EF4-FFF2-40B4-BE49-F238E27FC236}">
                <a16:creationId xmlns:a16="http://schemas.microsoft.com/office/drawing/2014/main" id="{EB62D418-50DE-43AA-7DD4-27BD0BBF2725}"/>
              </a:ext>
            </a:extLst>
          </p:cNvPr>
          <p:cNvSpPr txBox="1"/>
          <p:nvPr/>
        </p:nvSpPr>
        <p:spPr>
          <a:xfrm>
            <a:off x="2497480" y="1276066"/>
            <a:ext cx="274320" cy="457200"/>
          </a:xfrm>
          <a:prstGeom prst="rect">
            <a:avLst/>
          </a:prstGeom>
          <a:solidFill>
            <a:schemeClr val="accent2">
              <a:lumMod val="20000"/>
              <a:lumOff val="80000"/>
            </a:schemeClr>
          </a:solidFill>
          <a:ln w="25400">
            <a:solidFill>
              <a:schemeClr val="bg1">
                <a:lumMod val="75000"/>
              </a:schemeClr>
            </a:solidFill>
          </a:ln>
        </p:spPr>
        <p:txBody>
          <a:bodyPr wrap="none" lIns="0" tIns="0" rIns="0" bIns="0" rtlCol="0" anchor="ctr" anchorCtr="1">
            <a:noAutofit/>
          </a:bodyPr>
          <a:lstStyle/>
          <a:p>
            <a:pPr algn="ctr"/>
            <a:r>
              <a:rPr lang="en-US" altLang="zh-TW" dirty="0">
                <a:solidFill>
                  <a:schemeClr val="accent2">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Q</a:t>
            </a:r>
            <a:endParaRPr lang="zh-TW" altLang="en-US" dirty="0">
              <a:solidFill>
                <a:schemeClr val="accent2">
                  <a:lumMod val="60000"/>
                  <a:lumOff val="40000"/>
                </a:schemeClr>
              </a:solidFill>
              <a:latin typeface="ADLaM Display" panose="02010000000000000000" pitchFamily="2" charset="0"/>
              <a:cs typeface="ADLaM Display" panose="02010000000000000000" pitchFamily="2" charset="0"/>
            </a:endParaRPr>
          </a:p>
        </p:txBody>
      </p:sp>
      <p:sp>
        <p:nvSpPr>
          <p:cNvPr id="24" name="文字方塊 23">
            <a:extLst>
              <a:ext uri="{FF2B5EF4-FFF2-40B4-BE49-F238E27FC236}">
                <a16:creationId xmlns:a16="http://schemas.microsoft.com/office/drawing/2014/main" id="{7BAAA32B-0BFC-3AAD-9888-2CFEF1A450DD}"/>
              </a:ext>
            </a:extLst>
          </p:cNvPr>
          <p:cNvSpPr txBox="1"/>
          <p:nvPr/>
        </p:nvSpPr>
        <p:spPr>
          <a:xfrm>
            <a:off x="2497480" y="1806025"/>
            <a:ext cx="274320" cy="457200"/>
          </a:xfrm>
          <a:prstGeom prst="rect">
            <a:avLst/>
          </a:prstGeom>
          <a:solidFill>
            <a:schemeClr val="accent1">
              <a:lumMod val="20000"/>
              <a:lumOff val="80000"/>
            </a:schemeClr>
          </a:solidFill>
          <a:ln w="25400">
            <a:solidFill>
              <a:schemeClr val="bg1">
                <a:lumMod val="75000"/>
              </a:schemeClr>
            </a:solidFill>
          </a:ln>
        </p:spPr>
        <p:txBody>
          <a:bodyPr wrap="none" lIns="0" tIns="0" rIns="0" bIns="0" rtlCol="0" anchor="ctr" anchorCtr="1">
            <a:noAutofit/>
          </a:bodyPr>
          <a:lstStyle/>
          <a:p>
            <a:pPr algn="ctr"/>
            <a:r>
              <a:rPr lang="en-US" altLang="zh-TW" dirty="0">
                <a:solidFill>
                  <a:schemeClr val="accent5">
                    <a:lumMod val="75000"/>
                  </a:schemeClr>
                </a:solidFill>
                <a:latin typeface="ADLaM Display" panose="02010000000000000000" pitchFamily="2" charset="0"/>
                <a:ea typeface="ADLaM Display" panose="02010000000000000000" pitchFamily="2" charset="0"/>
                <a:cs typeface="ADLaM Display" panose="02010000000000000000" pitchFamily="2" charset="0"/>
              </a:rPr>
              <a:t>K</a:t>
            </a: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25" name="文字方塊 24">
            <a:extLst>
              <a:ext uri="{FF2B5EF4-FFF2-40B4-BE49-F238E27FC236}">
                <a16:creationId xmlns:a16="http://schemas.microsoft.com/office/drawing/2014/main" id="{A5877399-946F-01F7-2CC1-62FAE6998D3B}"/>
              </a:ext>
            </a:extLst>
          </p:cNvPr>
          <p:cNvSpPr txBox="1"/>
          <p:nvPr/>
        </p:nvSpPr>
        <p:spPr>
          <a:xfrm>
            <a:off x="2497480" y="2335233"/>
            <a:ext cx="274320" cy="457054"/>
          </a:xfrm>
          <a:prstGeom prst="rect">
            <a:avLst/>
          </a:prstGeom>
          <a:solidFill>
            <a:schemeClr val="accent3">
              <a:lumMod val="20000"/>
              <a:lumOff val="80000"/>
            </a:schemeClr>
          </a:solidFill>
          <a:ln w="25400">
            <a:solidFill>
              <a:schemeClr val="bg1">
                <a:lumMod val="75000"/>
              </a:schemeClr>
            </a:solidFill>
          </a:ln>
        </p:spPr>
        <p:txBody>
          <a:bodyPr wrap="none" lIns="0" tIns="0" rIns="0" bIns="0" rtlCol="0" anchor="ctr" anchorCtr="1">
            <a:noAutofit/>
          </a:bodyPr>
          <a:lstStyle/>
          <a:p>
            <a:pPr algn="ctr"/>
            <a:r>
              <a:rPr lang="en-US" altLang="zh-TW" dirty="0">
                <a:solidFill>
                  <a:schemeClr val="accent3">
                    <a:lumMod val="75000"/>
                  </a:schemeClr>
                </a:solidFill>
                <a:latin typeface="ADLaM Display" panose="02010000000000000000" pitchFamily="2" charset="0"/>
                <a:ea typeface="ADLaM Display" panose="02010000000000000000" pitchFamily="2" charset="0"/>
                <a:cs typeface="ADLaM Display" panose="02010000000000000000" pitchFamily="2" charset="0"/>
              </a:rPr>
              <a:t>V</a:t>
            </a:r>
            <a:endParaRPr lang="zh-TW" altLang="en-US" dirty="0">
              <a:solidFill>
                <a:schemeClr val="accent3">
                  <a:lumMod val="75000"/>
                </a:schemeClr>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409E4349-1E51-82AF-E415-CE2BDBDB29CE}"/>
              </a:ext>
            </a:extLst>
          </p:cNvPr>
          <p:cNvSpPr txBox="1"/>
          <p:nvPr/>
        </p:nvSpPr>
        <p:spPr>
          <a:xfrm>
            <a:off x="1987421" y="1268760"/>
            <a:ext cx="274320" cy="118033"/>
          </a:xfrm>
          <a:prstGeom prst="rect">
            <a:avLst/>
          </a:prstGeom>
          <a:noFill/>
        </p:spPr>
        <p:txBody>
          <a:bodyPr wrap="none" lIns="0" tIns="0" rIns="0" bIns="0" rtlCol="0" anchor="ctr" anchorCtr="1">
            <a:noAutofit/>
          </a:bodyPr>
          <a:lstStyle/>
          <a:p>
            <a:pPr algn="ctr"/>
            <a:r>
              <a:rPr lang="en-US" altLang="zh-TW" sz="1200" b="1" dirty="0"/>
              <a:t>d *d</a:t>
            </a:r>
            <a:endParaRPr lang="zh-TW" altLang="en-US" sz="1200" b="1" dirty="0"/>
          </a:p>
        </p:txBody>
      </p:sp>
      <p:sp>
        <p:nvSpPr>
          <p:cNvPr id="28" name="文字方塊 27">
            <a:extLst>
              <a:ext uri="{FF2B5EF4-FFF2-40B4-BE49-F238E27FC236}">
                <a16:creationId xmlns:a16="http://schemas.microsoft.com/office/drawing/2014/main" id="{AB90136F-6402-A8B2-F37E-352372EF52B4}"/>
              </a:ext>
            </a:extLst>
          </p:cNvPr>
          <p:cNvSpPr txBox="1"/>
          <p:nvPr/>
        </p:nvSpPr>
        <p:spPr>
          <a:xfrm>
            <a:off x="949419" y="1136299"/>
            <a:ext cx="293061" cy="129042"/>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sp>
        <p:nvSpPr>
          <p:cNvPr id="29" name="文字方塊 28">
            <a:extLst>
              <a:ext uri="{FF2B5EF4-FFF2-40B4-BE49-F238E27FC236}">
                <a16:creationId xmlns:a16="http://schemas.microsoft.com/office/drawing/2014/main" id="{658FAD2A-174D-6946-B561-0E72A3E16268}"/>
              </a:ext>
            </a:extLst>
          </p:cNvPr>
          <p:cNvSpPr txBox="1"/>
          <p:nvPr/>
        </p:nvSpPr>
        <p:spPr>
          <a:xfrm>
            <a:off x="2483768" y="1124744"/>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30" name="矩形: 圓角 29">
            <a:extLst>
              <a:ext uri="{FF2B5EF4-FFF2-40B4-BE49-F238E27FC236}">
                <a16:creationId xmlns:a16="http://schemas.microsoft.com/office/drawing/2014/main" id="{8460842A-B71B-82E8-CAA5-FCC8C883EDFA}"/>
              </a:ext>
            </a:extLst>
          </p:cNvPr>
          <p:cNvSpPr/>
          <p:nvPr/>
        </p:nvSpPr>
        <p:spPr>
          <a:xfrm>
            <a:off x="2962672" y="1556792"/>
            <a:ext cx="457200" cy="457200"/>
          </a:xfrm>
          <a:prstGeom prst="roundRect">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400" dirty="0">
                <a:solidFill>
                  <a:schemeClr val="accent4"/>
                </a:solidFill>
                <a:latin typeface="ADLaM Display" panose="02010000000000000000" pitchFamily="2" charset="0"/>
                <a:ea typeface="ADLaM Display" panose="02010000000000000000" pitchFamily="2" charset="0"/>
                <a:cs typeface="ADLaM Display" panose="02010000000000000000" pitchFamily="2" charset="0"/>
              </a:rPr>
              <a:t>A</a:t>
            </a:r>
            <a:endParaRPr lang="zh-TW" altLang="en-US" sz="2400" dirty="0">
              <a:solidFill>
                <a:schemeClr val="accent4"/>
              </a:solidFill>
              <a:latin typeface="ADLaM Display" panose="02010000000000000000" pitchFamily="2" charset="0"/>
              <a:cs typeface="ADLaM Display" panose="02010000000000000000" pitchFamily="2" charset="0"/>
            </a:endParaRPr>
          </a:p>
        </p:txBody>
      </p:sp>
      <p:sp>
        <p:nvSpPr>
          <p:cNvPr id="31" name="直角三角形 30">
            <a:extLst>
              <a:ext uri="{FF2B5EF4-FFF2-40B4-BE49-F238E27FC236}">
                <a16:creationId xmlns:a16="http://schemas.microsoft.com/office/drawing/2014/main" id="{88A9F6C2-3F41-40BB-AA84-72F065C1D326}"/>
              </a:ext>
            </a:extLst>
          </p:cNvPr>
          <p:cNvSpPr/>
          <p:nvPr/>
        </p:nvSpPr>
        <p:spPr>
          <a:xfrm rot="16200000" flipH="1">
            <a:off x="3056880" y="1607910"/>
            <a:ext cx="320040" cy="320040"/>
          </a:xfrm>
          <a:prstGeom prst="rtTriangle">
            <a:avLst/>
          </a:prstGeom>
          <a:solidFill>
            <a:schemeClr val="bg1">
              <a:alpha val="8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endParaRPr lang="zh-TW" altLang="en-US" sz="1200" b="1" dirty="0">
              <a:solidFill>
                <a:schemeClr val="bg1">
                  <a:lumMod val="50000"/>
                </a:schemeClr>
              </a:solidFill>
              <a:latin typeface="ADLaM Display" panose="02010000000000000000" pitchFamily="2" charset="0"/>
              <a:cs typeface="ADLaM Display" panose="02010000000000000000" pitchFamily="2" charset="0"/>
            </a:endParaRPr>
          </a:p>
        </p:txBody>
      </p:sp>
      <p:sp>
        <p:nvSpPr>
          <p:cNvPr id="32" name="文字方塊 31">
            <a:extLst>
              <a:ext uri="{FF2B5EF4-FFF2-40B4-BE49-F238E27FC236}">
                <a16:creationId xmlns:a16="http://schemas.microsoft.com/office/drawing/2014/main" id="{392DD1FF-1A24-3118-74B8-0516482618DA}"/>
              </a:ext>
            </a:extLst>
          </p:cNvPr>
          <p:cNvSpPr txBox="1"/>
          <p:nvPr/>
        </p:nvSpPr>
        <p:spPr>
          <a:xfrm>
            <a:off x="2156404" y="2899214"/>
            <a:ext cx="1335476" cy="385769"/>
          </a:xfrm>
          <a:prstGeom prst="rect">
            <a:avLst/>
          </a:prstGeom>
          <a:noFill/>
        </p:spPr>
        <p:txBody>
          <a:bodyPr wrap="none" lIns="0" tIns="0" rIns="0" bIns="0" rtlCol="0" anchor="ctr" anchorCtr="1">
            <a:noAutofit/>
          </a:bodyPr>
          <a:lstStyle/>
          <a:p>
            <a:pPr algn="ctr"/>
            <a:r>
              <a:rPr lang="en-US" altLang="zh-TW" sz="1200" b="1" dirty="0">
                <a:solidFill>
                  <a:schemeClr val="accent6">
                    <a:lumMod val="75000"/>
                  </a:schemeClr>
                </a:solidFill>
              </a:rPr>
              <a:t>Transformer</a:t>
            </a:r>
            <a:r>
              <a:rPr lang="en-US" altLang="zh-TW" sz="1200" dirty="0"/>
              <a:t>:</a:t>
            </a:r>
          </a:p>
          <a:p>
            <a:pPr algn="ct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Layer(</a:t>
            </a:r>
            <a:r>
              <a:rPr lang="en-US" altLang="zh-TW" sz="1200" dirty="0">
                <a:sym typeface="Wingdings" panose="05000000000000000000" pitchFamily="2" charset="2"/>
              </a:rPr>
              <a:t>X</a:t>
            </a:r>
            <a:r>
              <a:rPr lang="en-US" altLang="zh-TW" sz="1200" baseline="-25000" dirty="0">
                <a:sym typeface="Wingdings" panose="05000000000000000000" pitchFamily="2" charset="2"/>
              </a:rPr>
              <a:t>n</a:t>
            </a:r>
            <a:r>
              <a:rPr lang="en-US" altLang="zh-TW" sz="1200" dirty="0">
                <a:sym typeface="Wingdings" panose="05000000000000000000" pitchFamily="2" charset="2"/>
              </a:rPr>
              <a:t>)</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200" dirty="0">
                <a:sym typeface="Wingdings" panose="05000000000000000000" pitchFamily="2" charset="2"/>
              </a:rPr>
              <a:t> X</a:t>
            </a:r>
            <a:r>
              <a:rPr lang="en-US" altLang="zh-TW" sz="1200" baseline="-25000" dirty="0">
                <a:sym typeface="Wingdings" panose="05000000000000000000" pitchFamily="2" charset="2"/>
              </a:rPr>
              <a:t>n+1</a:t>
            </a:r>
            <a:endParaRPr lang="zh-TW" altLang="en-US" sz="1200" dirty="0"/>
          </a:p>
        </p:txBody>
      </p:sp>
      <p:sp>
        <p:nvSpPr>
          <p:cNvPr id="33" name="矩形: 圓角 32">
            <a:extLst>
              <a:ext uri="{FF2B5EF4-FFF2-40B4-BE49-F238E27FC236}">
                <a16:creationId xmlns:a16="http://schemas.microsoft.com/office/drawing/2014/main" id="{A921377A-40EF-78AB-6BEA-E608C1F5801B}"/>
              </a:ext>
            </a:extLst>
          </p:cNvPr>
          <p:cNvSpPr/>
          <p:nvPr/>
        </p:nvSpPr>
        <p:spPr>
          <a:xfrm>
            <a:off x="4193005" y="1495781"/>
            <a:ext cx="306987" cy="1030744"/>
          </a:xfrm>
          <a:prstGeom prst="roundRect">
            <a:avLst>
              <a:gd name="adj" fmla="val 6506"/>
            </a:avLst>
          </a:prstGeom>
          <a:solidFill>
            <a:schemeClr val="accent6">
              <a:lumMod val="20000"/>
              <a:lumOff val="80000"/>
              <a:alpha val="60000"/>
            </a:schemeClr>
          </a:solidFill>
          <a:ln w="254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 wrap="none" lIns="0" tIns="0" rIns="0" bIns="0" rtlCol="0" anchor="ctr" anchorCtr="1"/>
          <a:lstStyle/>
          <a:p>
            <a:pPr algn="ctr"/>
            <a:r>
              <a:rPr lang="en-US" altLang="zh-TW" sz="1200" dirty="0">
                <a:solidFill>
                  <a:schemeClr val="accent2"/>
                </a:solidFill>
                <a:latin typeface="ADLaM Display" panose="02010000000000000000" pitchFamily="2" charset="0"/>
                <a:ea typeface="ADLaM Display" panose="02010000000000000000" pitchFamily="2" charset="0"/>
                <a:cs typeface="ADLaM Display" panose="02010000000000000000" pitchFamily="2" charset="0"/>
              </a:rPr>
              <a:t>Transformer</a:t>
            </a:r>
            <a:endParaRPr lang="zh-TW" altLang="en-US" sz="1200" dirty="0">
              <a:solidFill>
                <a:schemeClr val="accent2"/>
              </a:solidFill>
              <a:latin typeface="ADLaM Display" panose="02010000000000000000" pitchFamily="2" charset="0"/>
              <a:cs typeface="ADLaM Display" panose="02010000000000000000" pitchFamily="2" charset="0"/>
            </a:endParaRPr>
          </a:p>
        </p:txBody>
      </p:sp>
      <p:sp>
        <p:nvSpPr>
          <p:cNvPr id="34" name="矩形 33">
            <a:extLst>
              <a:ext uri="{FF2B5EF4-FFF2-40B4-BE49-F238E27FC236}">
                <a16:creationId xmlns:a16="http://schemas.microsoft.com/office/drawing/2014/main" id="{B633A983-4194-15EA-D87A-192C7C2579F2}"/>
              </a:ext>
            </a:extLst>
          </p:cNvPr>
          <p:cNvSpPr/>
          <p:nvPr/>
        </p:nvSpPr>
        <p:spPr>
          <a:xfrm>
            <a:off x="3937640" y="180256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圓角 34">
            <a:extLst>
              <a:ext uri="{FF2B5EF4-FFF2-40B4-BE49-F238E27FC236}">
                <a16:creationId xmlns:a16="http://schemas.microsoft.com/office/drawing/2014/main" id="{1FA0C5F2-4C3B-4E16-5014-505B7EBD0488}"/>
              </a:ext>
            </a:extLst>
          </p:cNvPr>
          <p:cNvSpPr/>
          <p:nvPr/>
        </p:nvSpPr>
        <p:spPr>
          <a:xfrm>
            <a:off x="3503067" y="1556791"/>
            <a:ext cx="204837" cy="457201"/>
          </a:xfrm>
          <a:prstGeom prst="roundRect">
            <a:avLst/>
          </a:prstGeom>
          <a:solidFill>
            <a:schemeClr val="accent3">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accent4"/>
              </a:solidFill>
              <a:latin typeface="ADLaM Display" panose="02010000000000000000" pitchFamily="2" charset="0"/>
              <a:cs typeface="ADLaM Display" panose="02010000000000000000" pitchFamily="2" charset="0"/>
            </a:endParaRPr>
          </a:p>
        </p:txBody>
      </p:sp>
      <p:sp>
        <p:nvSpPr>
          <p:cNvPr id="36" name="箭號: 向下 35">
            <a:extLst>
              <a:ext uri="{FF2B5EF4-FFF2-40B4-BE49-F238E27FC236}">
                <a16:creationId xmlns:a16="http://schemas.microsoft.com/office/drawing/2014/main" id="{600B8542-F8FF-608E-BAA3-1DA0F166F12C}"/>
              </a:ext>
            </a:extLst>
          </p:cNvPr>
          <p:cNvSpPr/>
          <p:nvPr/>
        </p:nvSpPr>
        <p:spPr>
          <a:xfrm rot="16200000">
            <a:off x="3775399" y="1908690"/>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7" name="矩形: 圓角 36">
            <a:extLst>
              <a:ext uri="{FF2B5EF4-FFF2-40B4-BE49-F238E27FC236}">
                <a16:creationId xmlns:a16="http://schemas.microsoft.com/office/drawing/2014/main" id="{7BBCCE7F-4FEF-31F9-29F3-F7D897C4FFCD}"/>
              </a:ext>
            </a:extLst>
          </p:cNvPr>
          <p:cNvSpPr/>
          <p:nvPr/>
        </p:nvSpPr>
        <p:spPr>
          <a:xfrm>
            <a:off x="3131840" y="2348880"/>
            <a:ext cx="457200" cy="192976"/>
          </a:xfrm>
          <a:prstGeom prst="roundRect">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4"/>
                </a:solidFill>
                <a:latin typeface="ADLaM Display" panose="02010000000000000000" pitchFamily="2" charset="0"/>
                <a:ea typeface="ADLaM Display" panose="02010000000000000000" pitchFamily="2" charset="0"/>
                <a:cs typeface="ADLaM Display" panose="02010000000000000000" pitchFamily="2" charset="0"/>
              </a:rPr>
              <a:t>FFN</a:t>
            </a:r>
            <a:endParaRPr lang="zh-TW" altLang="en-US" sz="1200" dirty="0">
              <a:solidFill>
                <a:schemeClr val="accent4"/>
              </a:solidFill>
              <a:latin typeface="ADLaM Display" panose="02010000000000000000" pitchFamily="2" charset="0"/>
              <a:cs typeface="ADLaM Display" panose="02010000000000000000" pitchFamily="2" charset="0"/>
            </a:endParaRPr>
          </a:p>
        </p:txBody>
      </p:sp>
      <p:sp>
        <p:nvSpPr>
          <p:cNvPr id="39" name="矩形: 圓角 38">
            <a:extLst>
              <a:ext uri="{FF2B5EF4-FFF2-40B4-BE49-F238E27FC236}">
                <a16:creationId xmlns:a16="http://schemas.microsoft.com/office/drawing/2014/main" id="{3614F6B8-3E13-7351-1B64-ADF46F07D6E9}"/>
              </a:ext>
            </a:extLst>
          </p:cNvPr>
          <p:cNvSpPr/>
          <p:nvPr/>
        </p:nvSpPr>
        <p:spPr>
          <a:xfrm>
            <a:off x="3131840" y="2587952"/>
            <a:ext cx="457200" cy="192976"/>
          </a:xfrm>
          <a:prstGeom prst="roundRect">
            <a:avLst/>
          </a:prstGeom>
          <a:solidFill>
            <a:schemeClr val="accent2">
              <a:lumMod val="20000"/>
              <a:lumOff val="80000"/>
            </a:schemeClr>
          </a:solidFill>
          <a:ln w="25400">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2"/>
                </a:solidFill>
                <a:latin typeface="ADLaM Display" panose="02010000000000000000" pitchFamily="2" charset="0"/>
                <a:ea typeface="ADLaM Display" panose="02010000000000000000" pitchFamily="2" charset="0"/>
                <a:cs typeface="ADLaM Display" panose="02010000000000000000" pitchFamily="2" charset="0"/>
              </a:rPr>
              <a:t>RC</a:t>
            </a:r>
            <a:endParaRPr lang="zh-TW" altLang="en-US" sz="1200" dirty="0">
              <a:solidFill>
                <a:schemeClr val="accent2"/>
              </a:solidFill>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8ABFCEF5-20A4-11F1-FC1D-81768FA58A34}"/>
              </a:ext>
            </a:extLst>
          </p:cNvPr>
          <p:cNvSpPr txBox="1"/>
          <p:nvPr/>
        </p:nvSpPr>
        <p:spPr>
          <a:xfrm>
            <a:off x="3044848" y="1391127"/>
            <a:ext cx="293061" cy="129042"/>
          </a:xfrm>
          <a:prstGeom prst="rect">
            <a:avLst/>
          </a:prstGeom>
          <a:noFill/>
        </p:spPr>
        <p:txBody>
          <a:bodyPr wrap="none" lIns="0" tIns="0" rIns="0" bIns="0" rtlCol="0" anchor="ctr" anchorCtr="1">
            <a:noAutofit/>
          </a:bodyPr>
          <a:lstStyle/>
          <a:p>
            <a:pPr algn="ctr"/>
            <a:r>
              <a:rPr lang="en-US" altLang="zh-TW" sz="1200" b="1" dirty="0"/>
              <a:t>N*N</a:t>
            </a:r>
            <a:endParaRPr lang="zh-TW" altLang="en-US" sz="1200" b="1" dirty="0"/>
          </a:p>
        </p:txBody>
      </p:sp>
      <p:sp>
        <p:nvSpPr>
          <p:cNvPr id="41" name="文字方塊 40">
            <a:extLst>
              <a:ext uri="{FF2B5EF4-FFF2-40B4-BE49-F238E27FC236}">
                <a16:creationId xmlns:a16="http://schemas.microsoft.com/office/drawing/2014/main" id="{E6A91C32-B212-25B0-800B-DA7D0BB81DFD}"/>
              </a:ext>
            </a:extLst>
          </p:cNvPr>
          <p:cNvSpPr txBox="1"/>
          <p:nvPr/>
        </p:nvSpPr>
        <p:spPr>
          <a:xfrm>
            <a:off x="3457972" y="1393726"/>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42" name="文字方塊 41">
            <a:extLst>
              <a:ext uri="{FF2B5EF4-FFF2-40B4-BE49-F238E27FC236}">
                <a16:creationId xmlns:a16="http://schemas.microsoft.com/office/drawing/2014/main" id="{F93D75D1-1C7E-4D67-C990-C83EBB7F7C9C}"/>
              </a:ext>
            </a:extLst>
          </p:cNvPr>
          <p:cNvSpPr txBox="1"/>
          <p:nvPr/>
        </p:nvSpPr>
        <p:spPr>
          <a:xfrm>
            <a:off x="3007086" y="2156158"/>
            <a:ext cx="700818" cy="144814"/>
          </a:xfrm>
          <a:prstGeom prst="rect">
            <a:avLst/>
          </a:prstGeom>
          <a:noFill/>
        </p:spPr>
        <p:txBody>
          <a:bodyPr wrap="none" lIns="0" tIns="0" rIns="0" bIns="0" rtlCol="0" anchor="ctr" anchorCtr="1">
            <a:noAutofit/>
          </a:bodyPr>
          <a:lstStyle/>
          <a:p>
            <a:pPr algn="ctr"/>
            <a:r>
              <a:rPr lang="en-US" altLang="zh-TW" sz="1200" b="1" dirty="0"/>
              <a:t>d*S, S*d</a:t>
            </a:r>
            <a:endParaRPr lang="zh-TW" altLang="en-US" sz="1200" b="1" dirty="0"/>
          </a:p>
        </p:txBody>
      </p:sp>
      <p:sp>
        <p:nvSpPr>
          <p:cNvPr id="43" name="矩形: 圓角 42">
            <a:extLst>
              <a:ext uri="{FF2B5EF4-FFF2-40B4-BE49-F238E27FC236}">
                <a16:creationId xmlns:a16="http://schemas.microsoft.com/office/drawing/2014/main" id="{BCDFF028-64C4-1CFF-4ABB-0636415FD2FB}"/>
              </a:ext>
            </a:extLst>
          </p:cNvPr>
          <p:cNvSpPr/>
          <p:nvPr/>
        </p:nvSpPr>
        <p:spPr>
          <a:xfrm>
            <a:off x="4769070" y="1495781"/>
            <a:ext cx="228750" cy="1030744"/>
          </a:xfrm>
          <a:prstGeom prst="roundRect">
            <a:avLst>
              <a:gd name="adj" fmla="val 6506"/>
            </a:avLst>
          </a:prstGeom>
          <a:solidFill>
            <a:schemeClr val="accent6">
              <a:lumMod val="20000"/>
              <a:lumOff val="80000"/>
              <a:alpha val="40000"/>
            </a:schemeClr>
          </a:solidFill>
          <a:ln w="25400">
            <a:solidFill>
              <a:schemeClr val="accent6">
                <a:lumMod val="40000"/>
                <a:lumOff val="6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 wrap="none" lIns="182880" tIns="0" rIns="0" bIns="0" rtlCol="0" anchor="ctr" anchorCtr="1"/>
          <a:lstStyle/>
          <a:p>
            <a:pPr algn="ctr"/>
            <a:r>
              <a:rPr lang="en-US" altLang="zh-TW" sz="1200" dirty="0">
                <a:solidFill>
                  <a:schemeClr val="accent2"/>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solidFill>
                <a:schemeClr val="accent2"/>
              </a:solidFill>
              <a:latin typeface="ADLaM Display" panose="02010000000000000000" pitchFamily="2" charset="0"/>
              <a:cs typeface="ADLaM Display" panose="02010000000000000000" pitchFamily="2" charset="0"/>
            </a:endParaRPr>
          </a:p>
        </p:txBody>
      </p:sp>
      <p:sp>
        <p:nvSpPr>
          <p:cNvPr id="44" name="矩形 43">
            <a:extLst>
              <a:ext uri="{FF2B5EF4-FFF2-40B4-BE49-F238E27FC236}">
                <a16:creationId xmlns:a16="http://schemas.microsoft.com/office/drawing/2014/main" id="{B62E9D48-92C6-7292-385A-98F07EB8B319}"/>
              </a:ext>
            </a:extLst>
          </p:cNvPr>
          <p:cNvSpPr/>
          <p:nvPr/>
        </p:nvSpPr>
        <p:spPr>
          <a:xfrm>
            <a:off x="4631282" y="1802565"/>
            <a:ext cx="228750" cy="457200"/>
          </a:xfrm>
          <a:prstGeom prst="rect">
            <a:avLst/>
          </a:prstGeom>
          <a:solidFill>
            <a:schemeClr val="bg1">
              <a:lumMod val="95000"/>
              <a:alpha val="80000"/>
            </a:schemeClr>
          </a:solidFill>
          <a:ln w="25400">
            <a:solidFill>
              <a:schemeClr val="bg1">
                <a:lumMod val="75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45" name="箭號: 向下 44">
            <a:extLst>
              <a:ext uri="{FF2B5EF4-FFF2-40B4-BE49-F238E27FC236}">
                <a16:creationId xmlns:a16="http://schemas.microsoft.com/office/drawing/2014/main" id="{1A827B6B-64EB-6D4C-B50F-D907007C0A5E}"/>
              </a:ext>
            </a:extLst>
          </p:cNvPr>
          <p:cNvSpPr/>
          <p:nvPr/>
        </p:nvSpPr>
        <p:spPr>
          <a:xfrm rot="16200000">
            <a:off x="4567487" y="1912317"/>
            <a:ext cx="216022" cy="225052"/>
          </a:xfrm>
          <a:prstGeom prst="downArrow">
            <a:avLst/>
          </a:prstGeom>
          <a:solidFill>
            <a:schemeClr val="accent2">
              <a:alpha val="50000"/>
            </a:schemeClr>
          </a:solidFill>
          <a:ln w="12700">
            <a:solidFill>
              <a:schemeClr val="accent2">
                <a:lumMod val="50000"/>
                <a:alpha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7" name="矩形: 圓角 46">
            <a:extLst>
              <a:ext uri="{FF2B5EF4-FFF2-40B4-BE49-F238E27FC236}">
                <a16:creationId xmlns:a16="http://schemas.microsoft.com/office/drawing/2014/main" id="{8A9EE4F2-6E0E-B482-906C-8517F809291D}"/>
              </a:ext>
            </a:extLst>
          </p:cNvPr>
          <p:cNvSpPr/>
          <p:nvPr/>
        </p:nvSpPr>
        <p:spPr>
          <a:xfrm>
            <a:off x="5135338" y="1505843"/>
            <a:ext cx="228750" cy="1030744"/>
          </a:xfrm>
          <a:prstGeom prst="roundRect">
            <a:avLst>
              <a:gd name="adj" fmla="val 6506"/>
            </a:avLst>
          </a:prstGeom>
          <a:solidFill>
            <a:schemeClr val="accent6">
              <a:lumMod val="20000"/>
              <a:lumOff val="80000"/>
              <a:alpha val="60000"/>
            </a:schemeClr>
          </a:solidFill>
          <a:ln w="254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 wrap="none" lIns="0" tIns="0" rIns="0" bIns="0" rtlCol="0" anchor="ctr" anchorCtr="1"/>
          <a:lstStyle/>
          <a:p>
            <a:pPr algn="ctr"/>
            <a:r>
              <a:rPr lang="en-US" altLang="zh-TW" sz="1200" dirty="0">
                <a:solidFill>
                  <a:schemeClr val="accent2"/>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solidFill>
                <a:schemeClr val="accent2"/>
              </a:solidFill>
              <a:latin typeface="ADLaM Display" panose="02010000000000000000" pitchFamily="2" charset="0"/>
              <a:cs typeface="ADLaM Display" panose="02010000000000000000" pitchFamily="2" charset="0"/>
            </a:endParaRPr>
          </a:p>
        </p:txBody>
      </p:sp>
      <p:sp>
        <p:nvSpPr>
          <p:cNvPr id="48" name="矩形 47">
            <a:extLst>
              <a:ext uri="{FF2B5EF4-FFF2-40B4-BE49-F238E27FC236}">
                <a16:creationId xmlns:a16="http://schemas.microsoft.com/office/drawing/2014/main" id="{C0518FC2-2818-CA4D-8165-B5A764BCB9A8}"/>
              </a:ext>
            </a:extLst>
          </p:cNvPr>
          <p:cNvSpPr/>
          <p:nvPr/>
        </p:nvSpPr>
        <p:spPr>
          <a:xfrm>
            <a:off x="5436096" y="1802564"/>
            <a:ext cx="22875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49" name="箭號: 向下 48">
            <a:extLst>
              <a:ext uri="{FF2B5EF4-FFF2-40B4-BE49-F238E27FC236}">
                <a16:creationId xmlns:a16="http://schemas.microsoft.com/office/drawing/2014/main" id="{C28A0934-A766-E62D-3F9E-0165C2525D54}"/>
              </a:ext>
            </a:extLst>
          </p:cNvPr>
          <p:cNvSpPr/>
          <p:nvPr/>
        </p:nvSpPr>
        <p:spPr>
          <a:xfrm rot="16200000">
            <a:off x="5296595" y="1912316"/>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0" name="文字方塊 49">
            <a:extLst>
              <a:ext uri="{FF2B5EF4-FFF2-40B4-BE49-F238E27FC236}">
                <a16:creationId xmlns:a16="http://schemas.microsoft.com/office/drawing/2014/main" id="{55A39E27-2EA7-16B3-B445-9BD7FFC521D7}"/>
              </a:ext>
            </a:extLst>
          </p:cNvPr>
          <p:cNvSpPr txBox="1"/>
          <p:nvPr/>
        </p:nvSpPr>
        <p:spPr>
          <a:xfrm>
            <a:off x="4036289" y="2907719"/>
            <a:ext cx="1080120" cy="385769"/>
          </a:xfrm>
          <a:prstGeom prst="rect">
            <a:avLst/>
          </a:prstGeom>
          <a:noFill/>
        </p:spPr>
        <p:txBody>
          <a:bodyPr wrap="none" lIns="0" tIns="0" rIns="0" bIns="0" rtlCol="0" anchor="ctr" anchorCtr="1">
            <a:noAutofit/>
          </a:bodyPr>
          <a:lstStyle/>
          <a:p>
            <a:pPr algn="ctr"/>
            <a:r>
              <a:rPr lang="en-US" altLang="zh-TW" sz="1200" b="1" dirty="0">
                <a:solidFill>
                  <a:schemeClr val="bg2">
                    <a:lumMod val="25000"/>
                  </a:schemeClr>
                </a:solidFill>
              </a:rPr>
              <a:t>N</a:t>
            </a:r>
          </a:p>
          <a:p>
            <a:pPr algn="ctr"/>
            <a:r>
              <a:rPr lang="en-US" altLang="zh-TW" sz="1000" dirty="0">
                <a:sym typeface="Wingdings" panose="05000000000000000000" pitchFamily="2" charset="2"/>
              </a:rPr>
              <a:t>Hidden Layers</a:t>
            </a:r>
            <a:endParaRPr lang="zh-TW" altLang="en-US" sz="1000" dirty="0"/>
          </a:p>
        </p:txBody>
      </p:sp>
      <p:sp>
        <p:nvSpPr>
          <p:cNvPr id="51" name="矩形 50">
            <a:extLst>
              <a:ext uri="{FF2B5EF4-FFF2-40B4-BE49-F238E27FC236}">
                <a16:creationId xmlns:a16="http://schemas.microsoft.com/office/drawing/2014/main" id="{F7C1906D-E521-4C0B-5AA7-25BAB494DD96}"/>
              </a:ext>
            </a:extLst>
          </p:cNvPr>
          <p:cNvSpPr/>
          <p:nvPr/>
        </p:nvSpPr>
        <p:spPr>
          <a:xfrm>
            <a:off x="5436096" y="2196480"/>
            <a:ext cx="228750" cy="152400"/>
          </a:xfrm>
          <a:prstGeom prst="rect">
            <a:avLst/>
          </a:prstGeom>
          <a:solidFill>
            <a:schemeClr val="bg1">
              <a:lumMod val="95000"/>
              <a:alpha val="60000"/>
            </a:schemeClr>
          </a:solid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53" name="文字方塊 52">
            <a:extLst>
              <a:ext uri="{FF2B5EF4-FFF2-40B4-BE49-F238E27FC236}">
                <a16:creationId xmlns:a16="http://schemas.microsoft.com/office/drawing/2014/main" id="{BCF8A4EE-4848-4EC5-34A4-E862075E5E25}"/>
              </a:ext>
            </a:extLst>
          </p:cNvPr>
          <p:cNvSpPr txBox="1"/>
          <p:nvPr/>
        </p:nvSpPr>
        <p:spPr>
          <a:xfrm>
            <a:off x="6300192" y="1628800"/>
            <a:ext cx="293061" cy="129042"/>
          </a:xfrm>
          <a:prstGeom prst="rect">
            <a:avLst/>
          </a:prstGeom>
          <a:noFill/>
        </p:spPr>
        <p:txBody>
          <a:bodyPr wrap="none" lIns="0" tIns="0" rIns="0" bIns="0" rtlCol="0" anchor="ctr" anchorCtr="1">
            <a:noAutofit/>
          </a:bodyPr>
          <a:lstStyle/>
          <a:p>
            <a:pPr algn="ctr"/>
            <a:r>
              <a:rPr lang="en-US" altLang="zh-TW" sz="1200" b="1" dirty="0"/>
              <a:t>d*1</a:t>
            </a:r>
            <a:endParaRPr lang="zh-TW" altLang="en-US" sz="1200" b="1" dirty="0"/>
          </a:p>
        </p:txBody>
      </p:sp>
      <p:sp>
        <p:nvSpPr>
          <p:cNvPr id="54" name="文字方塊 53">
            <a:extLst>
              <a:ext uri="{FF2B5EF4-FFF2-40B4-BE49-F238E27FC236}">
                <a16:creationId xmlns:a16="http://schemas.microsoft.com/office/drawing/2014/main" id="{27D3AD06-7DBE-97DC-15EC-4664D706492F}"/>
              </a:ext>
            </a:extLst>
          </p:cNvPr>
          <p:cNvSpPr txBox="1"/>
          <p:nvPr/>
        </p:nvSpPr>
        <p:spPr>
          <a:xfrm>
            <a:off x="6228184" y="1935514"/>
            <a:ext cx="150244" cy="215151"/>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55" name="矩形 54">
            <a:extLst>
              <a:ext uri="{FF2B5EF4-FFF2-40B4-BE49-F238E27FC236}">
                <a16:creationId xmlns:a16="http://schemas.microsoft.com/office/drawing/2014/main" id="{75664257-E83C-390B-D81E-3EC4FB47EFAC}"/>
              </a:ext>
            </a:extLst>
          </p:cNvPr>
          <p:cNvSpPr/>
          <p:nvPr/>
        </p:nvSpPr>
        <p:spPr>
          <a:xfrm>
            <a:off x="5868144" y="1298383"/>
            <a:ext cx="362588" cy="1482545"/>
          </a:xfrm>
          <a:prstGeom prst="rect">
            <a:avLst/>
          </a:prstGeom>
          <a:solidFill>
            <a:srgbClr val="FFFF00">
              <a:alpha val="40000"/>
            </a:srgb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400" baseline="-250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z</a:t>
            </a:r>
            <a:endParaRPr lang="en-US" altLang="zh-TW" sz="1400" b="1" baseline="-25000" dirty="0">
              <a:solidFill>
                <a:schemeClr val="bg2">
                  <a:lumMod val="25000"/>
                </a:schemeClr>
              </a:solidFill>
              <a:ea typeface="ADLaM Display" panose="02010000000000000000" pitchFamily="2" charset="0"/>
              <a:cs typeface="ADLaM Display" panose="02010000000000000000" pitchFamily="2" charset="0"/>
            </a:endParaRPr>
          </a:p>
        </p:txBody>
      </p:sp>
      <p:sp>
        <p:nvSpPr>
          <p:cNvPr id="56" name="矩形 55">
            <a:extLst>
              <a:ext uri="{FF2B5EF4-FFF2-40B4-BE49-F238E27FC236}">
                <a16:creationId xmlns:a16="http://schemas.microsoft.com/office/drawing/2014/main" id="{6832FDB9-6C4B-71F1-01BF-D8CDA2DB7B1E}"/>
              </a:ext>
            </a:extLst>
          </p:cNvPr>
          <p:cNvSpPr/>
          <p:nvPr/>
        </p:nvSpPr>
        <p:spPr>
          <a:xfrm rot="5400000">
            <a:off x="6328574" y="1977804"/>
            <a:ext cx="228750" cy="129042"/>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57" name="文字方塊 56">
            <a:extLst>
              <a:ext uri="{FF2B5EF4-FFF2-40B4-BE49-F238E27FC236}">
                <a16:creationId xmlns:a16="http://schemas.microsoft.com/office/drawing/2014/main" id="{58086032-889F-B3B9-E4E1-385459F211C3}"/>
              </a:ext>
            </a:extLst>
          </p:cNvPr>
          <p:cNvSpPr txBox="1"/>
          <p:nvPr/>
        </p:nvSpPr>
        <p:spPr>
          <a:xfrm>
            <a:off x="5902907" y="1134821"/>
            <a:ext cx="293061" cy="129042"/>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cxnSp>
        <p:nvCxnSpPr>
          <p:cNvPr id="58" name="接點: 弧形 57">
            <a:extLst>
              <a:ext uri="{FF2B5EF4-FFF2-40B4-BE49-F238E27FC236}">
                <a16:creationId xmlns:a16="http://schemas.microsoft.com/office/drawing/2014/main" id="{4A14E8D3-8621-D8E5-BA87-E9B69A98F69D}"/>
              </a:ext>
            </a:extLst>
          </p:cNvPr>
          <p:cNvCxnSpPr>
            <a:cxnSpLocks/>
            <a:stCxn id="51" idx="3"/>
            <a:endCxn id="56" idx="3"/>
          </p:cNvCxnSpPr>
          <p:nvPr/>
        </p:nvCxnSpPr>
        <p:spPr>
          <a:xfrm flipV="1">
            <a:off x="5664846" y="2156700"/>
            <a:ext cx="778103" cy="11598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9" name="矩形 58">
            <a:extLst>
              <a:ext uri="{FF2B5EF4-FFF2-40B4-BE49-F238E27FC236}">
                <a16:creationId xmlns:a16="http://schemas.microsoft.com/office/drawing/2014/main" id="{ED8EC2C7-3E0F-60BB-B725-5C6A827A8C33}"/>
              </a:ext>
            </a:extLst>
          </p:cNvPr>
          <p:cNvSpPr/>
          <p:nvPr/>
        </p:nvSpPr>
        <p:spPr>
          <a:xfrm>
            <a:off x="7020272" y="1289891"/>
            <a:ext cx="99043" cy="1482545"/>
          </a:xfrm>
          <a:prstGeom prst="rect">
            <a:avLst/>
          </a:prstGeom>
          <a:solidFill>
            <a:schemeClr val="bg2">
              <a:lumMod val="90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P</a:t>
            </a:r>
          </a:p>
          <a:p>
            <a:pPr algn="ctr">
              <a:lnSpc>
                <a:spcPts val="1600"/>
              </a:lnSpc>
            </a:pPr>
            <a:r>
              <a:rPr lang="en-US" altLang="zh-TW" sz="1200" b="1" dirty="0">
                <a:solidFill>
                  <a:schemeClr val="bg2">
                    <a:lumMod val="25000"/>
                  </a:schemeClr>
                </a:solidFill>
                <a:ea typeface="ADLaM Display" panose="02010000000000000000" pitchFamily="2" charset="0"/>
                <a:cs typeface="ADLaM Display" panose="02010000000000000000" pitchFamily="2" charset="0"/>
              </a:rPr>
              <a:t>logit</a:t>
            </a:r>
          </a:p>
        </p:txBody>
      </p:sp>
      <p:sp>
        <p:nvSpPr>
          <p:cNvPr id="60" name="文字方塊 59">
            <a:extLst>
              <a:ext uri="{FF2B5EF4-FFF2-40B4-BE49-F238E27FC236}">
                <a16:creationId xmlns:a16="http://schemas.microsoft.com/office/drawing/2014/main" id="{F89E2BA9-E551-B0A4-D63B-D4E1223528D3}"/>
              </a:ext>
            </a:extLst>
          </p:cNvPr>
          <p:cNvSpPr txBox="1"/>
          <p:nvPr/>
        </p:nvSpPr>
        <p:spPr>
          <a:xfrm>
            <a:off x="6084168" y="2899215"/>
            <a:ext cx="1080120" cy="385769"/>
          </a:xfrm>
          <a:prstGeom prst="rect">
            <a:avLst/>
          </a:prstGeom>
          <a:noFill/>
        </p:spPr>
        <p:txBody>
          <a:bodyPr wrap="none" lIns="0" tIns="0" rIns="0" bIns="0" rtlCol="0" anchor="ctr" anchorCtr="1">
            <a:noAutofit/>
          </a:bodyPr>
          <a:lstStyle/>
          <a:p>
            <a:pPr algn="ctr"/>
            <a:r>
              <a:rPr lang="en-US" altLang="zh-TW" sz="1200" b="1" dirty="0">
                <a:solidFill>
                  <a:schemeClr val="bg2">
                    <a:lumMod val="25000"/>
                  </a:schemeClr>
                </a:solidFill>
              </a:rPr>
              <a:t>Linear Projection</a:t>
            </a:r>
            <a:endParaRPr lang="en-US" altLang="zh-TW" sz="1200" dirty="0"/>
          </a:p>
          <a:p>
            <a:pPr algn="ct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Semantic space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000" dirty="0">
                <a:sym typeface="Wingdings" panose="05000000000000000000" pitchFamily="2" charset="2"/>
              </a:rPr>
              <a:t>Next token</a:t>
            </a:r>
            <a:endParaRPr lang="zh-TW" altLang="en-US" sz="1000" dirty="0"/>
          </a:p>
        </p:txBody>
      </p:sp>
      <p:sp>
        <p:nvSpPr>
          <p:cNvPr id="61" name="矩形 60">
            <a:extLst>
              <a:ext uri="{FF2B5EF4-FFF2-40B4-BE49-F238E27FC236}">
                <a16:creationId xmlns:a16="http://schemas.microsoft.com/office/drawing/2014/main" id="{01D22422-8722-9DFE-1032-12CC7888F0CF}"/>
              </a:ext>
            </a:extLst>
          </p:cNvPr>
          <p:cNvSpPr/>
          <p:nvPr/>
        </p:nvSpPr>
        <p:spPr>
          <a:xfrm>
            <a:off x="7449772" y="1293352"/>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bg2">
                    <a:lumMod val="25000"/>
                  </a:schemeClr>
                </a:solidFill>
                <a:ea typeface="ADLaM Display" panose="02010000000000000000" pitchFamily="2" charset="0"/>
                <a:cs typeface="ADLaM Display" panose="02010000000000000000" pitchFamily="2" charset="0"/>
              </a:rPr>
              <a:t>vocabulary</a:t>
            </a:r>
          </a:p>
        </p:txBody>
      </p:sp>
      <p:sp>
        <p:nvSpPr>
          <p:cNvPr id="62" name="文字方塊 61">
            <a:extLst>
              <a:ext uri="{FF2B5EF4-FFF2-40B4-BE49-F238E27FC236}">
                <a16:creationId xmlns:a16="http://schemas.microsoft.com/office/drawing/2014/main" id="{6A90E8FD-96E1-F893-7DD0-09859DD965D3}"/>
              </a:ext>
            </a:extLst>
          </p:cNvPr>
          <p:cNvSpPr txBox="1"/>
          <p:nvPr/>
        </p:nvSpPr>
        <p:spPr>
          <a:xfrm>
            <a:off x="7480895" y="1124744"/>
            <a:ext cx="293061" cy="129042"/>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sp>
        <p:nvSpPr>
          <p:cNvPr id="63" name="文字方塊 62">
            <a:extLst>
              <a:ext uri="{FF2B5EF4-FFF2-40B4-BE49-F238E27FC236}">
                <a16:creationId xmlns:a16="http://schemas.microsoft.com/office/drawing/2014/main" id="{1549779F-9D8C-12A8-3D2E-121DCD5430D1}"/>
              </a:ext>
            </a:extLst>
          </p:cNvPr>
          <p:cNvSpPr txBox="1"/>
          <p:nvPr/>
        </p:nvSpPr>
        <p:spPr>
          <a:xfrm>
            <a:off x="6933710" y="1124744"/>
            <a:ext cx="293061" cy="129042"/>
          </a:xfrm>
          <a:prstGeom prst="rect">
            <a:avLst/>
          </a:prstGeom>
          <a:noFill/>
        </p:spPr>
        <p:txBody>
          <a:bodyPr wrap="none" lIns="0" tIns="0" rIns="0" bIns="0" rtlCol="0" anchor="ctr" anchorCtr="1">
            <a:noAutofit/>
          </a:bodyPr>
          <a:lstStyle/>
          <a:p>
            <a:pPr algn="ctr"/>
            <a:r>
              <a:rPr lang="en-US" altLang="zh-TW" sz="1200" b="1" dirty="0"/>
              <a:t>V*1</a:t>
            </a:r>
            <a:endParaRPr lang="zh-TW" altLang="en-US" sz="1200" b="1" dirty="0"/>
          </a:p>
        </p:txBody>
      </p:sp>
      <p:sp>
        <p:nvSpPr>
          <p:cNvPr id="65" name="文字方塊 64">
            <a:extLst>
              <a:ext uri="{FF2B5EF4-FFF2-40B4-BE49-F238E27FC236}">
                <a16:creationId xmlns:a16="http://schemas.microsoft.com/office/drawing/2014/main" id="{7CBA4F9A-7B23-84F2-66A2-C5EFB202C27B}"/>
              </a:ext>
            </a:extLst>
          </p:cNvPr>
          <p:cNvSpPr txBox="1"/>
          <p:nvPr/>
        </p:nvSpPr>
        <p:spPr>
          <a:xfrm>
            <a:off x="251520" y="1289891"/>
            <a:ext cx="352519" cy="1502395"/>
          </a:xfrm>
          <a:prstGeom prst="rect">
            <a:avLst/>
          </a:prstGeom>
          <a:noFill/>
        </p:spPr>
        <p:txBody>
          <a:bodyPr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a:t>
            </a:r>
            <a:endParaRPr kumimoji="0" lang="zh-TW" altLang="en-US" sz="10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0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t>
            </a:r>
          </a:p>
          <a:p>
            <a:pPr algn="ctr"/>
            <a:r>
              <a:rPr lang="en-US" altLang="zh-TW" sz="10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dog</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jumps</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fox</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000" dirty="0">
              <a:solidFill>
                <a:schemeClr val="bg1">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401002270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160109" y="5930691"/>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3995936" y="5930691"/>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22E1FC-954E-4851-B5E5-4B39140935AC}"/>
            </a:ext>
          </a:extLst>
        </p:cNvPr>
        <p:cNvGrpSpPr/>
        <p:nvPr/>
      </p:nvGrpSpPr>
      <p:grpSpPr>
        <a:xfrm>
          <a:off x="0" y="0"/>
          <a:ext cx="0" cy="0"/>
          <a:chOff x="0" y="0"/>
          <a:chExt cx="0" cy="0"/>
        </a:xfrm>
      </p:grpSpPr>
      <p:sp>
        <p:nvSpPr>
          <p:cNvPr id="106" name="左中括弧 105">
            <a:extLst>
              <a:ext uri="{FF2B5EF4-FFF2-40B4-BE49-F238E27FC236}">
                <a16:creationId xmlns:a16="http://schemas.microsoft.com/office/drawing/2014/main" id="{239937F3-E8CB-B0A4-4806-095B0BED5576}"/>
              </a:ext>
            </a:extLst>
          </p:cNvPr>
          <p:cNvSpPr/>
          <p:nvPr/>
        </p:nvSpPr>
        <p:spPr>
          <a:xfrm rot="16200000">
            <a:off x="4743301" y="1998899"/>
            <a:ext cx="74412" cy="1743228"/>
          </a:xfrm>
          <a:prstGeom prst="leftBracket">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64" name="矩形 63">
            <a:extLst>
              <a:ext uri="{FF2B5EF4-FFF2-40B4-BE49-F238E27FC236}">
                <a16:creationId xmlns:a16="http://schemas.microsoft.com/office/drawing/2014/main" id="{849612CD-9DB8-5EF0-ECCC-0DAF792E686E}"/>
              </a:ext>
            </a:extLst>
          </p:cNvPr>
          <p:cNvSpPr/>
          <p:nvPr/>
        </p:nvSpPr>
        <p:spPr>
          <a:xfrm>
            <a:off x="1762825" y="1063705"/>
            <a:ext cx="2062741" cy="1835509"/>
          </a:xfrm>
          <a:prstGeom prst="rect">
            <a:avLst/>
          </a:prstGeom>
          <a:solidFill>
            <a:schemeClr val="accent6">
              <a:lumMod val="20000"/>
              <a:lumOff val="80000"/>
              <a:alpha val="20000"/>
            </a:schemeClr>
          </a:solidFill>
          <a:ln w="19050">
            <a:solidFill>
              <a:schemeClr val="accent6"/>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 name="標題 1">
            <a:extLst>
              <a:ext uri="{FF2B5EF4-FFF2-40B4-BE49-F238E27FC236}">
                <a16:creationId xmlns:a16="http://schemas.microsoft.com/office/drawing/2014/main" id="{9F53878C-97BE-D6C4-AADF-0D0B425134E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sp>
        <p:nvSpPr>
          <p:cNvPr id="94" name="文字方塊 93">
            <a:extLst>
              <a:ext uri="{FF2B5EF4-FFF2-40B4-BE49-F238E27FC236}">
                <a16:creationId xmlns:a16="http://schemas.microsoft.com/office/drawing/2014/main" id="{B5AD2527-7364-8872-592C-5D70DA6EF4E2}"/>
              </a:ext>
            </a:extLst>
          </p:cNvPr>
          <p:cNvSpPr txBox="1"/>
          <p:nvPr/>
        </p:nvSpPr>
        <p:spPr>
          <a:xfrm>
            <a:off x="1547664" y="1632543"/>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119" name="矩形: 圓角 118">
            <a:extLst>
              <a:ext uri="{FF2B5EF4-FFF2-40B4-BE49-F238E27FC236}">
                <a16:creationId xmlns:a16="http://schemas.microsoft.com/office/drawing/2014/main" id="{F7477F9B-D4A8-4756-1FCA-E84E000EF944}"/>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0" name="矩形 29">
            <a:extLst>
              <a:ext uri="{FF2B5EF4-FFF2-40B4-BE49-F238E27FC236}">
                <a16:creationId xmlns:a16="http://schemas.microsoft.com/office/drawing/2014/main" id="{6E88A400-9A61-FE06-A47B-F23BF6A44BDD}"/>
              </a:ext>
            </a:extLst>
          </p:cNvPr>
          <p:cNvSpPr/>
          <p:nvPr/>
        </p:nvSpPr>
        <p:spPr>
          <a:xfrm>
            <a:off x="914656" y="1293352"/>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bg2">
                    <a:lumMod val="25000"/>
                  </a:schemeClr>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D6202818-E8AB-667F-C0CF-B73BDC1BA784}"/>
              </a:ext>
            </a:extLst>
          </p:cNvPr>
          <p:cNvSpPr txBox="1"/>
          <p:nvPr/>
        </p:nvSpPr>
        <p:spPr>
          <a:xfrm>
            <a:off x="467544" y="2899215"/>
            <a:ext cx="1080120" cy="385769"/>
          </a:xfrm>
          <a:prstGeom prst="rect">
            <a:avLst/>
          </a:prstGeom>
          <a:noFill/>
        </p:spPr>
        <p:txBody>
          <a:bodyPr wrap="none" lIns="0" tIns="0" rIns="0" bIns="0" rtlCol="0" anchor="ctr" anchorCtr="1">
            <a:noAutofit/>
          </a:bodyPr>
          <a:lstStyle/>
          <a:p>
            <a:pPr algn="ctr"/>
            <a:r>
              <a:rPr lang="en-US" altLang="zh-TW" sz="1200" b="1" dirty="0">
                <a:solidFill>
                  <a:schemeClr val="bg2">
                    <a:lumMod val="25000"/>
                  </a:schemeClr>
                </a:solidFill>
              </a:rPr>
              <a:t>Lookup Table</a:t>
            </a:r>
            <a:r>
              <a:rPr lang="en-US" altLang="zh-TW" sz="1200" dirty="0"/>
              <a:t>:</a:t>
            </a:r>
          </a:p>
          <a:p>
            <a:pPr algn="ctr"/>
            <a:r>
              <a:rPr lang="en-US" altLang="zh-TW" sz="1000" dirty="0"/>
              <a:t>Token</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000" dirty="0">
                <a:sym typeface="Wingdings" panose="05000000000000000000" pitchFamily="2" charset="2"/>
              </a:rPr>
              <a:t>Embedding</a:t>
            </a:r>
            <a:endParaRPr lang="zh-TW" altLang="en-US" sz="1000" dirty="0"/>
          </a:p>
        </p:txBody>
      </p:sp>
      <p:sp>
        <p:nvSpPr>
          <p:cNvPr id="23" name="矩形 22">
            <a:extLst>
              <a:ext uri="{FF2B5EF4-FFF2-40B4-BE49-F238E27FC236}">
                <a16:creationId xmlns:a16="http://schemas.microsoft.com/office/drawing/2014/main" id="{B3C38D2E-449B-0AFC-E49B-668F29ABC698}"/>
              </a:ext>
            </a:extLst>
          </p:cNvPr>
          <p:cNvSpPr/>
          <p:nvPr/>
        </p:nvSpPr>
        <p:spPr>
          <a:xfrm>
            <a:off x="1566405" y="1806025"/>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0040B068-DA0A-B1F9-472E-9E887B1C3930}"/>
              </a:ext>
            </a:extLst>
          </p:cNvPr>
          <p:cNvSpPr/>
          <p:nvPr/>
        </p:nvSpPr>
        <p:spPr>
          <a:xfrm>
            <a:off x="1987421" y="1412776"/>
            <a:ext cx="274320" cy="274320"/>
          </a:xfrm>
          <a:prstGeom prst="rect">
            <a:avLst/>
          </a:prstGeom>
          <a:solidFill>
            <a:schemeClr val="accent2">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35" name="矩形 34">
            <a:extLst>
              <a:ext uri="{FF2B5EF4-FFF2-40B4-BE49-F238E27FC236}">
                <a16:creationId xmlns:a16="http://schemas.microsoft.com/office/drawing/2014/main" id="{48B1CE26-6919-5BFE-0EEA-D18F3B7E1872}"/>
              </a:ext>
            </a:extLst>
          </p:cNvPr>
          <p:cNvSpPr/>
          <p:nvPr/>
        </p:nvSpPr>
        <p:spPr>
          <a:xfrm>
            <a:off x="1987874" y="1903184"/>
            <a:ext cx="274320" cy="274320"/>
          </a:xfrm>
          <a:prstGeom prst="rect">
            <a:avLst/>
          </a:prstGeom>
          <a:solidFill>
            <a:schemeClr val="accent1">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43" name="矩形 42">
            <a:extLst>
              <a:ext uri="{FF2B5EF4-FFF2-40B4-BE49-F238E27FC236}">
                <a16:creationId xmlns:a16="http://schemas.microsoft.com/office/drawing/2014/main" id="{3BA5361D-9463-5788-2ED4-6C78A4B32D56}"/>
              </a:ext>
            </a:extLst>
          </p:cNvPr>
          <p:cNvSpPr/>
          <p:nvPr/>
        </p:nvSpPr>
        <p:spPr>
          <a:xfrm>
            <a:off x="1979712" y="2420952"/>
            <a:ext cx="274320" cy="274320"/>
          </a:xfrm>
          <a:prstGeom prst="rect">
            <a:avLst/>
          </a:prstGeom>
          <a:solidFill>
            <a:schemeClr val="accent3">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27872FBD-0295-C64F-1DEF-D2BB1BC08B14}"/>
              </a:ext>
            </a:extLst>
          </p:cNvPr>
          <p:cNvSpPr txBox="1"/>
          <p:nvPr/>
        </p:nvSpPr>
        <p:spPr>
          <a:xfrm>
            <a:off x="2304149" y="1458496"/>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70DD4B06-6BA1-BF24-EA59-CD52277CD0C7}"/>
              </a:ext>
            </a:extLst>
          </p:cNvPr>
          <p:cNvSpPr txBox="1"/>
          <p:nvPr/>
        </p:nvSpPr>
        <p:spPr>
          <a:xfrm>
            <a:off x="1835696" y="1458496"/>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824D694B-0C02-42EA-DB9E-98C8423E78B2}"/>
              </a:ext>
            </a:extLst>
          </p:cNvPr>
          <p:cNvSpPr txBox="1"/>
          <p:nvPr/>
        </p:nvSpPr>
        <p:spPr>
          <a:xfrm>
            <a:off x="1836149" y="1948904"/>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5EBAFECA-D878-7FF4-AA34-EDDA2B3DB3F7}"/>
              </a:ext>
            </a:extLst>
          </p:cNvPr>
          <p:cNvSpPr txBox="1"/>
          <p:nvPr/>
        </p:nvSpPr>
        <p:spPr>
          <a:xfrm>
            <a:off x="1836149" y="2466672"/>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92729E31-7957-6022-E707-9B715DCCDD61}"/>
              </a:ext>
            </a:extLst>
          </p:cNvPr>
          <p:cNvSpPr txBox="1"/>
          <p:nvPr/>
        </p:nvSpPr>
        <p:spPr>
          <a:xfrm>
            <a:off x="2304602" y="1948904"/>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7F081929-8A5D-D33D-27CC-B8E4904B559D}"/>
              </a:ext>
            </a:extLst>
          </p:cNvPr>
          <p:cNvSpPr txBox="1"/>
          <p:nvPr/>
        </p:nvSpPr>
        <p:spPr>
          <a:xfrm>
            <a:off x="2304602" y="2466672"/>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graphicFrame>
        <p:nvGraphicFramePr>
          <p:cNvPr id="3" name="表格 2">
            <a:extLst>
              <a:ext uri="{FF2B5EF4-FFF2-40B4-BE49-F238E27FC236}">
                <a16:creationId xmlns:a16="http://schemas.microsoft.com/office/drawing/2014/main" id="{A4E4C2DD-DA9F-4C94-3335-3160B1100600}"/>
              </a:ext>
            </a:extLst>
          </p:cNvPr>
          <p:cNvGraphicFramePr>
            <a:graphicFrameLocks noGrp="1"/>
          </p:cNvGraphicFramePr>
          <p:nvPr>
            <p:extLst>
              <p:ext uri="{D42A27DB-BD31-4B8C-83A1-F6EECF244321}">
                <p14:modId xmlns:p14="http://schemas.microsoft.com/office/powerpoint/2010/main" val="2883532776"/>
              </p:ext>
            </p:extLst>
          </p:nvPr>
        </p:nvGraphicFramePr>
        <p:xfrm>
          <a:off x="2233359" y="4737891"/>
          <a:ext cx="1834585" cy="1499421"/>
        </p:xfrm>
        <a:graphic>
          <a:graphicData uri="http://schemas.openxmlformats.org/drawingml/2006/table">
            <a:tbl>
              <a:tblPr firstRow="1" bandRow="1">
                <a:tableStyleId>{5C22544A-7EE6-4342-B048-85BDC9FD1C3A}</a:tableStyleId>
              </a:tblPr>
              <a:tblGrid>
                <a:gridCol w="211080">
                  <a:extLst>
                    <a:ext uri="{9D8B030D-6E8A-4147-A177-3AD203B41FA5}">
                      <a16:colId xmlns:a16="http://schemas.microsoft.com/office/drawing/2014/main" val="871242339"/>
                    </a:ext>
                  </a:extLst>
                </a:gridCol>
                <a:gridCol w="202938">
                  <a:extLst>
                    <a:ext uri="{9D8B030D-6E8A-4147-A177-3AD203B41FA5}">
                      <a16:colId xmlns:a16="http://schemas.microsoft.com/office/drawing/2014/main" val="4108446047"/>
                    </a:ext>
                  </a:extLst>
                </a:gridCol>
                <a:gridCol w="202938">
                  <a:extLst>
                    <a:ext uri="{9D8B030D-6E8A-4147-A177-3AD203B41FA5}">
                      <a16:colId xmlns:a16="http://schemas.microsoft.com/office/drawing/2014/main" val="1986383383"/>
                    </a:ext>
                  </a:extLst>
                </a:gridCol>
                <a:gridCol w="202938">
                  <a:extLst>
                    <a:ext uri="{9D8B030D-6E8A-4147-A177-3AD203B41FA5}">
                      <a16:colId xmlns:a16="http://schemas.microsoft.com/office/drawing/2014/main" val="3805389299"/>
                    </a:ext>
                  </a:extLst>
                </a:gridCol>
                <a:gridCol w="306491">
                  <a:extLst>
                    <a:ext uri="{9D8B030D-6E8A-4147-A177-3AD203B41FA5}">
                      <a16:colId xmlns:a16="http://schemas.microsoft.com/office/drawing/2014/main" val="4066581974"/>
                    </a:ext>
                  </a:extLst>
                </a:gridCol>
                <a:gridCol w="177050">
                  <a:extLst>
                    <a:ext uri="{9D8B030D-6E8A-4147-A177-3AD203B41FA5}">
                      <a16:colId xmlns:a16="http://schemas.microsoft.com/office/drawing/2014/main" val="1508433019"/>
                    </a:ext>
                  </a:extLst>
                </a:gridCol>
                <a:gridCol w="177050">
                  <a:extLst>
                    <a:ext uri="{9D8B030D-6E8A-4147-A177-3AD203B41FA5}">
                      <a16:colId xmlns:a16="http://schemas.microsoft.com/office/drawing/2014/main" val="1970694898"/>
                    </a:ext>
                  </a:extLst>
                </a:gridCol>
                <a:gridCol w="177050">
                  <a:extLst>
                    <a:ext uri="{9D8B030D-6E8A-4147-A177-3AD203B41FA5}">
                      <a16:colId xmlns:a16="http://schemas.microsoft.com/office/drawing/2014/main" val="1823401774"/>
                    </a:ext>
                  </a:extLst>
                </a:gridCol>
                <a:gridCol w="177050">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1"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2789904019"/>
                  </a:ext>
                </a:extLst>
              </a:tr>
            </a:tbl>
          </a:graphicData>
        </a:graphic>
      </p:graphicFrame>
      <p:graphicFrame>
        <p:nvGraphicFramePr>
          <p:cNvPr id="18" name="表格 17">
            <a:extLst>
              <a:ext uri="{FF2B5EF4-FFF2-40B4-BE49-F238E27FC236}">
                <a16:creationId xmlns:a16="http://schemas.microsoft.com/office/drawing/2014/main" id="{15E45F6B-A916-9975-2772-A70378D9C8C5}"/>
              </a:ext>
            </a:extLst>
          </p:cNvPr>
          <p:cNvGraphicFramePr>
            <a:graphicFrameLocks noGrp="1"/>
          </p:cNvGraphicFramePr>
          <p:nvPr>
            <p:extLst>
              <p:ext uri="{D42A27DB-BD31-4B8C-83A1-F6EECF244321}">
                <p14:modId xmlns:p14="http://schemas.microsoft.com/office/powerpoint/2010/main" val="1985477625"/>
              </p:ext>
            </p:extLst>
          </p:nvPr>
        </p:nvGraphicFramePr>
        <p:xfrm>
          <a:off x="4453832" y="4737891"/>
          <a:ext cx="1815237" cy="1499421"/>
        </p:xfrm>
        <a:graphic>
          <a:graphicData uri="http://schemas.openxmlformats.org/drawingml/2006/table">
            <a:tbl>
              <a:tblPr firstRow="1" bandRow="1">
                <a:tableStyleId>{5C22544A-7EE6-4342-B048-85BDC9FD1C3A}</a:tableStyleId>
              </a:tblPr>
              <a:tblGrid>
                <a:gridCol w="208853">
                  <a:extLst>
                    <a:ext uri="{9D8B030D-6E8A-4147-A177-3AD203B41FA5}">
                      <a16:colId xmlns:a16="http://schemas.microsoft.com/office/drawing/2014/main" val="871242339"/>
                    </a:ext>
                  </a:extLst>
                </a:gridCol>
                <a:gridCol w="200798">
                  <a:extLst>
                    <a:ext uri="{9D8B030D-6E8A-4147-A177-3AD203B41FA5}">
                      <a16:colId xmlns:a16="http://schemas.microsoft.com/office/drawing/2014/main" val="4108446047"/>
                    </a:ext>
                  </a:extLst>
                </a:gridCol>
                <a:gridCol w="200798">
                  <a:extLst>
                    <a:ext uri="{9D8B030D-6E8A-4147-A177-3AD203B41FA5}">
                      <a16:colId xmlns:a16="http://schemas.microsoft.com/office/drawing/2014/main" val="1986383383"/>
                    </a:ext>
                  </a:extLst>
                </a:gridCol>
                <a:gridCol w="200798">
                  <a:extLst>
                    <a:ext uri="{9D8B030D-6E8A-4147-A177-3AD203B41FA5}">
                      <a16:colId xmlns:a16="http://schemas.microsoft.com/office/drawing/2014/main" val="3805389299"/>
                    </a:ext>
                  </a:extLst>
                </a:gridCol>
                <a:gridCol w="200798">
                  <a:extLst>
                    <a:ext uri="{9D8B030D-6E8A-4147-A177-3AD203B41FA5}">
                      <a16:colId xmlns:a16="http://schemas.microsoft.com/office/drawing/2014/main" val="4066581974"/>
                    </a:ext>
                  </a:extLst>
                </a:gridCol>
                <a:gridCol w="200798">
                  <a:extLst>
                    <a:ext uri="{9D8B030D-6E8A-4147-A177-3AD203B41FA5}">
                      <a16:colId xmlns:a16="http://schemas.microsoft.com/office/drawing/2014/main" val="1508433019"/>
                    </a:ext>
                  </a:extLst>
                </a:gridCol>
                <a:gridCol w="200798">
                  <a:extLst>
                    <a:ext uri="{9D8B030D-6E8A-4147-A177-3AD203B41FA5}">
                      <a16:colId xmlns:a16="http://schemas.microsoft.com/office/drawing/2014/main" val="1970694898"/>
                    </a:ext>
                  </a:extLst>
                </a:gridCol>
                <a:gridCol w="200798">
                  <a:extLst>
                    <a:ext uri="{9D8B030D-6E8A-4147-A177-3AD203B41FA5}">
                      <a16:colId xmlns:a16="http://schemas.microsoft.com/office/drawing/2014/main" val="1424301285"/>
                    </a:ext>
                  </a:extLst>
                </a:gridCol>
                <a:gridCol w="200798">
                  <a:extLst>
                    <a:ext uri="{9D8B030D-6E8A-4147-A177-3AD203B41FA5}">
                      <a16:colId xmlns:a16="http://schemas.microsoft.com/office/drawing/2014/main" val="506512337"/>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1"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9904019"/>
                  </a:ext>
                </a:extLst>
              </a:tr>
            </a:tbl>
          </a:graphicData>
        </a:graphic>
      </p:graphicFrame>
      <p:graphicFrame>
        <p:nvGraphicFramePr>
          <p:cNvPr id="20" name="表格 19">
            <a:extLst>
              <a:ext uri="{FF2B5EF4-FFF2-40B4-BE49-F238E27FC236}">
                <a16:creationId xmlns:a16="http://schemas.microsoft.com/office/drawing/2014/main" id="{9987F561-B119-663F-2EE6-7CC8B858499A}"/>
              </a:ext>
            </a:extLst>
          </p:cNvPr>
          <p:cNvGraphicFramePr>
            <a:graphicFrameLocks noGrp="1"/>
          </p:cNvGraphicFramePr>
          <p:nvPr>
            <p:extLst>
              <p:ext uri="{D42A27DB-BD31-4B8C-83A1-F6EECF244321}">
                <p14:modId xmlns:p14="http://schemas.microsoft.com/office/powerpoint/2010/main" val="2826463657"/>
              </p:ext>
            </p:extLst>
          </p:nvPr>
        </p:nvGraphicFramePr>
        <p:xfrm>
          <a:off x="6332612" y="4737891"/>
          <a:ext cx="728545" cy="1499421"/>
        </p:xfrm>
        <a:graphic>
          <a:graphicData uri="http://schemas.openxmlformats.org/drawingml/2006/table">
            <a:tbl>
              <a:tblPr firstRow="1" bandRow="1">
                <a:tableStyleId>{5C22544A-7EE6-4342-B048-85BDC9FD1C3A}</a:tableStyleId>
              </a:tblPr>
              <a:tblGrid>
                <a:gridCol w="249257">
                  <a:extLst>
                    <a:ext uri="{9D8B030D-6E8A-4147-A177-3AD203B41FA5}">
                      <a16:colId xmlns:a16="http://schemas.microsoft.com/office/drawing/2014/main" val="871242339"/>
                    </a:ext>
                  </a:extLst>
                </a:gridCol>
                <a:gridCol w="239644">
                  <a:extLst>
                    <a:ext uri="{9D8B030D-6E8A-4147-A177-3AD203B41FA5}">
                      <a16:colId xmlns:a16="http://schemas.microsoft.com/office/drawing/2014/main" val="1823401774"/>
                    </a:ext>
                  </a:extLst>
                </a:gridCol>
                <a:gridCol w="239644">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89904019"/>
                  </a:ext>
                </a:extLst>
              </a:tr>
            </a:tbl>
          </a:graphicData>
        </a:graphic>
      </p:graphicFrame>
      <p:graphicFrame>
        <p:nvGraphicFramePr>
          <p:cNvPr id="27" name="表格 26">
            <a:extLst>
              <a:ext uri="{FF2B5EF4-FFF2-40B4-BE49-F238E27FC236}">
                <a16:creationId xmlns:a16="http://schemas.microsoft.com/office/drawing/2014/main" id="{C05BFBB7-38E4-72AF-90CB-0BA8048D0B4D}"/>
              </a:ext>
            </a:extLst>
          </p:cNvPr>
          <p:cNvGraphicFramePr>
            <a:graphicFrameLocks noGrp="1"/>
          </p:cNvGraphicFramePr>
          <p:nvPr>
            <p:extLst>
              <p:ext uri="{D42A27DB-BD31-4B8C-83A1-F6EECF244321}">
                <p14:modId xmlns:p14="http://schemas.microsoft.com/office/powerpoint/2010/main" val="2889581225"/>
              </p:ext>
            </p:extLst>
          </p:nvPr>
        </p:nvGraphicFramePr>
        <p:xfrm>
          <a:off x="1469798" y="4737891"/>
          <a:ext cx="653930" cy="1499421"/>
        </p:xfrm>
        <a:graphic>
          <a:graphicData uri="http://schemas.openxmlformats.org/drawingml/2006/table">
            <a:tbl>
              <a:tblPr firstRow="1" bandRow="1">
                <a:tableStyleId>{5C22544A-7EE6-4342-B048-85BDC9FD1C3A}</a:tableStyleId>
              </a:tblPr>
              <a:tblGrid>
                <a:gridCol w="233756">
                  <a:extLst>
                    <a:ext uri="{9D8B030D-6E8A-4147-A177-3AD203B41FA5}">
                      <a16:colId xmlns:a16="http://schemas.microsoft.com/office/drawing/2014/main" val="871242339"/>
                    </a:ext>
                  </a:extLst>
                </a:gridCol>
                <a:gridCol w="210087">
                  <a:extLst>
                    <a:ext uri="{9D8B030D-6E8A-4147-A177-3AD203B41FA5}">
                      <a16:colId xmlns:a16="http://schemas.microsoft.com/office/drawing/2014/main" val="1823401774"/>
                    </a:ext>
                  </a:extLst>
                </a:gridCol>
                <a:gridCol w="210087">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2789904019"/>
                  </a:ext>
                </a:extLst>
              </a:tr>
            </a:tbl>
          </a:graphicData>
        </a:graphic>
      </p:graphicFrame>
      <p:sp>
        <p:nvSpPr>
          <p:cNvPr id="41" name="文字方塊 40">
            <a:extLst>
              <a:ext uri="{FF2B5EF4-FFF2-40B4-BE49-F238E27FC236}">
                <a16:creationId xmlns:a16="http://schemas.microsoft.com/office/drawing/2014/main" id="{F013A126-5BE6-0C42-FF3D-56641B2F6C9A}"/>
              </a:ext>
            </a:extLst>
          </p:cNvPr>
          <p:cNvSpPr txBox="1"/>
          <p:nvPr/>
        </p:nvSpPr>
        <p:spPr>
          <a:xfrm>
            <a:off x="5615811" y="4354489"/>
            <a:ext cx="316238" cy="333823"/>
          </a:xfrm>
          <a:prstGeom prst="rect">
            <a:avLst/>
          </a:prstGeom>
          <a:noFill/>
        </p:spPr>
        <p:txBody>
          <a:bodyPr wrap="none" lIns="0" tIns="0" rIns="0" bIns="0" rtlCol="0" anchor="ctr" anchorCtr="1">
            <a:noAutofit/>
          </a:bodyPr>
          <a:lstStyle/>
          <a:p>
            <a:pPr algn="ctr"/>
            <a:r>
              <a:rPr lang="en-US" altLang="zh-TW" dirty="0">
                <a:solidFill>
                  <a:schemeClr val="accent3">
                    <a:lumMod val="75000"/>
                  </a:schemeClr>
                </a:solidFill>
                <a:latin typeface="ADLaM Display" panose="02010000000000000000" pitchFamily="2" charset="0"/>
                <a:ea typeface="ADLaM Display" panose="02010000000000000000" pitchFamily="2" charset="0"/>
                <a:cs typeface="ADLaM Display" panose="02010000000000000000" pitchFamily="2" charset="0"/>
              </a:rPr>
              <a:t>V</a:t>
            </a:r>
            <a:endParaRPr lang="zh-TW" altLang="en-US" dirty="0">
              <a:solidFill>
                <a:schemeClr val="accent3">
                  <a:lumMod val="75000"/>
                </a:schemeClr>
              </a:solidFill>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950B938C-E16C-1969-3AB6-CA551EEB16DB}"/>
              </a:ext>
            </a:extLst>
          </p:cNvPr>
          <p:cNvSpPr txBox="1"/>
          <p:nvPr/>
        </p:nvSpPr>
        <p:spPr>
          <a:xfrm>
            <a:off x="6538765" y="4354489"/>
            <a:ext cx="316238" cy="333823"/>
          </a:xfrm>
          <a:prstGeom prst="rect">
            <a:avLst/>
          </a:prstGeom>
          <a:noFill/>
        </p:spPr>
        <p:txBody>
          <a:bodyPr wrap="none" lIns="0" tIns="0" rIns="0" bIns="0" rtlCol="0" anchor="ctr" anchorCtr="1">
            <a:noAutofit/>
          </a:bodyPr>
          <a:lstStyle/>
          <a:p>
            <a:pPr algn="ctr"/>
            <a:r>
              <a:rPr lang="en-US" altLang="zh-TW"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a:t>
            </a:r>
            <a:endParaRPr lang="zh-TW" altLang="en-US" sz="1000" dirty="0">
              <a:solidFill>
                <a:schemeClr val="bg1">
                  <a:lumMod val="50000"/>
                </a:schemeClr>
              </a:solidFill>
              <a:latin typeface="ADLaM Display" panose="02010000000000000000" pitchFamily="2" charset="0"/>
              <a:cs typeface="ADLaM Display" panose="02010000000000000000" pitchFamily="2" charset="0"/>
            </a:endParaRPr>
          </a:p>
        </p:txBody>
      </p:sp>
      <p:graphicFrame>
        <p:nvGraphicFramePr>
          <p:cNvPr id="59" name="表格 58">
            <a:extLst>
              <a:ext uri="{FF2B5EF4-FFF2-40B4-BE49-F238E27FC236}">
                <a16:creationId xmlns:a16="http://schemas.microsoft.com/office/drawing/2014/main" id="{FE2D4A12-7DE5-D645-4930-4C243C222D92}"/>
              </a:ext>
            </a:extLst>
          </p:cNvPr>
          <p:cNvGraphicFramePr>
            <a:graphicFrameLocks noGrp="1"/>
          </p:cNvGraphicFramePr>
          <p:nvPr>
            <p:extLst>
              <p:ext uri="{D42A27DB-BD31-4B8C-83A1-F6EECF244321}">
                <p14:modId xmlns:p14="http://schemas.microsoft.com/office/powerpoint/2010/main" val="1625383457"/>
              </p:ext>
            </p:extLst>
          </p:nvPr>
        </p:nvGraphicFramePr>
        <p:xfrm>
          <a:off x="7349892" y="4737891"/>
          <a:ext cx="728545" cy="1499421"/>
        </p:xfrm>
        <a:graphic>
          <a:graphicData uri="http://schemas.openxmlformats.org/drawingml/2006/table">
            <a:tbl>
              <a:tblPr firstRow="1" bandRow="1">
                <a:tableStyleId>{5C22544A-7EE6-4342-B048-85BDC9FD1C3A}</a:tableStyleId>
              </a:tblPr>
              <a:tblGrid>
                <a:gridCol w="249257">
                  <a:extLst>
                    <a:ext uri="{9D8B030D-6E8A-4147-A177-3AD203B41FA5}">
                      <a16:colId xmlns:a16="http://schemas.microsoft.com/office/drawing/2014/main" val="871242339"/>
                    </a:ext>
                  </a:extLst>
                </a:gridCol>
                <a:gridCol w="239644">
                  <a:extLst>
                    <a:ext uri="{9D8B030D-6E8A-4147-A177-3AD203B41FA5}">
                      <a16:colId xmlns:a16="http://schemas.microsoft.com/office/drawing/2014/main" val="1823401774"/>
                    </a:ext>
                  </a:extLst>
                </a:gridCol>
                <a:gridCol w="239644">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89904019"/>
                  </a:ext>
                </a:extLst>
              </a:tr>
            </a:tbl>
          </a:graphicData>
        </a:graphic>
      </p:graphicFrame>
      <p:sp>
        <p:nvSpPr>
          <p:cNvPr id="61" name="文字方塊 60">
            <a:extLst>
              <a:ext uri="{FF2B5EF4-FFF2-40B4-BE49-F238E27FC236}">
                <a16:creationId xmlns:a16="http://schemas.microsoft.com/office/drawing/2014/main" id="{89A85F49-E9EE-2A3F-9C5F-B359E43A192F}"/>
              </a:ext>
            </a:extLst>
          </p:cNvPr>
          <p:cNvSpPr txBox="1"/>
          <p:nvPr/>
        </p:nvSpPr>
        <p:spPr>
          <a:xfrm>
            <a:off x="7287051" y="4354488"/>
            <a:ext cx="854226" cy="333823"/>
          </a:xfrm>
          <a:prstGeom prst="rect">
            <a:avLst/>
          </a:prstGeom>
          <a:noFill/>
        </p:spPr>
        <p:txBody>
          <a:bodyPr wrap="none" lIns="0" tIns="0" rIns="0" bIns="0" rtlCol="0" anchor="ctr" anchorCtr="1">
            <a:noAutofit/>
          </a:bodyPr>
          <a:lstStyle/>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RMS</a:t>
            </a:r>
            <a:endParaRPr lang="zh-TW" altLang="en-US" sz="1200" dirty="0">
              <a:solidFill>
                <a:schemeClr val="bg1">
                  <a:lumMod val="50000"/>
                </a:schemeClr>
              </a:solidFill>
              <a:latin typeface="ADLaM Display" panose="02010000000000000000" pitchFamily="2" charset="0"/>
              <a:cs typeface="ADLaM Display" panose="02010000000000000000" pitchFamily="2" charset="0"/>
            </a:endParaRPr>
          </a:p>
        </p:txBody>
      </p:sp>
      <p:sp>
        <p:nvSpPr>
          <p:cNvPr id="71" name="文字方塊 70">
            <a:extLst>
              <a:ext uri="{FF2B5EF4-FFF2-40B4-BE49-F238E27FC236}">
                <a16:creationId xmlns:a16="http://schemas.microsoft.com/office/drawing/2014/main" id="{952511F5-122B-7672-6F39-15FB4E72019D}"/>
              </a:ext>
            </a:extLst>
          </p:cNvPr>
          <p:cNvSpPr txBox="1"/>
          <p:nvPr/>
        </p:nvSpPr>
        <p:spPr>
          <a:xfrm>
            <a:off x="7122613" y="5354976"/>
            <a:ext cx="165823" cy="246221"/>
          </a:xfrm>
          <a:prstGeom prst="rect">
            <a:avLst/>
          </a:prstGeom>
          <a:noFill/>
        </p:spPr>
        <p:txBody>
          <a:bodyPr wrap="square">
            <a:spAutoFit/>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p:txBody>
      </p:sp>
      <p:sp>
        <p:nvSpPr>
          <p:cNvPr id="97" name="矩形 96">
            <a:extLst>
              <a:ext uri="{FF2B5EF4-FFF2-40B4-BE49-F238E27FC236}">
                <a16:creationId xmlns:a16="http://schemas.microsoft.com/office/drawing/2014/main" id="{2C43022C-F091-8CFC-69FB-065E447B1249}"/>
              </a:ext>
            </a:extLst>
          </p:cNvPr>
          <p:cNvSpPr/>
          <p:nvPr/>
        </p:nvSpPr>
        <p:spPr>
          <a:xfrm>
            <a:off x="1412282" y="3678870"/>
            <a:ext cx="2708436" cy="2630450"/>
          </a:xfrm>
          <a:prstGeom prst="rect">
            <a:avLst/>
          </a:prstGeom>
          <a:solidFill>
            <a:schemeClr val="accent4">
              <a:lumMod val="20000"/>
              <a:lumOff val="80000"/>
              <a:alpha val="20000"/>
            </a:schemeClr>
          </a:solidFill>
          <a:ln w="1905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graphicFrame>
        <p:nvGraphicFramePr>
          <p:cNvPr id="24" name="表格 23">
            <a:extLst>
              <a:ext uri="{FF2B5EF4-FFF2-40B4-BE49-F238E27FC236}">
                <a16:creationId xmlns:a16="http://schemas.microsoft.com/office/drawing/2014/main" id="{C8088BAC-BEC6-2D08-54B1-5CD74FAFBB38}"/>
              </a:ext>
            </a:extLst>
          </p:cNvPr>
          <p:cNvGraphicFramePr>
            <a:graphicFrameLocks noGrp="1"/>
          </p:cNvGraphicFramePr>
          <p:nvPr>
            <p:extLst>
              <p:ext uri="{D42A27DB-BD31-4B8C-83A1-F6EECF244321}">
                <p14:modId xmlns:p14="http://schemas.microsoft.com/office/powerpoint/2010/main" val="3808866385"/>
              </p:ext>
            </p:extLst>
          </p:nvPr>
        </p:nvGraphicFramePr>
        <p:xfrm>
          <a:off x="2233358" y="3933056"/>
          <a:ext cx="807240" cy="642609"/>
        </p:xfrm>
        <a:graphic>
          <a:graphicData uri="http://schemas.openxmlformats.org/drawingml/2006/table">
            <a:tbl>
              <a:tblPr firstRow="1" bandRow="1">
                <a:tableStyleId>{5C22544A-7EE6-4342-B048-85BDC9FD1C3A}</a:tableStyleId>
              </a:tblPr>
              <a:tblGrid>
                <a:gridCol w="207822">
                  <a:extLst>
                    <a:ext uri="{9D8B030D-6E8A-4147-A177-3AD203B41FA5}">
                      <a16:colId xmlns:a16="http://schemas.microsoft.com/office/drawing/2014/main" val="871242339"/>
                    </a:ext>
                  </a:extLst>
                </a:gridCol>
                <a:gridCol w="199806">
                  <a:extLst>
                    <a:ext uri="{9D8B030D-6E8A-4147-A177-3AD203B41FA5}">
                      <a16:colId xmlns:a16="http://schemas.microsoft.com/office/drawing/2014/main" val="1823401774"/>
                    </a:ext>
                  </a:extLst>
                </a:gridCol>
                <a:gridCol w="199806">
                  <a:extLst>
                    <a:ext uri="{9D8B030D-6E8A-4147-A177-3AD203B41FA5}">
                      <a16:colId xmlns:a16="http://schemas.microsoft.com/office/drawing/2014/main" val="2361940216"/>
                    </a:ext>
                  </a:extLst>
                </a:gridCol>
                <a:gridCol w="199806">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extLst>
                  <a:ext uri="{0D108BD9-81ED-4DB2-BD59-A6C34878D82A}">
                    <a16:rowId xmlns:a16="http://schemas.microsoft.com/office/drawing/2014/main" val="1375496678"/>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extLst>
                  <a:ext uri="{0D108BD9-81ED-4DB2-BD59-A6C34878D82A}">
                    <a16:rowId xmlns:a16="http://schemas.microsoft.com/office/drawing/2014/main" val="3272610666"/>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extLst>
                  <a:ext uri="{0D108BD9-81ED-4DB2-BD59-A6C34878D82A}">
                    <a16:rowId xmlns:a16="http://schemas.microsoft.com/office/drawing/2014/main" val="2787225911"/>
                  </a:ext>
                </a:extLst>
              </a:tr>
            </a:tbl>
          </a:graphicData>
        </a:graphic>
      </p:graphicFrame>
      <p:sp>
        <p:nvSpPr>
          <p:cNvPr id="36" name="文字方塊 35">
            <a:extLst>
              <a:ext uri="{FF2B5EF4-FFF2-40B4-BE49-F238E27FC236}">
                <a16:creationId xmlns:a16="http://schemas.microsoft.com/office/drawing/2014/main" id="{C19F77F4-4ABF-D590-91B3-B66B0B400E7B}"/>
              </a:ext>
            </a:extLst>
          </p:cNvPr>
          <p:cNvSpPr txBox="1"/>
          <p:nvPr/>
        </p:nvSpPr>
        <p:spPr>
          <a:xfrm>
            <a:off x="1608090" y="4356439"/>
            <a:ext cx="316238" cy="333823"/>
          </a:xfrm>
          <a:prstGeom prst="rect">
            <a:avLst/>
          </a:prstGeom>
          <a:noFill/>
        </p:spPr>
        <p:txBody>
          <a:bodyPr wrap="none" lIns="0" tIns="0" rIns="0" bIns="0" rtlCol="0" anchor="ctr" anchorCtr="1">
            <a:noAutofit/>
          </a:bodyPr>
          <a:lstStyle/>
          <a:p>
            <a:pPr algn="ctr"/>
            <a:r>
              <a:rPr lang="en-US" altLang="zh-TW" dirty="0">
                <a:solidFill>
                  <a:schemeClr val="accent2">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Q</a:t>
            </a:r>
            <a:endParaRPr lang="zh-TW" altLang="en-US" dirty="0">
              <a:solidFill>
                <a:schemeClr val="accent2">
                  <a:lumMod val="60000"/>
                  <a:lumOff val="40000"/>
                </a:schemeClr>
              </a:solidFill>
              <a:latin typeface="ADLaM Display" panose="02010000000000000000" pitchFamily="2" charset="0"/>
              <a:cs typeface="ADLaM Display" panose="02010000000000000000" pitchFamily="2" charset="0"/>
            </a:endParaRPr>
          </a:p>
        </p:txBody>
      </p:sp>
      <p:sp>
        <p:nvSpPr>
          <p:cNvPr id="39" name="文字方塊 38">
            <a:extLst>
              <a:ext uri="{FF2B5EF4-FFF2-40B4-BE49-F238E27FC236}">
                <a16:creationId xmlns:a16="http://schemas.microsoft.com/office/drawing/2014/main" id="{69F0847B-09A8-F6C5-C9D8-00166C3A61C1}"/>
              </a:ext>
            </a:extLst>
          </p:cNvPr>
          <p:cNvSpPr txBox="1"/>
          <p:nvPr/>
        </p:nvSpPr>
        <p:spPr>
          <a:xfrm>
            <a:off x="2478859" y="3631729"/>
            <a:ext cx="316238" cy="333823"/>
          </a:xfrm>
          <a:prstGeom prst="rect">
            <a:avLst/>
          </a:prstGeom>
          <a:noFill/>
        </p:spPr>
        <p:txBody>
          <a:bodyPr wrap="none" lIns="0" tIns="0" rIns="0" bIns="0" rtlCol="0" anchor="ctr" anchorCtr="1">
            <a:noAutofit/>
          </a:bodyPr>
          <a:lstStyle/>
          <a:p>
            <a:pPr algn="ctr"/>
            <a:r>
              <a:rPr lang="en-US" altLang="zh-TW" dirty="0">
                <a:solidFill>
                  <a:schemeClr val="accent5">
                    <a:lumMod val="75000"/>
                  </a:schemeClr>
                </a:solidFill>
                <a:latin typeface="ADLaM Display" panose="02010000000000000000" pitchFamily="2" charset="0"/>
                <a:ea typeface="ADLaM Display" panose="02010000000000000000" pitchFamily="2" charset="0"/>
                <a:cs typeface="ADLaM Display" panose="02010000000000000000" pitchFamily="2" charset="0"/>
              </a:rPr>
              <a:t>K</a:t>
            </a: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104" name="文字方塊 103">
            <a:extLst>
              <a:ext uri="{FF2B5EF4-FFF2-40B4-BE49-F238E27FC236}">
                <a16:creationId xmlns:a16="http://schemas.microsoft.com/office/drawing/2014/main" id="{6FCD64FD-F98B-8AC4-C4AC-D3B0F56692A6}"/>
              </a:ext>
            </a:extLst>
          </p:cNvPr>
          <p:cNvSpPr txBox="1"/>
          <p:nvPr/>
        </p:nvSpPr>
        <p:spPr>
          <a:xfrm>
            <a:off x="3419872" y="4354488"/>
            <a:ext cx="530084" cy="333823"/>
          </a:xfrm>
          <a:prstGeom prst="rect">
            <a:avLst/>
          </a:prstGeom>
          <a:noFill/>
        </p:spPr>
        <p:txBody>
          <a:bodyPr wrap="none" lIns="0" tIns="0" rIns="0" bIns="0" rtlCol="0" anchor="ctr" anchorCtr="1">
            <a:noAutofit/>
          </a:bodyPr>
          <a:lstStyle/>
          <a:p>
            <a:pPr algn="ctr">
              <a:lnSpc>
                <a:spcPts val="1400"/>
              </a:lnSpc>
            </a:pPr>
            <a:r>
              <a:rPr lang="en-US" altLang="zh-TW" sz="1200" dirty="0">
                <a:solidFill>
                  <a:schemeClr val="accent4"/>
                </a:solidFill>
                <a:latin typeface="ADLaM Display" panose="02010000000000000000" pitchFamily="2" charset="0"/>
                <a:ea typeface="ADLaM Display" panose="02010000000000000000" pitchFamily="2" charset="0"/>
                <a:cs typeface="ADLaM Display" panose="02010000000000000000" pitchFamily="2" charset="0"/>
              </a:rPr>
              <a:t>Causal</a:t>
            </a:r>
          </a:p>
          <a:p>
            <a:pPr algn="ctr">
              <a:lnSpc>
                <a:spcPts val="1400"/>
              </a:lnSpc>
            </a:pPr>
            <a:r>
              <a:rPr lang="en-US" altLang="zh-TW" sz="1200" dirty="0">
                <a:solidFill>
                  <a:schemeClr val="accent4"/>
                </a:solidFill>
                <a:latin typeface="ADLaM Display" panose="02010000000000000000" pitchFamily="2" charset="0"/>
                <a:ea typeface="ADLaM Display" panose="02010000000000000000" pitchFamily="2" charset="0"/>
                <a:cs typeface="ADLaM Display" panose="02010000000000000000" pitchFamily="2" charset="0"/>
              </a:rPr>
              <a:t>Mask</a:t>
            </a:r>
            <a:endParaRPr lang="zh-TW" altLang="en-US" sz="1200" dirty="0">
              <a:solidFill>
                <a:schemeClr val="accent4"/>
              </a:solidFill>
              <a:latin typeface="ADLaM Display" panose="02010000000000000000" pitchFamily="2" charset="0"/>
              <a:cs typeface="ADLaM Display" panose="02010000000000000000" pitchFamily="2" charset="0"/>
            </a:endParaRPr>
          </a:p>
        </p:txBody>
      </p:sp>
      <p:sp>
        <p:nvSpPr>
          <p:cNvPr id="108" name="文字方塊 107">
            <a:extLst>
              <a:ext uri="{FF2B5EF4-FFF2-40B4-BE49-F238E27FC236}">
                <a16:creationId xmlns:a16="http://schemas.microsoft.com/office/drawing/2014/main" id="{C32316A1-7275-ECB4-C147-A4E21A4A55BB}"/>
              </a:ext>
            </a:extLst>
          </p:cNvPr>
          <p:cNvSpPr txBox="1"/>
          <p:nvPr/>
        </p:nvSpPr>
        <p:spPr>
          <a:xfrm>
            <a:off x="2497480" y="1276066"/>
            <a:ext cx="274320" cy="457200"/>
          </a:xfrm>
          <a:prstGeom prst="rect">
            <a:avLst/>
          </a:prstGeom>
          <a:solidFill>
            <a:schemeClr val="accent2">
              <a:lumMod val="20000"/>
              <a:lumOff val="80000"/>
            </a:schemeClr>
          </a:solidFill>
          <a:ln w="25400">
            <a:solidFill>
              <a:schemeClr val="bg1">
                <a:lumMod val="75000"/>
              </a:schemeClr>
            </a:solidFill>
          </a:ln>
        </p:spPr>
        <p:txBody>
          <a:bodyPr wrap="none" lIns="0" tIns="0" rIns="0" bIns="0" rtlCol="0" anchor="ctr" anchorCtr="1">
            <a:noAutofit/>
          </a:bodyPr>
          <a:lstStyle/>
          <a:p>
            <a:pPr algn="ctr"/>
            <a:r>
              <a:rPr lang="en-US" altLang="zh-TW" dirty="0">
                <a:solidFill>
                  <a:schemeClr val="accent2">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Q</a:t>
            </a:r>
            <a:endParaRPr lang="zh-TW" altLang="en-US" dirty="0">
              <a:solidFill>
                <a:schemeClr val="accent2">
                  <a:lumMod val="60000"/>
                  <a:lumOff val="40000"/>
                </a:schemeClr>
              </a:solidFill>
              <a:latin typeface="ADLaM Display" panose="02010000000000000000" pitchFamily="2" charset="0"/>
              <a:cs typeface="ADLaM Display" panose="02010000000000000000" pitchFamily="2" charset="0"/>
            </a:endParaRPr>
          </a:p>
        </p:txBody>
      </p:sp>
      <p:sp>
        <p:nvSpPr>
          <p:cNvPr id="110" name="文字方塊 109">
            <a:extLst>
              <a:ext uri="{FF2B5EF4-FFF2-40B4-BE49-F238E27FC236}">
                <a16:creationId xmlns:a16="http://schemas.microsoft.com/office/drawing/2014/main" id="{390ABA1D-A29A-CAE9-0C88-4B342E969903}"/>
              </a:ext>
            </a:extLst>
          </p:cNvPr>
          <p:cNvSpPr txBox="1"/>
          <p:nvPr/>
        </p:nvSpPr>
        <p:spPr>
          <a:xfrm>
            <a:off x="2497480" y="1806025"/>
            <a:ext cx="274320" cy="457200"/>
          </a:xfrm>
          <a:prstGeom prst="rect">
            <a:avLst/>
          </a:prstGeom>
          <a:solidFill>
            <a:schemeClr val="accent1">
              <a:lumMod val="20000"/>
              <a:lumOff val="80000"/>
            </a:schemeClr>
          </a:solidFill>
          <a:ln w="25400">
            <a:solidFill>
              <a:schemeClr val="bg1">
                <a:lumMod val="75000"/>
              </a:schemeClr>
            </a:solidFill>
          </a:ln>
        </p:spPr>
        <p:txBody>
          <a:bodyPr wrap="none" lIns="0" tIns="0" rIns="0" bIns="0" rtlCol="0" anchor="ctr" anchorCtr="1">
            <a:noAutofit/>
          </a:bodyPr>
          <a:lstStyle/>
          <a:p>
            <a:pPr algn="ctr"/>
            <a:r>
              <a:rPr lang="en-US" altLang="zh-TW" dirty="0">
                <a:solidFill>
                  <a:schemeClr val="accent5">
                    <a:lumMod val="75000"/>
                  </a:schemeClr>
                </a:solidFill>
                <a:latin typeface="ADLaM Display" panose="02010000000000000000" pitchFamily="2" charset="0"/>
                <a:ea typeface="ADLaM Display" panose="02010000000000000000" pitchFamily="2" charset="0"/>
                <a:cs typeface="ADLaM Display" panose="02010000000000000000" pitchFamily="2" charset="0"/>
              </a:rPr>
              <a:t>K</a:t>
            </a: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graphicFrame>
        <p:nvGraphicFramePr>
          <p:cNvPr id="5" name="表格 4">
            <a:extLst>
              <a:ext uri="{FF2B5EF4-FFF2-40B4-BE49-F238E27FC236}">
                <a16:creationId xmlns:a16="http://schemas.microsoft.com/office/drawing/2014/main" id="{F7188202-F1B9-E181-F924-1D279F5BA0D2}"/>
              </a:ext>
            </a:extLst>
          </p:cNvPr>
          <p:cNvGraphicFramePr>
            <a:graphicFrameLocks noGrp="1"/>
          </p:cNvGraphicFramePr>
          <p:nvPr>
            <p:extLst>
              <p:ext uri="{D42A27DB-BD31-4B8C-83A1-F6EECF244321}">
                <p14:modId xmlns:p14="http://schemas.microsoft.com/office/powerpoint/2010/main" val="552433745"/>
              </p:ext>
            </p:extLst>
          </p:nvPr>
        </p:nvGraphicFramePr>
        <p:xfrm>
          <a:off x="4198085" y="4725666"/>
          <a:ext cx="211368" cy="1499421"/>
        </p:xfrm>
        <a:graphic>
          <a:graphicData uri="http://schemas.openxmlformats.org/drawingml/2006/table">
            <a:tbl>
              <a:tblPr firstRow="1" bandRow="1">
                <a:tableStyleId>{5C22544A-7EE6-4342-B048-85BDC9FD1C3A}</a:tableStyleId>
              </a:tblPr>
              <a:tblGrid>
                <a:gridCol w="211368">
                  <a:extLst>
                    <a:ext uri="{9D8B030D-6E8A-4147-A177-3AD203B41FA5}">
                      <a16:colId xmlns:a16="http://schemas.microsoft.com/office/drawing/2014/main" val="506512337"/>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9904019"/>
                  </a:ext>
                </a:extLst>
              </a:tr>
            </a:tbl>
          </a:graphicData>
        </a:graphic>
      </p:graphicFrame>
      <p:graphicFrame>
        <p:nvGraphicFramePr>
          <p:cNvPr id="14" name="表格 13">
            <a:extLst>
              <a:ext uri="{FF2B5EF4-FFF2-40B4-BE49-F238E27FC236}">
                <a16:creationId xmlns:a16="http://schemas.microsoft.com/office/drawing/2014/main" id="{995517B1-5805-77E1-E06A-0BE43489B393}"/>
              </a:ext>
            </a:extLst>
          </p:cNvPr>
          <p:cNvGraphicFramePr>
            <a:graphicFrameLocks noGrp="1"/>
          </p:cNvGraphicFramePr>
          <p:nvPr>
            <p:extLst>
              <p:ext uri="{D42A27DB-BD31-4B8C-83A1-F6EECF244321}">
                <p14:modId xmlns:p14="http://schemas.microsoft.com/office/powerpoint/2010/main" val="2010049677"/>
              </p:ext>
            </p:extLst>
          </p:nvPr>
        </p:nvGraphicFramePr>
        <p:xfrm>
          <a:off x="8100392" y="4735933"/>
          <a:ext cx="482931" cy="1499421"/>
        </p:xfrm>
        <a:graphic>
          <a:graphicData uri="http://schemas.openxmlformats.org/drawingml/2006/table">
            <a:tbl>
              <a:tblPr firstRow="1" bandRow="1">
                <a:tableStyleId>{5C22544A-7EE6-4342-B048-85BDC9FD1C3A}</a:tableStyleId>
              </a:tblPr>
              <a:tblGrid>
                <a:gridCol w="482931">
                  <a:extLst>
                    <a:ext uri="{9D8B030D-6E8A-4147-A177-3AD203B41FA5}">
                      <a16:colId xmlns:a16="http://schemas.microsoft.com/office/drawing/2014/main" val="3375373057"/>
                    </a:ext>
                  </a:extLst>
                </a:gridCol>
              </a:tblGrid>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75496678"/>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dog</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29971003"/>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over</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jumps</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5019256"/>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fox</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89904019"/>
                  </a:ext>
                </a:extLst>
              </a:tr>
            </a:tbl>
          </a:graphicData>
        </a:graphic>
      </p:graphicFrame>
      <p:graphicFrame>
        <p:nvGraphicFramePr>
          <p:cNvPr id="16" name="表格 15">
            <a:extLst>
              <a:ext uri="{FF2B5EF4-FFF2-40B4-BE49-F238E27FC236}">
                <a16:creationId xmlns:a16="http://schemas.microsoft.com/office/drawing/2014/main" id="{A752ED0E-A1F6-9198-874C-7E02598BCA54}"/>
              </a:ext>
            </a:extLst>
          </p:cNvPr>
          <p:cNvGraphicFramePr>
            <a:graphicFrameLocks noGrp="1"/>
          </p:cNvGraphicFramePr>
          <p:nvPr>
            <p:extLst>
              <p:ext uri="{D42A27DB-BD31-4B8C-83A1-F6EECF244321}">
                <p14:modId xmlns:p14="http://schemas.microsoft.com/office/powerpoint/2010/main" val="1577052330"/>
              </p:ext>
            </p:extLst>
          </p:nvPr>
        </p:nvGraphicFramePr>
        <p:xfrm>
          <a:off x="848709" y="4735933"/>
          <a:ext cx="482931" cy="1499421"/>
        </p:xfrm>
        <a:graphic>
          <a:graphicData uri="http://schemas.openxmlformats.org/drawingml/2006/table">
            <a:tbl>
              <a:tblPr firstRow="1" bandRow="1">
                <a:tableStyleId>{5C22544A-7EE6-4342-B048-85BDC9FD1C3A}</a:tableStyleId>
              </a:tblPr>
              <a:tblGrid>
                <a:gridCol w="482931">
                  <a:extLst>
                    <a:ext uri="{9D8B030D-6E8A-4147-A177-3AD203B41FA5}">
                      <a16:colId xmlns:a16="http://schemas.microsoft.com/office/drawing/2014/main" val="3375373057"/>
                    </a:ext>
                  </a:extLst>
                </a:gridCol>
              </a:tblGrid>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75496678"/>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dog</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29971003"/>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over</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jumps</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5019256"/>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fox</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89904019"/>
                  </a:ext>
                </a:extLst>
              </a:tr>
            </a:tbl>
          </a:graphicData>
        </a:graphic>
      </p:graphicFrame>
      <p:sp>
        <p:nvSpPr>
          <p:cNvPr id="19" name="文字方塊 18">
            <a:extLst>
              <a:ext uri="{FF2B5EF4-FFF2-40B4-BE49-F238E27FC236}">
                <a16:creationId xmlns:a16="http://schemas.microsoft.com/office/drawing/2014/main" id="{0BB2E2EB-536D-D2D4-41B1-6009BA8241B5}"/>
              </a:ext>
            </a:extLst>
          </p:cNvPr>
          <p:cNvSpPr txBox="1"/>
          <p:nvPr/>
        </p:nvSpPr>
        <p:spPr>
          <a:xfrm>
            <a:off x="2497480" y="2335233"/>
            <a:ext cx="274320" cy="457054"/>
          </a:xfrm>
          <a:prstGeom prst="rect">
            <a:avLst/>
          </a:prstGeom>
          <a:solidFill>
            <a:schemeClr val="accent3">
              <a:lumMod val="20000"/>
              <a:lumOff val="80000"/>
            </a:schemeClr>
          </a:solidFill>
          <a:ln w="25400">
            <a:solidFill>
              <a:schemeClr val="bg1">
                <a:lumMod val="75000"/>
              </a:schemeClr>
            </a:solidFill>
          </a:ln>
        </p:spPr>
        <p:txBody>
          <a:bodyPr wrap="none" lIns="0" tIns="0" rIns="0" bIns="0" rtlCol="0" anchor="ctr" anchorCtr="1">
            <a:noAutofit/>
          </a:bodyPr>
          <a:lstStyle/>
          <a:p>
            <a:pPr algn="ctr"/>
            <a:r>
              <a:rPr lang="en-US" altLang="zh-TW" dirty="0">
                <a:solidFill>
                  <a:schemeClr val="accent3">
                    <a:lumMod val="75000"/>
                  </a:schemeClr>
                </a:solidFill>
                <a:latin typeface="ADLaM Display" panose="02010000000000000000" pitchFamily="2" charset="0"/>
                <a:ea typeface="ADLaM Display" panose="02010000000000000000" pitchFamily="2" charset="0"/>
                <a:cs typeface="ADLaM Display" panose="02010000000000000000" pitchFamily="2" charset="0"/>
              </a:rPr>
              <a:t>V</a:t>
            </a:r>
            <a:endParaRPr lang="zh-TW" altLang="en-US" dirty="0">
              <a:solidFill>
                <a:schemeClr val="accent3">
                  <a:lumMod val="75000"/>
                </a:schemeClr>
              </a:solidFill>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0794DF96-54D0-A820-47FF-D42693652680}"/>
              </a:ext>
            </a:extLst>
          </p:cNvPr>
          <p:cNvSpPr txBox="1"/>
          <p:nvPr/>
        </p:nvSpPr>
        <p:spPr>
          <a:xfrm>
            <a:off x="1987421" y="1268760"/>
            <a:ext cx="274320" cy="118033"/>
          </a:xfrm>
          <a:prstGeom prst="rect">
            <a:avLst/>
          </a:prstGeom>
          <a:noFill/>
        </p:spPr>
        <p:txBody>
          <a:bodyPr wrap="none" lIns="0" tIns="0" rIns="0" bIns="0" rtlCol="0" anchor="ctr" anchorCtr="1">
            <a:noAutofit/>
          </a:bodyPr>
          <a:lstStyle/>
          <a:p>
            <a:pPr algn="ctr"/>
            <a:r>
              <a:rPr lang="en-US" altLang="zh-TW" sz="1200" b="1" dirty="0"/>
              <a:t>d *d</a:t>
            </a:r>
            <a:endParaRPr lang="zh-TW" altLang="en-US" sz="1200" b="1" dirty="0"/>
          </a:p>
        </p:txBody>
      </p:sp>
      <p:graphicFrame>
        <p:nvGraphicFramePr>
          <p:cNvPr id="10" name="表格 9">
            <a:extLst>
              <a:ext uri="{FF2B5EF4-FFF2-40B4-BE49-F238E27FC236}">
                <a16:creationId xmlns:a16="http://schemas.microsoft.com/office/drawing/2014/main" id="{9B3E2734-EFA9-C8F8-C4A3-E5F3EB3451EF}"/>
              </a:ext>
            </a:extLst>
          </p:cNvPr>
          <p:cNvGraphicFramePr>
            <a:graphicFrameLocks noGrp="1"/>
          </p:cNvGraphicFramePr>
          <p:nvPr>
            <p:extLst>
              <p:ext uri="{D42A27DB-BD31-4B8C-83A1-F6EECF244321}">
                <p14:modId xmlns:p14="http://schemas.microsoft.com/office/powerpoint/2010/main" val="2641001427"/>
              </p:ext>
            </p:extLst>
          </p:nvPr>
        </p:nvGraphicFramePr>
        <p:xfrm>
          <a:off x="251520" y="1063705"/>
          <a:ext cx="454451" cy="1713624"/>
        </p:xfrm>
        <a:graphic>
          <a:graphicData uri="http://schemas.openxmlformats.org/drawingml/2006/table">
            <a:tbl>
              <a:tblPr firstRow="1" bandRow="1">
                <a:tableStyleId>{5C22544A-7EE6-4342-B048-85BDC9FD1C3A}</a:tableStyleId>
              </a:tblPr>
              <a:tblGrid>
                <a:gridCol w="454451">
                  <a:extLst>
                    <a:ext uri="{9D8B030D-6E8A-4147-A177-3AD203B41FA5}">
                      <a16:colId xmlns:a16="http://schemas.microsoft.com/office/drawing/2014/main" val="3375373057"/>
                    </a:ext>
                  </a:extLst>
                </a:gridCol>
              </a:tblGrid>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75496678"/>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38776863"/>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dog</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29971003"/>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over</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Jumps</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5019256"/>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fox</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89904019"/>
                  </a:ext>
                </a:extLst>
              </a:tr>
            </a:tbl>
          </a:graphicData>
        </a:graphic>
      </p:graphicFrame>
      <p:sp>
        <p:nvSpPr>
          <p:cNvPr id="12" name="文字方塊 11">
            <a:extLst>
              <a:ext uri="{FF2B5EF4-FFF2-40B4-BE49-F238E27FC236}">
                <a16:creationId xmlns:a16="http://schemas.microsoft.com/office/drawing/2014/main" id="{9D96120E-CB07-C9CE-7D7E-98DD9FF4D846}"/>
              </a:ext>
            </a:extLst>
          </p:cNvPr>
          <p:cNvSpPr txBox="1"/>
          <p:nvPr/>
        </p:nvSpPr>
        <p:spPr>
          <a:xfrm>
            <a:off x="949419" y="1136299"/>
            <a:ext cx="293061" cy="129042"/>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sp>
        <p:nvSpPr>
          <p:cNvPr id="15" name="文字方塊 14">
            <a:extLst>
              <a:ext uri="{FF2B5EF4-FFF2-40B4-BE49-F238E27FC236}">
                <a16:creationId xmlns:a16="http://schemas.microsoft.com/office/drawing/2014/main" id="{0E42A0ED-B5DC-7CCF-402A-7CCB9C0E607A}"/>
              </a:ext>
            </a:extLst>
          </p:cNvPr>
          <p:cNvSpPr txBox="1"/>
          <p:nvPr/>
        </p:nvSpPr>
        <p:spPr>
          <a:xfrm>
            <a:off x="2483768" y="1124744"/>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22" name="矩形: 圓角 21">
            <a:extLst>
              <a:ext uri="{FF2B5EF4-FFF2-40B4-BE49-F238E27FC236}">
                <a16:creationId xmlns:a16="http://schemas.microsoft.com/office/drawing/2014/main" id="{3842E218-4D8E-338D-E0DE-B8437A685C10}"/>
              </a:ext>
            </a:extLst>
          </p:cNvPr>
          <p:cNvSpPr/>
          <p:nvPr/>
        </p:nvSpPr>
        <p:spPr>
          <a:xfrm>
            <a:off x="2962672" y="1556792"/>
            <a:ext cx="457200" cy="457200"/>
          </a:xfrm>
          <a:prstGeom prst="roundRect">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400" dirty="0">
                <a:solidFill>
                  <a:schemeClr val="accent4"/>
                </a:solidFill>
                <a:latin typeface="ADLaM Display" panose="02010000000000000000" pitchFamily="2" charset="0"/>
                <a:ea typeface="ADLaM Display" panose="02010000000000000000" pitchFamily="2" charset="0"/>
                <a:cs typeface="ADLaM Display" panose="02010000000000000000" pitchFamily="2" charset="0"/>
              </a:rPr>
              <a:t>A</a:t>
            </a:r>
            <a:endParaRPr lang="zh-TW" altLang="en-US" sz="2400" dirty="0">
              <a:solidFill>
                <a:schemeClr val="accent4"/>
              </a:solidFill>
              <a:latin typeface="ADLaM Display" panose="02010000000000000000" pitchFamily="2" charset="0"/>
              <a:cs typeface="ADLaM Display" panose="02010000000000000000" pitchFamily="2" charset="0"/>
            </a:endParaRPr>
          </a:p>
        </p:txBody>
      </p:sp>
      <p:sp>
        <p:nvSpPr>
          <p:cNvPr id="52" name="直角三角形 51">
            <a:extLst>
              <a:ext uri="{FF2B5EF4-FFF2-40B4-BE49-F238E27FC236}">
                <a16:creationId xmlns:a16="http://schemas.microsoft.com/office/drawing/2014/main" id="{82AF99E7-FA3F-05B6-586C-ED7AAF30219E}"/>
              </a:ext>
            </a:extLst>
          </p:cNvPr>
          <p:cNvSpPr/>
          <p:nvPr/>
        </p:nvSpPr>
        <p:spPr>
          <a:xfrm rot="16200000" flipH="1">
            <a:off x="3056880" y="1607910"/>
            <a:ext cx="320040" cy="320040"/>
          </a:xfrm>
          <a:prstGeom prst="rtTriangle">
            <a:avLst/>
          </a:prstGeom>
          <a:solidFill>
            <a:schemeClr val="bg1">
              <a:alpha val="8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endParaRPr lang="zh-TW" altLang="en-US" sz="1200" b="1" dirty="0">
              <a:solidFill>
                <a:schemeClr val="bg1">
                  <a:lumMod val="50000"/>
                </a:schemeClr>
              </a:solidFill>
              <a:latin typeface="ADLaM Display" panose="02010000000000000000" pitchFamily="2" charset="0"/>
              <a:cs typeface="ADLaM Display" panose="02010000000000000000" pitchFamily="2" charset="0"/>
            </a:endParaRPr>
          </a:p>
        </p:txBody>
      </p:sp>
      <p:sp>
        <p:nvSpPr>
          <p:cNvPr id="66" name="文字方塊 65">
            <a:extLst>
              <a:ext uri="{FF2B5EF4-FFF2-40B4-BE49-F238E27FC236}">
                <a16:creationId xmlns:a16="http://schemas.microsoft.com/office/drawing/2014/main" id="{C4E93B90-7FB1-F7A0-5CD3-A7412E614F8E}"/>
              </a:ext>
            </a:extLst>
          </p:cNvPr>
          <p:cNvSpPr txBox="1"/>
          <p:nvPr/>
        </p:nvSpPr>
        <p:spPr>
          <a:xfrm>
            <a:off x="2156404" y="2899214"/>
            <a:ext cx="1335476" cy="385769"/>
          </a:xfrm>
          <a:prstGeom prst="rect">
            <a:avLst/>
          </a:prstGeom>
          <a:noFill/>
        </p:spPr>
        <p:txBody>
          <a:bodyPr wrap="none" lIns="0" tIns="0" rIns="0" bIns="0" rtlCol="0" anchor="ctr" anchorCtr="1">
            <a:noAutofit/>
          </a:bodyPr>
          <a:lstStyle/>
          <a:p>
            <a:pPr algn="ctr"/>
            <a:r>
              <a:rPr lang="en-US" altLang="zh-TW" sz="1200" b="1" dirty="0">
                <a:solidFill>
                  <a:schemeClr val="accent6">
                    <a:lumMod val="75000"/>
                  </a:schemeClr>
                </a:solidFill>
              </a:rPr>
              <a:t>Transformer</a:t>
            </a:r>
            <a:r>
              <a:rPr lang="en-US" altLang="zh-TW" sz="1200" dirty="0"/>
              <a:t>:</a:t>
            </a:r>
          </a:p>
          <a:p>
            <a:pPr algn="ct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Layer(</a:t>
            </a:r>
            <a:r>
              <a:rPr lang="en-US" altLang="zh-TW" sz="1200" dirty="0">
                <a:sym typeface="Wingdings" panose="05000000000000000000" pitchFamily="2" charset="2"/>
              </a:rPr>
              <a:t>X</a:t>
            </a:r>
            <a:r>
              <a:rPr lang="en-US" altLang="zh-TW" sz="1200" baseline="-25000" dirty="0">
                <a:sym typeface="Wingdings" panose="05000000000000000000" pitchFamily="2" charset="2"/>
              </a:rPr>
              <a:t>n</a:t>
            </a:r>
            <a:r>
              <a:rPr lang="en-US" altLang="zh-TW" sz="1200" dirty="0">
                <a:sym typeface="Wingdings" panose="05000000000000000000" pitchFamily="2" charset="2"/>
              </a:rPr>
              <a:t>)</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200" dirty="0">
                <a:sym typeface="Wingdings" panose="05000000000000000000" pitchFamily="2" charset="2"/>
              </a:rPr>
              <a:t> X</a:t>
            </a:r>
            <a:r>
              <a:rPr lang="en-US" altLang="zh-TW" sz="1200" baseline="-25000" dirty="0">
                <a:sym typeface="Wingdings" panose="05000000000000000000" pitchFamily="2" charset="2"/>
              </a:rPr>
              <a:t>n+1</a:t>
            </a:r>
            <a:endParaRPr lang="zh-TW" altLang="en-US" sz="1200" dirty="0"/>
          </a:p>
        </p:txBody>
      </p:sp>
      <p:sp>
        <p:nvSpPr>
          <p:cNvPr id="69" name="矩形: 圓角 68">
            <a:extLst>
              <a:ext uri="{FF2B5EF4-FFF2-40B4-BE49-F238E27FC236}">
                <a16:creationId xmlns:a16="http://schemas.microsoft.com/office/drawing/2014/main" id="{12A6AEC2-E4CA-5237-FFD2-EF8333157D7B}"/>
              </a:ext>
            </a:extLst>
          </p:cNvPr>
          <p:cNvSpPr/>
          <p:nvPr/>
        </p:nvSpPr>
        <p:spPr>
          <a:xfrm>
            <a:off x="4193005" y="1495781"/>
            <a:ext cx="306987" cy="1030744"/>
          </a:xfrm>
          <a:prstGeom prst="roundRect">
            <a:avLst>
              <a:gd name="adj" fmla="val 6506"/>
            </a:avLst>
          </a:prstGeom>
          <a:solidFill>
            <a:schemeClr val="accent6">
              <a:lumMod val="20000"/>
              <a:lumOff val="80000"/>
              <a:alpha val="60000"/>
            </a:schemeClr>
          </a:solidFill>
          <a:ln w="254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 wrap="none" lIns="0" tIns="0" rIns="0" bIns="0" rtlCol="0" anchor="ctr" anchorCtr="1"/>
          <a:lstStyle/>
          <a:p>
            <a:pPr algn="ctr"/>
            <a:r>
              <a:rPr lang="en-US" altLang="zh-TW" sz="1200" dirty="0">
                <a:solidFill>
                  <a:schemeClr val="accent2"/>
                </a:solidFill>
                <a:latin typeface="ADLaM Display" panose="02010000000000000000" pitchFamily="2" charset="0"/>
                <a:ea typeface="ADLaM Display" panose="02010000000000000000" pitchFamily="2" charset="0"/>
                <a:cs typeface="ADLaM Display" panose="02010000000000000000" pitchFamily="2" charset="0"/>
              </a:rPr>
              <a:t>Transformer</a:t>
            </a:r>
            <a:endParaRPr lang="zh-TW" altLang="en-US" sz="1200" dirty="0">
              <a:solidFill>
                <a:schemeClr val="accent2"/>
              </a:solidFill>
              <a:latin typeface="ADLaM Display" panose="02010000000000000000" pitchFamily="2" charset="0"/>
              <a:cs typeface="ADLaM Display" panose="02010000000000000000" pitchFamily="2" charset="0"/>
            </a:endParaRPr>
          </a:p>
        </p:txBody>
      </p:sp>
      <p:sp>
        <p:nvSpPr>
          <p:cNvPr id="29" name="矩形 28">
            <a:extLst>
              <a:ext uri="{FF2B5EF4-FFF2-40B4-BE49-F238E27FC236}">
                <a16:creationId xmlns:a16="http://schemas.microsoft.com/office/drawing/2014/main" id="{9EB3DD4F-D929-C048-6233-B8235B567DB9}"/>
              </a:ext>
            </a:extLst>
          </p:cNvPr>
          <p:cNvSpPr/>
          <p:nvPr/>
        </p:nvSpPr>
        <p:spPr>
          <a:xfrm>
            <a:off x="3937640" y="180256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78" name="矩形: 圓角 77">
            <a:extLst>
              <a:ext uri="{FF2B5EF4-FFF2-40B4-BE49-F238E27FC236}">
                <a16:creationId xmlns:a16="http://schemas.microsoft.com/office/drawing/2014/main" id="{5DBA19CB-BA0D-4536-7236-702CCB20D131}"/>
              </a:ext>
            </a:extLst>
          </p:cNvPr>
          <p:cNvSpPr/>
          <p:nvPr/>
        </p:nvSpPr>
        <p:spPr>
          <a:xfrm>
            <a:off x="3503067" y="1556791"/>
            <a:ext cx="204837" cy="457201"/>
          </a:xfrm>
          <a:prstGeom prst="roundRect">
            <a:avLst/>
          </a:prstGeom>
          <a:solidFill>
            <a:schemeClr val="accent3">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accent4"/>
              </a:solidFill>
              <a:latin typeface="ADLaM Display" panose="02010000000000000000" pitchFamily="2" charset="0"/>
              <a:cs typeface="ADLaM Display" panose="02010000000000000000" pitchFamily="2" charset="0"/>
            </a:endParaRPr>
          </a:p>
        </p:txBody>
      </p:sp>
      <p:sp>
        <p:nvSpPr>
          <p:cNvPr id="76" name="箭號: 向下 75">
            <a:extLst>
              <a:ext uri="{FF2B5EF4-FFF2-40B4-BE49-F238E27FC236}">
                <a16:creationId xmlns:a16="http://schemas.microsoft.com/office/drawing/2014/main" id="{9857DAD0-FF2C-12B6-D351-DD5F76DF9E60}"/>
              </a:ext>
            </a:extLst>
          </p:cNvPr>
          <p:cNvSpPr/>
          <p:nvPr/>
        </p:nvSpPr>
        <p:spPr>
          <a:xfrm rot="16200000">
            <a:off x="3775399" y="1908690"/>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5" name="矩形: 圓角 54">
            <a:extLst>
              <a:ext uri="{FF2B5EF4-FFF2-40B4-BE49-F238E27FC236}">
                <a16:creationId xmlns:a16="http://schemas.microsoft.com/office/drawing/2014/main" id="{2910837F-0E0F-4E04-8A45-14D99698F311}"/>
              </a:ext>
            </a:extLst>
          </p:cNvPr>
          <p:cNvSpPr/>
          <p:nvPr/>
        </p:nvSpPr>
        <p:spPr>
          <a:xfrm>
            <a:off x="3131840" y="2348880"/>
            <a:ext cx="457200" cy="192976"/>
          </a:xfrm>
          <a:prstGeom prst="roundRect">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4"/>
                </a:solidFill>
                <a:latin typeface="ADLaM Display" panose="02010000000000000000" pitchFamily="2" charset="0"/>
                <a:ea typeface="ADLaM Display" panose="02010000000000000000" pitchFamily="2" charset="0"/>
                <a:cs typeface="ADLaM Display" panose="02010000000000000000" pitchFamily="2" charset="0"/>
              </a:rPr>
              <a:t>FFN</a:t>
            </a:r>
            <a:endParaRPr lang="zh-TW" altLang="en-US" sz="1200" dirty="0">
              <a:solidFill>
                <a:schemeClr val="accent4"/>
              </a:solidFill>
              <a:latin typeface="ADLaM Display" panose="02010000000000000000" pitchFamily="2" charset="0"/>
              <a:cs typeface="ADLaM Display" panose="02010000000000000000" pitchFamily="2" charset="0"/>
            </a:endParaRPr>
          </a:p>
        </p:txBody>
      </p:sp>
      <p:sp>
        <p:nvSpPr>
          <p:cNvPr id="58" name="矩形: 圓角 57">
            <a:extLst>
              <a:ext uri="{FF2B5EF4-FFF2-40B4-BE49-F238E27FC236}">
                <a16:creationId xmlns:a16="http://schemas.microsoft.com/office/drawing/2014/main" id="{1D4CB431-AD85-317D-FA16-4776BB14944F}"/>
              </a:ext>
            </a:extLst>
          </p:cNvPr>
          <p:cNvSpPr/>
          <p:nvPr/>
        </p:nvSpPr>
        <p:spPr>
          <a:xfrm>
            <a:off x="3131840" y="2587952"/>
            <a:ext cx="457200" cy="192976"/>
          </a:xfrm>
          <a:prstGeom prst="roundRect">
            <a:avLst/>
          </a:prstGeom>
          <a:solidFill>
            <a:schemeClr val="accent2">
              <a:lumMod val="20000"/>
              <a:lumOff val="80000"/>
            </a:schemeClr>
          </a:solidFill>
          <a:ln w="25400">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2"/>
                </a:solidFill>
                <a:latin typeface="ADLaM Display" panose="02010000000000000000" pitchFamily="2" charset="0"/>
                <a:ea typeface="ADLaM Display" panose="02010000000000000000" pitchFamily="2" charset="0"/>
                <a:cs typeface="ADLaM Display" panose="02010000000000000000" pitchFamily="2" charset="0"/>
              </a:rPr>
              <a:t>RC</a:t>
            </a:r>
            <a:endParaRPr lang="zh-TW" altLang="en-US" sz="1200" dirty="0">
              <a:solidFill>
                <a:schemeClr val="accent2"/>
              </a:solidFill>
              <a:latin typeface="ADLaM Display" panose="02010000000000000000" pitchFamily="2" charset="0"/>
              <a:cs typeface="ADLaM Display" panose="02010000000000000000" pitchFamily="2" charset="0"/>
            </a:endParaRPr>
          </a:p>
        </p:txBody>
      </p:sp>
      <p:sp>
        <p:nvSpPr>
          <p:cNvPr id="80" name="文字方塊 79">
            <a:extLst>
              <a:ext uri="{FF2B5EF4-FFF2-40B4-BE49-F238E27FC236}">
                <a16:creationId xmlns:a16="http://schemas.microsoft.com/office/drawing/2014/main" id="{471F5849-2BEE-0BBD-A878-DA163355A72D}"/>
              </a:ext>
            </a:extLst>
          </p:cNvPr>
          <p:cNvSpPr txBox="1"/>
          <p:nvPr/>
        </p:nvSpPr>
        <p:spPr>
          <a:xfrm>
            <a:off x="3044848" y="1391127"/>
            <a:ext cx="293061" cy="129042"/>
          </a:xfrm>
          <a:prstGeom prst="rect">
            <a:avLst/>
          </a:prstGeom>
          <a:noFill/>
        </p:spPr>
        <p:txBody>
          <a:bodyPr wrap="none" lIns="0" tIns="0" rIns="0" bIns="0" rtlCol="0" anchor="ctr" anchorCtr="1">
            <a:noAutofit/>
          </a:bodyPr>
          <a:lstStyle/>
          <a:p>
            <a:pPr algn="ctr"/>
            <a:r>
              <a:rPr lang="en-US" altLang="zh-TW" sz="1200" b="1" dirty="0"/>
              <a:t>N*N</a:t>
            </a:r>
            <a:endParaRPr lang="zh-TW" altLang="en-US" sz="1200" b="1" dirty="0"/>
          </a:p>
        </p:txBody>
      </p:sp>
      <p:sp>
        <p:nvSpPr>
          <p:cNvPr id="82" name="文字方塊 81">
            <a:extLst>
              <a:ext uri="{FF2B5EF4-FFF2-40B4-BE49-F238E27FC236}">
                <a16:creationId xmlns:a16="http://schemas.microsoft.com/office/drawing/2014/main" id="{A7BDA171-958F-9D85-EAA2-6AAFA9053C4B}"/>
              </a:ext>
            </a:extLst>
          </p:cNvPr>
          <p:cNvSpPr txBox="1"/>
          <p:nvPr/>
        </p:nvSpPr>
        <p:spPr>
          <a:xfrm>
            <a:off x="3457972" y="1393726"/>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86" name="文字方塊 85">
            <a:extLst>
              <a:ext uri="{FF2B5EF4-FFF2-40B4-BE49-F238E27FC236}">
                <a16:creationId xmlns:a16="http://schemas.microsoft.com/office/drawing/2014/main" id="{AEA59698-7D28-D834-DFF6-232265C0E221}"/>
              </a:ext>
            </a:extLst>
          </p:cNvPr>
          <p:cNvSpPr txBox="1"/>
          <p:nvPr/>
        </p:nvSpPr>
        <p:spPr>
          <a:xfrm>
            <a:off x="3007086" y="2156158"/>
            <a:ext cx="700818" cy="144814"/>
          </a:xfrm>
          <a:prstGeom prst="rect">
            <a:avLst/>
          </a:prstGeom>
          <a:noFill/>
        </p:spPr>
        <p:txBody>
          <a:bodyPr wrap="none" lIns="0" tIns="0" rIns="0" bIns="0" rtlCol="0" anchor="ctr" anchorCtr="1">
            <a:noAutofit/>
          </a:bodyPr>
          <a:lstStyle/>
          <a:p>
            <a:pPr algn="ctr"/>
            <a:r>
              <a:rPr lang="en-US" altLang="zh-TW" sz="1200" b="1" dirty="0"/>
              <a:t>d*S, S*d</a:t>
            </a:r>
            <a:endParaRPr lang="zh-TW" altLang="en-US" sz="1200" b="1" dirty="0"/>
          </a:p>
        </p:txBody>
      </p:sp>
      <p:sp>
        <p:nvSpPr>
          <p:cNvPr id="88" name="矩形: 圓角 87">
            <a:extLst>
              <a:ext uri="{FF2B5EF4-FFF2-40B4-BE49-F238E27FC236}">
                <a16:creationId xmlns:a16="http://schemas.microsoft.com/office/drawing/2014/main" id="{D6B91B60-0070-780D-7786-491C37E1AD1E}"/>
              </a:ext>
            </a:extLst>
          </p:cNvPr>
          <p:cNvSpPr/>
          <p:nvPr/>
        </p:nvSpPr>
        <p:spPr>
          <a:xfrm>
            <a:off x="4769070" y="1495781"/>
            <a:ext cx="228750" cy="1030744"/>
          </a:xfrm>
          <a:prstGeom prst="roundRect">
            <a:avLst>
              <a:gd name="adj" fmla="val 6506"/>
            </a:avLst>
          </a:prstGeom>
          <a:solidFill>
            <a:schemeClr val="accent6">
              <a:lumMod val="20000"/>
              <a:lumOff val="80000"/>
              <a:alpha val="40000"/>
            </a:schemeClr>
          </a:solidFill>
          <a:ln w="25400">
            <a:solidFill>
              <a:schemeClr val="accent6">
                <a:lumMod val="40000"/>
                <a:lumOff val="6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 wrap="none" lIns="182880" tIns="0" rIns="0" bIns="0" rtlCol="0" anchor="ctr" anchorCtr="1"/>
          <a:lstStyle/>
          <a:p>
            <a:pPr algn="ctr"/>
            <a:r>
              <a:rPr lang="en-US" altLang="zh-TW" sz="1200" dirty="0">
                <a:solidFill>
                  <a:schemeClr val="accent2"/>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solidFill>
                <a:schemeClr val="accent2"/>
              </a:solidFill>
              <a:latin typeface="ADLaM Display" panose="02010000000000000000" pitchFamily="2" charset="0"/>
              <a:cs typeface="ADLaM Display" panose="02010000000000000000" pitchFamily="2" charset="0"/>
            </a:endParaRPr>
          </a:p>
        </p:txBody>
      </p:sp>
      <p:sp>
        <p:nvSpPr>
          <p:cNvPr id="37" name="矩形 36">
            <a:extLst>
              <a:ext uri="{FF2B5EF4-FFF2-40B4-BE49-F238E27FC236}">
                <a16:creationId xmlns:a16="http://schemas.microsoft.com/office/drawing/2014/main" id="{06AB82FC-66A5-8B70-D9FD-C454B8F9212C}"/>
              </a:ext>
            </a:extLst>
          </p:cNvPr>
          <p:cNvSpPr/>
          <p:nvPr/>
        </p:nvSpPr>
        <p:spPr>
          <a:xfrm>
            <a:off x="4631282" y="1802565"/>
            <a:ext cx="228750" cy="457200"/>
          </a:xfrm>
          <a:prstGeom prst="rect">
            <a:avLst/>
          </a:prstGeom>
          <a:solidFill>
            <a:schemeClr val="bg1">
              <a:lumMod val="95000"/>
              <a:alpha val="80000"/>
            </a:schemeClr>
          </a:solidFill>
          <a:ln w="25400">
            <a:solidFill>
              <a:schemeClr val="bg1">
                <a:lumMod val="75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92" name="箭號: 向下 91">
            <a:extLst>
              <a:ext uri="{FF2B5EF4-FFF2-40B4-BE49-F238E27FC236}">
                <a16:creationId xmlns:a16="http://schemas.microsoft.com/office/drawing/2014/main" id="{222A611F-D876-03F2-DD55-D44FD7582674}"/>
              </a:ext>
            </a:extLst>
          </p:cNvPr>
          <p:cNvSpPr/>
          <p:nvPr/>
        </p:nvSpPr>
        <p:spPr>
          <a:xfrm rot="16200000">
            <a:off x="4567487" y="1912317"/>
            <a:ext cx="216022" cy="225052"/>
          </a:xfrm>
          <a:prstGeom prst="downArrow">
            <a:avLst/>
          </a:prstGeom>
          <a:solidFill>
            <a:schemeClr val="accent2">
              <a:alpha val="50000"/>
            </a:schemeClr>
          </a:solidFill>
          <a:ln w="12700">
            <a:solidFill>
              <a:schemeClr val="accent2">
                <a:lumMod val="50000"/>
                <a:alpha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5" name="矩形: 圓角 94">
            <a:extLst>
              <a:ext uri="{FF2B5EF4-FFF2-40B4-BE49-F238E27FC236}">
                <a16:creationId xmlns:a16="http://schemas.microsoft.com/office/drawing/2014/main" id="{740D58A6-44E7-B250-15B7-101432E5F12E}"/>
              </a:ext>
            </a:extLst>
          </p:cNvPr>
          <p:cNvSpPr/>
          <p:nvPr/>
        </p:nvSpPr>
        <p:spPr>
          <a:xfrm>
            <a:off x="5135338" y="1505843"/>
            <a:ext cx="228750" cy="1030744"/>
          </a:xfrm>
          <a:prstGeom prst="roundRect">
            <a:avLst>
              <a:gd name="adj" fmla="val 6506"/>
            </a:avLst>
          </a:prstGeom>
          <a:solidFill>
            <a:schemeClr val="accent6">
              <a:lumMod val="20000"/>
              <a:lumOff val="80000"/>
              <a:alpha val="60000"/>
            </a:schemeClr>
          </a:solidFill>
          <a:ln w="254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 wrap="none" lIns="0" tIns="0" rIns="0" bIns="0" rtlCol="0" anchor="ctr" anchorCtr="1"/>
          <a:lstStyle/>
          <a:p>
            <a:pPr algn="ctr"/>
            <a:r>
              <a:rPr lang="en-US" altLang="zh-TW" sz="1200" dirty="0">
                <a:solidFill>
                  <a:schemeClr val="accent2"/>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solidFill>
                <a:schemeClr val="accent2"/>
              </a:solidFill>
              <a:latin typeface="ADLaM Display" panose="02010000000000000000" pitchFamily="2" charset="0"/>
              <a:cs typeface="ADLaM Display" panose="02010000000000000000" pitchFamily="2" charset="0"/>
            </a:endParaRPr>
          </a:p>
        </p:txBody>
      </p:sp>
      <p:sp>
        <p:nvSpPr>
          <p:cNvPr id="99" name="矩形 98">
            <a:extLst>
              <a:ext uri="{FF2B5EF4-FFF2-40B4-BE49-F238E27FC236}">
                <a16:creationId xmlns:a16="http://schemas.microsoft.com/office/drawing/2014/main" id="{BF90FDE4-9A2D-39F7-4E94-1151A7D369A3}"/>
              </a:ext>
            </a:extLst>
          </p:cNvPr>
          <p:cNvSpPr/>
          <p:nvPr/>
        </p:nvSpPr>
        <p:spPr>
          <a:xfrm>
            <a:off x="5436096" y="1802564"/>
            <a:ext cx="22875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101" name="箭號: 向下 100">
            <a:extLst>
              <a:ext uri="{FF2B5EF4-FFF2-40B4-BE49-F238E27FC236}">
                <a16:creationId xmlns:a16="http://schemas.microsoft.com/office/drawing/2014/main" id="{C76F8C29-5E1E-71DD-1577-04AFEA0FD66C}"/>
              </a:ext>
            </a:extLst>
          </p:cNvPr>
          <p:cNvSpPr/>
          <p:nvPr/>
        </p:nvSpPr>
        <p:spPr>
          <a:xfrm rot="16200000">
            <a:off x="5296595" y="1912316"/>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3" name="文字方塊 102">
            <a:extLst>
              <a:ext uri="{FF2B5EF4-FFF2-40B4-BE49-F238E27FC236}">
                <a16:creationId xmlns:a16="http://schemas.microsoft.com/office/drawing/2014/main" id="{E631613B-D157-CA34-4821-70B87237C008}"/>
              </a:ext>
            </a:extLst>
          </p:cNvPr>
          <p:cNvSpPr txBox="1"/>
          <p:nvPr/>
        </p:nvSpPr>
        <p:spPr>
          <a:xfrm>
            <a:off x="4036289" y="2907719"/>
            <a:ext cx="1080120" cy="385769"/>
          </a:xfrm>
          <a:prstGeom prst="rect">
            <a:avLst/>
          </a:prstGeom>
          <a:noFill/>
        </p:spPr>
        <p:txBody>
          <a:bodyPr wrap="none" lIns="0" tIns="0" rIns="0" bIns="0" rtlCol="0" anchor="ctr" anchorCtr="1">
            <a:noAutofit/>
          </a:bodyPr>
          <a:lstStyle/>
          <a:p>
            <a:pPr algn="ctr"/>
            <a:r>
              <a:rPr lang="en-US" altLang="zh-TW" sz="1200" b="1" dirty="0">
                <a:solidFill>
                  <a:schemeClr val="bg2">
                    <a:lumMod val="25000"/>
                  </a:schemeClr>
                </a:solidFill>
              </a:rPr>
              <a:t>N</a:t>
            </a:r>
          </a:p>
          <a:p>
            <a:pPr algn="ctr"/>
            <a:r>
              <a:rPr lang="en-US" altLang="zh-TW" sz="1000" dirty="0">
                <a:sym typeface="Wingdings" panose="05000000000000000000" pitchFamily="2" charset="2"/>
              </a:rPr>
              <a:t>Hidden Layers</a:t>
            </a:r>
            <a:endParaRPr lang="zh-TW" altLang="en-US" sz="1000" dirty="0"/>
          </a:p>
        </p:txBody>
      </p:sp>
      <p:sp>
        <p:nvSpPr>
          <p:cNvPr id="111" name="矩形 110">
            <a:extLst>
              <a:ext uri="{FF2B5EF4-FFF2-40B4-BE49-F238E27FC236}">
                <a16:creationId xmlns:a16="http://schemas.microsoft.com/office/drawing/2014/main" id="{6BA5AA8C-09FD-A85B-71E1-CB03AED5AF57}"/>
              </a:ext>
            </a:extLst>
          </p:cNvPr>
          <p:cNvSpPr/>
          <p:nvPr/>
        </p:nvSpPr>
        <p:spPr>
          <a:xfrm>
            <a:off x="5436096" y="2196480"/>
            <a:ext cx="228750" cy="152400"/>
          </a:xfrm>
          <a:prstGeom prst="rect">
            <a:avLst/>
          </a:prstGeom>
          <a:solidFill>
            <a:schemeClr val="bg1">
              <a:lumMod val="95000"/>
              <a:alpha val="60000"/>
            </a:schemeClr>
          </a:solid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116" name="文字方塊 115">
            <a:extLst>
              <a:ext uri="{FF2B5EF4-FFF2-40B4-BE49-F238E27FC236}">
                <a16:creationId xmlns:a16="http://schemas.microsoft.com/office/drawing/2014/main" id="{15461315-6CCE-80ED-9C43-0BBD06FDCBA3}"/>
              </a:ext>
            </a:extLst>
          </p:cNvPr>
          <p:cNvSpPr txBox="1"/>
          <p:nvPr/>
        </p:nvSpPr>
        <p:spPr>
          <a:xfrm>
            <a:off x="6300192" y="1628800"/>
            <a:ext cx="293061" cy="129042"/>
          </a:xfrm>
          <a:prstGeom prst="rect">
            <a:avLst/>
          </a:prstGeom>
          <a:noFill/>
        </p:spPr>
        <p:txBody>
          <a:bodyPr wrap="none" lIns="0" tIns="0" rIns="0" bIns="0" rtlCol="0" anchor="ctr" anchorCtr="1">
            <a:noAutofit/>
          </a:bodyPr>
          <a:lstStyle/>
          <a:p>
            <a:pPr algn="ctr"/>
            <a:r>
              <a:rPr lang="en-US" altLang="zh-TW" sz="1200" b="1" dirty="0"/>
              <a:t>d*1</a:t>
            </a:r>
            <a:endParaRPr lang="zh-TW" altLang="en-US" sz="1200" b="1" dirty="0"/>
          </a:p>
        </p:txBody>
      </p:sp>
      <p:sp>
        <p:nvSpPr>
          <p:cNvPr id="120" name="文字方塊 119">
            <a:extLst>
              <a:ext uri="{FF2B5EF4-FFF2-40B4-BE49-F238E27FC236}">
                <a16:creationId xmlns:a16="http://schemas.microsoft.com/office/drawing/2014/main" id="{3450304C-4BBC-6ED9-6E7D-DC26FC02E13D}"/>
              </a:ext>
            </a:extLst>
          </p:cNvPr>
          <p:cNvSpPr txBox="1"/>
          <p:nvPr/>
        </p:nvSpPr>
        <p:spPr>
          <a:xfrm>
            <a:off x="6228184" y="1935514"/>
            <a:ext cx="150244" cy="215151"/>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124" name="矩形 123">
            <a:extLst>
              <a:ext uri="{FF2B5EF4-FFF2-40B4-BE49-F238E27FC236}">
                <a16:creationId xmlns:a16="http://schemas.microsoft.com/office/drawing/2014/main" id="{D87ABE95-4988-B3CC-43C1-0B1198A5BFB0}"/>
              </a:ext>
            </a:extLst>
          </p:cNvPr>
          <p:cNvSpPr/>
          <p:nvPr/>
        </p:nvSpPr>
        <p:spPr>
          <a:xfrm>
            <a:off x="5868144" y="1298383"/>
            <a:ext cx="362588" cy="1482545"/>
          </a:xfrm>
          <a:prstGeom prst="rect">
            <a:avLst/>
          </a:prstGeom>
          <a:solidFill>
            <a:srgbClr val="FFFF00">
              <a:alpha val="40000"/>
            </a:srgb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400" baseline="-250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z</a:t>
            </a:r>
            <a:endParaRPr lang="en-US" altLang="zh-TW" sz="1400" b="1" baseline="-25000" dirty="0">
              <a:solidFill>
                <a:schemeClr val="bg2">
                  <a:lumMod val="25000"/>
                </a:schemeClr>
              </a:solidFill>
              <a:ea typeface="ADLaM Display" panose="02010000000000000000" pitchFamily="2" charset="0"/>
              <a:cs typeface="ADLaM Display" panose="02010000000000000000" pitchFamily="2" charset="0"/>
            </a:endParaRPr>
          </a:p>
        </p:txBody>
      </p:sp>
      <p:sp>
        <p:nvSpPr>
          <p:cNvPr id="126" name="矩形 125">
            <a:extLst>
              <a:ext uri="{FF2B5EF4-FFF2-40B4-BE49-F238E27FC236}">
                <a16:creationId xmlns:a16="http://schemas.microsoft.com/office/drawing/2014/main" id="{E4C3D040-42F0-1928-6BF7-FCCE40DEFC79}"/>
              </a:ext>
            </a:extLst>
          </p:cNvPr>
          <p:cNvSpPr/>
          <p:nvPr/>
        </p:nvSpPr>
        <p:spPr>
          <a:xfrm rot="5400000">
            <a:off x="6328574" y="1977804"/>
            <a:ext cx="228750" cy="129042"/>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128" name="文字方塊 127">
            <a:extLst>
              <a:ext uri="{FF2B5EF4-FFF2-40B4-BE49-F238E27FC236}">
                <a16:creationId xmlns:a16="http://schemas.microsoft.com/office/drawing/2014/main" id="{C6D8CC91-DE97-0DF5-9DD7-7D472F7C7B41}"/>
              </a:ext>
            </a:extLst>
          </p:cNvPr>
          <p:cNvSpPr txBox="1"/>
          <p:nvPr/>
        </p:nvSpPr>
        <p:spPr>
          <a:xfrm>
            <a:off x="5902907" y="1134821"/>
            <a:ext cx="293061" cy="129042"/>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cxnSp>
        <p:nvCxnSpPr>
          <p:cNvPr id="129" name="接點: 弧形 128">
            <a:extLst>
              <a:ext uri="{FF2B5EF4-FFF2-40B4-BE49-F238E27FC236}">
                <a16:creationId xmlns:a16="http://schemas.microsoft.com/office/drawing/2014/main" id="{95F01332-DECE-510C-7170-F320D06FEE47}"/>
              </a:ext>
            </a:extLst>
          </p:cNvPr>
          <p:cNvCxnSpPr>
            <a:cxnSpLocks/>
            <a:stCxn id="111" idx="3"/>
            <a:endCxn id="126" idx="3"/>
          </p:cNvCxnSpPr>
          <p:nvPr/>
        </p:nvCxnSpPr>
        <p:spPr>
          <a:xfrm flipV="1">
            <a:off x="5664846" y="2156700"/>
            <a:ext cx="778103" cy="11598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3" name="矩形 132">
            <a:extLst>
              <a:ext uri="{FF2B5EF4-FFF2-40B4-BE49-F238E27FC236}">
                <a16:creationId xmlns:a16="http://schemas.microsoft.com/office/drawing/2014/main" id="{A7B4990D-DD08-3491-177A-D461881F8A49}"/>
              </a:ext>
            </a:extLst>
          </p:cNvPr>
          <p:cNvSpPr/>
          <p:nvPr/>
        </p:nvSpPr>
        <p:spPr>
          <a:xfrm>
            <a:off x="7020272" y="1289891"/>
            <a:ext cx="99043" cy="1482545"/>
          </a:xfrm>
          <a:prstGeom prst="rect">
            <a:avLst/>
          </a:prstGeom>
          <a:solidFill>
            <a:schemeClr val="bg2">
              <a:lumMod val="90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P</a:t>
            </a:r>
          </a:p>
          <a:p>
            <a:pPr algn="ctr">
              <a:lnSpc>
                <a:spcPts val="1600"/>
              </a:lnSpc>
            </a:pPr>
            <a:r>
              <a:rPr lang="en-US" altLang="zh-TW" sz="1200" b="1" dirty="0">
                <a:solidFill>
                  <a:schemeClr val="bg2">
                    <a:lumMod val="25000"/>
                  </a:schemeClr>
                </a:solidFill>
                <a:ea typeface="ADLaM Display" panose="02010000000000000000" pitchFamily="2" charset="0"/>
                <a:cs typeface="ADLaM Display" panose="02010000000000000000" pitchFamily="2" charset="0"/>
              </a:rPr>
              <a:t>logit</a:t>
            </a:r>
          </a:p>
        </p:txBody>
      </p:sp>
      <p:sp>
        <p:nvSpPr>
          <p:cNvPr id="135" name="文字方塊 134">
            <a:extLst>
              <a:ext uri="{FF2B5EF4-FFF2-40B4-BE49-F238E27FC236}">
                <a16:creationId xmlns:a16="http://schemas.microsoft.com/office/drawing/2014/main" id="{C9994984-F511-84DC-4510-454866674564}"/>
              </a:ext>
            </a:extLst>
          </p:cNvPr>
          <p:cNvSpPr txBox="1"/>
          <p:nvPr/>
        </p:nvSpPr>
        <p:spPr>
          <a:xfrm>
            <a:off x="6084168" y="2899215"/>
            <a:ext cx="1080120" cy="385769"/>
          </a:xfrm>
          <a:prstGeom prst="rect">
            <a:avLst/>
          </a:prstGeom>
          <a:noFill/>
        </p:spPr>
        <p:txBody>
          <a:bodyPr wrap="none" lIns="0" tIns="0" rIns="0" bIns="0" rtlCol="0" anchor="ctr" anchorCtr="1">
            <a:noAutofit/>
          </a:bodyPr>
          <a:lstStyle/>
          <a:p>
            <a:pPr algn="ctr"/>
            <a:r>
              <a:rPr lang="en-US" altLang="zh-TW" sz="1200" b="1" dirty="0">
                <a:solidFill>
                  <a:schemeClr val="bg2">
                    <a:lumMod val="25000"/>
                  </a:schemeClr>
                </a:solidFill>
              </a:rPr>
              <a:t>Linear Projection</a:t>
            </a:r>
            <a:endParaRPr lang="en-US" altLang="zh-TW" sz="1200" dirty="0"/>
          </a:p>
          <a:p>
            <a:pPr algn="ct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Semantic space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000" dirty="0">
                <a:sym typeface="Wingdings" panose="05000000000000000000" pitchFamily="2" charset="2"/>
              </a:rPr>
              <a:t>Next token</a:t>
            </a:r>
            <a:endParaRPr lang="zh-TW" altLang="en-US" sz="1000" dirty="0"/>
          </a:p>
        </p:txBody>
      </p:sp>
      <p:sp>
        <p:nvSpPr>
          <p:cNvPr id="122" name="矩形 121">
            <a:extLst>
              <a:ext uri="{FF2B5EF4-FFF2-40B4-BE49-F238E27FC236}">
                <a16:creationId xmlns:a16="http://schemas.microsoft.com/office/drawing/2014/main" id="{D7BF1121-CB59-785C-E142-7D14A6D52648}"/>
              </a:ext>
            </a:extLst>
          </p:cNvPr>
          <p:cNvSpPr/>
          <p:nvPr/>
        </p:nvSpPr>
        <p:spPr>
          <a:xfrm>
            <a:off x="7449772" y="1293352"/>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bg2">
                    <a:lumMod val="25000"/>
                  </a:schemeClr>
                </a:solidFill>
                <a:ea typeface="ADLaM Display" panose="02010000000000000000" pitchFamily="2" charset="0"/>
                <a:cs typeface="ADLaM Display" panose="02010000000000000000" pitchFamily="2" charset="0"/>
              </a:rPr>
              <a:t>vocabulary</a:t>
            </a:r>
          </a:p>
        </p:txBody>
      </p:sp>
      <p:sp>
        <p:nvSpPr>
          <p:cNvPr id="139" name="文字方塊 138">
            <a:extLst>
              <a:ext uri="{FF2B5EF4-FFF2-40B4-BE49-F238E27FC236}">
                <a16:creationId xmlns:a16="http://schemas.microsoft.com/office/drawing/2014/main" id="{477583C7-EF2C-18A1-3637-561EFC97D00C}"/>
              </a:ext>
            </a:extLst>
          </p:cNvPr>
          <p:cNvSpPr txBox="1"/>
          <p:nvPr/>
        </p:nvSpPr>
        <p:spPr>
          <a:xfrm>
            <a:off x="7480895" y="1124744"/>
            <a:ext cx="293061" cy="129042"/>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sp>
        <p:nvSpPr>
          <p:cNvPr id="141" name="文字方塊 140">
            <a:extLst>
              <a:ext uri="{FF2B5EF4-FFF2-40B4-BE49-F238E27FC236}">
                <a16:creationId xmlns:a16="http://schemas.microsoft.com/office/drawing/2014/main" id="{ED079B64-17C0-C5E7-95F0-6C9FFB723955}"/>
              </a:ext>
            </a:extLst>
          </p:cNvPr>
          <p:cNvSpPr txBox="1"/>
          <p:nvPr/>
        </p:nvSpPr>
        <p:spPr>
          <a:xfrm>
            <a:off x="6933710" y="1124744"/>
            <a:ext cx="293061" cy="129042"/>
          </a:xfrm>
          <a:prstGeom prst="rect">
            <a:avLst/>
          </a:prstGeom>
          <a:noFill/>
        </p:spPr>
        <p:txBody>
          <a:bodyPr wrap="none" lIns="0" tIns="0" rIns="0" bIns="0" rtlCol="0" anchor="ctr" anchorCtr="1">
            <a:noAutofit/>
          </a:bodyPr>
          <a:lstStyle/>
          <a:p>
            <a:pPr algn="ctr"/>
            <a:r>
              <a:rPr lang="en-US" altLang="zh-TW" sz="1200" b="1" dirty="0"/>
              <a:t>V*1</a:t>
            </a:r>
            <a:endParaRPr lang="zh-TW" altLang="en-US" sz="1200" b="1" dirty="0"/>
          </a:p>
        </p:txBody>
      </p:sp>
    </p:spTree>
    <p:extLst>
      <p:ext uri="{BB962C8B-B14F-4D97-AF65-F5344CB8AC3E}">
        <p14:creationId xmlns:p14="http://schemas.microsoft.com/office/powerpoint/2010/main" val="300500669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7" name="圖片 16">
            <a:extLst>
              <a:ext uri="{FF2B5EF4-FFF2-40B4-BE49-F238E27FC236}">
                <a16:creationId xmlns:a16="http://schemas.microsoft.com/office/drawing/2014/main" id="{DA873DEB-8EF1-D03C-A893-DA181A2AF90C}"/>
              </a:ext>
            </a:extLst>
          </p:cNvPr>
          <p:cNvPicPr>
            <a:picLocks noChangeAspect="1"/>
          </p:cNvPicPr>
          <p:nvPr/>
        </p:nvPicPr>
        <p:blipFill>
          <a:blip r:embed="rId2"/>
          <a:stretch>
            <a:fillRect/>
          </a:stretch>
        </p:blipFill>
        <p:spPr>
          <a:xfrm>
            <a:off x="851986" y="4022519"/>
            <a:ext cx="708323" cy="630617"/>
          </a:xfrm>
          <a:prstGeom prst="rect">
            <a:avLst/>
          </a:prstGeom>
        </p:spPr>
      </p:pic>
      <p:pic>
        <p:nvPicPr>
          <p:cNvPr id="8" name="圖片 7">
            <a:extLst>
              <a:ext uri="{FF2B5EF4-FFF2-40B4-BE49-F238E27FC236}">
                <a16:creationId xmlns:a16="http://schemas.microsoft.com/office/drawing/2014/main" id="{2765FB0B-B169-4129-2ACA-239130B0C4E2}"/>
              </a:ext>
            </a:extLst>
          </p:cNvPr>
          <p:cNvPicPr>
            <a:picLocks noChangeAspect="1"/>
          </p:cNvPicPr>
          <p:nvPr/>
        </p:nvPicPr>
        <p:blipFill>
          <a:blip r:embed="rId3"/>
          <a:stretch>
            <a:fillRect/>
          </a:stretch>
        </p:blipFill>
        <p:spPr>
          <a:xfrm>
            <a:off x="899592" y="116631"/>
            <a:ext cx="3456384" cy="1661615"/>
          </a:xfrm>
          <a:prstGeom prst="rect">
            <a:avLst/>
          </a:prstGeom>
        </p:spPr>
      </p:pic>
      <p:sp>
        <p:nvSpPr>
          <p:cNvPr id="3" name="橢圓 2">
            <a:extLst>
              <a:ext uri="{FF2B5EF4-FFF2-40B4-BE49-F238E27FC236}">
                <a16:creationId xmlns:a16="http://schemas.microsoft.com/office/drawing/2014/main" id="{AEA0B1E4-3CC1-CAFE-7ACD-0B0E606CD5A2}"/>
              </a:ext>
            </a:extLst>
          </p:cNvPr>
          <p:cNvSpPr/>
          <p:nvPr/>
        </p:nvSpPr>
        <p:spPr>
          <a:xfrm>
            <a:off x="4716016" y="1700808"/>
            <a:ext cx="1440160" cy="144016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F</a:t>
            </a:r>
            <a:r>
              <a:rPr lang="en-US" altLang="zh-TW" sz="14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F</a:t>
            </a: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NN</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5" name="橢圓 4">
            <a:extLst>
              <a:ext uri="{FF2B5EF4-FFF2-40B4-BE49-F238E27FC236}">
                <a16:creationId xmlns:a16="http://schemas.microsoft.com/office/drawing/2014/main" id="{881E42A9-3C14-33A5-57A8-6E87E4934D33}"/>
              </a:ext>
            </a:extLst>
          </p:cNvPr>
          <p:cNvSpPr/>
          <p:nvPr/>
        </p:nvSpPr>
        <p:spPr>
          <a:xfrm>
            <a:off x="5557587" y="2259098"/>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CNN</a:t>
            </a:r>
          </a:p>
        </p:txBody>
      </p:sp>
      <p:sp>
        <p:nvSpPr>
          <p:cNvPr id="7" name="橢圓 6">
            <a:extLst>
              <a:ext uri="{FF2B5EF4-FFF2-40B4-BE49-F238E27FC236}">
                <a16:creationId xmlns:a16="http://schemas.microsoft.com/office/drawing/2014/main" id="{AA368A15-3EB1-B632-32F7-35E0E54C152A}"/>
              </a:ext>
            </a:extLst>
          </p:cNvPr>
          <p:cNvSpPr/>
          <p:nvPr/>
        </p:nvSpPr>
        <p:spPr>
          <a:xfrm>
            <a:off x="5317440" y="1608613"/>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MLP</a:t>
            </a:r>
          </a:p>
        </p:txBody>
      </p:sp>
      <p:sp>
        <p:nvSpPr>
          <p:cNvPr id="10" name="橢圓 9">
            <a:extLst>
              <a:ext uri="{FF2B5EF4-FFF2-40B4-BE49-F238E27FC236}">
                <a16:creationId xmlns:a16="http://schemas.microsoft.com/office/drawing/2014/main" id="{E0141726-C312-30FF-5F17-291C4EB11CB6}"/>
              </a:ext>
            </a:extLst>
          </p:cNvPr>
          <p:cNvSpPr/>
          <p:nvPr/>
        </p:nvSpPr>
        <p:spPr>
          <a:xfrm>
            <a:off x="4821622" y="2259098"/>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RNN</a:t>
            </a:r>
          </a:p>
        </p:txBody>
      </p:sp>
      <p:sp>
        <p:nvSpPr>
          <p:cNvPr id="12" name="橢圓 11">
            <a:extLst>
              <a:ext uri="{FF2B5EF4-FFF2-40B4-BE49-F238E27FC236}">
                <a16:creationId xmlns:a16="http://schemas.microsoft.com/office/drawing/2014/main" id="{0DB21296-B2AC-876B-8C54-9C8E250C834F}"/>
              </a:ext>
            </a:extLst>
          </p:cNvPr>
          <p:cNvSpPr/>
          <p:nvPr/>
        </p:nvSpPr>
        <p:spPr>
          <a:xfrm>
            <a:off x="4644008" y="2581444"/>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LSTM</a:t>
            </a:r>
          </a:p>
        </p:txBody>
      </p:sp>
      <p:sp>
        <p:nvSpPr>
          <p:cNvPr id="16" name="橢圓 15">
            <a:extLst>
              <a:ext uri="{FF2B5EF4-FFF2-40B4-BE49-F238E27FC236}">
                <a16:creationId xmlns:a16="http://schemas.microsoft.com/office/drawing/2014/main" id="{52295574-F9E8-1BB0-0D3E-4D88512B5343}"/>
              </a:ext>
            </a:extLst>
          </p:cNvPr>
          <p:cNvSpPr/>
          <p:nvPr/>
        </p:nvSpPr>
        <p:spPr>
          <a:xfrm>
            <a:off x="5226439" y="3356992"/>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Transformer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Attn + FNN</a:t>
            </a:r>
          </a:p>
        </p:txBody>
      </p:sp>
      <p:sp>
        <p:nvSpPr>
          <p:cNvPr id="20" name="橢圓 19">
            <a:extLst>
              <a:ext uri="{FF2B5EF4-FFF2-40B4-BE49-F238E27FC236}">
                <a16:creationId xmlns:a16="http://schemas.microsoft.com/office/drawing/2014/main" id="{78A2F39E-B570-C98D-37E5-754D1391B769}"/>
              </a:ext>
            </a:extLst>
          </p:cNvPr>
          <p:cNvSpPr/>
          <p:nvPr/>
        </p:nvSpPr>
        <p:spPr>
          <a:xfrm>
            <a:off x="5804374" y="2581443"/>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Deep CNN</a:t>
            </a:r>
          </a:p>
        </p:txBody>
      </p:sp>
      <p:sp>
        <p:nvSpPr>
          <p:cNvPr id="22" name="橢圓 21">
            <a:extLst>
              <a:ext uri="{FF2B5EF4-FFF2-40B4-BE49-F238E27FC236}">
                <a16:creationId xmlns:a16="http://schemas.microsoft.com/office/drawing/2014/main" id="{6EA6E73F-53FC-FCE3-3FE0-22F933B86A25}"/>
              </a:ext>
            </a:extLst>
          </p:cNvPr>
          <p:cNvSpPr/>
          <p:nvPr/>
        </p:nvSpPr>
        <p:spPr>
          <a:xfrm>
            <a:off x="6012160" y="2917255"/>
            <a:ext cx="673879" cy="655761"/>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Residual</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Net</a:t>
            </a:r>
          </a:p>
        </p:txBody>
      </p:sp>
      <p:sp>
        <p:nvSpPr>
          <p:cNvPr id="24" name="橢圓 23">
            <a:extLst>
              <a:ext uri="{FF2B5EF4-FFF2-40B4-BE49-F238E27FC236}">
                <a16:creationId xmlns:a16="http://schemas.microsoft.com/office/drawing/2014/main" id="{5AD84FAD-CD1C-1567-2DA1-5D10317355DF}"/>
              </a:ext>
            </a:extLst>
          </p:cNvPr>
          <p:cNvSpPr/>
          <p:nvPr/>
        </p:nvSpPr>
        <p:spPr>
          <a:xfrm>
            <a:off x="5226439" y="3933056"/>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Transformer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Attn + </a:t>
            </a:r>
            <a:r>
              <a:rPr lang="en-US" altLang="zh-TW" sz="1200" dirty="0" err="1">
                <a:solidFill>
                  <a:schemeClr val="tx1"/>
                </a:solidFill>
                <a:latin typeface="ADLaM Display" panose="02010000000000000000" pitchFamily="2" charset="0"/>
                <a:ea typeface="ADLaM Display" panose="02010000000000000000" pitchFamily="2" charset="0"/>
                <a:cs typeface="ADLaM Display" panose="02010000000000000000" pitchFamily="2" charset="0"/>
              </a:rPr>
              <a:t>MoE</a:t>
            </a:r>
            <a:endPar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27" name="直線單箭頭接點 26">
            <a:extLst>
              <a:ext uri="{FF2B5EF4-FFF2-40B4-BE49-F238E27FC236}">
                <a16:creationId xmlns:a16="http://schemas.microsoft.com/office/drawing/2014/main" id="{0CC5A7DD-41A0-7EEC-23DC-D93DBA4C6ABD}"/>
              </a:ext>
            </a:extLst>
          </p:cNvPr>
          <p:cNvCxnSpPr>
            <a:cxnSpLocks/>
            <a:endCxn id="30" idx="0"/>
          </p:cNvCxnSpPr>
          <p:nvPr/>
        </p:nvCxnSpPr>
        <p:spPr>
          <a:xfrm>
            <a:off x="3686775" y="4212694"/>
            <a:ext cx="15409" cy="955881"/>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D4B11118-85CB-E3B3-3B58-A81E7240DFBE}"/>
              </a:ext>
            </a:extLst>
          </p:cNvPr>
          <p:cNvSpPr/>
          <p:nvPr/>
        </p:nvSpPr>
        <p:spPr>
          <a:xfrm>
            <a:off x="3336424" y="4328061"/>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29" name="矩形 28">
            <a:extLst>
              <a:ext uri="{FF2B5EF4-FFF2-40B4-BE49-F238E27FC236}">
                <a16:creationId xmlns:a16="http://schemas.microsoft.com/office/drawing/2014/main" id="{019896D7-A914-F596-8731-06D7273EE94D}"/>
              </a:ext>
            </a:extLst>
          </p:cNvPr>
          <p:cNvSpPr/>
          <p:nvPr/>
        </p:nvSpPr>
        <p:spPr>
          <a:xfrm>
            <a:off x="3336424" y="4623322"/>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30" name="矩形 29">
            <a:extLst>
              <a:ext uri="{FF2B5EF4-FFF2-40B4-BE49-F238E27FC236}">
                <a16:creationId xmlns:a16="http://schemas.microsoft.com/office/drawing/2014/main" id="{8E97BE1F-4641-F50D-115E-0BA3293DC4A9}"/>
              </a:ext>
            </a:extLst>
          </p:cNvPr>
          <p:cNvSpPr/>
          <p:nvPr/>
        </p:nvSpPr>
        <p:spPr>
          <a:xfrm>
            <a:off x="3336424" y="5168575"/>
            <a:ext cx="731519"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31" name="矩形 30">
            <a:extLst>
              <a:ext uri="{FF2B5EF4-FFF2-40B4-BE49-F238E27FC236}">
                <a16:creationId xmlns:a16="http://schemas.microsoft.com/office/drawing/2014/main" id="{E9F6D5AD-9561-8B3B-9EE9-975ADF9B9104}"/>
              </a:ext>
            </a:extLst>
          </p:cNvPr>
          <p:cNvSpPr/>
          <p:nvPr/>
        </p:nvSpPr>
        <p:spPr>
          <a:xfrm>
            <a:off x="3328805" y="4040029"/>
            <a:ext cx="731520" cy="172665"/>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cxnSp>
        <p:nvCxnSpPr>
          <p:cNvPr id="33" name="直線單箭頭接點 32">
            <a:extLst>
              <a:ext uri="{FF2B5EF4-FFF2-40B4-BE49-F238E27FC236}">
                <a16:creationId xmlns:a16="http://schemas.microsoft.com/office/drawing/2014/main" id="{618BFC6C-263A-5C9E-AE66-E90562B0DA8A}"/>
              </a:ext>
            </a:extLst>
          </p:cNvPr>
          <p:cNvCxnSpPr>
            <a:cxnSpLocks/>
            <a:stCxn id="34" idx="2"/>
            <a:endCxn id="36" idx="0"/>
          </p:cNvCxnSpPr>
          <p:nvPr/>
        </p:nvCxnSpPr>
        <p:spPr>
          <a:xfrm flipH="1">
            <a:off x="6961559" y="4062290"/>
            <a:ext cx="2" cy="318651"/>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6" name="矩形 35">
            <a:extLst>
              <a:ext uri="{FF2B5EF4-FFF2-40B4-BE49-F238E27FC236}">
                <a16:creationId xmlns:a16="http://schemas.microsoft.com/office/drawing/2014/main" id="{E7568AED-D187-BF2E-B093-C9BD3DBBAEDD}"/>
              </a:ext>
            </a:extLst>
          </p:cNvPr>
          <p:cNvSpPr/>
          <p:nvPr/>
        </p:nvSpPr>
        <p:spPr>
          <a:xfrm>
            <a:off x="6746166" y="4380941"/>
            <a:ext cx="430785" cy="24157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err="1">
                <a:ln w="0"/>
                <a:solidFill>
                  <a:prstClr val="black"/>
                </a:solidFill>
                <a:effectLst/>
                <a:uLnTx/>
                <a:uFillTx/>
                <a:latin typeface="Calibri"/>
                <a:ea typeface="新細明體" panose="02020500000000000000" pitchFamily="18" charset="-120"/>
                <a:cs typeface="+mn-cs"/>
              </a:rPr>
              <a:t>mHC</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38" name="矩形 37">
            <a:extLst>
              <a:ext uri="{FF2B5EF4-FFF2-40B4-BE49-F238E27FC236}">
                <a16:creationId xmlns:a16="http://schemas.microsoft.com/office/drawing/2014/main" id="{C3BBF09B-E535-6D8F-9D33-2BF80A6AE597}"/>
              </a:ext>
            </a:extLst>
          </p:cNvPr>
          <p:cNvSpPr/>
          <p:nvPr/>
        </p:nvSpPr>
        <p:spPr>
          <a:xfrm>
            <a:off x="6746166" y="5803090"/>
            <a:ext cx="628458" cy="361919"/>
          </a:xfrm>
          <a:prstGeom prst="rect">
            <a:avLst/>
          </a:prstGeom>
          <a:solidFill>
            <a:schemeClr val="accent1">
              <a:lumMod val="20000"/>
              <a:lumOff val="80000"/>
              <a:alpha val="90000"/>
            </a:schemeClr>
          </a:solidFill>
          <a:ln w="31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err="1">
                <a:ln w="0"/>
                <a:solidFill>
                  <a:prstClr val="black"/>
                </a:solidFill>
                <a:effectLst/>
                <a:uLnTx/>
                <a:uFillTx/>
                <a:latin typeface="Calibri"/>
                <a:ea typeface="新細明體" panose="02020500000000000000" pitchFamily="18" charset="-120"/>
                <a:cs typeface="+mn-cs"/>
              </a:rPr>
              <a:t>AttnRes</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cxnSp>
        <p:nvCxnSpPr>
          <p:cNvPr id="39" name="直線單箭頭接點 38">
            <a:extLst>
              <a:ext uri="{FF2B5EF4-FFF2-40B4-BE49-F238E27FC236}">
                <a16:creationId xmlns:a16="http://schemas.microsoft.com/office/drawing/2014/main" id="{89B964A2-FE21-47BF-C892-9DCE0393D14E}"/>
              </a:ext>
            </a:extLst>
          </p:cNvPr>
          <p:cNvCxnSpPr>
            <a:cxnSpLocks/>
            <a:stCxn id="43" idx="2"/>
            <a:endCxn id="44" idx="0"/>
          </p:cNvCxnSpPr>
          <p:nvPr/>
        </p:nvCxnSpPr>
        <p:spPr>
          <a:xfrm>
            <a:off x="1206149" y="4718440"/>
            <a:ext cx="15238" cy="582768"/>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3" name="矩形 42">
            <a:extLst>
              <a:ext uri="{FF2B5EF4-FFF2-40B4-BE49-F238E27FC236}">
                <a16:creationId xmlns:a16="http://schemas.microsoft.com/office/drawing/2014/main" id="{0A1996EB-D42C-740B-85D1-30E38FB4CF93}"/>
              </a:ext>
            </a:extLst>
          </p:cNvPr>
          <p:cNvSpPr/>
          <p:nvPr/>
        </p:nvSpPr>
        <p:spPr>
          <a:xfrm>
            <a:off x="851987" y="4545524"/>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Gopher</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4" name="矩形 43">
            <a:extLst>
              <a:ext uri="{FF2B5EF4-FFF2-40B4-BE49-F238E27FC236}">
                <a16:creationId xmlns:a16="http://schemas.microsoft.com/office/drawing/2014/main" id="{7E85ABA7-84D4-642D-6CF5-1F0E4E10A25E}"/>
              </a:ext>
            </a:extLst>
          </p:cNvPr>
          <p:cNvSpPr/>
          <p:nvPr/>
        </p:nvSpPr>
        <p:spPr>
          <a:xfrm>
            <a:off x="867225" y="530120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Chinchilla</a:t>
            </a:r>
          </a:p>
        </p:txBody>
      </p:sp>
      <p:cxnSp>
        <p:nvCxnSpPr>
          <p:cNvPr id="45" name="直線單箭頭接點 44">
            <a:extLst>
              <a:ext uri="{FF2B5EF4-FFF2-40B4-BE49-F238E27FC236}">
                <a16:creationId xmlns:a16="http://schemas.microsoft.com/office/drawing/2014/main" id="{4ED559E8-20A7-6144-F4C3-CB32FB2CB002}"/>
              </a:ext>
            </a:extLst>
          </p:cNvPr>
          <p:cNvCxnSpPr>
            <a:cxnSpLocks/>
            <a:stCxn id="49" idx="2"/>
            <a:endCxn id="50" idx="0"/>
          </p:cNvCxnSpPr>
          <p:nvPr/>
        </p:nvCxnSpPr>
        <p:spPr>
          <a:xfrm>
            <a:off x="2783628" y="4208753"/>
            <a:ext cx="0" cy="986441"/>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2CE58CCD-7B0B-E793-E6B9-CF9404AF1D3F}"/>
              </a:ext>
            </a:extLst>
          </p:cNvPr>
          <p:cNvSpPr/>
          <p:nvPr/>
        </p:nvSpPr>
        <p:spPr>
          <a:xfrm>
            <a:off x="2417868" y="4323869"/>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err="1">
                <a:ln w="0"/>
                <a:solidFill>
                  <a:prstClr val="black"/>
                </a:solidFill>
                <a:latin typeface="Calibri"/>
                <a:ea typeface="新細明體" panose="02020500000000000000" pitchFamily="18" charset="-120"/>
              </a:rPr>
              <a:t>RoPE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7" name="矩形 46">
            <a:extLst>
              <a:ext uri="{FF2B5EF4-FFF2-40B4-BE49-F238E27FC236}">
                <a16:creationId xmlns:a16="http://schemas.microsoft.com/office/drawing/2014/main" id="{D70EE51F-11F3-E227-6416-3EF6D0A0EF82}"/>
              </a:ext>
            </a:extLst>
          </p:cNvPr>
          <p:cNvSpPr/>
          <p:nvPr/>
        </p:nvSpPr>
        <p:spPr>
          <a:xfrm>
            <a:off x="2417868" y="4619130"/>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err="1">
                <a:ln w="0"/>
                <a:solidFill>
                  <a:prstClr val="black"/>
                </a:solidFill>
                <a:latin typeface="Calibri"/>
                <a:ea typeface="新細明體" panose="02020500000000000000" pitchFamily="18" charset="-120"/>
              </a:rPr>
              <a:t>NoPE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8" name="矩形 47">
            <a:extLst>
              <a:ext uri="{FF2B5EF4-FFF2-40B4-BE49-F238E27FC236}">
                <a16:creationId xmlns:a16="http://schemas.microsoft.com/office/drawing/2014/main" id="{8C481EE5-03DA-1F5B-927C-966083F6C882}"/>
              </a:ext>
            </a:extLst>
          </p:cNvPr>
          <p:cNvSpPr/>
          <p:nvPr/>
        </p:nvSpPr>
        <p:spPr>
          <a:xfrm>
            <a:off x="2417868" y="4880543"/>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Decouple</a:t>
            </a:r>
          </a:p>
        </p:txBody>
      </p:sp>
      <p:sp>
        <p:nvSpPr>
          <p:cNvPr id="49" name="矩形 48">
            <a:extLst>
              <a:ext uri="{FF2B5EF4-FFF2-40B4-BE49-F238E27FC236}">
                <a16:creationId xmlns:a16="http://schemas.microsoft.com/office/drawing/2014/main" id="{FFDB034B-47CC-EC94-72A4-65725CFB25A7}"/>
              </a:ext>
            </a:extLst>
          </p:cNvPr>
          <p:cNvSpPr/>
          <p:nvPr/>
        </p:nvSpPr>
        <p:spPr>
          <a:xfrm>
            <a:off x="2417868" y="4035837"/>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50" name="矩形 49">
            <a:extLst>
              <a:ext uri="{FF2B5EF4-FFF2-40B4-BE49-F238E27FC236}">
                <a16:creationId xmlns:a16="http://schemas.microsoft.com/office/drawing/2014/main" id="{E58CE629-9C97-E6A5-73B1-3258C20DCA38}"/>
              </a:ext>
            </a:extLst>
          </p:cNvPr>
          <p:cNvSpPr/>
          <p:nvPr/>
        </p:nvSpPr>
        <p:spPr>
          <a:xfrm>
            <a:off x="2417868" y="5195194"/>
            <a:ext cx="731520" cy="309749"/>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err="1">
                <a:ln w="0"/>
                <a:solidFill>
                  <a:prstClr val="black"/>
                </a:solidFill>
                <a:effectLst/>
                <a:uLnTx/>
                <a:uFillTx/>
                <a:latin typeface="Calibri"/>
                <a:ea typeface="新細明體" panose="02020500000000000000" pitchFamily="18" charset="-120"/>
                <a:cs typeface="+mn-cs"/>
              </a:rPr>
              <a:t>NoPE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everywhere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 name="矩形 3">
            <a:extLst>
              <a:ext uri="{FF2B5EF4-FFF2-40B4-BE49-F238E27FC236}">
                <a16:creationId xmlns:a16="http://schemas.microsoft.com/office/drawing/2014/main" id="{0AF6AAD9-A49B-4E37-921F-F55608D4D506}"/>
              </a:ext>
            </a:extLst>
          </p:cNvPr>
          <p:cNvSpPr/>
          <p:nvPr/>
        </p:nvSpPr>
        <p:spPr>
          <a:xfrm>
            <a:off x="5289577" y="5806037"/>
            <a:ext cx="407112" cy="361918"/>
          </a:xfrm>
          <a:prstGeom prst="rect">
            <a:avLst/>
          </a:prstGeom>
          <a:solidFill>
            <a:schemeClr val="accent1">
              <a:lumMod val="20000"/>
              <a:lumOff val="80000"/>
              <a:alpha val="90000"/>
            </a:schemeClr>
          </a:solidFill>
          <a:ln w="31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PLE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Diffusion</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pic>
        <p:nvPicPr>
          <p:cNvPr id="13" name="圖片 12">
            <a:extLst>
              <a:ext uri="{FF2B5EF4-FFF2-40B4-BE49-F238E27FC236}">
                <a16:creationId xmlns:a16="http://schemas.microsoft.com/office/drawing/2014/main" id="{ECDE642D-68D6-0AEB-A994-C8203492E086}"/>
              </a:ext>
            </a:extLst>
          </p:cNvPr>
          <p:cNvPicPr>
            <a:picLocks noChangeAspect="1"/>
          </p:cNvPicPr>
          <p:nvPr/>
        </p:nvPicPr>
        <p:blipFill>
          <a:blip r:embed="rId4"/>
          <a:stretch>
            <a:fillRect/>
          </a:stretch>
        </p:blipFill>
        <p:spPr>
          <a:xfrm>
            <a:off x="990092" y="5486828"/>
            <a:ext cx="462587" cy="605198"/>
          </a:xfrm>
          <a:prstGeom prst="rect">
            <a:avLst/>
          </a:prstGeom>
        </p:spPr>
      </p:pic>
      <p:sp>
        <p:nvSpPr>
          <p:cNvPr id="34" name="矩形 33">
            <a:extLst>
              <a:ext uri="{FF2B5EF4-FFF2-40B4-BE49-F238E27FC236}">
                <a16:creationId xmlns:a16="http://schemas.microsoft.com/office/drawing/2014/main" id="{925A013C-BF7E-1854-1013-89582555D429}"/>
              </a:ext>
            </a:extLst>
          </p:cNvPr>
          <p:cNvSpPr/>
          <p:nvPr/>
        </p:nvSpPr>
        <p:spPr>
          <a:xfrm>
            <a:off x="6746169" y="3820714"/>
            <a:ext cx="430784" cy="24157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HC</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21" name="橢圓 20">
            <a:extLst>
              <a:ext uri="{FF2B5EF4-FFF2-40B4-BE49-F238E27FC236}">
                <a16:creationId xmlns:a16="http://schemas.microsoft.com/office/drawing/2014/main" id="{2F0DFBC6-3A66-B6F7-00EF-312D32966A21}"/>
              </a:ext>
            </a:extLst>
          </p:cNvPr>
          <p:cNvSpPr/>
          <p:nvPr/>
        </p:nvSpPr>
        <p:spPr>
          <a:xfrm>
            <a:off x="6150790" y="3369607"/>
            <a:ext cx="430784" cy="419433"/>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Dense</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Net</a:t>
            </a:r>
          </a:p>
        </p:txBody>
      </p:sp>
      <p:sp>
        <p:nvSpPr>
          <p:cNvPr id="40" name="橢圓 39">
            <a:extLst>
              <a:ext uri="{FF2B5EF4-FFF2-40B4-BE49-F238E27FC236}">
                <a16:creationId xmlns:a16="http://schemas.microsoft.com/office/drawing/2014/main" id="{C26C33D0-E4B4-743E-50E7-154C9AAEFFEE}"/>
              </a:ext>
            </a:extLst>
          </p:cNvPr>
          <p:cNvSpPr/>
          <p:nvPr/>
        </p:nvSpPr>
        <p:spPr>
          <a:xfrm>
            <a:off x="6169886" y="3717032"/>
            <a:ext cx="430784" cy="419433"/>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MUDD</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Former</a:t>
            </a:r>
          </a:p>
        </p:txBody>
      </p:sp>
      <p:sp>
        <p:nvSpPr>
          <p:cNvPr id="6" name="橢圓 5">
            <a:extLst>
              <a:ext uri="{FF2B5EF4-FFF2-40B4-BE49-F238E27FC236}">
                <a16:creationId xmlns:a16="http://schemas.microsoft.com/office/drawing/2014/main" id="{4ADFAB3B-2371-AE71-7C9C-93FF7B4E358E}"/>
              </a:ext>
            </a:extLst>
          </p:cNvPr>
          <p:cNvSpPr/>
          <p:nvPr/>
        </p:nvSpPr>
        <p:spPr>
          <a:xfrm>
            <a:off x="4932040" y="2104206"/>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LSA</a:t>
            </a:r>
          </a:p>
        </p:txBody>
      </p:sp>
      <p:sp>
        <p:nvSpPr>
          <p:cNvPr id="11" name="橢圓 10">
            <a:extLst>
              <a:ext uri="{FF2B5EF4-FFF2-40B4-BE49-F238E27FC236}">
                <a16:creationId xmlns:a16="http://schemas.microsoft.com/office/drawing/2014/main" id="{5808B52B-D2E3-7FA8-BB8C-7A2EA8293243}"/>
              </a:ext>
            </a:extLst>
          </p:cNvPr>
          <p:cNvSpPr/>
          <p:nvPr/>
        </p:nvSpPr>
        <p:spPr>
          <a:xfrm>
            <a:off x="5694223" y="2112669"/>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LeNet</a:t>
            </a:r>
          </a:p>
        </p:txBody>
      </p:sp>
      <p:sp>
        <p:nvSpPr>
          <p:cNvPr id="18" name="橢圓 17">
            <a:extLst>
              <a:ext uri="{FF2B5EF4-FFF2-40B4-BE49-F238E27FC236}">
                <a16:creationId xmlns:a16="http://schemas.microsoft.com/office/drawing/2014/main" id="{4740E3ED-7716-EAD6-4846-308CD05C1798}"/>
              </a:ext>
            </a:extLst>
          </p:cNvPr>
          <p:cNvSpPr/>
          <p:nvPr/>
        </p:nvSpPr>
        <p:spPr>
          <a:xfrm>
            <a:off x="5328626" y="5307624"/>
            <a:ext cx="495818" cy="447885"/>
          </a:xfrm>
          <a:prstGeom prst="ellipse">
            <a:avLst/>
          </a:prstGeom>
          <a:solidFill>
            <a:schemeClr val="accent1">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Gemma</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4</a:t>
            </a:r>
          </a:p>
        </p:txBody>
      </p:sp>
      <p:sp>
        <p:nvSpPr>
          <p:cNvPr id="23" name="橢圓 22">
            <a:extLst>
              <a:ext uri="{FF2B5EF4-FFF2-40B4-BE49-F238E27FC236}">
                <a16:creationId xmlns:a16="http://schemas.microsoft.com/office/drawing/2014/main" id="{6E1686BF-BA47-45A6-230A-0A77C2804C64}"/>
              </a:ext>
            </a:extLst>
          </p:cNvPr>
          <p:cNvSpPr/>
          <p:nvPr/>
        </p:nvSpPr>
        <p:spPr>
          <a:xfrm>
            <a:off x="6085756" y="5320605"/>
            <a:ext cx="495818" cy="447885"/>
          </a:xfrm>
          <a:prstGeom prst="ellipse">
            <a:avLst/>
          </a:prstGeom>
          <a:solidFill>
            <a:schemeClr val="accent1">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DeepSeek</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4</a:t>
            </a:r>
          </a:p>
        </p:txBody>
      </p:sp>
      <p:sp>
        <p:nvSpPr>
          <p:cNvPr id="26" name="橢圓 25">
            <a:extLst>
              <a:ext uri="{FF2B5EF4-FFF2-40B4-BE49-F238E27FC236}">
                <a16:creationId xmlns:a16="http://schemas.microsoft.com/office/drawing/2014/main" id="{34720148-A5D6-90D3-A8D9-AD7D552A0552}"/>
              </a:ext>
            </a:extLst>
          </p:cNvPr>
          <p:cNvSpPr/>
          <p:nvPr/>
        </p:nvSpPr>
        <p:spPr>
          <a:xfrm>
            <a:off x="6812486" y="5309307"/>
            <a:ext cx="495818" cy="447885"/>
          </a:xfrm>
          <a:prstGeom prst="ellipse">
            <a:avLst/>
          </a:prstGeom>
          <a:solidFill>
            <a:schemeClr val="accent1">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Kimi</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k3</a:t>
            </a:r>
          </a:p>
        </p:txBody>
      </p:sp>
      <p:sp>
        <p:nvSpPr>
          <p:cNvPr id="52" name="矩形 51">
            <a:extLst>
              <a:ext uri="{FF2B5EF4-FFF2-40B4-BE49-F238E27FC236}">
                <a16:creationId xmlns:a16="http://schemas.microsoft.com/office/drawing/2014/main" id="{4609C4BF-B1FF-333B-73AC-273E88619C09}"/>
              </a:ext>
            </a:extLst>
          </p:cNvPr>
          <p:cNvSpPr/>
          <p:nvPr/>
        </p:nvSpPr>
        <p:spPr>
          <a:xfrm>
            <a:off x="6019436" y="5803090"/>
            <a:ext cx="628458" cy="361919"/>
          </a:xfrm>
          <a:prstGeom prst="rect">
            <a:avLst/>
          </a:prstGeom>
          <a:solidFill>
            <a:schemeClr val="accent1">
              <a:lumMod val="20000"/>
              <a:lumOff val="80000"/>
              <a:alpha val="90000"/>
            </a:schemeClr>
          </a:solidFill>
          <a:ln w="31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Decouple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Hybrid</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57" name="矩形 56">
            <a:extLst>
              <a:ext uri="{FF2B5EF4-FFF2-40B4-BE49-F238E27FC236}">
                <a16:creationId xmlns:a16="http://schemas.microsoft.com/office/drawing/2014/main" id="{66E621F8-672B-F270-FE57-8799408045B4}"/>
              </a:ext>
            </a:extLst>
          </p:cNvPr>
          <p:cNvSpPr/>
          <p:nvPr/>
        </p:nvSpPr>
        <p:spPr>
          <a:xfrm>
            <a:off x="4239571" y="5168575"/>
            <a:ext cx="628458" cy="336368"/>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MTP</a:t>
            </a:r>
          </a:p>
        </p:txBody>
      </p:sp>
      <p:sp>
        <p:nvSpPr>
          <p:cNvPr id="65" name="橢圓 64">
            <a:extLst>
              <a:ext uri="{FF2B5EF4-FFF2-40B4-BE49-F238E27FC236}">
                <a16:creationId xmlns:a16="http://schemas.microsoft.com/office/drawing/2014/main" id="{AF2ADE06-0373-BCFA-7358-2B78588727A0}"/>
              </a:ext>
            </a:extLst>
          </p:cNvPr>
          <p:cNvSpPr/>
          <p:nvPr/>
        </p:nvSpPr>
        <p:spPr>
          <a:xfrm>
            <a:off x="4292206" y="2852936"/>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Encoder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Decoder</a:t>
            </a:r>
          </a:p>
        </p:txBody>
      </p:sp>
      <p:sp>
        <p:nvSpPr>
          <p:cNvPr id="14" name="橢圓 13">
            <a:extLst>
              <a:ext uri="{FF2B5EF4-FFF2-40B4-BE49-F238E27FC236}">
                <a16:creationId xmlns:a16="http://schemas.microsoft.com/office/drawing/2014/main" id="{004290F5-281E-93FC-60A1-A2E3666349C4}"/>
              </a:ext>
            </a:extLst>
          </p:cNvPr>
          <p:cNvSpPr/>
          <p:nvPr/>
        </p:nvSpPr>
        <p:spPr>
          <a:xfrm>
            <a:off x="3860158" y="3341155"/>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Attention</a:t>
            </a:r>
          </a:p>
        </p:txBody>
      </p:sp>
    </p:spTree>
    <p:extLst>
      <p:ext uri="{BB962C8B-B14F-4D97-AF65-F5344CB8AC3E}">
        <p14:creationId xmlns:p14="http://schemas.microsoft.com/office/powerpoint/2010/main" val="18289672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zh-TW" altLang="en-US"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996F189B-CCA9-A190-9342-DFE45EE39B14}"/>
              </a:ext>
            </a:extLst>
          </p:cNvPr>
          <p:cNvPicPr>
            <a:picLocks noChangeAspect="1"/>
          </p:cNvPicPr>
          <p:nvPr/>
        </p:nvPicPr>
        <p:blipFill>
          <a:blip r:embed="rId3"/>
          <a:stretch>
            <a:fillRect/>
          </a:stretch>
        </p:blipFill>
        <p:spPr>
          <a:xfrm>
            <a:off x="3176392" y="2390630"/>
            <a:ext cx="2791215" cy="2076740"/>
          </a:xfrm>
          <a:prstGeom prst="rect">
            <a:avLst/>
          </a:prstGeom>
        </p:spPr>
      </p:pic>
      <p:sp>
        <p:nvSpPr>
          <p:cNvPr id="5" name="文字方塊 4">
            <a:extLst>
              <a:ext uri="{FF2B5EF4-FFF2-40B4-BE49-F238E27FC236}">
                <a16:creationId xmlns:a16="http://schemas.microsoft.com/office/drawing/2014/main" id="{ACDF7882-DCFE-49CC-16BA-3B03F5D9EC4F}"/>
              </a:ext>
            </a:extLst>
          </p:cNvPr>
          <p:cNvSpPr txBox="1"/>
          <p:nvPr/>
        </p:nvSpPr>
        <p:spPr>
          <a:xfrm>
            <a:off x="395536" y="260648"/>
            <a:ext cx="8352928" cy="797975"/>
          </a:xfrm>
          <a:prstGeom prst="rect">
            <a:avLst/>
          </a:prstGeom>
          <a:noFill/>
        </p:spPr>
        <p:txBody>
          <a:bodyPr wrap="square">
            <a:sp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1. 編碼公式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原始 Transformer 是直接在輸入的詞向量（Word Embedding）上，</a:t>
            </a:r>
            <a:r>
              <a:rPr lang="zh-TW" altLang="zh-TW" sz="1100" b="1" u="none" strike="noStrike" dirty="0">
                <a:effectLst/>
                <a:latin typeface="微軟正黑體" panose="020B0604030504040204" pitchFamily="34" charset="-120"/>
                <a:ea typeface="微軟正黑體" panose="020B0604030504040204" pitchFamily="34" charset="-120"/>
              </a:rPr>
              <a:t>「逐個維度相加」</a:t>
            </a:r>
            <a:r>
              <a:rPr lang="zh-TW" altLang="zh-TW" sz="1100" b="0" u="none" strike="noStrike" dirty="0">
                <a:effectLst/>
                <a:latin typeface="微軟正黑體" panose="020B0604030504040204" pitchFamily="34" charset="-120"/>
                <a:ea typeface="微軟正黑體" panose="020B0604030504040204" pitchFamily="34" charset="-120"/>
              </a:rPr>
              <a:t>一個固定計算出來的位置向量。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對於句子中第 pos 個位置的字，它對應的編碼向量中第 i 個維度的計算公式如下：</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lnSpc>
                <a:spcPts val="1400"/>
              </a:lnSpc>
              <a:buNone/>
            </a:pPr>
            <a:r>
              <a:rPr lang="en-US" altLang="zh-TW" sz="1100" b="0" u="none" strike="noStrike" dirty="0">
                <a:effectLst/>
                <a:latin typeface="微軟正黑體" panose="020B0604030504040204" pitchFamily="34" charset="-120"/>
                <a:ea typeface="微軟正黑體" panose="020B0604030504040204" pitchFamily="34" charset="-120"/>
              </a:rPr>
              <a:t>.</a:t>
            </a:r>
            <a:endParaRPr lang="zh-TW" altLang="zh-TW" sz="1100" b="0" u="none" strike="noStrike" dirty="0">
              <a:effectLst/>
              <a:latin typeface="微軟正黑體" panose="020B0604030504040204" pitchFamily="34" charset="-120"/>
              <a:ea typeface="微軟正黑體" panose="020B0604030504040204" pitchFamily="34" charset="-120"/>
            </a:endParaRPr>
          </a:p>
        </p:txBody>
      </p:sp>
      <p:pic>
        <p:nvPicPr>
          <p:cNvPr id="7" name="圖片 6">
            <a:extLst>
              <a:ext uri="{FF2B5EF4-FFF2-40B4-BE49-F238E27FC236}">
                <a16:creationId xmlns:a16="http://schemas.microsoft.com/office/drawing/2014/main" id="{2179AD0A-1E04-6EE4-D5EC-F1355DDD6210}"/>
              </a:ext>
            </a:extLst>
          </p:cNvPr>
          <p:cNvPicPr>
            <a:picLocks noChangeAspect="1"/>
          </p:cNvPicPr>
          <p:nvPr/>
        </p:nvPicPr>
        <p:blipFill>
          <a:blip r:embed="rId4"/>
          <a:stretch>
            <a:fillRect/>
          </a:stretch>
        </p:blipFill>
        <p:spPr>
          <a:xfrm>
            <a:off x="1509284" y="4485279"/>
            <a:ext cx="6125430" cy="1333686"/>
          </a:xfrm>
          <a:prstGeom prst="rect">
            <a:avLst/>
          </a:prstGeom>
        </p:spPr>
      </p:pic>
    </p:spTree>
    <p:extLst>
      <p:ext uri="{BB962C8B-B14F-4D97-AF65-F5344CB8AC3E}">
        <p14:creationId xmlns:p14="http://schemas.microsoft.com/office/powerpoint/2010/main" val="36304154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tx1">
                          <a:lumMod val="50000"/>
                          <a:lumOff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nvGraphicFramePr>
        <p:xfrm>
          <a:off x="539552" y="2708920"/>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1" name="接點: 弧形 20">
            <a:extLst>
              <a:ext uri="{FF2B5EF4-FFF2-40B4-BE49-F238E27FC236}">
                <a16:creationId xmlns:a16="http://schemas.microsoft.com/office/drawing/2014/main" id="{34301705-C84B-C3D0-5E5A-82DF40E8C7FB}"/>
              </a:ext>
            </a:extLst>
          </p:cNvPr>
          <p:cNvCxnSpPr>
            <a:cxnSpLocks/>
            <a:stCxn id="67" idx="0"/>
            <a:endCxn id="72" idx="0"/>
          </p:cNvCxnSpPr>
          <p:nvPr/>
        </p:nvCxnSpPr>
        <p:spPr>
          <a:xfrm rot="5400000" flipH="1" flipV="1">
            <a:off x="2069267" y="2021951"/>
            <a:ext cx="360040" cy="2742091"/>
          </a:xfrm>
          <a:prstGeom prst="curvedConnector3">
            <a:avLst>
              <a:gd name="adj1" fmla="val 163493"/>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28160" y="132193"/>
            <a:ext cx="423020"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6" name="文字方塊 5">
            <a:extLst>
              <a:ext uri="{FF2B5EF4-FFF2-40B4-BE49-F238E27FC236}">
                <a16:creationId xmlns:a16="http://schemas.microsoft.com/office/drawing/2014/main" id="{98F34B11-0C96-5088-8387-96566B32495D}"/>
              </a:ext>
            </a:extLst>
          </p:cNvPr>
          <p:cNvSpPr txBox="1"/>
          <p:nvPr/>
        </p:nvSpPr>
        <p:spPr>
          <a:xfrm>
            <a:off x="2123728" y="2746973"/>
            <a:ext cx="469803" cy="1894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rgbClr val="FF0000"/>
                </a:solidFill>
                <a:latin typeface="Gadugi" panose="020B0502040204020203" pitchFamily="34" charset="0"/>
                <a:ea typeface="Gadugi" panose="020B0502040204020203" pitchFamily="34" charset="0"/>
                <a:cs typeface="ADLaM Display" panose="02010000000000000000" pitchFamily="2" charset="0"/>
              </a:rPr>
              <a:t>Predict</a:t>
            </a:r>
            <a:endParaRPr lang="en-US" altLang="zh-TW" sz="1000" u="none" strike="noStrike" dirty="0">
              <a:solidFill>
                <a:srgbClr val="FF0000"/>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400057008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5796136" y="113486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120820"/>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marR="0" lvl="0" indent="-285750" algn="l" defTabSz="1943100" rtl="0" eaLnBrk="1" fontAlgn="auto" latinLnBrk="0" hangingPunct="1">
                  <a:lnSpc>
                    <a:spcPts val="1800"/>
                  </a:lnSpc>
                  <a:spcBef>
                    <a:spcPts val="600"/>
                  </a:spcBef>
                  <a:spcAft>
                    <a:spcPts val="600"/>
                  </a:spcAft>
                  <a:buClrTx/>
                  <a:buSzTx/>
                  <a:buFont typeface="Wingdings" panose="05000000000000000000" pitchFamily="2" charset="2"/>
                  <a:buChar char="Ø"/>
                  <a:tabLst/>
                  <a:defRPr/>
                </a:pP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Gradient Descent</a:t>
                </a:r>
                <a:r>
                  <a:rPr kumimoji="0" lang="en-US" altLang="zh-TW" sz="16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14:m>
                  <m:oMath xmlns:m="http://schemas.openxmlformats.org/officeDocument/2006/math">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𝑤</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𝑤</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𝑓</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sSub>
                      <m:sSubPr>
                        <m:ctrlPr>
                          <a:rPr kumimoji="0" lang="el-GR"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m:rPr>
                            <m:sty m:val="p"/>
                          </m:rPr>
                          <a:rPr kumimoji="0" lang="el-GR"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ω</m:t>
                        </m:r>
                      </m:e>
                      <m:sub>
                        <m:r>
                          <m:rPr>
                            <m:sty m:val="p"/>
                          </m:rP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i</m:t>
                        </m:r>
                      </m:sub>
                    </m:sSub>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oMath>
                </a14:m>
                <a:endParaRPr kumimoji="0" lang="en-US" altLang="zh-TW" sz="14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120820"/>
              </a:xfrm>
              <a:prstGeom prst="rect">
                <a:avLst/>
              </a:prstGeom>
              <a:blipFill>
                <a:blip r:embed="rId4"/>
                <a:stretch>
                  <a:fillRect l="-1333" t="-9239" b="-54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nvGraphicFramePr>
            <p:xfrm>
              <a:off x="322060" y="2353458"/>
              <a:ext cx="8499879" cy="4154122"/>
            </p:xfrm>
            <a:graphic>
              <a:graphicData uri="http://schemas.openxmlformats.org/drawingml/2006/table">
                <a:tbl>
                  <a:tblPr firstRow="1" bandRow="1">
                    <a:tableStyleId>{5C22544A-7EE6-4342-B048-85BDC9FD1C3A}</a:tableStyleId>
                  </a:tblPr>
                  <a:tblGrid>
                    <a:gridCol w="1657652">
                      <a:extLst>
                        <a:ext uri="{9D8B030D-6E8A-4147-A177-3AD203B41FA5}">
                          <a16:colId xmlns:a16="http://schemas.microsoft.com/office/drawing/2014/main" val="2211145501"/>
                        </a:ext>
                      </a:extLst>
                    </a:gridCol>
                    <a:gridCol w="2831891">
                      <a:extLst>
                        <a:ext uri="{9D8B030D-6E8A-4147-A177-3AD203B41FA5}">
                          <a16:colId xmlns:a16="http://schemas.microsoft.com/office/drawing/2014/main" val="767948712"/>
                        </a:ext>
                      </a:extLst>
                    </a:gridCol>
                    <a:gridCol w="2907893">
                      <a:extLst>
                        <a:ext uri="{9D8B030D-6E8A-4147-A177-3AD203B41FA5}">
                          <a16:colId xmlns:a16="http://schemas.microsoft.com/office/drawing/2014/main" val="1809051212"/>
                        </a:ext>
                      </a:extLst>
                    </a:gridCol>
                    <a:gridCol w="1102443">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1620202089"/>
                  </p:ext>
                </p:extLst>
              </p:nvPr>
            </p:nvGraphicFramePr>
            <p:xfrm>
              <a:off x="322060" y="2353458"/>
              <a:ext cx="8499879" cy="4154122"/>
            </p:xfrm>
            <a:graphic>
              <a:graphicData uri="http://schemas.openxmlformats.org/drawingml/2006/table">
                <a:tbl>
                  <a:tblPr firstRow="1" bandRow="1">
                    <a:tableStyleId>{5C22544A-7EE6-4342-B048-85BDC9FD1C3A}</a:tableStyleId>
                  </a:tblPr>
                  <a:tblGrid>
                    <a:gridCol w="1657652">
                      <a:extLst>
                        <a:ext uri="{9D8B030D-6E8A-4147-A177-3AD203B41FA5}">
                          <a16:colId xmlns:a16="http://schemas.microsoft.com/office/drawing/2014/main" val="2211145501"/>
                        </a:ext>
                      </a:extLst>
                    </a:gridCol>
                    <a:gridCol w="2831891">
                      <a:extLst>
                        <a:ext uri="{9D8B030D-6E8A-4147-A177-3AD203B41FA5}">
                          <a16:colId xmlns:a16="http://schemas.microsoft.com/office/drawing/2014/main" val="767948712"/>
                        </a:ext>
                      </a:extLst>
                    </a:gridCol>
                    <a:gridCol w="2907893">
                      <a:extLst>
                        <a:ext uri="{9D8B030D-6E8A-4147-A177-3AD203B41FA5}">
                          <a16:colId xmlns:a16="http://schemas.microsoft.com/office/drawing/2014/main" val="1809051212"/>
                        </a:ext>
                      </a:extLst>
                    </a:gridCol>
                    <a:gridCol w="1102443">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4199"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413235"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164384" r="-141720"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164384" r="-37866"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413235"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262585" r="-141720"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262585" r="-37866"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413235"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710667" r="-141720"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710667" r="-37866"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413235"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552727" r="-141720"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552727" r="-37866"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71271"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pic>
        <p:nvPicPr>
          <p:cNvPr id="13" name="圖片 12">
            <a:extLst>
              <a:ext uri="{FF2B5EF4-FFF2-40B4-BE49-F238E27FC236}">
                <a16:creationId xmlns:a16="http://schemas.microsoft.com/office/drawing/2014/main" id="{2B189A7E-505F-ADE9-8E91-CD35493F2859}"/>
              </a:ext>
            </a:extLst>
          </p:cNvPr>
          <p:cNvPicPr>
            <a:picLocks noChangeAspect="1"/>
          </p:cNvPicPr>
          <p:nvPr/>
        </p:nvPicPr>
        <p:blipFill>
          <a:blip r:embed="rId6"/>
          <a:stretch>
            <a:fillRect/>
          </a:stretch>
        </p:blipFill>
        <p:spPr>
          <a:xfrm>
            <a:off x="6380769" y="3268354"/>
            <a:ext cx="994846" cy="615170"/>
          </a:xfrm>
          <a:prstGeom prst="rect">
            <a:avLst/>
          </a:prstGeom>
        </p:spPr>
      </p:pic>
      <p:pic>
        <p:nvPicPr>
          <p:cNvPr id="15" name="圖片 14">
            <a:extLst>
              <a:ext uri="{FF2B5EF4-FFF2-40B4-BE49-F238E27FC236}">
                <a16:creationId xmlns:a16="http://schemas.microsoft.com/office/drawing/2014/main" id="{8B3F7023-86A5-86C6-BCA1-ABE50B1D7DDB}"/>
              </a:ext>
            </a:extLst>
          </p:cNvPr>
          <p:cNvPicPr>
            <a:picLocks noChangeAspect="1"/>
          </p:cNvPicPr>
          <p:nvPr/>
        </p:nvPicPr>
        <p:blipFill>
          <a:blip r:embed="rId7"/>
          <a:stretch>
            <a:fillRect/>
          </a:stretch>
        </p:blipFill>
        <p:spPr>
          <a:xfrm>
            <a:off x="3195481" y="3321282"/>
            <a:ext cx="1068767" cy="562242"/>
          </a:xfrm>
          <a:prstGeom prst="rect">
            <a:avLst/>
          </a:prstGeom>
        </p:spPr>
      </p:pic>
      <mc:AlternateContent xmlns:mc="http://schemas.openxmlformats.org/markup-compatibility/2006" xmlns:a14="http://schemas.microsoft.com/office/drawing/2010/main">
        <mc:Choice Requires="a14">
          <p:sp>
            <p:nvSpPr>
              <p:cNvPr id="19" name="文字方塊 18">
                <a:extLst>
                  <a:ext uri="{FF2B5EF4-FFF2-40B4-BE49-F238E27FC236}">
                    <a16:creationId xmlns:a16="http://schemas.microsoft.com/office/drawing/2014/main" id="{36C3DCCE-5704-9750-F478-419CFFFF27A6}"/>
                  </a:ext>
                </a:extLst>
              </p:cNvPr>
              <p:cNvSpPr txBox="1"/>
              <p:nvPr/>
            </p:nvSpPr>
            <p:spPr>
              <a:xfrm>
                <a:off x="6588224" y="1089229"/>
                <a:ext cx="1421904" cy="539571"/>
              </a:xfrm>
              <a:prstGeom prst="rect">
                <a:avLst/>
              </a:prstGeom>
              <a:noFill/>
            </p:spPr>
            <p:txBody>
              <a:bodyPr wrap="square">
                <a:spAutoFit/>
              </a:bodyPr>
              <a:lstStyle/>
              <a:p>
                <a:pPr/>
                <a14:m>
                  <m:oMathPara xmlns:m="http://schemas.openxmlformats.org/officeDocument/2006/math">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oMath>
                  </m:oMathPara>
                </a14:m>
                <a:endParaRPr lang="zh-TW" altLang="en-US" dirty="0"/>
              </a:p>
            </p:txBody>
          </p:sp>
        </mc:Choice>
        <mc:Fallback xmlns="">
          <p:sp>
            <p:nvSpPr>
              <p:cNvPr id="19" name="文字方塊 18">
                <a:extLst>
                  <a:ext uri="{FF2B5EF4-FFF2-40B4-BE49-F238E27FC236}">
                    <a16:creationId xmlns:a16="http://schemas.microsoft.com/office/drawing/2014/main" id="{36C3DCCE-5704-9750-F478-419CFFFF27A6}"/>
                  </a:ext>
                </a:extLst>
              </p:cNvPr>
              <p:cNvSpPr txBox="1">
                <a:spLocks noRot="1" noChangeAspect="1" noMove="1" noResize="1" noEditPoints="1" noAdjustHandles="1" noChangeArrowheads="1" noChangeShapeType="1" noTextEdit="1"/>
              </p:cNvSpPr>
              <p:nvPr/>
            </p:nvSpPr>
            <p:spPr>
              <a:xfrm>
                <a:off x="6588224" y="1089229"/>
                <a:ext cx="1421904" cy="539571"/>
              </a:xfrm>
              <a:prstGeom prst="rect">
                <a:avLst/>
              </a:prstGeom>
              <a:blipFill>
                <a:blip r:embed="rId8"/>
                <a:stretch>
                  <a:fillRect l="-13305" t="-117045" r="-22747" b="-165909"/>
                </a:stretch>
              </a:blipFill>
            </p:spPr>
            <p:txBody>
              <a:bodyPr/>
              <a:lstStyle/>
              <a:p>
                <a:r>
                  <a:rPr lang="zh-TW" altLang="en-US">
                    <a:noFill/>
                  </a:rPr>
                  <a:t> </a:t>
                </a:r>
              </a:p>
            </p:txBody>
          </p:sp>
        </mc:Fallback>
      </mc:AlternateContent>
      <p:sp>
        <p:nvSpPr>
          <p:cNvPr id="23" name="文字方塊 22">
            <a:extLst>
              <a:ext uri="{FF2B5EF4-FFF2-40B4-BE49-F238E27FC236}">
                <a16:creationId xmlns:a16="http://schemas.microsoft.com/office/drawing/2014/main" id="{360BE63E-7EC8-768F-2762-F4EC51AFBB8A}"/>
              </a:ext>
            </a:extLst>
          </p:cNvPr>
          <p:cNvSpPr txBox="1"/>
          <p:nvPr/>
        </p:nvSpPr>
        <p:spPr>
          <a:xfrm>
            <a:off x="7398853" y="2208165"/>
            <a:ext cx="629531" cy="369332"/>
          </a:xfrm>
          <a:prstGeom prst="rect">
            <a:avLst/>
          </a:prstGeom>
          <a:noFill/>
        </p:spPr>
        <p:txBody>
          <a:bodyPr wrap="none" lIns="0" tIns="0" rIns="0" bIns="0" anchor="ctr" anchorCtr="1">
            <a:spAutoFit/>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a:t>
            </a:r>
          </a:p>
        </p:txBody>
      </p:sp>
    </p:spTree>
    <p:extLst>
      <p:ext uri="{BB962C8B-B14F-4D97-AF65-F5344CB8AC3E}">
        <p14:creationId xmlns:p14="http://schemas.microsoft.com/office/powerpoint/2010/main" val="261573525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888378369"/>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60000"/>
                        <a:lumOff val="4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2855625594"/>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708920"/>
            <a:ext cx="2676085" cy="3733339"/>
            <a:chOff x="3029309" y="2457562"/>
            <a:chExt cx="2676085" cy="3733339"/>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457562"/>
              <a:ext cx="2474323" cy="3733339"/>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366219"/>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427273"/>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462003"/>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5735" y="1617401"/>
            <a:ext cx="1610032" cy="109505"/>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2" y="1477746"/>
            <a:ext cx="1613615" cy="139655"/>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275987"/>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282044" y="2137550"/>
            <a:ext cx="504056" cy="141834"/>
          </a:xfrm>
          <a:prstGeom prst="rect">
            <a:avLst/>
          </a:prstGeom>
          <a:noFill/>
        </p:spPr>
        <p:txBody>
          <a:bodyPr wrap="squar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r>
              <a:rPr lang="zh-TW" altLang="en-US" sz="800" dirty="0">
                <a:solidFill>
                  <a:srgbClr val="C00000"/>
                </a:solidFill>
                <a:latin typeface="Consolas" panose="020B0609020204030204" pitchFamily="49" charset="0"/>
                <a:ea typeface="Dotum" panose="020B0600000101010101" pitchFamily="34" charset="-127"/>
              </a:rPr>
              <a:t> </a:t>
            </a: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796136" y="1140570"/>
            <a:ext cx="2004185" cy="1784374"/>
          </a:xfrm>
          <a:prstGeom prst="borderCallout1">
            <a:avLst>
              <a:gd name="adj1" fmla="val 97311"/>
              <a:gd name="adj2" fmla="val 97673"/>
              <a:gd name="adj3" fmla="val 118960"/>
              <a:gd name="adj4" fmla="val 118673"/>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015763714"/>
              </p:ext>
            </p:extLst>
          </p:nvPr>
        </p:nvGraphicFramePr>
        <p:xfrm>
          <a:off x="5796136" y="1135830"/>
          <a:ext cx="2004182" cy="1806654"/>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3009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7057301" y="2645681"/>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524081" y="2776208"/>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6" name="群組 5">
            <a:extLst>
              <a:ext uri="{FF2B5EF4-FFF2-40B4-BE49-F238E27FC236}">
                <a16:creationId xmlns:a16="http://schemas.microsoft.com/office/drawing/2014/main" id="{9B1F7AF4-88D8-4B3F-CECC-393296A65BC4}"/>
              </a:ext>
            </a:extLst>
          </p:cNvPr>
          <p:cNvGrpSpPr/>
          <p:nvPr/>
        </p:nvGrpSpPr>
        <p:grpSpPr>
          <a:xfrm>
            <a:off x="7756336" y="1369729"/>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70409"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a:effectLst>
              <a:glow rad="50800">
                <a:srgbClr val="FFFF00"/>
              </a:glow>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graphicFrame>
        <p:nvGraphicFramePr>
          <p:cNvPr id="35" name="表格 34">
            <a:extLst>
              <a:ext uri="{FF2B5EF4-FFF2-40B4-BE49-F238E27FC236}">
                <a16:creationId xmlns:a16="http://schemas.microsoft.com/office/drawing/2014/main" id="{09E019C2-92F6-EF20-73A3-B334BF3FA378}"/>
              </a:ext>
            </a:extLst>
          </p:cNvPr>
          <p:cNvGraphicFramePr>
            <a:graphicFrameLocks noGrp="1"/>
          </p:cNvGraphicFramePr>
          <p:nvPr>
            <p:extLst>
              <p:ext uri="{D42A27DB-BD31-4B8C-83A1-F6EECF244321}">
                <p14:modId xmlns:p14="http://schemas.microsoft.com/office/powerpoint/2010/main" val="275062629"/>
              </p:ext>
            </p:extLst>
          </p:nvPr>
        </p:nvGraphicFramePr>
        <p:xfrm>
          <a:off x="3332495" y="1041556"/>
          <a:ext cx="2199907" cy="864095"/>
        </p:xfrm>
        <a:graphic>
          <a:graphicData uri="http://schemas.openxmlformats.org/drawingml/2006/table">
            <a:tbl>
              <a:tblPr firstRow="1" bandRow="1">
                <a:tableStyleId>{5C22544A-7EE6-4342-B048-85BDC9FD1C3A}</a:tableStyleId>
              </a:tblPr>
              <a:tblGrid>
                <a:gridCol w="395781">
                  <a:extLst>
                    <a:ext uri="{9D8B030D-6E8A-4147-A177-3AD203B41FA5}">
                      <a16:colId xmlns:a16="http://schemas.microsoft.com/office/drawing/2014/main" val="1907769079"/>
                    </a:ext>
                  </a:extLst>
                </a:gridCol>
                <a:gridCol w="1804126">
                  <a:extLst>
                    <a:ext uri="{9D8B030D-6E8A-4147-A177-3AD203B41FA5}">
                      <a16:colId xmlns:a16="http://schemas.microsoft.com/office/drawing/2014/main" val="4512040"/>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Wafer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5">
                              <a:lumMod val="50000"/>
                            </a:schemeClr>
                          </a:solidFill>
                          <a:effectLst/>
                        </a:rPr>
                        <a:t>RDL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Panel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PCB</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Chip on Wafer on Panel</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341340391"/>
                  </a:ext>
                </a:extLst>
              </a:tr>
              <a:tr h="219833">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 EMIB </a:t>
                      </a:r>
                      <a:r>
                        <a:rPr lang="en-US" altLang="zh-TW" sz="10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a:t>
                      </a:r>
                      <a:r>
                        <a:rPr lang="en-US" altLang="zh-TW" sz="12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b="0" cap="none" spc="0" dirty="0">
                          <a:ln w="0"/>
                          <a:solidFill>
                            <a:schemeClr val="tx1"/>
                          </a:solidFill>
                          <a:effectLst/>
                          <a:sym typeface="Wingdings" panose="05000000000000000000" pitchFamily="2" charset="2"/>
                        </a:rPr>
                        <a:t>CoWoS L</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hMerge="1">
                  <a:txBody>
                    <a:bodyPr/>
                    <a:lstStyle/>
                    <a:p>
                      <a:endParaRPr dirty="0"/>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
        <p:nvSpPr>
          <p:cNvPr id="39" name="文字方塊 38">
            <a:extLst>
              <a:ext uri="{FF2B5EF4-FFF2-40B4-BE49-F238E27FC236}">
                <a16:creationId xmlns:a16="http://schemas.microsoft.com/office/drawing/2014/main" id="{03FDE374-4C12-3AEA-E0E2-C95CBA712F79}"/>
              </a:ext>
            </a:extLst>
          </p:cNvPr>
          <p:cNvSpPr txBox="1"/>
          <p:nvPr/>
        </p:nvSpPr>
        <p:spPr>
          <a:xfrm>
            <a:off x="2189253" y="1895373"/>
            <a:ext cx="997635" cy="93467"/>
          </a:xfrm>
          <a:prstGeom prst="rect">
            <a:avLst/>
          </a:prstGeom>
          <a:solidFill>
            <a:schemeClr val="accent5">
              <a:lumMod val="20000"/>
              <a:lumOff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200"/>
              </a:lnSpc>
              <a:buNone/>
            </a:pPr>
            <a:r>
              <a:rPr lang="en-US" altLang="zh-TW" sz="800" b="1" dirty="0">
                <a:solidFill>
                  <a:schemeClr val="accent5">
                    <a:lumMod val="50000"/>
                  </a:schemeClr>
                </a:solidFill>
              </a:rPr>
              <a:t>RDL</a:t>
            </a:r>
          </a:p>
        </p:txBody>
      </p:sp>
      <p:cxnSp>
        <p:nvCxnSpPr>
          <p:cNvPr id="42" name="直線接點 41">
            <a:extLst>
              <a:ext uri="{FF2B5EF4-FFF2-40B4-BE49-F238E27FC236}">
                <a16:creationId xmlns:a16="http://schemas.microsoft.com/office/drawing/2014/main" id="{1EF9809E-21C1-B5D3-75CC-F99542316F76}"/>
              </a:ext>
            </a:extLst>
          </p:cNvPr>
          <p:cNvCxnSpPr>
            <a:cxnSpLocks/>
            <a:stCxn id="39" idx="3"/>
            <a:endCxn id="35" idx="1"/>
          </p:cNvCxnSpPr>
          <p:nvPr/>
        </p:nvCxnSpPr>
        <p:spPr>
          <a:xfrm flipV="1">
            <a:off x="3186888" y="1473603"/>
            <a:ext cx="145607" cy="468504"/>
          </a:xfrm>
          <a:prstGeom prst="line">
            <a:avLst/>
          </a:prstGeom>
          <a:ln>
            <a:solidFill>
              <a:schemeClr val="accent5">
                <a:lumMod val="60000"/>
                <a:lumOff val="40000"/>
              </a:schemeClr>
            </a:solidFill>
          </a:ln>
        </p:spPr>
        <p:style>
          <a:lnRef idx="1">
            <a:schemeClr val="accent5"/>
          </a:lnRef>
          <a:fillRef idx="0">
            <a:schemeClr val="accent5"/>
          </a:fillRef>
          <a:effectRef idx="0">
            <a:schemeClr val="accent5"/>
          </a:effectRef>
          <a:fontRef idx="minor">
            <a:schemeClr val="tx1"/>
          </a:fontRef>
        </p:style>
      </p:cxnSp>
      <p:sp>
        <p:nvSpPr>
          <p:cNvPr id="21" name="文字方塊 20">
            <a:extLst>
              <a:ext uri="{FF2B5EF4-FFF2-40B4-BE49-F238E27FC236}">
                <a16:creationId xmlns:a16="http://schemas.microsoft.com/office/drawing/2014/main" id="{C1B176B7-CD41-6730-44CB-89F7B0E31DA3}"/>
              </a:ext>
            </a:extLst>
          </p:cNvPr>
          <p:cNvSpPr txBox="1"/>
          <p:nvPr/>
        </p:nvSpPr>
        <p:spPr>
          <a:xfrm>
            <a:off x="2189253" y="1773890"/>
            <a:ext cx="997629" cy="117959"/>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CoPoS</a:t>
            </a:r>
          </a:p>
        </p:txBody>
      </p:sp>
      <p:sp>
        <p:nvSpPr>
          <p:cNvPr id="33" name="文字方塊 32">
            <a:extLst>
              <a:ext uri="{FF2B5EF4-FFF2-40B4-BE49-F238E27FC236}">
                <a16:creationId xmlns:a16="http://schemas.microsoft.com/office/drawing/2014/main" id="{7A2C2642-4D40-0FA0-2713-A1B3B64FACBF}"/>
              </a:ext>
            </a:extLst>
          </p:cNvPr>
          <p:cNvSpPr txBox="1"/>
          <p:nvPr/>
        </p:nvSpPr>
        <p:spPr>
          <a:xfrm>
            <a:off x="2189250" y="1994275"/>
            <a:ext cx="997629" cy="96290"/>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pic>
        <p:nvPicPr>
          <p:cNvPr id="7" name="圖片 6">
            <a:extLst>
              <a:ext uri="{FF2B5EF4-FFF2-40B4-BE49-F238E27FC236}">
                <a16:creationId xmlns:a16="http://schemas.microsoft.com/office/drawing/2014/main" id="{746558AA-835C-3304-AA98-B3CC912719E1}"/>
              </a:ext>
            </a:extLst>
          </p:cNvPr>
          <p:cNvPicPr>
            <a:picLocks noChangeAspect="1"/>
          </p:cNvPicPr>
          <p:nvPr/>
        </p:nvPicPr>
        <p:blipFill>
          <a:blip r:embed="rId3"/>
          <a:stretch>
            <a:fillRect/>
          </a:stretch>
        </p:blipFill>
        <p:spPr>
          <a:xfrm>
            <a:off x="0" y="1016616"/>
            <a:ext cx="9144000" cy="4824768"/>
          </a:xfrm>
          <a:prstGeom prst="rect">
            <a:avLst/>
          </a:prstGeom>
        </p:spPr>
      </p:pic>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ReWOO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Reflexion: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ReWOO:</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5039259"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pSp>
        <p:nvGrpSpPr>
          <p:cNvPr id="18" name="群組 17">
            <a:extLst>
              <a:ext uri="{FF2B5EF4-FFF2-40B4-BE49-F238E27FC236}">
                <a16:creationId xmlns:a16="http://schemas.microsoft.com/office/drawing/2014/main" id="{D1A64FBD-34BC-3434-2AE0-EFE31D2BB5D1}"/>
              </a:ext>
            </a:extLst>
          </p:cNvPr>
          <p:cNvGrpSpPr/>
          <p:nvPr/>
        </p:nvGrpSpPr>
        <p:grpSpPr>
          <a:xfrm>
            <a:off x="6941351" y="2185041"/>
            <a:ext cx="1518309" cy="1602114"/>
            <a:chOff x="6941351" y="2185041"/>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6941351" y="2185041"/>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7468307" y="2992077"/>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7190744" y="2534480"/>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7155607" y="2447675"/>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7037162" y="2447676"/>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7003558" y="2560666"/>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7994359" y="3072266"/>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7613349" y="3431566"/>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7035920" y="3215542"/>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7112132" y="2604414"/>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7737105" y="2629374"/>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7051013" y="2711486"/>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cxnSp>
          <p:nvCxnSpPr>
            <p:cNvPr id="15" name="直線接點 14">
              <a:extLst>
                <a:ext uri="{FF2B5EF4-FFF2-40B4-BE49-F238E27FC236}">
                  <a16:creationId xmlns:a16="http://schemas.microsoft.com/office/drawing/2014/main" id="{7D0B9D13-204D-64C6-3E6F-BD902E09E360}"/>
                </a:ext>
              </a:extLst>
            </p:cNvPr>
            <p:cNvCxnSpPr>
              <a:cxnSpLocks/>
            </p:cNvCxnSpPr>
            <p:nvPr/>
          </p:nvCxnSpPr>
          <p:spPr>
            <a:xfrm flipV="1">
              <a:off x="7550455" y="2682793"/>
              <a:ext cx="86503" cy="168982"/>
            </a:xfrm>
            <a:prstGeom prst="line">
              <a:avLst/>
            </a:prstGeom>
            <a:ln w="254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211960"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11343093"/>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470728">
                  <a:extLst>
                    <a:ext uri="{9D8B030D-6E8A-4147-A177-3AD203B41FA5}">
                      <a16:colId xmlns:a16="http://schemas.microsoft.com/office/drawing/2014/main" val="2211145501"/>
                    </a:ext>
                  </a:extLst>
                </a:gridCol>
                <a:gridCol w="504056">
                  <a:extLst>
                    <a:ext uri="{9D8B030D-6E8A-4147-A177-3AD203B41FA5}">
                      <a16:colId xmlns:a16="http://schemas.microsoft.com/office/drawing/2014/main" val="2862358741"/>
                    </a:ext>
                  </a:extLst>
                </a:gridCol>
                <a:gridCol w="792088">
                  <a:extLst>
                    <a:ext uri="{9D8B030D-6E8A-4147-A177-3AD203B41FA5}">
                      <a16:colId xmlns:a16="http://schemas.microsoft.com/office/drawing/2014/main" val="767948712"/>
                    </a:ext>
                  </a:extLst>
                </a:gridCol>
                <a:gridCol w="864096">
                  <a:extLst>
                    <a:ext uri="{9D8B030D-6E8A-4147-A177-3AD203B41FA5}">
                      <a16:colId xmlns:a16="http://schemas.microsoft.com/office/drawing/2014/main" val="3328686525"/>
                    </a:ext>
                  </a:extLst>
                </a:gridCol>
                <a:gridCol w="1012584">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 </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Layers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3">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vMerge="1">
                  <a:txBody>
                    <a:bodyPr/>
                    <a:lstStyle/>
                    <a:p>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PLE</a:t>
                      </a:r>
                      <a:endParaRPr kumimoji="0" lang="zh-TW" altLang="en-US" sz="1200" b="1" i="0" u="none" strike="noStrike" kern="1200" cap="none" spc="0" normalizeH="0" baseline="0" noProof="0" dirty="0">
                        <a:ln w="0"/>
                        <a:solidFill>
                          <a:schemeClr val="accent6">
                            <a:lumMod val="75000"/>
                          </a:schemeClr>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cxnSp>
        <p:nvCxnSpPr>
          <p:cNvPr id="6" name="直線單箭頭接點 5">
            <a:extLst>
              <a:ext uri="{FF2B5EF4-FFF2-40B4-BE49-F238E27FC236}">
                <a16:creationId xmlns:a16="http://schemas.microsoft.com/office/drawing/2014/main" id="{E83232AB-EF71-5805-B4E7-2C0A4A6434BA}"/>
              </a:ext>
            </a:extLst>
          </p:cNvPr>
          <p:cNvCxnSpPr/>
          <p:nvPr/>
        </p:nvCxnSpPr>
        <p:spPr>
          <a:xfrm flipV="1">
            <a:off x="6444208" y="3001486"/>
            <a:ext cx="0" cy="1014438"/>
          </a:xfrm>
          <a:prstGeom prst="straightConnector1">
            <a:avLst/>
          </a:prstGeom>
          <a:ln w="25400">
            <a:solidFill>
              <a:schemeClr val="accent1">
                <a:lumMod val="75000"/>
              </a:schemeClr>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7" name="直線單箭頭接點 6">
            <a:extLst>
              <a:ext uri="{FF2B5EF4-FFF2-40B4-BE49-F238E27FC236}">
                <a16:creationId xmlns:a16="http://schemas.microsoft.com/office/drawing/2014/main" id="{A09F545F-CCDC-9A94-7C27-90D107FCBDEA}"/>
              </a:ext>
            </a:extLst>
          </p:cNvPr>
          <p:cNvCxnSpPr>
            <a:cxnSpLocks/>
          </p:cNvCxnSpPr>
          <p:nvPr/>
        </p:nvCxnSpPr>
        <p:spPr>
          <a:xfrm>
            <a:off x="6300192" y="3874874"/>
            <a:ext cx="1802876" cy="0"/>
          </a:xfrm>
          <a:prstGeom prst="straightConnector1">
            <a:avLst/>
          </a:prstGeom>
          <a:ln w="25400">
            <a:solidFill>
              <a:schemeClr val="accent1">
                <a:lumMod val="75000"/>
              </a:schemeClr>
            </a:solidFill>
            <a:tailEnd type="triangle" w="med" len="med"/>
          </a:ln>
        </p:spPr>
        <p:style>
          <a:lnRef idx="1">
            <a:schemeClr val="accent1"/>
          </a:lnRef>
          <a:fillRef idx="0">
            <a:schemeClr val="accent1"/>
          </a:fillRef>
          <a:effectRef idx="0">
            <a:schemeClr val="accent1"/>
          </a:effectRef>
          <a:fontRef idx="minor">
            <a:schemeClr val="tx1"/>
          </a:fontRef>
        </p:style>
      </p:cxnSp>
      <p:sp>
        <p:nvSpPr>
          <p:cNvPr id="12" name="矩形 11">
            <a:extLst>
              <a:ext uri="{FF2B5EF4-FFF2-40B4-BE49-F238E27FC236}">
                <a16:creationId xmlns:a16="http://schemas.microsoft.com/office/drawing/2014/main" id="{C63BE8D8-4135-439D-5EB5-55B4B5F8C0EF}"/>
              </a:ext>
            </a:extLst>
          </p:cNvPr>
          <p:cNvSpPr/>
          <p:nvPr/>
        </p:nvSpPr>
        <p:spPr>
          <a:xfrm>
            <a:off x="7236296" y="3433534"/>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12B/31B</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16" name="矩形 15">
            <a:extLst>
              <a:ext uri="{FF2B5EF4-FFF2-40B4-BE49-F238E27FC236}">
                <a16:creationId xmlns:a16="http://schemas.microsoft.com/office/drawing/2014/main" id="{2D8D102A-4F1F-B6D8-BF2F-3B84C45B054B}"/>
              </a:ext>
            </a:extLst>
          </p:cNvPr>
          <p:cNvSpPr/>
          <p:nvPr/>
        </p:nvSpPr>
        <p:spPr>
          <a:xfrm>
            <a:off x="7236296" y="3001486"/>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26B</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2" name="矩形 1">
            <a:extLst>
              <a:ext uri="{FF2B5EF4-FFF2-40B4-BE49-F238E27FC236}">
                <a16:creationId xmlns:a16="http://schemas.microsoft.com/office/drawing/2014/main" id="{54A1F837-0522-FF48-3D64-19DE2061B5D2}"/>
              </a:ext>
            </a:extLst>
          </p:cNvPr>
          <p:cNvSpPr/>
          <p:nvPr/>
        </p:nvSpPr>
        <p:spPr>
          <a:xfrm>
            <a:off x="6577938" y="3433534"/>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E2B/E4B</a:t>
            </a:r>
            <a:b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(PLE)</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22" name="文字方塊 21">
            <a:extLst>
              <a:ext uri="{FF2B5EF4-FFF2-40B4-BE49-F238E27FC236}">
                <a16:creationId xmlns:a16="http://schemas.microsoft.com/office/drawing/2014/main" id="{917B13D3-A367-F8F6-FA15-10F9386ED196}"/>
              </a:ext>
            </a:extLst>
          </p:cNvPr>
          <p:cNvSpPr txBox="1"/>
          <p:nvPr/>
        </p:nvSpPr>
        <p:spPr>
          <a:xfrm>
            <a:off x="6015746" y="3140966"/>
            <a:ext cx="428462" cy="216026"/>
          </a:xfrm>
          <a:prstGeom prst="rect">
            <a:avLst/>
          </a:prstGeom>
          <a:noFill/>
        </p:spPr>
        <p:txBody>
          <a:bodyPr wrap="none" lIns="0" tIns="0" rIns="0" bIns="0" anchor="ctr" anchorCtr="1">
            <a:noAutofit/>
          </a:bodyPr>
          <a:lstStyle/>
          <a:p>
            <a:r>
              <a:rPr lang="en-US" altLang="zh-TW" sz="1200" dirty="0" err="1">
                <a:solidFill>
                  <a:prstClr val="black"/>
                </a:solidFill>
                <a:ea typeface="Cambria Math" panose="02040503050406030204" pitchFamily="18" charset="0"/>
              </a:rPr>
              <a:t>MoE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2EB118FD-3B34-D0E5-0D42-FC482A8235EB}"/>
              </a:ext>
            </a:extLst>
          </p:cNvPr>
          <p:cNvSpPr txBox="1"/>
          <p:nvPr/>
        </p:nvSpPr>
        <p:spPr>
          <a:xfrm>
            <a:off x="6015745" y="3501008"/>
            <a:ext cx="428463"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Dense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2" name="文字方塊 31">
            <a:extLst>
              <a:ext uri="{FF2B5EF4-FFF2-40B4-BE49-F238E27FC236}">
                <a16:creationId xmlns:a16="http://schemas.microsoft.com/office/drawing/2014/main" id="{87CF4B06-56F9-5DD9-59CB-1BB5213F5BFF}"/>
              </a:ext>
            </a:extLst>
          </p:cNvPr>
          <p:cNvSpPr txBox="1"/>
          <p:nvPr/>
        </p:nvSpPr>
        <p:spPr>
          <a:xfrm>
            <a:off x="1763688" y="6392361"/>
            <a:ext cx="487445" cy="27699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MTP</a:t>
            </a:r>
            <a:endParaRPr kumimoji="0" lang="zh-TW" altLang="en-US" sz="1200" b="1" i="0" u="none" strike="noStrike" kern="1200" cap="none" spc="0" normalizeH="0" baseline="0" noProof="0" dirty="0">
              <a:ln w="0"/>
              <a:solidFill>
                <a:schemeClr val="accent6">
                  <a:lumMod val="75000"/>
                </a:schemeClr>
              </a:solidFill>
              <a:effectLst/>
              <a:uLnTx/>
              <a:uFillTx/>
              <a:latin typeface="+mn-lt"/>
              <a:ea typeface="+mn-ea"/>
              <a:cs typeface="+mn-cs"/>
            </a:endParaRPr>
          </a:p>
        </p:txBody>
      </p:sp>
      <p:sp>
        <p:nvSpPr>
          <p:cNvPr id="34" name="矩形: 圓角 33">
            <a:extLst>
              <a:ext uri="{FF2B5EF4-FFF2-40B4-BE49-F238E27FC236}">
                <a16:creationId xmlns:a16="http://schemas.microsoft.com/office/drawing/2014/main" id="{D5090950-DAC8-7293-F5BD-57F1E83032F8}"/>
              </a:ext>
            </a:extLst>
          </p:cNvPr>
          <p:cNvSpPr/>
          <p:nvPr/>
        </p:nvSpPr>
        <p:spPr>
          <a:xfrm>
            <a:off x="1780299" y="4725144"/>
            <a:ext cx="487445" cy="1675772"/>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1BB2F-45C9-4DCF-22D2-CE8DB3062763}"/>
            </a:ext>
          </a:extLst>
        </p:cNvPr>
        <p:cNvGrpSpPr/>
        <p:nvPr/>
      </p:nvGrpSpPr>
      <p:grpSpPr>
        <a:xfrm>
          <a:off x="0" y="0"/>
          <a:ext cx="0" cy="0"/>
          <a:chOff x="0" y="0"/>
          <a:chExt cx="0" cy="0"/>
        </a:xfrm>
      </p:grpSpPr>
      <p:sp>
        <p:nvSpPr>
          <p:cNvPr id="61" name="矩形: 圓角 60">
            <a:extLst>
              <a:ext uri="{FF2B5EF4-FFF2-40B4-BE49-F238E27FC236}">
                <a16:creationId xmlns:a16="http://schemas.microsoft.com/office/drawing/2014/main" id="{5A88E48D-B52B-E48D-6640-1A585B7A6A98}"/>
              </a:ext>
            </a:extLst>
          </p:cNvPr>
          <p:cNvSpPr/>
          <p:nvPr/>
        </p:nvSpPr>
        <p:spPr>
          <a:xfrm>
            <a:off x="3861813" y="3778494"/>
            <a:ext cx="2688241" cy="864096"/>
          </a:xfrm>
          <a:prstGeom prst="roundRect">
            <a:avLst>
              <a:gd name="adj" fmla="val 10053"/>
            </a:avLst>
          </a:prstGeom>
          <a:solidFill>
            <a:schemeClr val="bg1">
              <a:lumMod val="95000"/>
              <a:alpha val="40000"/>
            </a:scheme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731520" tIns="0" rIns="0" bIns="0" rtlCol="0" anchor="ctr"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Target</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p>
          <a:p>
            <a:pPr algn="ctr"/>
            <a:r>
              <a:rPr lang="en-US" altLang="zh-TW" sz="1000" dirty="0">
                <a:solidFill>
                  <a:schemeClr val="tx1"/>
                </a:solidFill>
                <a:cs typeface="ADLaM Display" panose="02010000000000000000" pitchFamily="2" charset="0"/>
              </a:rPr>
              <a:t>(30~60 Layers)</a:t>
            </a:r>
            <a:endParaRPr lang="zh-TW" altLang="en-US" sz="1000" dirty="0">
              <a:solidFill>
                <a:schemeClr val="tx1"/>
              </a:solidFill>
              <a:cs typeface="ADLaM Display" panose="02010000000000000000" pitchFamily="2" charset="0"/>
            </a:endParaRPr>
          </a:p>
        </p:txBody>
      </p:sp>
      <p:sp>
        <p:nvSpPr>
          <p:cNvPr id="39" name="文字方塊 38">
            <a:extLst>
              <a:ext uri="{FF2B5EF4-FFF2-40B4-BE49-F238E27FC236}">
                <a16:creationId xmlns:a16="http://schemas.microsoft.com/office/drawing/2014/main" id="{568739E1-C768-17E6-92CB-79EEA4DE438C}"/>
              </a:ext>
            </a:extLst>
          </p:cNvPr>
          <p:cNvSpPr txBox="1"/>
          <p:nvPr/>
        </p:nvSpPr>
        <p:spPr>
          <a:xfrm>
            <a:off x="179510" y="5889466"/>
            <a:ext cx="8784976" cy="707886"/>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solidFill>
                  <a:schemeClr val="tx1">
                    <a:lumMod val="50000"/>
                    <a:lumOff val="50000"/>
                  </a:schemeClr>
                </a:solidFill>
                <a:effectLst/>
              </a:rPr>
              <a:t>Next</a:t>
            </a:r>
          </a:p>
          <a:p>
            <a:pPr marL="285750" indent="-285750">
              <a:lnSpc>
                <a:spcPts val="1800"/>
              </a:lnSpc>
              <a:spcBef>
                <a:spcPts val="600"/>
              </a:spcBef>
              <a:spcAft>
                <a:spcPts val="600"/>
              </a:spcAft>
              <a:buFont typeface="Wingdings" panose="05000000000000000000" pitchFamily="2" charset="2"/>
              <a:buChar char="Ø"/>
            </a:pPr>
            <a:r>
              <a:rPr lang="en-US" altLang="zh-TW" sz="1600" b="1" dirty="0">
                <a:solidFill>
                  <a:schemeClr val="tx1">
                    <a:lumMod val="50000"/>
                    <a:lumOff val="50000"/>
                  </a:schemeClr>
                </a:solidFill>
              </a:rPr>
              <a:t>Gemma 4 + Gemini Diffusion</a:t>
            </a:r>
            <a:r>
              <a:rPr lang="en-US" altLang="zh-TW" sz="1600" dirty="0">
                <a:solidFill>
                  <a:schemeClr val="tx1">
                    <a:lumMod val="50000"/>
                    <a:lumOff val="50000"/>
                  </a:schemeClr>
                </a:solidFill>
              </a:rPr>
              <a:t>: Generate sequentially  </a:t>
            </a:r>
            <a:r>
              <a:rPr lang="en-US" altLang="zh-TW" sz="1600" dirty="0">
                <a:solidFill>
                  <a:schemeClr val="tx1">
                    <a:lumMod val="50000"/>
                    <a:lumOff val="50000"/>
                  </a:schemeClr>
                </a:solidFill>
                <a:sym typeface="Wingdings" panose="05000000000000000000" pitchFamily="2" charset="2"/>
              </a:rPr>
              <a:t>   </a:t>
            </a:r>
            <a:r>
              <a:rPr lang="en-US" altLang="zh-TW" sz="1600" dirty="0">
                <a:solidFill>
                  <a:schemeClr val="tx1">
                    <a:lumMod val="50000"/>
                    <a:lumOff val="50000"/>
                  </a:schemeClr>
                </a:solidFill>
              </a:rPr>
              <a:t>Parallel block refinement. </a:t>
            </a:r>
          </a:p>
        </p:txBody>
      </p:sp>
      <p:sp>
        <p:nvSpPr>
          <p:cNvPr id="3" name="標題 1">
            <a:extLst>
              <a:ext uri="{FF2B5EF4-FFF2-40B4-BE49-F238E27FC236}">
                <a16:creationId xmlns:a16="http://schemas.microsoft.com/office/drawing/2014/main" id="{D84E135E-560E-2431-FC70-7779E3A5036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oken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redication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MTP breaks the single-token autoregressive limit.</a:t>
            </a:r>
          </a:p>
        </p:txBody>
      </p:sp>
      <p:sp>
        <p:nvSpPr>
          <p:cNvPr id="8" name="文字方塊 7">
            <a:extLst>
              <a:ext uri="{FF2B5EF4-FFF2-40B4-BE49-F238E27FC236}">
                <a16:creationId xmlns:a16="http://schemas.microsoft.com/office/drawing/2014/main" id="{BD9A7B6B-0FB9-13EC-8BD2-B3B9E0AFADAE}"/>
              </a:ext>
            </a:extLst>
          </p:cNvPr>
          <p:cNvSpPr txBox="1"/>
          <p:nvPr/>
        </p:nvSpPr>
        <p:spPr>
          <a:xfrm>
            <a:off x="179510" y="1377042"/>
            <a:ext cx="8784976" cy="1477328"/>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Traditional LM</a:t>
            </a:r>
            <a:r>
              <a:rPr lang="en-US" altLang="zh-TW" sz="1600" dirty="0"/>
              <a:t>: Massive initial prefill phase,  single-token autoregressive decoding.</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MTP</a:t>
            </a:r>
            <a:r>
              <a:rPr lang="en-US" altLang="zh-TW" sz="1600" dirty="0"/>
              <a:t>: Shared KV-cache, tree attention, processes 12 tokens per layer, parallel verification.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Benefit: </a:t>
            </a:r>
            <a:r>
              <a:rPr lang="en-US" altLang="zh-TW" sz="1600" dirty="0"/>
              <a:t>Zero-prefill latency for all subsequent candidate tokens.</a:t>
            </a:r>
          </a:p>
        </p:txBody>
      </p:sp>
      <p:sp>
        <p:nvSpPr>
          <p:cNvPr id="45" name="矩形: 圓角 44">
            <a:extLst>
              <a:ext uri="{FF2B5EF4-FFF2-40B4-BE49-F238E27FC236}">
                <a16:creationId xmlns:a16="http://schemas.microsoft.com/office/drawing/2014/main" id="{C47303AB-CC78-3E3D-AA29-57163C0B7720}"/>
              </a:ext>
            </a:extLst>
          </p:cNvPr>
          <p:cNvSpPr/>
          <p:nvPr/>
        </p:nvSpPr>
        <p:spPr>
          <a:xfrm>
            <a:off x="1403648" y="3942534"/>
            <a:ext cx="504056" cy="492888"/>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000" dirty="0">
                <a:solidFill>
                  <a:schemeClr val="tx1"/>
                </a:solidFill>
                <a:latin typeface="ADLaM Display" panose="02010000000000000000" pitchFamily="2" charset="0"/>
                <a:cs typeface="ADLaM Display" panose="02010000000000000000" pitchFamily="2" charset="0"/>
              </a:rPr>
              <a:t>Drafter</a:t>
            </a:r>
          </a:p>
          <a:p>
            <a:pPr algn="ctr"/>
            <a:r>
              <a:rPr lang="en-US" altLang="zh-TW" sz="1000" dirty="0">
                <a:solidFill>
                  <a:schemeClr val="tx1"/>
                </a:solidFill>
                <a:latin typeface="ADLaM Display" panose="02010000000000000000" pitchFamily="2" charset="0"/>
                <a:cs typeface="ADLaM Display" panose="02010000000000000000" pitchFamily="2" charset="0"/>
              </a:rPr>
              <a:t>Model</a:t>
            </a:r>
          </a:p>
          <a:p>
            <a:pPr algn="ctr"/>
            <a:r>
              <a:rPr lang="en-US" altLang="zh-TW" sz="800" dirty="0">
                <a:solidFill>
                  <a:schemeClr val="tx1"/>
                </a:solidFill>
                <a:latin typeface="ADLaM Display" panose="02010000000000000000" pitchFamily="2" charset="0"/>
                <a:cs typeface="ADLaM Display" panose="02010000000000000000" pitchFamily="2" charset="0"/>
              </a:rPr>
              <a:t>(4 Layers)</a:t>
            </a:r>
            <a:endParaRPr lang="zh-TW" altLang="en-US" sz="800" dirty="0">
              <a:solidFill>
                <a:schemeClr val="tx1"/>
              </a:solidFill>
              <a:latin typeface="ADLaM Display" panose="02010000000000000000" pitchFamily="2" charset="0"/>
              <a:cs typeface="ADLaM Display" panose="02010000000000000000" pitchFamily="2" charset="0"/>
            </a:endParaRPr>
          </a:p>
        </p:txBody>
      </p:sp>
      <p:sp>
        <p:nvSpPr>
          <p:cNvPr id="48" name="矩形 47">
            <a:extLst>
              <a:ext uri="{FF2B5EF4-FFF2-40B4-BE49-F238E27FC236}">
                <a16:creationId xmlns:a16="http://schemas.microsoft.com/office/drawing/2014/main" id="{6AA1BDFE-7C72-CE53-B185-C9BFE01C1476}"/>
              </a:ext>
            </a:extLst>
          </p:cNvPr>
          <p:cNvSpPr/>
          <p:nvPr/>
        </p:nvSpPr>
        <p:spPr>
          <a:xfrm>
            <a:off x="683568" y="399451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51" name="矩形: 圓角 50">
            <a:extLst>
              <a:ext uri="{FF2B5EF4-FFF2-40B4-BE49-F238E27FC236}">
                <a16:creationId xmlns:a16="http://schemas.microsoft.com/office/drawing/2014/main" id="{9E22C4DC-B23A-B0CB-8A30-3DA19108122B}"/>
              </a:ext>
            </a:extLst>
          </p:cNvPr>
          <p:cNvSpPr/>
          <p:nvPr/>
        </p:nvSpPr>
        <p:spPr>
          <a:xfrm>
            <a:off x="2271961" y="3793645"/>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53" name="文字方塊 52">
            <a:extLst>
              <a:ext uri="{FF2B5EF4-FFF2-40B4-BE49-F238E27FC236}">
                <a16:creationId xmlns:a16="http://schemas.microsoft.com/office/drawing/2014/main" id="{B5CD0D50-A1D9-BAC1-7586-E02DC6AE1A76}"/>
              </a:ext>
            </a:extLst>
          </p:cNvPr>
          <p:cNvSpPr txBox="1"/>
          <p:nvPr/>
        </p:nvSpPr>
        <p:spPr>
          <a:xfrm>
            <a:off x="1763688" y="3145573"/>
            <a:ext cx="899391" cy="432048"/>
          </a:xfrm>
          <a:prstGeom prst="rect">
            <a:avLst/>
          </a:prstGeom>
          <a:noFill/>
        </p:spPr>
        <p:txBody>
          <a:bodyPr wrap="none" lIns="0" tIns="0" rIns="0" bIns="0" anchor="t" anchorCtr="1">
            <a:noAutofit/>
          </a:bodyPr>
          <a:lstStyle/>
          <a:p>
            <a:r>
              <a:rPr lang="en-US" altLang="zh-TW" sz="1200" b="1" dirty="0">
                <a:solidFill>
                  <a:prstClr val="black"/>
                </a:solidFill>
                <a:ea typeface="Cambria Math" panose="02040503050406030204" pitchFamily="18" charset="0"/>
              </a:rPr>
              <a:t>Speculative</a:t>
            </a:r>
          </a:p>
          <a:p>
            <a: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t>Decoding</a:t>
            </a:r>
            <a:b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br>
            <a:r>
              <a:rPr lang="en-US" altLang="zh-TW" sz="1200" dirty="0">
                <a:solidFill>
                  <a:prstClr val="black"/>
                </a:solidFill>
                <a:ea typeface="Cambria Math" panose="02040503050406030204" pitchFamily="18" charset="0"/>
              </a:rPr>
              <a:t>(Tokens: n=4)</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矩形: 圓角 65">
            <a:extLst>
              <a:ext uri="{FF2B5EF4-FFF2-40B4-BE49-F238E27FC236}">
                <a16:creationId xmlns:a16="http://schemas.microsoft.com/office/drawing/2014/main" id="{62549C96-57A6-8E49-C72C-979C7315D3D7}"/>
              </a:ext>
            </a:extLst>
          </p:cNvPr>
          <p:cNvSpPr/>
          <p:nvPr/>
        </p:nvSpPr>
        <p:spPr>
          <a:xfrm>
            <a:off x="2267744" y="4083084"/>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68" name="矩形: 圓角 67">
            <a:extLst>
              <a:ext uri="{FF2B5EF4-FFF2-40B4-BE49-F238E27FC236}">
                <a16:creationId xmlns:a16="http://schemas.microsoft.com/office/drawing/2014/main" id="{9BF39325-6633-3473-EC0D-37CF40B3796B}"/>
              </a:ext>
            </a:extLst>
          </p:cNvPr>
          <p:cNvSpPr/>
          <p:nvPr/>
        </p:nvSpPr>
        <p:spPr>
          <a:xfrm>
            <a:off x="2267744" y="4369709"/>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cxnSp>
        <p:nvCxnSpPr>
          <p:cNvPr id="76" name="接點: 肘形 75">
            <a:extLst>
              <a:ext uri="{FF2B5EF4-FFF2-40B4-BE49-F238E27FC236}">
                <a16:creationId xmlns:a16="http://schemas.microsoft.com/office/drawing/2014/main" id="{CBE0D687-6904-CD48-E1F7-D1BFA75F08C0}"/>
              </a:ext>
            </a:extLst>
          </p:cNvPr>
          <p:cNvCxnSpPr>
            <a:cxnSpLocks/>
            <a:stCxn id="45" idx="3"/>
            <a:endCxn id="51" idx="1"/>
          </p:cNvCxnSpPr>
          <p:nvPr/>
        </p:nvCxnSpPr>
        <p:spPr>
          <a:xfrm flipV="1">
            <a:off x="1907704" y="3901657"/>
            <a:ext cx="364257" cy="28732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C85CF2B-F192-D938-C526-21161F0AD8C6}"/>
              </a:ext>
            </a:extLst>
          </p:cNvPr>
          <p:cNvCxnSpPr>
            <a:cxnSpLocks/>
            <a:stCxn id="45" idx="3"/>
            <a:endCxn id="68" idx="1"/>
          </p:cNvCxnSpPr>
          <p:nvPr/>
        </p:nvCxnSpPr>
        <p:spPr>
          <a:xfrm>
            <a:off x="1907704" y="4188978"/>
            <a:ext cx="360040" cy="28874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直線單箭頭接點 81">
            <a:extLst>
              <a:ext uri="{FF2B5EF4-FFF2-40B4-BE49-F238E27FC236}">
                <a16:creationId xmlns:a16="http://schemas.microsoft.com/office/drawing/2014/main" id="{2A585DA7-3040-054D-5C25-75C150386D5A}"/>
              </a:ext>
            </a:extLst>
          </p:cNvPr>
          <p:cNvCxnSpPr>
            <a:cxnSpLocks/>
            <a:stCxn id="45" idx="3"/>
            <a:endCxn id="66" idx="1"/>
          </p:cNvCxnSpPr>
          <p:nvPr/>
        </p:nvCxnSpPr>
        <p:spPr>
          <a:xfrm>
            <a:off x="1907704" y="4188978"/>
            <a:ext cx="360040" cy="21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6" name="文字方塊 85">
            <a:extLst>
              <a:ext uri="{FF2B5EF4-FFF2-40B4-BE49-F238E27FC236}">
                <a16:creationId xmlns:a16="http://schemas.microsoft.com/office/drawing/2014/main" id="{E9EE2942-ABD2-5BD4-E744-D02D15505AAD}"/>
              </a:ext>
            </a:extLst>
          </p:cNvPr>
          <p:cNvSpPr txBox="1"/>
          <p:nvPr/>
        </p:nvSpPr>
        <p:spPr>
          <a:xfrm>
            <a:off x="1265367" y="4555624"/>
            <a:ext cx="787214" cy="318141"/>
          </a:xfrm>
          <a:prstGeom prst="rect">
            <a:avLst/>
          </a:prstGeom>
          <a:noFill/>
        </p:spPr>
        <p:txBody>
          <a:bodyPr wrap="none" lIns="0" tIns="0" rIns="0" bIns="0" anchor="ctr" anchorCtr="1">
            <a:noAutofit/>
          </a:bodyPr>
          <a:lstStyle/>
          <a:p>
            <a:pPr algn="ctr"/>
            <a:r>
              <a:rPr lang="en-US" altLang="zh-TW" sz="1000" dirty="0">
                <a:solidFill>
                  <a:prstClr val="black"/>
                </a:solidFill>
                <a:ea typeface="Cambria Math" panose="02040503050406030204" pitchFamily="18" charset="0"/>
              </a:rPr>
              <a:t>3 SWA + 1</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Full Attention</a:t>
            </a:r>
          </a:p>
        </p:txBody>
      </p:sp>
      <p:sp>
        <p:nvSpPr>
          <p:cNvPr id="58" name="文字方塊 57">
            <a:extLst>
              <a:ext uri="{FF2B5EF4-FFF2-40B4-BE49-F238E27FC236}">
                <a16:creationId xmlns:a16="http://schemas.microsoft.com/office/drawing/2014/main" id="{65BA10AA-33E3-ECA2-4515-138A0D1409A1}"/>
              </a:ext>
            </a:extLst>
          </p:cNvPr>
          <p:cNvSpPr txBox="1"/>
          <p:nvPr/>
        </p:nvSpPr>
        <p:spPr>
          <a:xfrm>
            <a:off x="6842021" y="5226923"/>
            <a:ext cx="685868" cy="212972"/>
          </a:xfrm>
          <a:prstGeom prst="rect">
            <a:avLst/>
          </a:prstGeom>
          <a:noFill/>
        </p:spPr>
        <p:txBody>
          <a:bodyPr wrap="none" lIns="0" tIns="0" rIns="0" bIns="0" anchor="t" anchorCtr="1">
            <a:noAutofit/>
          </a:bodyPr>
          <a:lstStyle/>
          <a:p>
            <a:r>
              <a:rPr lang="en-US" altLang="zh-TW" sz="1200" b="1" dirty="0">
                <a:solidFill>
                  <a:prstClr val="black"/>
                </a:solidFill>
                <a:ea typeface="Cambria Math" panose="02040503050406030204" pitchFamily="18" charset="0"/>
              </a:rPr>
              <a:t>Verify</a:t>
            </a:r>
            <a:endPar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4" name="矩形 63">
            <a:extLst>
              <a:ext uri="{FF2B5EF4-FFF2-40B4-BE49-F238E27FC236}">
                <a16:creationId xmlns:a16="http://schemas.microsoft.com/office/drawing/2014/main" id="{939139B8-4151-0F3D-2D0F-B01B422C961E}"/>
              </a:ext>
            </a:extLst>
          </p:cNvPr>
          <p:cNvSpPr/>
          <p:nvPr/>
        </p:nvSpPr>
        <p:spPr>
          <a:xfrm>
            <a:off x="7808029" y="399451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 name="矩形: 圓角 20">
            <a:extLst>
              <a:ext uri="{FF2B5EF4-FFF2-40B4-BE49-F238E27FC236}">
                <a16:creationId xmlns:a16="http://schemas.microsoft.com/office/drawing/2014/main" id="{E8F23508-73DC-B988-D769-DF53C8FA5F17}"/>
              </a:ext>
            </a:extLst>
          </p:cNvPr>
          <p:cNvSpPr/>
          <p:nvPr/>
        </p:nvSpPr>
        <p:spPr>
          <a:xfrm rot="5400000">
            <a:off x="6123692" y="4106049"/>
            <a:ext cx="864095" cy="208985"/>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Activation</a:t>
            </a:r>
          </a:p>
        </p:txBody>
      </p:sp>
      <p:sp>
        <p:nvSpPr>
          <p:cNvPr id="23" name="文字方塊 22">
            <a:extLst>
              <a:ext uri="{FF2B5EF4-FFF2-40B4-BE49-F238E27FC236}">
                <a16:creationId xmlns:a16="http://schemas.microsoft.com/office/drawing/2014/main" id="{8144EF48-152D-DBF5-EE06-EF908A7D871F}"/>
              </a:ext>
            </a:extLst>
          </p:cNvPr>
          <p:cNvSpPr txBox="1"/>
          <p:nvPr/>
        </p:nvSpPr>
        <p:spPr>
          <a:xfrm>
            <a:off x="2267744" y="4657741"/>
            <a:ext cx="787214" cy="143575"/>
          </a:xfrm>
          <a:prstGeom prst="rect">
            <a:avLst/>
          </a:prstGeom>
          <a:noFill/>
        </p:spPr>
        <p:txBody>
          <a:bodyPr wrap="none" lIns="0" tIns="0" rIns="0" bIns="0" anchor="ctr" anchorCtr="1">
            <a:noAutofit/>
          </a:bodyPr>
          <a:lstStyle/>
          <a:p>
            <a:pPr algn="ctr"/>
            <a:r>
              <a:rPr lang="en-US" altLang="zh-TW" sz="1000" dirty="0">
                <a:solidFill>
                  <a:prstClr val="black"/>
                </a:solidFill>
                <a:ea typeface="Cambria Math" panose="02040503050406030204" pitchFamily="18" charset="0"/>
              </a:rPr>
              <a:t>3 x 4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26" name="接點: 弧形 25">
            <a:extLst>
              <a:ext uri="{FF2B5EF4-FFF2-40B4-BE49-F238E27FC236}">
                <a16:creationId xmlns:a16="http://schemas.microsoft.com/office/drawing/2014/main" id="{FACABAC5-E7A6-DF00-3BE7-561EA59783EC}"/>
              </a:ext>
            </a:extLst>
          </p:cNvPr>
          <p:cNvCxnSpPr>
            <a:cxnSpLocks/>
            <a:stCxn id="17" idx="3"/>
            <a:endCxn id="64" idx="2"/>
          </p:cNvCxnSpPr>
          <p:nvPr/>
        </p:nvCxnSpPr>
        <p:spPr>
          <a:xfrm flipV="1">
            <a:off x="7691904" y="4387673"/>
            <a:ext cx="298311" cy="447284"/>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17" name="表格 16">
            <a:extLst>
              <a:ext uri="{FF2B5EF4-FFF2-40B4-BE49-F238E27FC236}">
                <a16:creationId xmlns:a16="http://schemas.microsoft.com/office/drawing/2014/main" id="{A1E2A3C6-DA7E-4478-D82B-99978EB4CDD2}"/>
              </a:ext>
            </a:extLst>
          </p:cNvPr>
          <p:cNvGraphicFramePr>
            <a:graphicFrameLocks noGrp="1"/>
          </p:cNvGraphicFramePr>
          <p:nvPr>
            <p:extLst>
              <p:ext uri="{D42A27DB-BD31-4B8C-83A1-F6EECF244321}">
                <p14:modId xmlns:p14="http://schemas.microsoft.com/office/powerpoint/2010/main" val="89489451"/>
              </p:ext>
            </p:extLst>
          </p:nvPr>
        </p:nvGraphicFramePr>
        <p:xfrm>
          <a:off x="6739612" y="4745597"/>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3</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9" name="表格 18">
            <a:extLst>
              <a:ext uri="{FF2B5EF4-FFF2-40B4-BE49-F238E27FC236}">
                <a16:creationId xmlns:a16="http://schemas.microsoft.com/office/drawing/2014/main" id="{63593A38-C228-9EF8-6497-272201A1E056}"/>
              </a:ext>
            </a:extLst>
          </p:cNvPr>
          <p:cNvGraphicFramePr>
            <a:graphicFrameLocks noGrp="1"/>
          </p:cNvGraphicFramePr>
          <p:nvPr>
            <p:extLst>
              <p:ext uri="{D42A27DB-BD31-4B8C-83A1-F6EECF244321}">
                <p14:modId xmlns:p14="http://schemas.microsoft.com/office/powerpoint/2010/main" val="2961520085"/>
              </p:ext>
            </p:extLst>
          </p:nvPr>
        </p:nvGraphicFramePr>
        <p:xfrm>
          <a:off x="6739612" y="4979085"/>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cs typeface="ADLaM Display" panose="02010000000000000000" pitchFamily="2" charset="0"/>
                        </a:rPr>
                        <a:t>3</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5" name="文字方塊 24">
            <a:extLst>
              <a:ext uri="{FF2B5EF4-FFF2-40B4-BE49-F238E27FC236}">
                <a16:creationId xmlns:a16="http://schemas.microsoft.com/office/drawing/2014/main" id="{5762A22A-16A3-448F-690C-5CF505056B40}"/>
              </a:ext>
            </a:extLst>
          </p:cNvPr>
          <p:cNvSpPr txBox="1"/>
          <p:nvPr/>
        </p:nvSpPr>
        <p:spPr>
          <a:xfrm>
            <a:off x="4922168" y="6340961"/>
            <a:ext cx="153888" cy="184666"/>
          </a:xfrm>
          <a:prstGeom prst="rect">
            <a:avLst/>
          </a:prstGeom>
          <a:noFill/>
        </p:spPr>
        <p:txBody>
          <a:bodyPr wrap="none" lIns="0" tIns="0" rIns="0" bIns="0" anchor="ctr" anchorCtr="1">
            <a:spAutoFit/>
          </a:bodyPr>
          <a:lstStyle/>
          <a:p>
            <a:r>
              <a:rPr kumimoji="0" lang="zh-TW"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a:t>
            </a:r>
            <a:endParaRPr lang="zh-TW" altLang="en-US" dirty="0">
              <a:latin typeface="Noto Sans HK" panose="020B0200000000000000" pitchFamily="34" charset="-120"/>
              <a:ea typeface="Noto Sans HK" panose="020B0200000000000000" pitchFamily="34" charset="-120"/>
            </a:endParaRPr>
          </a:p>
        </p:txBody>
      </p:sp>
      <p:sp>
        <p:nvSpPr>
          <p:cNvPr id="84" name="矩形 83">
            <a:extLst>
              <a:ext uri="{FF2B5EF4-FFF2-40B4-BE49-F238E27FC236}">
                <a16:creationId xmlns:a16="http://schemas.microsoft.com/office/drawing/2014/main" id="{8FBD71DA-F9C3-EF21-B37E-21EEC4D3134B}"/>
              </a:ext>
            </a:extLst>
          </p:cNvPr>
          <p:cNvSpPr/>
          <p:nvPr/>
        </p:nvSpPr>
        <p:spPr>
          <a:xfrm>
            <a:off x="7799279" y="4629293"/>
            <a:ext cx="508387" cy="178720"/>
          </a:xfrm>
          <a:prstGeom prst="rect">
            <a:avLst/>
          </a:prstGeom>
          <a:solidFill>
            <a:schemeClr val="bg1">
              <a:alpha val="80000"/>
            </a:schemeClr>
          </a:solidFill>
          <a:ln w="15875">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fontAlgn="ctr"/>
            <a:r>
              <a:rPr lang="en-US" altLang="zh-TW" sz="1000" b="0" i="0" u="none" strike="noStrike" kern="1200" dirty="0">
                <a:solidFill>
                  <a:srgbClr val="000000"/>
                </a:solidFill>
                <a:effectLst/>
                <a:latin typeface="ADLaM Display" panose="02010000000000000000" pitchFamily="2" charset="0"/>
                <a:cs typeface="ADLaM Display" panose="02010000000000000000" pitchFamily="2" charset="0"/>
              </a:rPr>
              <a:t>T</a:t>
            </a:r>
            <a:r>
              <a:rPr lang="en-US" altLang="zh-TW" sz="1000" b="0" i="0" u="none" strike="noStrike" kern="1200" baseline="-25000" dirty="0">
                <a:solidFill>
                  <a:srgbClr val="000000"/>
                </a:solidFill>
                <a:effectLst/>
                <a:latin typeface="ADLaM Display" panose="02010000000000000000" pitchFamily="2" charset="0"/>
                <a:cs typeface="ADLaM Display" panose="02010000000000000000" pitchFamily="2" charset="0"/>
              </a:rPr>
              <a:t>0 </a:t>
            </a:r>
            <a:r>
              <a:rPr lang="en-US" altLang="zh-TW" sz="1000" b="0" i="0" u="none" strike="noStrike" kern="1200" dirty="0">
                <a:solidFill>
                  <a:srgbClr val="000000"/>
                </a:solidFill>
                <a:effectLst/>
                <a:latin typeface="ADLaM Display" panose="02010000000000000000" pitchFamily="2" charset="0"/>
                <a:cs typeface="ADLaM Display" panose="02010000000000000000" pitchFamily="2" charset="0"/>
              </a:rPr>
              <a:t>T</a:t>
            </a:r>
            <a:r>
              <a:rPr lang="en-US" altLang="zh-TW" sz="1000" b="0" i="0" u="none" strike="noStrike" kern="1200" baseline="-25000" dirty="0">
                <a:solidFill>
                  <a:srgbClr val="000000"/>
                </a:solidFill>
                <a:effectLst/>
                <a:latin typeface="ADLaM Display" panose="02010000000000000000" pitchFamily="2" charset="0"/>
                <a:cs typeface="ADLaM Display" panose="02010000000000000000" pitchFamily="2" charset="0"/>
              </a:rPr>
              <a:t>1</a:t>
            </a:r>
            <a:r>
              <a:rPr lang="en-US" altLang="zh-TW" sz="1000" dirty="0">
                <a:solidFill>
                  <a:srgbClr val="000000"/>
                </a:solidFill>
                <a:latin typeface="ADLaM Display" panose="02010000000000000000" pitchFamily="2" charset="0"/>
                <a:cs typeface="ADLaM Display" panose="02010000000000000000" pitchFamily="2" charset="0"/>
              </a:rPr>
              <a:t> T</a:t>
            </a:r>
            <a:r>
              <a:rPr lang="en-US" altLang="zh-TW" sz="1000" baseline="-25000" dirty="0">
                <a:solidFill>
                  <a:srgbClr val="000000"/>
                </a:solidFill>
                <a:latin typeface="ADLaM Display" panose="02010000000000000000" pitchFamily="2" charset="0"/>
                <a:cs typeface="ADLaM Display" panose="02010000000000000000" pitchFamily="2" charset="0"/>
              </a:rPr>
              <a:t>2</a:t>
            </a:r>
            <a:endParaRPr lang="zh-TW" altLang="zh-TW" sz="1000" b="0" i="0" u="none" strike="noStrike" dirty="0">
              <a:effectLst/>
              <a:latin typeface="Arial" panose="020B0604020202020204" pitchFamily="34" charset="0"/>
            </a:endParaRPr>
          </a:p>
        </p:txBody>
      </p:sp>
      <p:pic>
        <p:nvPicPr>
          <p:cNvPr id="41" name="圖形 40" descr="藍圖 以實心填滿">
            <a:extLst>
              <a:ext uri="{FF2B5EF4-FFF2-40B4-BE49-F238E27FC236}">
                <a16:creationId xmlns:a16="http://schemas.microsoft.com/office/drawing/2014/main" id="{7F4C374F-FB80-D0C9-8C14-4847122ED87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40152" y="5877272"/>
            <a:ext cx="432048" cy="432048"/>
          </a:xfrm>
          <a:prstGeom prst="rect">
            <a:avLst/>
          </a:prstGeom>
        </p:spPr>
      </p:pic>
      <p:pic>
        <p:nvPicPr>
          <p:cNvPr id="43" name="圖形 42" descr="打字機 外框">
            <a:extLst>
              <a:ext uri="{FF2B5EF4-FFF2-40B4-BE49-F238E27FC236}">
                <a16:creationId xmlns:a16="http://schemas.microsoft.com/office/drawing/2014/main" id="{759A0C0C-3D22-0683-081A-8938568B014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79912" y="5889466"/>
            <a:ext cx="432048" cy="432048"/>
          </a:xfrm>
          <a:prstGeom prst="rect">
            <a:avLst/>
          </a:prstGeom>
        </p:spPr>
      </p:pic>
      <p:grpSp>
        <p:nvGrpSpPr>
          <p:cNvPr id="110" name="群組 109">
            <a:extLst>
              <a:ext uri="{FF2B5EF4-FFF2-40B4-BE49-F238E27FC236}">
                <a16:creationId xmlns:a16="http://schemas.microsoft.com/office/drawing/2014/main" id="{34DDE601-E518-E390-0FD1-A48CC4E05F92}"/>
              </a:ext>
            </a:extLst>
          </p:cNvPr>
          <p:cNvGrpSpPr/>
          <p:nvPr/>
        </p:nvGrpSpPr>
        <p:grpSpPr>
          <a:xfrm>
            <a:off x="3563888" y="3480948"/>
            <a:ext cx="836667" cy="1676244"/>
            <a:chOff x="3563888" y="3480948"/>
            <a:chExt cx="836667" cy="1676244"/>
          </a:xfrm>
        </p:grpSpPr>
        <p:sp>
          <p:nvSpPr>
            <p:cNvPr id="52" name="矩形 51">
              <a:extLst>
                <a:ext uri="{FF2B5EF4-FFF2-40B4-BE49-F238E27FC236}">
                  <a16:creationId xmlns:a16="http://schemas.microsoft.com/office/drawing/2014/main" id="{66DCB7DF-81B3-8511-DC84-3039486CB90C}"/>
                </a:ext>
              </a:extLst>
            </p:cNvPr>
            <p:cNvSpPr/>
            <p:nvPr/>
          </p:nvSpPr>
          <p:spPr>
            <a:xfrm>
              <a:off x="3772092" y="3701726"/>
              <a:ext cx="628463"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KV</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Cache</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6" name="矩形 55">
              <a:extLst>
                <a:ext uri="{FF2B5EF4-FFF2-40B4-BE49-F238E27FC236}">
                  <a16:creationId xmlns:a16="http://schemas.microsoft.com/office/drawing/2014/main" id="{663829DA-74D0-BE54-F152-D6664BDE3A96}"/>
                </a:ext>
              </a:extLst>
            </p:cNvPr>
            <p:cNvSpPr/>
            <p:nvPr/>
          </p:nvSpPr>
          <p:spPr>
            <a:xfrm>
              <a:off x="3563888" y="3707961"/>
              <a:ext cx="156584" cy="579503"/>
            </a:xfrm>
            <a:prstGeom prst="rect">
              <a:avLst/>
            </a:prstGeom>
            <a:solidFill>
              <a:schemeClr val="accent5">
                <a:lumMod val="20000"/>
                <a:lumOff val="80000"/>
                <a:alpha val="60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bg1">
                      <a:lumMod val="50000"/>
                    </a:schemeClr>
                  </a:solidFill>
                  <a:effectLst/>
                  <a:uLnTx/>
                  <a:uFillTx/>
                  <a:latin typeface="Calibri"/>
                  <a:ea typeface="微軟正黑體" panose="020B0604030504040204" pitchFamily="34" charset="-120"/>
                  <a:cs typeface="+mn-cs"/>
                </a:rPr>
                <a:t>Q</a:t>
              </a:r>
            </a:p>
          </p:txBody>
        </p:sp>
        <p:sp>
          <p:nvSpPr>
            <p:cNvPr id="59" name="矩形 58">
              <a:extLst>
                <a:ext uri="{FF2B5EF4-FFF2-40B4-BE49-F238E27FC236}">
                  <a16:creationId xmlns:a16="http://schemas.microsoft.com/office/drawing/2014/main" id="{3D40BB0E-76DA-3D64-9275-A2AC658BFBFF}"/>
                </a:ext>
              </a:extLst>
            </p:cNvPr>
            <p:cNvSpPr/>
            <p:nvPr/>
          </p:nvSpPr>
          <p:spPr>
            <a:xfrm>
              <a:off x="3749046" y="3480948"/>
              <a:ext cx="650577" cy="185391"/>
            </a:xfrm>
            <a:prstGeom prst="rect">
              <a:avLst/>
            </a:prstGeom>
            <a:solidFill>
              <a:schemeClr val="accent5">
                <a:lumMod val="20000"/>
                <a:lumOff val="80000"/>
                <a:alpha val="60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bg1">
                      <a:lumMod val="50000"/>
                    </a:schemeClr>
                  </a:solidFill>
                  <a:effectLst/>
                  <a:uLnTx/>
                  <a:uFillTx/>
                  <a:latin typeface="Calibri"/>
                  <a:ea typeface="微軟正黑體" panose="020B0604030504040204" pitchFamily="34" charset="-120"/>
                  <a:cs typeface="+mn-cs"/>
                </a:rPr>
                <a:t>K</a:t>
              </a:r>
            </a:p>
          </p:txBody>
        </p:sp>
        <p:sp>
          <p:nvSpPr>
            <p:cNvPr id="49" name="矩形 48">
              <a:extLst>
                <a:ext uri="{FF2B5EF4-FFF2-40B4-BE49-F238E27FC236}">
                  <a16:creationId xmlns:a16="http://schemas.microsoft.com/office/drawing/2014/main" id="{9E583EA5-C14D-250A-4328-9DC799155877}"/>
                </a:ext>
              </a:extLst>
            </p:cNvPr>
            <p:cNvSpPr/>
            <p:nvPr/>
          </p:nvSpPr>
          <p:spPr>
            <a:xfrm>
              <a:off x="3772092" y="4513905"/>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rgbClr val="000000"/>
                  </a:solidFill>
                  <a:effectLst/>
                  <a:cs typeface="ADLaM Display" panose="02010000000000000000" pitchFamily="2" charset="0"/>
                </a:rPr>
                <a:t>Attn </a:t>
              </a:r>
              <a:r>
                <a:rPr lang="en-US" altLang="zh-TW" sz="1000" b="0" i="0" u="none" strike="noStrike" kern="1200" baseline="-25000" dirty="0">
                  <a:solidFill>
                    <a:srgbClr val="000000"/>
                  </a:solidFill>
                  <a:effectLst/>
                  <a:cs typeface="ADLaM Display" panose="02010000000000000000" pitchFamily="2" charset="0"/>
                </a:rPr>
                <a:t>0</a:t>
              </a:r>
              <a:endParaRPr lang="zh-TW" altLang="zh-TW" sz="1000" b="0" i="0" u="none" strike="noStrike" dirty="0">
                <a:effectLst/>
              </a:endParaRPr>
            </a:p>
          </p:txBody>
        </p:sp>
        <p:sp>
          <p:nvSpPr>
            <p:cNvPr id="65" name="矩形 64">
              <a:extLst>
                <a:ext uri="{FF2B5EF4-FFF2-40B4-BE49-F238E27FC236}">
                  <a16:creationId xmlns:a16="http://schemas.microsoft.com/office/drawing/2014/main" id="{7D99565A-C912-D9DA-B8DB-7660160F2737}"/>
                </a:ext>
              </a:extLst>
            </p:cNvPr>
            <p:cNvSpPr/>
            <p:nvPr/>
          </p:nvSpPr>
          <p:spPr>
            <a:xfrm>
              <a:off x="3772092" y="4729929"/>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rgbClr val="000000"/>
                  </a:solidFill>
                  <a:cs typeface="ADLaM Display" panose="02010000000000000000" pitchFamily="2" charset="0"/>
                </a:rPr>
                <a:t>A</a:t>
              </a:r>
              <a:r>
                <a:rPr lang="en-US" altLang="zh-TW" sz="1000" b="0" i="0" u="none" strike="noStrike" kern="1200" dirty="0">
                  <a:solidFill>
                    <a:srgbClr val="000000"/>
                  </a:solidFill>
                  <a:effectLst/>
                  <a:cs typeface="ADLaM Display" panose="02010000000000000000" pitchFamily="2" charset="0"/>
                </a:rPr>
                <a:t>ttn </a:t>
              </a:r>
              <a:r>
                <a:rPr lang="en-US" altLang="zh-TW" sz="1000" b="0" i="0" u="none" strike="noStrike" kern="1200" baseline="-25000" dirty="0">
                  <a:solidFill>
                    <a:srgbClr val="000000"/>
                  </a:solidFill>
                  <a:effectLst/>
                  <a:cs typeface="ADLaM Display" panose="02010000000000000000" pitchFamily="2" charset="0"/>
                </a:rPr>
                <a:t>1</a:t>
              </a:r>
              <a:endParaRPr lang="zh-TW" altLang="zh-TW" sz="1000" b="0" i="0" u="none" strike="noStrike" dirty="0">
                <a:effectLst/>
              </a:endParaRPr>
            </a:p>
          </p:txBody>
        </p:sp>
        <p:sp>
          <p:nvSpPr>
            <p:cNvPr id="73" name="文字方塊 72">
              <a:extLst>
                <a:ext uri="{FF2B5EF4-FFF2-40B4-BE49-F238E27FC236}">
                  <a16:creationId xmlns:a16="http://schemas.microsoft.com/office/drawing/2014/main" id="{2554C1BC-FA9D-459C-5B9F-1272D406C4FA}"/>
                </a:ext>
              </a:extLst>
            </p:cNvPr>
            <p:cNvSpPr txBox="1"/>
            <p:nvPr/>
          </p:nvSpPr>
          <p:spPr>
            <a:xfrm>
              <a:off x="3772092" y="4850528"/>
              <a:ext cx="627531" cy="90640"/>
            </a:xfrm>
            <a:prstGeom prst="rect">
              <a:avLst/>
            </a:prstGeom>
            <a:noFill/>
          </p:spPr>
          <p:txBody>
            <a:bodyPr wrap="none" lIns="0" tIns="0" rIns="0" bIns="0" anchor="ctr" anchorCtr="1">
              <a:noAutofit/>
            </a:bodyPr>
            <a:lstStyle/>
            <a:p>
              <a:pPr algn="ctr"/>
              <a:r>
                <a:rPr lang="en-US" altLang="zh-TW" sz="1000" b="1" dirty="0">
                  <a:ea typeface="Cambria Math" panose="02040503050406030204" pitchFamily="18" charset="0"/>
                </a:rPr>
                <a:t>…</a:t>
              </a:r>
              <a:endParaRPr kumimoji="0" lang="en-US" altLang="zh-TW" sz="1000" b="1" u="none" strike="noStrike" kern="1200" cap="none" spc="0" normalizeH="0" baseline="0" noProof="0" dirty="0">
                <a:ln>
                  <a:noFill/>
                </a:ln>
                <a:effectLst/>
                <a:uLnTx/>
                <a:uFillTx/>
                <a:ea typeface="Cambria Math" panose="02040503050406030204" pitchFamily="18" charset="0"/>
                <a:cs typeface="+mn-cs"/>
              </a:endParaRPr>
            </a:p>
          </p:txBody>
        </p:sp>
        <p:sp>
          <p:nvSpPr>
            <p:cNvPr id="79" name="矩形 78">
              <a:extLst>
                <a:ext uri="{FF2B5EF4-FFF2-40B4-BE49-F238E27FC236}">
                  <a16:creationId xmlns:a16="http://schemas.microsoft.com/office/drawing/2014/main" id="{5F40BB2D-29FE-0F02-5FED-2F8B687B2DAE}"/>
                </a:ext>
              </a:extLst>
            </p:cNvPr>
            <p:cNvSpPr/>
            <p:nvPr/>
          </p:nvSpPr>
          <p:spPr>
            <a:xfrm>
              <a:off x="3768657" y="5017961"/>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rgbClr val="000000"/>
                  </a:solidFill>
                  <a:cs typeface="ADLaM Display" panose="02010000000000000000" pitchFamily="2" charset="0"/>
                </a:rPr>
                <a:t>A</a:t>
              </a:r>
              <a:r>
                <a:rPr lang="en-US" altLang="zh-TW" sz="1000" b="0" i="0" u="none" strike="noStrike" kern="1200" dirty="0">
                  <a:solidFill>
                    <a:srgbClr val="000000"/>
                  </a:solidFill>
                  <a:effectLst/>
                  <a:cs typeface="ADLaM Display" panose="02010000000000000000" pitchFamily="2" charset="0"/>
                </a:rPr>
                <a:t>ttn </a:t>
              </a:r>
              <a:r>
                <a:rPr lang="en-US" altLang="zh-TW" sz="1000" b="0" i="0" u="none" strike="noStrike" kern="1200" baseline="-25000" dirty="0">
                  <a:solidFill>
                    <a:srgbClr val="000000"/>
                  </a:solidFill>
                  <a:effectLst/>
                  <a:cs typeface="ADLaM Display" panose="02010000000000000000" pitchFamily="2" charset="0"/>
                </a:rPr>
                <a:t>11</a:t>
              </a:r>
              <a:endParaRPr lang="zh-TW" altLang="zh-TW" sz="1000" b="0" i="0" u="none" strike="noStrike" dirty="0">
                <a:effectLst/>
              </a:endParaRPr>
            </a:p>
          </p:txBody>
        </p:sp>
        <p:cxnSp>
          <p:nvCxnSpPr>
            <p:cNvPr id="80" name="接點: 弧形 79">
              <a:extLst>
                <a:ext uri="{FF2B5EF4-FFF2-40B4-BE49-F238E27FC236}">
                  <a16:creationId xmlns:a16="http://schemas.microsoft.com/office/drawing/2014/main" id="{7E0171A3-3FE4-7F18-9D4A-186EFDA74EA6}"/>
                </a:ext>
              </a:extLst>
            </p:cNvPr>
            <p:cNvCxnSpPr>
              <a:cxnSpLocks/>
              <a:stCxn id="52" idx="1"/>
              <a:endCxn id="49" idx="1"/>
            </p:cNvCxnSpPr>
            <p:nvPr/>
          </p:nvCxnSpPr>
          <p:spPr>
            <a:xfrm rot="10800000" flipV="1">
              <a:off x="3772092" y="3996593"/>
              <a:ext cx="12700" cy="586928"/>
            </a:xfrm>
            <a:prstGeom prst="curvedConnector3">
              <a:avLst>
                <a:gd name="adj1" fmla="val 1800000"/>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cxnSp>
          <p:nvCxnSpPr>
            <p:cNvPr id="85" name="接點: 弧形 84">
              <a:extLst>
                <a:ext uri="{FF2B5EF4-FFF2-40B4-BE49-F238E27FC236}">
                  <a16:creationId xmlns:a16="http://schemas.microsoft.com/office/drawing/2014/main" id="{109F29E4-553F-1236-656B-F2BB2B63DE04}"/>
                </a:ext>
              </a:extLst>
            </p:cNvPr>
            <p:cNvCxnSpPr>
              <a:cxnSpLocks/>
              <a:stCxn id="49" idx="1"/>
              <a:endCxn id="65" idx="1"/>
            </p:cNvCxnSpPr>
            <p:nvPr/>
          </p:nvCxnSpPr>
          <p:spPr>
            <a:xfrm rot="10800000" flipV="1">
              <a:off x="3772092" y="4583521"/>
              <a:ext cx="12700" cy="216024"/>
            </a:xfrm>
            <a:prstGeom prst="curvedConnector3">
              <a:avLst>
                <a:gd name="adj1" fmla="val 1800000"/>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cxnSp>
          <p:nvCxnSpPr>
            <p:cNvPr id="90" name="接點: 弧形 89">
              <a:extLst>
                <a:ext uri="{FF2B5EF4-FFF2-40B4-BE49-F238E27FC236}">
                  <a16:creationId xmlns:a16="http://schemas.microsoft.com/office/drawing/2014/main" id="{D4508643-FB9E-E548-CEE7-341F08E5A361}"/>
                </a:ext>
              </a:extLst>
            </p:cNvPr>
            <p:cNvCxnSpPr>
              <a:cxnSpLocks/>
              <a:stCxn id="73" idx="1"/>
              <a:endCxn id="79" idx="1"/>
            </p:cNvCxnSpPr>
            <p:nvPr/>
          </p:nvCxnSpPr>
          <p:spPr>
            <a:xfrm rot="10800000" flipV="1">
              <a:off x="3768658" y="4895847"/>
              <a:ext cx="3435" cy="191729"/>
            </a:xfrm>
            <a:prstGeom prst="curvedConnector3">
              <a:avLst>
                <a:gd name="adj1" fmla="val 6755022"/>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grpSp>
      <p:graphicFrame>
        <p:nvGraphicFramePr>
          <p:cNvPr id="98" name="表格 97">
            <a:extLst>
              <a:ext uri="{FF2B5EF4-FFF2-40B4-BE49-F238E27FC236}">
                <a16:creationId xmlns:a16="http://schemas.microsoft.com/office/drawing/2014/main" id="{716AA6C2-711B-0866-4214-AE322E37383E}"/>
              </a:ext>
            </a:extLst>
          </p:cNvPr>
          <p:cNvGraphicFramePr>
            <a:graphicFrameLocks noGrp="1"/>
          </p:cNvGraphicFramePr>
          <p:nvPr>
            <p:extLst>
              <p:ext uri="{D42A27DB-BD31-4B8C-83A1-F6EECF244321}">
                <p14:modId xmlns:p14="http://schemas.microsoft.com/office/powerpoint/2010/main" val="229418978"/>
              </p:ext>
            </p:extLst>
          </p:nvPr>
        </p:nvGraphicFramePr>
        <p:xfrm>
          <a:off x="6736191" y="4498975"/>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pSp>
        <p:nvGrpSpPr>
          <p:cNvPr id="109" name="群組 108">
            <a:extLst>
              <a:ext uri="{FF2B5EF4-FFF2-40B4-BE49-F238E27FC236}">
                <a16:creationId xmlns:a16="http://schemas.microsoft.com/office/drawing/2014/main" id="{67CD801F-76D8-B810-A3CD-002536555BAD}"/>
              </a:ext>
            </a:extLst>
          </p:cNvPr>
          <p:cNvGrpSpPr/>
          <p:nvPr/>
        </p:nvGrpSpPr>
        <p:grpSpPr>
          <a:xfrm>
            <a:off x="4572000" y="3701726"/>
            <a:ext cx="209200" cy="1455466"/>
            <a:chOff x="4572000" y="3701726"/>
            <a:chExt cx="209200" cy="1455466"/>
          </a:xfrm>
        </p:grpSpPr>
        <p:sp>
          <p:nvSpPr>
            <p:cNvPr id="101" name="矩形 100">
              <a:extLst>
                <a:ext uri="{FF2B5EF4-FFF2-40B4-BE49-F238E27FC236}">
                  <a16:creationId xmlns:a16="http://schemas.microsoft.com/office/drawing/2014/main" id="{EFFA3DFF-8B96-115C-10F5-8709C7948869}"/>
                </a:ext>
              </a:extLst>
            </p:cNvPr>
            <p:cNvSpPr/>
            <p:nvPr/>
          </p:nvSpPr>
          <p:spPr>
            <a:xfrm>
              <a:off x="4575435" y="3701726"/>
              <a:ext cx="205765"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KV</a:t>
              </a:r>
            </a:p>
          </p:txBody>
        </p:sp>
        <p:sp>
          <p:nvSpPr>
            <p:cNvPr id="102" name="矩形 101">
              <a:extLst>
                <a:ext uri="{FF2B5EF4-FFF2-40B4-BE49-F238E27FC236}">
                  <a16:creationId xmlns:a16="http://schemas.microsoft.com/office/drawing/2014/main" id="{3C6507A6-1A4B-EE6B-9131-851B7244E399}"/>
                </a:ext>
              </a:extLst>
            </p:cNvPr>
            <p:cNvSpPr/>
            <p:nvPr/>
          </p:nvSpPr>
          <p:spPr>
            <a:xfrm>
              <a:off x="4575435" y="4513905"/>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chemeClr val="tx1">
                      <a:lumMod val="50000"/>
                      <a:lumOff val="50000"/>
                    </a:schemeClr>
                  </a:solidFill>
                  <a:effectLst/>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0</a:t>
              </a:r>
              <a:endParaRPr lang="zh-TW" altLang="zh-TW" sz="1000" b="0" i="0" u="none" strike="noStrike" dirty="0">
                <a:solidFill>
                  <a:schemeClr val="tx1">
                    <a:lumMod val="50000"/>
                    <a:lumOff val="50000"/>
                  </a:schemeClr>
                </a:solidFill>
                <a:effectLst/>
              </a:endParaRPr>
            </a:p>
          </p:txBody>
        </p:sp>
        <p:sp>
          <p:nvSpPr>
            <p:cNvPr id="103" name="矩形 102">
              <a:extLst>
                <a:ext uri="{FF2B5EF4-FFF2-40B4-BE49-F238E27FC236}">
                  <a16:creationId xmlns:a16="http://schemas.microsoft.com/office/drawing/2014/main" id="{8F10EB1B-BD2E-D404-C174-DE50D50A8E23}"/>
                </a:ext>
              </a:extLst>
            </p:cNvPr>
            <p:cNvSpPr/>
            <p:nvPr/>
          </p:nvSpPr>
          <p:spPr>
            <a:xfrm>
              <a:off x="4575435" y="4729929"/>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a:t>
              </a:r>
              <a:endParaRPr lang="zh-TW" altLang="zh-TW" sz="1000" b="0" i="0" u="none" strike="noStrike" dirty="0">
                <a:solidFill>
                  <a:schemeClr val="tx1">
                    <a:lumMod val="50000"/>
                    <a:lumOff val="50000"/>
                  </a:schemeClr>
                </a:solidFill>
                <a:effectLst/>
              </a:endParaRPr>
            </a:p>
          </p:txBody>
        </p:sp>
        <p:sp>
          <p:nvSpPr>
            <p:cNvPr id="104" name="文字方塊 103">
              <a:extLst>
                <a:ext uri="{FF2B5EF4-FFF2-40B4-BE49-F238E27FC236}">
                  <a16:creationId xmlns:a16="http://schemas.microsoft.com/office/drawing/2014/main" id="{F90C6A99-B563-9A27-E610-C6B0A42A983B}"/>
                </a:ext>
              </a:extLst>
            </p:cNvPr>
            <p:cNvSpPr txBox="1"/>
            <p:nvPr/>
          </p:nvSpPr>
          <p:spPr>
            <a:xfrm>
              <a:off x="4575436" y="4850528"/>
              <a:ext cx="205460" cy="90640"/>
            </a:xfrm>
            <a:prstGeom prst="rect">
              <a:avLst/>
            </a:prstGeom>
            <a:noFill/>
          </p:spPr>
          <p:txBody>
            <a:bodyPr wrap="none" lIns="0" tIns="0" rIns="0" bIns="0" anchor="ctr" anchorCtr="1">
              <a:noAutofit/>
            </a:bodyPr>
            <a:lstStyle/>
            <a:p>
              <a:pPr algn="ctr"/>
              <a:r>
                <a:rPr lang="en-US" altLang="zh-TW" sz="1000" b="1" dirty="0">
                  <a:solidFill>
                    <a:schemeClr val="tx1">
                      <a:lumMod val="50000"/>
                      <a:lumOff val="50000"/>
                    </a:schemeClr>
                  </a:solidFill>
                  <a:ea typeface="Cambria Math" panose="02040503050406030204" pitchFamily="18" charset="0"/>
                </a:rPr>
                <a:t>…</a:t>
              </a:r>
              <a:endParaRPr kumimoji="0" lang="en-US" altLang="zh-TW" sz="1000" b="1" u="none" strike="noStrike" kern="1200" cap="none" spc="0" normalizeH="0" baseline="0" noProof="0" dirty="0">
                <a:ln>
                  <a:noFill/>
                </a:ln>
                <a:solidFill>
                  <a:schemeClr val="tx1">
                    <a:lumMod val="50000"/>
                    <a:lumOff val="50000"/>
                  </a:schemeClr>
                </a:solidFill>
                <a:effectLst/>
                <a:uLnTx/>
                <a:uFillTx/>
                <a:ea typeface="Cambria Math" panose="02040503050406030204" pitchFamily="18" charset="0"/>
                <a:cs typeface="+mn-cs"/>
              </a:endParaRPr>
            </a:p>
          </p:txBody>
        </p:sp>
        <p:sp>
          <p:nvSpPr>
            <p:cNvPr id="105" name="矩形 104">
              <a:extLst>
                <a:ext uri="{FF2B5EF4-FFF2-40B4-BE49-F238E27FC236}">
                  <a16:creationId xmlns:a16="http://schemas.microsoft.com/office/drawing/2014/main" id="{3829921C-CF00-BBE3-2B57-36BBA0EE5BAF}"/>
                </a:ext>
              </a:extLst>
            </p:cNvPr>
            <p:cNvSpPr/>
            <p:nvPr/>
          </p:nvSpPr>
          <p:spPr>
            <a:xfrm>
              <a:off x="4572000" y="5017961"/>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11</a:t>
              </a:r>
              <a:endParaRPr lang="zh-TW" altLang="zh-TW" sz="1000" b="0" i="0" u="none" strike="noStrike" dirty="0">
                <a:solidFill>
                  <a:schemeClr val="tx1">
                    <a:lumMod val="50000"/>
                    <a:lumOff val="50000"/>
                  </a:schemeClr>
                </a:solidFill>
                <a:effectLst/>
              </a:endParaRPr>
            </a:p>
          </p:txBody>
        </p:sp>
      </p:grpSp>
      <p:grpSp>
        <p:nvGrpSpPr>
          <p:cNvPr id="111" name="群組 110">
            <a:extLst>
              <a:ext uri="{FF2B5EF4-FFF2-40B4-BE49-F238E27FC236}">
                <a16:creationId xmlns:a16="http://schemas.microsoft.com/office/drawing/2014/main" id="{FDC89DF3-4DDE-5058-6387-0624D04F9825}"/>
              </a:ext>
            </a:extLst>
          </p:cNvPr>
          <p:cNvGrpSpPr/>
          <p:nvPr/>
        </p:nvGrpSpPr>
        <p:grpSpPr>
          <a:xfrm>
            <a:off x="4860032" y="3701726"/>
            <a:ext cx="209200" cy="1455466"/>
            <a:chOff x="4572000" y="3701726"/>
            <a:chExt cx="209200" cy="1455466"/>
          </a:xfrm>
        </p:grpSpPr>
        <p:sp>
          <p:nvSpPr>
            <p:cNvPr id="112" name="矩形 111">
              <a:extLst>
                <a:ext uri="{FF2B5EF4-FFF2-40B4-BE49-F238E27FC236}">
                  <a16:creationId xmlns:a16="http://schemas.microsoft.com/office/drawing/2014/main" id="{F8DDEEC7-E03A-EFE9-DF17-6CFCD1BAFE45}"/>
                </a:ext>
              </a:extLst>
            </p:cNvPr>
            <p:cNvSpPr/>
            <p:nvPr/>
          </p:nvSpPr>
          <p:spPr>
            <a:xfrm>
              <a:off x="4575435" y="3701726"/>
              <a:ext cx="205765"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KV</a:t>
              </a:r>
            </a:p>
          </p:txBody>
        </p:sp>
        <p:sp>
          <p:nvSpPr>
            <p:cNvPr id="113" name="矩形 112">
              <a:extLst>
                <a:ext uri="{FF2B5EF4-FFF2-40B4-BE49-F238E27FC236}">
                  <a16:creationId xmlns:a16="http://schemas.microsoft.com/office/drawing/2014/main" id="{8AF3A9DC-8996-E7CD-8BA7-4FD601424BAB}"/>
                </a:ext>
              </a:extLst>
            </p:cNvPr>
            <p:cNvSpPr/>
            <p:nvPr/>
          </p:nvSpPr>
          <p:spPr>
            <a:xfrm>
              <a:off x="4575435" y="4513905"/>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chemeClr val="tx1">
                      <a:lumMod val="50000"/>
                      <a:lumOff val="50000"/>
                    </a:schemeClr>
                  </a:solidFill>
                  <a:effectLst/>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0</a:t>
              </a:r>
              <a:endParaRPr lang="zh-TW" altLang="zh-TW" sz="1000" b="0" i="0" u="none" strike="noStrike" dirty="0">
                <a:solidFill>
                  <a:schemeClr val="tx1">
                    <a:lumMod val="50000"/>
                    <a:lumOff val="50000"/>
                  </a:schemeClr>
                </a:solidFill>
                <a:effectLst/>
              </a:endParaRPr>
            </a:p>
          </p:txBody>
        </p:sp>
        <p:sp>
          <p:nvSpPr>
            <p:cNvPr id="114" name="矩形 113">
              <a:extLst>
                <a:ext uri="{FF2B5EF4-FFF2-40B4-BE49-F238E27FC236}">
                  <a16:creationId xmlns:a16="http://schemas.microsoft.com/office/drawing/2014/main" id="{3F99CB8F-CE71-73B5-FEEA-CBC67ED224B4}"/>
                </a:ext>
              </a:extLst>
            </p:cNvPr>
            <p:cNvSpPr/>
            <p:nvPr/>
          </p:nvSpPr>
          <p:spPr>
            <a:xfrm>
              <a:off x="4575435" y="4729929"/>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a:t>
              </a:r>
              <a:endParaRPr lang="zh-TW" altLang="zh-TW" sz="1000" b="0" i="0" u="none" strike="noStrike" dirty="0">
                <a:solidFill>
                  <a:schemeClr val="tx1">
                    <a:lumMod val="50000"/>
                    <a:lumOff val="50000"/>
                  </a:schemeClr>
                </a:solidFill>
                <a:effectLst/>
              </a:endParaRPr>
            </a:p>
          </p:txBody>
        </p:sp>
        <p:sp>
          <p:nvSpPr>
            <p:cNvPr id="115" name="文字方塊 114">
              <a:extLst>
                <a:ext uri="{FF2B5EF4-FFF2-40B4-BE49-F238E27FC236}">
                  <a16:creationId xmlns:a16="http://schemas.microsoft.com/office/drawing/2014/main" id="{1D48F34D-6A83-8C22-3E8D-4B1E0BFEA666}"/>
                </a:ext>
              </a:extLst>
            </p:cNvPr>
            <p:cNvSpPr txBox="1"/>
            <p:nvPr/>
          </p:nvSpPr>
          <p:spPr>
            <a:xfrm>
              <a:off x="4575436" y="4850528"/>
              <a:ext cx="205460" cy="90640"/>
            </a:xfrm>
            <a:prstGeom prst="rect">
              <a:avLst/>
            </a:prstGeom>
            <a:noFill/>
          </p:spPr>
          <p:txBody>
            <a:bodyPr wrap="none" lIns="0" tIns="0" rIns="0" bIns="0" anchor="ctr" anchorCtr="1">
              <a:noAutofit/>
            </a:bodyPr>
            <a:lstStyle/>
            <a:p>
              <a:pPr algn="ctr"/>
              <a:r>
                <a:rPr lang="en-US" altLang="zh-TW" sz="1000" b="1" dirty="0">
                  <a:solidFill>
                    <a:schemeClr val="tx1">
                      <a:lumMod val="50000"/>
                      <a:lumOff val="50000"/>
                    </a:schemeClr>
                  </a:solidFill>
                  <a:ea typeface="Cambria Math" panose="02040503050406030204" pitchFamily="18" charset="0"/>
                </a:rPr>
                <a:t>…</a:t>
              </a:r>
              <a:endParaRPr kumimoji="0" lang="en-US" altLang="zh-TW" sz="1000" b="1" u="none" strike="noStrike" kern="1200" cap="none" spc="0" normalizeH="0" baseline="0" noProof="0" dirty="0">
                <a:ln>
                  <a:noFill/>
                </a:ln>
                <a:solidFill>
                  <a:schemeClr val="tx1">
                    <a:lumMod val="50000"/>
                    <a:lumOff val="50000"/>
                  </a:schemeClr>
                </a:solidFill>
                <a:effectLst/>
                <a:uLnTx/>
                <a:uFillTx/>
                <a:ea typeface="Cambria Math" panose="02040503050406030204" pitchFamily="18" charset="0"/>
                <a:cs typeface="+mn-cs"/>
              </a:endParaRPr>
            </a:p>
          </p:txBody>
        </p:sp>
        <p:sp>
          <p:nvSpPr>
            <p:cNvPr id="116" name="矩形 115">
              <a:extLst>
                <a:ext uri="{FF2B5EF4-FFF2-40B4-BE49-F238E27FC236}">
                  <a16:creationId xmlns:a16="http://schemas.microsoft.com/office/drawing/2014/main" id="{276A10F6-D303-9816-DA37-7C79B1D1EC83}"/>
                </a:ext>
              </a:extLst>
            </p:cNvPr>
            <p:cNvSpPr/>
            <p:nvPr/>
          </p:nvSpPr>
          <p:spPr>
            <a:xfrm>
              <a:off x="4572000" y="5017961"/>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11</a:t>
              </a:r>
              <a:endParaRPr lang="zh-TW" altLang="zh-TW" sz="1000" b="0" i="0" u="none" strike="noStrike" dirty="0">
                <a:solidFill>
                  <a:schemeClr val="tx1">
                    <a:lumMod val="50000"/>
                    <a:lumOff val="50000"/>
                  </a:schemeClr>
                </a:solidFill>
                <a:effectLst/>
              </a:endParaRPr>
            </a:p>
          </p:txBody>
        </p:sp>
      </p:grpSp>
      <p:sp>
        <p:nvSpPr>
          <p:cNvPr id="118" name="文字方塊 117">
            <a:extLst>
              <a:ext uri="{FF2B5EF4-FFF2-40B4-BE49-F238E27FC236}">
                <a16:creationId xmlns:a16="http://schemas.microsoft.com/office/drawing/2014/main" id="{5006C014-9B3D-45DB-E1D2-C6B4D6D0B2F3}"/>
              </a:ext>
            </a:extLst>
          </p:cNvPr>
          <p:cNvSpPr txBox="1"/>
          <p:nvPr/>
        </p:nvSpPr>
        <p:spPr>
          <a:xfrm>
            <a:off x="5087575" y="4765496"/>
            <a:ext cx="483526" cy="200222"/>
          </a:xfrm>
          <a:prstGeom prst="rect">
            <a:avLst/>
          </a:prstGeom>
          <a:noFill/>
        </p:spPr>
        <p:txBody>
          <a:bodyPr wrap="none" lIns="0" tIns="0" rIns="0" bIns="0" anchor="ctr" anchorCtr="1">
            <a:noAutofit/>
          </a:bodyPr>
          <a:lstStyle/>
          <a:p>
            <a:pPr algn="ctr"/>
            <a:r>
              <a:rPr lang="en-US" altLang="zh-TW" sz="1400" b="1" dirty="0">
                <a:solidFill>
                  <a:schemeClr val="accent4">
                    <a:lumMod val="75000"/>
                  </a:schemeClr>
                </a:solidFill>
                <a:ea typeface="Cambria Math" panose="02040503050406030204" pitchFamily="18" charset="0"/>
              </a:rPr>
              <a:t>…</a:t>
            </a:r>
            <a:endParaRPr kumimoji="0" lang="en-US" altLang="zh-TW" sz="1400" b="1" u="none" strike="noStrike" kern="1200" cap="none" spc="0" normalizeH="0" baseline="0" noProof="0" dirty="0">
              <a:ln>
                <a:noFill/>
              </a:ln>
              <a:solidFill>
                <a:schemeClr val="accent4">
                  <a:lumMod val="7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321662459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S</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upervised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F</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ine-</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extLst>
              <p:ext uri="{D42A27DB-BD31-4B8C-83A1-F6EECF244321}">
                <p14:modId xmlns:p14="http://schemas.microsoft.com/office/powerpoint/2010/main" val="2721847558"/>
              </p:ext>
            </p:extLst>
          </p:nvPr>
        </p:nvGraphicFramePr>
        <p:xfrm>
          <a:off x="446679" y="5769446"/>
          <a:ext cx="2061433" cy="76058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B28934C4-E141-B876-09BC-40349200C9C7}"/>
              </a:ext>
            </a:extLst>
          </p:cNvPr>
          <p:cNvGraphicFramePr>
            <a:graphicFrameLocks noGrp="1"/>
          </p:cNvGraphicFramePr>
          <p:nvPr>
            <p:extLst>
              <p:ext uri="{D42A27DB-BD31-4B8C-83A1-F6EECF244321}">
                <p14:modId xmlns:p14="http://schemas.microsoft.com/office/powerpoint/2010/main" val="988163058"/>
              </p:ext>
            </p:extLst>
          </p:nvPr>
        </p:nvGraphicFramePr>
        <p:xfrm>
          <a:off x="446679" y="5085184"/>
          <a:ext cx="2061433" cy="580749"/>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871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Parameter-Efficient</a:t>
                      </a:r>
                    </a:p>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Fine-Tuning (PEFT)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93583">
                <a:tc>
                  <a:txBody>
                    <a:bodyPr/>
                    <a:lstStyle/>
                    <a:p>
                      <a:pPr algn="l"/>
                      <a:r>
                        <a:rPr lang="en-US" altLang="zh-TW" sz="1200" b="0" cap="none" spc="0" dirty="0">
                          <a:ln w="0"/>
                          <a:solidFill>
                            <a:schemeClr val="tx1"/>
                          </a:solidFill>
                          <a:effectLst/>
                        </a:rPr>
                        <a:t>Fine-Tuning Framework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bl>
          </a:graphicData>
        </a:graphic>
      </p:graphicFrame>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528F1A4-C5F2-B372-FD94-C6C887DEC259}"/>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021CCA31-8B62-ABC4-E286-F329C53D3421}"/>
              </a:ext>
            </a:extLst>
          </p:cNvPr>
          <p:cNvSpPr txBox="1"/>
          <p:nvPr/>
        </p:nvSpPr>
        <p:spPr>
          <a:xfrm>
            <a:off x="1538110" y="4145907"/>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7795B43A-2DB0-CF61-22D8-74C6389C0F91}"/>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LoRA achieves PEFT by low-rank decomposition matrices while keeping the original model weights frozen. </a:t>
            </a:r>
          </a:p>
        </p:txBody>
      </p:sp>
      <p:sp>
        <p:nvSpPr>
          <p:cNvPr id="5" name="文字方塊 4">
            <a:extLst>
              <a:ext uri="{FF2B5EF4-FFF2-40B4-BE49-F238E27FC236}">
                <a16:creationId xmlns:a16="http://schemas.microsoft.com/office/drawing/2014/main" id="{7D4C9CE9-0B06-38A1-C39D-EAB1F5576FF4}"/>
              </a:ext>
            </a:extLst>
          </p:cNvPr>
          <p:cNvSpPr txBox="1"/>
          <p:nvPr/>
        </p:nvSpPr>
        <p:spPr>
          <a:xfrm>
            <a:off x="4216758" y="2934437"/>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6C5AC31E-D92E-A0DB-45D2-EEC916CF6E24}"/>
              </a:ext>
            </a:extLst>
          </p:cNvPr>
          <p:cNvSpPr txBox="1"/>
          <p:nvPr/>
        </p:nvSpPr>
        <p:spPr>
          <a:xfrm>
            <a:off x="4176410" y="4146983"/>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6B16A943-AE6E-3543-09C3-ECF7F35BE195}"/>
              </a:ext>
            </a:extLst>
          </p:cNvPr>
          <p:cNvGraphicFramePr>
            <a:graphicFrameLocks noGrp="1"/>
          </p:cNvGraphicFramePr>
          <p:nvPr>
            <p:extLst>
              <p:ext uri="{D42A27DB-BD31-4B8C-83A1-F6EECF244321}">
                <p14:modId xmlns:p14="http://schemas.microsoft.com/office/powerpoint/2010/main" val="839950108"/>
              </p:ext>
            </p:extLst>
          </p:nvPr>
        </p:nvGraphicFramePr>
        <p:xfrm>
          <a:off x="1791194" y="4433939"/>
          <a:ext cx="177959" cy="714884"/>
        </p:xfrm>
        <a:graphic>
          <a:graphicData uri="http://schemas.openxmlformats.org/drawingml/2006/table">
            <a:tbl>
              <a:tblPr firstRow="1" bandRow="1">
                <a:tableStyleId>{5C22544A-7EE6-4342-B048-85BDC9FD1C3A}</a:tableStyleId>
              </a:tblPr>
              <a:tblGrid>
                <a:gridCol w="177959">
                  <a:extLst>
                    <a:ext uri="{9D8B030D-6E8A-4147-A177-3AD203B41FA5}">
                      <a16:colId xmlns:a16="http://schemas.microsoft.com/office/drawing/2014/main" val="871242339"/>
                    </a:ext>
                  </a:extLst>
                </a:gridCol>
              </a:tblGrid>
              <a:tr h="714884">
                <a:tc>
                  <a:txBody>
                    <a:bodyPr/>
                    <a:lstStyle/>
                    <a:p>
                      <a:pPr algn="ctr"/>
                      <a:r>
                        <a:rPr lang="en-US" altLang="zh-TW" sz="1400" b="0" dirty="0">
                          <a:solidFill>
                            <a:schemeClr val="tx1"/>
                          </a:solidFill>
                          <a:latin typeface="ADLaM Display" panose="02010000000000000000" pitchFamily="2" charset="0"/>
                          <a:cs typeface="ADLaM Display" panose="02010000000000000000" pitchFamily="2" charset="0"/>
                        </a:rPr>
                        <a:t>A</a:t>
                      </a:r>
                      <a:endParaRPr lang="zh-TW" altLang="en-US" sz="14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 name="表格 1">
            <a:extLst>
              <a:ext uri="{FF2B5EF4-FFF2-40B4-BE49-F238E27FC236}">
                <a16:creationId xmlns:a16="http://schemas.microsoft.com/office/drawing/2014/main" id="{D5C12B14-BECA-05BF-E62A-6E9934AEFDEC}"/>
              </a:ext>
            </a:extLst>
          </p:cNvPr>
          <p:cNvGraphicFramePr>
            <a:graphicFrameLocks noGrp="1"/>
          </p:cNvGraphicFramePr>
          <p:nvPr>
            <p:extLst>
              <p:ext uri="{D42A27DB-BD31-4B8C-83A1-F6EECF244321}">
                <p14:modId xmlns:p14="http://schemas.microsoft.com/office/powerpoint/2010/main" val="2263970451"/>
              </p:ext>
            </p:extLst>
          </p:nvPr>
        </p:nvGraphicFramePr>
        <p:xfrm>
          <a:off x="3965858" y="3227665"/>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4FBFF317-65B7-E19C-BE9C-2C4C128437E4}"/>
              </a:ext>
            </a:extLst>
          </p:cNvPr>
          <p:cNvSpPr txBox="1"/>
          <p:nvPr/>
        </p:nvSpPr>
        <p:spPr>
          <a:xfrm>
            <a:off x="2617427" y="4415631"/>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A7CAAD2B-19AE-9980-2A62-187269884DF2}"/>
              </a:ext>
            </a:extLst>
          </p:cNvPr>
          <p:cNvGraphicFramePr>
            <a:graphicFrameLocks noGrp="1"/>
          </p:cNvGraphicFramePr>
          <p:nvPr>
            <p:extLst>
              <p:ext uri="{D42A27DB-BD31-4B8C-83A1-F6EECF244321}">
                <p14:modId xmlns:p14="http://schemas.microsoft.com/office/powerpoint/2010/main" val="1528415552"/>
              </p:ext>
            </p:extLst>
          </p:nvPr>
        </p:nvGraphicFramePr>
        <p:xfrm>
          <a:off x="2419307" y="4655577"/>
          <a:ext cx="1218664" cy="213360"/>
        </p:xfrm>
        <a:graphic>
          <a:graphicData uri="http://schemas.openxmlformats.org/drawingml/2006/table">
            <a:tbl>
              <a:tblPr firstRow="1" bandRow="1">
                <a:tableStyleId>{5C22544A-7EE6-4342-B048-85BDC9FD1C3A}</a:tableStyleId>
              </a:tblPr>
              <a:tblGrid>
                <a:gridCol w="1218664">
                  <a:extLst>
                    <a:ext uri="{9D8B030D-6E8A-4147-A177-3AD203B41FA5}">
                      <a16:colId xmlns:a16="http://schemas.microsoft.com/office/drawing/2014/main" val="871242339"/>
                    </a:ext>
                  </a:extLst>
                </a:gridCol>
              </a:tblGrid>
              <a:tr h="178721">
                <a:tc>
                  <a:txBody>
                    <a:bodyPr/>
                    <a:lstStyle/>
                    <a:p>
                      <a:pPr algn="ctr"/>
                      <a:r>
                        <a:rPr lang="en-US" altLang="zh-TW" sz="1400" b="0" dirty="0">
                          <a:solidFill>
                            <a:schemeClr val="tx1"/>
                          </a:solidFill>
                          <a:latin typeface="ADLaM Display" panose="02010000000000000000" pitchFamily="2" charset="0"/>
                          <a:cs typeface="ADLaM Display" panose="02010000000000000000" pitchFamily="2" charset="0"/>
                        </a:rPr>
                        <a:t>B</a:t>
                      </a:r>
                      <a:endParaRPr lang="zh-TW" altLang="en-US" sz="14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2" name="表格 11">
            <a:extLst>
              <a:ext uri="{FF2B5EF4-FFF2-40B4-BE49-F238E27FC236}">
                <a16:creationId xmlns:a16="http://schemas.microsoft.com/office/drawing/2014/main" id="{0B25FCB5-FCE0-61EB-EEB9-12DE4CD92939}"/>
              </a:ext>
            </a:extLst>
          </p:cNvPr>
          <p:cNvGraphicFramePr>
            <a:graphicFrameLocks noGrp="1"/>
          </p:cNvGraphicFramePr>
          <p:nvPr>
            <p:extLst>
              <p:ext uri="{D42A27DB-BD31-4B8C-83A1-F6EECF244321}">
                <p14:modId xmlns:p14="http://schemas.microsoft.com/office/powerpoint/2010/main" val="2582060314"/>
              </p:ext>
            </p:extLst>
          </p:nvPr>
        </p:nvGraphicFramePr>
        <p:xfrm>
          <a:off x="3962668" y="4415631"/>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19D10C5D-E703-AEC1-D9A7-83A4E472DAD5}"/>
              </a:ext>
            </a:extLst>
          </p:cNvPr>
          <p:cNvSpPr txBox="1"/>
          <p:nvPr/>
        </p:nvSpPr>
        <p:spPr>
          <a:xfrm>
            <a:off x="2681213" y="3223900"/>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727F449C-324A-74B0-C234-3386A0999F0B}"/>
              </a:ext>
            </a:extLst>
          </p:cNvPr>
          <p:cNvGraphicFramePr>
            <a:graphicFrameLocks noGrp="1"/>
          </p:cNvGraphicFramePr>
          <p:nvPr>
            <p:extLst>
              <p:ext uri="{D42A27DB-BD31-4B8C-83A1-F6EECF244321}">
                <p14:modId xmlns:p14="http://schemas.microsoft.com/office/powerpoint/2010/main" val="3092848734"/>
              </p:ext>
            </p:extLst>
          </p:nvPr>
        </p:nvGraphicFramePr>
        <p:xfrm>
          <a:off x="2388104" y="3499604"/>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8A4495B5-77BC-46A3-EE79-696BED0BF04C}"/>
              </a:ext>
            </a:extLst>
          </p:cNvPr>
          <p:cNvSpPr txBox="1"/>
          <p:nvPr/>
        </p:nvSpPr>
        <p:spPr>
          <a:xfrm>
            <a:off x="5701444" y="3223900"/>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F3565446-85A7-C9C4-4A1D-47FEA6E2071E}"/>
              </a:ext>
            </a:extLst>
          </p:cNvPr>
          <p:cNvGraphicFramePr>
            <a:graphicFrameLocks noGrp="1"/>
          </p:cNvGraphicFramePr>
          <p:nvPr>
            <p:extLst>
              <p:ext uri="{D42A27DB-BD31-4B8C-83A1-F6EECF244321}">
                <p14:modId xmlns:p14="http://schemas.microsoft.com/office/powerpoint/2010/main" val="3912017110"/>
              </p:ext>
            </p:extLst>
          </p:nvPr>
        </p:nvGraphicFramePr>
        <p:xfrm>
          <a:off x="5400546" y="348990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D94D7D1A-59F2-6565-206E-687583FA2657}"/>
              </a:ext>
            </a:extLst>
          </p:cNvPr>
          <p:cNvSpPr txBox="1"/>
          <p:nvPr/>
        </p:nvSpPr>
        <p:spPr>
          <a:xfrm>
            <a:off x="4464442" y="3959419"/>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E3D52E99-CF74-358E-7CB9-468275F7423C}"/>
              </a:ext>
            </a:extLst>
          </p:cNvPr>
          <p:cNvSpPr txBox="1"/>
          <p:nvPr/>
        </p:nvSpPr>
        <p:spPr>
          <a:xfrm>
            <a:off x="3702368" y="3440999"/>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6966BA9-55FA-A73F-1E8C-DEA8377CF15A}"/>
              </a:ext>
            </a:extLst>
          </p:cNvPr>
          <p:cNvSpPr txBox="1"/>
          <p:nvPr/>
        </p:nvSpPr>
        <p:spPr>
          <a:xfrm>
            <a:off x="5181332" y="3440999"/>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F421E7A6-42EA-7C31-9EE3-E6013D8ED89D}"/>
              </a:ext>
            </a:extLst>
          </p:cNvPr>
          <p:cNvSpPr txBox="1"/>
          <p:nvPr/>
        </p:nvSpPr>
        <p:spPr>
          <a:xfrm>
            <a:off x="2091942" y="4680581"/>
            <a:ext cx="177958" cy="21336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FB8CF55E-F91C-C53B-CA11-D8E651B5808A}"/>
              </a:ext>
            </a:extLst>
          </p:cNvPr>
          <p:cNvSpPr txBox="1"/>
          <p:nvPr/>
        </p:nvSpPr>
        <p:spPr>
          <a:xfrm>
            <a:off x="3702368" y="4655577"/>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18" name="文字方塊 17">
            <a:extLst>
              <a:ext uri="{FF2B5EF4-FFF2-40B4-BE49-F238E27FC236}">
                <a16:creationId xmlns:a16="http://schemas.microsoft.com/office/drawing/2014/main" id="{4C6464BD-CB0F-1E4C-16C0-48EB91D59EEF}"/>
              </a:ext>
            </a:extLst>
          </p:cNvPr>
          <p:cNvSpPr txBox="1"/>
          <p:nvPr/>
        </p:nvSpPr>
        <p:spPr>
          <a:xfrm>
            <a:off x="179510" y="1377042"/>
            <a:ext cx="8136906" cy="707886"/>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SVD: </a:t>
            </a:r>
            <a:r>
              <a:rPr lang="en-US" altLang="zh-TW" sz="1600" dirty="0"/>
              <a:t>Matrix Decomposition.</a:t>
            </a:r>
            <a:endParaRPr lang="en-US" altLang="zh-TW" sz="1600" b="1" dirty="0"/>
          </a:p>
        </p:txBody>
      </p:sp>
    </p:spTree>
    <p:extLst>
      <p:ext uri="{BB962C8B-B14F-4D97-AF65-F5344CB8AC3E}">
        <p14:creationId xmlns:p14="http://schemas.microsoft.com/office/powerpoint/2010/main" val="1781003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aphicFrame>
        <p:nvGraphicFramePr>
          <p:cNvPr id="8" name="表格 7">
            <a:extLst>
              <a:ext uri="{FF2B5EF4-FFF2-40B4-BE49-F238E27FC236}">
                <a16:creationId xmlns:a16="http://schemas.microsoft.com/office/drawing/2014/main" id="{3E5C1892-EFAE-EC36-F73D-E996CC3D8860}"/>
              </a:ext>
            </a:extLst>
          </p:cNvPr>
          <p:cNvGraphicFramePr>
            <a:graphicFrameLocks noGrp="1"/>
          </p:cNvGraphicFramePr>
          <p:nvPr>
            <p:extLst>
              <p:ext uri="{D42A27DB-BD31-4B8C-83A1-F6EECF244321}">
                <p14:modId xmlns:p14="http://schemas.microsoft.com/office/powerpoint/2010/main" val="3641951112"/>
              </p:ext>
            </p:extLst>
          </p:nvPr>
        </p:nvGraphicFramePr>
        <p:xfrm>
          <a:off x="446679" y="1588297"/>
          <a:ext cx="2061433" cy="94346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LoRA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Freeze All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Inject Layers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Active LoRA (A+B)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Quantization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00520025"/>
                  </a:ext>
                </a:extLst>
              </a:tr>
            </a:tbl>
          </a:graphicData>
        </a:graphic>
      </p:graphicFrame>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pSp>
        <p:nvGrpSpPr>
          <p:cNvPr id="3" name="群組 2">
            <a:extLst>
              <a:ext uri="{FF2B5EF4-FFF2-40B4-BE49-F238E27FC236}">
                <a16:creationId xmlns:a16="http://schemas.microsoft.com/office/drawing/2014/main" id="{7AF23005-989C-0817-83B8-9C68863919D4}"/>
              </a:ext>
            </a:extLst>
          </p:cNvPr>
          <p:cNvGrpSpPr/>
          <p:nvPr/>
        </p:nvGrpSpPr>
        <p:grpSpPr>
          <a:xfrm>
            <a:off x="282880" y="1405304"/>
            <a:ext cx="1404468" cy="4327952"/>
            <a:chOff x="282880" y="1405304"/>
            <a:chExt cx="1404468" cy="4327952"/>
          </a:xfrm>
        </p:grpSpPr>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grpSp>
      <p:grpSp>
        <p:nvGrpSpPr>
          <p:cNvPr id="8" name="群組 7">
            <a:extLst>
              <a:ext uri="{FF2B5EF4-FFF2-40B4-BE49-F238E27FC236}">
                <a16:creationId xmlns:a16="http://schemas.microsoft.com/office/drawing/2014/main" id="{84C7642D-755A-C0ED-3DD8-FA70E95B43E3}"/>
              </a:ext>
            </a:extLst>
          </p:cNvPr>
          <p:cNvGrpSpPr/>
          <p:nvPr/>
        </p:nvGrpSpPr>
        <p:grpSpPr>
          <a:xfrm>
            <a:off x="1939064" y="1405304"/>
            <a:ext cx="1404186" cy="4327952"/>
            <a:chOff x="1939064" y="1405304"/>
            <a:chExt cx="1404186" cy="4327952"/>
          </a:xfrm>
        </p:grpSpPr>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gr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圖片 12">
            <a:extLst>
              <a:ext uri="{FF2B5EF4-FFF2-40B4-BE49-F238E27FC236}">
                <a16:creationId xmlns:a16="http://schemas.microsoft.com/office/drawing/2014/main" id="{2B1D888A-E512-8AFB-AB9A-F2663716C8A1}"/>
              </a:ext>
            </a:extLst>
          </p:cNvPr>
          <p:cNvPicPr>
            <a:picLocks noChangeAspect="1"/>
          </p:cNvPicPr>
          <p:nvPr/>
        </p:nvPicPr>
        <p:blipFill>
          <a:blip r:embed="rId3"/>
          <a:stretch>
            <a:fillRect/>
          </a:stretch>
        </p:blipFill>
        <p:spPr>
          <a:xfrm>
            <a:off x="0" y="980728"/>
            <a:ext cx="9144000" cy="4314654"/>
          </a:xfrm>
          <a:prstGeom prst="rect">
            <a:avLst/>
          </a:prstGeom>
        </p:spPr>
      </p:pic>
      <p:sp>
        <p:nvSpPr>
          <p:cNvPr id="5" name="標題 1">
            <a:extLst>
              <a:ext uri="{FF2B5EF4-FFF2-40B4-BE49-F238E27FC236}">
                <a16:creationId xmlns:a16="http://schemas.microsoft.com/office/drawing/2014/main" id="{39FE1AA6-4EAA-056D-8A24-89A81C3BF804}"/>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DeepSWE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 S</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oftware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W</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ork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ngineering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DeepSWE: Measuring Frontier Coding Agents on Original, Long-Horizon Engineering Tasks.</a:t>
            </a:r>
          </a:p>
        </p:txBody>
      </p:sp>
      <p:pic>
        <p:nvPicPr>
          <p:cNvPr id="11" name="圖片 10">
            <a:extLst>
              <a:ext uri="{FF2B5EF4-FFF2-40B4-BE49-F238E27FC236}">
                <a16:creationId xmlns:a16="http://schemas.microsoft.com/office/drawing/2014/main" id="{E94EF3C9-A35B-1FB9-3620-3D7C2BF4C72C}"/>
              </a:ext>
            </a:extLst>
          </p:cNvPr>
          <p:cNvPicPr>
            <a:picLocks noChangeAspect="1"/>
          </p:cNvPicPr>
          <p:nvPr/>
        </p:nvPicPr>
        <p:blipFill>
          <a:blip r:embed="rId5"/>
          <a:stretch>
            <a:fillRect/>
          </a:stretch>
        </p:blipFill>
        <p:spPr>
          <a:xfrm>
            <a:off x="899592" y="3212976"/>
            <a:ext cx="1584176" cy="3541099"/>
          </a:xfrm>
          <a:prstGeom prst="rect">
            <a:avLst/>
          </a:prstGeom>
        </p:spPr>
      </p:pic>
      <p:sp>
        <p:nvSpPr>
          <p:cNvPr id="15" name="文字方塊 14">
            <a:extLst>
              <a:ext uri="{FF2B5EF4-FFF2-40B4-BE49-F238E27FC236}">
                <a16:creationId xmlns:a16="http://schemas.microsoft.com/office/drawing/2014/main" id="{0C1D6EFB-5D4E-A0CF-32F7-D455AE736DAD}"/>
              </a:ext>
            </a:extLst>
          </p:cNvPr>
          <p:cNvSpPr txBox="1"/>
          <p:nvPr/>
        </p:nvSpPr>
        <p:spPr>
          <a:xfrm>
            <a:off x="3617893" y="5596037"/>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Avg cost per task</a:t>
            </a:r>
          </a:p>
          <a:p>
            <a:pPr algn="ctr"/>
            <a:r>
              <a:rPr lang="en-US" altLang="zh-TW" sz="1200" dirty="0">
                <a:solidFill>
                  <a:schemeClr val="tx1">
                    <a:lumMod val="65000"/>
                    <a:lumOff val="35000"/>
                  </a:schemeClr>
                </a:solidFill>
                <a:ea typeface="Cambria Math" panose="02040503050406030204" pitchFamily="18" charset="0"/>
              </a:rPr>
              <a:t>(113 tasks, updated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18950036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A5C4F568-3DFA-8382-4525-C8DD5A833A1B}"/>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3"/>
              </a:rPr>
              <a:t>Agent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Dynamic ranking of models on how well they orchestrate tools for real-world agentic tasks, based on signals like tool reliability, task completion, and steerability.</a:t>
            </a:r>
          </a:p>
        </p:txBody>
      </p:sp>
      <p:pic>
        <p:nvPicPr>
          <p:cNvPr id="9" name="圖片 8">
            <a:extLst>
              <a:ext uri="{FF2B5EF4-FFF2-40B4-BE49-F238E27FC236}">
                <a16:creationId xmlns:a16="http://schemas.microsoft.com/office/drawing/2014/main" id="{7EA5FBFC-20E5-1BDE-8E12-0C96086F903F}"/>
              </a:ext>
            </a:extLst>
          </p:cNvPr>
          <p:cNvPicPr>
            <a:picLocks noChangeAspect="1"/>
          </p:cNvPicPr>
          <p:nvPr/>
        </p:nvPicPr>
        <p:blipFill>
          <a:blip r:embed="rId4"/>
          <a:stretch>
            <a:fillRect/>
          </a:stretch>
        </p:blipFill>
        <p:spPr>
          <a:xfrm>
            <a:off x="99388" y="2924944"/>
            <a:ext cx="8945223" cy="3362794"/>
          </a:xfrm>
          <a:prstGeom prst="rect">
            <a:avLst/>
          </a:prstGeom>
        </p:spPr>
      </p:pic>
      <p:pic>
        <p:nvPicPr>
          <p:cNvPr id="11" name="圖片 10">
            <a:extLst>
              <a:ext uri="{FF2B5EF4-FFF2-40B4-BE49-F238E27FC236}">
                <a16:creationId xmlns:a16="http://schemas.microsoft.com/office/drawing/2014/main" id="{0233300B-9750-0449-9CFB-9A96F6C19BE4}"/>
              </a:ext>
            </a:extLst>
          </p:cNvPr>
          <p:cNvPicPr>
            <a:picLocks noChangeAspect="1"/>
          </p:cNvPicPr>
          <p:nvPr/>
        </p:nvPicPr>
        <p:blipFill>
          <a:blip r:embed="rId5"/>
          <a:stretch>
            <a:fillRect/>
          </a:stretch>
        </p:blipFill>
        <p:spPr>
          <a:xfrm>
            <a:off x="6804248" y="116631"/>
            <a:ext cx="2240363" cy="3639549"/>
          </a:xfrm>
          <a:prstGeom prst="rect">
            <a:avLst/>
          </a:prstGeom>
          <a:effectLst>
            <a:glow rad="76200">
              <a:schemeClr val="accent3">
                <a:lumMod val="50000"/>
              </a:schemeClr>
            </a:glow>
            <a:softEdge rad="0"/>
          </a:effectLst>
        </p:spPr>
      </p:pic>
      <p:sp>
        <p:nvSpPr>
          <p:cNvPr id="13" name="文字方塊 12">
            <a:extLst>
              <a:ext uri="{FF2B5EF4-FFF2-40B4-BE49-F238E27FC236}">
                <a16:creationId xmlns:a16="http://schemas.microsoft.com/office/drawing/2014/main" id="{7469C923-C931-199B-D609-1EB0F4D754BF}"/>
              </a:ext>
            </a:extLst>
          </p:cNvPr>
          <p:cNvSpPr txBox="1"/>
          <p:nvPr/>
        </p:nvSpPr>
        <p:spPr>
          <a:xfrm>
            <a:off x="97131" y="2168742"/>
            <a:ext cx="1954589" cy="61218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lang="en-US" altLang="zh-TW" sz="1200" dirty="0">
                <a:solidFill>
                  <a:schemeClr val="tx1">
                    <a:lumMod val="65000"/>
                    <a:lumOff val="35000"/>
                  </a:schemeClr>
                </a:solidFill>
                <a:ea typeface="Cambria Math" panose="02040503050406030204" pitchFamily="18" charset="0"/>
              </a:rPr>
              <a:t>Net Improvement x Cost/task </a:t>
            </a:r>
          </a:p>
          <a:p>
            <a:r>
              <a:rPr lang="en-US" altLang="zh-TW" sz="1200" dirty="0">
                <a:solidFill>
                  <a:schemeClr val="tx1">
                    <a:lumMod val="65000"/>
                    <a:lumOff val="35000"/>
                  </a:schemeClr>
                </a:solidFill>
                <a:ea typeface="Cambria Math" panose="02040503050406030204" pitchFamily="18" charset="0"/>
              </a:rPr>
              <a:t>from real Agent Mode tasks</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7" name="文字方塊 6">
            <a:extLst>
              <a:ext uri="{FF2B5EF4-FFF2-40B4-BE49-F238E27FC236}">
                <a16:creationId xmlns:a16="http://schemas.microsoft.com/office/drawing/2014/main" id="{A65F77F6-A88B-2FDF-1597-BE0605C993FA}"/>
              </a:ext>
            </a:extLst>
          </p:cNvPr>
          <p:cNvSpPr txBox="1"/>
          <p:nvPr/>
        </p:nvSpPr>
        <p:spPr>
          <a:xfrm>
            <a:off x="3617893" y="5445224"/>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Median cost per task</a:t>
            </a:r>
          </a:p>
          <a:p>
            <a:pPr algn="ctr"/>
            <a:r>
              <a:rPr lang="en-US" altLang="zh-TW" sz="1200" dirty="0">
                <a:solidFill>
                  <a:schemeClr val="tx1">
                    <a:lumMod val="65000"/>
                    <a:lumOff val="35000"/>
                  </a:schemeClr>
                </a:solidFill>
                <a:ea typeface="Cambria Math" panose="02040503050406030204" pitchFamily="18" charset="0"/>
              </a:rPr>
              <a:t>(last 14 days,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29458302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F917B-2BED-DF73-A3FB-B159764110DF}"/>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8719F25B-C5E7-AF78-E7FD-04744FCC3DB0}"/>
              </a:ext>
            </a:extLst>
          </p:cNvPr>
          <p:cNvPicPr>
            <a:picLocks noChangeAspect="1"/>
          </p:cNvPicPr>
          <p:nvPr/>
        </p:nvPicPr>
        <p:blipFill>
          <a:blip r:embed="rId3"/>
          <a:stretch>
            <a:fillRect/>
          </a:stretch>
        </p:blipFill>
        <p:spPr>
          <a:xfrm>
            <a:off x="0" y="1556792"/>
            <a:ext cx="9144000" cy="4993667"/>
          </a:xfrm>
          <a:prstGeom prst="rect">
            <a:avLst/>
          </a:prstGeom>
        </p:spPr>
      </p:pic>
      <p:sp>
        <p:nvSpPr>
          <p:cNvPr id="3" name="標題 1">
            <a:extLst>
              <a:ext uri="{FF2B5EF4-FFF2-40B4-BE49-F238E27FC236}">
                <a16:creationId xmlns:a16="http://schemas.microsoft.com/office/drawing/2014/main" id="{DBFEC646-8F67-91FB-5F07-2D5AB2CE5FB2}"/>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Text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View overall rankings across various AI models in text-to-text tasks across math, coding, creative writing, and other open-ended domains.</a:t>
            </a:r>
          </a:p>
        </p:txBody>
      </p:sp>
      <p:sp>
        <p:nvSpPr>
          <p:cNvPr id="7" name="文字方塊 6">
            <a:extLst>
              <a:ext uri="{FF2B5EF4-FFF2-40B4-BE49-F238E27FC236}">
                <a16:creationId xmlns:a16="http://schemas.microsoft.com/office/drawing/2014/main" id="{CDB6239F-1717-B8E1-A207-B7F7EAE3058A}"/>
              </a:ext>
            </a:extLst>
          </p:cNvPr>
          <p:cNvSpPr txBox="1"/>
          <p:nvPr/>
        </p:nvSpPr>
        <p:spPr>
          <a:xfrm>
            <a:off x="3617893" y="6172101"/>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Blended price per 1M tokens</a:t>
            </a:r>
          </a:p>
          <a:p>
            <a:pPr algn="ctr"/>
            <a:r>
              <a:rPr lang="en-US" altLang="zh-TW" sz="1200" dirty="0">
                <a:solidFill>
                  <a:schemeClr val="tx1">
                    <a:lumMod val="65000"/>
                    <a:lumOff val="35000"/>
                  </a:schemeClr>
                </a:solidFill>
                <a:ea typeface="Cambria Math" panose="02040503050406030204" pitchFamily="18" charset="0"/>
              </a:rPr>
              <a:t>(3:1 Ratio)</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13" name="文字方塊 12">
            <a:extLst>
              <a:ext uri="{FF2B5EF4-FFF2-40B4-BE49-F238E27FC236}">
                <a16:creationId xmlns:a16="http://schemas.microsoft.com/office/drawing/2014/main" id="{4A229551-220B-F2F4-DF9A-D98D727027A4}"/>
              </a:ext>
            </a:extLst>
          </p:cNvPr>
          <p:cNvSpPr txBox="1"/>
          <p:nvPr/>
        </p:nvSpPr>
        <p:spPr>
          <a:xfrm>
            <a:off x="99388" y="2204864"/>
            <a:ext cx="1450533" cy="720080"/>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Model performance</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at each price point</a:t>
            </a:r>
          </a:p>
        </p:txBody>
      </p:sp>
      <p:sp>
        <p:nvSpPr>
          <p:cNvPr id="10" name="文字方塊 9">
            <a:extLst>
              <a:ext uri="{FF2B5EF4-FFF2-40B4-BE49-F238E27FC236}">
                <a16:creationId xmlns:a16="http://schemas.microsoft.com/office/drawing/2014/main" id="{D7BDAB37-452B-E631-B1C7-62F168CA9B05}"/>
              </a:ext>
            </a:extLst>
          </p:cNvPr>
          <p:cNvSpPr txBox="1"/>
          <p:nvPr/>
        </p:nvSpPr>
        <p:spPr>
          <a:xfrm>
            <a:off x="2481511"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$20</a:t>
            </a:r>
          </a:p>
        </p:txBody>
      </p:sp>
      <p:sp>
        <p:nvSpPr>
          <p:cNvPr id="14" name="文字方塊 13">
            <a:extLst>
              <a:ext uri="{FF2B5EF4-FFF2-40B4-BE49-F238E27FC236}">
                <a16:creationId xmlns:a16="http://schemas.microsoft.com/office/drawing/2014/main" id="{70BEBE3D-2AF6-E1E3-173A-19BD0106F806}"/>
              </a:ext>
            </a:extLst>
          </p:cNvPr>
          <p:cNvSpPr txBox="1"/>
          <p:nvPr/>
        </p:nvSpPr>
        <p:spPr>
          <a:xfrm>
            <a:off x="1547664"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$50</a:t>
            </a:r>
          </a:p>
        </p:txBody>
      </p:sp>
      <p:sp>
        <p:nvSpPr>
          <p:cNvPr id="16" name="文字方塊 15">
            <a:extLst>
              <a:ext uri="{FF2B5EF4-FFF2-40B4-BE49-F238E27FC236}">
                <a16:creationId xmlns:a16="http://schemas.microsoft.com/office/drawing/2014/main" id="{BB625830-132C-851A-62C1-B42C286F2E11}"/>
              </a:ext>
            </a:extLst>
          </p:cNvPr>
          <p:cNvSpPr txBox="1"/>
          <p:nvPr/>
        </p:nvSpPr>
        <p:spPr>
          <a:xfrm>
            <a:off x="8460432" y="6608230"/>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$0.05</a:t>
            </a:r>
          </a:p>
        </p:txBody>
      </p:sp>
      <p:sp>
        <p:nvSpPr>
          <p:cNvPr id="18" name="文字方塊 17">
            <a:extLst>
              <a:ext uri="{FF2B5EF4-FFF2-40B4-BE49-F238E27FC236}">
                <a16:creationId xmlns:a16="http://schemas.microsoft.com/office/drawing/2014/main" id="{8ECD153E-8B4F-7FF8-013D-89B37FAAA210}"/>
              </a:ext>
            </a:extLst>
          </p:cNvPr>
          <p:cNvSpPr txBox="1"/>
          <p:nvPr/>
        </p:nvSpPr>
        <p:spPr>
          <a:xfrm>
            <a:off x="5652120"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$1</a:t>
            </a:r>
          </a:p>
        </p:txBody>
      </p:sp>
      <p:sp>
        <p:nvSpPr>
          <p:cNvPr id="20" name="文字方塊 19">
            <a:extLst>
              <a:ext uri="{FF2B5EF4-FFF2-40B4-BE49-F238E27FC236}">
                <a16:creationId xmlns:a16="http://schemas.microsoft.com/office/drawing/2014/main" id="{B1BB2824-A837-4B67-7896-D6E7DC46FF40}"/>
              </a:ext>
            </a:extLst>
          </p:cNvPr>
          <p:cNvSpPr txBox="1"/>
          <p:nvPr/>
        </p:nvSpPr>
        <p:spPr>
          <a:xfrm>
            <a:off x="5001791" y="6610227"/>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a:t>
            </a:r>
          </a:p>
        </p:txBody>
      </p:sp>
      <p:sp>
        <p:nvSpPr>
          <p:cNvPr id="24" name="文字方塊 23">
            <a:extLst>
              <a:ext uri="{FF2B5EF4-FFF2-40B4-BE49-F238E27FC236}">
                <a16:creationId xmlns:a16="http://schemas.microsoft.com/office/drawing/2014/main" id="{BFDC8BDC-40D7-5347-05F5-1C9758BC2DD2}"/>
              </a:ext>
            </a:extLst>
          </p:cNvPr>
          <p:cNvSpPr txBox="1"/>
          <p:nvPr/>
        </p:nvSpPr>
        <p:spPr>
          <a:xfrm>
            <a:off x="205855" y="5589240"/>
            <a:ext cx="504056" cy="4253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Arena</a:t>
            </a:r>
          </a:p>
          <a:p>
            <a:pPr algn="ctr"/>
            <a:r>
              <a:rPr lang="en-US" altLang="zh-TW" sz="1400" b="1" dirty="0">
                <a:ea typeface="Cambria Math" panose="02040503050406030204" pitchFamily="18" charset="0"/>
              </a:rPr>
              <a:t>Score</a:t>
            </a:r>
          </a:p>
        </p:txBody>
      </p:sp>
      <p:pic>
        <p:nvPicPr>
          <p:cNvPr id="26" name="圖片 25">
            <a:extLst>
              <a:ext uri="{FF2B5EF4-FFF2-40B4-BE49-F238E27FC236}">
                <a16:creationId xmlns:a16="http://schemas.microsoft.com/office/drawing/2014/main" id="{BF72E690-F338-721D-9BAF-E5D2C81EEB8C}"/>
              </a:ext>
            </a:extLst>
          </p:cNvPr>
          <p:cNvPicPr>
            <a:picLocks noChangeAspect="1"/>
          </p:cNvPicPr>
          <p:nvPr/>
        </p:nvPicPr>
        <p:blipFill>
          <a:blip r:embed="rId5"/>
          <a:stretch>
            <a:fillRect/>
          </a:stretch>
        </p:blipFill>
        <p:spPr>
          <a:xfrm>
            <a:off x="6804248" y="1582341"/>
            <a:ext cx="1221486" cy="528210"/>
          </a:xfrm>
          <a:prstGeom prst="rect">
            <a:avLst/>
          </a:prstGeom>
        </p:spPr>
      </p:pic>
      <p:pic>
        <p:nvPicPr>
          <p:cNvPr id="28" name="圖片 27">
            <a:extLst>
              <a:ext uri="{FF2B5EF4-FFF2-40B4-BE49-F238E27FC236}">
                <a16:creationId xmlns:a16="http://schemas.microsoft.com/office/drawing/2014/main" id="{D3C265AA-0CC5-7950-04A6-DEE5E50044EA}"/>
              </a:ext>
            </a:extLst>
          </p:cNvPr>
          <p:cNvPicPr>
            <a:picLocks noChangeAspect="1"/>
          </p:cNvPicPr>
          <p:nvPr/>
        </p:nvPicPr>
        <p:blipFill>
          <a:blip r:embed="rId6"/>
          <a:stretch>
            <a:fillRect/>
          </a:stretch>
        </p:blipFill>
        <p:spPr>
          <a:xfrm>
            <a:off x="7867980" y="2396734"/>
            <a:ext cx="1184904" cy="528210"/>
          </a:xfrm>
          <a:prstGeom prst="rect">
            <a:avLst/>
          </a:prstGeom>
        </p:spPr>
      </p:pic>
    </p:spTree>
    <p:extLst>
      <p:ext uri="{BB962C8B-B14F-4D97-AF65-F5344CB8AC3E}">
        <p14:creationId xmlns:p14="http://schemas.microsoft.com/office/powerpoint/2010/main" val="830284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LLeMA</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1624</TotalTime>
  <Words>18957</Words>
  <Application>Microsoft Office PowerPoint</Application>
  <PresentationFormat>如螢幕大小 (4:3)</PresentationFormat>
  <Paragraphs>3017</Paragraphs>
  <Slides>49</Slides>
  <Notes>40</Notes>
  <HiddenSlides>7</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49</vt:i4>
      </vt:variant>
    </vt:vector>
  </HeadingPairs>
  <TitlesOfParts>
    <vt:vector size="67"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1904</cp:revision>
  <cp:lastPrinted>2024-07-30T01:44:15Z</cp:lastPrinted>
  <dcterms:created xsi:type="dcterms:W3CDTF">2019-11-08T03:01:47Z</dcterms:created>
  <dcterms:modified xsi:type="dcterms:W3CDTF">2026-09-11T08:26:15Z</dcterms:modified>
</cp:coreProperties>
</file>