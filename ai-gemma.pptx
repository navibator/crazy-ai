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1"/>
  </p:notesMasterIdLst>
  <p:handoutMasterIdLst>
    <p:handoutMasterId r:id="rId52"/>
  </p:handoutMasterIdLst>
  <p:sldIdLst>
    <p:sldId id="3459" r:id="rId2"/>
    <p:sldId id="3472" r:id="rId3"/>
    <p:sldId id="3511" r:id="rId4"/>
    <p:sldId id="3504" r:id="rId5"/>
    <p:sldId id="3427" r:id="rId6"/>
    <p:sldId id="3503" r:id="rId7"/>
    <p:sldId id="3470" r:id="rId8"/>
    <p:sldId id="3471" r:id="rId9"/>
    <p:sldId id="3561" r:id="rId10"/>
    <p:sldId id="3482" r:id="rId11"/>
    <p:sldId id="3560" r:id="rId12"/>
    <p:sldId id="3483" r:id="rId13"/>
    <p:sldId id="3557" r:id="rId14"/>
    <p:sldId id="3428" r:id="rId15"/>
    <p:sldId id="3451" r:id="rId16"/>
    <p:sldId id="3552" r:id="rId17"/>
    <p:sldId id="3465" r:id="rId18"/>
    <p:sldId id="3558" r:id="rId19"/>
    <p:sldId id="3559" r:id="rId20"/>
    <p:sldId id="3505" r:id="rId21"/>
    <p:sldId id="3507" r:id="rId22"/>
    <p:sldId id="3460" r:id="rId23"/>
    <p:sldId id="3509" r:id="rId24"/>
    <p:sldId id="3479" r:id="rId25"/>
    <p:sldId id="3467" r:id="rId26"/>
    <p:sldId id="3531" r:id="rId27"/>
    <p:sldId id="3499" r:id="rId28"/>
    <p:sldId id="3444" r:id="rId29"/>
    <p:sldId id="3532" r:id="rId30"/>
    <p:sldId id="3520" r:id="rId31"/>
    <p:sldId id="3518" r:id="rId32"/>
    <p:sldId id="3475" r:id="rId33"/>
    <p:sldId id="3527" r:id="rId34"/>
    <p:sldId id="3550" r:id="rId35"/>
    <p:sldId id="3515" r:id="rId36"/>
    <p:sldId id="3556" r:id="rId37"/>
    <p:sldId id="3528" r:id="rId38"/>
    <p:sldId id="3514" r:id="rId39"/>
    <p:sldId id="3529" r:id="rId40"/>
    <p:sldId id="3555" r:id="rId41"/>
    <p:sldId id="3553" r:id="rId42"/>
    <p:sldId id="3554" r:id="rId43"/>
    <p:sldId id="3549" r:id="rId44"/>
    <p:sldId id="3519" r:id="rId45"/>
    <p:sldId id="3530" r:id="rId46"/>
    <p:sldId id="269" r:id="rId47"/>
    <p:sldId id="270" r:id="rId48"/>
    <p:sldId id="257" r:id="rId49"/>
    <p:sldId id="265" r:id="rId5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561"/>
            <p14:sldId id="3482"/>
            <p14:sldId id="3560"/>
            <p14:sldId id="3483"/>
            <p14:sldId id="3557"/>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p:scale>
          <a:sx n="100" d="100"/>
          <a:sy n="100" d="100"/>
        </p:scale>
        <p:origin x="900" y="23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5.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3.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49</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2026/9/12</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160.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4.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0.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0.png"/><Relationship Id="rId14" Type="http://schemas.openxmlformats.org/officeDocument/2006/relationships/image" Target="../media/image27.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42.svg"/></Relationships>
</file>

<file path=ppt/slides/_rels/slide18.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44.png"/><Relationship Id="rId7"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5.png"/><Relationship Id="rId5" Type="http://schemas.openxmlformats.org/officeDocument/2006/relationships/image" Target="../media/image410.png"/><Relationship Id="rId4" Type="http://schemas.openxmlformats.org/officeDocument/2006/relationships/image" Target="../media/image400.png"/></Relationships>
</file>

<file path=ppt/slides/_rels/slide20.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22.xml.rels><?xml version="1.0" encoding="UTF-8" standalone="yes"?>
<Relationships xmlns="http://schemas.openxmlformats.org/package/2006/relationships"><Relationship Id="rId3" Type="http://schemas.openxmlformats.org/officeDocument/2006/relationships/image" Target="../media/image50.svg"/><Relationship Id="rId7" Type="http://schemas.openxmlformats.org/officeDocument/2006/relationships/image" Target="../media/image5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52.sv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66.svg"/><Relationship Id="rId3" Type="http://schemas.openxmlformats.org/officeDocument/2006/relationships/image" Target="../media/image60.svg"/><Relationship Id="rId7" Type="http://schemas.openxmlformats.org/officeDocument/2006/relationships/image" Target="../media/image65.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4.svg"/><Relationship Id="rId5" Type="http://schemas.openxmlformats.org/officeDocument/2006/relationships/image" Target="../media/image63.png"/><Relationship Id="rId10" Type="http://schemas.openxmlformats.org/officeDocument/2006/relationships/image" Target="../media/image68.svg"/><Relationship Id="rId4" Type="http://schemas.openxmlformats.org/officeDocument/2006/relationships/image" Target="../media/image61.svg"/><Relationship Id="rId9" Type="http://schemas.openxmlformats.org/officeDocument/2006/relationships/image" Target="../media/image67.svg"/></Relationships>
</file>

<file path=ppt/slides/_rels/slide28.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1.sv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72.svg"/></Relationships>
</file>

<file path=ppt/slides/_rels/slide30.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3.xml"/><Relationship Id="rId4" Type="http://schemas.openxmlformats.org/officeDocument/2006/relationships/image" Target="../media/image74.jpeg"/></Relationships>
</file>

<file path=ppt/slides/_rels/slide31.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jpeg"/></Relationships>
</file>

<file path=ppt/slides/_rels/slide32.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1.svg"/></Relationships>
</file>

<file path=ppt/slides/_rels/slide33.xml.rels><?xml version="1.0" encoding="UTF-8" standalone="yes"?>
<Relationships xmlns="http://schemas.openxmlformats.org/package/2006/relationships"><Relationship Id="rId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85.svg"/><Relationship Id="rId5" Type="http://schemas.openxmlformats.org/officeDocument/2006/relationships/image" Target="../media/image84.svg"/><Relationship Id="rId4" Type="http://schemas.openxmlformats.org/officeDocument/2006/relationships/image" Target="../media/image83.svg"/></Relationships>
</file>

<file path=ppt/slides/_rels/slide34.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88.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1.png"/><Relationship Id="rId4" Type="http://schemas.openxmlformats.org/officeDocument/2006/relationships/hyperlink" Target="https://deepswe.datacurve.ai/"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6.xml"/><Relationship Id="rId1" Type="http://schemas.openxmlformats.org/officeDocument/2006/relationships/slideLayout" Target="../slideLayouts/slideLayout3.xml"/><Relationship Id="rId5" Type="http://schemas.openxmlformats.org/officeDocument/2006/relationships/image" Target="../media/image93.png"/><Relationship Id="rId4" Type="http://schemas.openxmlformats.org/officeDocument/2006/relationships/image" Target="../media/image92.png"/></Relationships>
</file>

<file path=ppt/slides/_rels/slide4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hyperlink" Target="https://arena.ai/leaderboard/text/pareto" TargetMode="External"/></Relationships>
</file>

<file path=ppt/slides/_rels/slide4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00.png"/><Relationship Id="rId2" Type="http://schemas.openxmlformats.org/officeDocument/2006/relationships/notesSlide" Target="../notesSlides/notesSlide38.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9.png"/><Relationship Id="rId5" Type="http://schemas.openxmlformats.org/officeDocument/2006/relationships/image" Target="../media/image3.png"/><Relationship Id="rId10" Type="http://schemas.openxmlformats.org/officeDocument/2006/relationships/image" Target="../media/image98.png"/><Relationship Id="rId4" Type="http://schemas.openxmlformats.org/officeDocument/2006/relationships/image" Target="../media/image2.png"/><Relationship Id="rId9" Type="http://schemas.openxmlformats.org/officeDocument/2006/relationships/image" Target="../media/image97.png"/></Relationships>
</file>

<file path=ppt/slides/_rels/slide44.xml.rels><?xml version="1.0" encoding="UTF-8" standalone="yes"?>
<Relationships xmlns="http://schemas.openxmlformats.org/package/2006/relationships"><Relationship Id="rId3" Type="http://schemas.openxmlformats.org/officeDocument/2006/relationships/image" Target="../media/image102.png"/><Relationship Id="rId7" Type="http://schemas.openxmlformats.org/officeDocument/2006/relationships/image" Target="../media/image73.png"/><Relationship Id="rId2" Type="http://schemas.openxmlformats.org/officeDocument/2006/relationships/image" Target="../media/image101.png"/><Relationship Id="rId1" Type="http://schemas.openxmlformats.org/officeDocument/2006/relationships/slideLayout" Target="../slideLayouts/slideLayout3.xml"/><Relationship Id="rId6" Type="http://schemas.openxmlformats.org/officeDocument/2006/relationships/image" Target="../media/image74.jpeg"/><Relationship Id="rId5" Type="http://schemas.openxmlformats.org/officeDocument/2006/relationships/image" Target="../media/image63.png"/><Relationship Id="rId4" Type="http://schemas.openxmlformats.org/officeDocument/2006/relationships/image" Target="../media/image103.png"/></Relationships>
</file>

<file path=ppt/slides/_rels/slide45.xml.rels><?xml version="1.0" encoding="UTF-8" standalone="yes"?>
<Relationships xmlns="http://schemas.openxmlformats.org/package/2006/relationships"><Relationship Id="rId2" Type="http://schemas.openxmlformats.org/officeDocument/2006/relationships/image" Target="../media/image74.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4.xml"/><Relationship Id="rId5" Type="http://schemas.openxmlformats.org/officeDocument/2006/relationships/image" Target="../media/image111.png"/><Relationship Id="rId4" Type="http://schemas.openxmlformats.org/officeDocument/2006/relationships/image" Target="../media/image110.png"/></Relationships>
</file>

<file path=ppt/slides/_rels/slide4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2.png"/><Relationship Id="rId7" Type="http://schemas.openxmlformats.org/officeDocument/2006/relationships/image" Target="../media/image115.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2300.png"/><Relationship Id="rId4" Type="http://schemas.openxmlformats.org/officeDocument/2006/relationships/image" Target="../media/image113.png"/></Relationships>
</file>

<file path=ppt/slides/_rels/slide49.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9"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003070" y="3212032"/>
            <a:ext cx="1214323"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MHA</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248491"/>
            <a:ext cx="219591" cy="67561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187711" cy="61798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文字方塊 1">
                <a:extLst>
                  <a:ext uri="{FF2B5EF4-FFF2-40B4-BE49-F238E27FC236}">
                    <a16:creationId xmlns:a16="http://schemas.microsoft.com/office/drawing/2014/main" id="{4F0AB958-786E-EB27-AA4B-087EE6B5EC37}"/>
                  </a:ext>
                </a:extLst>
              </p:cNvPr>
              <p:cNvSpPr txBox="1"/>
              <p:nvPr/>
            </p:nvSpPr>
            <p:spPr>
              <a:xfrm>
                <a:off x="7094828" y="3461381"/>
                <a:ext cx="632866" cy="378502"/>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000" b="0" i="0" smtClean="0">
                          <a:latin typeface="Cambria Math" panose="02040503050406030204" pitchFamily="18" charset="0"/>
                        </a:rPr>
                        <m:t>Pi</m:t>
                      </m:r>
                      <m:r>
                        <a:rPr lang="en-US" altLang="zh-TW" sz="1000" b="0" i="0" smtClean="0">
                          <a:latin typeface="Cambria Math" panose="02040503050406030204" pitchFamily="18" charset="0"/>
                        </a:rPr>
                        <m:t>=</m:t>
                      </m:r>
                      <m:f>
                        <m:fPr>
                          <m:ctrlPr>
                            <a:rPr lang="en-US" altLang="zh-TW" sz="1000" b="0" i="1" smtClean="0">
                              <a:latin typeface="Cambria Math" panose="02040503050406030204" pitchFamily="18" charset="0"/>
                            </a:rPr>
                          </m:ctrlPr>
                        </m:fPr>
                        <m:num>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Zi</m:t>
                              </m:r>
                            </m:sup>
                          </m:sSup>
                        </m:num>
                        <m:den>
                          <m:nary>
                            <m:naryPr>
                              <m:chr m:val="∑"/>
                              <m:ctrlPr>
                                <a:rPr lang="en-US" altLang="zh-TW" sz="1000" b="0" i="0" smtClean="0">
                                  <a:latin typeface="Cambria Math" panose="02040503050406030204" pitchFamily="18" charset="0"/>
                                </a:rPr>
                              </m:ctrlPr>
                            </m:naryPr>
                            <m:sub>
                              <m:r>
                                <m:rPr>
                                  <m:sty m:val="p"/>
                                  <m:brk m:alnAt="23"/>
                                </m:rPr>
                                <a:rPr lang="en-US" altLang="zh-TW" sz="1000" b="0" i="0" smtClean="0">
                                  <a:latin typeface="Cambria Math" panose="02040503050406030204" pitchFamily="18" charset="0"/>
                                </a:rPr>
                                <m:t>j</m:t>
                              </m:r>
                            </m:sub>
                            <m:sup>
                              <m:r>
                                <m:rPr>
                                  <m:sty m:val="p"/>
                                </m:rPr>
                                <a:rPr lang="en-US" altLang="zh-TW" sz="1000" b="0" i="0" smtClean="0">
                                  <a:latin typeface="Cambria Math" panose="02040503050406030204" pitchFamily="18" charset="0"/>
                                </a:rPr>
                                <m:t>V</m:t>
                              </m:r>
                            </m:sup>
                            <m:e>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Zj</m:t>
                                  </m:r>
                                </m:sup>
                              </m:sSup>
                            </m:e>
                          </m:nary>
                        </m:den>
                      </m:f>
                    </m:oMath>
                  </m:oMathPara>
                </a14:m>
                <a:endParaRPr lang="zh-TW" altLang="en-US" sz="1000" dirty="0"/>
              </a:p>
            </p:txBody>
          </p:sp>
        </mc:Choice>
        <mc:Fallback>
          <p:sp>
            <p:nvSpPr>
              <p:cNvPr id="2" name="文字方塊 1">
                <a:extLst>
                  <a:ext uri="{FF2B5EF4-FFF2-40B4-BE49-F238E27FC236}">
                    <a16:creationId xmlns:a16="http://schemas.microsoft.com/office/drawing/2014/main" id="{4F0AB958-786E-EB27-AA4B-087EE6B5EC37}"/>
                  </a:ext>
                </a:extLst>
              </p:cNvPr>
              <p:cNvSpPr txBox="1">
                <a:spLocks noRot="1" noChangeAspect="1" noMove="1" noResize="1" noEditPoints="1" noAdjustHandles="1" noChangeArrowheads="1" noChangeShapeType="1" noTextEdit="1"/>
              </p:cNvSpPr>
              <p:nvPr/>
            </p:nvSpPr>
            <p:spPr>
              <a:xfrm>
                <a:off x="7094828" y="3461381"/>
                <a:ext cx="632866" cy="378502"/>
              </a:xfrm>
              <a:prstGeom prst="rect">
                <a:avLst/>
              </a:prstGeom>
              <a:blipFill>
                <a:blip r:embed="rId2"/>
                <a:stretch>
                  <a:fillRect l="-4808" t="-16129" r="-35577" b="-10000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5537937" y="3189049"/>
            <a:ext cx="74412" cy="174322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2044377" y="2253855"/>
            <a:ext cx="2435277" cy="1835509"/>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829216" y="282269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1227362" y="2483502"/>
            <a:ext cx="331433"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821104" y="4043086"/>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847957" y="299617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2268973" y="2602926"/>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2269426" y="309333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6" name="矩形 15">
            <a:extLst>
              <a:ext uri="{FF2B5EF4-FFF2-40B4-BE49-F238E27FC236}">
                <a16:creationId xmlns:a16="http://schemas.microsoft.com/office/drawing/2014/main" id="{C674EB33-6561-8356-79AD-1532190CD138}"/>
              </a:ext>
            </a:extLst>
          </p:cNvPr>
          <p:cNvSpPr/>
          <p:nvPr/>
        </p:nvSpPr>
        <p:spPr>
          <a:xfrm>
            <a:off x="2261264" y="3611102"/>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585701" y="2648646"/>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2117248" y="2648646"/>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2117701" y="313905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0" name="文字方塊 19">
            <a:extLst>
              <a:ext uri="{FF2B5EF4-FFF2-40B4-BE49-F238E27FC236}">
                <a16:creationId xmlns:a16="http://schemas.microsoft.com/office/drawing/2014/main" id="{8821CD1F-7007-F075-AB29-57AF18B103CE}"/>
              </a:ext>
            </a:extLst>
          </p:cNvPr>
          <p:cNvSpPr txBox="1"/>
          <p:nvPr/>
        </p:nvSpPr>
        <p:spPr>
          <a:xfrm>
            <a:off x="2117701" y="3656822"/>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586154" y="313905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586154" y="3656822"/>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779032" y="2466216"/>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779032" y="2996175"/>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779032" y="3525383"/>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2268973" y="2458910"/>
            <a:ext cx="274320" cy="118033"/>
          </a:xfrm>
          <a:prstGeom prst="rect">
            <a:avLst/>
          </a:prstGeom>
          <a:noFill/>
        </p:spPr>
        <p:txBody>
          <a:bodyPr wrap="none" lIns="0" tIns="0" rIns="0" bIns="0" rtlCol="0" anchor="ctr" anchorCtr="1">
            <a:noAutofit/>
          </a:bodyPr>
          <a:lstStyle/>
          <a:p>
            <a:pPr algn="ctr"/>
            <a:r>
              <a:rPr lang="en-US" altLang="zh-TW" sz="1200" b="1" dirty="0"/>
              <a:t>d *d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1230971" y="2326449"/>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765320" y="231489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3205986" y="3013305"/>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4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2400" dirty="0">
              <a:solidFill>
                <a:schemeClr val="accent4"/>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300194" y="3064423"/>
            <a:ext cx="320040" cy="320040"/>
          </a:xfrm>
          <a:prstGeom prst="rtTriangle">
            <a:avLst/>
          </a:prstGeom>
          <a:solidFill>
            <a:schemeClr val="bg1">
              <a:alpha val="8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727097" y="4079581"/>
            <a:ext cx="1007749" cy="272533"/>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endParaRPr lang="en-US" altLang="zh-TW" sz="1200" dirty="0"/>
          </a:p>
        </p:txBody>
      </p:sp>
      <p:sp>
        <p:nvSpPr>
          <p:cNvPr id="33" name="矩形: 圓角 32">
            <a:extLst>
              <a:ext uri="{FF2B5EF4-FFF2-40B4-BE49-F238E27FC236}">
                <a16:creationId xmlns:a16="http://schemas.microsoft.com/office/drawing/2014/main" id="{A921377A-40EF-78AB-6BEA-E608C1F5801B}"/>
              </a:ext>
            </a:extLst>
          </p:cNvPr>
          <p:cNvSpPr/>
          <p:nvPr/>
        </p:nvSpPr>
        <p:spPr>
          <a:xfrm>
            <a:off x="4987641" y="2685931"/>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4732276" y="299271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746381" y="3013304"/>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3">
                    <a:lumMod val="75000"/>
                  </a:schemeClr>
                </a:solidFill>
                <a:latin typeface="ADLaM Display" panose="02010000000000000000" pitchFamily="2" charset="0"/>
                <a:cs typeface="ADLaM Display" panose="02010000000000000000" pitchFamily="2" charset="0"/>
              </a:rPr>
              <a:t>v</a:t>
            </a:r>
            <a:endParaRPr lang="zh-TW" altLang="en-US" sz="16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4570035" y="3098840"/>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7" name="矩形: 圓角 36">
            <a:extLst>
              <a:ext uri="{FF2B5EF4-FFF2-40B4-BE49-F238E27FC236}">
                <a16:creationId xmlns:a16="http://schemas.microsoft.com/office/drawing/2014/main" id="{7BBCCE7F-4FEF-31F9-29F3-F7D897C4FFCD}"/>
              </a:ext>
            </a:extLst>
          </p:cNvPr>
          <p:cNvSpPr/>
          <p:nvPr/>
        </p:nvSpPr>
        <p:spPr>
          <a:xfrm>
            <a:off x="4042681" y="3005629"/>
            <a:ext cx="378823" cy="457201"/>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288162" y="2847640"/>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701286" y="2850239"/>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5563706" y="2685931"/>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5425918" y="2992715"/>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5362123" y="3102467"/>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5929974" y="2695993"/>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6230732" y="2992714"/>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6091231" y="3102466"/>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5078604" y="3815742"/>
            <a:ext cx="1080120" cy="276823"/>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Layer(</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X</a:t>
            </a:r>
            <a:r>
              <a:rPr kumimoji="0" lang="en-US" altLang="zh-TW" sz="12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X</a:t>
            </a:r>
            <a:r>
              <a:rPr kumimoji="0" lang="en-US" altLang="zh-TW" sz="12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n+1</a:t>
            </a:r>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51" name="矩形 50">
            <a:extLst>
              <a:ext uri="{FF2B5EF4-FFF2-40B4-BE49-F238E27FC236}">
                <a16:creationId xmlns:a16="http://schemas.microsoft.com/office/drawing/2014/main" id="{F7C1906D-E521-4C0B-5AA7-25BAB494DD96}"/>
              </a:ext>
            </a:extLst>
          </p:cNvPr>
          <p:cNvSpPr/>
          <p:nvPr/>
        </p:nvSpPr>
        <p:spPr>
          <a:xfrm>
            <a:off x="6230732" y="3386630"/>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7094828" y="2818950"/>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7022820" y="3125664"/>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6662780" y="2488533"/>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7123210" y="3167954"/>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6697543" y="2324971"/>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stCxn id="51" idx="3"/>
            <a:endCxn id="56" idx="3"/>
          </p:cNvCxnSpPr>
          <p:nvPr/>
        </p:nvCxnSpPr>
        <p:spPr>
          <a:xfrm flipV="1">
            <a:off x="6459482" y="3346850"/>
            <a:ext cx="778103"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814908" y="2480041"/>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Prob.</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6878804" y="4089365"/>
            <a:ext cx="1080120" cy="385769"/>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8244408" y="2483502"/>
            <a:ext cx="324184"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8275531" y="2314894"/>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7728346" y="2314894"/>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533072" y="2480041"/>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pSp>
        <p:nvGrpSpPr>
          <p:cNvPr id="100" name="群組 99">
            <a:extLst>
              <a:ext uri="{FF2B5EF4-FFF2-40B4-BE49-F238E27FC236}">
                <a16:creationId xmlns:a16="http://schemas.microsoft.com/office/drawing/2014/main" id="{045FE08E-D646-9986-0810-7C3B04D5C6D3}"/>
              </a:ext>
            </a:extLst>
          </p:cNvPr>
          <p:cNvGrpSpPr/>
          <p:nvPr/>
        </p:nvGrpSpPr>
        <p:grpSpPr>
          <a:xfrm>
            <a:off x="1065746" y="4895897"/>
            <a:ext cx="3014965" cy="819997"/>
            <a:chOff x="1187624" y="3953478"/>
            <a:chExt cx="3014965" cy="819997"/>
          </a:xfrm>
        </p:grpSpPr>
        <p:sp>
          <p:nvSpPr>
            <p:cNvPr id="10" name="矩形 9">
              <a:extLst>
                <a:ext uri="{FF2B5EF4-FFF2-40B4-BE49-F238E27FC236}">
                  <a16:creationId xmlns:a16="http://schemas.microsoft.com/office/drawing/2014/main" id="{9B5B79AC-70BA-5AB2-D796-742CFD5C6F5D}"/>
                </a:ext>
              </a:extLst>
            </p:cNvPr>
            <p:cNvSpPr/>
            <p:nvPr/>
          </p:nvSpPr>
          <p:spPr>
            <a:xfrm>
              <a:off x="1700818" y="4133282"/>
              <a:ext cx="631980" cy="274320"/>
            </a:xfrm>
            <a:prstGeom prst="rect">
              <a:avLst/>
            </a:prstGeom>
            <a:solidFill>
              <a:schemeClr val="accent4">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activate</a:t>
              </a:r>
            </a:p>
          </p:txBody>
        </p:sp>
        <p:sp>
          <p:nvSpPr>
            <p:cNvPr id="27" name="矩形 26">
              <a:extLst>
                <a:ext uri="{FF2B5EF4-FFF2-40B4-BE49-F238E27FC236}">
                  <a16:creationId xmlns:a16="http://schemas.microsoft.com/office/drawing/2014/main" id="{9EF73A95-666F-80A5-84A8-BA82C5FB2488}"/>
                </a:ext>
              </a:extLst>
            </p:cNvPr>
            <p:cNvSpPr/>
            <p:nvPr/>
          </p:nvSpPr>
          <p:spPr>
            <a:xfrm>
              <a:off x="1340024" y="412392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6" name="矩形 45">
              <a:extLst>
                <a:ext uri="{FF2B5EF4-FFF2-40B4-BE49-F238E27FC236}">
                  <a16:creationId xmlns:a16="http://schemas.microsoft.com/office/drawing/2014/main" id="{65834C0C-1CF5-4118-8BC0-C424B0A656B4}"/>
                </a:ext>
              </a:extLst>
            </p:cNvPr>
            <p:cNvSpPr/>
            <p:nvPr/>
          </p:nvSpPr>
          <p:spPr>
            <a:xfrm>
              <a:off x="2926879" y="4145821"/>
              <a:ext cx="631980" cy="274320"/>
            </a:xfrm>
            <a:prstGeom prst="rect">
              <a:avLst/>
            </a:prstGeom>
            <a:solidFill>
              <a:schemeClr val="accent4">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up</a:t>
              </a:r>
            </a:p>
          </p:txBody>
        </p:sp>
        <p:sp>
          <p:nvSpPr>
            <p:cNvPr id="64" name="矩形 63">
              <a:extLst>
                <a:ext uri="{FF2B5EF4-FFF2-40B4-BE49-F238E27FC236}">
                  <a16:creationId xmlns:a16="http://schemas.microsoft.com/office/drawing/2014/main" id="{A8BF3ABE-6F3C-9F9E-271F-1D6CA6F2CB08}"/>
                </a:ext>
              </a:extLst>
            </p:cNvPr>
            <p:cNvSpPr/>
            <p:nvPr/>
          </p:nvSpPr>
          <p:spPr>
            <a:xfrm>
              <a:off x="2566085" y="413646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1" name="文字方塊 70">
              <a:extLst>
                <a:ext uri="{FF2B5EF4-FFF2-40B4-BE49-F238E27FC236}">
                  <a16:creationId xmlns:a16="http://schemas.microsoft.com/office/drawing/2014/main" id="{A49BA1EE-722A-98C3-9944-60C0A009679B}"/>
                </a:ext>
              </a:extLst>
            </p:cNvPr>
            <p:cNvSpPr txBox="1"/>
            <p:nvPr/>
          </p:nvSpPr>
          <p:spPr>
            <a:xfrm>
              <a:off x="2415414" y="41702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75" name="矩形 74">
              <a:extLst>
                <a:ext uri="{FF2B5EF4-FFF2-40B4-BE49-F238E27FC236}">
                  <a16:creationId xmlns:a16="http://schemas.microsoft.com/office/drawing/2014/main" id="{F911C1AC-5D07-9F20-7384-BEA03CF750AA}"/>
                </a:ext>
              </a:extLst>
            </p:cNvPr>
            <p:cNvSpPr/>
            <p:nvPr/>
          </p:nvSpPr>
          <p:spPr>
            <a:xfrm rot="16200000">
              <a:off x="3721460" y="4320325"/>
              <a:ext cx="631980" cy="274320"/>
            </a:xfrm>
            <a:prstGeom prst="rect">
              <a:avLst/>
            </a:prstGeom>
            <a:solidFill>
              <a:schemeClr val="accent4">
                <a:lumMod val="20000"/>
                <a:lumOff val="80000"/>
              </a:schemeClr>
            </a:solidFill>
            <a:ln w="254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600"/>
                </a:lnSpc>
              </a:pPr>
              <a:r>
                <a:rPr lang="en-US" altLang="zh-TW" sz="1200" b="1" dirty="0">
                  <a:solidFill>
                    <a:schemeClr val="tx1"/>
                  </a:solidFill>
                  <a:ea typeface="微軟正黑體" panose="020B0604030504040204" pitchFamily="34" charset="-120"/>
                </a:rPr>
                <a:t>W</a:t>
              </a:r>
            </a:p>
            <a:p>
              <a:pPr algn="ctr">
                <a:lnSpc>
                  <a:spcPts val="600"/>
                </a:lnSpc>
              </a:pPr>
              <a:r>
                <a:rPr lang="en-US" altLang="zh-TW" sz="1200" b="1" baseline="-25000" dirty="0">
                  <a:solidFill>
                    <a:schemeClr val="tx1"/>
                  </a:solidFill>
                  <a:ea typeface="微軟正黑體" panose="020B0604030504040204" pitchFamily="34" charset="-120"/>
                </a:rPr>
                <a:t>down</a:t>
              </a:r>
            </a:p>
          </p:txBody>
        </p:sp>
        <p:sp>
          <p:nvSpPr>
            <p:cNvPr id="78" name="文字方塊 77">
              <a:extLst>
                <a:ext uri="{FF2B5EF4-FFF2-40B4-BE49-F238E27FC236}">
                  <a16:creationId xmlns:a16="http://schemas.microsoft.com/office/drawing/2014/main" id="{347A0880-F802-617C-F30E-3014334258D7}"/>
                </a:ext>
              </a:extLst>
            </p:cNvPr>
            <p:cNvSpPr txBox="1"/>
            <p:nvPr/>
          </p:nvSpPr>
          <p:spPr>
            <a:xfrm>
              <a:off x="3742113" y="4152610"/>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80" name="文字方塊 79">
              <a:extLst>
                <a:ext uri="{FF2B5EF4-FFF2-40B4-BE49-F238E27FC236}">
                  <a16:creationId xmlns:a16="http://schemas.microsoft.com/office/drawing/2014/main" id="{0CF9BF8D-4C5B-9DEF-A171-01A1992DB9B0}"/>
                </a:ext>
              </a:extLst>
            </p:cNvPr>
            <p:cNvSpPr txBox="1"/>
            <p:nvPr/>
          </p:nvSpPr>
          <p:spPr>
            <a:xfrm>
              <a:off x="1340024" y="395347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2" name="文字方塊 81">
              <a:extLst>
                <a:ext uri="{FF2B5EF4-FFF2-40B4-BE49-F238E27FC236}">
                  <a16:creationId xmlns:a16="http://schemas.microsoft.com/office/drawing/2014/main" id="{8621D580-9C16-E6F3-82B5-F3EDED20AD1F}"/>
                </a:ext>
              </a:extLst>
            </p:cNvPr>
            <p:cNvSpPr txBox="1"/>
            <p:nvPr/>
          </p:nvSpPr>
          <p:spPr>
            <a:xfrm>
              <a:off x="1883934" y="3953478"/>
              <a:ext cx="293061" cy="129042"/>
            </a:xfrm>
            <a:prstGeom prst="rect">
              <a:avLst/>
            </a:prstGeom>
            <a:noFill/>
          </p:spPr>
          <p:txBody>
            <a:bodyPr wrap="none" lIns="0" tIns="0" rIns="0" bIns="0" rtlCol="0" anchor="ctr" anchorCtr="1">
              <a:noAutofit/>
            </a:bodyPr>
            <a:lstStyle/>
            <a:p>
              <a:pPr algn="ctr"/>
              <a:r>
                <a:rPr lang="en-US" altLang="zh-TW" sz="1200" b="1" dirty="0"/>
                <a:t>d*S</a:t>
              </a:r>
              <a:endParaRPr lang="zh-TW" altLang="en-US" sz="1200" b="1" dirty="0"/>
            </a:p>
          </p:txBody>
        </p:sp>
        <p:sp>
          <p:nvSpPr>
            <p:cNvPr id="84" name="文字方塊 83">
              <a:extLst>
                <a:ext uri="{FF2B5EF4-FFF2-40B4-BE49-F238E27FC236}">
                  <a16:creationId xmlns:a16="http://schemas.microsoft.com/office/drawing/2014/main" id="{23ADB069-4ADC-DAAA-6E2F-5E1CE1F037A8}"/>
                </a:ext>
              </a:extLst>
            </p:cNvPr>
            <p:cNvSpPr txBox="1"/>
            <p:nvPr/>
          </p:nvSpPr>
          <p:spPr>
            <a:xfrm>
              <a:off x="3909528" y="3981387"/>
              <a:ext cx="293061" cy="129042"/>
            </a:xfrm>
            <a:prstGeom prst="rect">
              <a:avLst/>
            </a:prstGeom>
            <a:noFill/>
          </p:spPr>
          <p:txBody>
            <a:bodyPr wrap="none" lIns="0" tIns="0" rIns="0" bIns="0" rtlCol="0" anchor="ctr" anchorCtr="1">
              <a:noAutofit/>
            </a:bodyPr>
            <a:lstStyle/>
            <a:p>
              <a:pPr algn="ctr"/>
              <a:r>
                <a:rPr lang="en-US" altLang="zh-TW" sz="1200" b="1" dirty="0"/>
                <a:t>S*d</a:t>
              </a:r>
              <a:endParaRPr lang="zh-TW" altLang="en-US" sz="1200" b="1" dirty="0"/>
            </a:p>
          </p:txBody>
        </p:sp>
        <p:sp>
          <p:nvSpPr>
            <p:cNvPr id="87" name="左右中括弧 86">
              <a:extLst>
                <a:ext uri="{FF2B5EF4-FFF2-40B4-BE49-F238E27FC236}">
                  <a16:creationId xmlns:a16="http://schemas.microsoft.com/office/drawing/2014/main" id="{98021878-BF98-1AB1-B711-25D249D76793}"/>
                </a:ext>
              </a:extLst>
            </p:cNvPr>
            <p:cNvSpPr/>
            <p:nvPr/>
          </p:nvSpPr>
          <p:spPr>
            <a:xfrm>
              <a:off x="1187624" y="4111332"/>
              <a:ext cx="2508058"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grpSp>
      <p:sp>
        <p:nvSpPr>
          <p:cNvPr id="89" name="矩形 88">
            <a:extLst>
              <a:ext uri="{FF2B5EF4-FFF2-40B4-BE49-F238E27FC236}">
                <a16:creationId xmlns:a16="http://schemas.microsoft.com/office/drawing/2014/main" id="{5357FF38-719F-1678-8C73-C2830F15A809}"/>
              </a:ext>
            </a:extLst>
          </p:cNvPr>
          <p:cNvSpPr/>
          <p:nvPr/>
        </p:nvSpPr>
        <p:spPr>
          <a:xfrm>
            <a:off x="4786524" y="5059816"/>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1" name="文字方塊 90">
            <a:extLst>
              <a:ext uri="{FF2B5EF4-FFF2-40B4-BE49-F238E27FC236}">
                <a16:creationId xmlns:a16="http://schemas.microsoft.com/office/drawing/2014/main" id="{57CC9818-F010-C09C-DA1B-0CDF907F75B6}"/>
              </a:ext>
            </a:extLst>
          </p:cNvPr>
          <p:cNvSpPr txBox="1"/>
          <p:nvPr/>
        </p:nvSpPr>
        <p:spPr>
          <a:xfrm>
            <a:off x="4130484" y="513189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93" name="矩形 92">
            <a:extLst>
              <a:ext uri="{FF2B5EF4-FFF2-40B4-BE49-F238E27FC236}">
                <a16:creationId xmlns:a16="http://schemas.microsoft.com/office/drawing/2014/main" id="{E521E534-49F3-EC94-63D5-AD8B0C04ABD7}"/>
              </a:ext>
            </a:extLst>
          </p:cNvPr>
          <p:cNvSpPr/>
          <p:nvPr/>
        </p:nvSpPr>
        <p:spPr>
          <a:xfrm>
            <a:off x="4354476" y="5048531"/>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95" name="文字方塊 94">
            <a:extLst>
              <a:ext uri="{FF2B5EF4-FFF2-40B4-BE49-F238E27FC236}">
                <a16:creationId xmlns:a16="http://schemas.microsoft.com/office/drawing/2014/main" id="{DD764E66-7926-3F14-DEFD-911D78235451}"/>
              </a:ext>
            </a:extLst>
          </p:cNvPr>
          <p:cNvSpPr txBox="1"/>
          <p:nvPr/>
        </p:nvSpPr>
        <p:spPr>
          <a:xfrm>
            <a:off x="4642508" y="5094639"/>
            <a:ext cx="122043"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97" name="文字方塊 96">
            <a:extLst>
              <a:ext uri="{FF2B5EF4-FFF2-40B4-BE49-F238E27FC236}">
                <a16:creationId xmlns:a16="http://schemas.microsoft.com/office/drawing/2014/main" id="{70710644-6C73-9DC4-2ED5-22CF3065CF2C}"/>
              </a:ext>
            </a:extLst>
          </p:cNvPr>
          <p:cNvSpPr txBox="1"/>
          <p:nvPr/>
        </p:nvSpPr>
        <p:spPr>
          <a:xfrm>
            <a:off x="4168432" y="5632346"/>
            <a:ext cx="1070194" cy="460950"/>
          </a:xfrm>
          <a:prstGeom prst="rect">
            <a:avLst/>
          </a:prstGeom>
          <a:noFill/>
        </p:spPr>
        <p:txBody>
          <a:bodyPr wrap="none" lIns="0" tIns="0" rIns="0" bIns="0" rtlCol="0" anchor="ctr" anchorCtr="1">
            <a:noAutofit/>
          </a:bodyPr>
          <a:lstStyle/>
          <a:p>
            <a:pPr algn="ctr"/>
            <a:r>
              <a:rPr lang="en-US" altLang="zh-TW" sz="1200" b="1" dirty="0">
                <a:solidFill>
                  <a:schemeClr val="accent2"/>
                </a:solidFill>
              </a:rPr>
              <a:t>Residual Add</a:t>
            </a:r>
            <a:endParaRPr lang="en-US" altLang="zh-TW" sz="1200" dirty="0">
              <a:solidFill>
                <a:schemeClr val="accent2"/>
              </a:solidFill>
            </a:endParaRPr>
          </a:p>
          <a:p>
            <a:pPr algn="ctr"/>
            <a:r>
              <a:rPr lang="en-US" altLang="zh-TW" sz="1200" dirty="0">
                <a:ln w="0"/>
                <a:solidFill>
                  <a:prstClr val="black"/>
                </a:solidFill>
                <a:latin typeface="Calibri"/>
                <a:ea typeface="新細明體" panose="02020500000000000000" pitchFamily="18" charset="-120"/>
              </a:rPr>
              <a:t>Add</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(R, </a:t>
            </a:r>
            <a:r>
              <a:rPr lang="en-US" altLang="zh-TW" sz="1200" dirty="0">
                <a:sym typeface="Wingdings" panose="05000000000000000000" pitchFamily="2" charset="2"/>
              </a:rPr>
              <a:t>X</a:t>
            </a:r>
            <a:r>
              <a:rPr lang="en-US" altLang="zh-TW" sz="1200" baseline="-25000" dirty="0">
                <a:sym typeface="Wingdings" panose="05000000000000000000" pitchFamily="2" charset="2"/>
              </a:rPr>
              <a:t>n</a:t>
            </a:r>
            <a:r>
              <a:rPr lang="en-US" altLang="zh-TW" sz="12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200" dirty="0">
                <a:sym typeface="Wingdings" panose="05000000000000000000" pitchFamily="2" charset="2"/>
              </a:rPr>
              <a:t> X</a:t>
            </a:r>
            <a:r>
              <a:rPr lang="en-US" altLang="zh-TW" sz="1200" baseline="-25000" dirty="0">
                <a:sym typeface="Wingdings" panose="05000000000000000000" pitchFamily="2" charset="2"/>
              </a:rPr>
              <a:t>n+1</a:t>
            </a:r>
            <a:endParaRPr lang="zh-TW" altLang="en-US" sz="1200" dirty="0"/>
          </a:p>
        </p:txBody>
      </p:sp>
      <p:sp>
        <p:nvSpPr>
          <p:cNvPr id="102" name="文字方塊 101">
            <a:extLst>
              <a:ext uri="{FF2B5EF4-FFF2-40B4-BE49-F238E27FC236}">
                <a16:creationId xmlns:a16="http://schemas.microsoft.com/office/drawing/2014/main" id="{707F4F77-B010-B97E-7179-9917A6ABFFAF}"/>
              </a:ext>
            </a:extLst>
          </p:cNvPr>
          <p:cNvSpPr txBox="1"/>
          <p:nvPr/>
        </p:nvSpPr>
        <p:spPr>
          <a:xfrm>
            <a:off x="4354476" y="4866772"/>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04" name="左中括弧 103">
            <a:extLst>
              <a:ext uri="{FF2B5EF4-FFF2-40B4-BE49-F238E27FC236}">
                <a16:creationId xmlns:a16="http://schemas.microsoft.com/office/drawing/2014/main" id="{172D341A-151A-7C2F-E4D1-FCDD760DF6D7}"/>
              </a:ext>
            </a:extLst>
          </p:cNvPr>
          <p:cNvSpPr/>
          <p:nvPr/>
        </p:nvSpPr>
        <p:spPr>
          <a:xfrm rot="16200000">
            <a:off x="2633987" y="4534377"/>
            <a:ext cx="68824" cy="250805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113" name="群組 112">
            <a:extLst>
              <a:ext uri="{FF2B5EF4-FFF2-40B4-BE49-F238E27FC236}">
                <a16:creationId xmlns:a16="http://schemas.microsoft.com/office/drawing/2014/main" id="{938060DB-6CD4-C2F0-2FDE-B762FB1DCC62}"/>
              </a:ext>
            </a:extLst>
          </p:cNvPr>
          <p:cNvGrpSpPr/>
          <p:nvPr/>
        </p:nvGrpSpPr>
        <p:grpSpPr>
          <a:xfrm>
            <a:off x="5514017" y="4874421"/>
            <a:ext cx="1595502" cy="1210625"/>
            <a:chOff x="1109821" y="5005729"/>
            <a:chExt cx="1595502" cy="1210625"/>
          </a:xfrm>
        </p:grpSpPr>
        <p:pic>
          <p:nvPicPr>
            <p:cNvPr id="8" name="圖片 7">
              <a:extLst>
                <a:ext uri="{FF2B5EF4-FFF2-40B4-BE49-F238E27FC236}">
                  <a16:creationId xmlns:a16="http://schemas.microsoft.com/office/drawing/2014/main" id="{BA472C21-C7F0-7F5F-BA8A-A3982575C3B1}"/>
                </a:ext>
              </a:extLst>
            </p:cNvPr>
            <p:cNvPicPr>
              <a:picLocks noChangeAspect="1"/>
            </p:cNvPicPr>
            <p:nvPr/>
          </p:nvPicPr>
          <p:blipFill>
            <a:blip r:embed="rId3"/>
            <a:stretch>
              <a:fillRect/>
            </a:stretch>
          </p:blipFill>
          <p:spPr>
            <a:xfrm>
              <a:off x="1109821" y="5005729"/>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mc:Choice xmlns:a14="http://schemas.microsoft.com/office/drawing/2010/main" Requires="a14">
            <p:sp>
              <p:nvSpPr>
                <p:cNvPr id="106" name="文字方塊 105">
                  <a:extLst>
                    <a:ext uri="{FF2B5EF4-FFF2-40B4-BE49-F238E27FC236}">
                      <a16:creationId xmlns:a16="http://schemas.microsoft.com/office/drawing/2014/main" id="{E5FB5135-9DDC-266F-5225-B48F121EAE3C}"/>
                    </a:ext>
                  </a:extLst>
                </p:cNvPr>
                <p:cNvSpPr txBox="1"/>
                <p:nvPr/>
              </p:nvSpPr>
              <p:spPr>
                <a:xfrm>
                  <a:off x="1133610" y="5892739"/>
                  <a:ext cx="1547924" cy="323615"/>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𝑥</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𝑥</m:t>
                                </m:r>
                              </m:sup>
                            </m:sSup>
                          </m:den>
                        </m:f>
                      </m:oMath>
                    </m:oMathPara>
                  </a14:m>
                  <a:endParaRPr lang="zh-TW" altLang="en-US" sz="1200" dirty="0"/>
                </a:p>
              </p:txBody>
            </p:sp>
          </mc:Choice>
          <mc:Fallback>
            <p:sp>
              <p:nvSpPr>
                <p:cNvPr id="106" name="文字方塊 105">
                  <a:extLst>
                    <a:ext uri="{FF2B5EF4-FFF2-40B4-BE49-F238E27FC236}">
                      <a16:creationId xmlns:a16="http://schemas.microsoft.com/office/drawing/2014/main" id="{E5FB5135-9DDC-266F-5225-B48F121EAE3C}"/>
                    </a:ext>
                  </a:extLst>
                </p:cNvPr>
                <p:cNvSpPr txBox="1">
                  <a:spLocks noRot="1" noChangeAspect="1" noMove="1" noResize="1" noEditPoints="1" noAdjustHandles="1" noChangeArrowheads="1" noChangeShapeType="1" noTextEdit="1"/>
                </p:cNvSpPr>
                <p:nvPr/>
              </p:nvSpPr>
              <p:spPr>
                <a:xfrm>
                  <a:off x="1133610" y="5892739"/>
                  <a:ext cx="1547924" cy="323615"/>
                </a:xfrm>
                <a:prstGeom prst="rect">
                  <a:avLst/>
                </a:prstGeom>
                <a:blipFill>
                  <a:blip r:embed="rId4"/>
                  <a:stretch>
                    <a:fillRect l="-2362" r="-394" b="-16981"/>
                  </a:stretch>
                </a:blipFill>
              </p:spPr>
              <p:txBody>
                <a:bodyPr/>
                <a:lstStyle/>
                <a:p>
                  <a:r>
                    <a:rPr lang="zh-TW" altLang="en-US">
                      <a:noFill/>
                    </a:rPr>
                    <a:t> </a:t>
                  </a:r>
                </a:p>
              </p:txBody>
            </p:sp>
          </mc:Fallback>
        </mc:AlternateContent>
      </p:grpSp>
      <p:sp>
        <p:nvSpPr>
          <p:cNvPr id="108" name="文字方塊 107">
            <a:extLst>
              <a:ext uri="{FF2B5EF4-FFF2-40B4-BE49-F238E27FC236}">
                <a16:creationId xmlns:a16="http://schemas.microsoft.com/office/drawing/2014/main" id="{2CBB42B8-2320-38C4-3678-256F1E153BF5}"/>
              </a:ext>
            </a:extLst>
          </p:cNvPr>
          <p:cNvSpPr txBox="1"/>
          <p:nvPr/>
        </p:nvSpPr>
        <p:spPr>
          <a:xfrm>
            <a:off x="1899312" y="5816297"/>
            <a:ext cx="1781944" cy="276999"/>
          </a:xfrm>
          <a:prstGeom prst="rect">
            <a:avLst/>
          </a:prstGeom>
          <a:noFill/>
        </p:spPr>
        <p:txBody>
          <a:bodyPr wrap="square">
            <a:spAutoFit/>
          </a:bodyPr>
          <a:lstStyle/>
          <a:p>
            <a:r>
              <a:rPr lang="en-US" altLang="zh-TW" sz="1200" b="1" dirty="0">
                <a:solidFill>
                  <a:schemeClr val="accent4"/>
                </a:solidFill>
              </a:rPr>
              <a:t>Feed Forward Network</a:t>
            </a:r>
          </a:p>
        </p:txBody>
      </p:sp>
      <mc:AlternateContent xmlns:mc="http://schemas.openxmlformats.org/markup-compatibility/2006">
        <mc:Choice xmlns:a14="http://schemas.microsoft.com/office/drawing/2010/main" Requires="a14">
          <p:sp>
            <p:nvSpPr>
              <p:cNvPr id="112" name="文字方塊 111">
                <a:extLst>
                  <a:ext uri="{FF2B5EF4-FFF2-40B4-BE49-F238E27FC236}">
                    <a16:creationId xmlns:a16="http://schemas.microsoft.com/office/drawing/2014/main" id="{D5345C8D-5FB3-E15B-A40C-8FF164CB7C2D}"/>
                  </a:ext>
                </a:extLst>
              </p:cNvPr>
              <p:cNvSpPr txBox="1"/>
              <p:nvPr/>
            </p:nvSpPr>
            <p:spPr>
              <a:xfrm>
                <a:off x="3313047" y="3672068"/>
                <a:ext cx="632867" cy="306878"/>
              </a:xfrm>
              <a:prstGeom prst="rect">
                <a:avLst/>
              </a:prstGeom>
              <a:noFill/>
            </p:spPr>
            <p:txBody>
              <a:bodyPr wrap="none" lIns="0" tIns="0" rIns="0" bIns="0" rtlCol="0" anchor="ctr" anchorCtr="1">
                <a:noAutofit/>
              </a:bodyPr>
              <a:lstStyle/>
              <a:p>
                <a:pPr algn="ct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r>
                  <a:rPr kumimoji="0" lang="zh-TW" altLang="en-US"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
                </a:r>
                <a:r>
                  <a:rPr kumimoji="0" lang="zh-TW" altLang="en-US"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14:m>
                  <m:oMath xmlns:m="http://schemas.openxmlformats.org/officeDocument/2006/math">
                    <m:f>
                      <m:fPr>
                        <m:ctrlPr>
                          <a:rPr lang="en-US" altLang="zh-TW" sz="1200" i="1">
                            <a:latin typeface="Cambria Math" panose="02040503050406030204" pitchFamily="18" charset="0"/>
                          </a:rPr>
                        </m:ctrlPr>
                      </m:fPr>
                      <m:num>
                        <m:sSup>
                          <m:sSupPr>
                            <m:ctrlPr>
                              <a:rPr lang="en-US" altLang="zh-TW" sz="1200">
                                <a:latin typeface="Cambria Math" panose="02040503050406030204" pitchFamily="18" charset="0"/>
                              </a:rPr>
                            </m:ctrlPr>
                          </m:sSupPr>
                          <m:e>
                            <m:r>
                              <m:rPr>
                                <m:sty m:val="p"/>
                              </m:rPr>
                              <a:rPr lang="en-US" altLang="zh-TW" sz="1200">
                                <a:latin typeface="Cambria Math" panose="02040503050406030204" pitchFamily="18" charset="0"/>
                              </a:rPr>
                              <m:t>QK</m:t>
                            </m:r>
                          </m:e>
                          <m:sup>
                            <m:r>
                              <m:rPr>
                                <m:sty m:val="p"/>
                              </m:rPr>
                              <a:rPr lang="en-US" altLang="zh-TW" sz="1200">
                                <a:latin typeface="Cambria Math" panose="02040503050406030204" pitchFamily="18" charset="0"/>
                              </a:rPr>
                              <m:t>T</m:t>
                            </m:r>
                          </m:sup>
                        </m:sSup>
                      </m:num>
                      <m:den>
                        <m:rad>
                          <m:radPr>
                            <m:degHide m:val="on"/>
                            <m:ctrlPr>
                              <a:rPr lang="en-US" altLang="zh-TW" sz="1200" i="1">
                                <a:latin typeface="Cambria Math" panose="02040503050406030204" pitchFamily="18" charset="0"/>
                              </a:rPr>
                            </m:ctrlPr>
                          </m:radPr>
                          <m:deg/>
                          <m:e>
                            <m:r>
                              <a:rPr lang="en-US" altLang="zh-TW" sz="1200" i="1">
                                <a:latin typeface="Cambria Math" panose="02040503050406030204" pitchFamily="18" charset="0"/>
                              </a:rPr>
                              <m:t>𝑑</m:t>
                            </m:r>
                          </m:e>
                        </m:rad>
                      </m:den>
                    </m:f>
                  </m:oMath>
                </a14:m>
                <a:endParaRPr lang="zh-TW" altLang="en-US" sz="1200" dirty="0"/>
              </a:p>
            </p:txBody>
          </p:sp>
        </mc:Choice>
        <mc:Fallback>
          <p:sp>
            <p:nvSpPr>
              <p:cNvPr id="112" name="文字方塊 111">
                <a:extLst>
                  <a:ext uri="{FF2B5EF4-FFF2-40B4-BE49-F238E27FC236}">
                    <a16:creationId xmlns:a16="http://schemas.microsoft.com/office/drawing/2014/main" id="{D5345C8D-5FB3-E15B-A40C-8FF164CB7C2D}"/>
                  </a:ext>
                </a:extLst>
              </p:cNvPr>
              <p:cNvSpPr txBox="1">
                <a:spLocks noRot="1" noChangeAspect="1" noMove="1" noResize="1" noEditPoints="1" noAdjustHandles="1" noChangeArrowheads="1" noChangeShapeType="1" noTextEdit="1"/>
              </p:cNvSpPr>
              <p:nvPr/>
            </p:nvSpPr>
            <p:spPr>
              <a:xfrm>
                <a:off x="3313047" y="3672068"/>
                <a:ext cx="632867" cy="306878"/>
              </a:xfrm>
              <a:prstGeom prst="rect">
                <a:avLst/>
              </a:prstGeom>
              <a:blipFill>
                <a:blip r:embed="rId5"/>
                <a:stretch>
                  <a:fillRect l="-962" b="-13725"/>
                </a:stretch>
              </a:blipFill>
            </p:spPr>
            <p:txBody>
              <a:bodyPr/>
              <a:lstStyle/>
              <a:p>
                <a:r>
                  <a:rPr lang="zh-TW" altLang="en-US">
                    <a:noFill/>
                  </a:rPr>
                  <a:t> </a:t>
                </a:r>
              </a:p>
            </p:txBody>
          </p:sp>
        </mc:Fallback>
      </mc:AlternateContent>
      <p:sp>
        <p:nvSpPr>
          <p:cNvPr id="115" name="文字方塊 114">
            <a:extLst>
              <a:ext uri="{FF2B5EF4-FFF2-40B4-BE49-F238E27FC236}">
                <a16:creationId xmlns:a16="http://schemas.microsoft.com/office/drawing/2014/main" id="{0990FE57-347B-07DA-EAEC-0A1F50529771}"/>
              </a:ext>
            </a:extLst>
          </p:cNvPr>
          <p:cNvSpPr txBox="1"/>
          <p:nvPr/>
        </p:nvSpPr>
        <p:spPr>
          <a:xfrm>
            <a:off x="7445840" y="313905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17" name="矩形 116">
            <a:extLst>
              <a:ext uri="{FF2B5EF4-FFF2-40B4-BE49-F238E27FC236}">
                <a16:creationId xmlns:a16="http://schemas.microsoft.com/office/drawing/2014/main" id="{3E3AF772-A3C8-A98D-913B-FA18BE2364FC}"/>
              </a:ext>
            </a:extLst>
          </p:cNvPr>
          <p:cNvSpPr/>
          <p:nvPr/>
        </p:nvSpPr>
        <p:spPr>
          <a:xfrm>
            <a:off x="8259970" y="3647977"/>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微軟正黑體" panose="020B0604030504040204" pitchFamily="34" charset="-120"/>
              </a:rPr>
              <a:t>Max</a:t>
            </a:r>
          </a:p>
        </p:txBody>
      </p:sp>
      <p:sp>
        <p:nvSpPr>
          <p:cNvPr id="119" name="矩形 118">
            <a:extLst>
              <a:ext uri="{FF2B5EF4-FFF2-40B4-BE49-F238E27FC236}">
                <a16:creationId xmlns:a16="http://schemas.microsoft.com/office/drawing/2014/main" id="{649BE6FB-9583-6F23-7BA2-BBD937CFE47F}"/>
              </a:ext>
            </a:extLst>
          </p:cNvPr>
          <p:cNvSpPr/>
          <p:nvPr/>
        </p:nvSpPr>
        <p:spPr>
          <a:xfrm>
            <a:off x="2037134" y="1127242"/>
            <a:ext cx="1016218" cy="597941"/>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RMS</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Attention</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 </a:t>
            </a:r>
          </a:p>
          <a:p>
            <a:pPr>
              <a:lnSpc>
                <a:spcPts val="1600"/>
              </a:lnSpc>
            </a:pPr>
            <a:r>
              <a:rPr lang="en-US" altLang="zh-TW" sz="1200" b="1" dirty="0">
                <a:solidFill>
                  <a:schemeClr val="tx2"/>
                </a:solidFill>
                <a:ea typeface="微軟正黑體" panose="020B0604030504040204" pitchFamily="34" charset="-120"/>
              </a:rPr>
              <a:t>X = X + A</a:t>
            </a:r>
          </a:p>
        </p:txBody>
      </p:sp>
      <p:sp>
        <p:nvSpPr>
          <p:cNvPr id="121" name="矩形 120">
            <a:extLst>
              <a:ext uri="{FF2B5EF4-FFF2-40B4-BE49-F238E27FC236}">
                <a16:creationId xmlns:a16="http://schemas.microsoft.com/office/drawing/2014/main" id="{6146B611-31D0-5910-CF55-828F50333C2C}"/>
              </a:ext>
            </a:extLst>
          </p:cNvPr>
          <p:cNvSpPr/>
          <p:nvPr/>
        </p:nvSpPr>
        <p:spPr>
          <a:xfrm>
            <a:off x="3440826" y="1106359"/>
            <a:ext cx="1038828" cy="618824"/>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RMS (X)</a:t>
            </a:r>
          </a:p>
          <a:p>
            <a:pPr>
              <a:lnSpc>
                <a:spcPts val="1600"/>
              </a:lnSpc>
            </a:pPr>
            <a:r>
              <a:rPr lang="en-US" altLang="zh-TW" sz="1200" b="1" dirty="0">
                <a:solidFill>
                  <a:schemeClr val="tx2"/>
                </a:solidFill>
                <a:ea typeface="微軟正黑體" panose="020B0604030504040204" pitchFamily="34" charset="-120"/>
              </a:rPr>
              <a:t>FFN(X, A, U, D)</a:t>
            </a:r>
          </a:p>
          <a:p>
            <a:pPr>
              <a:lnSpc>
                <a:spcPts val="1600"/>
              </a:lnSpc>
            </a:pPr>
            <a:r>
              <a:rPr lang="en-US" altLang="zh-TW" sz="1200" b="1" dirty="0">
                <a:solidFill>
                  <a:schemeClr val="tx2"/>
                </a:solidFill>
                <a:ea typeface="微軟正黑體" panose="020B0604030504040204" pitchFamily="34" charset="-120"/>
              </a:rPr>
              <a:t>X = R + X</a:t>
            </a:r>
          </a:p>
        </p:txBody>
      </p:sp>
      <p:sp>
        <p:nvSpPr>
          <p:cNvPr id="123" name="矩形 122">
            <a:extLst>
              <a:ext uri="{FF2B5EF4-FFF2-40B4-BE49-F238E27FC236}">
                <a16:creationId xmlns:a16="http://schemas.microsoft.com/office/drawing/2014/main" id="{3F186879-A995-4816-866A-FC32252746E7}"/>
              </a:ext>
            </a:extLst>
          </p:cNvPr>
          <p:cNvSpPr/>
          <p:nvPr/>
        </p:nvSpPr>
        <p:spPr>
          <a:xfrm>
            <a:off x="991761" y="1106359"/>
            <a:ext cx="771479" cy="618824"/>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Position</a:t>
            </a:r>
          </a:p>
          <a:p>
            <a:pPr>
              <a:lnSpc>
                <a:spcPts val="1600"/>
              </a:lnSpc>
            </a:pPr>
            <a:r>
              <a:rPr lang="en-US" altLang="zh-TW" sz="1200" b="1" dirty="0">
                <a:solidFill>
                  <a:schemeClr val="tx2"/>
                </a:solidFill>
                <a:ea typeface="微軟正黑體" panose="020B0604030504040204" pitchFamily="34" charset="-120"/>
              </a:rPr>
              <a:t>Encoding</a:t>
            </a:r>
          </a:p>
        </p:txBody>
      </p:sp>
      <p:sp>
        <p:nvSpPr>
          <p:cNvPr id="125" name="矩形 124">
            <a:extLst>
              <a:ext uri="{FF2B5EF4-FFF2-40B4-BE49-F238E27FC236}">
                <a16:creationId xmlns:a16="http://schemas.microsoft.com/office/drawing/2014/main" id="{7A5F39D9-D768-3CCB-A2E0-168877F12823}"/>
              </a:ext>
            </a:extLst>
          </p:cNvPr>
          <p:cNvSpPr/>
          <p:nvPr/>
        </p:nvSpPr>
        <p:spPr>
          <a:xfrm>
            <a:off x="6884775" y="1106359"/>
            <a:ext cx="870202" cy="618824"/>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Softmax</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Max Prob.</a:t>
            </a: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160109"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3995936"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sp>
        <p:nvSpPr>
          <p:cNvPr id="119" name="矩形: 圓角 118">
            <a:extLst>
              <a:ext uri="{FF2B5EF4-FFF2-40B4-BE49-F238E27FC236}">
                <a16:creationId xmlns:a16="http://schemas.microsoft.com/office/drawing/2014/main" id="{F7477F9B-D4A8-4756-1FCA-E84E000EF944}"/>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1075374799"/>
              </p:ext>
            </p:extLst>
          </p:nvPr>
        </p:nvGraphicFramePr>
        <p:xfrm>
          <a:off x="2101237" y="3301000"/>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742140094"/>
              </p:ext>
            </p:extLst>
          </p:nvPr>
        </p:nvGraphicFramePr>
        <p:xfrm>
          <a:off x="4321710" y="3301000"/>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155804326"/>
              </p:ext>
            </p:extLst>
          </p:nvPr>
        </p:nvGraphicFramePr>
        <p:xfrm>
          <a:off x="6200490" y="3301000"/>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2890530353"/>
              </p:ext>
            </p:extLst>
          </p:nvPr>
        </p:nvGraphicFramePr>
        <p:xfrm>
          <a:off x="1337676" y="3301000"/>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483689" y="2917598"/>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06643" y="2917598"/>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2807339423"/>
              </p:ext>
            </p:extLst>
          </p:nvPr>
        </p:nvGraphicFramePr>
        <p:xfrm>
          <a:off x="7217770" y="3301000"/>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154929" y="2917597"/>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6990491" y="3918085"/>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280160" y="2241979"/>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2766916741"/>
              </p:ext>
            </p:extLst>
          </p:nvPr>
        </p:nvGraphicFramePr>
        <p:xfrm>
          <a:off x="2101236" y="2496165"/>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475968" y="2919548"/>
            <a:ext cx="316238" cy="333823"/>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346737" y="2194838"/>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287750" y="2917597"/>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4236744202"/>
              </p:ext>
            </p:extLst>
          </p:nvPr>
        </p:nvGraphicFramePr>
        <p:xfrm>
          <a:off x="4065963" y="3288775"/>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mc:Choice xmlns:a14="http://schemas.microsoft.com/office/drawing/2010/main" Requires="a14">
          <p:sp>
            <p:nvSpPr>
              <p:cNvPr id="6" name="文字方塊 5">
                <a:extLst>
                  <a:ext uri="{FF2B5EF4-FFF2-40B4-BE49-F238E27FC236}">
                    <a16:creationId xmlns:a16="http://schemas.microsoft.com/office/drawing/2014/main" id="{6533E10E-209C-5074-10A7-4E4A830D6AF9}"/>
                  </a:ext>
                </a:extLst>
              </p:cNvPr>
              <p:cNvSpPr txBox="1"/>
              <p:nvPr/>
            </p:nvSpPr>
            <p:spPr>
              <a:xfrm>
                <a:off x="6846942" y="2064117"/>
                <a:ext cx="1409360" cy="761042"/>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000" b="0" i="0" smtClean="0">
                          <a:latin typeface="Cambria Math" panose="02040503050406030204" pitchFamily="18" charset="0"/>
                        </a:rPr>
                        <m:t>Norm</m:t>
                      </m:r>
                      <m:d>
                        <m:dPr>
                          <m:ctrlPr>
                            <a:rPr lang="en-US" altLang="zh-TW" sz="1000" b="0" i="1" smtClean="0">
                              <a:latin typeface="Cambria Math" panose="02040503050406030204" pitchFamily="18" charset="0"/>
                            </a:rPr>
                          </m:ctrlPr>
                        </m:dPr>
                        <m:e>
                          <m:r>
                            <a:rPr lang="en-US" altLang="zh-TW" sz="1000" b="0" i="1" smtClean="0">
                              <a:latin typeface="Cambria Math" panose="02040503050406030204" pitchFamily="18" charset="0"/>
                            </a:rPr>
                            <m:t>𝑥</m:t>
                          </m:r>
                        </m:e>
                      </m:d>
                      <m:r>
                        <a:rPr lang="en-US" altLang="zh-TW" sz="1000" b="0" i="0" smtClean="0">
                          <a:latin typeface="Cambria Math" panose="02040503050406030204" pitchFamily="18" charset="0"/>
                        </a:rPr>
                        <m:t>=</m:t>
                      </m:r>
                      <m:d>
                        <m:dPr>
                          <m:begChr m:val="{"/>
                          <m:endChr m:val="}"/>
                          <m:ctrlPr>
                            <a:rPr lang="en-US" altLang="zh-TW" sz="1000" i="1" dirty="0">
                              <a:latin typeface="Cambria Math" panose="02040503050406030204" pitchFamily="18" charset="0"/>
                            </a:rPr>
                          </m:ctrlPr>
                        </m:dPr>
                        <m:e>
                          <m:f>
                            <m:fPr>
                              <m:ctrlPr>
                                <a:rPr lang="en-US" altLang="zh-TW" sz="1000" i="0" dirty="0"/>
                              </m:ctrlPr>
                            </m:fPr>
                            <m:num>
                              <m:r>
                                <m:rPr>
                                  <m:nor/>
                                </m:rPr>
                                <a:rPr lang="en-US" altLang="zh-TW" sz="1000" i="0" dirty="0"/>
                                <m:t>x</m:t>
                              </m:r>
                              <m:r>
                                <m:rPr>
                                  <m:nor/>
                                </m:rPr>
                                <a:rPr lang="en-US" altLang="zh-TW" sz="1000" i="0" baseline="-25000" dirty="0"/>
                                <m:t>i</m:t>
                              </m:r>
                              <m:r>
                                <m:rPr>
                                  <m:nor/>
                                </m:rPr>
                                <a:rPr lang="en-US" altLang="zh-TW" sz="1000" i="0" dirty="0"/>
                                <m:t>∗γi</m:t>
                              </m:r>
                            </m:num>
                            <m:den>
                              <m:r>
                                <m:rPr>
                                  <m:nor/>
                                </m:rPr>
                                <a:rPr lang="en-US" altLang="zh-TW" sz="1000" i="0" dirty="0"/>
                                <m:t>RMS(x)</m:t>
                              </m:r>
                            </m:den>
                          </m:f>
                        </m:e>
                      </m:d>
                      <m:r>
                        <a:rPr lang="en-US" altLang="zh-TW" sz="1000" b="0" i="0" smtClean="0">
                          <a:latin typeface="Cambria Math" panose="02040503050406030204" pitchFamily="18" charset="0"/>
                        </a:rPr>
                        <m:t>; </m:t>
                      </m:r>
                    </m:oMath>
                  </m:oMathPara>
                </a14:m>
                <a:endParaRPr lang="en-US" altLang="zh-TW" sz="10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000" b="0" i="0" smtClean="0">
                          <a:latin typeface="Cambria Math" panose="02040503050406030204" pitchFamily="18" charset="0"/>
                        </a:rPr>
                        <m:t>RMS</m:t>
                      </m:r>
                      <m:d>
                        <m:dPr>
                          <m:ctrlPr>
                            <a:rPr lang="en-US" altLang="zh-TW" sz="1000" b="0" i="1" smtClean="0">
                              <a:latin typeface="Cambria Math" panose="02040503050406030204" pitchFamily="18" charset="0"/>
                            </a:rPr>
                          </m:ctrlPr>
                        </m:dPr>
                        <m:e>
                          <m:r>
                            <a:rPr lang="en-US" altLang="zh-TW" sz="1000" b="0" i="1" smtClean="0">
                              <a:latin typeface="Cambria Math" panose="02040503050406030204" pitchFamily="18" charset="0"/>
                            </a:rPr>
                            <m:t>𝑥</m:t>
                          </m:r>
                        </m:e>
                      </m:d>
                      <m:r>
                        <a:rPr lang="en-US" altLang="zh-TW" sz="1000" b="0" i="1" smtClean="0">
                          <a:latin typeface="Cambria Math" panose="02040503050406030204" pitchFamily="18" charset="0"/>
                        </a:rPr>
                        <m:t>=</m:t>
                      </m:r>
                      <m:rad>
                        <m:radPr>
                          <m:degHide m:val="on"/>
                          <m:ctrlPr>
                            <a:rPr lang="en-US" altLang="zh-TW" sz="1000" b="0" i="1" smtClean="0">
                              <a:latin typeface="Cambria Math" panose="02040503050406030204" pitchFamily="18" charset="0"/>
                            </a:rPr>
                          </m:ctrlPr>
                        </m:radPr>
                        <m:deg/>
                        <m:e>
                          <m:f>
                            <m:fPr>
                              <m:ctrlPr>
                                <a:rPr lang="en-US" altLang="zh-TW" sz="1000" b="0" i="1" smtClean="0">
                                  <a:latin typeface="Cambria Math" panose="02040503050406030204" pitchFamily="18" charset="0"/>
                                </a:rPr>
                              </m:ctrlPr>
                            </m:fPr>
                            <m:num>
                              <m:r>
                                <a:rPr lang="en-US" altLang="zh-TW" sz="1000" b="0" i="1" smtClean="0">
                                  <a:latin typeface="Cambria Math" panose="02040503050406030204" pitchFamily="18" charset="0"/>
                                </a:rPr>
                                <m:t>1</m:t>
                              </m:r>
                            </m:num>
                            <m:den>
                              <m:r>
                                <a:rPr lang="en-US" altLang="zh-TW" sz="1000" b="0" i="1" smtClean="0">
                                  <a:latin typeface="Cambria Math" panose="02040503050406030204" pitchFamily="18" charset="0"/>
                                </a:rPr>
                                <m:t>𝑑</m:t>
                              </m:r>
                            </m:den>
                          </m:f>
                          <m:nary>
                            <m:naryPr>
                              <m:chr m:val="∑"/>
                              <m:limLoc m:val="subSup"/>
                              <m:ctrlPr>
                                <a:rPr lang="en-US" altLang="zh-TW" sz="1000" i="1">
                                  <a:latin typeface="Cambria Math" panose="02040503050406030204" pitchFamily="18" charset="0"/>
                                </a:rPr>
                              </m:ctrlPr>
                            </m:naryPr>
                            <m:sub>
                              <m:r>
                                <m:rPr>
                                  <m:brk m:alnAt="25"/>
                                </m:rPr>
                                <a:rPr lang="en-US" altLang="zh-TW" sz="1000" i="1">
                                  <a:latin typeface="Cambria Math" panose="02040503050406030204" pitchFamily="18" charset="0"/>
                                </a:rPr>
                                <m:t>𝑖</m:t>
                              </m:r>
                            </m:sub>
                            <m:sup>
                              <m:r>
                                <a:rPr lang="en-US" altLang="zh-TW" sz="1000" i="1">
                                  <a:latin typeface="Cambria Math" panose="02040503050406030204" pitchFamily="18" charset="0"/>
                                </a:rPr>
                                <m:t>𝑑</m:t>
                              </m:r>
                            </m:sup>
                            <m:e>
                              <m:sSubSup>
                                <m:sSubSupPr>
                                  <m:ctrlPr>
                                    <a:rPr lang="en-US" altLang="zh-TW" sz="1000" i="1">
                                      <a:latin typeface="Cambria Math" panose="02040503050406030204" pitchFamily="18" charset="0"/>
                                    </a:rPr>
                                  </m:ctrlPr>
                                </m:sSubSupPr>
                                <m:e>
                                  <m:r>
                                    <a:rPr lang="en-US" altLang="zh-TW" sz="1000" i="1">
                                      <a:latin typeface="Cambria Math" panose="02040503050406030204" pitchFamily="18" charset="0"/>
                                    </a:rPr>
                                    <m:t>𝑥</m:t>
                                  </m:r>
                                </m:e>
                                <m:sub>
                                  <m:r>
                                    <a:rPr lang="en-US" altLang="zh-TW" sz="1000" i="1">
                                      <a:latin typeface="Cambria Math" panose="02040503050406030204" pitchFamily="18" charset="0"/>
                                    </a:rPr>
                                    <m:t>𝑖</m:t>
                                  </m:r>
                                </m:sub>
                                <m:sup>
                                  <m:r>
                                    <a:rPr lang="en-US" altLang="zh-TW" sz="1000" i="1">
                                      <a:latin typeface="Cambria Math" panose="02040503050406030204" pitchFamily="18" charset="0"/>
                                    </a:rPr>
                                    <m:t>2</m:t>
                                  </m:r>
                                </m:sup>
                              </m:sSubSup>
                              <m:r>
                                <a:rPr lang="en-US" altLang="zh-TW" sz="1000" i="1">
                                  <a:latin typeface="Cambria Math" panose="02040503050406030204" pitchFamily="18" charset="0"/>
                                </a:rPr>
                                <m:t>+</m:t>
                              </m:r>
                              <m:r>
                                <a:rPr lang="en-US" altLang="zh-TW" sz="1000" i="1">
                                  <a:latin typeface="Cambria Math" panose="02040503050406030204" pitchFamily="18" charset="0"/>
                                </a:rPr>
                                <m:t>𝑒</m:t>
                              </m:r>
                            </m:e>
                          </m:nary>
                        </m:e>
                      </m:rad>
                    </m:oMath>
                  </m:oMathPara>
                </a14:m>
                <a:endParaRPr lang="zh-TW" altLang="en-US" sz="1000" dirty="0"/>
              </a:p>
            </p:txBody>
          </p:sp>
        </mc:Choice>
        <mc:Fallback>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846942" y="2064117"/>
                <a:ext cx="1409360" cy="761042"/>
              </a:xfrm>
              <a:prstGeom prst="rect">
                <a:avLst/>
              </a:prstGeom>
              <a:blipFill>
                <a:blip r:embed="rId3"/>
                <a:stretch>
                  <a:fillRect l="-3030" t="-19355" r="-35931" b="-10725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3" name="文字方塊 12">
                <a:extLst>
                  <a:ext uri="{FF2B5EF4-FFF2-40B4-BE49-F238E27FC236}">
                    <a16:creationId xmlns:a16="http://schemas.microsoft.com/office/drawing/2014/main" id="{04C69D51-1D28-7D46-D4F3-7BE78FE1AE01}"/>
                  </a:ext>
                </a:extLst>
              </p:cNvPr>
              <p:cNvSpPr txBox="1"/>
              <p:nvPr/>
            </p:nvSpPr>
            <p:spPr>
              <a:xfrm>
                <a:off x="3713142" y="1205968"/>
                <a:ext cx="1660198" cy="661976"/>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0">
                              <a:latin typeface="Cambria Math" panose="02040503050406030204" pitchFamily="18" charset="0"/>
                            </a:rPr>
                          </m:ctrlPr>
                        </m:sSubPr>
                        <m:e>
                          <m:r>
                            <m:rPr>
                              <m:sty m:val="p"/>
                            </m:rPr>
                            <a:rPr lang="en-US" altLang="zh-TW" sz="1200" i="0">
                              <a:latin typeface="Cambria Math" panose="02040503050406030204" pitchFamily="18" charset="0"/>
                            </a:rPr>
                            <m:t>A</m:t>
                          </m:r>
                        </m:e>
                        <m:sub>
                          <m:r>
                            <a:rPr lang="en-US" altLang="zh-TW" sz="1200" i="0">
                              <a:latin typeface="Cambria Math" panose="02040503050406030204" pitchFamily="18" charset="0"/>
                            </a:rPr>
                            <m:t>0</m:t>
                          </m:r>
                        </m:sub>
                      </m:sSub>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softmax</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QK</m:t>
                                  </m:r>
                                </m:e>
                                <m:sup>
                                  <m:r>
                                    <m:rPr>
                                      <m:sty m:val="p"/>
                                    </m:rPr>
                                    <a:rPr lang="en-US" altLang="zh-TW" sz="1200" b="0" i="0" smtClean="0">
                                      <a:latin typeface="Cambria Math" panose="02040503050406030204" pitchFamily="18" charset="0"/>
                                    </a:rPr>
                                    <m:t>T</m:t>
                                  </m:r>
                                </m:sup>
                              </m:sSup>
                            </m:num>
                            <m:den>
                              <m:rad>
                                <m:radPr>
                                  <m:degHide m:val="on"/>
                                  <m:ctrlPr>
                                    <a:rPr lang="en-US" altLang="zh-TW" sz="1200" b="0" i="1" smtClean="0">
                                      <a:latin typeface="Cambria Math" panose="02040503050406030204" pitchFamily="18" charset="0"/>
                                    </a:rPr>
                                  </m:ctrlPr>
                                </m:radPr>
                                <m:deg/>
                                <m:e>
                                  <m:sSub>
                                    <m:sSubPr>
                                      <m:ctrlPr>
                                        <a:rPr lang="en-US" altLang="zh-TW" sz="1200" b="0" i="0" smtClean="0">
                                          <a:latin typeface="Cambria Math" panose="02040503050406030204" pitchFamily="18" charset="0"/>
                                        </a:rPr>
                                      </m:ctrlPr>
                                    </m:sSubPr>
                                    <m:e>
                                      <m:r>
                                        <m:rPr>
                                          <m:sty m:val="p"/>
                                        </m:rPr>
                                        <a:rPr lang="en-US" altLang="zh-TW" sz="1200" b="0" i="0" smtClean="0">
                                          <a:latin typeface="Cambria Math" panose="02040503050406030204" pitchFamily="18" charset="0"/>
                                        </a:rPr>
                                        <m:t>d</m:t>
                                      </m:r>
                                    </m:e>
                                    <m:sub>
                                      <m:r>
                                        <m:rPr>
                                          <m:sty m:val="p"/>
                                        </m:rPr>
                                        <a:rPr lang="en-US" altLang="zh-TW" sz="1200" b="0" i="0"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dirty="0">
                  <a:latin typeface="Cambria Math" panose="02040503050406030204" pitchFamily="18" charset="0"/>
                </a:endParaRPr>
              </a:p>
              <a:p>
                <a:r>
                  <a:rPr lang="en-US" altLang="zh-TW" sz="1200" b="0" dirty="0">
                    <a:latin typeface="Cambria Math" panose="02040503050406030204" pitchFamily="18" charset="0"/>
                  </a:rPr>
                  <a:t>A = </a:t>
                </a:r>
                <a14:m>
                  <m:oMath xmlns:m="http://schemas.openxmlformats.org/officeDocument/2006/math">
                    <m:r>
                      <m:rPr>
                        <m:sty m:val="p"/>
                      </m:rPr>
                      <a:rPr lang="en-US" altLang="zh-TW" sz="1200" b="0" i="0" smtClean="0">
                        <a:latin typeface="Cambria Math" panose="02040503050406030204" pitchFamily="18" charset="0"/>
                      </a:rPr>
                      <m:t>CausalMask</m:t>
                    </m:r>
                    <m:r>
                      <a:rPr lang="en-US" altLang="zh-TW" sz="1200" b="0" i="0" smtClean="0">
                        <a:latin typeface="Cambria Math" panose="02040503050406030204" pitchFamily="18" charset="0"/>
                      </a:rPr>
                      <m:t>(</m:t>
                    </m:r>
                    <m:sSub>
                      <m:sSubPr>
                        <m:ctrlPr>
                          <a:rPr lang="en-US" altLang="zh-TW" sz="1200" b="0" i="0" smtClean="0">
                            <a:latin typeface="Cambria Math" panose="02040503050406030204" pitchFamily="18" charset="0"/>
                          </a:rPr>
                        </m:ctrlPr>
                      </m:sSubPr>
                      <m:e>
                        <m:r>
                          <m:rPr>
                            <m:sty m:val="p"/>
                          </m:rPr>
                          <a:rPr lang="en-US" altLang="zh-TW" sz="1200" b="0" i="0" smtClean="0">
                            <a:latin typeface="Cambria Math" panose="02040503050406030204" pitchFamily="18" charset="0"/>
                          </a:rPr>
                          <m:t>A</m:t>
                        </m:r>
                      </m:e>
                      <m:sub>
                        <m:r>
                          <a:rPr lang="en-US" altLang="zh-TW" sz="1200" b="0" i="0" smtClean="0">
                            <a:latin typeface="Cambria Math" panose="02040503050406030204" pitchFamily="18" charset="0"/>
                          </a:rPr>
                          <m:t>0</m:t>
                        </m:r>
                      </m:sub>
                    </m:sSub>
                    <m:r>
                      <a:rPr lang="en-US" altLang="zh-TW" sz="1200" b="0" i="0" smtClean="0">
                        <a:latin typeface="Cambria Math" panose="02040503050406030204" pitchFamily="18" charset="0"/>
                      </a:rPr>
                      <m:t>)</m:t>
                    </m:r>
                  </m:oMath>
                </a14:m>
                <a:endParaRPr lang="en-US" altLang="zh-TW" sz="1200" b="0" dirty="0">
                  <a:latin typeface="Cambria Math" panose="02040503050406030204" pitchFamily="18" charset="0"/>
                </a:endParaRPr>
              </a:p>
            </p:txBody>
          </p:sp>
        </mc:Choice>
        <mc:Fallback>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713142" y="1205968"/>
                <a:ext cx="1660198" cy="661976"/>
              </a:xfrm>
              <a:prstGeom prst="rect">
                <a:avLst/>
              </a:prstGeom>
              <a:blipFill>
                <a:blip r:embed="rId4"/>
                <a:stretch>
                  <a:fillRect l="-5515" r="-368" b="-1388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2" name="文字方塊 41">
                <a:extLst>
                  <a:ext uri="{FF2B5EF4-FFF2-40B4-BE49-F238E27FC236}">
                    <a16:creationId xmlns:a16="http://schemas.microsoft.com/office/drawing/2014/main" id="{4EDD026C-38F0-9E61-E131-591DA8A6D994}"/>
                  </a:ext>
                </a:extLst>
              </p:cNvPr>
              <p:cNvSpPr txBox="1"/>
              <p:nvPr/>
            </p:nvSpPr>
            <p:spPr>
              <a:xfrm>
                <a:off x="5373340" y="1154374"/>
                <a:ext cx="763607" cy="454099"/>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200" b="0" i="0" smtClean="0">
                          <a:latin typeface="Cambria Math" panose="02040503050406030204" pitchFamily="18" charset="0"/>
                        </a:rPr>
                        <m:t>Pi</m:t>
                      </m:r>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m:rPr>
                                  <m:sty m:val="p"/>
                                </m:rPr>
                                <a:rPr lang="en-US" altLang="zh-TW" sz="1200" b="0" i="0" smtClean="0">
                                  <a:latin typeface="Cambria Math" panose="02040503050406030204" pitchFamily="18" charset="0"/>
                                </a:rPr>
                                <m:t>Zi</m:t>
                              </m:r>
                            </m:sup>
                          </m:sSup>
                        </m:num>
                        <m:den>
                          <m:nary>
                            <m:naryPr>
                              <m:chr m:val="∑"/>
                              <m:ctrlPr>
                                <a:rPr lang="en-US" altLang="zh-TW" sz="1200" b="0" i="0" smtClean="0">
                                  <a:latin typeface="Cambria Math" panose="02040503050406030204" pitchFamily="18" charset="0"/>
                                </a:rPr>
                              </m:ctrlPr>
                            </m:naryPr>
                            <m:sub>
                              <m:r>
                                <m:rPr>
                                  <m:sty m:val="p"/>
                                  <m:brk m:alnAt="23"/>
                                </m:rPr>
                                <a:rPr lang="en-US" altLang="zh-TW" sz="1200" b="0" i="0" smtClean="0">
                                  <a:latin typeface="Cambria Math" panose="02040503050406030204" pitchFamily="18" charset="0"/>
                                </a:rPr>
                                <m:t>j</m:t>
                              </m:r>
                            </m:sub>
                            <m:sup>
                              <m:r>
                                <m:rPr>
                                  <m:sty m:val="p"/>
                                </m:rPr>
                                <a:rPr lang="en-US" altLang="zh-TW" sz="1200" b="0" i="0" smtClean="0">
                                  <a:latin typeface="Cambria Math" panose="02040503050406030204" pitchFamily="18" charset="0"/>
                                </a:rPr>
                                <m:t>V</m:t>
                              </m:r>
                            </m:sup>
                            <m:e>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m:rPr>
                                      <m:sty m:val="p"/>
                                    </m:rPr>
                                    <a:rPr lang="en-US" altLang="zh-TW" sz="1200" b="0" i="0" smtClean="0">
                                      <a:latin typeface="Cambria Math" panose="02040503050406030204" pitchFamily="18" charset="0"/>
                                    </a:rPr>
                                    <m:t>Zj</m:t>
                                  </m:r>
                                </m:sup>
                              </m:sSup>
                            </m:e>
                          </m:nary>
                        </m:den>
                      </m:f>
                    </m:oMath>
                  </m:oMathPara>
                </a14:m>
                <a:endParaRPr lang="zh-TW" altLang="en-US" sz="1200" dirty="0"/>
              </a:p>
            </p:txBody>
          </p:sp>
        </mc:Choice>
        <mc:Fallback>
          <p:sp>
            <p:nvSpPr>
              <p:cNvPr id="42" name="文字方塊 41">
                <a:extLst>
                  <a:ext uri="{FF2B5EF4-FFF2-40B4-BE49-F238E27FC236}">
                    <a16:creationId xmlns:a16="http://schemas.microsoft.com/office/drawing/2014/main" id="{4EDD026C-38F0-9E61-E131-591DA8A6D994}"/>
                  </a:ext>
                </a:extLst>
              </p:cNvPr>
              <p:cNvSpPr txBox="1">
                <a:spLocks noRot="1" noChangeAspect="1" noMove="1" noResize="1" noEditPoints="1" noAdjustHandles="1" noChangeArrowheads="1" noChangeShapeType="1" noTextEdit="1"/>
              </p:cNvSpPr>
              <p:nvPr/>
            </p:nvSpPr>
            <p:spPr>
              <a:xfrm>
                <a:off x="5373340" y="1154374"/>
                <a:ext cx="763607" cy="454099"/>
              </a:xfrm>
              <a:prstGeom prst="rect">
                <a:avLst/>
              </a:prstGeom>
              <a:blipFill>
                <a:blip r:embed="rId5"/>
                <a:stretch>
                  <a:fillRect l="-4762" t="-16000" r="-36508" b="-100000"/>
                </a:stretch>
              </a:blipFill>
            </p:spPr>
            <p:txBody>
              <a:bodyPr/>
              <a:lstStyle/>
              <a:p>
                <a:r>
                  <a:rPr lang="zh-TW" altLang="en-US">
                    <a:noFill/>
                  </a:rPr>
                  <a:t> </a:t>
                </a:r>
              </a:p>
            </p:txBody>
          </p:sp>
        </mc:Fallback>
      </mc:AlternateContent>
      <p:sp>
        <p:nvSpPr>
          <p:cNvPr id="47" name="文字方塊 46">
            <a:extLst>
              <a:ext uri="{FF2B5EF4-FFF2-40B4-BE49-F238E27FC236}">
                <a16:creationId xmlns:a16="http://schemas.microsoft.com/office/drawing/2014/main" id="{33060B8A-A437-EC33-27D1-26D6696C9A74}"/>
              </a:ext>
            </a:extLst>
          </p:cNvPr>
          <p:cNvSpPr txBox="1"/>
          <p:nvPr/>
        </p:nvSpPr>
        <p:spPr>
          <a:xfrm rot="5400000">
            <a:off x="266321" y="3832442"/>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rgbClr val="FF0000"/>
                </a:solidFill>
                <a:latin typeface="ADLaM Display" panose="02010000000000000000" pitchFamily="2" charset="0"/>
                <a:cs typeface="ADLaM Display" panose="02010000000000000000" pitchFamily="2" charset="0"/>
              </a:rPr>
              <a:t>T</a:t>
            </a:r>
            <a:r>
              <a:rPr lang="en-US" altLang="zh-TW" sz="1000" dirty="0">
                <a:solidFill>
                  <a:schemeClr val="bg1">
                    <a:lumMod val="50000"/>
                  </a:schemeClr>
                </a:solidFill>
                <a:latin typeface="ADLaM Display" panose="02010000000000000000" pitchFamily="2" charset="0"/>
                <a:cs typeface="ADLaM Display" panose="02010000000000000000" pitchFamily="2" charset="0"/>
              </a:rPr>
              <a: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3" name="文字方塊 52">
            <a:extLst>
              <a:ext uri="{FF2B5EF4-FFF2-40B4-BE49-F238E27FC236}">
                <a16:creationId xmlns:a16="http://schemas.microsoft.com/office/drawing/2014/main" id="{6630B396-C42E-3017-9F89-D6D467930840}"/>
              </a:ext>
            </a:extLst>
          </p:cNvPr>
          <p:cNvSpPr txBox="1"/>
          <p:nvPr/>
        </p:nvSpPr>
        <p:spPr>
          <a:xfrm rot="5400000">
            <a:off x="7576355" y="3832443"/>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7" name="文字方塊 56">
            <a:extLst>
              <a:ext uri="{FF2B5EF4-FFF2-40B4-BE49-F238E27FC236}">
                <a16:creationId xmlns:a16="http://schemas.microsoft.com/office/drawing/2014/main" id="{3663AB4D-BDC1-4C93-2AEB-041AF8B095A9}"/>
              </a:ext>
            </a:extLst>
          </p:cNvPr>
          <p:cNvSpPr txBox="1"/>
          <p:nvPr/>
        </p:nvSpPr>
        <p:spPr>
          <a:xfrm rot="10800000">
            <a:off x="1800176" y="1685164"/>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FF0000"/>
                </a:solidFill>
                <a:effectLst/>
                <a:uLnTx/>
                <a:uFillTx/>
                <a:latin typeface="ADLaM Display" panose="02010000000000000000" pitchFamily="2" charset="0"/>
                <a:ea typeface="ADLaM Display" panose="02010000000000000000" pitchFamily="2" charset="0"/>
                <a:cs typeface="ADLaM Display" panose="02010000000000000000" pitchFamily="2" charset="0"/>
              </a:rPr>
              <a:t>T</a:t>
            </a: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he</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mc:AlternateContent xmlns:mc="http://schemas.openxmlformats.org/markup-compatibility/2006" xmlns:a14="http://schemas.microsoft.com/office/drawing/2010/main">
        <mc:Choice Requires="a14">
          <p:sp>
            <p:nvSpPr>
              <p:cNvPr id="7" name="文字方塊 6">
                <a:extLst>
                  <a:ext uri="{FF2B5EF4-FFF2-40B4-BE49-F238E27FC236}">
                    <a16:creationId xmlns:a16="http://schemas.microsoft.com/office/drawing/2014/main" id="{55B1EB7E-397A-954F-56E5-1FC4D79CD776}"/>
                  </a:ext>
                </a:extLst>
              </p:cNvPr>
              <p:cNvSpPr txBox="1"/>
              <p:nvPr/>
            </p:nvSpPr>
            <p:spPr>
              <a:xfrm>
                <a:off x="5993239" y="5439910"/>
                <a:ext cx="632866" cy="378502"/>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000" b="0" i="0" smtClean="0">
                          <a:latin typeface="Cambria Math" panose="02040503050406030204" pitchFamily="18" charset="0"/>
                        </a:rPr>
                        <m:t>Pi</m:t>
                      </m:r>
                      <m:r>
                        <a:rPr lang="en-US" altLang="zh-TW" sz="1000" b="0" i="0" smtClean="0">
                          <a:latin typeface="Cambria Math" panose="02040503050406030204" pitchFamily="18" charset="0"/>
                        </a:rPr>
                        <m:t>=</m:t>
                      </m:r>
                      <m:f>
                        <m:fPr>
                          <m:ctrlPr>
                            <a:rPr lang="en-US" altLang="zh-TW" sz="1000" b="0" i="1" smtClean="0">
                              <a:latin typeface="Cambria Math" panose="02040503050406030204" pitchFamily="18" charset="0"/>
                            </a:rPr>
                          </m:ctrlPr>
                        </m:fPr>
                        <m:num>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Zi</m:t>
                              </m:r>
                            </m:sup>
                          </m:sSup>
                        </m:num>
                        <m:den>
                          <m:nary>
                            <m:naryPr>
                              <m:chr m:val="∑"/>
                              <m:ctrlPr>
                                <a:rPr lang="en-US" altLang="zh-TW" sz="1000" b="0" i="0" smtClean="0">
                                  <a:latin typeface="Cambria Math" panose="02040503050406030204" pitchFamily="18" charset="0"/>
                                </a:rPr>
                              </m:ctrlPr>
                            </m:naryPr>
                            <m:sub>
                              <m:r>
                                <m:rPr>
                                  <m:sty m:val="p"/>
                                  <m:brk m:alnAt="23"/>
                                </m:rPr>
                                <a:rPr lang="en-US" altLang="zh-TW" sz="1000" b="0" i="0" smtClean="0">
                                  <a:latin typeface="Cambria Math" panose="02040503050406030204" pitchFamily="18" charset="0"/>
                                </a:rPr>
                                <m:t>j</m:t>
                              </m:r>
                            </m:sub>
                            <m:sup>
                              <m:r>
                                <m:rPr>
                                  <m:sty m:val="p"/>
                                </m:rPr>
                                <a:rPr lang="en-US" altLang="zh-TW" sz="1000" b="0" i="0" smtClean="0">
                                  <a:latin typeface="Cambria Math" panose="02040503050406030204" pitchFamily="18" charset="0"/>
                                </a:rPr>
                                <m:t>V</m:t>
                              </m:r>
                            </m:sup>
                            <m:e>
                              <m:sSup>
                                <m:sSupPr>
                                  <m:ctrlPr>
                                    <a:rPr lang="en-US" altLang="zh-TW" sz="1000" b="0" i="0" smtClean="0">
                                      <a:latin typeface="Cambria Math" panose="02040503050406030204" pitchFamily="18" charset="0"/>
                                    </a:rPr>
                                  </m:ctrlPr>
                                </m:sSupPr>
                                <m:e>
                                  <m:r>
                                    <m:rPr>
                                      <m:sty m:val="p"/>
                                    </m:rPr>
                                    <a:rPr lang="en-US" altLang="zh-TW" sz="1000" b="0" i="0" smtClean="0">
                                      <a:latin typeface="Cambria Math" panose="02040503050406030204" pitchFamily="18" charset="0"/>
                                    </a:rPr>
                                    <m:t>e</m:t>
                                  </m:r>
                                </m:e>
                                <m:sup>
                                  <m:r>
                                    <m:rPr>
                                      <m:sty m:val="p"/>
                                    </m:rPr>
                                    <a:rPr lang="en-US" altLang="zh-TW" sz="1000" b="0" i="0" smtClean="0">
                                      <a:latin typeface="Cambria Math" panose="02040503050406030204" pitchFamily="18" charset="0"/>
                                    </a:rPr>
                                    <m:t>Zj</m:t>
                                  </m:r>
                                </m:sup>
                              </m:sSup>
                            </m:e>
                          </m:nary>
                        </m:den>
                      </m:f>
                    </m:oMath>
                  </m:oMathPara>
                </a14:m>
                <a:endParaRPr lang="zh-TW" altLang="en-US" sz="1000" dirty="0"/>
              </a:p>
            </p:txBody>
          </p:sp>
        </mc:Choice>
        <mc:Fallback xmlns="">
          <p:sp>
            <p:nvSpPr>
              <p:cNvPr id="7" name="文字方塊 6">
                <a:extLst>
                  <a:ext uri="{FF2B5EF4-FFF2-40B4-BE49-F238E27FC236}">
                    <a16:creationId xmlns:a16="http://schemas.microsoft.com/office/drawing/2014/main" id="{55B1EB7E-397A-954F-56E5-1FC4D79CD776}"/>
                  </a:ext>
                </a:extLst>
              </p:cNvPr>
              <p:cNvSpPr txBox="1">
                <a:spLocks noRot="1" noChangeAspect="1" noMove="1" noResize="1" noEditPoints="1" noAdjustHandles="1" noChangeArrowheads="1" noChangeShapeType="1" noTextEdit="1"/>
              </p:cNvSpPr>
              <p:nvPr/>
            </p:nvSpPr>
            <p:spPr>
              <a:xfrm>
                <a:off x="5993239" y="5439910"/>
                <a:ext cx="632866" cy="378502"/>
              </a:xfrm>
              <a:prstGeom prst="rect">
                <a:avLst/>
              </a:prstGeom>
              <a:blipFill>
                <a:blip r:embed="rId5"/>
                <a:stretch>
                  <a:fillRect l="-3846" t="-14516" r="-36538" b="-1016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3"/>
          <a:stretch>
            <a:fillRect/>
          </a:stretch>
        </p:blipFill>
        <p:spPr>
          <a:xfrm>
            <a:off x="899592" y="116631"/>
            <a:ext cx="3456384" cy="1661615"/>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a:t>
            </a:r>
            <a:r>
              <a:rPr lang="en-US" altLang="zh-TW" sz="1200" dirty="0" err="1">
                <a:solidFill>
                  <a:schemeClr val="tx1"/>
                </a:solidFill>
                <a:latin typeface="ADLaM Display" panose="02010000000000000000" pitchFamily="2" charset="0"/>
                <a:ea typeface="ADLaM Display" panose="02010000000000000000" pitchFamily="2" charset="0"/>
                <a:cs typeface="ADLaM Display" panose="02010000000000000000" pitchFamily="2" charset="0"/>
              </a:rPr>
              <a:t>MoE</a:t>
            </a:r>
            <a:endPar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6961559"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6746166"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mHC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AttnRes</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89577" y="5806037"/>
            <a:ext cx="407112"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4"/>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6746169"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150790"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169886"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32040"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err="1">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18947</Words>
  <Application>Microsoft Office PowerPoint</Application>
  <PresentationFormat>如螢幕大小 (4:3)</PresentationFormat>
  <Paragraphs>3003</Paragraphs>
  <Slides>49</Slides>
  <Notes>40</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49</vt:i4>
      </vt:variant>
    </vt:vector>
  </HeadingPairs>
  <TitlesOfParts>
    <vt:vector size="67"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1916</cp:revision>
  <cp:lastPrinted>2024-07-30T01:44:15Z</cp:lastPrinted>
  <dcterms:created xsi:type="dcterms:W3CDTF">2019-11-08T03:01:47Z</dcterms:created>
  <dcterms:modified xsi:type="dcterms:W3CDTF">2026-09-12T10:05:48Z</dcterms:modified>
</cp:coreProperties>
</file>