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1"/>
  </p:notesMasterIdLst>
  <p:handoutMasterIdLst>
    <p:handoutMasterId r:id="rId22"/>
  </p:handoutMasterIdLst>
  <p:sldIdLst>
    <p:sldId id="3459" r:id="rId2"/>
    <p:sldId id="3472" r:id="rId3"/>
    <p:sldId id="3531" r:id="rId4"/>
    <p:sldId id="3499" r:id="rId5"/>
    <p:sldId id="3444" r:id="rId6"/>
    <p:sldId id="3521" r:id="rId7"/>
    <p:sldId id="3520" r:id="rId8"/>
    <p:sldId id="3518" r:id="rId9"/>
    <p:sldId id="3475" r:id="rId10"/>
    <p:sldId id="3465" r:id="rId11"/>
    <p:sldId id="3515" r:id="rId12"/>
    <p:sldId id="3505" r:id="rId13"/>
    <p:sldId id="3514" r:id="rId14"/>
    <p:sldId id="3482" r:id="rId15"/>
    <p:sldId id="3489" r:id="rId16"/>
    <p:sldId id="3519" r:id="rId17"/>
    <p:sldId id="3530" r:id="rId18"/>
    <p:sldId id="257" r:id="rId19"/>
    <p:sldId id="265" r:id="rId20"/>
  </p:sldIdLst>
  <p:sldSz cx="9144000" cy="6858000" type="screen4x3"/>
  <p:notesSz cx="6797675" cy="992505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Gemm 3 Technical Report" id="{30F6892D-1922-4A88-A82D-8CD0653C5411}">
          <p14:sldIdLst>
            <p14:sldId id="3459"/>
            <p14:sldId id="3472"/>
          </p14:sldIdLst>
        </p14:section>
        <p14:section name="Edge AI" id="{C5ADF914-F8F1-4215-8A34-A521DDB15BBF}">
          <p14:sldIdLst>
            <p14:sldId id="3531"/>
            <p14:sldId id="3499"/>
            <p14:sldId id="3444"/>
            <p14:sldId id="3521"/>
            <p14:sldId id="3520"/>
            <p14:sldId id="3518"/>
            <p14:sldId id="3475"/>
          </p14:sldIdLst>
        </p14:section>
        <p14:section name="Gemma" id="{5A048767-0D58-44AF-B962-12C29493294F}">
          <p14:sldIdLst>
            <p14:sldId id="3465"/>
            <p14:sldId id="3515"/>
            <p14:sldId id="3505"/>
            <p14:sldId id="3514"/>
            <p14:sldId id="3482"/>
            <p14:sldId id="3489"/>
          </p14:sldIdLst>
        </p14:section>
        <p14:section name="Conclusion" id="{69C35067-BEF2-4B7C-9B54-B6977EB05C72}">
          <p14:sldIdLst>
            <p14:sldId id="3519"/>
            <p14:sldId id="3530"/>
            <p14:sldId id="257"/>
            <p14:sldId id="265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1474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EF1DDEA-D49D-B2A5-9D83-8BDFFC6C721F}" name="Allen Ni(倪士凱)" initials="AN" userId="S::ani@centrilliontech.com.tw::64a9ee61-01eb-41d1-8925-9f522fa76fb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0B307"/>
    <a:srgbClr val="EAEAEA"/>
    <a:srgbClr val="DFD8E8"/>
    <a:srgbClr val="FF99FF"/>
    <a:srgbClr val="EBE6F0"/>
    <a:srgbClr val="CCFF66"/>
    <a:srgbClr val="CBDCA8"/>
    <a:srgbClr val="FF0000"/>
    <a:srgbClr val="008000"/>
    <a:srgbClr val="DDDDD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9CF1AB2-1976-4502-BF36-3FF5EA218861}" styleName="中等深淺樣式 4 - 輔色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2D5ABB26-0587-4C30-8999-92F81FD0307C}" styleName="無樣式、無格線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73A0DAA-6AF3-43AB-8588-CEC1D06C72B9}" styleName="中等深淺樣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406" autoAdjust="0"/>
    <p:restoredTop sz="38710" autoAdjust="0"/>
  </p:normalViewPr>
  <p:slideViewPr>
    <p:cSldViewPr>
      <p:cViewPr>
        <p:scale>
          <a:sx n="100" d="100"/>
          <a:sy n="100" d="100"/>
        </p:scale>
        <p:origin x="804" y="72"/>
      </p:cViewPr>
      <p:guideLst>
        <p:guide orient="horz" pos="2160"/>
        <p:guide pos="1474"/>
      </p:guideLst>
    </p:cSldViewPr>
  </p:slideViewPr>
  <p:outlineViewPr>
    <p:cViewPr>
      <p:scale>
        <a:sx n="33" d="100"/>
        <a:sy n="33" d="100"/>
      </p:scale>
      <p:origin x="0" y="-1075"/>
    </p:cViewPr>
  </p:outlin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96" d="100"/>
          <a:sy n="96" d="100"/>
        </p:scale>
        <p:origin x="2784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handoutMaster" Target="handoutMasters/handoutMaster1.xml"/><Relationship Id="rId27" Type="http://schemas.microsoft.com/office/2018/10/relationships/authors" Target="author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>
            <a:extLst>
              <a:ext uri="{FF2B5EF4-FFF2-40B4-BE49-F238E27FC236}">
                <a16:creationId xmlns:a16="http://schemas.microsoft.com/office/drawing/2014/main" id="{8509AA70-DCA8-F2B3-665C-D289623E162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2" y="0"/>
            <a:ext cx="2945659" cy="497976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260D9017-2A20-36CB-3124-1CE24A164FF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50445" y="0"/>
            <a:ext cx="2945659" cy="497976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r">
              <a:defRPr sz="1200"/>
            </a:lvl1pPr>
          </a:lstStyle>
          <a:p>
            <a:fld id="{982F7CBC-87DD-4F69-8F50-7ED68F7FF790}" type="datetimeFigureOut">
              <a:rPr lang="zh-TW" altLang="en-US" smtClean="0"/>
              <a:t>2026/7/27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72E2BC4B-E97F-2930-F9D4-22EF7E0E14E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2" y="9427077"/>
            <a:ext cx="2945659" cy="497975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F9105500-21C2-E70A-A08C-9E9E3094A4E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50445" y="9427077"/>
            <a:ext cx="2945659" cy="497975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r">
              <a:defRPr sz="1200"/>
            </a:lvl1pPr>
          </a:lstStyle>
          <a:p>
            <a:fld id="{30EF305C-901E-49EC-B839-B172F948820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519013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2" y="1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50445" y="1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r">
              <a:defRPr sz="1200"/>
            </a:lvl1pPr>
          </a:lstStyle>
          <a:p>
            <a:fld id="{863167AA-796B-4B6A-95ED-1C0BCB3E5802}" type="datetimeFigureOut">
              <a:rPr lang="zh-TW" altLang="en-US" smtClean="0"/>
              <a:t>2026/7/27</a:t>
            </a:fld>
            <a:endParaRPr lang="zh-TW" altLang="en-US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917575" y="744538"/>
            <a:ext cx="4962525" cy="37226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30" tIns="45714" rIns="91430" bIns="45714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79768" y="4714400"/>
            <a:ext cx="5438140" cy="4466272"/>
          </a:xfrm>
          <a:prstGeom prst="rect">
            <a:avLst/>
          </a:prstGeom>
        </p:spPr>
        <p:txBody>
          <a:bodyPr vert="horz" lIns="91430" tIns="45714" rIns="91430" bIns="45714" rtlCol="0"/>
          <a:lstStyle/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2" y="9427075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50445" y="9427075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r">
              <a:defRPr sz="1200"/>
            </a:lvl1pPr>
          </a:lstStyle>
          <a:p>
            <a:fld id="{E3A6CE5E-F349-486D-8749-82EF2AD71FA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360095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2cm.com.tw/2cm/zh-tw/market/0B0A1A53F59840AA83761E4A97E37E6B" TargetMode="External"/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1974219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84B811-902A-94AB-AABB-4CC1382C73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B32B768C-5222-29ED-3563-1AFFE32A73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A1FC8048-7B6E-7E1E-EC2B-CCC4CC9FF3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endParaRPr kumimoji="0" lang="en-US" altLang="zh-TW" sz="20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4A622D0-F740-070B-33AA-93A0D57A4D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9435678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B4917C-4D70-6475-414F-A7F6D7E95D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216150E7-79D9-F597-8A7E-5F858DADF5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196616FD-FA3A-4DCF-3433-4918F60C4F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GPT </a:t>
            </a:r>
            <a:r>
              <a:rPr lang="zh-TW" altLang="en-US" dirty="0"/>
              <a:t>是「生成式預先訓練變壓器」（</a:t>
            </a:r>
            <a:r>
              <a:rPr lang="en-US" altLang="zh-TW" dirty="0"/>
              <a:t>Generative Pre-trained Transformer</a:t>
            </a:r>
            <a:r>
              <a:rPr lang="zh-TW" altLang="en-US" dirty="0"/>
              <a:t>）的縮寫。它是由 </a:t>
            </a:r>
            <a:r>
              <a:rPr lang="en-US" altLang="zh-TW" dirty="0"/>
              <a:t>OpenAI </a:t>
            </a:r>
            <a:r>
              <a:rPr lang="zh-TW" altLang="en-US" dirty="0"/>
              <a:t>開發的一種深度學習神經網路模型架構，也是目前全球最知名的 </a:t>
            </a:r>
            <a:r>
              <a:rPr lang="en-US" altLang="zh-TW" dirty="0"/>
              <a:t>AI </a:t>
            </a:r>
            <a:r>
              <a:rPr lang="zh-TW" altLang="en-US" dirty="0"/>
              <a:t>聊天機器人 </a:t>
            </a:r>
            <a:r>
              <a:rPr lang="en-US" altLang="zh-TW" dirty="0"/>
              <a:t>ChatGPT </a:t>
            </a:r>
            <a:r>
              <a:rPr lang="zh-TW" altLang="en-US" dirty="0"/>
              <a:t>的底層核心技術。</a:t>
            </a:r>
            <a:br>
              <a:rPr lang="en-US" altLang="zh-TW" dirty="0"/>
            </a:br>
            <a:br>
              <a:rPr lang="en-US" altLang="zh-TW" dirty="0"/>
            </a:b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在大型語言模型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SFT（監督式微調）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的 6 個步驟。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資料收集與清洗（最關鍵的一步）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SFT 圈內有一句名言：「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Quality is all you need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（品質就是一切）」。少量、高質量的資料，效果遠好於大量、有雜訊的資料。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格式標準化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：將資料轉換為 {"instruction": "...", "input": "...", "output": "..."} 或常見的 Chat 格式（如 OpenAI 的 messages 格式）。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高質量篩選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：剔除語意不通、回答過短、重複度高、或含有錯誤事實的資料。通常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1,000 到 10,000 條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高質量對話，就能讓模型有很好的指令遵循能力。</a:t>
            </a: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資料 Tokenization（標記化與遮罩）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將文字轉換為模型看得懂的數字（Tokens），並設定訓練遮罩（Mask）。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長度截斷（Truncation）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：根據顯存大小與需求，設定最大序列長度（如 2048 或 4096 Tokens）。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計算遮罩（Data Collator）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：這是 SFT 的特殊之處。在將 Prompt 與 Response 拼接成一條序列時，必須將 Prompt 部分的標籤設為 -100。如此一來，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模型在計算損失（Loss）時只會對「回答」負責，而不會去預測「問題」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微調策略選擇（全參數 vs. PEFT）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根據預算與算力（GPU）選擇微調方式：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全參數微調（Full Fine-Tuning）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：更新模型的所有權重。效果最好、最穩定，但極度消耗顯存，且容易造成模型「災難性遺忘（Catastrophic Forgetting）」。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高效參數微調（PEFT / LoRA / QLoRA）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：凍結原模型所有參數，只在旁邊外掛小矩陣進行訓練。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這是目前企業最常用的主流作法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，能節省 70% 以上的顯存，且單張消費級顯卡（如 RTX 4090）即可執行。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 超參數配置與模型訓練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啟動訓練腳本（通常使用 Hugging Face TRL 庫中的 SFTTrainer 或 LLaMA-Factory 框架）。常見的基礎超參數配置如下：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學習率（Learning Rate）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：通常設得很小，全參數約 1e-5 到 2e-5；LoRA 則可設為 1e-4 到 2e-4。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Epochs（訓練輪數）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：一般只需要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 到 3 個 Epochs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。過多的輪數會導致模型過擬合（Overfitting），死記硬背訓練集，失去泛化能力。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Batch Size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：透過 Gradient Accumulation Steps（梯度累積）來變相放大 Batch Size，確保訓練穩定。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5. 訓練監控（Loss 觀察）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看指標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：密切注意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Training Loss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與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Validation Loss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黃金曲線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：理想的 SFT Loss 曲線應該是平滑下降，最後收斂在一個合理區間（通常在 1.0 上下，取決於資料集）。如果 Validation Loss 開始反彈上升，說明模型已經過擬合，必須提前終止訓練（Early Stopping）。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6. 模型評估與部署（Evaluation）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自動化評估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：使用測試集（模型沒看過的資料）讓模型回答，並利用大模型（如 GPT-4）進行打分（LLM-as-a-Judge），或使用常識能力基準（如 MMLU、GSM8K）確保模型沒有變笨。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人工盲測（Side-by-Side）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：由人類專家直接對比「微調前」與「微調後」的回答，確認語氣、格式、業務邏輯是否完全對齊目標。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權重合併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：如果使用 LoRA，評估通過後需要將 LoRA 的小矩陣權重與原始 Base 模型合併（Merge），並導出為通用格式（如 Hugging Face 或 GGUF 格式）以便下游部署。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DF44375-662C-F098-7B49-BC0BFB70ABD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0436710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fontAlgn="base"/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MCP 協定的運作核心在於三大架構的合作：主機（Host）、客戶端（Client） 與伺服器（Server）。這三者就如同 AI 任務中的指揮官、聯絡人與執行單位，讓 AI 助理（AI agent）得以安全、即時地連接外部資訊。</a:t>
            </a:r>
          </a:p>
          <a:p>
            <a:pPr fontAlgn="base"/>
            <a:endParaRPr lang="zh-TW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/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MCP 主機（MCP Host）：指揮中心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主機通常是 AI 應用本身，例如 Claude Desktop, IDEs, 或是其他需要透過 MCP 存取資料的 AI 工具。它負責發出請求、定義任務，可以把它想像為一名總指揮，指派 AI 查詢資料、存取文件或啟用工具。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/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MCP 客戶端（MCP Client）：溝通橋梁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客戶端扮演主機與伺服器之間的溝通媒介，負責將主機的指令準確的轉交給伺服器處理，並將伺服器回傳的結果送回主機，MCP 主機會執行一個或多個 MCP 客戶端，並與 MCP 伺服器進行一對一連結。同時有身份驗證的功能，維持系統通訊的安全性與穩定性。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/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MCP 伺服器（MCP Server）：任務執行者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伺服器的任務是將電腦內的功能（像是資料庫查詢、檔案讀寫、網頁操作）透過一組標準化的指令對外公開。當主機透過 MCP 發出指令時，伺服器就會依據這些指令執行操作，並將結果回傳。</a:t>
            </a:r>
          </a:p>
          <a:p>
            <a:endParaRPr lang="en-US" altLang="zh-TW" dirty="0"/>
          </a:p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1600" b="1" u="none" strike="noStrike" dirty="0">
                <a:effectLst/>
              </a:rPr>
              <a:t>AI Model Format</a:t>
            </a:r>
          </a:p>
          <a:p>
            <a:pPr marL="0" marR="0" lvl="0" indent="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lang="en-US" altLang="zh-TW" sz="1200" b="1" dirty="0">
                <a:solidFill>
                  <a:prstClr val="black"/>
                </a:solidFill>
                <a:latin typeface="+mn-lt"/>
                <a:ea typeface="+mn-ea"/>
              </a:rPr>
              <a:t>-</a:t>
            </a:r>
            <a:r>
              <a:rPr lang="zh-TW" altLang="en-US" sz="1200" b="1" dirty="0">
                <a:solidFill>
                  <a:prstClr val="black"/>
                </a:solidFill>
                <a:latin typeface="+mn-lt"/>
                <a:ea typeface="+mn-ea"/>
              </a:rPr>
              <a:t> </a:t>
            </a:r>
            <a:r>
              <a:rPr lang="en-US" altLang="zh-TW" sz="1200" b="1" dirty="0">
                <a:solidFill>
                  <a:prstClr val="black"/>
                </a:solidFill>
                <a:latin typeface="+mn-lt"/>
                <a:ea typeface="+mn-ea"/>
              </a:rPr>
              <a:t>GPT Generated Unify Format (</a:t>
            </a: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GGUF)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: LLM file format.</a:t>
            </a:r>
          </a:p>
          <a:p>
            <a:pPr marL="0" marR="0" lvl="0" indent="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-</a:t>
            </a:r>
            <a:r>
              <a:rPr kumimoji="0" lang="zh-TW" alt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</a:t>
            </a: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Open Neuro Network eXchange (ONNX):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AI model file format</a:t>
            </a:r>
            <a:r>
              <a:rPr lang="en-US" altLang="zh-TW" sz="1200" dirty="0">
                <a:solidFill>
                  <a:prstClr val="black"/>
                </a:solidFill>
                <a:latin typeface="+mn-lt"/>
                <a:ea typeface="+mn-ea"/>
              </a:rPr>
              <a:t>, for example YOLO.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3754641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正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確觀念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：Graph RAG ➔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直接貼入Context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➔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 一口氣讀完並生成最終答案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在簡報上，您可以強調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"Direct Context Injection"（直接上下文注入）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，這代表資料是以最快、最無損（Lossless）的方式直接賦予 AI 大腦。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2470832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481A17-90A7-9331-3F44-AE3CEE56DC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5054187F-DC36-B286-6A5E-3E08FF7E435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1273D078-FC4B-EEEB-EC56-F89C13CBA9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正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確觀念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：Graph RAG ➔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直接貼入Context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➔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 一口氣讀完並生成最終答案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在簡報上，您可以強調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"Direct Context Injection"（直接上下文注入）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，這代表資料是以最快、最無損（Lossless）的方式直接賦予 AI 大腦。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5DF597F-45FE-5CE4-D640-6655A52604B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6927544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7FA828-BB81-20B9-F8FF-D51EE5A556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61EB7EF0-23BF-7613-C8F0-A77854388CC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D1DE388F-6C85-7B21-1F63-CC5157628DD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我們可以從以下四個最關鍵的維度，來看各個推理引擎的本質差異：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速度與吞吐量（Throughput）的巨大落差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vLLM / SGLang（API 伺服器之王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):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內建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PagedAttention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技術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專為「多人同時使用」設計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llama.cpp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單機之王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它沒有高併發優化，如果 100 個人同時連進來，它會排隊排到天荒地老。但如果是「你一個人」在電腦前用，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Time-to-First-Token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非常快。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硬體支援度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底層優化對象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endParaRPr lang="zh-TW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TensorRT-LLM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：這是 Nvidia 官方的硬體作弊外掛。它會把 Llama 的矩陣乘法，直接編譯成特定 GPU（如 A100 或 RTX 4090）的最底層硬體指令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是所有引擎中最快的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llama.cpp / Ollama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：主打「什麼硬體都能跑」。它的底層是用 C++ 寫的，對 Apple Silicon的神經網路引擎和記憶體頻寬做了神級優化。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OpenVINO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：這是 Intel 的專屬引擎，專門把 Llama 優化在 Intel Xeon 處理器、Intel Ultra 筆電晶片或 Arc 顯卡上執行。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動態外掛（Multi-LoRA）的支援能力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如果你微調了好多個不同功能的 LoRA 外掛（例如一個負責寫信、一個負責寫程式、一個負責客服）：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vLLM / SGLang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：支援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「動態熱插拔 Multi-LoRA」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。伺服器記憶體裡只需要載入一個 Llama 基底模型，當 A 請求需要客服、B 請求需要寫程式時，引擎可以在微秒等級內動態切換計算圖分支。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Ollama / 傳統引擎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：通常不支援或支援得很差。你可能必須為了客服開一個 15GB 的模型服務，為了寫程式又開另一個 15GB 的模型服務，極度浪費顯存（VRAM）。</a:t>
            </a:r>
          </a:p>
          <a:p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 功能性與生態系（開發便利度）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Ollama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：主打「零設定」。它把複雜的編譯、權重載入、硬體分配全部包裝起來。</a:t>
            </a: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SGLang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：主打「複雜 Prompt 與 Agent 加速」。SGLang 的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RadixAttention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技術會把那些重複的系統提示詞（System Prompt）永遠快取在顯存裡。</a:t>
            </a:r>
          </a:p>
          <a:p>
            <a:br>
              <a:rPr lang="zh-TW" altLang="zh-TW" dirty="0"/>
            </a:br>
            <a:endParaRPr lang="zh-TW" altLang="zh-TW" dirty="0"/>
          </a:p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5C79EC1-ECFE-2D05-74F8-6C0BB1DEFB3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20787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（從「規模驅動」走向「品質核心」的創新）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近幾年最核心的技術典範轉移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Paradigm Shift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dirty="0"/>
              <a:t>四個趨勢（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數據品質、MoE架構、原生多模態、端側輕量化</a:t>
            </a:r>
            <a:r>
              <a:rPr lang="zh-TW" altLang="zh-TW" dirty="0"/>
              <a:t>）</a:t>
            </a:r>
            <a:endParaRPr lang="en-US" altLang="zh-TW" dirty="0"/>
          </a:p>
          <a:p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數據面的轉變（Data Aspect）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過去（Scale-Driven）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：信奉「暴力美學」與對稱擴展定律（Scaling Laws）。當時的思維是：只要把網路上能爬到的資料（無論好壞）通通餵給模型，模型越大、資料越多，實力就越強。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現在（Quality-Centric）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：網路上高質量的人類原生數據快要被吃光了（數據荒危機）。現在的創新在於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數據工程（Data Engineering）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。大家不再比誰的資料量大，而是比誰的資料洗得乾淨、去重做得到位、或是誰能用強大模型生成出更高品質的「合成數據（Synthetic Data）」來餵養新模型 [?]。</a:t>
            </a:r>
          </a:p>
          <a:p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模型架構與算力的轉變（Architecture &amp; Compute Aspect）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過去（Scale-Driven）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：盲目追求參數模型的體積（例如從 175B 飆升到萬億參數）。這導致訓練和推理（Inference）成本高上天，只有極少數科技巨頭玩得起。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現在（Quality-Centric）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：追求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架構的精巧與高效率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。例如轉向「專家混合模型（MoE）」，雖然總參數很大，但每次處理文字時只啟動其中一小部分專家網路；或者專注於優化 3B、8B 的「小語言模型（SLM）」，讓它在極小的體積下，透過高質量的訓練達到逼近大模型的智商。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商業與應用落地面的轉變（Business &amp; Deployment Aspect）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過去（Scale-Driven）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：大家在實驗室裡刷榜（Benchmark），比拼誰的理論分數高、誰能回答各種刁鑽的常識問題。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現在（Quality-Centric）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：業界更看重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應用的精準度與ROI（投資回報率）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。模型必須能夠精準對齊（Alignment）人類意圖、減少幻覺（Hallucination）、並且能低延遲、低成本地部署在企業內部或使用者的手機、筆電端（On-device AI）。</a:t>
            </a:r>
          </a:p>
          <a:p>
            <a:br>
              <a:rPr lang="zh-TW" altLang="zh-TW" dirty="0"/>
            </a:br>
            <a:endParaRPr lang="zh-TW" altLang="zh-TW" dirty="0"/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5558571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/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常見的輕量化技術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知識蒸餾（Knowledge Distillation）：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讓參數量較少的小型模型（學生）模仿大型模型（老師）的行為，從中學習複雜的語言推理能力。 [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1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]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模型量化（Quantization）：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將模型權重（Weights）從高精度（如 16-bit 浮點數）降低到低精度（如 8-bit 或 4-bit 整數），大幅減少記憶體佔用。 [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1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]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參數剪枝（Pruning）：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移除模型中對預測結果影響較小、冗餘的神經元與連接。</a:t>
            </a:r>
          </a:p>
          <a:p>
            <a:br>
              <a:rPr lang="en-US" altLang="zh-TW" dirty="0"/>
            </a:br>
            <a:br>
              <a:rPr lang="en-US" altLang="zh-TW" dirty="0"/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層級嵌入 (Per-Layer Embeddings, PLE)</a:t>
            </a:r>
            <a:r>
              <a:rPr lang="zh-TW" altLang="zh-TW" dirty="0"/>
              <a:t> 是 AI 模型（如 Google 的 Gemma 4 等語言模型）中的一種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記憶體優化技術</a:t>
            </a:r>
            <a:r>
              <a:rPr lang="zh-TW" altLang="zh-TW" dirty="0"/>
              <a:t>。它為模型的每一層提供獨立的低維度特徵訊號，讓小尺寸模型能以更少參數獲得更精準的特化能力，從而提升邊緣裝置（如手機、筆電）上的執行效率。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2194957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27C430-FB32-5602-3DB0-5E8B5F79D1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7B763E16-AD96-B65B-01CE-46AB664453A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475913C2-1FFD-6EC2-6E74-DAE194F03C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本頁亮點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Optimizer, Quantization-Aware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SGD (Stochastic Gradient Descent)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優點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：記憶體佔用極低。除了模型參數本身，只需要額外儲存 1 份動量（Momentum）數據。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缺點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：固定學習率很難收斂，調參非常痛苦。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Standard Adam (Adaptive Moment Estimation)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優點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：為每個參數精準調整步長，收斂速度極快。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缺點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：在加入 L2 正規化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Weight Decay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時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其數學公式會把權重衰減與梯度放在一起計算，導致權重並未如預期般衰減，容易過擬合。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AdamW (Adam with Weight Decoupled)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優點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：完美解決了 Adam 的 L2 正規化問題。它將權重衰減的步驟獨立出來，既保留了 Adam 快速收斂的特性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又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提升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泛化能力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Generalization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。目前 95% 以上的 LLM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如 LLaMA, GPT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預訓練預設都用它。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缺點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：非常吃顯存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VRAM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。除了模型參數，它還必須在顯存中常駐一階矩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FP32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和二階矩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FP32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這往往是顯存爆炸的主因。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 Paged AdamW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優點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：數學邏輯與 AdamW 完全相同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但它允許 GPU 在顯存不夠時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把 AdamW 的優化器狀態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一、二階矩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暫時換出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Page-out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到電腦的系統記憶體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RAM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中。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缺點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：因為資料需要透過 PCIe 總線在 GPU 和 CPU 之間來回搬運，訓練速度會比原生 AdamW 慢 10% ~ 30% 不等。</a:t>
            </a:r>
          </a:p>
          <a:p>
            <a:endParaRPr lang="zh-TW" altLang="zh-TW" dirty="0"/>
          </a:p>
          <a:p>
            <a:r>
              <a:rPr lang="zh-TW" altLang="zh-TW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QAT（Quantization-Aware Training，量化感知訓練）</a:t>
            </a: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zh-TW" altLang="zh-TW" dirty="0"/>
              <a:t>是一種 AI 模型優化技術</a:t>
            </a: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。它在訓練過程中模擬低精度（如 INT8）的誤差，讓神經網路提前「適應」量化損失。相較於直接量化，這能大幅減少精準度下降，常用於邊緣設備。</a:t>
            </a:r>
            <a:br>
              <a:rPr lang="en-US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💡 核心原理與運作方式</a:t>
            </a:r>
          </a:p>
          <a:p>
            <a:r>
              <a:rPr lang="zh-TW" altLang="zh-TW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偽量化（Fake Quantization）：</a:t>
            </a: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在訓練階段，將高精度（通常為 FP32）的權重與激活值壓縮為低精度（如 INT8），計算完後再解壓縮回高精度。 </a:t>
            </a:r>
          </a:p>
          <a:p>
            <a:r>
              <a:rPr lang="zh-TW" altLang="zh-TW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模擬誤差：</a:t>
            </a: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讓模型在訓練時就能察覺到量化所產生的噪聲（Noise），並學會自我調整去彌補這些誤差。 </a:t>
            </a:r>
          </a:p>
          <a:p>
            <a:r>
              <a:rPr lang="zh-TW" altLang="zh-TW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權重更新：</a:t>
            </a: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為了在不可微分的量化函數下進行反向傳播（Backpropagation），QAT 使用直通估計器（Straight-Through Estimator, STE）來順利更新權重。</a:t>
            </a:r>
          </a:p>
          <a:p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STE（Straight-Through Estimator，直通估計器）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是深度學習中用於解決「不可微分函數」反向傳播問題的一種特殊技巧。在模型量化（如 QAT）或二值化神經網路（BNN）中，它是不可或缺的核心機制。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數學困境：</a:t>
            </a:r>
            <a:r>
              <a:rPr lang="zh-TW" altLang="zh-TW" dirty="0"/>
              <a:t> 階梯函數的導數（梯度）在絕大多數地方都是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0</a:t>
            </a:r>
            <a:r>
              <a:rPr lang="zh-TW" altLang="zh-TW" dirty="0"/>
              <a:t>，而在跳躍的邊界點則是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無限大（不存在）</a:t>
            </a:r>
            <a:r>
              <a:rPr lang="zh-TW" altLang="zh-TW" dirty="0"/>
              <a:t>。</a:t>
            </a:r>
            <a:br>
              <a:rPr lang="zh-TW" altLang="zh-TW" dirty="0"/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💡 STE 的運作原理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STE 的核心思想非常直接且「粗暴」：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在正向傳播時使用量化函數，但在反向傳播時，直接假裝量化函數不存在。</a:t>
            </a: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正向傳播（Forward Pass）：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正常執行量化運算（例如將 2.7 四捨五入變成 3），讓模型體驗低精度帶來的誤差與噪聲。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反向傳播（Backward Pass）：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當梯度傳回來到這個量化節點時，STE 直接將梯度「原封不動」地傳遞過去（相當於假設該節點的導數為 1）。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簡單來說，它就像是在反向傳播時，在不可微分的階梯函數上架了一座「直通橋梁」，讓梯度順利通過並更新前一層的 FP32 權重。</a:t>
            </a:r>
          </a:p>
          <a:p>
            <a:endParaRPr lang="zh-TW" altLang="zh-TW" dirty="0"/>
          </a:p>
          <a:p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adam optimizer, 作法</a:t>
            </a:r>
          </a:p>
          <a:p>
            <a:pPr rtl="0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Adam（Adaptive Moment Estimation，自適應動態矩量估計）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結合了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Momentum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動態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與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RMSprop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均方根傳播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的優點，既能像動態法一樣衝過局部最小值，又能為每個參數獨立調整學習率。</a:t>
            </a:r>
          </a:p>
          <a:p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692FE20-B45B-F4FE-5FF4-77187FF0804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9650328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C391CA-EAA5-61AA-976B-D0A473DBC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2BB17E1F-7486-345D-4CF1-A610F24F04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B5FB8F9B-73BE-4DBC-4418-A5E1151339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27E670B-4E94-5D0F-9125-795575CD839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2186179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E797C2-856D-7C78-822E-DA2B9845E2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AB01D36F-2A90-C039-12E9-94ACB21359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AD287985-DD70-EAFB-BA76-359D9B2CA1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9B8C7DA-B5D4-A1F6-335B-4A2BE3F7BA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9921264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9795CE-C2D6-9D16-6D14-69ACBE5316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63352CE7-F871-B339-F340-2B51478FA4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66C8E757-4B05-165E-1607-0BCD6DE544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br>
              <a:rPr lang="en-US" altLang="zh-TW" dirty="0"/>
            </a:br>
            <a:r>
              <a:rPr lang="en-US" altLang="zh-TW" dirty="0"/>
              <a:t>Gemma</a:t>
            </a:r>
            <a:r>
              <a:rPr lang="zh-TW" altLang="en-US" dirty="0"/>
              <a:t> </a:t>
            </a:r>
            <a:r>
              <a:rPr lang="en-US" altLang="zh-TW" dirty="0"/>
              <a:t>4</a:t>
            </a:r>
            <a:r>
              <a:rPr lang="zh-TW" altLang="en-US" dirty="0"/>
              <a:t> </a:t>
            </a:r>
            <a:r>
              <a:rPr lang="en-US" altLang="zh-TW" dirty="0"/>
              <a:t>12B</a:t>
            </a:r>
            <a:r>
              <a:rPr lang="zh-TW" altLang="en-US" dirty="0"/>
              <a:t> 統一架構</a:t>
            </a:r>
            <a:r>
              <a:rPr lang="en-US" altLang="zh-TW" dirty="0"/>
              <a:t>,</a:t>
            </a:r>
            <a:r>
              <a:rPr lang="zh-TW" altLang="en-US" dirty="0"/>
              <a:t> </a:t>
            </a:r>
            <a:r>
              <a:rPr lang="zh-TW" altLang="zh-TW" dirty="0"/>
              <a:t>層級嵌入 PLE</a:t>
            </a:r>
            <a:endParaRPr lang="zh-TW" altLang="en-US" dirty="0"/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多模態 AI 的架構簡介（從傳統到現代）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要在同一個 AI 模型裡同時塞入「文字、圖片、聲音」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技術架構經歷了兩個世代演變：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傳統架構：橋接法 (Encoder-based Architecture)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以往的 LLaVA 或舊型多模態模型，就像是「拼裝車」：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外掛多個編編碼器 (Encoders)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：文字有文字的處理器、圖片有專屬的視覺編碼器（如 CLIP）、聲音有語音編碼器。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對齊層 (Projection Layer)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：中間用一個轉換層，把圖片和聲音的訊號「強行翻譯」成文字看得懂的向量。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丟入 LLM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：最後才餵給主要的大型語言模型。 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0" i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缺點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：編碼器體積龐大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數億參數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、會卡死微調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Fine-tuning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的彈性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且在轉換過程中容易漏掉細節。 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現代/未來架構：原生統一法 (Native Unified / Encoder-Free Architecture)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這也是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Gemma 4 的核心突破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！科學家發現，不需要外掛這麼多編碼器，主要的大腦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本質上就夠聰明了。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直接線性投影 (Linear Projection)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：圖片或聲音不經過外部編碼器加工，直接切碎並透過一個極輕量的線性模組轉成標記（Tokens）。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一體化推論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：多種模態的資料直接在同一個核心架構（Backbone）裡混合、計算。 </a:t>
            </a:r>
          </a:p>
          <a:p>
            <a:r>
              <a:rPr lang="zh-TW" altLang="zh-TW" sz="1200" b="0" i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優點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：推論速度極快、模型體積大幅縮小，而且文字、圖片、音訊可以完美融合在同一個資料流中，大幅降低硬體門檻。</a:t>
            </a:r>
          </a:p>
          <a:p>
            <a:endParaRPr lang="en-US" altLang="zh-TW" dirty="0"/>
          </a:p>
          <a:p>
            <a:endParaRPr lang="en-US" altLang="zh-TW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計算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memory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用量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? 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計算用電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? 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如何知道級距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?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用雲端服務建立準線。</a:t>
            </a:r>
            <a:endParaRPr kumimoji="0" lang="en-US" altLang="zh-TW" sz="12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86E7571-A4C4-1EDD-1D49-0CFA2F6F94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640092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dirty="0"/>
              <a:t>近年來「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總參數量</a:t>
            </a:r>
            <a:r>
              <a:rPr lang="zh-TW" altLang="zh-TW" dirty="0"/>
              <a:t>」已不等於「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實際運算量</a:t>
            </a:r>
            <a:r>
              <a:rPr lang="zh-TW" altLang="zh-TW" dirty="0"/>
              <a:t>」，因為許多模型採用了 MoE 技術，讓模型雖然體積龐大，但每次處理一個字（Token）時只需要啟動一小部分參數。</a:t>
            </a:r>
            <a:endParaRPr lang="en-US" altLang="zh-TW" dirty="0"/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DeepSeek 追求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極致的硬體成本效益（Cost-Effective）與演算法魔改</a:t>
            </a:r>
            <a:r>
              <a:rPr lang="zh-TW" altLang="zh-TW" dirty="0"/>
              <a:t>；</a:t>
            </a:r>
            <a:br>
              <a:rPr lang="en-US" altLang="zh-TW" dirty="0"/>
            </a:br>
            <a:r>
              <a:rPr lang="zh-TW" altLang="zh-TW" dirty="0"/>
              <a:t>Meta Llama 則追求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標準化、極致的架構穩定性（Scalability）與對開源生態的絕對相容</a:t>
            </a:r>
            <a:r>
              <a:rPr lang="zh-TW" altLang="zh-TW" dirty="0"/>
              <a:t>。</a:t>
            </a:r>
            <a:br>
              <a:rPr lang="en-US" altLang="zh-TW" dirty="0"/>
            </a:br>
            <a:br>
              <a:rPr lang="en-US" altLang="zh-TW" dirty="0"/>
            </a:br>
            <a:r>
              <a:rPr lang="en-US" altLang="zh-TW" dirty="0"/>
              <a:t>AWS Trainium </a:t>
            </a:r>
            <a:r>
              <a:rPr lang="zh-TW" altLang="en-US" dirty="0"/>
              <a:t>與 </a:t>
            </a:r>
            <a:r>
              <a:rPr lang="en-US" altLang="zh-TW" dirty="0"/>
              <a:t>AWS Graviton </a:t>
            </a:r>
            <a:r>
              <a:rPr lang="zh-TW" altLang="en-US" dirty="0"/>
              <a:t>是亞馬遜自研晶片體系中的兩大核心。</a:t>
            </a:r>
            <a:endParaRPr lang="en-US" altLang="zh-TW" dirty="0"/>
          </a:p>
          <a:p>
            <a:r>
              <a:rPr lang="en-US" altLang="zh-TW" dirty="0"/>
              <a:t>Graviton </a:t>
            </a:r>
            <a:r>
              <a:rPr lang="zh-TW" altLang="en-US" dirty="0"/>
              <a:t>是通用型 </a:t>
            </a:r>
            <a:r>
              <a:rPr lang="en-US" altLang="zh-TW" dirty="0"/>
              <a:t>CPU,</a:t>
            </a:r>
            <a:r>
              <a:rPr lang="zh-TW" altLang="en-US" dirty="0"/>
              <a:t> 負責處理日常雲端運算與後台任務；</a:t>
            </a:r>
            <a:endParaRPr lang="en-US" altLang="zh-TW" dirty="0"/>
          </a:p>
          <a:p>
            <a:r>
              <a:rPr lang="en-US" altLang="zh-TW" dirty="0"/>
              <a:t>Trainium </a:t>
            </a:r>
            <a:r>
              <a:rPr lang="zh-TW" altLang="en-US" dirty="0"/>
              <a:t>是專門的 </a:t>
            </a:r>
            <a:r>
              <a:rPr lang="en-US" altLang="zh-TW" dirty="0"/>
              <a:t>AI </a:t>
            </a:r>
            <a:r>
              <a:rPr lang="zh-TW" altLang="en-US" dirty="0"/>
              <a:t>加速晶片</a:t>
            </a:r>
            <a:r>
              <a:rPr lang="en-US" altLang="zh-TW" dirty="0"/>
              <a:t>, </a:t>
            </a:r>
            <a:r>
              <a:rPr lang="zh-TW" altLang="en-US" dirty="0"/>
              <a:t>專為大型 </a:t>
            </a:r>
            <a:r>
              <a:rPr lang="en-US" altLang="zh-TW" dirty="0"/>
              <a:t>AI </a:t>
            </a:r>
            <a:r>
              <a:rPr lang="zh-TW" altLang="en-US" dirty="0"/>
              <a:t>模型的訓練與密集運算而生。</a:t>
            </a:r>
          </a:p>
          <a:p>
            <a:endParaRPr lang="en-US" altLang="zh-TW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3513366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dirty="0"/>
              <a:t>以下為你將所有與 AI Agent 相關的專有名詞，由原本的表格形式全部改為</a:t>
            </a:r>
            <a:r>
              <a:rPr lang="zh-TW" altLang="zh-TW" b="1" dirty="0"/>
              <a:t>純文字列表</a:t>
            </a:r>
            <a:r>
              <a:rPr lang="zh-TW" altLang="zh-TW" dirty="0"/>
              <a:t>呈現。</a:t>
            </a:r>
          </a:p>
          <a:p>
            <a:r>
              <a:rPr lang="zh-TW" altLang="zh-TW" dirty="0"/>
              <a:t>每個項目均嚴格包含：</a:t>
            </a:r>
            <a:r>
              <a:rPr lang="zh-TW" altLang="zh-TW" b="1" dirty="0"/>
              <a:t>縮寫 / 名詞、英文全稱、繁體中文、中文說明</a:t>
            </a:r>
            <a:r>
              <a:rPr lang="zh-TW" altLang="zh-TW" dirty="0"/>
              <a:t>，並透過區塊與粗體維持極佳的 scannability（可讀性），方便你直接複製使用。</a:t>
            </a:r>
          </a:p>
          <a:p>
            <a:r>
              <a:rPr lang="zh-TW" altLang="zh-TW" b="1" dirty="0"/>
              <a:t>一、 核心架構與模型層 (Core Architecture &amp; Models)</a:t>
            </a:r>
          </a:p>
          <a:p>
            <a:r>
              <a:rPr lang="zh-TW" altLang="zh-TW" b="1" dirty="0"/>
              <a:t>Agent</a:t>
            </a:r>
            <a:r>
              <a:rPr lang="zh-TW" altLang="zh-TW" dirty="0"/>
              <a:t> (AI Agent / Autonomous Agent) —— 人工智慧代理 / 自主代理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具備感知、思考、自主規劃並能調用工具操作現實的 AI 實體。</a:t>
            </a:r>
          </a:p>
          <a:p>
            <a:r>
              <a:rPr lang="zh-TW" altLang="zh-TW" b="1" dirty="0"/>
              <a:t>LLM</a:t>
            </a:r>
            <a:r>
              <a:rPr lang="zh-TW" altLang="zh-TW" dirty="0"/>
              <a:t> (Large Language Model) —— 大型語言模型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的核心大腦，負責語言理解、常識推理與決策。</a:t>
            </a:r>
          </a:p>
          <a:p>
            <a:r>
              <a:rPr lang="zh-TW" altLang="zh-TW" b="1" dirty="0"/>
              <a:t>VLM / MLLM</a:t>
            </a:r>
            <a:r>
              <a:rPr lang="zh-TW" altLang="zh-TW" dirty="0"/>
              <a:t> (Vision-Language Model / Multi-modal LLM) —— 視覺語言模型 / 多模態大模型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賦予 Agent 眼睛（看懂螢幕截圖、網頁 UI 或真實世界影像）的大腦。</a:t>
            </a:r>
          </a:p>
          <a:p>
            <a:r>
              <a:rPr lang="zh-TW" altLang="zh-TW" b="1" dirty="0"/>
              <a:t>SLM</a:t>
            </a:r>
            <a:r>
              <a:rPr lang="zh-TW" altLang="zh-TW" dirty="0"/>
              <a:t> (Small Language Model) —— 小型語言模型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輕量化模型，常用於端點設備（Edge）或專職執行單一工具的邊緣 Agent。</a:t>
            </a:r>
          </a:p>
          <a:p>
            <a:r>
              <a:rPr lang="zh-TW" altLang="zh-TW" b="1" dirty="0"/>
              <a:t>HITL</a:t>
            </a:r>
            <a:r>
              <a:rPr lang="zh-TW" altLang="zh-TW" dirty="0"/>
              <a:t> (Human-in-the-Loop) —— 人類在環 / 人機協同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在 Agent 循環中加入人工作為審查、確認或中斷的防禦機制。</a:t>
            </a:r>
          </a:p>
          <a:p>
            <a:r>
              <a:rPr lang="zh-TW" altLang="zh-TW" b="1" dirty="0"/>
              <a:t>Embodied AI</a:t>
            </a:r>
            <a:r>
              <a:rPr lang="zh-TW" altLang="zh-TW" dirty="0"/>
              <a:t> (Embodied Artificial Intelligence) —— 具身智能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將 Agent 大腦注入到物理實體（如機器人、無人機）中，使其具備操作物理世界的能力。</a:t>
            </a:r>
          </a:p>
          <a:p>
            <a:r>
              <a:rPr lang="zh-TW" altLang="zh-TW" b="1" dirty="0"/>
              <a:t>Substrate</a:t>
            </a:r>
            <a:r>
              <a:rPr lang="zh-TW" altLang="zh-TW" dirty="0"/>
              <a:t> (Substrate) —— 底層載體 / 介質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指 AI 運行的環境基礎（如「碳基」代表人類肉身、「矽基」代表數位電腦晶片）。</a:t>
            </a:r>
          </a:p>
          <a:p>
            <a:r>
              <a:rPr lang="zh-TW" altLang="zh-TW" b="1" dirty="0"/>
              <a:t>二、 自主規劃與推理框架 (Planning &amp; Reasoning)</a:t>
            </a:r>
          </a:p>
          <a:p>
            <a:r>
              <a:rPr lang="zh-TW" altLang="zh-TW" b="1" dirty="0"/>
              <a:t>ReAct</a:t>
            </a:r>
            <a:r>
              <a:rPr lang="zh-TW" altLang="zh-TW" dirty="0"/>
              <a:t> (Reasoning and Acting) —— 推理與行動框架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最經典的底層邏輯——交替進行「思考（Thought）」➔「行動（Action）」➔「觀察反饋（Observation）」。</a:t>
            </a:r>
          </a:p>
          <a:p>
            <a:r>
              <a:rPr lang="zh-TW" altLang="zh-TW" b="1" dirty="0"/>
              <a:t>CoT</a:t>
            </a:r>
            <a:r>
              <a:rPr lang="zh-TW" altLang="zh-TW" dirty="0"/>
              <a:t> (Chain of Thought) —— 思維鏈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引導大腦將複雜問題拆解，一步步寫出推理過程（"Let's think step by step"）。</a:t>
            </a:r>
          </a:p>
          <a:p>
            <a:r>
              <a:rPr lang="zh-TW" altLang="zh-TW" b="1" dirty="0"/>
              <a:t>ToT</a:t>
            </a:r>
            <a:r>
              <a:rPr lang="zh-TW" altLang="zh-TW" dirty="0"/>
              <a:t> (Tree of Thoughts) —— 思維樹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大腦在規劃時探索多條可能的決策路徑，並具備回溯（Backtracking）與評估能力。</a:t>
            </a:r>
          </a:p>
          <a:p>
            <a:r>
              <a:rPr lang="zh-TW" altLang="zh-TW" b="1" dirty="0"/>
              <a:t>GoT</a:t>
            </a:r>
            <a:r>
              <a:rPr lang="zh-TW" altLang="zh-TW" dirty="0"/>
              <a:t> (Graph of Thoughts) —— 思維圖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允許不同的思維網絡互相交織、結合或分岔，模擬人類大腦更複雜的非線性思考。</a:t>
            </a:r>
          </a:p>
          <a:p>
            <a:r>
              <a:rPr lang="zh-TW" altLang="zh-TW" b="1" dirty="0"/>
              <a:t>Reflexion</a:t>
            </a:r>
            <a:r>
              <a:rPr lang="zh-TW" altLang="zh-TW" dirty="0"/>
              <a:t> (Reflexion Framework) —— 自我反思架構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執行失敗時，透過評估模塊自我批判（Self-Criticism），將失敗轉化為記憶以修正下一次的規劃。</a:t>
            </a:r>
          </a:p>
          <a:p>
            <a:r>
              <a:rPr lang="zh-TW" altLang="zh-TW" b="1" dirty="0"/>
              <a:t>Task Decomposition</a:t>
            </a:r>
            <a:r>
              <a:rPr lang="zh-TW" altLang="zh-TW" dirty="0"/>
              <a:t> (Task Decomposition) —— 任務拆解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大腦將一個宏大的終極目標（Goal），細分為多個可執行的子任務（Sub-tasks）。</a:t>
            </a:r>
          </a:p>
          <a:p>
            <a:r>
              <a:rPr lang="zh-TW" altLang="zh-TW" b="1" dirty="0"/>
              <a:t>Plan-and-Solve</a:t>
            </a:r>
            <a:r>
              <a:rPr lang="zh-TW" altLang="zh-TW" dirty="0"/>
              <a:t> (Plan-and-Solve Prompting) —— 計畫與解決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先宏觀制定完整計畫，再依序執行，用以減少 CoT 過程中因走一步算一步而產生的計算偏差。</a:t>
            </a:r>
          </a:p>
          <a:p>
            <a:r>
              <a:rPr lang="zh-TW" altLang="zh-TW" b="1" dirty="0"/>
              <a:t>三、 記憶與脈絡工程 (Memory &amp; Context)</a:t>
            </a:r>
          </a:p>
          <a:p>
            <a:r>
              <a:rPr lang="zh-TW" altLang="zh-TW" b="1" dirty="0"/>
              <a:t>RAG</a:t>
            </a:r>
            <a:r>
              <a:rPr lang="zh-TW" altLang="zh-TW" dirty="0"/>
              <a:t> (Retrieval-Augmented Generation) —— 檢索增強生成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從外部知識庫動態撈取資料注入 Context，解決幻覺與長時記憶不足的問題。</a:t>
            </a:r>
          </a:p>
          <a:p>
            <a:r>
              <a:rPr lang="zh-TW" altLang="zh-TW" b="1" dirty="0"/>
              <a:t>Vector DB</a:t>
            </a:r>
            <a:r>
              <a:rPr lang="zh-TW" altLang="zh-TW" dirty="0"/>
              <a:t> (Vector Database) —— 向量資料庫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將文字轉為高維度向量，用於 Agent 的長期記憶（Long-term Memory）檢索。</a:t>
            </a:r>
          </a:p>
          <a:p>
            <a:r>
              <a:rPr lang="zh-TW" altLang="zh-TW" b="1" dirty="0"/>
              <a:t>Embedding</a:t>
            </a:r>
            <a:r>
              <a:rPr lang="zh-TW" altLang="zh-TW" dirty="0"/>
              <a:t> (Semantic Embedding) —— 語意嵌入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將文字、圖片轉化為數學向量的技術，是 Agent 進行「相似度查找」的底層基礎。</a:t>
            </a:r>
          </a:p>
          <a:p>
            <a:r>
              <a:rPr lang="zh-TW" altLang="zh-TW" b="1" dirty="0"/>
              <a:t>Short-term Memory</a:t>
            </a:r>
            <a:r>
              <a:rPr lang="zh-TW" altLang="zh-TW" dirty="0"/>
              <a:t> (Short-term Memory) —— 短期記憶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當前會話（Session）的對話歷史與中途狀態，隨著 Context 視窗滿載會被丟棄。</a:t>
            </a:r>
          </a:p>
          <a:p>
            <a:r>
              <a:rPr lang="zh-TW" altLang="zh-TW" b="1" dirty="0"/>
              <a:t>Long-term Memory</a:t>
            </a:r>
            <a:r>
              <a:rPr lang="zh-TW" altLang="zh-TW" dirty="0"/>
              <a:t> (Long-term Memory) —— 長期記憶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跨越不同對話、長久保存的用戶偏好、公司規章與過去的成功 SOP。</a:t>
            </a:r>
          </a:p>
          <a:p>
            <a:r>
              <a:rPr lang="zh-TW" altLang="zh-TW" b="1" dirty="0"/>
              <a:t>Context Window</a:t>
            </a:r>
            <a:r>
              <a:rPr lang="zh-TW" altLang="zh-TW" dirty="0"/>
              <a:t> (Context Window) —— 上下文視窗 / 脈絡空間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模型單次運算能讀取的最大 Token 限制（大腦的 RAM 限制）。</a:t>
            </a:r>
          </a:p>
          <a:p>
            <a:r>
              <a:rPr lang="zh-TW" altLang="zh-TW" b="1" dirty="0"/>
              <a:t>Prompt Caching</a:t>
            </a:r>
            <a:r>
              <a:rPr lang="zh-TW" altLang="zh-TW" dirty="0"/>
              <a:t> (Prompt Caching) —— 提示詞快取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將重複的系統提示或長期記憶鎖在伺服器記憶體中，降低 Agent 頻繁刷新的費用與延遲。</a:t>
            </a:r>
          </a:p>
          <a:p>
            <a:r>
              <a:rPr lang="zh-TW" altLang="zh-TW" b="1" dirty="0"/>
              <a:t>Lost in the Middle</a:t>
            </a:r>
            <a:r>
              <a:rPr lang="zh-TW" altLang="zh-TW" dirty="0"/>
              <a:t> (Lost in the Middle Effect) —— 迷失在中央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長文本模型的通病——AI 容易注意到開頭和結尾，卻忽略埋在 Context 正中間的記憶資訊。</a:t>
            </a:r>
          </a:p>
          <a:p>
            <a:r>
              <a:rPr lang="zh-TW" altLang="zh-TW" b="1" dirty="0"/>
              <a:t>四、 工具呼叫與環境執行 (Tools &amp; Action)</a:t>
            </a:r>
          </a:p>
          <a:p>
            <a:r>
              <a:rPr lang="zh-TW" altLang="zh-TW" b="1" dirty="0"/>
              <a:t>Function Calling</a:t>
            </a:r>
            <a:r>
              <a:rPr lang="zh-TW" altLang="zh-TW" dirty="0"/>
              <a:t> (Function Calling / Tool Calling) —— 函數呼叫 / 工具調用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模型識別意圖後，不輸出聊天文字，而是輸出標準結構化 JSON 參數的能力。</a:t>
            </a:r>
          </a:p>
          <a:p>
            <a:r>
              <a:rPr lang="zh-TW" altLang="zh-TW" b="1" dirty="0"/>
              <a:t>MCP</a:t>
            </a:r>
            <a:r>
              <a:rPr lang="zh-TW" altLang="zh-TW" dirty="0"/>
              <a:t> (Model Context Protocol) —— 模型上下文協議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Anthropic 倡導的開源標準，充當 AI 的統一 USB 接口，無縫連接各種資料與工具。</a:t>
            </a:r>
          </a:p>
          <a:p>
            <a:r>
              <a:rPr lang="zh-TW" altLang="zh-TW" b="1" dirty="0"/>
              <a:t>REPL</a:t>
            </a:r>
            <a:r>
              <a:rPr lang="zh-TW" altLang="zh-TW" dirty="0"/>
              <a:t> (Read-Eval-Print Loop) —— 互動式程式碼解譯器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自我撰寫 Python/JS 代碼後，直接在系統中執行、看結果並 debug 的工具。</a:t>
            </a:r>
          </a:p>
          <a:p>
            <a:r>
              <a:rPr lang="zh-TW" altLang="zh-TW" b="1" dirty="0"/>
              <a:t>Sandbox</a:t>
            </a:r>
            <a:r>
              <a:rPr lang="zh-TW" altLang="zh-TW" dirty="0"/>
              <a:t> (Secure Sandbox) —— 安全沙盒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與核心系統物理隔離的虛擬環境（如 E2B），防止 Agent 執行的程式碼帶有病毒或寫入敏感檔案。</a:t>
            </a:r>
          </a:p>
          <a:p>
            <a:r>
              <a:rPr lang="zh-TW" altLang="zh-TW" b="1" dirty="0"/>
              <a:t>RPA</a:t>
            </a:r>
            <a:r>
              <a:rPr lang="zh-TW" altLang="zh-TW" dirty="0"/>
              <a:t> (Robotic Process Automation) —— 機器人流程自動化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傳統寫死路徑的自動化腳本，現常作為 Agent 操作網頁、滑鼠與鍵盤的「手腳」。</a:t>
            </a:r>
          </a:p>
          <a:p>
            <a:r>
              <a:rPr lang="zh-TW" altLang="zh-TW" b="1" dirty="0"/>
              <a:t>BaaS</a:t>
            </a:r>
            <a:r>
              <a:rPr lang="zh-TW" altLang="zh-TW" dirty="0"/>
              <a:t> (Browser as a Service) —— 瀏覽器即服務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雲端群控的無頭瀏覽器技術（如 Browserbase），提供 Agent 防封鎖、過驗證碼的上網環境。</a:t>
            </a:r>
          </a:p>
          <a:p>
            <a:r>
              <a:rPr lang="zh-TW" altLang="zh-TW" b="1" dirty="0"/>
              <a:t>Grounding</a:t>
            </a:r>
            <a:r>
              <a:rPr lang="zh-TW" altLang="zh-TW" dirty="0"/>
              <a:t> (UI Grounding / Semantic Grounding) —— 介面定位 / 語意落地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多模態 Agent 將大腦理解的按鈕（如「購物車」），精確對齊到網頁上真實座標（X, Y）的技術。</a:t>
            </a:r>
          </a:p>
          <a:p>
            <a:r>
              <a:rPr lang="zh-TW" altLang="zh-TW" b="1" dirty="0"/>
              <a:t>Computer Use</a:t>
            </a:r>
            <a:r>
              <a:rPr lang="zh-TW" altLang="zh-TW" dirty="0"/>
              <a:t> (Computer Use API) —— 電腦操作 API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AI 直接看著作業系統的截圖，主動移動滑鼠、點擊與輸入，像真人一樣操作整台電腦。</a:t>
            </a:r>
          </a:p>
          <a:p>
            <a:r>
              <a:rPr lang="zh-TW" altLang="zh-TW" b="1" dirty="0"/>
              <a:t>五、 多代理協同與生態層 (Multi-Agent &amp; Ecosystem)</a:t>
            </a:r>
          </a:p>
          <a:p>
            <a:r>
              <a:rPr lang="zh-TW" altLang="zh-TW" b="1" dirty="0"/>
              <a:t>MAS</a:t>
            </a:r>
            <a:r>
              <a:rPr lang="zh-TW" altLang="zh-TW" dirty="0"/>
              <a:t> (Multi-Agent System) —— 多代理人系統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由多個專職、不同分工的 Agent（如：經理、工程師、測試員）共同協同完成複雜任務的系統。</a:t>
            </a:r>
          </a:p>
          <a:p>
            <a:r>
              <a:rPr lang="zh-TW" altLang="zh-TW" b="1" dirty="0"/>
              <a:t>Orchestrator</a:t>
            </a:r>
            <a:r>
              <a:rPr lang="zh-TW" altLang="zh-TW" dirty="0"/>
              <a:t> (Orchestrator Pattern) —— 編排器模式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由一個核心的主 Agent 負責統籌、分派任務給多個底層的子 Agent（Workers）。</a:t>
            </a:r>
          </a:p>
          <a:p>
            <a:r>
              <a:rPr lang="zh-TW" altLang="zh-TW" b="1" dirty="0"/>
              <a:t>Choreography</a:t>
            </a:r>
            <a:r>
              <a:rPr lang="zh-TW" altLang="zh-TW" dirty="0"/>
              <a:t> (Choreography Pattern) —— 編排舞蹈模式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之間沒有絕對的主導者，而是各自遵循 SOP 協議，自發性地互相傳遞接棒工作。</a:t>
            </a:r>
          </a:p>
          <a:p>
            <a:r>
              <a:rPr lang="zh-TW" altLang="zh-TW" b="1" dirty="0"/>
              <a:t>Router</a:t>
            </a:r>
            <a:r>
              <a:rPr lang="zh-TW" altLang="zh-TW" dirty="0"/>
              <a:t> (Agentic Router) —— 智慧型路由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大腦根據用戶的輸入輸入，自動將任務導向最適合處理該問題的專用 Agent 或工具。</a:t>
            </a:r>
          </a:p>
          <a:p>
            <a:r>
              <a:rPr lang="zh-TW" altLang="zh-TW" b="1" dirty="0"/>
              <a:t>SOP</a:t>
            </a:r>
            <a:r>
              <a:rPr lang="zh-TW" altLang="zh-TW" dirty="0"/>
              <a:t> (Standard Operating Procedure) —— 標準作業程序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寫在 Agent 框架中、硬性限制 Agents 之間溝通與執行順序的商務邏輯規則。</a:t>
            </a:r>
          </a:p>
          <a:p>
            <a:r>
              <a:rPr lang="zh-TW" altLang="zh-TW" b="1" dirty="0"/>
              <a:t>Swarm</a:t>
            </a:r>
            <a:r>
              <a:rPr lang="zh-TW" altLang="zh-TW" dirty="0"/>
              <a:t> (Swarm Intelligence) —— 群體智能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大量微型、輕量化的 Agent 透過簡單的群體溝通協議，集體湧現出解決龐大問題的能力。</a:t>
            </a:r>
          </a:p>
          <a:p>
            <a:r>
              <a:rPr lang="zh-TW" altLang="zh-TW" b="1" dirty="0"/>
              <a:t>六、 資安、評估與對齊層 (Safety, Evaluation &amp; Alignment)</a:t>
            </a:r>
          </a:p>
          <a:p>
            <a:r>
              <a:rPr lang="zh-TW" altLang="zh-TW" b="1" dirty="0"/>
              <a:t>Guardrails</a:t>
            </a:r>
            <a:r>
              <a:rPr lang="zh-TW" altLang="zh-TW" dirty="0"/>
              <a:t> (LLM Guardrails) —— 護欄機制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在 Agent 的輸入端與輸出端架設的安全過濾網（如 Llama Guard），硬性攔截不合規言論。</a:t>
            </a:r>
          </a:p>
          <a:p>
            <a:r>
              <a:rPr lang="zh-TW" altLang="zh-TW" b="1" dirty="0"/>
              <a:t>Prompt Injection</a:t>
            </a:r>
            <a:r>
              <a:rPr lang="zh-TW" altLang="zh-TW" dirty="0"/>
              <a:t> (Prompt Injection Attack) —— 提示詞注入攻擊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黑客透過惡意文字欺騙 Agent 大腦，使其忽視原本的 System Prompt 規範，進而執行越權操作。</a:t>
            </a:r>
          </a:p>
          <a:p>
            <a:r>
              <a:rPr lang="zh-TW" altLang="zh-TW" b="1" dirty="0"/>
              <a:t>Jailbreaking</a:t>
            </a:r>
            <a:r>
              <a:rPr lang="zh-TW" altLang="zh-TW" dirty="0"/>
              <a:t> (Jailbreaking) —— 越獄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利用特定話術或繞過技巧，解開模型原本內建的安全道德限制，使其產出有害或不合規的內容。</a:t>
            </a:r>
          </a:p>
          <a:p>
            <a:r>
              <a:rPr lang="zh-TW" altLang="zh-TW" b="1" dirty="0"/>
              <a:t>Alignment</a:t>
            </a:r>
            <a:r>
              <a:rPr lang="zh-TW" altLang="zh-TW" dirty="0"/>
              <a:t> (AI Alignment) —— 人工智慧對齊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確保 Agent 的價值觀、決策意圖、行為結果，完全符合人類的利益、道德與安全規範。</a:t>
            </a:r>
          </a:p>
          <a:p>
            <a:r>
              <a:rPr lang="zh-TW" altLang="zh-TW" b="1" dirty="0"/>
              <a:t>Alignment Tax</a:t>
            </a:r>
            <a:r>
              <a:rPr lang="zh-TW" altLang="zh-TW" dirty="0"/>
              <a:t> (Alignment Tax) —— 對齊稅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為了讓 AI 更安全、更聽話而進行的安全對齊微調，往往會導致模型失去部分原始推理能力或創造力的代價。</a:t>
            </a:r>
          </a:p>
          <a:p>
            <a:r>
              <a:rPr lang="zh-TW" altLang="zh-TW" b="1" dirty="0"/>
              <a:t>SWE-bench</a:t>
            </a:r>
            <a:r>
              <a:rPr lang="zh-TW" altLang="zh-TW" dirty="0"/>
              <a:t> (Software Engineering Benchmark) —— 軟體工程基準測試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目前業界評估「代碼研發 Agent（如 Devin）」自主解決真實 GitHub Issue 能力的權威標準。</a:t>
            </a:r>
          </a:p>
          <a:p>
            <a:r>
              <a:rPr lang="zh-TW" altLang="zh-TW" b="1" dirty="0"/>
              <a:t>GAIA</a:t>
            </a:r>
            <a:r>
              <a:rPr lang="zh-TW" altLang="zh-TW" dirty="0"/>
              <a:t> (General AI Assistants Benchmark) —— 通用 AI 助手基準測試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用來評估 Agent 在面對需要跨工具、多模態、長程規劃等複雜現實任務時的綜合得分。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AE597D-D1E7-4522-AA27-1BB111861251}" type="slidenum">
              <a:rPr lang="zh-TW" altLang="en-US" smtClean="0"/>
              <a:t>18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1587392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分詞器組件（</a:t>
            </a:r>
            <a:r>
              <a:rPr lang="en-US" altLang="zh-TW" dirty="0"/>
              <a:t>Tokenizer Files</a:t>
            </a:r>
            <a:r>
              <a:rPr lang="zh-TW" altLang="en-US" dirty="0"/>
              <a:t>）：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tokenizer_config.json</a:t>
            </a:r>
            <a:r>
              <a:rPr lang="zh-TW" altLang="en-US" dirty="0"/>
              <a:t>：記錄分詞器的控制面板參數與 </a:t>
            </a:r>
            <a:r>
              <a:rPr lang="en-US" altLang="zh-TW" dirty="0"/>
              <a:t>Jinja </a:t>
            </a:r>
            <a:r>
              <a:rPr lang="zh-TW" altLang="en-US" dirty="0"/>
              <a:t>對話模板，用來決定文字如何套用原廠角色格式。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vocab.json</a:t>
            </a:r>
            <a:r>
              <a:rPr lang="zh-TW" altLang="en-US" dirty="0"/>
              <a:t>：字詞與數位識別代號（</a:t>
            </a:r>
            <a:r>
              <a:rPr lang="en-US" altLang="zh-TW" dirty="0"/>
              <a:t>ID</a:t>
            </a:r>
            <a:r>
              <a:rPr lang="zh-TW" altLang="en-US" dirty="0"/>
              <a:t>）的對照字典，負責將切碎的字母字串翻譯成模型認得的密碼。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merges.txt</a:t>
            </a:r>
            <a:r>
              <a:rPr lang="zh-TW" altLang="en-US" dirty="0"/>
              <a:t>：記錄 </a:t>
            </a:r>
            <a:r>
              <a:rPr lang="en-US" altLang="zh-TW" dirty="0"/>
              <a:t>BPE </a:t>
            </a:r>
            <a:r>
              <a:rPr lang="zh-TW" altLang="en-US" dirty="0"/>
              <a:t>演算法的字詞合併規則表，引導分詞器如何有邏輯地將基礎字元組合成高階詞彙。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tokenizer.json</a:t>
            </a:r>
            <a:r>
              <a:rPr lang="zh-TW" altLang="en-US" dirty="0"/>
              <a:t>：現代內建 </a:t>
            </a:r>
            <a:r>
              <a:rPr lang="en-US" altLang="zh-TW" dirty="0"/>
              <a:t>Rust </a:t>
            </a:r>
            <a:r>
              <a:rPr lang="zh-TW" altLang="en-US" dirty="0"/>
              <a:t>高速核心的完全體分詞本體，將上述所有分詞與合併規則打包以達成高效編碼。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 special_tokens_map.json</a:t>
            </a:r>
            <a:r>
              <a:rPr lang="zh-TW" altLang="en-US" dirty="0"/>
              <a:t>：特殊符號對照表，用來定義與強制規範哪些數位代號代表文章開頭、結束或填補空白。</a:t>
            </a:r>
            <a:endParaRPr lang="en-US" altLang="zh-TW" dirty="0"/>
          </a:p>
          <a:p>
            <a:r>
              <a:rPr lang="zh-TW" altLang="en-US" dirty="0"/>
              <a:t>模型大腦組件（</a:t>
            </a:r>
            <a:r>
              <a:rPr lang="en-US" altLang="zh-TW" dirty="0"/>
              <a:t>Model Files</a:t>
            </a:r>
            <a:r>
              <a:rPr lang="zh-TW" altLang="en-US" dirty="0"/>
              <a:t>）：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 config.json</a:t>
            </a:r>
            <a:r>
              <a:rPr lang="zh-TW" altLang="en-US" dirty="0"/>
              <a:t>：大模型的神經網路結構藍圖，用來指引系統記憶體在開機時精準搭建出大腦的幾何骨架。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 model.safetensors</a:t>
            </a:r>
            <a:r>
              <a:rPr lang="zh-TW" altLang="en-US" dirty="0"/>
              <a:t>：大模型的實體大腦數字權重矩陣，負責在微調時被寫入與修改，永久保存所有的私有知識記憶。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 generation_config.json</a:t>
            </a:r>
            <a:r>
              <a:rPr lang="zh-TW" altLang="en-US" dirty="0"/>
              <a:t>：文本生成控制台，用來決定模型在正式上線聊天接龍時的預設隨機度與說話語氣。</a:t>
            </a:r>
            <a:endParaRPr lang="en-US" altLang="zh-TW" dirty="0"/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AE597D-D1E7-4522-AA27-1BB111861251}" type="slidenum">
              <a:rPr lang="zh-TW" altLang="en-US" smtClean="0"/>
              <a:t>19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510694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987095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25E997-4179-402B-B045-C290473E86F3}" type="datetimeFigureOut">
              <a:rPr lang="zh-TW" altLang="en-US" smtClean="0"/>
              <a:t>2026/7/27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04A4CC-0142-4D0E-B207-47A74A717BF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662284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732101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EEB8F32-D6CA-1096-5F7F-634DD38312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4FB77DC-1F1A-EDE3-202F-AD35BA1113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ABBAA7D4-40C2-30FA-EF1C-009BF09784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D5AE9D-E316-4C75-862D-9EBD6D1B334B}" type="datetimeFigureOut">
              <a:rPr lang="zh-TW" altLang="en-US" smtClean="0"/>
              <a:t>2026/7/27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C79E40CA-DAB8-F94E-65BD-7E947BD076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CE982315-D0D5-22A2-3A7C-183FFB19C7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C4967A-F914-4D6D-AEDD-D79048CFF0C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642697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頁尾版面配置區 4">
            <a:extLst>
              <a:ext uri="{FF2B5EF4-FFF2-40B4-BE49-F238E27FC236}">
                <a16:creationId xmlns:a16="http://schemas.microsoft.com/office/drawing/2014/main" id="{F852660B-5776-4457-897C-22F48580809B}"/>
              </a:ext>
            </a:extLst>
          </p:cNvPr>
          <p:cNvSpPr txBox="1">
            <a:spLocks/>
          </p:cNvSpPr>
          <p:nvPr userDrawn="1"/>
        </p:nvSpPr>
        <p:spPr>
          <a:xfrm>
            <a:off x="0" y="6628025"/>
            <a:ext cx="9144000" cy="23521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vert="horz" lIns="91440" tIns="45720" rIns="91440" bIns="45720" rtlCol="0" anchor="ctr"/>
          <a:lstStyle>
            <a:defPPr>
              <a:defRPr lang="zh-TW"/>
            </a:defPPr>
            <a:lvl1pPr marL="0" algn="ctr" defTabSz="914400" rtl="0" eaLnBrk="1" latinLnBrk="0" hangingPunct="1">
              <a:defRPr sz="1200" b="1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zh-TW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9" r:id="rId1"/>
    <p:sldLayoutId id="2147483661" r:id="rId2"/>
    <p:sldLayoutId id="2147483662" r:id="rId3"/>
    <p:sldLayoutId id="2147483663" r:id="rId4"/>
  </p:sldLayoutIdLst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  <p:hf hdr="0"/>
  <p:txStyles>
    <p:titleStyle>
      <a:lvl1pPr algn="l" defTabSz="914400" rtl="0" eaLnBrk="1" latinLnBrk="0" hangingPunct="1">
        <a:spcBef>
          <a:spcPct val="0"/>
        </a:spcBef>
        <a:buNone/>
        <a:defRPr sz="2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60000" indent="-360000" algn="l" defTabSz="914400" rtl="0" eaLnBrk="1" latinLnBrk="0" hangingPunct="1">
        <a:spcBef>
          <a:spcPct val="20000"/>
        </a:spcBef>
        <a:buClr>
          <a:schemeClr val="tx1"/>
        </a:buClr>
        <a:buFont typeface="Calibri" pitchFamily="34" charset="0"/>
        <a:buChar char="●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720000" indent="-360000" algn="l" defTabSz="914400" rtl="0" eaLnBrk="1" latinLnBrk="0" hangingPunct="1">
        <a:spcBef>
          <a:spcPct val="20000"/>
        </a:spcBef>
        <a:buClr>
          <a:schemeClr val="tx1"/>
        </a:buClr>
        <a:buFont typeface="Calibri" pitchFamily="34" charset="0"/>
        <a:buChar char="○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08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44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‒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80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‒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audio" Target="../media/audio1.wav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3" Type="http://schemas.openxmlformats.org/officeDocument/2006/relationships/image" Target="../media/image1.svg"/><Relationship Id="rId7" Type="http://schemas.openxmlformats.org/officeDocument/2006/relationships/image" Target="../media/image5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.svg"/><Relationship Id="rId5" Type="http://schemas.openxmlformats.org/officeDocument/2006/relationships/image" Target="../media/image3.png"/><Relationship Id="rId10" Type="http://schemas.openxmlformats.org/officeDocument/2006/relationships/image" Target="../media/image8.svg"/><Relationship Id="rId4" Type="http://schemas.openxmlformats.org/officeDocument/2006/relationships/image" Target="../media/image2.svg"/><Relationship Id="rId9" Type="http://schemas.openxmlformats.org/officeDocument/2006/relationships/image" Target="../media/image7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2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0.svg"/><Relationship Id="rId5" Type="http://schemas.openxmlformats.org/officeDocument/2006/relationships/image" Target="../media/image9.svg"/><Relationship Id="rId4" Type="http://schemas.openxmlformats.org/officeDocument/2006/relationships/image" Target="../media/image4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2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4.jpe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jpe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svg"/><Relationship Id="rId5" Type="http://schemas.openxmlformats.org/officeDocument/2006/relationships/image" Target="../media/image22.svg"/><Relationship Id="rId4" Type="http://schemas.openxmlformats.org/officeDocument/2006/relationships/image" Target="../media/image21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svg"/><Relationship Id="rId7" Type="http://schemas.openxmlformats.org/officeDocument/2006/relationships/image" Target="../media/image28.sv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7.svg"/><Relationship Id="rId5" Type="http://schemas.openxmlformats.org/officeDocument/2006/relationships/image" Target="../media/image26.svg"/><Relationship Id="rId4" Type="http://schemas.openxmlformats.org/officeDocument/2006/relationships/image" Target="../media/image25.sv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3.png"/><Relationship Id="rId4" Type="http://schemas.openxmlformats.org/officeDocument/2006/relationships/image" Target="../media/image14.jpe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3" Type="http://schemas.openxmlformats.org/officeDocument/2006/relationships/image" Target="../media/image30.png"/><Relationship Id="rId7" Type="http://schemas.openxmlformats.org/officeDocument/2006/relationships/image" Target="../media/image3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2.png"/><Relationship Id="rId5" Type="http://schemas.openxmlformats.org/officeDocument/2006/relationships/image" Target="../media/image230.png"/><Relationship Id="rId4" Type="http://schemas.openxmlformats.org/officeDocument/2006/relationships/image" Target="../media/image31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.png"/><Relationship Id="rId3" Type="http://schemas.openxmlformats.org/officeDocument/2006/relationships/image" Target="../media/image35.png"/><Relationship Id="rId7" Type="http://schemas.openxmlformats.org/officeDocument/2006/relationships/image" Target="../media/image3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8.png"/><Relationship Id="rId5" Type="http://schemas.openxmlformats.org/officeDocument/2006/relationships/image" Target="../media/image37.png"/><Relationship Id="rId4" Type="http://schemas.openxmlformats.org/officeDocument/2006/relationships/image" Target="../media/image36.png"/><Relationship Id="rId9" Type="http://schemas.openxmlformats.org/officeDocument/2006/relationships/image" Target="../media/image4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41754-1A01-9656-056C-4B624E45A9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方塊 2">
            <a:extLst>
              <a:ext uri="{FF2B5EF4-FFF2-40B4-BE49-F238E27FC236}">
                <a16:creationId xmlns:a16="http://schemas.microsoft.com/office/drawing/2014/main" id="{96A5153E-BD84-CB21-D566-B888A2F168CC}"/>
              </a:ext>
            </a:extLst>
          </p:cNvPr>
          <p:cNvSpPr txBox="1"/>
          <p:nvPr/>
        </p:nvSpPr>
        <p:spPr>
          <a:xfrm>
            <a:off x="3748825" y="5118283"/>
            <a:ext cx="164634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TW" sz="1200" b="1" dirty="0">
                <a:solidFill>
                  <a:schemeClr val="accent1"/>
                </a:solidFill>
              </a:rPr>
              <a:t>Centrillion Technology </a:t>
            </a:r>
          </a:p>
          <a:p>
            <a:pPr algn="ctr"/>
            <a:r>
              <a:rPr lang="en-US" altLang="zh-TW" sz="1200" b="1" dirty="0">
                <a:solidFill>
                  <a:schemeClr val="accent1"/>
                </a:solidFill>
              </a:rPr>
              <a:t>Bioinformation Dept. </a:t>
            </a:r>
          </a:p>
          <a:p>
            <a:pPr algn="ctr"/>
            <a:r>
              <a:rPr lang="en-US" altLang="zh-TW" sz="1400" dirty="0">
                <a:solidFill>
                  <a:schemeClr val="accent1"/>
                </a:solidFill>
              </a:rPr>
              <a:t>Allen &amp; Felix</a:t>
            </a:r>
          </a:p>
          <a:p>
            <a:pPr algn="ctr"/>
            <a:r>
              <a:rPr lang="en-US" altLang="zh-TW" sz="1000" dirty="0">
                <a:solidFill>
                  <a:schemeClr val="accent1"/>
                </a:solidFill>
              </a:rPr>
              <a:t>2026/07/21</a:t>
            </a:r>
            <a:endParaRPr lang="zh-TW" altLang="en-US" sz="1000" dirty="0">
              <a:solidFill>
                <a:schemeClr val="accent1"/>
              </a:solidFill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18C77BE7-A2CA-16B9-32EC-F267B3A21EBE}"/>
              </a:ext>
            </a:extLst>
          </p:cNvPr>
          <p:cNvSpPr txBox="1"/>
          <p:nvPr/>
        </p:nvSpPr>
        <p:spPr>
          <a:xfrm>
            <a:off x="809581" y="1500267"/>
            <a:ext cx="7524837" cy="14670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4000" b="1" dirty="0"/>
              <a:t>Gemma</a:t>
            </a:r>
            <a:r>
              <a:rPr lang="zh-TW" altLang="en-US" sz="4000" b="1" dirty="0"/>
              <a:t> </a:t>
            </a:r>
            <a:r>
              <a:rPr lang="en-US" altLang="zh-TW" sz="4000" b="1" dirty="0"/>
              <a:t>4 Technical Report</a:t>
            </a:r>
          </a:p>
          <a:p>
            <a:pPr defTabSz="4857750">
              <a:lnSpc>
                <a:spcPts val="400"/>
              </a:lnSpc>
            </a:pPr>
            <a:r>
              <a:rPr lang="zh-TW" altLang="en-US" sz="1000" b="1" dirty="0"/>
              <a:t> </a:t>
            </a:r>
            <a:r>
              <a:rPr lang="en-US" altLang="zh-TW" sz="1000" b="1" dirty="0"/>
              <a:t>	2026</a:t>
            </a:r>
          </a:p>
          <a:p>
            <a:pPr defTabSz="6727825">
              <a:tabLst>
                <a:tab pos="2332038" algn="l"/>
              </a:tabLst>
            </a:pPr>
            <a:endParaRPr lang="en-US" altLang="zh-TW" sz="1200" b="1" dirty="0"/>
          </a:p>
          <a:p>
            <a:pPr defTabSz="6727825">
              <a:tabLst>
                <a:tab pos="2332038" algn="l"/>
              </a:tabLst>
            </a:pPr>
            <a:endParaRPr lang="en-US" altLang="zh-TW" sz="1200" b="1" dirty="0">
              <a:solidFill>
                <a:schemeClr val="accent1">
                  <a:lumMod val="75000"/>
                </a:schemeClr>
              </a:solidFill>
            </a:endParaRPr>
          </a:p>
          <a:p>
            <a:pPr indent="541338" defTabSz="7269163">
              <a:tabLst>
                <a:tab pos="2955925" algn="l"/>
                <a:tab pos="5470525" algn="l"/>
              </a:tabLst>
            </a:pPr>
            <a:r>
              <a:rPr lang="en-US" altLang="zh-TW" sz="1200" b="1" dirty="0"/>
              <a:t>	</a:t>
            </a:r>
            <a:r>
              <a:rPr lang="en-US" altLang="zh-TW" sz="1200" b="1" dirty="0">
                <a:sym typeface="Wingdings" panose="05000000000000000000" pitchFamily="2" charset="2"/>
              </a:rPr>
              <a:t>Google DeepMind	</a:t>
            </a:r>
            <a:r>
              <a:rPr lang="en-US" altLang="zh-TW" sz="1000" dirty="0">
                <a:sym typeface="Wingdings" panose="05000000000000000000" pitchFamily="2" charset="2"/>
              </a:rPr>
              <a:t>	Gemma Team</a:t>
            </a:r>
            <a:endParaRPr lang="zh-TW" altLang="en-US" sz="1000" dirty="0">
              <a:solidFill>
                <a:schemeClr val="accent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676095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C20B80-B722-2523-9202-3F21EBB146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字方塊 1">
            <a:extLst>
              <a:ext uri="{FF2B5EF4-FFF2-40B4-BE49-F238E27FC236}">
                <a16:creationId xmlns:a16="http://schemas.microsoft.com/office/drawing/2014/main" id="{5B9CD27E-9C1A-3219-6A05-1CA47876AE20}"/>
              </a:ext>
            </a:extLst>
          </p:cNvPr>
          <p:cNvSpPr txBox="1"/>
          <p:nvPr/>
        </p:nvSpPr>
        <p:spPr>
          <a:xfrm>
            <a:off x="845586" y="1340768"/>
            <a:ext cx="7452828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  <a:defRPr/>
            </a:pPr>
            <a:r>
              <a:rPr lang="en-US" altLang="zh-TW" sz="2400" dirty="0">
                <a:latin typeface="Noto Sans HK" panose="020B0200000000000000" pitchFamily="34" charset="-120"/>
                <a:ea typeface="Noto Sans HK" panose="020B0200000000000000" pitchFamily="34" charset="-120"/>
              </a:rPr>
              <a:t>AI Runtime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(Environment of AI Agent, SLM, LLM, RAG and MCP)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MCP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(Model Context Protocol)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Skill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(Retrieval Augmented Generation Action: Skill )</a:t>
            </a:r>
            <a:r>
              <a:rPr lang="en-US" altLang="zh-TW" sz="1400" dirty="0">
                <a:solidFill>
                  <a:schemeClr val="bg1">
                    <a:lumMod val="50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LLM</a:t>
            </a:r>
            <a:r>
              <a:rPr lang="zh-TW" altLang="en-US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Wiki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(Knowledge base architecture)</a:t>
            </a:r>
            <a:endParaRPr lang="en-US" altLang="zh-TW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SLM Engine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(Small Language Model Engine)</a:t>
            </a:r>
            <a:endParaRPr lang="en-US" altLang="zh-TW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Emerging Trends in AI Systems 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(Edge AI)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TW" sz="2400" dirty="0">
                <a:latin typeface="Noto Sans HK" panose="020B0200000000000000" pitchFamily="34" charset="-120"/>
                <a:ea typeface="Noto Sans HK" panose="020B0200000000000000" pitchFamily="34" charset="-120"/>
              </a:rPr>
              <a:t>Gemma Family</a:t>
            </a:r>
            <a:r>
              <a:rPr kumimoji="0" lang="zh-TW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Cloud: Gemini </a:t>
            </a:r>
            <a:r>
              <a:rPr lang="zh-TW" altLang="zh-TW" sz="1200" dirty="0">
                <a:solidFill>
                  <a:schemeClr val="bg1">
                    <a:lumMod val="75000"/>
                  </a:schemeClr>
                </a:solidFill>
              </a:rPr>
              <a:t>➔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sym typeface="Wingdings" panose="05000000000000000000" pitchFamily="2" charset="2"/>
              </a:rPr>
              <a:t>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Agent: Gemma 4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)</a:t>
            </a:r>
            <a:endParaRPr lang="en-US" altLang="zh-TW" sz="1200" dirty="0">
              <a:solidFill>
                <a:schemeClr val="bg1">
                  <a:lumMod val="75000"/>
                </a:schemeClr>
              </a:solidFill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Supervised Fine-Tuning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(Parameter Efficient Fine-Tuning: PEFT)</a:t>
            </a:r>
            <a:endParaRPr lang="en-US" altLang="zh-TW" dirty="0"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PEFT: QLoRA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(Memory-efficient tuning via 4-bit quantized base models)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PEFT: DoRA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(Decoupled weight learning matching full fine-tuning performance.)</a:t>
            </a:r>
            <a:endParaRPr kumimoji="0" lang="en-US" altLang="zh-TW" sz="12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Gemma 4: PLE</a:t>
            </a:r>
            <a:r>
              <a:rPr lang="en-US" altLang="zh-TW" dirty="0">
                <a:solidFill>
                  <a:prstClr val="white">
                    <a:lumMod val="50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(Per Layer Embedding)</a:t>
            </a:r>
            <a:r>
              <a:rPr lang="en-US" altLang="zh-TW" sz="12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endParaRPr kumimoji="0" lang="en-US" altLang="zh-TW" sz="12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zh-TW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Code Intelligence Benchmarking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(LiveCodeBench)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Conclusion</a:t>
            </a: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(A Holistic Perspective)</a:t>
            </a:r>
          </a:p>
          <a:p>
            <a:pPr marL="742950" lvl="1" indent="-285750">
              <a:buFont typeface="Arial" panose="020B0604020202020204" pitchFamily="34" charset="0"/>
              <a:buChar char="•"/>
              <a:defRPr/>
            </a:pP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Building a Bio-IT AI Agent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(Select model and FT framework)</a:t>
            </a:r>
            <a:endParaRPr lang="en-US" altLang="zh-TW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  <a:defRPr/>
            </a:pPr>
            <a:r>
              <a:rPr lang="en-US" altLang="zh-TW" dirty="0" err="1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Unsloth</a:t>
            </a: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(Fine-Tunning Example)</a:t>
            </a:r>
            <a:endParaRPr kumimoji="0" lang="en-US" altLang="zh-TW" sz="14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</a:endParaRPr>
          </a:p>
        </p:txBody>
      </p:sp>
      <p:sp>
        <p:nvSpPr>
          <p:cNvPr id="64" name="標題 1">
            <a:extLst>
              <a:ext uri="{FF2B5EF4-FFF2-40B4-BE49-F238E27FC236}">
                <a16:creationId xmlns:a16="http://schemas.microsoft.com/office/drawing/2014/main" id="{94909093-0BFB-B658-A42D-64D3192A2420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Agenda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506484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/>
    </mc:Choice>
    <mc:Fallback xmlns="">
      <p:transition advClick="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5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7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8" dur="5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9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0" dur="2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1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2" dur="20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6" dur="5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7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8" dur="5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9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0" dur="5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9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1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2" dur="5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3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4" dur="500" fill="hold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3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5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6" dur="500" fill="hold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7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8" dur="500" fill="hold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9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0" dur="500" fill="hold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9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31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2" dur="500" fill="hold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3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33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4" dur="500" fill="hold"/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33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35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6" dur="500" fill="hold"/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3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37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8" dur="20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9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0" dur="20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1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2" dur="20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3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4" dur="20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5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6" dur="2000" fill="hold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7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8" dur="2000" fill="hold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9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0" dur="2000" fill="hold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51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2" dur="2000" fill="hold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53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4" dur="2000" fill="hold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55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6" dur="2000" fill="hold"/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57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8" dur="2000" fill="hold"/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2" dur="500" fill="hold"/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6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6" dur="500" fill="hold"/>
                                        <p:tgtEl>
                                          <p:spTgt spid="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6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67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8" dur="2000" fill="hold"/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69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70" dur="2000" fill="hold"/>
                                        <p:tgtEl>
                                          <p:spTgt spid="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xit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allAtOnce"/>
      <p:bldP spid="2" grpId="1" uiExpand="1" build="allAtOnce"/>
      <p:bldP spid="2" grpId="2" uiExpand="1" build="allAtOnce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BE851D-74F1-0D10-E4C1-0D67DB2BF5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文字方塊 24">
            <a:extLst>
              <a:ext uri="{FF2B5EF4-FFF2-40B4-BE49-F238E27FC236}">
                <a16:creationId xmlns:a16="http://schemas.microsoft.com/office/drawing/2014/main" id="{10EE06B5-09A0-C6B0-AEC5-E978463FBBC2}"/>
              </a:ext>
            </a:extLst>
          </p:cNvPr>
          <p:cNvSpPr txBox="1"/>
          <p:nvPr/>
        </p:nvSpPr>
        <p:spPr>
          <a:xfrm>
            <a:off x="2843808" y="4813260"/>
            <a:ext cx="3245348" cy="1329514"/>
          </a:xfrm>
          <a:prstGeom prst="rect">
            <a:avLst/>
          </a:prstGeom>
          <a:solidFill>
            <a:schemeClr val="accent3">
              <a:lumMod val="20000"/>
              <a:lumOff val="80000"/>
              <a:alpha val="20000"/>
            </a:schemeClr>
          </a:solidFill>
          <a:ln w="25400">
            <a:solidFill>
              <a:schemeClr val="accent3">
                <a:lumMod val="60000"/>
                <a:lumOff val="40000"/>
              </a:schemeClr>
            </a:solidFill>
            <a:prstDash val="sysDash"/>
          </a:ln>
        </p:spPr>
        <p:txBody>
          <a:bodyPr wrap="none" lIns="0" tIns="91440" rIns="91440" bIns="0" anchor="t" anchorCtr="0">
            <a:noAutofit/>
          </a:bodyPr>
          <a:lstStyle/>
          <a:p>
            <a:pPr algn="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3">
                    <a:lumMod val="50000"/>
                  </a:schemeClr>
                </a:solidFill>
                <a:effectLst/>
              </a:rPr>
              <a:t>RAG</a:t>
            </a:r>
            <a:endParaRPr lang="en-US" altLang="zh-TW" sz="1400" b="1" dirty="0">
              <a:solidFill>
                <a:schemeClr val="accent3">
                  <a:lumMod val="50000"/>
                </a:schemeClr>
              </a:solidFill>
            </a:endParaRPr>
          </a:p>
          <a:p>
            <a:pPr algn="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3">
                    <a:lumMod val="50000"/>
                  </a:schemeClr>
                </a:solidFill>
                <a:effectLst/>
              </a:rPr>
              <a:t>Environment</a:t>
            </a:r>
            <a:endParaRPr lang="en-US" altLang="zh-TW" sz="1400" u="none" strike="noStrike" dirty="0">
              <a:solidFill>
                <a:schemeClr val="accent3">
                  <a:lumMod val="50000"/>
                </a:schemeClr>
              </a:solidFill>
              <a:effectLst/>
            </a:endParaRPr>
          </a:p>
        </p:txBody>
      </p:sp>
      <p:sp>
        <p:nvSpPr>
          <p:cNvPr id="111" name="文字方塊 110">
            <a:extLst>
              <a:ext uri="{FF2B5EF4-FFF2-40B4-BE49-F238E27FC236}">
                <a16:creationId xmlns:a16="http://schemas.microsoft.com/office/drawing/2014/main" id="{51D0CA9D-CF00-4E8A-F3C1-7909D642D02E}"/>
              </a:ext>
            </a:extLst>
          </p:cNvPr>
          <p:cNvSpPr txBox="1"/>
          <p:nvPr/>
        </p:nvSpPr>
        <p:spPr>
          <a:xfrm>
            <a:off x="3208771" y="4493143"/>
            <a:ext cx="1497523" cy="495268"/>
          </a:xfrm>
          <a:prstGeom prst="rect">
            <a:avLst/>
          </a:prstGeom>
          <a:solidFill>
            <a:schemeClr val="accent6">
              <a:lumMod val="20000"/>
              <a:lumOff val="80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200"/>
              </a:lnSpc>
              <a:buNone/>
            </a:pPr>
            <a:r>
              <a:rPr lang="en-US" altLang="zh-TW" sz="1400" b="1" dirty="0">
                <a:solidFill>
                  <a:schemeClr val="accent6">
                    <a:lumMod val="75000"/>
                  </a:schemeClr>
                </a:solidFill>
              </a:rPr>
              <a:t>AI Agent</a:t>
            </a:r>
            <a:endParaRPr lang="en-US" altLang="zh-TW" sz="1400" b="1" u="none" strike="noStrike" dirty="0">
              <a:solidFill>
                <a:schemeClr val="accent6">
                  <a:lumMod val="75000"/>
                </a:schemeClr>
              </a:solidFill>
              <a:effectLst/>
            </a:endParaRPr>
          </a:p>
          <a:p>
            <a:pPr algn="ctr">
              <a:lnSpc>
                <a:spcPts val="1200"/>
              </a:lnSpc>
              <a:buNone/>
            </a:pPr>
            <a:r>
              <a:rPr lang="en-US" altLang="zh-TW" sz="1200" u="none" strike="noStrike" dirty="0">
                <a:effectLst/>
              </a:rPr>
              <a:t>(Router)</a:t>
            </a:r>
          </a:p>
        </p:txBody>
      </p:sp>
      <p:cxnSp>
        <p:nvCxnSpPr>
          <p:cNvPr id="20" name="接點: 肘形 19">
            <a:extLst>
              <a:ext uri="{FF2B5EF4-FFF2-40B4-BE49-F238E27FC236}">
                <a16:creationId xmlns:a16="http://schemas.microsoft.com/office/drawing/2014/main" id="{3A2C6091-BB1A-C34C-2A3F-070C6AE9DAD4}"/>
              </a:ext>
            </a:extLst>
          </p:cNvPr>
          <p:cNvCxnSpPr>
            <a:cxnSpLocks/>
            <a:stCxn id="40" idx="2"/>
            <a:endCxn id="85" idx="2"/>
          </p:cNvCxnSpPr>
          <p:nvPr/>
        </p:nvCxnSpPr>
        <p:spPr>
          <a:xfrm rot="5400000" flipH="1" flipV="1">
            <a:off x="3619752" y="3839980"/>
            <a:ext cx="882008" cy="168240"/>
          </a:xfrm>
          <a:prstGeom prst="bentConnector3">
            <a:avLst>
              <a:gd name="adj1" fmla="val -25918"/>
            </a:avLst>
          </a:prstGeom>
          <a:ln w="15875">
            <a:solidFill>
              <a:schemeClr val="accent4">
                <a:lumMod val="75000"/>
                <a:alpha val="60000"/>
              </a:scheme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標題 1">
            <a:extLst>
              <a:ext uri="{FF2B5EF4-FFF2-40B4-BE49-F238E27FC236}">
                <a16:creationId xmlns:a16="http://schemas.microsoft.com/office/drawing/2014/main" id="{CEF95E4D-4041-AEF8-1FC6-6369323FE9CE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AI Runtime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lvl="0">
              <a:spcBef>
                <a:spcPts val="0"/>
              </a:spcBef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Agents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use</a:t>
            </a: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LLM brains, RAG  knowledge, and  MCP skills to work. </a:t>
            </a:r>
            <a:r>
              <a:rPr lang="zh-TW" altLang="zh-TW" sz="1400" dirty="0"/>
              <a:t>➔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graphicFrame>
        <p:nvGraphicFramePr>
          <p:cNvPr id="10" name="表格 9">
            <a:extLst>
              <a:ext uri="{FF2B5EF4-FFF2-40B4-BE49-F238E27FC236}">
                <a16:creationId xmlns:a16="http://schemas.microsoft.com/office/drawing/2014/main" id="{FAC317C6-4626-1B2B-AEC6-1890A96EE20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94732961"/>
              </p:ext>
            </p:extLst>
          </p:nvPr>
        </p:nvGraphicFramePr>
        <p:xfrm>
          <a:off x="1124810" y="3345031"/>
          <a:ext cx="1070926" cy="1148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70926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5676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Workflow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Input Processing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Model Router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Tool Calling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49642222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Output Parsing</a:t>
                      </a:r>
                      <a:endParaRPr kumimoji="0" lang="zh-TW" altLang="en-US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24983"/>
                  </a:ext>
                </a:extLst>
              </a:tr>
            </a:tbl>
          </a:graphicData>
        </a:graphic>
      </p:graphicFrame>
      <p:sp>
        <p:nvSpPr>
          <p:cNvPr id="23" name="文字方塊 22">
            <a:extLst>
              <a:ext uri="{FF2B5EF4-FFF2-40B4-BE49-F238E27FC236}">
                <a16:creationId xmlns:a16="http://schemas.microsoft.com/office/drawing/2014/main" id="{D8572D84-C893-C9E6-47D7-75D138C833BF}"/>
              </a:ext>
            </a:extLst>
          </p:cNvPr>
          <p:cNvSpPr txBox="1"/>
          <p:nvPr/>
        </p:nvSpPr>
        <p:spPr>
          <a:xfrm>
            <a:off x="2856955" y="2035739"/>
            <a:ext cx="3232202" cy="893822"/>
          </a:xfrm>
          <a:prstGeom prst="rect">
            <a:avLst/>
          </a:prstGeom>
          <a:solidFill>
            <a:schemeClr val="accent1">
              <a:lumMod val="20000"/>
              <a:lumOff val="80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5">
                    <a:lumMod val="75000"/>
                  </a:schemeClr>
                </a:solidFill>
                <a:effectLst/>
              </a:rPr>
              <a:t>LLM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u="none" strike="noStrike" dirty="0">
                <a:effectLst/>
              </a:rPr>
              <a:t>Reasoning</a:t>
            </a:r>
          </a:p>
        </p:txBody>
      </p:sp>
      <p:sp>
        <p:nvSpPr>
          <p:cNvPr id="35" name="標題 1">
            <a:extLst>
              <a:ext uri="{FF2B5EF4-FFF2-40B4-BE49-F238E27FC236}">
                <a16:creationId xmlns:a16="http://schemas.microsoft.com/office/drawing/2014/main" id="{A6F6E1B2-4410-329F-F40B-BF387AFC3185}"/>
              </a:ext>
            </a:extLst>
          </p:cNvPr>
          <p:cNvSpPr txBox="1">
            <a:spLocks/>
          </p:cNvSpPr>
          <p:nvPr/>
        </p:nvSpPr>
        <p:spPr>
          <a:xfrm>
            <a:off x="3733357" y="1273175"/>
            <a:ext cx="1479398" cy="433217"/>
          </a:xfrm>
          <a:prstGeom prst="rect">
            <a:avLst/>
          </a:prstGeom>
        </p:spPr>
        <p:txBody>
          <a:bodyPr wrap="none" lIns="9144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Runtime</a:t>
            </a:r>
          </a:p>
          <a:p>
            <a:pPr algn="ctr"/>
            <a:r>
              <a:rPr lang="en-US" altLang="zh-TW" sz="10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(Goal: Smarter AI Agent)</a:t>
            </a:r>
          </a:p>
        </p:txBody>
      </p:sp>
      <p:grpSp>
        <p:nvGrpSpPr>
          <p:cNvPr id="38" name="群組 37">
            <a:extLst>
              <a:ext uri="{FF2B5EF4-FFF2-40B4-BE49-F238E27FC236}">
                <a16:creationId xmlns:a16="http://schemas.microsoft.com/office/drawing/2014/main" id="{3336D256-EDED-4696-A1BB-76862DCD076A}"/>
              </a:ext>
            </a:extLst>
          </p:cNvPr>
          <p:cNvGrpSpPr/>
          <p:nvPr/>
        </p:nvGrpSpPr>
        <p:grpSpPr>
          <a:xfrm>
            <a:off x="611560" y="1273176"/>
            <a:ext cx="1219522" cy="1756213"/>
            <a:chOff x="1331640" y="2203695"/>
            <a:chExt cx="1219522" cy="1756213"/>
          </a:xfrm>
        </p:grpSpPr>
        <p:sp>
          <p:nvSpPr>
            <p:cNvPr id="32" name="文字方塊 31">
              <a:extLst>
                <a:ext uri="{FF2B5EF4-FFF2-40B4-BE49-F238E27FC236}">
                  <a16:creationId xmlns:a16="http://schemas.microsoft.com/office/drawing/2014/main" id="{644E5DDD-D891-F4C5-E1BB-EEA8B9117949}"/>
                </a:ext>
              </a:extLst>
            </p:cNvPr>
            <p:cNvSpPr txBox="1"/>
            <p:nvPr/>
          </p:nvSpPr>
          <p:spPr>
            <a:xfrm>
              <a:off x="1331640" y="2867302"/>
              <a:ext cx="1219522" cy="1092606"/>
            </a:xfrm>
            <a:prstGeom prst="rect">
              <a:avLst/>
            </a:prstGeom>
            <a:solidFill>
              <a:schemeClr val="accent2">
                <a:lumMod val="20000"/>
                <a:lumOff val="80000"/>
                <a:alpha val="80000"/>
              </a:schemeClr>
            </a:solidFill>
            <a:ln w="25400">
              <a:solidFill>
                <a:schemeClr val="bg1">
                  <a:lumMod val="85000"/>
                </a:schemeClr>
              </a:solidFill>
            </a:ln>
          </p:spPr>
          <p:txBody>
            <a:bodyPr wrap="none" lIns="0" tIns="72000" rIns="0" bIns="36000" anchor="ctr" anchorCtr="1">
              <a:noAutofit/>
            </a:bodyPr>
            <a:lstStyle/>
            <a:p>
              <a:pPr algn="ctr">
                <a:lnSpc>
                  <a:spcPts val="1400"/>
                </a:lnSpc>
                <a:buNone/>
              </a:pPr>
              <a:r>
                <a:rPr lang="en-US" altLang="zh-TW" sz="1400" b="1" u="none" strike="noStrike" dirty="0">
                  <a:solidFill>
                    <a:schemeClr val="accent2">
                      <a:lumMod val="60000"/>
                      <a:lumOff val="40000"/>
                    </a:schemeClr>
                  </a:solidFill>
                  <a:effectLst/>
                </a:rPr>
                <a:t>Pre-Training</a:t>
              </a:r>
            </a:p>
            <a:p>
              <a:pPr algn="ctr">
                <a:lnSpc>
                  <a:spcPts val="1400"/>
                </a:lnSpc>
                <a:buNone/>
              </a:pPr>
              <a:r>
                <a:rPr lang="en-US" altLang="zh-TW" sz="1400" b="1" u="none" strike="noStrike" dirty="0">
                  <a:solidFill>
                    <a:schemeClr val="accent2">
                      <a:lumMod val="60000"/>
                      <a:lumOff val="40000"/>
                    </a:schemeClr>
                  </a:solidFill>
                  <a:effectLst/>
                </a:rPr>
                <a:t>&amp; SFT</a:t>
              </a:r>
            </a:p>
          </p:txBody>
        </p:sp>
        <p:sp>
          <p:nvSpPr>
            <p:cNvPr id="36" name="標題 1">
              <a:extLst>
                <a:ext uri="{FF2B5EF4-FFF2-40B4-BE49-F238E27FC236}">
                  <a16:creationId xmlns:a16="http://schemas.microsoft.com/office/drawing/2014/main" id="{4105B411-9718-432D-3492-4CCD58074E49}"/>
                </a:ext>
              </a:extLst>
            </p:cNvPr>
            <p:cNvSpPr txBox="1">
              <a:spLocks/>
            </p:cNvSpPr>
            <p:nvPr/>
          </p:nvSpPr>
          <p:spPr>
            <a:xfrm>
              <a:off x="1383399" y="2203695"/>
              <a:ext cx="1100369" cy="433217"/>
            </a:xfrm>
            <a:prstGeom prst="rect">
              <a:avLst/>
            </a:prstGeom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altLang="zh-TW" sz="12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Training Stages </a:t>
              </a:r>
            </a:p>
            <a:p>
              <a:pPr algn="ctr"/>
              <a:r>
                <a:rPr lang="en-US" altLang="zh-TW" sz="10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(Goal: Alignment)</a:t>
              </a:r>
            </a:p>
          </p:txBody>
        </p:sp>
        <p:sp>
          <p:nvSpPr>
            <p:cNvPr id="37" name="右大括弧 36">
              <a:extLst>
                <a:ext uri="{FF2B5EF4-FFF2-40B4-BE49-F238E27FC236}">
                  <a16:creationId xmlns:a16="http://schemas.microsoft.com/office/drawing/2014/main" id="{E4C9916F-526C-2149-B47C-BC4FE91F2F9B}"/>
                </a:ext>
              </a:extLst>
            </p:cNvPr>
            <p:cNvSpPr/>
            <p:nvPr/>
          </p:nvSpPr>
          <p:spPr>
            <a:xfrm rot="16200000">
              <a:off x="1855526" y="2139505"/>
              <a:ext cx="153043" cy="1100372"/>
            </a:xfrm>
            <a:prstGeom prst="rightBrac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cxnSp>
        <p:nvCxnSpPr>
          <p:cNvPr id="13" name="直線單箭頭接點 12">
            <a:extLst>
              <a:ext uri="{FF2B5EF4-FFF2-40B4-BE49-F238E27FC236}">
                <a16:creationId xmlns:a16="http://schemas.microsoft.com/office/drawing/2014/main" id="{DB8A7D43-44B5-6F11-7DA9-57A063DEE63A}"/>
              </a:ext>
            </a:extLst>
          </p:cNvPr>
          <p:cNvCxnSpPr>
            <a:cxnSpLocks/>
            <a:stCxn id="32" idx="3"/>
            <a:endCxn id="23" idx="1"/>
          </p:cNvCxnSpPr>
          <p:nvPr/>
        </p:nvCxnSpPr>
        <p:spPr>
          <a:xfrm flipV="1">
            <a:off x="1831082" y="2482650"/>
            <a:ext cx="1025873" cy="436"/>
          </a:xfrm>
          <a:prstGeom prst="straightConnector1">
            <a:avLst/>
          </a:prstGeom>
          <a:ln w="25400">
            <a:solidFill>
              <a:schemeClr val="bg1">
                <a:lumMod val="85000"/>
              </a:schemeClr>
            </a:solidFill>
            <a:headEnd w="med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箭號: 向下 58">
            <a:extLst>
              <a:ext uri="{FF2B5EF4-FFF2-40B4-BE49-F238E27FC236}">
                <a16:creationId xmlns:a16="http://schemas.microsoft.com/office/drawing/2014/main" id="{95F20FA0-F44A-3E96-8E3A-E2DBBF81ED21}"/>
              </a:ext>
            </a:extLst>
          </p:cNvPr>
          <p:cNvSpPr/>
          <p:nvPr/>
        </p:nvSpPr>
        <p:spPr>
          <a:xfrm rot="10800000">
            <a:off x="2987824" y="2546991"/>
            <a:ext cx="325849" cy="810000"/>
          </a:xfrm>
          <a:prstGeom prst="downArrow">
            <a:avLst>
              <a:gd name="adj1" fmla="val 62892"/>
              <a:gd name="adj2" fmla="val 52184"/>
            </a:avLst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wrap="none" lIns="0" tIns="0" rIns="0" bIns="0" rtlCol="0" anchor="ctr"/>
          <a:lstStyle/>
          <a:p>
            <a:pPr algn="ctr"/>
            <a:r>
              <a:rPr lang="en-US" altLang="zh-TW" sz="1000" dirty="0">
                <a:solidFill>
                  <a:schemeClr val="tx1"/>
                </a:solidFill>
              </a:rPr>
              <a:t>Prompt</a:t>
            </a:r>
            <a:endParaRPr lang="zh-TW" altLang="en-US" sz="1000" dirty="0">
              <a:solidFill>
                <a:schemeClr val="tx1"/>
              </a:solidFill>
            </a:endParaRPr>
          </a:p>
        </p:txBody>
      </p:sp>
      <p:cxnSp>
        <p:nvCxnSpPr>
          <p:cNvPr id="171" name="接點: 肘形 170">
            <a:extLst>
              <a:ext uri="{FF2B5EF4-FFF2-40B4-BE49-F238E27FC236}">
                <a16:creationId xmlns:a16="http://schemas.microsoft.com/office/drawing/2014/main" id="{79337494-4F56-4972-2B00-13C173F0D061}"/>
              </a:ext>
            </a:extLst>
          </p:cNvPr>
          <p:cNvCxnSpPr>
            <a:cxnSpLocks/>
            <a:stCxn id="114" idx="2"/>
            <a:endCxn id="132" idx="0"/>
          </p:cNvCxnSpPr>
          <p:nvPr/>
        </p:nvCxnSpPr>
        <p:spPr>
          <a:xfrm rot="16200000" flipH="1">
            <a:off x="5169812" y="2832182"/>
            <a:ext cx="936105" cy="365722"/>
          </a:xfrm>
          <a:prstGeom prst="bentConnector3">
            <a:avLst>
              <a:gd name="adj1" fmla="val -24420"/>
            </a:avLst>
          </a:prstGeom>
          <a:ln>
            <a:solidFill>
              <a:schemeClr val="bg1">
                <a:lumMod val="6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語音泡泡: 圓角矩形 5">
            <a:extLst>
              <a:ext uri="{FF2B5EF4-FFF2-40B4-BE49-F238E27FC236}">
                <a16:creationId xmlns:a16="http://schemas.microsoft.com/office/drawing/2014/main" id="{578988E3-D386-548F-14BC-26F42CB8F679}"/>
              </a:ext>
            </a:extLst>
          </p:cNvPr>
          <p:cNvSpPr/>
          <p:nvPr/>
        </p:nvSpPr>
        <p:spPr>
          <a:xfrm>
            <a:off x="2522777" y="4365104"/>
            <a:ext cx="825087" cy="882539"/>
          </a:xfrm>
          <a:prstGeom prst="wedgeRoundRectCallout">
            <a:avLst>
              <a:gd name="adj1" fmla="val 56711"/>
              <a:gd name="adj2" fmla="val 59786"/>
              <a:gd name="adj3" fmla="val 16667"/>
            </a:avLst>
          </a:prstGeom>
          <a:solidFill>
            <a:schemeClr val="bg1">
              <a:alpha val="80000"/>
            </a:schemeClr>
          </a:solidFill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Get me 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TSMC’s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Earnings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report.</a:t>
            </a:r>
            <a:endParaRPr lang="en-US" altLang="zh-TW" sz="1200" dirty="0">
              <a:ln w="0"/>
              <a:solidFill>
                <a:srgbClr val="4F81BD">
                  <a:lumMod val="75000"/>
                </a:srgbClr>
              </a:solidFill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6DED4096-EC87-5FA0-C284-9B53560B41FE}"/>
              </a:ext>
            </a:extLst>
          </p:cNvPr>
          <p:cNvSpPr txBox="1"/>
          <p:nvPr/>
        </p:nvSpPr>
        <p:spPr>
          <a:xfrm>
            <a:off x="7848364" y="44624"/>
            <a:ext cx="1240083" cy="3813095"/>
          </a:xfrm>
          <a:prstGeom prst="rect">
            <a:avLst/>
          </a:prstGeom>
          <a:noFill/>
        </p:spPr>
        <p:txBody>
          <a:bodyPr wrap="none" lIns="91440" tIns="91440" rIns="0" bIns="0">
            <a:spAutoFit/>
          </a:bodyPr>
          <a:lstStyle/>
          <a:p>
            <a:pPr defTabSz="1546225"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u="none" strike="noStrike" dirty="0">
                <a:effectLst/>
              </a:rPr>
              <a:t> Overview</a:t>
            </a:r>
            <a:endParaRPr lang="en-US" altLang="zh-TW" sz="1000" u="none" strike="noStrike" dirty="0">
              <a:effectLst/>
            </a:endParaRPr>
          </a:p>
          <a:p>
            <a:pPr marL="111125" lvl="3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zh-TW" altLang="en-US" sz="1000" dirty="0"/>
              <a:t> </a:t>
            </a:r>
            <a:r>
              <a:rPr lang="en-US" altLang="zh-TW" sz="1000" dirty="0"/>
              <a:t>ML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/>
              <a:t>Training Stages</a:t>
            </a:r>
            <a:endParaRPr lang="en-US" altLang="zh-TW" sz="1000" u="none" strike="noStrike" dirty="0">
              <a:effectLst/>
            </a:endParaRPr>
          </a:p>
          <a:p>
            <a:pPr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/>
              <a:t> Transformer</a:t>
            </a:r>
            <a:endParaRPr lang="en-US" altLang="zh-TW" sz="1000" dirty="0"/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/>
              <a:t> Program Flow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/>
              <a:t> Self-Attention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/>
              <a:t> FFN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zh-TW" altLang="en-US" sz="1000" dirty="0"/>
              <a:t> </a:t>
            </a:r>
            <a:r>
              <a:rPr lang="en-US" altLang="zh-TW" sz="1000" dirty="0"/>
              <a:t>Embeddings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/>
              <a:t> Position Encoding</a:t>
            </a:r>
          </a:p>
          <a:p>
            <a:pPr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/>
              <a:t> GPT</a:t>
            </a:r>
          </a:p>
          <a:p>
            <a:pPr marL="111125" marR="0" lvl="2" algn="l" defTabSz="914400" rtl="0" eaLnBrk="1" fontAlgn="auto" latinLnBrk="0" hangingPunct="1">
              <a:lnSpc>
                <a:spcPts val="10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 Pre-Training</a:t>
            </a:r>
          </a:p>
          <a:p>
            <a:pPr marL="111125" marR="0" lvl="2" algn="l" defTabSz="914400" rtl="0" eaLnBrk="1" fontAlgn="auto" latinLnBrk="0" hangingPunct="1">
              <a:lnSpc>
                <a:spcPts val="10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 MLP</a:t>
            </a:r>
          </a:p>
          <a:p>
            <a:pPr marL="111125" marR="0" lvl="2" algn="l" defTabSz="914400" rtl="0" eaLnBrk="1" fontAlgn="auto" latinLnBrk="0" hangingPunct="1">
              <a:lnSpc>
                <a:spcPts val="10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 Backpropagation</a:t>
            </a:r>
            <a:r>
              <a:rPr lang="en-US" altLang="zh-TW" sz="1000" dirty="0"/>
              <a:t> </a:t>
            </a:r>
          </a:p>
          <a:p>
            <a:pPr marL="111125" marR="0" lvl="2" algn="l" defTabSz="914400" rtl="0" eaLnBrk="1" fontAlgn="auto" latinLnBrk="0" hangingPunct="1">
              <a:lnSpc>
                <a:spcPts val="10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Training Cluster</a:t>
            </a:r>
          </a:p>
          <a:p>
            <a:pPr marL="111125" marR="0" lvl="2" algn="l" defTabSz="914400" rtl="0" eaLnBrk="1" fontAlgn="auto" latinLnBrk="0" hangingPunct="1">
              <a:lnSpc>
                <a:spcPts val="10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 AI Ecosystem</a:t>
            </a:r>
            <a:endParaRPr kumimoji="0" lang="en-US" altLang="zh-TW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  <a:p>
            <a:pPr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/>
              <a:t> </a:t>
            </a:r>
            <a:r>
              <a:rPr lang="en-US" altLang="zh-TW" sz="1000" b="1" dirty="0">
                <a:solidFill>
                  <a:srgbClr val="FF0000"/>
                </a:solidFill>
              </a:rPr>
              <a:t>AI Runtime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MCP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RAG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SLM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Emerging Trends </a:t>
            </a:r>
            <a:endParaRPr lang="en-US" altLang="zh-TW" sz="1000" dirty="0">
              <a:solidFill>
                <a:prstClr val="black"/>
              </a:solidFill>
            </a:endParaRPr>
          </a:p>
          <a:p>
            <a:pPr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zh-TW" altLang="en-US" sz="1000" b="1" dirty="0"/>
              <a:t> </a:t>
            </a:r>
            <a:r>
              <a:rPr lang="en-US" altLang="zh-TW" sz="1000" b="1" dirty="0"/>
              <a:t>Gemma Family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Supervised FT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PEFT: QLoRA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PEFT: DoRA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Gemma4: PLE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Benchmarking</a:t>
            </a:r>
          </a:p>
          <a:p>
            <a:pPr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/>
              <a:t> Conclusion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Building the Agent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Practices</a:t>
            </a:r>
          </a:p>
        </p:txBody>
      </p:sp>
      <p:sp>
        <p:nvSpPr>
          <p:cNvPr id="40" name="箭號: 向下 39">
            <a:extLst>
              <a:ext uri="{FF2B5EF4-FFF2-40B4-BE49-F238E27FC236}">
                <a16:creationId xmlns:a16="http://schemas.microsoft.com/office/drawing/2014/main" id="{C71631F2-520D-603B-D24A-C6556F32D4F7}"/>
              </a:ext>
            </a:extLst>
          </p:cNvPr>
          <p:cNvSpPr/>
          <p:nvPr/>
        </p:nvSpPr>
        <p:spPr>
          <a:xfrm>
            <a:off x="3885328" y="3993976"/>
            <a:ext cx="182616" cy="371128"/>
          </a:xfrm>
          <a:prstGeom prst="downArrow">
            <a:avLst>
              <a:gd name="adj1" fmla="val 62892"/>
              <a:gd name="adj2" fmla="val 52184"/>
            </a:avLst>
          </a:prstGeom>
          <a:solidFill>
            <a:schemeClr val="accent4">
              <a:lumMod val="20000"/>
              <a:lumOff val="80000"/>
              <a:alpha val="80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000" b="1" dirty="0">
                <a:solidFill>
                  <a:srgbClr val="7030A0"/>
                </a:solidFill>
              </a:rPr>
              <a:t>MCP</a:t>
            </a:r>
            <a:endParaRPr lang="zh-TW" altLang="en-US" sz="1000" b="1" dirty="0">
              <a:solidFill>
                <a:srgbClr val="7030A0"/>
              </a:solidFill>
            </a:endParaRPr>
          </a:p>
        </p:txBody>
      </p:sp>
      <p:sp>
        <p:nvSpPr>
          <p:cNvPr id="45" name="箭號: 向下 44">
            <a:extLst>
              <a:ext uri="{FF2B5EF4-FFF2-40B4-BE49-F238E27FC236}">
                <a16:creationId xmlns:a16="http://schemas.microsoft.com/office/drawing/2014/main" id="{462AE830-760D-0E59-7995-536C09AC9A34}"/>
              </a:ext>
            </a:extLst>
          </p:cNvPr>
          <p:cNvSpPr/>
          <p:nvPr/>
        </p:nvSpPr>
        <p:spPr>
          <a:xfrm>
            <a:off x="4706295" y="3483096"/>
            <a:ext cx="297753" cy="810000"/>
          </a:xfrm>
          <a:prstGeom prst="downArrow">
            <a:avLst>
              <a:gd name="adj1" fmla="val 62892"/>
              <a:gd name="adj2" fmla="val 52184"/>
            </a:avLst>
          </a:prstGeom>
          <a:solidFill>
            <a:schemeClr val="bg1">
              <a:lumMod val="85000"/>
              <a:alpha val="6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000" b="1" dirty="0">
                <a:solidFill>
                  <a:schemeClr val="tx1"/>
                </a:solidFill>
              </a:rPr>
              <a:t>Final</a:t>
            </a:r>
          </a:p>
          <a:p>
            <a:pPr algn="ctr"/>
            <a:r>
              <a:rPr lang="en-US" altLang="zh-TW" sz="1000" b="1" dirty="0">
                <a:solidFill>
                  <a:schemeClr val="tx1"/>
                </a:solidFill>
              </a:rPr>
              <a:t>Answer</a:t>
            </a:r>
          </a:p>
        </p:txBody>
      </p:sp>
      <p:sp>
        <p:nvSpPr>
          <p:cNvPr id="43" name="右大括弧 42">
            <a:extLst>
              <a:ext uri="{FF2B5EF4-FFF2-40B4-BE49-F238E27FC236}">
                <a16:creationId xmlns:a16="http://schemas.microsoft.com/office/drawing/2014/main" id="{CE53BF93-8848-AA12-41EA-7817F672E6AC}"/>
              </a:ext>
            </a:extLst>
          </p:cNvPr>
          <p:cNvSpPr/>
          <p:nvPr/>
        </p:nvSpPr>
        <p:spPr>
          <a:xfrm rot="16200000">
            <a:off x="4396534" y="143068"/>
            <a:ext cx="153045" cy="3232203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6" name="文字方塊 25">
            <a:extLst>
              <a:ext uri="{FF2B5EF4-FFF2-40B4-BE49-F238E27FC236}">
                <a16:creationId xmlns:a16="http://schemas.microsoft.com/office/drawing/2014/main" id="{09CE6EAC-0923-2447-ABF3-98900CC49349}"/>
              </a:ext>
            </a:extLst>
          </p:cNvPr>
          <p:cNvSpPr txBox="1"/>
          <p:nvPr/>
        </p:nvSpPr>
        <p:spPr>
          <a:xfrm>
            <a:off x="3658327" y="5671171"/>
            <a:ext cx="588206" cy="376017"/>
          </a:xfrm>
          <a:prstGeom prst="rect">
            <a:avLst/>
          </a:prstGeom>
          <a:solidFill>
            <a:schemeClr val="accent4">
              <a:lumMod val="20000"/>
              <a:lumOff val="80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45720" rIns="0" bIns="0" anchor="ctr" anchorCtr="1">
            <a:noAutofit/>
          </a:bodyPr>
          <a:lstStyle/>
          <a:p>
            <a:pPr algn="ctr">
              <a:lnSpc>
                <a:spcPts val="1200"/>
              </a:lnSpc>
              <a:buNone/>
            </a:pPr>
            <a:r>
              <a:rPr lang="en-US" altLang="zh-TW" sz="1400" b="1" u="none" strike="noStrike" dirty="0">
                <a:solidFill>
                  <a:schemeClr val="accent4">
                    <a:lumMod val="75000"/>
                  </a:schemeClr>
                </a:solidFill>
                <a:effectLst/>
              </a:rPr>
              <a:t>MCP</a:t>
            </a:r>
          </a:p>
          <a:p>
            <a:pPr algn="ctr">
              <a:lnSpc>
                <a:spcPts val="1200"/>
              </a:lnSpc>
              <a:buNone/>
            </a:pPr>
            <a:r>
              <a:rPr lang="en-US" altLang="zh-TW" sz="1200" u="none" strike="noStrike" dirty="0">
                <a:effectLst/>
              </a:rPr>
              <a:t>(Tools)</a:t>
            </a:r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2BB8462C-5DC9-5929-62DF-BB7A759AFDE2}"/>
              </a:ext>
            </a:extLst>
          </p:cNvPr>
          <p:cNvSpPr txBox="1"/>
          <p:nvPr/>
        </p:nvSpPr>
        <p:spPr>
          <a:xfrm>
            <a:off x="4343834" y="5669254"/>
            <a:ext cx="588206" cy="376017"/>
          </a:xfrm>
          <a:prstGeom prst="rect">
            <a:avLst/>
          </a:prstGeom>
          <a:solidFill>
            <a:schemeClr val="bg1">
              <a:lumMod val="95000"/>
              <a:alpha val="6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45720" rIns="0" bIns="0" anchor="ctr" anchorCtr="1">
            <a:noAutofit/>
          </a:bodyPr>
          <a:lstStyle/>
          <a:p>
            <a:pPr algn="ctr">
              <a:lnSpc>
                <a:spcPts val="1200"/>
              </a:lnSpc>
              <a:buNone/>
            </a:pPr>
            <a:r>
              <a:rPr lang="en-US" altLang="zh-TW" sz="1400" b="1" u="none" strike="noStrike" dirty="0">
                <a:solidFill>
                  <a:schemeClr val="accent4">
                    <a:lumMod val="75000"/>
                  </a:schemeClr>
                </a:solidFill>
                <a:effectLst/>
              </a:rPr>
              <a:t>Skill</a:t>
            </a:r>
          </a:p>
          <a:p>
            <a:pPr algn="ctr">
              <a:lnSpc>
                <a:spcPts val="1200"/>
              </a:lnSpc>
              <a:buNone/>
            </a:pPr>
            <a:r>
              <a:rPr lang="en-US" altLang="zh-TW" sz="1200" u="none" strike="noStrike" dirty="0">
                <a:effectLst/>
              </a:rPr>
              <a:t>(Scripts)</a:t>
            </a:r>
          </a:p>
        </p:txBody>
      </p:sp>
      <p:sp>
        <p:nvSpPr>
          <p:cNvPr id="22" name="矩形: 圓角 21">
            <a:extLst>
              <a:ext uri="{FF2B5EF4-FFF2-40B4-BE49-F238E27FC236}">
                <a16:creationId xmlns:a16="http://schemas.microsoft.com/office/drawing/2014/main" id="{CF2FCA05-8E66-2B4C-465D-BE76C9EE985A}"/>
              </a:ext>
            </a:extLst>
          </p:cNvPr>
          <p:cNvSpPr/>
          <p:nvPr/>
        </p:nvSpPr>
        <p:spPr>
          <a:xfrm>
            <a:off x="5148064" y="5663897"/>
            <a:ext cx="588206" cy="376017"/>
          </a:xfrm>
          <a:prstGeom prst="roundRect">
            <a:avLst>
              <a:gd name="adj" fmla="val 0"/>
            </a:avLst>
          </a:prstGeom>
          <a:solidFill>
            <a:schemeClr val="accent4">
              <a:lumMod val="75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4572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srgbClr val="FF99FF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LLM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srgbClr val="FF99FF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Wiki</a:t>
            </a:r>
          </a:p>
        </p:txBody>
      </p:sp>
      <p:sp>
        <p:nvSpPr>
          <p:cNvPr id="53" name="文字方塊 52">
            <a:extLst>
              <a:ext uri="{FF2B5EF4-FFF2-40B4-BE49-F238E27FC236}">
                <a16:creationId xmlns:a16="http://schemas.microsoft.com/office/drawing/2014/main" id="{68F3F681-A993-A9DB-2D20-7252C481D779}"/>
              </a:ext>
            </a:extLst>
          </p:cNvPr>
          <p:cNvSpPr txBox="1"/>
          <p:nvPr/>
        </p:nvSpPr>
        <p:spPr>
          <a:xfrm>
            <a:off x="2987824" y="5669254"/>
            <a:ext cx="588206" cy="376017"/>
          </a:xfrm>
          <a:prstGeom prst="rect">
            <a:avLst/>
          </a:prstGeom>
          <a:solidFill>
            <a:schemeClr val="accent5">
              <a:lumMod val="20000"/>
              <a:lumOff val="80000"/>
              <a:alpha val="60000"/>
            </a:schemeClr>
          </a:solidFill>
          <a:ln w="25400">
            <a:solidFill>
              <a:schemeClr val="accent5">
                <a:lumMod val="40000"/>
                <a:lumOff val="60000"/>
              </a:schemeClr>
            </a:solidFill>
          </a:ln>
        </p:spPr>
        <p:txBody>
          <a:bodyPr wrap="none" lIns="0" tIns="45720" rIns="0" bIns="0" anchor="ctr" anchorCtr="1">
            <a:noAutofit/>
          </a:bodyPr>
          <a:lstStyle/>
          <a:p>
            <a:pPr algn="ctr">
              <a:lnSpc>
                <a:spcPts val="1200"/>
              </a:lnSpc>
              <a:buNone/>
            </a:pPr>
            <a:r>
              <a:rPr lang="en-US" altLang="zh-TW" sz="1200" b="1" u="none" strike="noStrike" dirty="0">
                <a:solidFill>
                  <a:schemeClr val="accent5">
                    <a:lumMod val="50000"/>
                  </a:schemeClr>
                </a:solidFill>
                <a:effectLst/>
              </a:rPr>
              <a:t>Vector</a:t>
            </a:r>
          </a:p>
          <a:p>
            <a:pPr algn="ctr">
              <a:lnSpc>
                <a:spcPts val="1200"/>
              </a:lnSpc>
              <a:buNone/>
            </a:pPr>
            <a:r>
              <a:rPr lang="en-US" altLang="zh-TW" sz="1200" b="1" u="none" strike="noStrike" dirty="0">
                <a:solidFill>
                  <a:schemeClr val="accent5">
                    <a:lumMod val="50000"/>
                  </a:schemeClr>
                </a:solidFill>
                <a:effectLst/>
              </a:rPr>
              <a:t>DB</a:t>
            </a:r>
          </a:p>
        </p:txBody>
      </p:sp>
      <p:sp>
        <p:nvSpPr>
          <p:cNvPr id="71" name="箭號: 向下 70">
            <a:extLst>
              <a:ext uri="{FF2B5EF4-FFF2-40B4-BE49-F238E27FC236}">
                <a16:creationId xmlns:a16="http://schemas.microsoft.com/office/drawing/2014/main" id="{9442F65E-5116-38EE-1587-DBACA9C3393E}"/>
              </a:ext>
            </a:extLst>
          </p:cNvPr>
          <p:cNvSpPr/>
          <p:nvPr/>
        </p:nvSpPr>
        <p:spPr>
          <a:xfrm>
            <a:off x="3472971" y="4008314"/>
            <a:ext cx="162925" cy="356790"/>
          </a:xfrm>
          <a:prstGeom prst="downArrow">
            <a:avLst>
              <a:gd name="adj1" fmla="val 62892"/>
              <a:gd name="adj2" fmla="val 52184"/>
            </a:avLst>
          </a:prstGeom>
          <a:solidFill>
            <a:schemeClr val="tx2">
              <a:lumMod val="20000"/>
              <a:lumOff val="80000"/>
              <a:alpha val="80000"/>
            </a:schemeClr>
          </a:solidFill>
          <a:ln w="254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000" b="1" dirty="0">
                <a:solidFill>
                  <a:schemeClr val="accent5">
                    <a:lumMod val="50000"/>
                  </a:schemeClr>
                </a:solidFill>
              </a:rPr>
              <a:t>VDB</a:t>
            </a:r>
            <a:endParaRPr lang="zh-TW" altLang="en-US" sz="1000" b="1" dirty="0">
              <a:solidFill>
                <a:schemeClr val="accent5">
                  <a:lumMod val="50000"/>
                </a:schemeClr>
              </a:solidFill>
            </a:endParaRPr>
          </a:p>
        </p:txBody>
      </p:sp>
      <p:sp>
        <p:nvSpPr>
          <p:cNvPr id="85" name="箭號: 向上 84">
            <a:extLst>
              <a:ext uri="{FF2B5EF4-FFF2-40B4-BE49-F238E27FC236}">
                <a16:creationId xmlns:a16="http://schemas.microsoft.com/office/drawing/2014/main" id="{DC4667BB-AB07-7189-91BC-32CA1E5573AE}"/>
              </a:ext>
            </a:extLst>
          </p:cNvPr>
          <p:cNvSpPr/>
          <p:nvPr/>
        </p:nvSpPr>
        <p:spPr>
          <a:xfrm>
            <a:off x="4005784" y="2987668"/>
            <a:ext cx="278184" cy="495428"/>
          </a:xfrm>
          <a:prstGeom prst="upArrow">
            <a:avLst/>
          </a:prstGeom>
          <a:solidFill>
            <a:schemeClr val="accent4">
              <a:lumMod val="20000"/>
              <a:lumOff val="80000"/>
              <a:alpha val="80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wrap="none" lIns="45720" tIns="0" rIns="0" bIns="0" rtlCol="0" anchor="ctr" anchorCtr="1"/>
          <a:lstStyle/>
          <a:p>
            <a:pPr algn="ctr"/>
            <a:r>
              <a:rPr lang="en-US" altLang="zh-TW" sz="1000" b="1" dirty="0">
                <a:solidFill>
                  <a:srgbClr val="7030A0"/>
                </a:solidFill>
              </a:rPr>
              <a:t>Result</a:t>
            </a:r>
            <a:endParaRPr lang="zh-TW" altLang="en-US" sz="1000" b="1" dirty="0">
              <a:solidFill>
                <a:srgbClr val="7030A0"/>
              </a:solidFill>
            </a:endParaRPr>
          </a:p>
        </p:txBody>
      </p:sp>
      <p:sp>
        <p:nvSpPr>
          <p:cNvPr id="96" name="箭號: 向上 95">
            <a:extLst>
              <a:ext uri="{FF2B5EF4-FFF2-40B4-BE49-F238E27FC236}">
                <a16:creationId xmlns:a16="http://schemas.microsoft.com/office/drawing/2014/main" id="{6F976072-6E37-DA33-B3EA-65C4240217B7}"/>
              </a:ext>
            </a:extLst>
          </p:cNvPr>
          <p:cNvSpPr/>
          <p:nvPr/>
        </p:nvSpPr>
        <p:spPr>
          <a:xfrm>
            <a:off x="3577435" y="2987668"/>
            <a:ext cx="274485" cy="495428"/>
          </a:xfrm>
          <a:prstGeom prst="upArrow">
            <a:avLst/>
          </a:prstGeom>
          <a:solidFill>
            <a:schemeClr val="accent1">
              <a:lumMod val="20000"/>
              <a:lumOff val="80000"/>
            </a:schemeClr>
          </a:solidFill>
          <a:ln w="254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wrap="none" lIns="45720" tIns="0" rIns="0" bIns="0" rtlCol="0" anchor="ctr" anchorCtr="1"/>
          <a:lstStyle/>
          <a:p>
            <a:pPr algn="ctr"/>
            <a:r>
              <a:rPr lang="en-US" altLang="zh-TW" sz="1000" b="1" dirty="0">
                <a:solidFill>
                  <a:schemeClr val="accent5">
                    <a:lumMod val="50000"/>
                  </a:schemeClr>
                </a:solidFill>
              </a:rPr>
              <a:t>Result</a:t>
            </a:r>
            <a:endParaRPr lang="zh-TW" altLang="en-US" sz="1000" b="1" dirty="0">
              <a:solidFill>
                <a:schemeClr val="accent5">
                  <a:lumMod val="50000"/>
                </a:schemeClr>
              </a:solidFill>
            </a:endParaRPr>
          </a:p>
        </p:txBody>
      </p:sp>
      <p:sp>
        <p:nvSpPr>
          <p:cNvPr id="114" name="箭號: 向下 113">
            <a:extLst>
              <a:ext uri="{FF2B5EF4-FFF2-40B4-BE49-F238E27FC236}">
                <a16:creationId xmlns:a16="http://schemas.microsoft.com/office/drawing/2014/main" id="{0E8551EA-8796-9BAB-1CD2-F622FB84A8DB}"/>
              </a:ext>
            </a:extLst>
          </p:cNvPr>
          <p:cNvSpPr/>
          <p:nvPr/>
        </p:nvSpPr>
        <p:spPr>
          <a:xfrm rot="10800000">
            <a:off x="5292080" y="2546991"/>
            <a:ext cx="325849" cy="810000"/>
          </a:xfrm>
          <a:prstGeom prst="downArrow">
            <a:avLst>
              <a:gd name="adj1" fmla="val 62892"/>
              <a:gd name="adj2" fmla="val 52184"/>
            </a:avLst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ctr"/>
          <a:lstStyle/>
          <a:p>
            <a:pPr algn="ctr"/>
            <a:r>
              <a:rPr lang="zh-TW" altLang="en-US" sz="1400" b="1" dirty="0">
                <a:solidFill>
                  <a:schemeClr val="tx1"/>
                </a:solidFill>
              </a:rPr>
              <a:t> </a:t>
            </a:r>
            <a:r>
              <a:rPr lang="en-US" altLang="zh-TW" sz="1400" b="1" dirty="0">
                <a:solidFill>
                  <a:schemeClr val="tx1"/>
                </a:solidFill>
              </a:rPr>
              <a:t>…</a:t>
            </a:r>
            <a:r>
              <a:rPr lang="zh-TW" altLang="en-US" sz="1400" b="1" dirty="0">
                <a:solidFill>
                  <a:schemeClr val="tx1"/>
                </a:solidFill>
              </a:rPr>
              <a:t> </a:t>
            </a:r>
          </a:p>
        </p:txBody>
      </p:sp>
      <p:cxnSp>
        <p:nvCxnSpPr>
          <p:cNvPr id="118" name="接點: 肘形 117">
            <a:extLst>
              <a:ext uri="{FF2B5EF4-FFF2-40B4-BE49-F238E27FC236}">
                <a16:creationId xmlns:a16="http://schemas.microsoft.com/office/drawing/2014/main" id="{E27141A3-132B-596A-F5FC-F68639555662}"/>
              </a:ext>
            </a:extLst>
          </p:cNvPr>
          <p:cNvCxnSpPr>
            <a:cxnSpLocks/>
            <a:stCxn id="71" idx="2"/>
            <a:endCxn id="96" idx="2"/>
          </p:cNvCxnSpPr>
          <p:nvPr/>
        </p:nvCxnSpPr>
        <p:spPr>
          <a:xfrm rot="5400000" flipH="1" flipV="1">
            <a:off x="3193552" y="3843978"/>
            <a:ext cx="882008" cy="160244"/>
          </a:xfrm>
          <a:prstGeom prst="bentConnector3">
            <a:avLst>
              <a:gd name="adj1" fmla="val -25918"/>
            </a:avLst>
          </a:prstGeom>
          <a:ln w="15875">
            <a:solidFill>
              <a:schemeClr val="accent3">
                <a:lumMod val="75000"/>
                <a:alpha val="60000"/>
              </a:scheme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" name="文字方塊 121">
            <a:extLst>
              <a:ext uri="{FF2B5EF4-FFF2-40B4-BE49-F238E27FC236}">
                <a16:creationId xmlns:a16="http://schemas.microsoft.com/office/drawing/2014/main" id="{9099F505-4990-FAA6-06FC-5DD3292E975B}"/>
              </a:ext>
            </a:extLst>
          </p:cNvPr>
          <p:cNvSpPr txBox="1"/>
          <p:nvPr/>
        </p:nvSpPr>
        <p:spPr>
          <a:xfrm>
            <a:off x="3642670" y="5276297"/>
            <a:ext cx="631450" cy="240935"/>
          </a:xfrm>
          <a:prstGeom prst="rect">
            <a:avLst/>
          </a:prstGeom>
          <a:noFill/>
        </p:spPr>
        <p:txBody>
          <a:bodyPr wrap="none" lIns="0" tIns="91440" rIns="0" bIns="0" anchor="ctr" anchorCtr="1">
            <a:no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User</a:t>
            </a:r>
          </a:p>
        </p:txBody>
      </p:sp>
      <p:cxnSp>
        <p:nvCxnSpPr>
          <p:cNvPr id="123" name="直線單箭頭接點 122">
            <a:extLst>
              <a:ext uri="{FF2B5EF4-FFF2-40B4-BE49-F238E27FC236}">
                <a16:creationId xmlns:a16="http://schemas.microsoft.com/office/drawing/2014/main" id="{BD99DD98-B721-F06E-F383-798EFDD6D3D4}"/>
              </a:ext>
            </a:extLst>
          </p:cNvPr>
          <p:cNvCxnSpPr>
            <a:cxnSpLocks/>
            <a:stCxn id="122" idx="0"/>
            <a:endCxn id="111" idx="2"/>
          </p:cNvCxnSpPr>
          <p:nvPr/>
        </p:nvCxnSpPr>
        <p:spPr>
          <a:xfrm flipH="1" flipV="1">
            <a:off x="3957533" y="4988411"/>
            <a:ext cx="862" cy="287886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箭號: 向下 131">
            <a:extLst>
              <a:ext uri="{FF2B5EF4-FFF2-40B4-BE49-F238E27FC236}">
                <a16:creationId xmlns:a16="http://schemas.microsoft.com/office/drawing/2014/main" id="{284919E8-0FB5-84A1-D92F-1402DAF25DE6}"/>
              </a:ext>
            </a:extLst>
          </p:cNvPr>
          <p:cNvSpPr/>
          <p:nvPr/>
        </p:nvSpPr>
        <p:spPr>
          <a:xfrm>
            <a:off x="5671849" y="3483096"/>
            <a:ext cx="297753" cy="810000"/>
          </a:xfrm>
          <a:prstGeom prst="downArrow">
            <a:avLst>
              <a:gd name="adj1" fmla="val 62892"/>
              <a:gd name="adj2" fmla="val 52184"/>
            </a:avLst>
          </a:prstGeom>
          <a:solidFill>
            <a:schemeClr val="bg1">
              <a:lumMod val="85000"/>
              <a:alpha val="6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000" b="1" dirty="0">
                <a:solidFill>
                  <a:schemeClr val="tx1"/>
                </a:solidFill>
              </a:rPr>
              <a:t>…</a:t>
            </a:r>
          </a:p>
        </p:txBody>
      </p:sp>
      <p:cxnSp>
        <p:nvCxnSpPr>
          <p:cNvPr id="135" name="接點: 肘形 134">
            <a:extLst>
              <a:ext uri="{FF2B5EF4-FFF2-40B4-BE49-F238E27FC236}">
                <a16:creationId xmlns:a16="http://schemas.microsoft.com/office/drawing/2014/main" id="{0902C794-519F-DC2B-51FE-445A4EFAA5F3}"/>
              </a:ext>
            </a:extLst>
          </p:cNvPr>
          <p:cNvCxnSpPr>
            <a:cxnSpLocks/>
            <a:stCxn id="142" idx="0"/>
            <a:endCxn id="45" idx="0"/>
          </p:cNvCxnSpPr>
          <p:nvPr/>
        </p:nvCxnSpPr>
        <p:spPr>
          <a:xfrm rot="16200000" flipH="1">
            <a:off x="4436972" y="3064896"/>
            <a:ext cx="486144" cy="350256"/>
          </a:xfrm>
          <a:prstGeom prst="bentConnector3">
            <a:avLst>
              <a:gd name="adj1" fmla="val -47023"/>
            </a:avLst>
          </a:prstGeom>
          <a:ln w="15875">
            <a:solidFill>
              <a:schemeClr val="accent4">
                <a:lumMod val="75000"/>
                <a:alpha val="60000"/>
              </a:scheme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接點: 肘形 139">
            <a:extLst>
              <a:ext uri="{FF2B5EF4-FFF2-40B4-BE49-F238E27FC236}">
                <a16:creationId xmlns:a16="http://schemas.microsoft.com/office/drawing/2014/main" id="{A3643A1D-79C9-3E68-FB55-1B9D37A913F9}"/>
              </a:ext>
            </a:extLst>
          </p:cNvPr>
          <p:cNvCxnSpPr>
            <a:cxnSpLocks/>
            <a:stCxn id="141" idx="2"/>
            <a:endCxn id="142" idx="2"/>
          </p:cNvCxnSpPr>
          <p:nvPr/>
        </p:nvCxnSpPr>
        <p:spPr>
          <a:xfrm rot="5400000" flipH="1" flipV="1">
            <a:off x="3984716" y="3854188"/>
            <a:ext cx="882008" cy="158392"/>
          </a:xfrm>
          <a:prstGeom prst="bentConnector3">
            <a:avLst>
              <a:gd name="adj1" fmla="val -25918"/>
            </a:avLst>
          </a:prstGeom>
          <a:ln w="15875">
            <a:solidFill>
              <a:schemeClr val="accent4">
                <a:lumMod val="75000"/>
                <a:alpha val="60000"/>
              </a:scheme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箭號: 向下 140">
            <a:extLst>
              <a:ext uri="{FF2B5EF4-FFF2-40B4-BE49-F238E27FC236}">
                <a16:creationId xmlns:a16="http://schemas.microsoft.com/office/drawing/2014/main" id="{3C28DCA6-0B63-EEC8-15A7-3073973535EA}"/>
              </a:ext>
            </a:extLst>
          </p:cNvPr>
          <p:cNvSpPr/>
          <p:nvPr/>
        </p:nvSpPr>
        <p:spPr>
          <a:xfrm>
            <a:off x="4255216" y="4003260"/>
            <a:ext cx="182616" cy="371128"/>
          </a:xfrm>
          <a:prstGeom prst="downArrow">
            <a:avLst>
              <a:gd name="adj1" fmla="val 62892"/>
              <a:gd name="adj2" fmla="val 52184"/>
            </a:avLst>
          </a:prstGeom>
          <a:solidFill>
            <a:schemeClr val="bg1">
              <a:lumMod val="95000"/>
              <a:alpha val="6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000" b="1" dirty="0">
                <a:solidFill>
                  <a:schemeClr val="accent4">
                    <a:lumMod val="75000"/>
                  </a:schemeClr>
                </a:solidFill>
              </a:rPr>
              <a:t>Skill</a:t>
            </a:r>
            <a:endParaRPr lang="zh-TW" altLang="en-US" sz="10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42" name="箭號: 向上 141">
            <a:extLst>
              <a:ext uri="{FF2B5EF4-FFF2-40B4-BE49-F238E27FC236}">
                <a16:creationId xmlns:a16="http://schemas.microsoft.com/office/drawing/2014/main" id="{12EFF3BF-8C1F-06F3-5086-F1AF996CB200}"/>
              </a:ext>
            </a:extLst>
          </p:cNvPr>
          <p:cNvSpPr/>
          <p:nvPr/>
        </p:nvSpPr>
        <p:spPr>
          <a:xfrm>
            <a:off x="4365824" y="2996952"/>
            <a:ext cx="278184" cy="495428"/>
          </a:xfrm>
          <a:prstGeom prst="upArrow">
            <a:avLst/>
          </a:prstGeom>
          <a:solidFill>
            <a:schemeClr val="bg1">
              <a:lumMod val="95000"/>
              <a:alpha val="6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wrap="none" lIns="45720" tIns="0" rIns="0" bIns="0" rtlCol="0" anchor="ctr" anchorCtr="1"/>
          <a:lstStyle/>
          <a:p>
            <a:pPr algn="ctr"/>
            <a:r>
              <a:rPr lang="en-US" altLang="zh-TW" sz="1000" b="1" dirty="0">
                <a:solidFill>
                  <a:schemeClr val="accent4">
                    <a:lumMod val="75000"/>
                  </a:schemeClr>
                </a:solidFill>
              </a:rPr>
              <a:t>Done</a:t>
            </a:r>
            <a:endParaRPr lang="zh-TW" altLang="en-US" sz="10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147" name="接點: 肘形 146">
            <a:extLst>
              <a:ext uri="{FF2B5EF4-FFF2-40B4-BE49-F238E27FC236}">
                <a16:creationId xmlns:a16="http://schemas.microsoft.com/office/drawing/2014/main" id="{E8B0B3F5-0CC1-6272-389E-E91C07607706}"/>
              </a:ext>
            </a:extLst>
          </p:cNvPr>
          <p:cNvCxnSpPr>
            <a:cxnSpLocks/>
            <a:stCxn id="59" idx="2"/>
            <a:endCxn id="71" idx="0"/>
          </p:cNvCxnSpPr>
          <p:nvPr/>
        </p:nvCxnSpPr>
        <p:spPr>
          <a:xfrm rot="16200000" flipH="1">
            <a:off x="2621929" y="3075809"/>
            <a:ext cx="1461323" cy="403686"/>
          </a:xfrm>
          <a:prstGeom prst="bentConnector3">
            <a:avLst>
              <a:gd name="adj1" fmla="val -15643"/>
            </a:avLst>
          </a:prstGeom>
          <a:ln>
            <a:solidFill>
              <a:schemeClr val="bg1">
                <a:lumMod val="6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1" name="接點: 肘形 160">
            <a:extLst>
              <a:ext uri="{FF2B5EF4-FFF2-40B4-BE49-F238E27FC236}">
                <a16:creationId xmlns:a16="http://schemas.microsoft.com/office/drawing/2014/main" id="{7FB7F299-EA0D-88C4-EC62-102AA5744D08}"/>
              </a:ext>
            </a:extLst>
          </p:cNvPr>
          <p:cNvCxnSpPr>
            <a:cxnSpLocks/>
            <a:stCxn id="45" idx="2"/>
            <a:endCxn id="122" idx="3"/>
          </p:cNvCxnSpPr>
          <p:nvPr/>
        </p:nvCxnSpPr>
        <p:spPr>
          <a:xfrm rot="5400000">
            <a:off x="4012812" y="4554404"/>
            <a:ext cx="1103669" cy="581052"/>
          </a:xfrm>
          <a:prstGeom prst="bentConnector2">
            <a:avLst/>
          </a:prstGeom>
          <a:ln w="25400">
            <a:solidFill>
              <a:schemeClr val="accent1">
                <a:lumMod val="75000"/>
              </a:schemeClr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83" name="群組 182">
            <a:extLst>
              <a:ext uri="{FF2B5EF4-FFF2-40B4-BE49-F238E27FC236}">
                <a16:creationId xmlns:a16="http://schemas.microsoft.com/office/drawing/2014/main" id="{EC23AE7C-B5C8-B4F7-9E86-055D60AEFBC7}"/>
              </a:ext>
            </a:extLst>
          </p:cNvPr>
          <p:cNvGrpSpPr/>
          <p:nvPr/>
        </p:nvGrpSpPr>
        <p:grpSpPr>
          <a:xfrm>
            <a:off x="6516216" y="4813260"/>
            <a:ext cx="1512168" cy="1273320"/>
            <a:chOff x="5292080" y="1036415"/>
            <a:chExt cx="1512168" cy="1273320"/>
          </a:xfrm>
        </p:grpSpPr>
        <p:sp>
          <p:nvSpPr>
            <p:cNvPr id="184" name="箭號: 圓形 183">
              <a:extLst>
                <a:ext uri="{FF2B5EF4-FFF2-40B4-BE49-F238E27FC236}">
                  <a16:creationId xmlns:a16="http://schemas.microsoft.com/office/drawing/2014/main" id="{3A71D6D5-8EB3-6B9F-72C5-7A6D9DE9D0FF}"/>
                </a:ext>
              </a:extLst>
            </p:cNvPr>
            <p:cNvSpPr/>
            <p:nvPr/>
          </p:nvSpPr>
          <p:spPr>
            <a:xfrm rot="11669204">
              <a:off x="5378796" y="1036415"/>
              <a:ext cx="1166084" cy="1226766"/>
            </a:xfrm>
            <a:prstGeom prst="circularArrow">
              <a:avLst>
                <a:gd name="adj1" fmla="val 18161"/>
                <a:gd name="adj2" fmla="val 2382103"/>
                <a:gd name="adj3" fmla="val 18659249"/>
                <a:gd name="adj4" fmla="val 11944252"/>
                <a:gd name="adj5" fmla="val 17877"/>
              </a:avLst>
            </a:prstGeom>
            <a:solidFill>
              <a:schemeClr val="bg1">
                <a:lumMod val="95000"/>
                <a:alpha val="70000"/>
              </a:schemeClr>
            </a:solidFill>
            <a:ln w="25400">
              <a:solidFill>
                <a:schemeClr val="bg1">
                  <a:lumMod val="50000"/>
                  <a:alpha val="8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>
                <a:solidFill>
                  <a:schemeClr val="tx1"/>
                </a:solidFill>
              </a:endParaRPr>
            </a:p>
          </p:txBody>
        </p:sp>
        <p:sp>
          <p:nvSpPr>
            <p:cNvPr id="185" name="箭號: 圓形 184">
              <a:extLst>
                <a:ext uri="{FF2B5EF4-FFF2-40B4-BE49-F238E27FC236}">
                  <a16:creationId xmlns:a16="http://schemas.microsoft.com/office/drawing/2014/main" id="{FEA0BF70-7EBD-A742-8CC9-9C300F2E8553}"/>
                </a:ext>
              </a:extLst>
            </p:cNvPr>
            <p:cNvSpPr/>
            <p:nvPr/>
          </p:nvSpPr>
          <p:spPr>
            <a:xfrm rot="4315882">
              <a:off x="5359936" y="1077213"/>
              <a:ext cx="1166084" cy="1226766"/>
            </a:xfrm>
            <a:prstGeom prst="circularArrow">
              <a:avLst>
                <a:gd name="adj1" fmla="val 18161"/>
                <a:gd name="adj2" fmla="val 2382103"/>
                <a:gd name="adj3" fmla="val 18659249"/>
                <a:gd name="adj4" fmla="val 11944252"/>
                <a:gd name="adj5" fmla="val 17877"/>
              </a:avLst>
            </a:prstGeom>
            <a:solidFill>
              <a:schemeClr val="accent4">
                <a:lumMod val="20000"/>
                <a:lumOff val="80000"/>
                <a:alpha val="90000"/>
              </a:schemeClr>
            </a:solidFill>
            <a:ln w="25400">
              <a:solidFill>
                <a:schemeClr val="accent4">
                  <a:alpha val="8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>
                <a:solidFill>
                  <a:schemeClr val="tx1"/>
                </a:solidFill>
              </a:endParaRPr>
            </a:p>
          </p:txBody>
        </p:sp>
        <p:sp>
          <p:nvSpPr>
            <p:cNvPr id="186" name="標題 1">
              <a:extLst>
                <a:ext uri="{FF2B5EF4-FFF2-40B4-BE49-F238E27FC236}">
                  <a16:creationId xmlns:a16="http://schemas.microsoft.com/office/drawing/2014/main" id="{0FFD7938-CD99-26BD-A957-E32772382223}"/>
                </a:ext>
              </a:extLst>
            </p:cNvPr>
            <p:cNvSpPr txBox="1">
              <a:spLocks/>
            </p:cNvSpPr>
            <p:nvPr/>
          </p:nvSpPr>
          <p:spPr>
            <a:xfrm>
              <a:off x="6139924" y="1628800"/>
              <a:ext cx="664324" cy="165503"/>
            </a:xfrm>
            <a:prstGeom prst="rect">
              <a:avLst/>
            </a:prstGeom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altLang="zh-TW" sz="1000" b="1" dirty="0">
                  <a:solidFill>
                    <a:srgbClr val="7030A0"/>
                  </a:solidFill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Action</a:t>
              </a:r>
            </a:p>
          </p:txBody>
        </p:sp>
        <p:sp>
          <p:nvSpPr>
            <p:cNvPr id="187" name="標題 1">
              <a:extLst>
                <a:ext uri="{FF2B5EF4-FFF2-40B4-BE49-F238E27FC236}">
                  <a16:creationId xmlns:a16="http://schemas.microsoft.com/office/drawing/2014/main" id="{B6C6F9F4-0E3F-7257-9525-F04F9A2303B1}"/>
                </a:ext>
              </a:extLst>
            </p:cNvPr>
            <p:cNvSpPr txBox="1">
              <a:spLocks/>
            </p:cNvSpPr>
            <p:nvPr/>
          </p:nvSpPr>
          <p:spPr>
            <a:xfrm>
              <a:off x="5292080" y="1916832"/>
              <a:ext cx="664324" cy="165503"/>
            </a:xfrm>
            <a:prstGeom prst="rect">
              <a:avLst/>
            </a:prstGeom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altLang="zh-TW" sz="1000" b="1" dirty="0"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Observation</a:t>
              </a:r>
            </a:p>
          </p:txBody>
        </p:sp>
        <p:sp>
          <p:nvSpPr>
            <p:cNvPr id="188" name="箭號: 圓形 187">
              <a:extLst>
                <a:ext uri="{FF2B5EF4-FFF2-40B4-BE49-F238E27FC236}">
                  <a16:creationId xmlns:a16="http://schemas.microsoft.com/office/drawing/2014/main" id="{16E113E6-FF08-E353-9086-B083C7EDECBD}"/>
                </a:ext>
              </a:extLst>
            </p:cNvPr>
            <p:cNvSpPr/>
            <p:nvPr/>
          </p:nvSpPr>
          <p:spPr>
            <a:xfrm rot="19383568">
              <a:off x="5393262" y="1082969"/>
              <a:ext cx="1166084" cy="1226766"/>
            </a:xfrm>
            <a:prstGeom prst="circularArrow">
              <a:avLst>
                <a:gd name="adj1" fmla="val 18161"/>
                <a:gd name="adj2" fmla="val 2382103"/>
                <a:gd name="adj3" fmla="val 18659249"/>
                <a:gd name="adj4" fmla="val 11944252"/>
                <a:gd name="adj5" fmla="val 17877"/>
              </a:avLst>
            </a:prstGeom>
            <a:solidFill>
              <a:schemeClr val="accent1">
                <a:lumMod val="20000"/>
                <a:lumOff val="80000"/>
                <a:alpha val="70000"/>
              </a:schemeClr>
            </a:solidFill>
            <a:ln w="25400">
              <a:solidFill>
                <a:schemeClr val="accent1">
                  <a:alpha val="8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89" name="標題 1">
              <a:extLst>
                <a:ext uri="{FF2B5EF4-FFF2-40B4-BE49-F238E27FC236}">
                  <a16:creationId xmlns:a16="http://schemas.microsoft.com/office/drawing/2014/main" id="{CC273686-22A7-2490-7447-FE46D2286C97}"/>
                </a:ext>
              </a:extLst>
            </p:cNvPr>
            <p:cNvSpPr txBox="1">
              <a:spLocks/>
            </p:cNvSpPr>
            <p:nvPr/>
          </p:nvSpPr>
          <p:spPr>
            <a:xfrm>
              <a:off x="5437150" y="1225751"/>
              <a:ext cx="664324" cy="165503"/>
            </a:xfrm>
            <a:prstGeom prst="rect">
              <a:avLst/>
            </a:prstGeom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altLang="zh-TW" sz="1000" b="1" dirty="0">
                  <a:solidFill>
                    <a:schemeClr val="tx2">
                      <a:lumMod val="75000"/>
                    </a:schemeClr>
                  </a:solidFill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Thought</a:t>
              </a:r>
            </a:p>
          </p:txBody>
        </p:sp>
      </p:grpSp>
      <p:cxnSp>
        <p:nvCxnSpPr>
          <p:cNvPr id="4" name="接點: 肘形 3">
            <a:extLst>
              <a:ext uri="{FF2B5EF4-FFF2-40B4-BE49-F238E27FC236}">
                <a16:creationId xmlns:a16="http://schemas.microsoft.com/office/drawing/2014/main" id="{A81EE32D-9554-29B8-CE12-008BDF9D2985}"/>
              </a:ext>
            </a:extLst>
          </p:cNvPr>
          <p:cNvCxnSpPr>
            <a:cxnSpLocks/>
            <a:stCxn id="6" idx="0"/>
            <a:endCxn id="59" idx="0"/>
          </p:cNvCxnSpPr>
          <p:nvPr/>
        </p:nvCxnSpPr>
        <p:spPr>
          <a:xfrm rot="5400000" flipH="1" flipV="1">
            <a:off x="2538978" y="3753335"/>
            <a:ext cx="1008113" cy="215427"/>
          </a:xfrm>
          <a:prstGeom prst="bentConnector3">
            <a:avLst>
              <a:gd name="adj1" fmla="val 50000"/>
            </a:avLst>
          </a:prstGeom>
          <a:ln>
            <a:solidFill>
              <a:schemeClr val="bg1">
                <a:lumMod val="6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144843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: 圓角 16">
            <a:extLst>
              <a:ext uri="{FF2B5EF4-FFF2-40B4-BE49-F238E27FC236}">
                <a16:creationId xmlns:a16="http://schemas.microsoft.com/office/drawing/2014/main" id="{2535E2FB-B8F7-47F8-662C-1A5AEEF46AF4}"/>
              </a:ext>
            </a:extLst>
          </p:cNvPr>
          <p:cNvSpPr/>
          <p:nvPr/>
        </p:nvSpPr>
        <p:spPr>
          <a:xfrm>
            <a:off x="6942919" y="3144039"/>
            <a:ext cx="1013457" cy="484890"/>
          </a:xfrm>
          <a:prstGeom prst="roundRect">
            <a:avLst>
              <a:gd name="adj" fmla="val 8706"/>
            </a:avLst>
          </a:prstGeom>
          <a:solidFill>
            <a:schemeClr val="bg1">
              <a:lumMod val="95000"/>
              <a:alpha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>
              <a:lnSpc>
                <a:spcPts val="1200"/>
              </a:lnSpc>
            </a:pPr>
            <a:r>
              <a:rPr lang="en-US" altLang="zh-TW" sz="12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Skill</a:t>
            </a:r>
          </a:p>
          <a:p>
            <a:pPr algn="ctr">
              <a:lnSpc>
                <a:spcPts val="1200"/>
              </a:lnSpc>
            </a:pPr>
            <a:r>
              <a:rPr lang="en-US" altLang="zh-TW" sz="12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Scripts</a:t>
            </a:r>
            <a:endParaRPr lang="zh-TW" altLang="en-US" sz="12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94" name="矩形: 圓角 93">
            <a:extLst>
              <a:ext uri="{FF2B5EF4-FFF2-40B4-BE49-F238E27FC236}">
                <a16:creationId xmlns:a16="http://schemas.microsoft.com/office/drawing/2014/main" id="{246EBEC3-E2E8-7F76-E461-DF6BA0142B33}"/>
              </a:ext>
            </a:extLst>
          </p:cNvPr>
          <p:cNvSpPr/>
          <p:nvPr/>
        </p:nvSpPr>
        <p:spPr>
          <a:xfrm>
            <a:off x="6943030" y="3822338"/>
            <a:ext cx="1013457" cy="481201"/>
          </a:xfrm>
          <a:prstGeom prst="roundRect">
            <a:avLst>
              <a:gd name="adj" fmla="val 8706"/>
            </a:avLst>
          </a:prstGeom>
          <a:solidFill>
            <a:schemeClr val="bg1">
              <a:lumMod val="95000"/>
              <a:alpha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>
              <a:lnSpc>
                <a:spcPts val="1200"/>
              </a:lnSpc>
            </a:pPr>
            <a:r>
              <a:rPr lang="en-US" altLang="zh-TW" sz="12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RAG</a:t>
            </a:r>
            <a:r>
              <a:rPr lang="zh-TW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en-US" altLang="zh-TW" sz="12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MCP</a:t>
            </a:r>
          </a:p>
          <a:p>
            <a:pPr algn="ctr">
              <a:lnSpc>
                <a:spcPts val="1200"/>
              </a:lnSpc>
            </a:pPr>
            <a:r>
              <a:rPr lang="en-US" altLang="zh-TW" sz="12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Server</a:t>
            </a:r>
            <a:endParaRPr lang="zh-TW" altLang="en-US" sz="12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74" name="文字方塊 73">
            <a:extLst>
              <a:ext uri="{FF2B5EF4-FFF2-40B4-BE49-F238E27FC236}">
                <a16:creationId xmlns:a16="http://schemas.microsoft.com/office/drawing/2014/main" id="{9BA05BA6-682F-E714-C62E-DEB3A66638F1}"/>
              </a:ext>
            </a:extLst>
          </p:cNvPr>
          <p:cNvSpPr txBox="1"/>
          <p:nvPr/>
        </p:nvSpPr>
        <p:spPr>
          <a:xfrm>
            <a:off x="2555776" y="2619977"/>
            <a:ext cx="648071" cy="23097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600"/>
              </a:lnSpc>
              <a:buNone/>
            </a:pPr>
            <a:r>
              <a:rPr lang="en-US" altLang="zh-TW" sz="1000" dirty="0">
                <a:latin typeface="Noto Sans HK" panose="020B0200000000000000" pitchFamily="34" charset="-120"/>
                <a:ea typeface="Noto Sans HK" panose="020B0200000000000000" pitchFamily="34" charset="-120"/>
                <a:cs typeface="ADLaM Display" panose="02010000000000000000" pitchFamily="2" charset="0"/>
              </a:rPr>
              <a:t>Get Price</a:t>
            </a:r>
            <a:r>
              <a:rPr lang="zh-TW" altLang="zh-TW" sz="1000" dirty="0"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endParaRPr lang="en-US" altLang="zh-TW" sz="1000" dirty="0">
              <a:latin typeface="Noto Sans HK" panose="020B0200000000000000" pitchFamily="34" charset="-120"/>
              <a:ea typeface="Noto Sans HK" panose="020B0200000000000000" pitchFamily="34" charset="-120"/>
            </a:endParaRPr>
          </a:p>
        </p:txBody>
      </p:sp>
      <p:sp>
        <p:nvSpPr>
          <p:cNvPr id="63" name="矩形: 圓角 62">
            <a:extLst>
              <a:ext uri="{FF2B5EF4-FFF2-40B4-BE49-F238E27FC236}">
                <a16:creationId xmlns:a16="http://schemas.microsoft.com/office/drawing/2014/main" id="{E4FB350E-E1A8-F9B4-5833-A320C32EEA10}"/>
              </a:ext>
            </a:extLst>
          </p:cNvPr>
          <p:cNvSpPr/>
          <p:nvPr/>
        </p:nvSpPr>
        <p:spPr>
          <a:xfrm>
            <a:off x="6943030" y="2488400"/>
            <a:ext cx="1013457" cy="481201"/>
          </a:xfrm>
          <a:prstGeom prst="roundRect">
            <a:avLst>
              <a:gd name="adj" fmla="val 8706"/>
            </a:avLst>
          </a:prstGeom>
          <a:solidFill>
            <a:schemeClr val="accent4">
              <a:lumMod val="20000"/>
              <a:lumOff val="80000"/>
              <a:alpha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Server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4" name="矩形: 圓角 33">
            <a:extLst>
              <a:ext uri="{FF2B5EF4-FFF2-40B4-BE49-F238E27FC236}">
                <a16:creationId xmlns:a16="http://schemas.microsoft.com/office/drawing/2014/main" id="{B8E9871D-CD28-29D2-C3B9-17959FEDFB46}"/>
              </a:ext>
            </a:extLst>
          </p:cNvPr>
          <p:cNvSpPr/>
          <p:nvPr/>
        </p:nvSpPr>
        <p:spPr>
          <a:xfrm>
            <a:off x="6943031" y="1863606"/>
            <a:ext cx="1013457" cy="481201"/>
          </a:xfrm>
          <a:prstGeom prst="roundRect">
            <a:avLst>
              <a:gd name="adj" fmla="val 8706"/>
            </a:avLst>
          </a:prstGeom>
          <a:solidFill>
            <a:schemeClr val="accent5">
              <a:lumMod val="20000"/>
              <a:lumOff val="80000"/>
            </a:schemeClr>
          </a:solidFill>
          <a:ln w="254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5">
                    <a:lumMod val="50000"/>
                  </a:schemeClr>
                </a:solidFill>
              </a:rPr>
              <a:t>Vector</a:t>
            </a:r>
          </a:p>
          <a:p>
            <a:pPr algn="ctr"/>
            <a:r>
              <a:rPr lang="en-US" altLang="zh-TW" sz="1200" b="1" dirty="0">
                <a:solidFill>
                  <a:schemeClr val="accent5">
                    <a:lumMod val="50000"/>
                  </a:schemeClr>
                </a:solidFill>
              </a:rPr>
              <a:t>DB</a:t>
            </a:r>
            <a:endParaRPr lang="zh-TW" altLang="en-US" sz="1200" b="1" dirty="0">
              <a:solidFill>
                <a:schemeClr val="accent5">
                  <a:lumMod val="50000"/>
                </a:schemeClr>
              </a:solidFill>
            </a:endParaRP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E6B6C4F2-3F1E-6AE2-7DFF-8F6FA04D2EDF}"/>
              </a:ext>
            </a:extLst>
          </p:cNvPr>
          <p:cNvSpPr txBox="1"/>
          <p:nvPr/>
        </p:nvSpPr>
        <p:spPr>
          <a:xfrm>
            <a:off x="3779912" y="1700809"/>
            <a:ext cx="1224934" cy="1800199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none" lIns="0" tIns="0" rIns="0" bIns="36000" anchor="b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AI Agent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(PC/NB)</a:t>
            </a:r>
            <a:endParaRPr lang="en-US" altLang="zh-TW" sz="1200" u="none" strike="noStrike" dirty="0">
              <a:effectLst/>
            </a:endParaRPr>
          </a:p>
        </p:txBody>
      </p:sp>
      <p:sp>
        <p:nvSpPr>
          <p:cNvPr id="134" name="矩形: 圓角 133">
            <a:extLst>
              <a:ext uri="{FF2B5EF4-FFF2-40B4-BE49-F238E27FC236}">
                <a16:creationId xmlns:a16="http://schemas.microsoft.com/office/drawing/2014/main" id="{202C397C-75BA-F777-FD3B-5046214DE27F}"/>
              </a:ext>
            </a:extLst>
          </p:cNvPr>
          <p:cNvSpPr/>
          <p:nvPr/>
        </p:nvSpPr>
        <p:spPr>
          <a:xfrm>
            <a:off x="4027099" y="1531881"/>
            <a:ext cx="797767" cy="240935"/>
          </a:xfrm>
          <a:prstGeom prst="roundRect">
            <a:avLst>
              <a:gd name="adj" fmla="val 8706"/>
            </a:avLst>
          </a:prstGeom>
          <a:solidFill>
            <a:schemeClr val="tx1">
              <a:lumMod val="85000"/>
              <a:lumOff val="15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bg1"/>
                </a:solidFill>
              </a:rPr>
              <a:t>MCP Host</a:t>
            </a:r>
            <a:endParaRPr lang="zh-TW" altLang="en-US" sz="1200" b="1" dirty="0">
              <a:solidFill>
                <a:schemeClr val="bg1"/>
              </a:solidFill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7AAD28DF-6498-6387-F96E-656B98F80A89}"/>
              </a:ext>
            </a:extLst>
          </p:cNvPr>
          <p:cNvSpPr txBox="1"/>
          <p:nvPr/>
        </p:nvSpPr>
        <p:spPr>
          <a:xfrm>
            <a:off x="3983838" y="4484209"/>
            <a:ext cx="821797" cy="24093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User</a:t>
            </a:r>
          </a:p>
        </p:txBody>
      </p:sp>
      <p:cxnSp>
        <p:nvCxnSpPr>
          <p:cNvPr id="42" name="直線單箭頭接點 41">
            <a:extLst>
              <a:ext uri="{FF2B5EF4-FFF2-40B4-BE49-F238E27FC236}">
                <a16:creationId xmlns:a16="http://schemas.microsoft.com/office/drawing/2014/main" id="{5C031ACB-F901-E82F-EC14-CA1BE0422B34}"/>
              </a:ext>
            </a:extLst>
          </p:cNvPr>
          <p:cNvCxnSpPr>
            <a:cxnSpLocks/>
            <a:stCxn id="9" idx="0"/>
            <a:endCxn id="16" idx="2"/>
          </p:cNvCxnSpPr>
          <p:nvPr/>
        </p:nvCxnSpPr>
        <p:spPr>
          <a:xfrm flipH="1" flipV="1">
            <a:off x="4392379" y="3501008"/>
            <a:ext cx="2358" cy="983201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4" name="圖形 23" descr="資料庫 外框">
            <a:extLst>
              <a:ext uri="{FF2B5EF4-FFF2-40B4-BE49-F238E27FC236}">
                <a16:creationId xmlns:a16="http://schemas.microsoft.com/office/drawing/2014/main" id="{D596727D-E562-6026-F9B1-9D1D9C42560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961289" y="1914314"/>
            <a:ext cx="364339" cy="379784"/>
          </a:xfrm>
          <a:prstGeom prst="rect">
            <a:avLst/>
          </a:prstGeom>
          <a:effectLst>
            <a:glow rad="127000">
              <a:schemeClr val="accent5">
                <a:lumMod val="20000"/>
                <a:lumOff val="80000"/>
              </a:schemeClr>
            </a:glow>
          </a:effectLst>
        </p:spPr>
      </p:pic>
      <p:sp>
        <p:nvSpPr>
          <p:cNvPr id="61" name="文字方塊 60">
            <a:extLst>
              <a:ext uri="{FF2B5EF4-FFF2-40B4-BE49-F238E27FC236}">
                <a16:creationId xmlns:a16="http://schemas.microsoft.com/office/drawing/2014/main" id="{5CBD3571-7A57-2216-0FE5-E2ABCD70BF10}"/>
              </a:ext>
            </a:extLst>
          </p:cNvPr>
          <p:cNvSpPr txBox="1"/>
          <p:nvPr/>
        </p:nvSpPr>
        <p:spPr>
          <a:xfrm>
            <a:off x="8014078" y="2580364"/>
            <a:ext cx="634243" cy="319529"/>
          </a:xfrm>
          <a:prstGeom prst="rect">
            <a:avLst/>
          </a:prstGeom>
          <a:noFill/>
        </p:spPr>
        <p:txBody>
          <a:bodyPr wrap="none" lIns="36000" tIns="0" rIns="0" bIns="0" anchor="ctr" anchorCtr="0">
            <a:noAutofit/>
          </a:bodyPr>
          <a:lstStyle/>
          <a:p>
            <a:pPr>
              <a:lnSpc>
                <a:spcPts val="12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Real-Time</a:t>
            </a:r>
          </a:p>
          <a:p>
            <a:pPr>
              <a:lnSpc>
                <a:spcPts val="12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Message</a:t>
            </a:r>
          </a:p>
        </p:txBody>
      </p:sp>
      <p:sp>
        <p:nvSpPr>
          <p:cNvPr id="89" name="矩形: 圓角 88">
            <a:extLst>
              <a:ext uri="{FF2B5EF4-FFF2-40B4-BE49-F238E27FC236}">
                <a16:creationId xmlns:a16="http://schemas.microsoft.com/office/drawing/2014/main" id="{C35C377F-104F-EB33-BFCB-9776ED9FED54}"/>
              </a:ext>
            </a:extLst>
          </p:cNvPr>
          <p:cNvSpPr/>
          <p:nvPr/>
        </p:nvSpPr>
        <p:spPr>
          <a:xfrm>
            <a:off x="5436096" y="2490721"/>
            <a:ext cx="504689" cy="488364"/>
          </a:xfrm>
          <a:prstGeom prst="roundRect">
            <a:avLst>
              <a:gd name="adj" fmla="val 8706"/>
            </a:avLst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92" name="矩形: 圓角 91">
            <a:extLst>
              <a:ext uri="{FF2B5EF4-FFF2-40B4-BE49-F238E27FC236}">
                <a16:creationId xmlns:a16="http://schemas.microsoft.com/office/drawing/2014/main" id="{0F1F2219-D782-334F-44BA-F7E58D8E34C3}"/>
              </a:ext>
            </a:extLst>
          </p:cNvPr>
          <p:cNvSpPr/>
          <p:nvPr/>
        </p:nvSpPr>
        <p:spPr>
          <a:xfrm>
            <a:off x="5436096" y="3140967"/>
            <a:ext cx="504689" cy="487962"/>
          </a:xfrm>
          <a:prstGeom prst="roundRect">
            <a:avLst>
              <a:gd name="adj" fmla="val 8706"/>
            </a:avLst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102" name="直線單箭頭接點 101">
            <a:extLst>
              <a:ext uri="{FF2B5EF4-FFF2-40B4-BE49-F238E27FC236}">
                <a16:creationId xmlns:a16="http://schemas.microsoft.com/office/drawing/2014/main" id="{B5FECA90-B6A6-D5DE-34B7-0D2458B6B40E}"/>
              </a:ext>
            </a:extLst>
          </p:cNvPr>
          <p:cNvCxnSpPr>
            <a:cxnSpLocks/>
            <a:stCxn id="34" idx="1"/>
            <a:endCxn id="36" idx="3"/>
          </p:cNvCxnSpPr>
          <p:nvPr/>
        </p:nvCxnSpPr>
        <p:spPr>
          <a:xfrm flipH="1">
            <a:off x="5940785" y="2104207"/>
            <a:ext cx="1002246" cy="3582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直線單箭頭接點 106">
            <a:extLst>
              <a:ext uri="{FF2B5EF4-FFF2-40B4-BE49-F238E27FC236}">
                <a16:creationId xmlns:a16="http://schemas.microsoft.com/office/drawing/2014/main" id="{4B3B2844-3ED2-2107-9FA2-DDE0A38496FF}"/>
              </a:ext>
            </a:extLst>
          </p:cNvPr>
          <p:cNvCxnSpPr>
            <a:cxnSpLocks/>
            <a:stCxn id="63" idx="1"/>
            <a:endCxn id="89" idx="3"/>
          </p:cNvCxnSpPr>
          <p:nvPr/>
        </p:nvCxnSpPr>
        <p:spPr>
          <a:xfrm flipH="1">
            <a:off x="5940785" y="2729001"/>
            <a:ext cx="1002245" cy="5902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直線單箭頭接點 107">
            <a:extLst>
              <a:ext uri="{FF2B5EF4-FFF2-40B4-BE49-F238E27FC236}">
                <a16:creationId xmlns:a16="http://schemas.microsoft.com/office/drawing/2014/main" id="{DF5897A3-59AB-2800-B47B-61BAA4BE06CA}"/>
              </a:ext>
            </a:extLst>
          </p:cNvPr>
          <p:cNvCxnSpPr>
            <a:cxnSpLocks/>
            <a:stCxn id="17" idx="1"/>
            <a:endCxn id="92" idx="3"/>
          </p:cNvCxnSpPr>
          <p:nvPr/>
        </p:nvCxnSpPr>
        <p:spPr>
          <a:xfrm flipH="1" flipV="1">
            <a:off x="5940785" y="3384948"/>
            <a:ext cx="1002134" cy="1536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8" name="文字方塊 127">
            <a:extLst>
              <a:ext uri="{FF2B5EF4-FFF2-40B4-BE49-F238E27FC236}">
                <a16:creationId xmlns:a16="http://schemas.microsoft.com/office/drawing/2014/main" id="{ACA7D7BF-DBE4-058F-367A-8356FF5D7ACD}"/>
              </a:ext>
            </a:extLst>
          </p:cNvPr>
          <p:cNvSpPr txBox="1"/>
          <p:nvPr/>
        </p:nvSpPr>
        <p:spPr>
          <a:xfrm>
            <a:off x="6191342" y="1956862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sp>
        <p:nvSpPr>
          <p:cNvPr id="130" name="文字方塊 129">
            <a:extLst>
              <a:ext uri="{FF2B5EF4-FFF2-40B4-BE49-F238E27FC236}">
                <a16:creationId xmlns:a16="http://schemas.microsoft.com/office/drawing/2014/main" id="{DCAF35C5-5518-CDF2-1AC5-4528F8B47E2A}"/>
              </a:ext>
            </a:extLst>
          </p:cNvPr>
          <p:cNvSpPr txBox="1"/>
          <p:nvPr/>
        </p:nvSpPr>
        <p:spPr>
          <a:xfrm>
            <a:off x="6191342" y="2573886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sp>
        <p:nvSpPr>
          <p:cNvPr id="132" name="文字方塊 131">
            <a:extLst>
              <a:ext uri="{FF2B5EF4-FFF2-40B4-BE49-F238E27FC236}">
                <a16:creationId xmlns:a16="http://schemas.microsoft.com/office/drawing/2014/main" id="{B27DB76A-51FC-8DE5-1DF8-7871A37C702C}"/>
              </a:ext>
            </a:extLst>
          </p:cNvPr>
          <p:cNvSpPr txBox="1"/>
          <p:nvPr/>
        </p:nvSpPr>
        <p:spPr>
          <a:xfrm>
            <a:off x="6191342" y="3233133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sp>
        <p:nvSpPr>
          <p:cNvPr id="27" name="標題 1">
            <a:extLst>
              <a:ext uri="{FF2B5EF4-FFF2-40B4-BE49-F238E27FC236}">
                <a16:creationId xmlns:a16="http://schemas.microsoft.com/office/drawing/2014/main" id="{714FED49-EBEA-804C-277F-87FC8CCB5235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Model Context Protocol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MCP enables AI Agents to </a:t>
            </a: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chemeClr val="accent6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connect</a:t>
            </a: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with </a:t>
            </a:r>
            <a:r>
              <a:rPr kumimoji="0" lang="en-US" altLang="zh-TW" sz="140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external</a:t>
            </a: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tools and data sources.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pic>
        <p:nvPicPr>
          <p:cNvPr id="122" name="圖形 121" descr="科學思想 以實心填滿">
            <a:extLst>
              <a:ext uri="{FF2B5EF4-FFF2-40B4-BE49-F238E27FC236}">
                <a16:creationId xmlns:a16="http://schemas.microsoft.com/office/drawing/2014/main" id="{53EAAAE7-6160-7CCC-5A4B-4BE4A3A490C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104827" y="2517579"/>
            <a:ext cx="623389" cy="623389"/>
          </a:xfrm>
          <a:prstGeom prst="rect">
            <a:avLst/>
          </a:prstGeom>
          <a:effectLst>
            <a:glow rad="50800">
              <a:schemeClr val="accent4">
                <a:lumMod val="20000"/>
                <a:lumOff val="80000"/>
                <a:alpha val="40000"/>
              </a:schemeClr>
            </a:glow>
            <a:softEdge rad="0"/>
          </a:effectLst>
        </p:spPr>
      </p:pic>
      <p:grpSp>
        <p:nvGrpSpPr>
          <p:cNvPr id="174" name="群組 173">
            <a:extLst>
              <a:ext uri="{FF2B5EF4-FFF2-40B4-BE49-F238E27FC236}">
                <a16:creationId xmlns:a16="http://schemas.microsoft.com/office/drawing/2014/main" id="{BEE30526-718C-1AFB-A5C7-9709765E6B51}"/>
              </a:ext>
            </a:extLst>
          </p:cNvPr>
          <p:cNvGrpSpPr/>
          <p:nvPr/>
        </p:nvGrpSpPr>
        <p:grpSpPr>
          <a:xfrm>
            <a:off x="611561" y="1611402"/>
            <a:ext cx="1643158" cy="994885"/>
            <a:chOff x="611560" y="1474120"/>
            <a:chExt cx="1764115" cy="1132167"/>
          </a:xfrm>
        </p:grpSpPr>
        <p:sp>
          <p:nvSpPr>
            <p:cNvPr id="51" name="雲朵形 50">
              <a:extLst>
                <a:ext uri="{FF2B5EF4-FFF2-40B4-BE49-F238E27FC236}">
                  <a16:creationId xmlns:a16="http://schemas.microsoft.com/office/drawing/2014/main" id="{068ED43E-E3BC-FB12-2DE6-452E2E4EDCB0}"/>
                </a:ext>
              </a:extLst>
            </p:cNvPr>
            <p:cNvSpPr/>
            <p:nvPr/>
          </p:nvSpPr>
          <p:spPr>
            <a:xfrm>
              <a:off x="829914" y="1474120"/>
              <a:ext cx="1545761" cy="1132167"/>
            </a:xfrm>
            <a:prstGeom prst="cloud">
              <a:avLst/>
            </a:prstGeom>
            <a:solidFill>
              <a:schemeClr val="accent1">
                <a:lumMod val="20000"/>
                <a:lumOff val="80000"/>
                <a:alpha val="70000"/>
              </a:schemeClr>
            </a:solidFill>
            <a:ln w="508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endParaRPr lang="zh-TW" altLang="en-US" dirty="0">
                <a:solidFill>
                  <a:schemeClr val="tx2"/>
                </a:solidFill>
              </a:endParaRPr>
            </a:p>
          </p:txBody>
        </p:sp>
        <p:sp>
          <p:nvSpPr>
            <p:cNvPr id="159" name="文字方塊 158">
              <a:extLst>
                <a:ext uri="{FF2B5EF4-FFF2-40B4-BE49-F238E27FC236}">
                  <a16:creationId xmlns:a16="http://schemas.microsoft.com/office/drawing/2014/main" id="{A73A3A98-EF76-CBC8-28B7-D5216CD68F70}"/>
                </a:ext>
              </a:extLst>
            </p:cNvPr>
            <p:cNvSpPr txBox="1"/>
            <p:nvPr/>
          </p:nvSpPr>
          <p:spPr>
            <a:xfrm>
              <a:off x="1085518" y="1657807"/>
              <a:ext cx="863628" cy="486484"/>
            </a:xfrm>
            <a:prstGeom prst="rect">
              <a:avLst/>
            </a:prstGeom>
            <a:noFill/>
            <a:ln w="25400">
              <a:noFill/>
            </a:ln>
          </p:spPr>
          <p:txBody>
            <a:bodyPr wrap="none" lIns="504000" tIns="0" rIns="0" bIns="36000" anchor="b" anchorCtr="1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400" b="1" dirty="0"/>
                <a:t>LLM</a:t>
              </a:r>
              <a:endParaRPr lang="en-US" altLang="zh-TW" sz="1200" b="1" dirty="0"/>
            </a:p>
            <a:p>
              <a:pPr>
                <a:lnSpc>
                  <a:spcPts val="1400"/>
                </a:lnSpc>
                <a:buNone/>
              </a:pPr>
              <a:r>
                <a:rPr lang="en-US" altLang="zh-TW" sz="1200" b="1" dirty="0"/>
                <a:t>Model</a:t>
              </a:r>
              <a:endParaRPr lang="en-US" altLang="zh-TW" sz="1400" b="1" dirty="0"/>
            </a:p>
          </p:txBody>
        </p:sp>
        <p:sp>
          <p:nvSpPr>
            <p:cNvPr id="166" name="矩形: 圓角 165">
              <a:extLst>
                <a:ext uri="{FF2B5EF4-FFF2-40B4-BE49-F238E27FC236}">
                  <a16:creationId xmlns:a16="http://schemas.microsoft.com/office/drawing/2014/main" id="{4C2F2724-9C95-61E4-4E18-182C73598EEB}"/>
                </a:ext>
              </a:extLst>
            </p:cNvPr>
            <p:cNvSpPr/>
            <p:nvPr/>
          </p:nvSpPr>
          <p:spPr>
            <a:xfrm>
              <a:off x="973930" y="2176134"/>
              <a:ext cx="1098050" cy="316762"/>
            </a:xfrm>
            <a:prstGeom prst="roundRect">
              <a:avLst>
                <a:gd name="adj" fmla="val 8706"/>
              </a:avLst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algn="ctr"/>
              <a:r>
                <a:rPr lang="en-US" altLang="zh-TW" sz="1200" b="1" dirty="0">
                  <a:solidFill>
                    <a:schemeClr val="bg1"/>
                  </a:solidFill>
                </a:rPr>
                <a:t>Model Engine</a:t>
              </a:r>
              <a:endParaRPr lang="zh-TW" altLang="en-US" sz="1200" b="1" dirty="0">
                <a:solidFill>
                  <a:schemeClr val="bg1"/>
                </a:solidFill>
              </a:endParaRPr>
            </a:p>
          </p:txBody>
        </p:sp>
        <p:pic>
          <p:nvPicPr>
            <p:cNvPr id="7" name="圖片 6">
              <a:extLst>
                <a:ext uri="{FF2B5EF4-FFF2-40B4-BE49-F238E27FC236}">
                  <a16:creationId xmlns:a16="http://schemas.microsoft.com/office/drawing/2014/main" id="{D82BC7A5-7FA1-4BBA-BF68-A20F3FC56D5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11560" y="1916832"/>
              <a:ext cx="434378" cy="426757"/>
            </a:xfrm>
            <a:prstGeom prst="rect">
              <a:avLst/>
            </a:prstGeom>
            <a:effectLst>
              <a:glow rad="63500">
                <a:schemeClr val="accent5">
                  <a:lumMod val="20000"/>
                  <a:lumOff val="80000"/>
                  <a:alpha val="40000"/>
                </a:schemeClr>
              </a:glow>
              <a:softEdge rad="50800"/>
            </a:effectLst>
          </p:spPr>
        </p:pic>
        <p:pic>
          <p:nvPicPr>
            <p:cNvPr id="151" name="圖形 150" descr="原子 以實心填滿">
              <a:extLst>
                <a:ext uri="{FF2B5EF4-FFF2-40B4-BE49-F238E27FC236}">
                  <a16:creationId xmlns:a16="http://schemas.microsoft.com/office/drawing/2014/main" id="{B4A2124C-0737-AE16-69D0-A17BAB91282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1041736" y="1651945"/>
              <a:ext cx="497527" cy="497527"/>
            </a:xfrm>
            <a:prstGeom prst="rect">
              <a:avLst/>
            </a:prstGeom>
          </p:spPr>
        </p:pic>
      </p:grp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5501C6B9-6DCD-10E9-0C12-453A6A83823F}"/>
              </a:ext>
            </a:extLst>
          </p:cNvPr>
          <p:cNvSpPr txBox="1"/>
          <p:nvPr/>
        </p:nvSpPr>
        <p:spPr>
          <a:xfrm>
            <a:off x="213023" y="5048016"/>
            <a:ext cx="7023273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Steps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Initialization &amp; Discovery</a:t>
            </a:r>
            <a:r>
              <a:rPr lang="en-US" altLang="zh-TW" sz="1600" b="0" u="none" strike="noStrike" dirty="0">
                <a:effectLst/>
              </a:rPr>
              <a:t>: MCP server provides tool schemas to the host.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>
                <a:effectLst/>
              </a:rPr>
              <a:t>Reasoning &amp; Tool Call</a:t>
            </a:r>
            <a:r>
              <a:rPr lang="en-US" altLang="zh-TW" sz="1600" b="0" u="none" strike="noStrike" dirty="0">
                <a:effectLst/>
              </a:rPr>
              <a:t>: LLM sends request to MCP server.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Execution &amp; Injection</a:t>
            </a:r>
            <a:r>
              <a:rPr lang="en-US" altLang="zh-TW" sz="1600" dirty="0"/>
              <a:t>: Server returns data to host for LLM context injection.</a:t>
            </a:r>
          </a:p>
        </p:txBody>
      </p:sp>
      <p:sp>
        <p:nvSpPr>
          <p:cNvPr id="36" name="矩形: 圓角 35">
            <a:extLst>
              <a:ext uri="{FF2B5EF4-FFF2-40B4-BE49-F238E27FC236}">
                <a16:creationId xmlns:a16="http://schemas.microsoft.com/office/drawing/2014/main" id="{BCBF1B2A-C695-3EF2-5516-914B7DA9FBC2}"/>
              </a:ext>
            </a:extLst>
          </p:cNvPr>
          <p:cNvSpPr/>
          <p:nvPr/>
        </p:nvSpPr>
        <p:spPr>
          <a:xfrm>
            <a:off x="5436096" y="1863606"/>
            <a:ext cx="504689" cy="488365"/>
          </a:xfrm>
          <a:prstGeom prst="roundRect">
            <a:avLst>
              <a:gd name="adj" fmla="val 8706"/>
            </a:avLst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23" name="直線單箭頭接點 22">
            <a:extLst>
              <a:ext uri="{FF2B5EF4-FFF2-40B4-BE49-F238E27FC236}">
                <a16:creationId xmlns:a16="http://schemas.microsoft.com/office/drawing/2014/main" id="{F42A7713-E02E-4E9D-59E7-AB2551695208}"/>
              </a:ext>
            </a:extLst>
          </p:cNvPr>
          <p:cNvCxnSpPr>
            <a:cxnSpLocks/>
            <a:stCxn id="36" idx="1"/>
            <a:endCxn id="168" idx="3"/>
          </p:cNvCxnSpPr>
          <p:nvPr/>
        </p:nvCxnSpPr>
        <p:spPr>
          <a:xfrm flipH="1">
            <a:off x="3227331" y="2107789"/>
            <a:ext cx="2208765" cy="5942"/>
          </a:xfrm>
          <a:prstGeom prst="straightConnector1">
            <a:avLst/>
          </a:prstGeom>
          <a:ln w="15875">
            <a:solidFill>
              <a:schemeClr val="accent4">
                <a:lumMod val="75000"/>
              </a:schemeClr>
            </a:solidFill>
            <a:prstDash val="sysDash"/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接點: 肘形 7">
            <a:extLst>
              <a:ext uri="{FF2B5EF4-FFF2-40B4-BE49-F238E27FC236}">
                <a16:creationId xmlns:a16="http://schemas.microsoft.com/office/drawing/2014/main" id="{B55E57A6-6BCE-F3CC-1266-7E54981EF350}"/>
              </a:ext>
            </a:extLst>
          </p:cNvPr>
          <p:cNvCxnSpPr>
            <a:cxnSpLocks/>
            <a:stCxn id="70" idx="1"/>
            <a:endCxn id="74" idx="1"/>
          </p:cNvCxnSpPr>
          <p:nvPr/>
        </p:nvCxnSpPr>
        <p:spPr>
          <a:xfrm rot="10800000" flipV="1">
            <a:off x="2555776" y="2271269"/>
            <a:ext cx="546964" cy="464195"/>
          </a:xfrm>
          <a:prstGeom prst="bentConnector3">
            <a:avLst>
              <a:gd name="adj1" fmla="val 141794"/>
            </a:avLst>
          </a:prstGeom>
          <a:ln w="15875">
            <a:solidFill>
              <a:schemeClr val="accent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0" name="圖形 29" descr="統計 以實心填滿">
            <a:extLst>
              <a:ext uri="{FF2B5EF4-FFF2-40B4-BE49-F238E27FC236}">
                <a16:creationId xmlns:a16="http://schemas.microsoft.com/office/drawing/2014/main" id="{2F417CFC-C08D-8AC7-FE07-C2FDB338322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961289" y="2564904"/>
            <a:ext cx="361524" cy="319529"/>
          </a:xfrm>
          <a:prstGeom prst="rect">
            <a:avLst/>
          </a:prstGeom>
          <a:effectLst>
            <a:glow rad="12700">
              <a:schemeClr val="accent4">
                <a:lumMod val="60000"/>
                <a:lumOff val="40000"/>
              </a:schemeClr>
            </a:glow>
          </a:effectLst>
        </p:spPr>
      </p:pic>
      <p:cxnSp>
        <p:nvCxnSpPr>
          <p:cNvPr id="52" name="直線單箭頭接點 51">
            <a:extLst>
              <a:ext uri="{FF2B5EF4-FFF2-40B4-BE49-F238E27FC236}">
                <a16:creationId xmlns:a16="http://schemas.microsoft.com/office/drawing/2014/main" id="{CF35FAE4-219A-F7C6-6930-F22BA619A0E6}"/>
              </a:ext>
            </a:extLst>
          </p:cNvPr>
          <p:cNvCxnSpPr>
            <a:cxnSpLocks/>
            <a:stCxn id="74" idx="3"/>
            <a:endCxn id="89" idx="1"/>
          </p:cNvCxnSpPr>
          <p:nvPr/>
        </p:nvCxnSpPr>
        <p:spPr>
          <a:xfrm flipV="1">
            <a:off x="3203847" y="2734903"/>
            <a:ext cx="2232249" cy="562"/>
          </a:xfrm>
          <a:prstGeom prst="straightConnector1">
            <a:avLst/>
          </a:prstGeom>
          <a:ln w="15875">
            <a:solidFill>
              <a:schemeClr val="accent4">
                <a:lumMod val="75000"/>
              </a:schemeClr>
            </a:solidFill>
            <a:prstDash val="sys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文字方塊 69">
            <a:extLst>
              <a:ext uri="{FF2B5EF4-FFF2-40B4-BE49-F238E27FC236}">
                <a16:creationId xmlns:a16="http://schemas.microsoft.com/office/drawing/2014/main" id="{AA224E60-31D4-446D-E4BA-7E52EEE0F947}"/>
              </a:ext>
            </a:extLst>
          </p:cNvPr>
          <p:cNvSpPr txBox="1"/>
          <p:nvPr/>
        </p:nvSpPr>
        <p:spPr>
          <a:xfrm>
            <a:off x="3102740" y="2174610"/>
            <a:ext cx="461148" cy="193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600"/>
              </a:lnSpc>
              <a:buNone/>
            </a:pPr>
            <a:r>
              <a:rPr lang="en-US" altLang="zh-TW" sz="1000" u="none" strike="noStrike" dirty="0">
                <a:effectLst/>
                <a:latin typeface="Noto Sans HK" panose="020B0200000000000000" pitchFamily="34" charset="-120"/>
                <a:ea typeface="Noto Sans HK" panose="020B0200000000000000" pitchFamily="34" charset="-120"/>
                <a:cs typeface="ADLaM Display" panose="02010000000000000000" pitchFamily="2" charset="0"/>
              </a:rPr>
              <a:t>Result</a:t>
            </a:r>
          </a:p>
        </p:txBody>
      </p:sp>
      <p:sp>
        <p:nvSpPr>
          <p:cNvPr id="82" name="文字方塊 81">
            <a:extLst>
              <a:ext uri="{FF2B5EF4-FFF2-40B4-BE49-F238E27FC236}">
                <a16:creationId xmlns:a16="http://schemas.microsoft.com/office/drawing/2014/main" id="{063C9627-CD4E-2780-7259-9B95B68D7DF5}"/>
              </a:ext>
            </a:extLst>
          </p:cNvPr>
          <p:cNvSpPr txBox="1"/>
          <p:nvPr/>
        </p:nvSpPr>
        <p:spPr>
          <a:xfrm>
            <a:off x="8014078" y="1948870"/>
            <a:ext cx="634243" cy="319529"/>
          </a:xfrm>
          <a:prstGeom prst="rect">
            <a:avLst/>
          </a:prstGeom>
          <a:noFill/>
        </p:spPr>
        <p:txBody>
          <a:bodyPr wrap="none" lIns="36000" tIns="0" rIns="0" bIns="0" anchor="ctr" anchorCtr="0">
            <a:noAutofit/>
          </a:bodyPr>
          <a:lstStyle/>
          <a:p>
            <a:pPr>
              <a:lnSpc>
                <a:spcPts val="12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Accurate Data</a:t>
            </a:r>
          </a:p>
          <a:p>
            <a:pPr>
              <a:lnSpc>
                <a:spcPts val="12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and Rules</a:t>
            </a:r>
          </a:p>
        </p:txBody>
      </p:sp>
      <p:sp>
        <p:nvSpPr>
          <p:cNvPr id="95" name="矩形: 圓角 94">
            <a:extLst>
              <a:ext uri="{FF2B5EF4-FFF2-40B4-BE49-F238E27FC236}">
                <a16:creationId xmlns:a16="http://schemas.microsoft.com/office/drawing/2014/main" id="{A9F366E9-4DE1-405D-D23C-15394384EFC8}"/>
              </a:ext>
            </a:extLst>
          </p:cNvPr>
          <p:cNvSpPr/>
          <p:nvPr/>
        </p:nvSpPr>
        <p:spPr>
          <a:xfrm>
            <a:off x="5436095" y="3811575"/>
            <a:ext cx="504689" cy="488364"/>
          </a:xfrm>
          <a:prstGeom prst="roundRect">
            <a:avLst>
              <a:gd name="adj" fmla="val 8706"/>
            </a:avLst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96" name="直線單箭頭接點 95">
            <a:extLst>
              <a:ext uri="{FF2B5EF4-FFF2-40B4-BE49-F238E27FC236}">
                <a16:creationId xmlns:a16="http://schemas.microsoft.com/office/drawing/2014/main" id="{8DA46341-076C-9538-5F65-7772C9BF8E97}"/>
              </a:ext>
            </a:extLst>
          </p:cNvPr>
          <p:cNvCxnSpPr>
            <a:cxnSpLocks/>
            <a:stCxn id="94" idx="1"/>
            <a:endCxn id="95" idx="3"/>
          </p:cNvCxnSpPr>
          <p:nvPr/>
        </p:nvCxnSpPr>
        <p:spPr>
          <a:xfrm flipH="1" flipV="1">
            <a:off x="5940784" y="4055757"/>
            <a:ext cx="1002246" cy="7182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文字方塊 96">
            <a:extLst>
              <a:ext uri="{FF2B5EF4-FFF2-40B4-BE49-F238E27FC236}">
                <a16:creationId xmlns:a16="http://schemas.microsoft.com/office/drawing/2014/main" id="{5ECE1A84-39B0-E184-406D-098D2F900FB8}"/>
              </a:ext>
            </a:extLst>
          </p:cNvPr>
          <p:cNvSpPr txBox="1"/>
          <p:nvPr/>
        </p:nvSpPr>
        <p:spPr>
          <a:xfrm>
            <a:off x="6191341" y="3908413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pic>
        <p:nvPicPr>
          <p:cNvPr id="98" name="圖形 97" descr="放大鏡 以實心填滿">
            <a:extLst>
              <a:ext uri="{FF2B5EF4-FFF2-40B4-BE49-F238E27FC236}">
                <a16:creationId xmlns:a16="http://schemas.microsoft.com/office/drawing/2014/main" id="{ED47DEB0-7937-1899-CCAB-0CF8E52A47E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 flipH="1">
            <a:off x="7730429" y="4006957"/>
            <a:ext cx="429694" cy="421999"/>
          </a:xfrm>
          <a:prstGeom prst="rect">
            <a:avLst/>
          </a:prstGeom>
          <a:effectLst>
            <a:glow rad="127000">
              <a:schemeClr val="accent3">
                <a:lumMod val="40000"/>
                <a:lumOff val="60000"/>
                <a:alpha val="40000"/>
              </a:schemeClr>
            </a:glow>
          </a:effectLst>
        </p:spPr>
      </p:pic>
      <p:pic>
        <p:nvPicPr>
          <p:cNvPr id="103" name="圖形 102" descr="卷軸 以實心填滿">
            <a:extLst>
              <a:ext uri="{FF2B5EF4-FFF2-40B4-BE49-F238E27FC236}">
                <a16:creationId xmlns:a16="http://schemas.microsoft.com/office/drawing/2014/main" id="{667ED03B-A7F7-ACC2-A2B1-E2AFC986107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952160" y="3194165"/>
            <a:ext cx="379782" cy="354089"/>
          </a:xfrm>
          <a:prstGeom prst="rect">
            <a:avLst/>
          </a:prstGeom>
          <a:effectLst>
            <a:glow rad="12700">
              <a:schemeClr val="accent1">
                <a:alpha val="40000"/>
              </a:schemeClr>
            </a:glow>
          </a:effectLst>
        </p:spPr>
      </p:pic>
      <p:pic>
        <p:nvPicPr>
          <p:cNvPr id="119" name="圖形 118" descr="伺服器 以實心填滿">
            <a:extLst>
              <a:ext uri="{FF2B5EF4-FFF2-40B4-BE49-F238E27FC236}">
                <a16:creationId xmlns:a16="http://schemas.microsoft.com/office/drawing/2014/main" id="{71DF6DD6-7BC1-EF37-79EB-6ED391AC9D9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982142" y="3902931"/>
            <a:ext cx="318157" cy="318157"/>
          </a:xfrm>
          <a:prstGeom prst="rect">
            <a:avLst/>
          </a:prstGeom>
          <a:effectLst>
            <a:glow rad="12700">
              <a:schemeClr val="accent1">
                <a:alpha val="40000"/>
              </a:schemeClr>
            </a:glow>
          </a:effectLst>
        </p:spPr>
      </p:pic>
      <p:sp>
        <p:nvSpPr>
          <p:cNvPr id="121" name="語音泡泡: 圓角矩形 120">
            <a:extLst>
              <a:ext uri="{FF2B5EF4-FFF2-40B4-BE49-F238E27FC236}">
                <a16:creationId xmlns:a16="http://schemas.microsoft.com/office/drawing/2014/main" id="{E66BF7E8-3B44-838D-11B4-D798918A32E3}"/>
              </a:ext>
            </a:extLst>
          </p:cNvPr>
          <p:cNvSpPr/>
          <p:nvPr/>
        </p:nvSpPr>
        <p:spPr>
          <a:xfrm>
            <a:off x="2878380" y="3778030"/>
            <a:ext cx="1224934" cy="515066"/>
          </a:xfrm>
          <a:prstGeom prst="wedgeRoundRectCallout">
            <a:avLst>
              <a:gd name="adj1" fmla="val 60857"/>
              <a:gd name="adj2" fmla="val 47447"/>
              <a:gd name="adj3" fmla="val 16667"/>
            </a:avLst>
          </a:prstGeom>
          <a:solidFill>
            <a:schemeClr val="bg1">
              <a:alpha val="80000"/>
            </a:schemeClr>
          </a:solidFill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Get me TSMC’s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Earnings report.</a:t>
            </a:r>
            <a:endParaRPr lang="en-US" altLang="zh-TW" sz="1200" dirty="0">
              <a:ln w="0"/>
              <a:solidFill>
                <a:srgbClr val="4F81BD">
                  <a:lumMod val="75000"/>
                </a:srgbClr>
              </a:solidFill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</p:txBody>
      </p:sp>
      <p:cxnSp>
        <p:nvCxnSpPr>
          <p:cNvPr id="125" name="接點: 肘形 124">
            <a:extLst>
              <a:ext uri="{FF2B5EF4-FFF2-40B4-BE49-F238E27FC236}">
                <a16:creationId xmlns:a16="http://schemas.microsoft.com/office/drawing/2014/main" id="{6F975437-D854-70DF-C9D6-44997A400587}"/>
              </a:ext>
            </a:extLst>
          </p:cNvPr>
          <p:cNvCxnSpPr>
            <a:cxnSpLocks/>
            <a:stCxn id="150" idx="1"/>
            <a:endCxn id="181" idx="1"/>
          </p:cNvCxnSpPr>
          <p:nvPr/>
        </p:nvCxnSpPr>
        <p:spPr>
          <a:xfrm rot="10800000" flipV="1">
            <a:off x="2541225" y="2871940"/>
            <a:ext cx="590614" cy="514654"/>
          </a:xfrm>
          <a:prstGeom prst="bentConnector3">
            <a:avLst>
              <a:gd name="adj1" fmla="val 138705"/>
            </a:avLst>
          </a:prstGeom>
          <a:ln w="15875">
            <a:solidFill>
              <a:schemeClr val="accent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0" name="文字方塊 149">
            <a:extLst>
              <a:ext uri="{FF2B5EF4-FFF2-40B4-BE49-F238E27FC236}">
                <a16:creationId xmlns:a16="http://schemas.microsoft.com/office/drawing/2014/main" id="{617B5F58-14B7-E470-F4D6-CDD08C65DB3F}"/>
              </a:ext>
            </a:extLst>
          </p:cNvPr>
          <p:cNvSpPr txBox="1"/>
          <p:nvPr/>
        </p:nvSpPr>
        <p:spPr>
          <a:xfrm>
            <a:off x="3131839" y="2756452"/>
            <a:ext cx="503257" cy="23097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600"/>
              </a:lnSpc>
              <a:buNone/>
            </a:pPr>
            <a:r>
              <a:rPr lang="en-US" altLang="zh-TW" sz="1000" dirty="0">
                <a:latin typeface="Noto Sans HK" panose="020B0200000000000000" pitchFamily="34" charset="-120"/>
                <a:ea typeface="Noto Sans HK" panose="020B0200000000000000" pitchFamily="34" charset="-120"/>
                <a:cs typeface="ADLaM Display" panose="02010000000000000000" pitchFamily="2" charset="0"/>
              </a:rPr>
              <a:t>Result</a:t>
            </a:r>
            <a:endParaRPr lang="en-US" altLang="zh-TW" sz="1000" u="none" strike="noStrike" dirty="0">
              <a:effectLst/>
              <a:highlight>
                <a:srgbClr val="DFD8E8"/>
              </a:highlight>
              <a:latin typeface="Noto Sans HK" panose="020B0200000000000000" pitchFamily="34" charset="-120"/>
              <a:ea typeface="Noto Sans HK" panose="020B0200000000000000" pitchFamily="34" charset="-120"/>
              <a:cs typeface="ADLaM Display" panose="02010000000000000000" pitchFamily="2" charset="0"/>
            </a:endParaRPr>
          </a:p>
        </p:txBody>
      </p:sp>
      <p:sp>
        <p:nvSpPr>
          <p:cNvPr id="168" name="文字方塊 167">
            <a:extLst>
              <a:ext uri="{FF2B5EF4-FFF2-40B4-BE49-F238E27FC236}">
                <a16:creationId xmlns:a16="http://schemas.microsoft.com/office/drawing/2014/main" id="{8D008D54-BFC3-D132-9E53-A6D533AE9D5C}"/>
              </a:ext>
            </a:extLst>
          </p:cNvPr>
          <p:cNvSpPr txBox="1"/>
          <p:nvPr/>
        </p:nvSpPr>
        <p:spPr>
          <a:xfrm>
            <a:off x="2572827" y="1985896"/>
            <a:ext cx="654504" cy="2556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600"/>
              </a:lnSpc>
              <a:buNone/>
            </a:pPr>
            <a:r>
              <a:rPr lang="en-US" altLang="zh-TW" sz="1000" dirty="0">
                <a:latin typeface="Noto Sans HK" panose="020B0200000000000000" pitchFamily="34" charset="-120"/>
                <a:ea typeface="Noto Sans HK" panose="020B0200000000000000" pitchFamily="34" charset="-120"/>
                <a:cs typeface="ADLaM Display" panose="02010000000000000000" pitchFamily="2" charset="0"/>
              </a:rPr>
              <a:t>Retrieve</a:t>
            </a:r>
            <a:endParaRPr lang="en-US" altLang="zh-TW" sz="1000" dirty="0">
              <a:latin typeface="Noto Sans HK" panose="020B0200000000000000" pitchFamily="34" charset="-120"/>
              <a:ea typeface="Noto Sans HK" panose="020B0200000000000000" pitchFamily="34" charset="-120"/>
            </a:endParaRPr>
          </a:p>
        </p:txBody>
      </p:sp>
      <p:sp>
        <p:nvSpPr>
          <p:cNvPr id="181" name="文字方塊 180">
            <a:extLst>
              <a:ext uri="{FF2B5EF4-FFF2-40B4-BE49-F238E27FC236}">
                <a16:creationId xmlns:a16="http://schemas.microsoft.com/office/drawing/2014/main" id="{01584511-5D98-1263-73AB-4BA7623B0CF5}"/>
              </a:ext>
            </a:extLst>
          </p:cNvPr>
          <p:cNvSpPr txBox="1"/>
          <p:nvPr/>
        </p:nvSpPr>
        <p:spPr>
          <a:xfrm>
            <a:off x="2541225" y="3263641"/>
            <a:ext cx="576064" cy="24590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>
              <a:lnSpc>
                <a:spcPts val="1600"/>
              </a:lnSpc>
              <a:buNone/>
            </a:pPr>
            <a:r>
              <a:rPr lang="en-US" altLang="zh-TW" sz="1000" dirty="0">
                <a:latin typeface="Noto Sans HK" panose="020B0200000000000000" pitchFamily="34" charset="-120"/>
                <a:ea typeface="Noto Sans HK" panose="020B0200000000000000" pitchFamily="34" charset="-120"/>
                <a:cs typeface="ADLaM Display" panose="02010000000000000000" pitchFamily="2" charset="0"/>
              </a:rPr>
              <a:t>Action</a:t>
            </a:r>
            <a:endParaRPr lang="en-US" altLang="zh-TW" sz="1000" dirty="0">
              <a:latin typeface="Noto Sans HK" panose="020B0200000000000000" pitchFamily="34" charset="-120"/>
              <a:ea typeface="Noto Sans HK" panose="020B0200000000000000" pitchFamily="34" charset="-120"/>
            </a:endParaRPr>
          </a:p>
        </p:txBody>
      </p:sp>
      <p:cxnSp>
        <p:nvCxnSpPr>
          <p:cNvPr id="229" name="直線單箭頭接點 228">
            <a:extLst>
              <a:ext uri="{FF2B5EF4-FFF2-40B4-BE49-F238E27FC236}">
                <a16:creationId xmlns:a16="http://schemas.microsoft.com/office/drawing/2014/main" id="{7DCFF79B-1787-2F84-3993-6BF66E06D367}"/>
              </a:ext>
            </a:extLst>
          </p:cNvPr>
          <p:cNvCxnSpPr>
            <a:cxnSpLocks/>
            <a:stCxn id="181" idx="3"/>
            <a:endCxn id="92" idx="1"/>
          </p:cNvCxnSpPr>
          <p:nvPr/>
        </p:nvCxnSpPr>
        <p:spPr>
          <a:xfrm flipV="1">
            <a:off x="3117289" y="3384948"/>
            <a:ext cx="2318807" cy="1646"/>
          </a:xfrm>
          <a:prstGeom prst="straightConnector1">
            <a:avLst/>
          </a:prstGeom>
          <a:ln w="15875">
            <a:solidFill>
              <a:schemeClr val="tx1">
                <a:lumMod val="50000"/>
                <a:lumOff val="50000"/>
              </a:schemeClr>
            </a:solidFill>
            <a:prstDash val="sys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1" name="文字方塊 240">
            <a:extLst>
              <a:ext uri="{FF2B5EF4-FFF2-40B4-BE49-F238E27FC236}">
                <a16:creationId xmlns:a16="http://schemas.microsoft.com/office/drawing/2014/main" id="{2E096F5F-5E59-24B9-A111-67D2FA2A0304}"/>
              </a:ext>
            </a:extLst>
          </p:cNvPr>
          <p:cNvSpPr txBox="1"/>
          <p:nvPr/>
        </p:nvSpPr>
        <p:spPr>
          <a:xfrm>
            <a:off x="8042213" y="3253487"/>
            <a:ext cx="634243" cy="319529"/>
          </a:xfrm>
          <a:prstGeom prst="rect">
            <a:avLst/>
          </a:prstGeom>
          <a:noFill/>
        </p:spPr>
        <p:txBody>
          <a:bodyPr wrap="none" lIns="36000" tIns="0" rIns="0" bIns="0" anchor="ctr" anchorCtr="0">
            <a:noAutofit/>
          </a:bodyPr>
          <a:lstStyle/>
          <a:p>
            <a:pPr>
              <a:lnSpc>
                <a:spcPts val="12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Call</a:t>
            </a:r>
          </a:p>
          <a:p>
            <a:pPr>
              <a:lnSpc>
                <a:spcPts val="12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Function</a:t>
            </a: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0737021F-8894-271D-5352-9DCAAE47870F}"/>
              </a:ext>
            </a:extLst>
          </p:cNvPr>
          <p:cNvSpPr txBox="1"/>
          <p:nvPr/>
        </p:nvSpPr>
        <p:spPr>
          <a:xfrm>
            <a:off x="2189968" y="1446628"/>
            <a:ext cx="664958" cy="48154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>
              <a:lnSpc>
                <a:spcPts val="1200"/>
              </a:lnSpc>
              <a:buNone/>
            </a:pPr>
            <a:r>
              <a:rPr lang="en-US" altLang="zh-TW" sz="1200" dirty="0">
                <a:solidFill>
                  <a:schemeClr val="accent1">
                    <a:lumMod val="50000"/>
                  </a:schemeClr>
                </a:solidFill>
                <a:latin typeface="Comic Sans MS" panose="030F0702030302020204" pitchFamily="66" charset="0"/>
                <a:ea typeface="ADLaM Display" panose="02010000000000000000" pitchFamily="2" charset="0"/>
                <a:cs typeface="ADLaM Display" panose="02010000000000000000" pitchFamily="2" charset="0"/>
              </a:rPr>
              <a:t>Semantic</a:t>
            </a:r>
          </a:p>
          <a:p>
            <a:pPr algn="r">
              <a:lnSpc>
                <a:spcPts val="1200"/>
              </a:lnSpc>
              <a:buNone/>
            </a:pPr>
            <a:r>
              <a:rPr lang="en-US" altLang="zh-TW" sz="1200" dirty="0">
                <a:solidFill>
                  <a:schemeClr val="accent1">
                    <a:lumMod val="50000"/>
                  </a:schemeClr>
                </a:solidFill>
                <a:latin typeface="Comic Sans MS" panose="030F0702030302020204" pitchFamily="66" charset="0"/>
                <a:ea typeface="ADLaM Display" panose="02010000000000000000" pitchFamily="2" charset="0"/>
                <a:cs typeface="ADLaM Display" panose="02010000000000000000" pitchFamily="2" charset="0"/>
              </a:rPr>
              <a:t>Search</a:t>
            </a:r>
          </a:p>
        </p:txBody>
      </p:sp>
    </p:spTree>
    <p:extLst>
      <p:ext uri="{BB962C8B-B14F-4D97-AF65-F5344CB8AC3E}">
        <p14:creationId xmlns:p14="http://schemas.microsoft.com/office/powerpoint/2010/main" val="30092789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918276-D0C6-01E6-A681-1240666C02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3" name="直線單箭頭接點 52">
            <a:extLst>
              <a:ext uri="{FF2B5EF4-FFF2-40B4-BE49-F238E27FC236}">
                <a16:creationId xmlns:a16="http://schemas.microsoft.com/office/drawing/2014/main" id="{B2792205-3AA0-7B75-C71F-40708CACFAD1}"/>
              </a:ext>
            </a:extLst>
          </p:cNvPr>
          <p:cNvCxnSpPr>
            <a:cxnSpLocks/>
            <a:stCxn id="43" idx="1"/>
            <a:endCxn id="39" idx="3"/>
          </p:cNvCxnSpPr>
          <p:nvPr/>
        </p:nvCxnSpPr>
        <p:spPr>
          <a:xfrm flipH="1" flipV="1">
            <a:off x="3110981" y="3377389"/>
            <a:ext cx="2324482" cy="7762"/>
          </a:xfrm>
          <a:prstGeom prst="straightConnector1">
            <a:avLst/>
          </a:prstGeom>
          <a:ln w="15875">
            <a:solidFill>
              <a:schemeClr val="tx1">
                <a:lumMod val="50000"/>
                <a:lumOff val="50000"/>
              </a:schemeClr>
            </a:solidFill>
            <a:prstDash val="sys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B6A8BEEF-A7AC-4877-7FC2-EFF0EC3A6A55}"/>
              </a:ext>
            </a:extLst>
          </p:cNvPr>
          <p:cNvSpPr txBox="1"/>
          <p:nvPr/>
        </p:nvSpPr>
        <p:spPr>
          <a:xfrm>
            <a:off x="3779912" y="1700809"/>
            <a:ext cx="1224934" cy="1800199"/>
          </a:xfrm>
          <a:prstGeom prst="rect">
            <a:avLst/>
          </a:prstGeom>
          <a:solidFill>
            <a:schemeClr val="bg1">
              <a:lumMod val="95000"/>
              <a:alpha val="60000"/>
            </a:schemeClr>
          </a:solidFill>
          <a:ln w="25400">
            <a:solidFill>
              <a:schemeClr val="tx1">
                <a:lumMod val="50000"/>
                <a:lumOff val="50000"/>
                <a:alpha val="40000"/>
              </a:schemeClr>
            </a:solidFill>
          </a:ln>
        </p:spPr>
        <p:txBody>
          <a:bodyPr wrap="none" lIns="0" tIns="0" rIns="0" bIns="36000" anchor="b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AI Agent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(PC/NB)</a:t>
            </a:r>
            <a:endParaRPr lang="en-US" altLang="zh-TW" sz="1200" u="none" strike="noStrike" dirty="0">
              <a:effectLst/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BAC03CC8-25FD-DD77-EFCD-8368C75E36C3}"/>
              </a:ext>
            </a:extLst>
          </p:cNvPr>
          <p:cNvSpPr txBox="1"/>
          <p:nvPr/>
        </p:nvSpPr>
        <p:spPr>
          <a:xfrm>
            <a:off x="213023" y="5048016"/>
            <a:ext cx="8751465" cy="10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AI Agent Skills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Autonomous Task Execution:</a:t>
            </a:r>
            <a:r>
              <a:rPr lang="en-US" altLang="zh-TW" sz="1600" dirty="0"/>
              <a:t> Empowers AI to move beyond text and directly trigger actions.</a:t>
            </a:r>
            <a:endParaRPr lang="en-US" altLang="zh-TW" sz="1600" b="0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>
                <a:effectLst/>
              </a:rPr>
              <a:t>Secure Guardrail Enforcement</a:t>
            </a:r>
            <a:r>
              <a:rPr lang="en-US" altLang="zh-TW" sz="1600" b="0" u="none" strike="noStrike" dirty="0">
                <a:effectLst/>
              </a:rPr>
              <a:t>:</a:t>
            </a:r>
            <a:r>
              <a:rPr lang="zh-TW" altLang="en-US" sz="1600" b="0" u="none" strike="noStrike" dirty="0">
                <a:effectLst/>
              </a:rPr>
              <a:t> </a:t>
            </a:r>
            <a:r>
              <a:rPr lang="en-US" altLang="zh-TW" sz="1600" dirty="0"/>
              <a:t>Restricts AI behavior within save boundaries</a:t>
            </a:r>
            <a:r>
              <a:rPr lang="en-US" altLang="zh-TW" sz="1600" b="0" u="none" strike="noStrike" dirty="0">
                <a:effectLst/>
              </a:rPr>
              <a:t>.</a:t>
            </a:r>
          </a:p>
        </p:txBody>
      </p:sp>
      <p:grpSp>
        <p:nvGrpSpPr>
          <p:cNvPr id="19" name="群組 18">
            <a:extLst>
              <a:ext uri="{FF2B5EF4-FFF2-40B4-BE49-F238E27FC236}">
                <a16:creationId xmlns:a16="http://schemas.microsoft.com/office/drawing/2014/main" id="{A240268A-08D1-72C5-DEDE-862B010C1800}"/>
              </a:ext>
            </a:extLst>
          </p:cNvPr>
          <p:cNvGrpSpPr/>
          <p:nvPr/>
        </p:nvGrpSpPr>
        <p:grpSpPr>
          <a:xfrm>
            <a:off x="611561" y="1608119"/>
            <a:ext cx="1643158" cy="994885"/>
            <a:chOff x="611560" y="1474120"/>
            <a:chExt cx="1764115" cy="1132167"/>
          </a:xfrm>
        </p:grpSpPr>
        <p:sp>
          <p:nvSpPr>
            <p:cNvPr id="20" name="雲朵形 19">
              <a:extLst>
                <a:ext uri="{FF2B5EF4-FFF2-40B4-BE49-F238E27FC236}">
                  <a16:creationId xmlns:a16="http://schemas.microsoft.com/office/drawing/2014/main" id="{B443BC11-6CD8-93A3-9CAD-ED23FA535DD1}"/>
                </a:ext>
              </a:extLst>
            </p:cNvPr>
            <p:cNvSpPr/>
            <p:nvPr/>
          </p:nvSpPr>
          <p:spPr>
            <a:xfrm>
              <a:off x="829914" y="1474120"/>
              <a:ext cx="1545761" cy="1132167"/>
            </a:xfrm>
            <a:prstGeom prst="cloud">
              <a:avLst/>
            </a:prstGeom>
            <a:solidFill>
              <a:schemeClr val="accent1">
                <a:lumMod val="20000"/>
                <a:lumOff val="80000"/>
                <a:alpha val="70000"/>
              </a:schemeClr>
            </a:solidFill>
            <a:ln w="508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endParaRPr lang="zh-TW" altLang="en-US" dirty="0">
                <a:solidFill>
                  <a:schemeClr val="tx2"/>
                </a:solidFill>
              </a:endParaRPr>
            </a:p>
          </p:txBody>
        </p:sp>
        <p:sp>
          <p:nvSpPr>
            <p:cNvPr id="21" name="文字方塊 20">
              <a:extLst>
                <a:ext uri="{FF2B5EF4-FFF2-40B4-BE49-F238E27FC236}">
                  <a16:creationId xmlns:a16="http://schemas.microsoft.com/office/drawing/2014/main" id="{CDC53BB1-745C-28C9-2C0E-D684A1D58F55}"/>
                </a:ext>
              </a:extLst>
            </p:cNvPr>
            <p:cNvSpPr txBox="1"/>
            <p:nvPr/>
          </p:nvSpPr>
          <p:spPr>
            <a:xfrm>
              <a:off x="1085518" y="1657807"/>
              <a:ext cx="863628" cy="486484"/>
            </a:xfrm>
            <a:prstGeom prst="rect">
              <a:avLst/>
            </a:prstGeom>
            <a:noFill/>
            <a:ln w="25400">
              <a:noFill/>
            </a:ln>
          </p:spPr>
          <p:txBody>
            <a:bodyPr wrap="none" lIns="504000" tIns="0" rIns="0" bIns="36000" anchor="b" anchorCtr="1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400" b="1" dirty="0"/>
                <a:t>LLM</a:t>
              </a:r>
              <a:endParaRPr lang="en-US" altLang="zh-TW" sz="1200" b="1" dirty="0"/>
            </a:p>
            <a:p>
              <a:pPr>
                <a:lnSpc>
                  <a:spcPts val="1400"/>
                </a:lnSpc>
                <a:buNone/>
              </a:pPr>
              <a:r>
                <a:rPr lang="en-US" altLang="zh-TW" sz="1200" b="1" dirty="0"/>
                <a:t>Model</a:t>
              </a:r>
              <a:endParaRPr lang="en-US" altLang="zh-TW" sz="1400" b="1" dirty="0"/>
            </a:p>
          </p:txBody>
        </p:sp>
        <p:sp>
          <p:nvSpPr>
            <p:cNvPr id="22" name="矩形: 圓角 21">
              <a:extLst>
                <a:ext uri="{FF2B5EF4-FFF2-40B4-BE49-F238E27FC236}">
                  <a16:creationId xmlns:a16="http://schemas.microsoft.com/office/drawing/2014/main" id="{EDF613AB-BC81-FE68-9EB4-CB6A8217F91D}"/>
                </a:ext>
              </a:extLst>
            </p:cNvPr>
            <p:cNvSpPr/>
            <p:nvPr/>
          </p:nvSpPr>
          <p:spPr>
            <a:xfrm>
              <a:off x="973930" y="2176134"/>
              <a:ext cx="1098050" cy="316762"/>
            </a:xfrm>
            <a:prstGeom prst="roundRect">
              <a:avLst>
                <a:gd name="adj" fmla="val 8706"/>
              </a:avLst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algn="ctr"/>
              <a:r>
                <a:rPr lang="en-US" altLang="zh-TW" sz="1200" b="1" dirty="0">
                  <a:solidFill>
                    <a:schemeClr val="bg1"/>
                  </a:solidFill>
                </a:rPr>
                <a:t>Model Engine</a:t>
              </a:r>
              <a:endParaRPr lang="zh-TW" altLang="en-US" sz="1200" b="1" dirty="0">
                <a:solidFill>
                  <a:schemeClr val="bg1"/>
                </a:solidFill>
              </a:endParaRPr>
            </a:p>
          </p:txBody>
        </p:sp>
        <p:pic>
          <p:nvPicPr>
            <p:cNvPr id="23" name="圖片 22">
              <a:extLst>
                <a:ext uri="{FF2B5EF4-FFF2-40B4-BE49-F238E27FC236}">
                  <a16:creationId xmlns:a16="http://schemas.microsoft.com/office/drawing/2014/main" id="{1E5A1D11-8016-FA22-5DDF-98EDEFD495C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11560" y="1916832"/>
              <a:ext cx="434378" cy="426757"/>
            </a:xfrm>
            <a:prstGeom prst="rect">
              <a:avLst/>
            </a:prstGeom>
            <a:effectLst>
              <a:glow rad="63500">
                <a:schemeClr val="accent5">
                  <a:lumMod val="20000"/>
                  <a:lumOff val="80000"/>
                  <a:alpha val="40000"/>
                </a:schemeClr>
              </a:glow>
              <a:softEdge rad="50800"/>
            </a:effectLst>
          </p:spPr>
        </p:pic>
        <p:pic>
          <p:nvPicPr>
            <p:cNvPr id="24" name="圖形 23" descr="原子 以實心填滿">
              <a:extLst>
                <a:ext uri="{FF2B5EF4-FFF2-40B4-BE49-F238E27FC236}">
                  <a16:creationId xmlns:a16="http://schemas.microsoft.com/office/drawing/2014/main" id="{45DF5554-C31D-8B87-5ED6-038581B2760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041736" y="1651945"/>
              <a:ext cx="497527" cy="497527"/>
            </a:xfrm>
            <a:prstGeom prst="rect">
              <a:avLst/>
            </a:prstGeom>
          </p:spPr>
        </p:pic>
      </p:grpSp>
      <p:sp>
        <p:nvSpPr>
          <p:cNvPr id="28" name="標題 1">
            <a:extLst>
              <a:ext uri="{FF2B5EF4-FFF2-40B4-BE49-F238E27FC236}">
                <a16:creationId xmlns:a16="http://schemas.microsoft.com/office/drawing/2014/main" id="{D3E7AE70-36F7-0237-B3F5-AF84E381DE6B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Skill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Skills are dynamic, on-demand SOPs that guide agents using tools.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46C34D94-78AE-3E9A-A03A-2EAA9BA28BBD}"/>
              </a:ext>
            </a:extLst>
          </p:cNvPr>
          <p:cNvSpPr txBox="1"/>
          <p:nvPr/>
        </p:nvSpPr>
        <p:spPr>
          <a:xfrm>
            <a:off x="3983838" y="4484209"/>
            <a:ext cx="821797" cy="24093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User</a:t>
            </a:r>
          </a:p>
        </p:txBody>
      </p:sp>
      <p:cxnSp>
        <p:nvCxnSpPr>
          <p:cNvPr id="32" name="直線單箭頭接點 31">
            <a:extLst>
              <a:ext uri="{FF2B5EF4-FFF2-40B4-BE49-F238E27FC236}">
                <a16:creationId xmlns:a16="http://schemas.microsoft.com/office/drawing/2014/main" id="{DCF40326-B2CE-D08E-6915-55182B1D1102}"/>
              </a:ext>
            </a:extLst>
          </p:cNvPr>
          <p:cNvCxnSpPr>
            <a:cxnSpLocks/>
            <a:stCxn id="31" idx="0"/>
            <a:endCxn id="29" idx="2"/>
          </p:cNvCxnSpPr>
          <p:nvPr/>
        </p:nvCxnSpPr>
        <p:spPr>
          <a:xfrm flipH="1" flipV="1">
            <a:off x="4392379" y="3501008"/>
            <a:ext cx="2358" cy="983201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矩形: 圓角 42">
            <a:extLst>
              <a:ext uri="{FF2B5EF4-FFF2-40B4-BE49-F238E27FC236}">
                <a16:creationId xmlns:a16="http://schemas.microsoft.com/office/drawing/2014/main" id="{E59D2E4D-FED7-E499-36FC-4B36CAA95705}"/>
              </a:ext>
            </a:extLst>
          </p:cNvPr>
          <p:cNvSpPr/>
          <p:nvPr/>
        </p:nvSpPr>
        <p:spPr>
          <a:xfrm>
            <a:off x="5435463" y="3140968"/>
            <a:ext cx="504689" cy="488365"/>
          </a:xfrm>
          <a:prstGeom prst="roundRect">
            <a:avLst>
              <a:gd name="adj" fmla="val 8706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bg1">
                <a:lumMod val="85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50000"/>
                  </a:schemeClr>
                </a:solidFill>
              </a:rPr>
              <a:t>Skill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50000"/>
                  </a:schemeClr>
                </a:solidFill>
              </a:rPr>
              <a:t>Scripts</a:t>
            </a:r>
            <a:endParaRPr lang="zh-TW" altLang="en-US" sz="1200" b="1" dirty="0">
              <a:solidFill>
                <a:schemeClr val="accent4">
                  <a:lumMod val="50000"/>
                </a:schemeClr>
              </a:solidFill>
            </a:endParaRPr>
          </a:p>
        </p:txBody>
      </p:sp>
      <p:pic>
        <p:nvPicPr>
          <p:cNvPr id="46" name="圖形 45" descr="卷軸 以實心填滿">
            <a:extLst>
              <a:ext uri="{FF2B5EF4-FFF2-40B4-BE49-F238E27FC236}">
                <a16:creationId xmlns:a16="http://schemas.microsoft.com/office/drawing/2014/main" id="{57D7CD8C-80CC-F36D-8780-7AF090203F7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990987" y="3231323"/>
            <a:ext cx="379782" cy="354089"/>
          </a:xfrm>
          <a:prstGeom prst="rect">
            <a:avLst/>
          </a:prstGeom>
        </p:spPr>
      </p:pic>
      <p:sp>
        <p:nvSpPr>
          <p:cNvPr id="14" name="語音泡泡: 圓角矩形 13">
            <a:extLst>
              <a:ext uri="{FF2B5EF4-FFF2-40B4-BE49-F238E27FC236}">
                <a16:creationId xmlns:a16="http://schemas.microsoft.com/office/drawing/2014/main" id="{CB345992-DE5F-A7FB-7DF7-6DACD25830F6}"/>
              </a:ext>
            </a:extLst>
          </p:cNvPr>
          <p:cNvSpPr/>
          <p:nvPr/>
        </p:nvSpPr>
        <p:spPr>
          <a:xfrm>
            <a:off x="3233339" y="1593282"/>
            <a:ext cx="2016224" cy="252220"/>
          </a:xfrm>
          <a:prstGeom prst="wedgeRoundRectCallout">
            <a:avLst>
              <a:gd name="adj1" fmla="val -57123"/>
              <a:gd name="adj2" fmla="val -47476"/>
              <a:gd name="adj3" fmla="val 16667"/>
            </a:avLst>
          </a:prstGeom>
          <a:solidFill>
            <a:schemeClr val="bg1">
              <a:alpha val="80000"/>
            </a:schemeClr>
          </a:solidFill>
          <a:ln w="19050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0" rIns="0" bIns="0" rtlCol="0" anchor="ctr"/>
          <a:lstStyle/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  <a:solidFill>
                  <a:schemeClr val="accent1">
                    <a:lumMod val="75000"/>
                  </a:schemeClr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Search TSMC.</a:t>
            </a:r>
          </a:p>
        </p:txBody>
      </p:sp>
      <p:sp>
        <p:nvSpPr>
          <p:cNvPr id="34" name="語音泡泡: 圓角矩形 33">
            <a:extLst>
              <a:ext uri="{FF2B5EF4-FFF2-40B4-BE49-F238E27FC236}">
                <a16:creationId xmlns:a16="http://schemas.microsoft.com/office/drawing/2014/main" id="{C58512F8-827C-6573-B915-D87B2B70F5B7}"/>
              </a:ext>
            </a:extLst>
          </p:cNvPr>
          <p:cNvSpPr/>
          <p:nvPr/>
        </p:nvSpPr>
        <p:spPr>
          <a:xfrm>
            <a:off x="2878380" y="3778030"/>
            <a:ext cx="1224934" cy="515066"/>
          </a:xfrm>
          <a:prstGeom prst="wedgeRoundRectCallout">
            <a:avLst>
              <a:gd name="adj1" fmla="val 60857"/>
              <a:gd name="adj2" fmla="val 47447"/>
              <a:gd name="adj3" fmla="val 16667"/>
            </a:avLst>
          </a:prstGeom>
          <a:solidFill>
            <a:schemeClr val="bg1">
              <a:alpha val="80000"/>
            </a:schemeClr>
          </a:solidFill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Get me TSMC’s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Earnings report.</a:t>
            </a:r>
            <a:endParaRPr lang="en-US" altLang="zh-TW" sz="1200" dirty="0">
              <a:ln w="0"/>
              <a:solidFill>
                <a:srgbClr val="4F81BD">
                  <a:lumMod val="75000"/>
                </a:srgbClr>
              </a:solidFill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</p:txBody>
      </p:sp>
      <p:grpSp>
        <p:nvGrpSpPr>
          <p:cNvPr id="54" name="群組 53">
            <a:extLst>
              <a:ext uri="{FF2B5EF4-FFF2-40B4-BE49-F238E27FC236}">
                <a16:creationId xmlns:a16="http://schemas.microsoft.com/office/drawing/2014/main" id="{E177492D-9542-526B-840B-EC616526CF71}"/>
              </a:ext>
            </a:extLst>
          </p:cNvPr>
          <p:cNvGrpSpPr/>
          <p:nvPr/>
        </p:nvGrpSpPr>
        <p:grpSpPr>
          <a:xfrm>
            <a:off x="1996959" y="3159987"/>
            <a:ext cx="1114022" cy="701061"/>
            <a:chOff x="2881914" y="3789040"/>
            <a:chExt cx="1114022" cy="701061"/>
          </a:xfrm>
        </p:grpSpPr>
        <p:sp>
          <p:nvSpPr>
            <p:cNvPr id="39" name="語音泡泡: 圓角矩形 38">
              <a:extLst>
                <a:ext uri="{FF2B5EF4-FFF2-40B4-BE49-F238E27FC236}">
                  <a16:creationId xmlns:a16="http://schemas.microsoft.com/office/drawing/2014/main" id="{2804A24D-B98B-EC9F-CB2F-3D51D45D538F}"/>
                </a:ext>
              </a:extLst>
            </p:cNvPr>
            <p:cNvSpPr/>
            <p:nvPr/>
          </p:nvSpPr>
          <p:spPr>
            <a:xfrm>
              <a:off x="2881914" y="3789040"/>
              <a:ext cx="1114022" cy="434804"/>
            </a:xfrm>
            <a:prstGeom prst="wedgeRoundRectCallout">
              <a:avLst>
                <a:gd name="adj1" fmla="val -61512"/>
                <a:gd name="adj2" fmla="val -50054"/>
                <a:gd name="adj3" fmla="val 16667"/>
              </a:avLst>
            </a:prstGeom>
            <a:solidFill>
              <a:schemeClr val="bg1">
                <a:alpha val="80000"/>
              </a:schemeClr>
            </a:solidFill>
            <a:ln w="38100"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i="0" u="none" strike="noStrike" kern="1200" cap="none" spc="0" normalizeH="0" baseline="0" noProof="0" dirty="0">
                  <a:ln w="0"/>
                  <a:solidFill>
                    <a:prstClr val="black"/>
                  </a:solidFill>
                  <a:effectLst/>
                  <a:uLnTx/>
                  <a:uFillTx/>
                  <a:latin typeface="Comic Sans MS" panose="030F0702030302020204" pitchFamily="66" charset="0"/>
                  <a:ea typeface="新細明體" panose="02020500000000000000" pitchFamily="18" charset="-120"/>
                  <a:cs typeface="Cavolini" panose="020B0502040204020203" pitchFamily="66" charset="0"/>
                </a:rPr>
                <a:t>Here you </a:t>
              </a:r>
              <a:r>
                <a:rPr lang="en-US" altLang="zh-TW" sz="1200" dirty="0">
                  <a:ln w="0"/>
                  <a:solidFill>
                    <a:prstClr val="black"/>
                  </a:solidFill>
                  <a:latin typeface="Comic Sans MS" panose="030F0702030302020204" pitchFamily="66" charset="0"/>
                  <a:ea typeface="新細明體" panose="02020500000000000000" pitchFamily="18" charset="-120"/>
                  <a:cs typeface="Cavolini" panose="020B0502040204020203" pitchFamily="66" charset="0"/>
                </a:rPr>
                <a:t>are.</a:t>
              </a:r>
            </a:p>
          </p:txBody>
        </p:sp>
        <p:pic>
          <p:nvPicPr>
            <p:cNvPr id="41" name="圖形 40" descr="夾紙板 (徽章) 以實心填滿">
              <a:extLst>
                <a:ext uri="{FF2B5EF4-FFF2-40B4-BE49-F238E27FC236}">
                  <a16:creationId xmlns:a16="http://schemas.microsoft.com/office/drawing/2014/main" id="{A2807007-7BAB-C046-ECEA-75F84A520CC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3152699" y="4096194"/>
              <a:ext cx="377960" cy="393907"/>
            </a:xfrm>
            <a:prstGeom prst="rect">
              <a:avLst/>
            </a:prstGeom>
            <a:effectLst>
              <a:glow rad="127000">
                <a:schemeClr val="accent4">
                  <a:lumMod val="20000"/>
                  <a:lumOff val="80000"/>
                </a:schemeClr>
              </a:glow>
            </a:effectLst>
          </p:spPr>
        </p:pic>
      </p:grpSp>
      <p:sp>
        <p:nvSpPr>
          <p:cNvPr id="59" name="語音泡泡: 圓角矩形 58">
            <a:extLst>
              <a:ext uri="{FF2B5EF4-FFF2-40B4-BE49-F238E27FC236}">
                <a16:creationId xmlns:a16="http://schemas.microsoft.com/office/drawing/2014/main" id="{D09692F8-BE29-99AB-B0D5-3772513753A3}"/>
              </a:ext>
            </a:extLst>
          </p:cNvPr>
          <p:cNvSpPr/>
          <p:nvPr/>
        </p:nvSpPr>
        <p:spPr>
          <a:xfrm>
            <a:off x="3233339" y="1910511"/>
            <a:ext cx="2016224" cy="252220"/>
          </a:xfrm>
          <a:prstGeom prst="wedgeRoundRectCallout">
            <a:avLst>
              <a:gd name="adj1" fmla="val -57123"/>
              <a:gd name="adj2" fmla="val -47476"/>
              <a:gd name="adj3" fmla="val 16667"/>
            </a:avLst>
          </a:prstGeom>
          <a:solidFill>
            <a:schemeClr val="bg1">
              <a:alpha val="80000"/>
            </a:schemeClr>
          </a:solidFill>
          <a:ln w="19050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0" rIns="0" bIns="0" rtlCol="0" anchor="ctr"/>
          <a:lstStyle/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  <a:solidFill>
                  <a:schemeClr val="accent1">
                    <a:lumMod val="75000"/>
                  </a:schemeClr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What is TSMC Trading at?</a:t>
            </a:r>
          </a:p>
        </p:txBody>
      </p:sp>
      <p:sp>
        <p:nvSpPr>
          <p:cNvPr id="62" name="語音泡泡: 圓角矩形 61">
            <a:extLst>
              <a:ext uri="{FF2B5EF4-FFF2-40B4-BE49-F238E27FC236}">
                <a16:creationId xmlns:a16="http://schemas.microsoft.com/office/drawing/2014/main" id="{D93367F2-3AAC-6546-5F9A-45AA23F38EBD}"/>
              </a:ext>
            </a:extLst>
          </p:cNvPr>
          <p:cNvSpPr/>
          <p:nvPr/>
        </p:nvSpPr>
        <p:spPr>
          <a:xfrm>
            <a:off x="3233339" y="2240676"/>
            <a:ext cx="2016224" cy="252220"/>
          </a:xfrm>
          <a:prstGeom prst="wedgeRoundRectCallout">
            <a:avLst>
              <a:gd name="adj1" fmla="val -57123"/>
              <a:gd name="adj2" fmla="val -47476"/>
              <a:gd name="adj3" fmla="val 16667"/>
            </a:avLst>
          </a:prstGeom>
          <a:solidFill>
            <a:schemeClr val="bg1">
              <a:alpha val="80000"/>
            </a:schemeClr>
          </a:solidFill>
          <a:ln w="19050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0" rIns="0" bIns="0" rtlCol="0" anchor="ctr"/>
          <a:lstStyle/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  <a:solidFill>
                  <a:schemeClr val="accent1">
                    <a:lumMod val="75000"/>
                  </a:schemeClr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Generate the report.</a:t>
            </a:r>
          </a:p>
        </p:txBody>
      </p:sp>
      <p:cxnSp>
        <p:nvCxnSpPr>
          <p:cNvPr id="63" name="接點: 弧形 62">
            <a:extLst>
              <a:ext uri="{FF2B5EF4-FFF2-40B4-BE49-F238E27FC236}">
                <a16:creationId xmlns:a16="http://schemas.microsoft.com/office/drawing/2014/main" id="{DBE7CEED-496C-7C7F-E2E1-F8C58EFE3043}"/>
              </a:ext>
            </a:extLst>
          </p:cNvPr>
          <p:cNvCxnSpPr>
            <a:cxnSpLocks/>
            <a:stCxn id="41" idx="2"/>
            <a:endCxn id="34" idx="1"/>
          </p:cNvCxnSpPr>
          <p:nvPr/>
        </p:nvCxnSpPr>
        <p:spPr>
          <a:xfrm rot="16200000" flipH="1">
            <a:off x="2580295" y="3737477"/>
            <a:ext cx="174515" cy="421656"/>
          </a:xfrm>
          <a:prstGeom prst="curvedConnector2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文字方塊 67">
            <a:extLst>
              <a:ext uri="{FF2B5EF4-FFF2-40B4-BE49-F238E27FC236}">
                <a16:creationId xmlns:a16="http://schemas.microsoft.com/office/drawing/2014/main" id="{6EEB10B3-3F35-4FBA-B436-06CC04D539A1}"/>
              </a:ext>
            </a:extLst>
          </p:cNvPr>
          <p:cNvSpPr txBox="1"/>
          <p:nvPr/>
        </p:nvSpPr>
        <p:spPr>
          <a:xfrm>
            <a:off x="2189968" y="1446628"/>
            <a:ext cx="664958" cy="48154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>
              <a:lnSpc>
                <a:spcPts val="1200"/>
              </a:lnSpc>
              <a:buNone/>
            </a:pPr>
            <a:r>
              <a:rPr lang="en-US" altLang="zh-TW" sz="1200" dirty="0">
                <a:solidFill>
                  <a:schemeClr val="accent1">
                    <a:lumMod val="50000"/>
                  </a:schemeClr>
                </a:solidFill>
                <a:latin typeface="Comic Sans MS" panose="030F0702030302020204" pitchFamily="66" charset="0"/>
                <a:ea typeface="ADLaM Display" panose="02010000000000000000" pitchFamily="2" charset="0"/>
                <a:cs typeface="ADLaM Display" panose="02010000000000000000" pitchFamily="2" charset="0"/>
              </a:rPr>
              <a:t>Semantic</a:t>
            </a:r>
          </a:p>
          <a:p>
            <a:pPr algn="r">
              <a:lnSpc>
                <a:spcPts val="1200"/>
              </a:lnSpc>
              <a:buNone/>
            </a:pPr>
            <a:r>
              <a:rPr lang="en-US" altLang="zh-TW" sz="1200" dirty="0">
                <a:solidFill>
                  <a:schemeClr val="accent1">
                    <a:lumMod val="50000"/>
                  </a:schemeClr>
                </a:solidFill>
                <a:latin typeface="Comic Sans MS" panose="030F0702030302020204" pitchFamily="66" charset="0"/>
                <a:ea typeface="ADLaM Display" panose="02010000000000000000" pitchFamily="2" charset="0"/>
                <a:cs typeface="ADLaM Display" panose="02010000000000000000" pitchFamily="2" charset="0"/>
              </a:rPr>
              <a:t>Search</a:t>
            </a:r>
          </a:p>
        </p:txBody>
      </p:sp>
      <p:cxnSp>
        <p:nvCxnSpPr>
          <p:cNvPr id="69" name="接點: 肘形 68">
            <a:extLst>
              <a:ext uri="{FF2B5EF4-FFF2-40B4-BE49-F238E27FC236}">
                <a16:creationId xmlns:a16="http://schemas.microsoft.com/office/drawing/2014/main" id="{5110B8D3-3930-64CF-F95F-B0C3AE80881B}"/>
              </a:ext>
            </a:extLst>
          </p:cNvPr>
          <p:cNvCxnSpPr>
            <a:cxnSpLocks/>
            <a:stCxn id="62" idx="3"/>
            <a:endCxn id="43" idx="0"/>
          </p:cNvCxnSpPr>
          <p:nvPr/>
        </p:nvCxnSpPr>
        <p:spPr>
          <a:xfrm>
            <a:off x="5249563" y="2366786"/>
            <a:ext cx="438245" cy="774182"/>
          </a:xfrm>
          <a:prstGeom prst="bentConnector2">
            <a:avLst/>
          </a:prstGeom>
          <a:ln w="15875">
            <a:solidFill>
              <a:schemeClr val="accent4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6" name="圖形 75" descr="科學思想 以實心填滿">
            <a:extLst>
              <a:ext uri="{FF2B5EF4-FFF2-40B4-BE49-F238E27FC236}">
                <a16:creationId xmlns:a16="http://schemas.microsoft.com/office/drawing/2014/main" id="{174E6B0F-BB8A-784D-193F-AA6DE0CFE9F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104827" y="2517579"/>
            <a:ext cx="623389" cy="623389"/>
          </a:xfrm>
          <a:prstGeom prst="rect">
            <a:avLst/>
          </a:prstGeom>
          <a:effectLst>
            <a:glow rad="50800">
              <a:schemeClr val="accent4">
                <a:lumMod val="20000"/>
                <a:lumOff val="80000"/>
                <a:alpha val="40000"/>
              </a:schemeClr>
            </a:glow>
            <a:softEdge rad="0"/>
          </a:effectLst>
        </p:spPr>
      </p:pic>
    </p:spTree>
    <p:extLst>
      <p:ext uri="{BB962C8B-B14F-4D97-AF65-F5344CB8AC3E}">
        <p14:creationId xmlns:p14="http://schemas.microsoft.com/office/powerpoint/2010/main" val="5928157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80F2CF-11A7-726A-D27F-288DAEACC3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: 圓角 3">
            <a:extLst>
              <a:ext uri="{FF2B5EF4-FFF2-40B4-BE49-F238E27FC236}">
                <a16:creationId xmlns:a16="http://schemas.microsoft.com/office/drawing/2014/main" id="{9182C9CB-190C-B5DD-2D63-BF54E7B24615}"/>
              </a:ext>
            </a:extLst>
          </p:cNvPr>
          <p:cNvSpPr/>
          <p:nvPr/>
        </p:nvSpPr>
        <p:spPr>
          <a:xfrm>
            <a:off x="3779912" y="2492897"/>
            <a:ext cx="1224934" cy="1800199"/>
          </a:xfrm>
          <a:prstGeom prst="roundRect">
            <a:avLst>
              <a:gd name="adj" fmla="val 8706"/>
            </a:avLst>
          </a:prstGeom>
          <a:solidFill>
            <a:schemeClr val="accent4">
              <a:lumMod val="50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b" anchorCtr="1"/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rgbClr val="FF99FF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LLM Wiki</a:t>
            </a:r>
          </a:p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200" b="1" i="0" u="none" strike="noStrike" kern="1200" cap="none" spc="0" normalizeH="0" baseline="0" noProof="0" dirty="0">
              <a:ln>
                <a:noFill/>
              </a:ln>
              <a:solidFill>
                <a:srgbClr val="FF99FF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F92D9B42-3B09-1CD3-3E9A-F0CD5AE15C1A}"/>
              </a:ext>
            </a:extLst>
          </p:cNvPr>
          <p:cNvSpPr txBox="1"/>
          <p:nvPr/>
        </p:nvSpPr>
        <p:spPr>
          <a:xfrm>
            <a:off x="512390" y="2445570"/>
            <a:ext cx="1224934" cy="880037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none" lIns="0" tIns="0" rIns="0" bIns="0" anchor="b" anchorCtr="1">
            <a:noAutofit/>
          </a:bodyPr>
          <a:lstStyle/>
          <a:p>
            <a:pPr algn="ctr">
              <a:lnSpc>
                <a:spcPts val="1400"/>
              </a:lnSpc>
            </a:pPr>
            <a:endParaRPr lang="en-US" altLang="zh-TW" sz="1200" b="1" dirty="0"/>
          </a:p>
          <a:p>
            <a:pPr algn="ctr">
              <a:lnSpc>
                <a:spcPts val="1400"/>
              </a:lnSpc>
            </a:pPr>
            <a:endParaRPr lang="en-US" altLang="zh-TW" sz="1200" b="1" dirty="0"/>
          </a:p>
          <a:p>
            <a:pPr algn="ctr">
              <a:lnSpc>
                <a:spcPts val="1400"/>
              </a:lnSpc>
            </a:pPr>
            <a:endParaRPr lang="en-US" altLang="zh-TW" sz="1200" b="1" dirty="0"/>
          </a:p>
          <a:p>
            <a:pPr algn="ctr">
              <a:lnSpc>
                <a:spcPts val="1400"/>
              </a:lnSpc>
            </a:pPr>
            <a:r>
              <a:rPr lang="en-US" altLang="zh-TW" sz="1400" b="1" dirty="0"/>
              <a:t>AI Agent</a:t>
            </a: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C350211F-8F9D-C9F9-1FDE-5B97D695C1C8}"/>
              </a:ext>
            </a:extLst>
          </p:cNvPr>
          <p:cNvSpPr txBox="1"/>
          <p:nvPr/>
        </p:nvSpPr>
        <p:spPr>
          <a:xfrm>
            <a:off x="213023" y="5048016"/>
            <a:ext cx="6807249" cy="10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Human-in-the-Loop Framework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Ingest(raw)</a:t>
            </a:r>
            <a:r>
              <a:rPr lang="en-US" altLang="zh-TW" sz="1200" b="1" dirty="0"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sz="12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➔ </a:t>
            </a:r>
            <a:r>
              <a:rPr lang="en-US" altLang="zh-TW" sz="1600" b="1" dirty="0"/>
              <a:t> Instruct(C/Q/L)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➔ </a:t>
            </a: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Review</a:t>
            </a: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➔ </a:t>
            </a: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Setup(schema)</a:t>
            </a:r>
            <a:endParaRPr lang="en-US" altLang="zh-TW" sz="1600" b="1" dirty="0"/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GitHub: </a:t>
            </a:r>
            <a:r>
              <a:rPr lang="en-US" altLang="zh-TW" sz="1600" u="sng" dirty="0">
                <a:solidFill>
                  <a:schemeClr val="accent5">
                    <a:lumMod val="50000"/>
                  </a:schemeClr>
                </a:solidFill>
              </a:rPr>
              <a:t>nashsu/llm_wiki</a:t>
            </a:r>
            <a:r>
              <a:rPr lang="en-US" altLang="zh-TW" sz="1600" dirty="0"/>
              <a:t>, </a:t>
            </a:r>
            <a:r>
              <a:rPr lang="en-US" altLang="zh-TW" sz="1600" u="sng" strike="noStrike" dirty="0">
                <a:solidFill>
                  <a:schemeClr val="accent5">
                    <a:lumMod val="50000"/>
                  </a:schemeClr>
                </a:solidFill>
                <a:effectLst/>
              </a:rPr>
              <a:t>atomicstrata/llm-wiki-compiler</a:t>
            </a:r>
            <a:r>
              <a:rPr lang="en-US" altLang="zh-TW" sz="1600" u="none" strike="noStrike" dirty="0">
                <a:effectLst/>
              </a:rPr>
              <a:t>, </a:t>
            </a:r>
            <a:r>
              <a:rPr lang="en-US" altLang="zh-TW" sz="1600" u="sng" dirty="0">
                <a:solidFill>
                  <a:schemeClr val="accent5">
                    <a:lumMod val="50000"/>
                  </a:schemeClr>
                </a:solidFill>
              </a:rPr>
              <a:t>Knowledge-vault</a:t>
            </a:r>
            <a:r>
              <a:rPr lang="en-US" altLang="zh-TW" sz="1600" dirty="0">
                <a:solidFill>
                  <a:schemeClr val="accent5">
                    <a:lumMod val="50000"/>
                  </a:schemeClr>
                </a:solidFill>
              </a:rPr>
              <a:t>.</a:t>
            </a:r>
          </a:p>
        </p:txBody>
      </p:sp>
      <p:sp>
        <p:nvSpPr>
          <p:cNvPr id="28" name="標題 1">
            <a:extLst>
              <a:ext uri="{FF2B5EF4-FFF2-40B4-BE49-F238E27FC236}">
                <a16:creationId xmlns:a16="http://schemas.microsoft.com/office/drawing/2014/main" id="{9F314D84-1AAB-B228-251F-99F15D589F7E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LLM</a:t>
            </a:r>
            <a:r>
              <a:rPr kumimoji="0" lang="zh-TW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 </a:t>
            </a:r>
            <a:r>
              <a:rPr kumimoji="0" lang="en-US" altLang="zh-TW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Wiki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LLMs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eliminate the boring bookkeeping of knowledge management, ensuring </a:t>
            </a:r>
            <a:r>
              <a:rPr lang="en-US" altLang="zh-TW" sz="14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wikis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grow effortlessly.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92738DE3-C538-771F-1E0C-B8B7C3311206}"/>
              </a:ext>
            </a:extLst>
          </p:cNvPr>
          <p:cNvSpPr txBox="1"/>
          <p:nvPr/>
        </p:nvSpPr>
        <p:spPr>
          <a:xfrm>
            <a:off x="713958" y="3640052"/>
            <a:ext cx="821797" cy="24093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User</a:t>
            </a:r>
          </a:p>
        </p:txBody>
      </p:sp>
      <p:sp>
        <p:nvSpPr>
          <p:cNvPr id="105" name="矩形: 圓角 104">
            <a:extLst>
              <a:ext uri="{FF2B5EF4-FFF2-40B4-BE49-F238E27FC236}">
                <a16:creationId xmlns:a16="http://schemas.microsoft.com/office/drawing/2014/main" id="{64F7827C-F186-7D7D-4FA3-D9FA4AE1A51F}"/>
              </a:ext>
            </a:extLst>
          </p:cNvPr>
          <p:cNvSpPr/>
          <p:nvPr/>
        </p:nvSpPr>
        <p:spPr>
          <a:xfrm>
            <a:off x="1475023" y="3148813"/>
            <a:ext cx="504689" cy="488365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88000">
                <a:srgbClr val="D7D2DB"/>
              </a:gs>
              <a:gs pos="0">
                <a:schemeClr val="accent3">
                  <a:lumMod val="40000"/>
                  <a:lumOff val="60000"/>
                </a:schemeClr>
              </a:gs>
              <a:gs pos="100000">
                <a:schemeClr val="accent4">
                  <a:lumMod val="60000"/>
                  <a:lumOff val="4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graphicFrame>
        <p:nvGraphicFramePr>
          <p:cNvPr id="35" name="表格 34">
            <a:extLst>
              <a:ext uri="{FF2B5EF4-FFF2-40B4-BE49-F238E27FC236}">
                <a16:creationId xmlns:a16="http://schemas.microsoft.com/office/drawing/2014/main" id="{407DB130-C749-D9E8-D70D-CEB8209A0A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62862094"/>
              </p:ext>
            </p:extLst>
          </p:nvPr>
        </p:nvGraphicFramePr>
        <p:xfrm>
          <a:off x="5148064" y="2527100"/>
          <a:ext cx="3266106" cy="17317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66106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42245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Andrej Karpathy’s Gist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87313227"/>
                  </a:ext>
                </a:extLst>
              </a:tr>
              <a:tr h="21205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Data level: Raw / Wiki / Schema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1454161"/>
                  </a:ext>
                </a:extLst>
              </a:tr>
              <a:tr h="36116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Raw stores assets, Wiki compiles knowledge, and Schema directs the AI Agent.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6116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Instruct: Compile / Query / Lint</a:t>
                      </a: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36116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Compile integrate data, Query retrieves insights, and Lint audits the final knowledge base.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</a:tbl>
          </a:graphicData>
        </a:graphic>
      </p:graphicFrame>
      <p:pic>
        <p:nvPicPr>
          <p:cNvPr id="8" name="圖片 7">
            <a:extLst>
              <a:ext uri="{FF2B5EF4-FFF2-40B4-BE49-F238E27FC236}">
                <a16:creationId xmlns:a16="http://schemas.microsoft.com/office/drawing/2014/main" id="{A7F2C415-DBCE-468D-EE83-BADC8BFEB6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4033066" y="2968587"/>
            <a:ext cx="718626" cy="676437"/>
          </a:xfrm>
          <a:prstGeom prst="rect">
            <a:avLst/>
          </a:prstGeom>
          <a:effectLst>
            <a:glow rad="25400">
              <a:schemeClr val="accent4">
                <a:lumMod val="60000"/>
                <a:lumOff val="40000"/>
                <a:alpha val="40000"/>
              </a:schemeClr>
            </a:glow>
            <a:softEdge rad="31750"/>
          </a:effectLst>
        </p:spPr>
      </p:pic>
      <p:cxnSp>
        <p:nvCxnSpPr>
          <p:cNvPr id="18" name="直線單箭頭接點 17">
            <a:extLst>
              <a:ext uri="{FF2B5EF4-FFF2-40B4-BE49-F238E27FC236}">
                <a16:creationId xmlns:a16="http://schemas.microsoft.com/office/drawing/2014/main" id="{96593FAD-CC06-C829-3F7E-087D4EC457BE}"/>
              </a:ext>
            </a:extLst>
          </p:cNvPr>
          <p:cNvCxnSpPr>
            <a:cxnSpLocks/>
            <a:stCxn id="4" idx="1"/>
            <a:endCxn id="105" idx="3"/>
          </p:cNvCxnSpPr>
          <p:nvPr/>
        </p:nvCxnSpPr>
        <p:spPr>
          <a:xfrm flipH="1" flipV="1">
            <a:off x="1979712" y="3392996"/>
            <a:ext cx="1800200" cy="1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9" name="圖形 38" descr="科學思想 以實心填滿">
            <a:extLst>
              <a:ext uri="{FF2B5EF4-FFF2-40B4-BE49-F238E27FC236}">
                <a16:creationId xmlns:a16="http://schemas.microsoft.com/office/drawing/2014/main" id="{EA236300-D8AB-566A-3CE5-C7422D3D16C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10230" y="2517579"/>
            <a:ext cx="623389" cy="623389"/>
          </a:xfrm>
          <a:prstGeom prst="rect">
            <a:avLst/>
          </a:prstGeom>
          <a:effectLst>
            <a:glow rad="50800">
              <a:schemeClr val="accent4">
                <a:lumMod val="20000"/>
                <a:lumOff val="80000"/>
                <a:alpha val="40000"/>
              </a:schemeClr>
            </a:glow>
            <a:softEdge rad="0"/>
          </a:effectLst>
        </p:spPr>
      </p:pic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C0CC1A86-0C18-AB72-F5A9-4306189B0A3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10392842"/>
              </p:ext>
            </p:extLst>
          </p:nvPr>
        </p:nvGraphicFramePr>
        <p:xfrm>
          <a:off x="5179640" y="1259994"/>
          <a:ext cx="2540034" cy="86409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184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1728192">
                  <a:extLst>
                    <a:ext uri="{9D8B030D-6E8A-4147-A177-3AD203B41FA5}">
                      <a16:colId xmlns:a16="http://schemas.microsoft.com/office/drawing/2014/main" val="3031015462"/>
                    </a:ext>
                  </a:extLst>
                </a:gridCol>
              </a:tblGrid>
              <a:tr h="21475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accent3">
                              <a:lumMod val="50000"/>
                            </a:schemeClr>
                          </a:solidFill>
                          <a:effectLst/>
                        </a:rPr>
                        <a:t>RAG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1454161"/>
                  </a:ext>
                </a:extLst>
              </a:tr>
              <a:tr h="21475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Vanilla RAG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Rapid context retrieval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1475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Graph RAG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Global document insights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1983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LLM Wiki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Knowledge Asset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702053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ABEB54-E13D-0276-16FE-3B8439DAEC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2" name="表格 21">
            <a:extLst>
              <a:ext uri="{FF2B5EF4-FFF2-40B4-BE49-F238E27FC236}">
                <a16:creationId xmlns:a16="http://schemas.microsoft.com/office/drawing/2014/main" id="{78C81D66-7DBF-D198-FAB7-3DFAAD6B25F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91323926"/>
              </p:ext>
            </p:extLst>
          </p:nvPr>
        </p:nvGraphicFramePr>
        <p:xfrm>
          <a:off x="5984016" y="5308267"/>
          <a:ext cx="1369755" cy="1158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9755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16317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Edge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Engine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76858249"/>
                  </a:ext>
                </a:extLst>
              </a:tr>
              <a:tr h="16317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Ollama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6317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llama.cpp (Geek)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6317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MLX (Apple)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0907060"/>
                  </a:ext>
                </a:extLst>
              </a:tr>
              <a:tr h="16317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ONNX Runtime (MS)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1102146"/>
                  </a:ext>
                </a:extLst>
              </a:tr>
            </a:tbl>
          </a:graphicData>
        </a:graphic>
      </p:graphicFrame>
      <p:cxnSp>
        <p:nvCxnSpPr>
          <p:cNvPr id="16" name="直線單箭頭接點 15">
            <a:extLst>
              <a:ext uri="{FF2B5EF4-FFF2-40B4-BE49-F238E27FC236}">
                <a16:creationId xmlns:a16="http://schemas.microsoft.com/office/drawing/2014/main" id="{249B7A46-0ED9-7ED9-7510-EE78F29FE5F5}"/>
              </a:ext>
            </a:extLst>
          </p:cNvPr>
          <p:cNvCxnSpPr>
            <a:cxnSpLocks/>
            <a:stCxn id="15" idx="3"/>
            <a:endCxn id="11" idx="1"/>
          </p:cNvCxnSpPr>
          <p:nvPr/>
        </p:nvCxnSpPr>
        <p:spPr>
          <a:xfrm flipV="1">
            <a:off x="3005148" y="2758040"/>
            <a:ext cx="3223036" cy="4770"/>
          </a:xfrm>
          <a:prstGeom prst="straightConnector1">
            <a:avLst/>
          </a:prstGeom>
          <a:ln w="25400">
            <a:solidFill>
              <a:schemeClr val="bg1">
                <a:lumMod val="85000"/>
              </a:schemeClr>
            </a:solidFill>
            <a:headEnd w="med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字方塊 2">
            <a:extLst>
              <a:ext uri="{FF2B5EF4-FFF2-40B4-BE49-F238E27FC236}">
                <a16:creationId xmlns:a16="http://schemas.microsoft.com/office/drawing/2014/main" id="{A4DB92DA-78BD-3302-8B24-83FB829FB96B}"/>
              </a:ext>
            </a:extLst>
          </p:cNvPr>
          <p:cNvSpPr txBox="1"/>
          <p:nvPr/>
        </p:nvSpPr>
        <p:spPr>
          <a:xfrm>
            <a:off x="2123728" y="3846670"/>
            <a:ext cx="881420" cy="756316"/>
          </a:xfrm>
          <a:prstGeom prst="rect">
            <a:avLst/>
          </a:prstGeom>
          <a:solidFill>
            <a:schemeClr val="accent6">
              <a:lumMod val="20000"/>
              <a:lumOff val="80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dirty="0">
                <a:solidFill>
                  <a:schemeClr val="accent6">
                    <a:lumMod val="75000"/>
                  </a:schemeClr>
                </a:solidFill>
              </a:rPr>
              <a:t>SFT &amp;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Quantization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u="none" strike="noStrike" dirty="0">
                <a:effectLst/>
              </a:rPr>
              <a:t>(Edge AI)</a:t>
            </a: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132786DE-BC20-A5F8-DB31-949D81B2F497}"/>
              </a:ext>
            </a:extLst>
          </p:cNvPr>
          <p:cNvSpPr txBox="1"/>
          <p:nvPr/>
        </p:nvSpPr>
        <p:spPr>
          <a:xfrm>
            <a:off x="6228184" y="2379882"/>
            <a:ext cx="881420" cy="756316"/>
          </a:xfrm>
          <a:prstGeom prst="rect">
            <a:avLst/>
          </a:prstGeom>
          <a:solidFill>
            <a:schemeClr val="accent1">
              <a:lumMod val="40000"/>
              <a:lumOff val="60000"/>
              <a:alpha val="9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tx2"/>
                </a:solidFill>
                <a:effectLst/>
              </a:rPr>
              <a:t>Inference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400" b="1" dirty="0">
                <a:solidFill>
                  <a:schemeClr val="tx2"/>
                </a:solidFill>
              </a:rPr>
              <a:t>Server</a:t>
            </a:r>
            <a:endParaRPr lang="en-US" altLang="zh-TW" sz="1400" b="1" u="none" strike="noStrike" dirty="0">
              <a:solidFill>
                <a:schemeClr val="tx2"/>
              </a:solidFill>
              <a:effectLst/>
            </a:endParaRP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u="none" strike="noStrike" dirty="0">
                <a:solidFill>
                  <a:schemeClr val="tx2"/>
                </a:solidFill>
                <a:effectLst/>
              </a:rPr>
              <a:t>(LLM)</a:t>
            </a: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774BD80B-9201-734C-6443-E9C6EDE515F5}"/>
              </a:ext>
            </a:extLst>
          </p:cNvPr>
          <p:cNvSpPr txBox="1"/>
          <p:nvPr/>
        </p:nvSpPr>
        <p:spPr>
          <a:xfrm>
            <a:off x="6228185" y="3846670"/>
            <a:ext cx="881419" cy="756316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85000"/>
              </a:schemeClr>
            </a:solidFill>
            <a:prstDash val="solid"/>
          </a:ln>
        </p:spPr>
        <p:txBody>
          <a:bodyPr wrap="none" lIns="0" tIns="0" rIns="0" bIns="0" anchor="ctr" anchorCtr="1">
            <a:noAutofit/>
          </a:bodyPr>
          <a:lstStyle/>
          <a:p>
            <a:pPr lvl="0" algn="ctr">
              <a:lnSpc>
                <a:spcPts val="1400"/>
              </a:lnSpc>
              <a:defRPr/>
            </a:pPr>
            <a:r>
              <a:rPr lang="en-US" altLang="zh-TW" sz="1400" b="1" dirty="0">
                <a:solidFill>
                  <a:schemeClr val="tx2"/>
                </a:solidFill>
                <a:latin typeface="Calibri"/>
                <a:ea typeface="新細明體" panose="02020500000000000000" pitchFamily="18" charset="-120"/>
              </a:rPr>
              <a:t>AI</a:t>
            </a:r>
            <a:r>
              <a:rPr lang="zh-TW" altLang="en-US" sz="1400" b="1" dirty="0">
                <a:solidFill>
                  <a:schemeClr val="tx2"/>
                </a:solidFill>
                <a:latin typeface="Calibri"/>
                <a:ea typeface="新細明體" panose="02020500000000000000" pitchFamily="18" charset="-120"/>
              </a:rPr>
              <a:t> </a:t>
            </a:r>
            <a:r>
              <a:rPr lang="en-US" altLang="zh-TW" sz="1400" b="1" dirty="0">
                <a:solidFill>
                  <a:schemeClr val="tx2"/>
                </a:solidFill>
                <a:latin typeface="Calibri"/>
                <a:ea typeface="新細明體" panose="02020500000000000000" pitchFamily="18" charset="-120"/>
              </a:rPr>
              <a:t>PC</a:t>
            </a:r>
            <a:br>
              <a:rPr lang="en-US" altLang="zh-TW" sz="1400" b="1" dirty="0">
                <a:solidFill>
                  <a:schemeClr val="tx2"/>
                </a:solidFill>
                <a:latin typeface="Calibri"/>
                <a:ea typeface="新細明體" panose="02020500000000000000" pitchFamily="18" charset="-120"/>
              </a:rPr>
            </a:br>
            <a:r>
              <a:rPr lang="en-US" altLang="zh-TW" sz="1200" b="1" dirty="0">
                <a:solidFill>
                  <a:schemeClr val="tx2"/>
                </a:solidFill>
                <a:latin typeface="Calibri"/>
                <a:ea typeface="新細明體" panose="02020500000000000000" pitchFamily="18" charset="-120"/>
              </a:rPr>
              <a:t>(SLM)</a:t>
            </a:r>
            <a:endParaRPr kumimoji="0" lang="en-US" altLang="zh-TW" sz="1200" b="0" i="0" u="none" strike="noStrike" kern="1200" cap="none" spc="0" normalizeH="0" baseline="0" noProof="0" dirty="0">
              <a:ln>
                <a:noFill/>
              </a:ln>
              <a:solidFill>
                <a:schemeClr val="tx2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309120A9-3216-3A4D-C130-3BB79B2385CA}"/>
              </a:ext>
            </a:extLst>
          </p:cNvPr>
          <p:cNvSpPr txBox="1"/>
          <p:nvPr/>
        </p:nvSpPr>
        <p:spPr>
          <a:xfrm>
            <a:off x="2123728" y="2384652"/>
            <a:ext cx="881420" cy="756316"/>
          </a:xfrm>
          <a:prstGeom prst="rect">
            <a:avLst/>
          </a:prstGeom>
          <a:solidFill>
            <a:schemeClr val="accent2">
              <a:lumMod val="20000"/>
              <a:lumOff val="80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2"/>
                </a:solidFill>
                <a:effectLst/>
              </a:rPr>
              <a:t>Training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2"/>
                </a:solidFill>
                <a:effectLst/>
              </a:rPr>
              <a:t>Stage</a:t>
            </a:r>
          </a:p>
          <a:p>
            <a:pPr algn="ctr">
              <a:lnSpc>
                <a:spcPts val="1400"/>
              </a:lnSpc>
              <a:buNone/>
            </a:pP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(Cloud)</a:t>
            </a:r>
            <a:endParaRPr lang="en-US" altLang="zh-TW" sz="1400" b="1" u="none" strike="noStrike" dirty="0">
              <a:solidFill>
                <a:schemeClr val="accent2"/>
              </a:solidFill>
              <a:effectLst/>
            </a:endParaRPr>
          </a:p>
        </p:txBody>
      </p:sp>
      <p:graphicFrame>
        <p:nvGraphicFramePr>
          <p:cNvPr id="37" name="表格 36">
            <a:extLst>
              <a:ext uri="{FF2B5EF4-FFF2-40B4-BE49-F238E27FC236}">
                <a16:creationId xmlns:a16="http://schemas.microsoft.com/office/drawing/2014/main" id="{A1EF5383-5464-5C40-CD95-1BC634B8A8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14986763"/>
              </p:ext>
            </p:extLst>
          </p:nvPr>
        </p:nvGraphicFramePr>
        <p:xfrm>
          <a:off x="1925027" y="4889888"/>
          <a:ext cx="1278821" cy="1178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82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193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FT-Engine</a:t>
                      </a:r>
                      <a:endParaRPr kumimoji="0" lang="zh-TW" altLang="en-US" sz="1400" b="1" i="0" u="none" strike="noStrike" kern="1200" cap="none" spc="0" normalizeH="0" baseline="0" noProof="0" dirty="0">
                        <a:ln w="0"/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68871076"/>
                  </a:ext>
                </a:extLst>
              </a:tr>
              <a:tr h="193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Hugging Face TRL</a:t>
                      </a:r>
                      <a:endParaRPr kumimoji="0" lang="zh-TW" altLang="en-US" sz="1200" b="1" i="0" u="none" strike="noStrike" kern="1200" cap="none" spc="0" normalizeH="0" baseline="0" noProof="0" dirty="0">
                        <a:ln w="0"/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3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Unsloth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(No Code)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10973834"/>
                  </a:ext>
                </a:extLst>
              </a:tr>
              <a:tr h="193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Axolotl</a:t>
                      </a:r>
                      <a:r>
                        <a:rPr kumimoji="0" lang="zh-TW" altLang="en-US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(Geek)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93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LLaMA-Factory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40907060"/>
                  </a:ext>
                </a:extLst>
              </a:tr>
              <a:tr h="193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MLX-LM</a:t>
                      </a:r>
                      <a:r>
                        <a:rPr kumimoji="0" lang="zh-TW" altLang="en-US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(Apple)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78602166"/>
                  </a:ext>
                </a:extLst>
              </a:tr>
            </a:tbl>
          </a:graphicData>
        </a:graphic>
      </p:graphicFrame>
      <p:sp>
        <p:nvSpPr>
          <p:cNvPr id="4" name="標題 1">
            <a:extLst>
              <a:ext uri="{FF2B5EF4-FFF2-40B4-BE49-F238E27FC236}">
                <a16:creationId xmlns:a16="http://schemas.microsoft.com/office/drawing/2014/main" id="{C51F32BB-AF5D-9A70-D14E-236B9B033709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SLM Engine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Run language models locally and efficiently with minimal hardware resources.</a:t>
            </a:r>
          </a:p>
        </p:txBody>
      </p:sp>
      <p:pic>
        <p:nvPicPr>
          <p:cNvPr id="27" name="圖片 26">
            <a:extLst>
              <a:ext uri="{FF2B5EF4-FFF2-40B4-BE49-F238E27FC236}">
                <a16:creationId xmlns:a16="http://schemas.microsoft.com/office/drawing/2014/main" id="{135EA092-B215-BD47-7043-C4AF5B4B4F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7664" y="4960218"/>
            <a:ext cx="306197" cy="288032"/>
          </a:xfrm>
          <a:prstGeom prst="rect">
            <a:avLst/>
          </a:prstGeom>
          <a:effectLst>
            <a:glow rad="76200">
              <a:schemeClr val="bg1">
                <a:alpha val="40000"/>
              </a:schemeClr>
            </a:glow>
          </a:effectLst>
        </p:spPr>
      </p:pic>
      <p:graphicFrame>
        <p:nvGraphicFramePr>
          <p:cNvPr id="9" name="表格 8">
            <a:extLst>
              <a:ext uri="{FF2B5EF4-FFF2-40B4-BE49-F238E27FC236}">
                <a16:creationId xmlns:a16="http://schemas.microsoft.com/office/drawing/2014/main" id="{DD8956EC-8C58-4EE6-3794-15E7D4F27A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83629276"/>
              </p:ext>
            </p:extLst>
          </p:nvPr>
        </p:nvGraphicFramePr>
        <p:xfrm>
          <a:off x="3297799" y="5313459"/>
          <a:ext cx="802885" cy="112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02885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0919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4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4815099"/>
                  </a:ext>
                </a:extLst>
              </a:tr>
              <a:tr h="17305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Llama 3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7305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rgbClr val="FF0000"/>
                          </a:solidFill>
                          <a:effectLst/>
                        </a:rPr>
                        <a:t>Gemma 4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7305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DeepSeek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7305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Qwen 3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4704120"/>
                  </a:ext>
                </a:extLst>
              </a:tr>
              <a:tr h="17305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Mistral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4733770"/>
                  </a:ext>
                </a:extLst>
              </a:tr>
            </a:tbl>
          </a:graphicData>
        </a:graphic>
      </p:graphicFrame>
      <p:pic>
        <p:nvPicPr>
          <p:cNvPr id="30" name="圖片 29">
            <a:extLst>
              <a:ext uri="{FF2B5EF4-FFF2-40B4-BE49-F238E27FC236}">
                <a16:creationId xmlns:a16="http://schemas.microsoft.com/office/drawing/2014/main" id="{20DBAEDD-C1F2-2405-DE74-D94FB68D52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4329" y="5455513"/>
            <a:ext cx="337951" cy="390669"/>
          </a:xfrm>
          <a:prstGeom prst="rect">
            <a:avLst/>
          </a:prstGeom>
          <a:solidFill>
            <a:schemeClr val="bg1">
              <a:alpha val="60000"/>
            </a:schemeClr>
          </a:solidFill>
        </p:spPr>
      </p:pic>
      <p:sp>
        <p:nvSpPr>
          <p:cNvPr id="38" name="文字方塊 37">
            <a:extLst>
              <a:ext uri="{FF2B5EF4-FFF2-40B4-BE49-F238E27FC236}">
                <a16:creationId xmlns:a16="http://schemas.microsoft.com/office/drawing/2014/main" id="{AB992DA8-098A-C85A-0E0A-EC2464CCE1A3}"/>
              </a:ext>
            </a:extLst>
          </p:cNvPr>
          <p:cNvSpPr txBox="1"/>
          <p:nvPr/>
        </p:nvSpPr>
        <p:spPr>
          <a:xfrm>
            <a:off x="3106216" y="2444150"/>
            <a:ext cx="1033736" cy="31437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 w="0"/>
                <a:effectLst/>
                <a:uLnTx/>
                <a:uFillTx/>
                <a:latin typeface="+mn-lt"/>
                <a:ea typeface="+mn-ea"/>
                <a:cs typeface="+mn-cs"/>
              </a:rPr>
              <a:t>Backward Pass</a:t>
            </a:r>
          </a:p>
          <a:p>
            <a:pPr marL="0" marR="0" lvl="0" indent="0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 w="0"/>
                <a:effectLst/>
                <a:uLnTx/>
                <a:uFillTx/>
                <a:latin typeface="+mn-lt"/>
                <a:ea typeface="+mn-ea"/>
                <a:cs typeface="+mn-cs"/>
              </a:rPr>
              <a:t>Checkpointing</a:t>
            </a:r>
            <a:endParaRPr lang="zh-TW" altLang="en-US" sz="1200" dirty="0"/>
          </a:p>
        </p:txBody>
      </p:sp>
      <p:sp>
        <p:nvSpPr>
          <p:cNvPr id="42" name="文字方塊 41">
            <a:extLst>
              <a:ext uri="{FF2B5EF4-FFF2-40B4-BE49-F238E27FC236}">
                <a16:creationId xmlns:a16="http://schemas.microsoft.com/office/drawing/2014/main" id="{C011670A-AD18-D760-4725-AC87CA0E0A6E}"/>
              </a:ext>
            </a:extLst>
          </p:cNvPr>
          <p:cNvSpPr txBox="1"/>
          <p:nvPr/>
        </p:nvSpPr>
        <p:spPr>
          <a:xfrm>
            <a:off x="5500146" y="2444149"/>
            <a:ext cx="702888" cy="313891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 w="0"/>
                <a:effectLst/>
                <a:uLnTx/>
                <a:uFillTx/>
                <a:latin typeface="+mn-lt"/>
                <a:ea typeface="+mn-ea"/>
                <a:cs typeface="+mn-cs"/>
              </a:rPr>
              <a:t>Attention</a:t>
            </a:r>
          </a:p>
          <a:p>
            <a:pPr marL="0" marR="0" lvl="0" indent="0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</a:rPr>
              <a:t>KV-Cache</a:t>
            </a:r>
          </a:p>
        </p:txBody>
      </p:sp>
      <p:sp>
        <p:nvSpPr>
          <p:cNvPr id="88" name="文字方塊 87">
            <a:extLst>
              <a:ext uri="{FF2B5EF4-FFF2-40B4-BE49-F238E27FC236}">
                <a16:creationId xmlns:a16="http://schemas.microsoft.com/office/drawing/2014/main" id="{662A56FC-70A6-FA2D-9DC3-8EDA197AAAA4}"/>
              </a:ext>
            </a:extLst>
          </p:cNvPr>
          <p:cNvSpPr txBox="1"/>
          <p:nvPr/>
        </p:nvSpPr>
        <p:spPr>
          <a:xfrm>
            <a:off x="3103440" y="3865792"/>
            <a:ext cx="820488" cy="355297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 w="0"/>
                <a:effectLst/>
                <a:uLnTx/>
                <a:uFillTx/>
                <a:latin typeface="+mn-lt"/>
                <a:ea typeface="+mn-ea"/>
                <a:cs typeface="+mn-cs"/>
              </a:rPr>
              <a:t>Throughput,</a:t>
            </a:r>
          </a:p>
          <a:p>
            <a:pPr marL="0" marR="0" lvl="0" indent="0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</a:rPr>
              <a:t>PEFT</a:t>
            </a:r>
            <a:endParaRPr lang="zh-TW" altLang="en-US" sz="1200" dirty="0"/>
          </a:p>
        </p:txBody>
      </p:sp>
      <p:cxnSp>
        <p:nvCxnSpPr>
          <p:cNvPr id="118" name="直線單箭頭接點 117">
            <a:extLst>
              <a:ext uri="{FF2B5EF4-FFF2-40B4-BE49-F238E27FC236}">
                <a16:creationId xmlns:a16="http://schemas.microsoft.com/office/drawing/2014/main" id="{FEB0228A-4144-BC54-6225-6205E276FBE3}"/>
              </a:ext>
            </a:extLst>
          </p:cNvPr>
          <p:cNvCxnSpPr>
            <a:cxnSpLocks/>
            <a:stCxn id="3" idx="3"/>
            <a:endCxn id="13" idx="1"/>
          </p:cNvCxnSpPr>
          <p:nvPr/>
        </p:nvCxnSpPr>
        <p:spPr>
          <a:xfrm>
            <a:off x="3005148" y="4224828"/>
            <a:ext cx="3223037" cy="0"/>
          </a:xfrm>
          <a:prstGeom prst="straightConnector1">
            <a:avLst/>
          </a:prstGeom>
          <a:ln w="25400">
            <a:solidFill>
              <a:schemeClr val="bg1">
                <a:lumMod val="75000"/>
              </a:schemeClr>
            </a:solidFill>
            <a:headEnd w="med" len="lg"/>
            <a:tail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圖片 13">
            <a:extLst>
              <a:ext uri="{FF2B5EF4-FFF2-40B4-BE49-F238E27FC236}">
                <a16:creationId xmlns:a16="http://schemas.microsoft.com/office/drawing/2014/main" id="{6A19A26D-0595-B833-26F8-539F4EB87FE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7664" y="5320258"/>
            <a:ext cx="288033" cy="288032"/>
          </a:xfrm>
          <a:prstGeom prst="rect">
            <a:avLst/>
          </a:prstGeom>
          <a:effectLst>
            <a:glow rad="76200">
              <a:srgbClr val="00B050">
                <a:alpha val="40000"/>
              </a:srgbClr>
            </a:glow>
          </a:effectLst>
        </p:spPr>
      </p:pic>
      <p:sp>
        <p:nvSpPr>
          <p:cNvPr id="17" name="文字方塊 16">
            <a:extLst>
              <a:ext uri="{FF2B5EF4-FFF2-40B4-BE49-F238E27FC236}">
                <a16:creationId xmlns:a16="http://schemas.microsoft.com/office/drawing/2014/main" id="{C1A9147E-F72B-ADB6-4DA8-0242A9E1BF56}"/>
              </a:ext>
            </a:extLst>
          </p:cNvPr>
          <p:cNvSpPr txBox="1"/>
          <p:nvPr/>
        </p:nvSpPr>
        <p:spPr>
          <a:xfrm>
            <a:off x="5076056" y="3865792"/>
            <a:ext cx="1107903" cy="34949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 w="0"/>
                <a:effectLst/>
                <a:uLnTx/>
                <a:uFillTx/>
                <a:latin typeface="+mn-lt"/>
                <a:ea typeface="+mn-ea"/>
                <a:cs typeface="+mn-cs"/>
              </a:rPr>
              <a:t>Latency, TTFT,</a:t>
            </a:r>
          </a:p>
          <a:p>
            <a:pPr marL="0" marR="0" lvl="0" indent="0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</a:rPr>
              <a:t>Operator Fusion</a:t>
            </a:r>
            <a:endParaRPr lang="zh-TW" altLang="en-US" sz="1200" dirty="0"/>
          </a:p>
        </p:txBody>
      </p:sp>
      <p:sp>
        <p:nvSpPr>
          <p:cNvPr id="102" name="文字方塊 101">
            <a:extLst>
              <a:ext uri="{FF2B5EF4-FFF2-40B4-BE49-F238E27FC236}">
                <a16:creationId xmlns:a16="http://schemas.microsoft.com/office/drawing/2014/main" id="{F3B204E8-9E74-B3D1-6886-09D4188A55E7}"/>
              </a:ext>
            </a:extLst>
          </p:cNvPr>
          <p:cNvSpPr txBox="1"/>
          <p:nvPr/>
        </p:nvSpPr>
        <p:spPr>
          <a:xfrm>
            <a:off x="3258531" y="4362433"/>
            <a:ext cx="881419" cy="365815"/>
          </a:xfrm>
          <a:prstGeom prst="rect">
            <a:avLst/>
          </a:prstGeom>
          <a:solidFill>
            <a:schemeClr val="bg1">
              <a:lumMod val="85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200" b="1" u="none" strike="noStrike" dirty="0">
                <a:effectLst/>
              </a:rPr>
              <a:t>Model File</a:t>
            </a:r>
          </a:p>
          <a:p>
            <a:pPr algn="ctr">
              <a:lnSpc>
                <a:spcPts val="1200"/>
              </a:lnSpc>
              <a:buNone/>
            </a:pPr>
            <a:r>
              <a:rPr lang="en-US" altLang="zh-TW" sz="1000" dirty="0"/>
              <a:t>(GGUF, ONNX)</a:t>
            </a:r>
            <a:endParaRPr lang="en-US" altLang="zh-TW" sz="1000" u="none" strike="noStrike" dirty="0">
              <a:effectLst/>
            </a:endParaRPr>
          </a:p>
        </p:txBody>
      </p:sp>
      <p:sp>
        <p:nvSpPr>
          <p:cNvPr id="47" name="文字方塊 46">
            <a:extLst>
              <a:ext uri="{FF2B5EF4-FFF2-40B4-BE49-F238E27FC236}">
                <a16:creationId xmlns:a16="http://schemas.microsoft.com/office/drawing/2014/main" id="{400FAA8A-4147-8B00-9580-A50FE9BFA505}"/>
              </a:ext>
            </a:extLst>
          </p:cNvPr>
          <p:cNvSpPr txBox="1"/>
          <p:nvPr/>
        </p:nvSpPr>
        <p:spPr>
          <a:xfrm>
            <a:off x="213023" y="968241"/>
            <a:ext cx="8751465" cy="10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Engine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Training Framework:</a:t>
            </a:r>
            <a:r>
              <a:rPr lang="en-US" altLang="zh-TW" sz="1600" dirty="0"/>
              <a:t> </a:t>
            </a:r>
            <a:r>
              <a:rPr lang="en-US" altLang="zh-TW" sz="1600" b="1" dirty="0">
                <a:solidFill>
                  <a:schemeClr val="accent6">
                    <a:lumMod val="75000"/>
                  </a:schemeClr>
                </a:solidFill>
              </a:rPr>
              <a:t>Optimizes</a:t>
            </a:r>
            <a:r>
              <a:rPr lang="en-US" altLang="zh-TW" sz="1600" dirty="0"/>
              <a:t> model weights using gradients.</a:t>
            </a:r>
            <a:endParaRPr lang="en-US" altLang="zh-TW" sz="1600" b="0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Inference Engine</a:t>
            </a:r>
            <a:r>
              <a:rPr lang="en-US" altLang="zh-TW" sz="1600" dirty="0"/>
              <a:t>:</a:t>
            </a:r>
            <a:r>
              <a:rPr lang="zh-TW" altLang="en-US" sz="1600" dirty="0"/>
              <a:t> </a:t>
            </a:r>
            <a:r>
              <a:rPr lang="en-US" altLang="zh-TW" sz="1600" b="1" dirty="0">
                <a:solidFill>
                  <a:schemeClr val="accent6">
                    <a:lumMod val="75000"/>
                  </a:schemeClr>
                </a:solidFill>
              </a:rPr>
              <a:t>Runs</a:t>
            </a:r>
            <a:r>
              <a:rPr lang="en-US" altLang="zh-TW" sz="1600" dirty="0"/>
              <a:t> trained models to generate predictions.</a:t>
            </a:r>
          </a:p>
        </p:txBody>
      </p:sp>
      <p:cxnSp>
        <p:nvCxnSpPr>
          <p:cNvPr id="64" name="直線接點 63">
            <a:extLst>
              <a:ext uri="{FF2B5EF4-FFF2-40B4-BE49-F238E27FC236}">
                <a16:creationId xmlns:a16="http://schemas.microsoft.com/office/drawing/2014/main" id="{4250BB2F-3E2E-142D-8E2C-0C55A2542BDA}"/>
              </a:ext>
            </a:extLst>
          </p:cNvPr>
          <p:cNvCxnSpPr>
            <a:cxnSpLocks/>
            <a:stCxn id="102" idx="2"/>
            <a:endCxn id="9" idx="0"/>
          </p:cNvCxnSpPr>
          <p:nvPr/>
        </p:nvCxnSpPr>
        <p:spPr>
          <a:xfrm>
            <a:off x="3699241" y="4728248"/>
            <a:ext cx="0" cy="585211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dash"/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直線接點 67">
            <a:extLst>
              <a:ext uri="{FF2B5EF4-FFF2-40B4-BE49-F238E27FC236}">
                <a16:creationId xmlns:a16="http://schemas.microsoft.com/office/drawing/2014/main" id="{58CF7F8B-C53A-57E9-4723-186600068448}"/>
              </a:ext>
            </a:extLst>
          </p:cNvPr>
          <p:cNvCxnSpPr>
            <a:cxnSpLocks/>
            <a:stCxn id="13" idx="2"/>
            <a:endCxn id="22" idx="0"/>
          </p:cNvCxnSpPr>
          <p:nvPr/>
        </p:nvCxnSpPr>
        <p:spPr>
          <a:xfrm flipH="1">
            <a:off x="6668893" y="4602986"/>
            <a:ext cx="2" cy="705281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dash"/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直線接點 72">
            <a:extLst>
              <a:ext uri="{FF2B5EF4-FFF2-40B4-BE49-F238E27FC236}">
                <a16:creationId xmlns:a16="http://schemas.microsoft.com/office/drawing/2014/main" id="{C75B7D8C-9A37-CC8D-DAA6-3D999E4C7378}"/>
              </a:ext>
            </a:extLst>
          </p:cNvPr>
          <p:cNvCxnSpPr>
            <a:cxnSpLocks/>
            <a:stCxn id="3" idx="2"/>
            <a:endCxn id="37" idx="0"/>
          </p:cNvCxnSpPr>
          <p:nvPr/>
        </p:nvCxnSpPr>
        <p:spPr>
          <a:xfrm flipH="1">
            <a:off x="2564437" y="4602986"/>
            <a:ext cx="1" cy="286902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dash"/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直線接點 77">
            <a:extLst>
              <a:ext uri="{FF2B5EF4-FFF2-40B4-BE49-F238E27FC236}">
                <a16:creationId xmlns:a16="http://schemas.microsoft.com/office/drawing/2014/main" id="{54291EA9-298A-7ADF-0020-17EE71DA7083}"/>
              </a:ext>
            </a:extLst>
          </p:cNvPr>
          <p:cNvCxnSpPr/>
          <p:nvPr/>
        </p:nvCxnSpPr>
        <p:spPr>
          <a:xfrm>
            <a:off x="899592" y="3501008"/>
            <a:ext cx="7560840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文字方塊 79">
            <a:extLst>
              <a:ext uri="{FF2B5EF4-FFF2-40B4-BE49-F238E27FC236}">
                <a16:creationId xmlns:a16="http://schemas.microsoft.com/office/drawing/2014/main" id="{CA014519-788B-AB92-B84F-36E7C69222BC}"/>
              </a:ext>
            </a:extLst>
          </p:cNvPr>
          <p:cNvSpPr txBox="1"/>
          <p:nvPr/>
        </p:nvSpPr>
        <p:spPr>
          <a:xfrm>
            <a:off x="7699522" y="3188590"/>
            <a:ext cx="588146" cy="62483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 w="0"/>
                <a:effectLst/>
                <a:uLnTx/>
                <a:uFillTx/>
                <a:latin typeface="+mn-lt"/>
                <a:ea typeface="+mn-ea"/>
                <a:cs typeface="+mn-cs"/>
              </a:rPr>
              <a:t>Cloud</a:t>
            </a:r>
          </a:p>
          <a:p>
            <a:pPr marL="0" marR="0" lvl="0" indent="0" algn="ctr" defTabSz="914400" rtl="0" eaLnBrk="1" fontAlgn="auto" latinLnBrk="0" hangingPunct="1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</a:rPr>
              <a:t>Edge</a:t>
            </a:r>
            <a:endParaRPr lang="zh-TW" altLang="en-US" sz="1200" dirty="0"/>
          </a:p>
        </p:txBody>
      </p:sp>
    </p:spTree>
    <p:extLst>
      <p:ext uri="{BB962C8B-B14F-4D97-AF65-F5344CB8AC3E}">
        <p14:creationId xmlns:p14="http://schemas.microsoft.com/office/powerpoint/2010/main" val="77949886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297A6AF-A59A-D8E8-D402-8B80C85090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1C0694D5-25AF-678F-4839-D5482C6055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14464103"/>
              </p:ext>
            </p:extLst>
          </p:nvPr>
        </p:nvGraphicFramePr>
        <p:xfrm>
          <a:off x="827584" y="2132856"/>
          <a:ext cx="7694238" cy="285190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2373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1282373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1282373">
                  <a:extLst>
                    <a:ext uri="{9D8B030D-6E8A-4147-A177-3AD203B41FA5}">
                      <a16:colId xmlns:a16="http://schemas.microsoft.com/office/drawing/2014/main" val="3551248890"/>
                    </a:ext>
                  </a:extLst>
                </a:gridCol>
                <a:gridCol w="1282373">
                  <a:extLst>
                    <a:ext uri="{9D8B030D-6E8A-4147-A177-3AD203B41FA5}">
                      <a16:colId xmlns:a16="http://schemas.microsoft.com/office/drawing/2014/main" val="204991320"/>
                    </a:ext>
                  </a:extLst>
                </a:gridCol>
                <a:gridCol w="1282373">
                  <a:extLst>
                    <a:ext uri="{9D8B030D-6E8A-4147-A177-3AD203B41FA5}">
                      <a16:colId xmlns:a16="http://schemas.microsoft.com/office/drawing/2014/main" val="795597008"/>
                    </a:ext>
                  </a:extLst>
                </a:gridCol>
                <a:gridCol w="1282373">
                  <a:extLst>
                    <a:ext uri="{9D8B030D-6E8A-4147-A177-3AD203B41FA5}">
                      <a16:colId xmlns:a16="http://schemas.microsoft.com/office/drawing/2014/main" val="3504260209"/>
                    </a:ext>
                  </a:extLst>
                </a:gridCol>
              </a:tblGrid>
              <a:tr h="62836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LLaMA-Factory</a:t>
                      </a:r>
                    </a:p>
                    <a:p>
                      <a:pPr algn="ctr"/>
                      <a:r>
                        <a:rPr lang="zh-TW" altLang="zh-TW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/ˈlɑː.mə/</a:t>
                      </a:r>
                      <a:r>
                        <a:rPr lang="zh-TW" altLang="en-US" sz="1000" b="0" i="0" kern="1200" dirty="0"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小羊駝</a:t>
                      </a:r>
                      <a:endParaRPr lang="zh-TW" altLang="en-US" sz="1000" b="1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Hugging Face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TRL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MLX-LM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(Apple)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Axolotl</a:t>
                      </a:r>
                    </a:p>
                    <a:p>
                      <a:pPr algn="ctr"/>
                      <a:r>
                        <a:rPr lang="zh-TW" altLang="zh-TW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/ˈæk.sə.lɑ.təl/</a:t>
                      </a:r>
                      <a:r>
                        <a:rPr lang="zh-TW" altLang="zh-TW" sz="1000" b="1" i="0" kern="1200" dirty="0"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美西螈</a:t>
                      </a:r>
                      <a:endParaRPr lang="zh-TW" altLang="en-US" sz="1000" b="1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Unsloth</a:t>
                      </a:r>
                    </a:p>
                    <a:p>
                      <a:pPr algn="ctr"/>
                      <a:r>
                        <a:rPr lang="zh-TW" altLang="zh-TW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/ʌn</a:t>
                      </a:r>
                      <a:r>
                        <a:rPr lang="en-US" altLang="zh-TW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</a:t>
                      </a:r>
                      <a:r>
                        <a:rPr lang="zh-TW" altLang="zh-TW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slɑːθ/</a:t>
                      </a:r>
                      <a:r>
                        <a:rPr lang="zh-TW" altLang="zh-TW" sz="1000" b="0" i="0" kern="1200" dirty="0"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樹懶</a:t>
                      </a:r>
                      <a:endParaRPr lang="en-US" altLang="zh-TW" sz="1000" b="1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0" lang="zh-TW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Ultralytics</a:t>
                      </a:r>
                      <a:endParaRPr kumimoji="0" lang="en-US" altLang="zh-TW" sz="12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algn="ctr"/>
                      <a:r>
                        <a:rPr lang="zh-TW" altLang="zh-TW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/ˈʌl.trə</a:t>
                      </a:r>
                      <a:r>
                        <a:rPr lang="en-US" altLang="zh-TW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</a:t>
                      </a:r>
                      <a:r>
                        <a:rPr lang="zh-TW" altLang="zh-TW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ˈlɪt.ɪks/</a:t>
                      </a:r>
                      <a:r>
                        <a:rPr kumimoji="0" lang="zh-TW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35245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Gradio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WebUI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HF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One-command local fine-tuning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YAML</a:t>
                      </a:r>
                      <a:b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</a:b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Disruptive Tech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 WebUI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Offline Dominator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YOLO 11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ONNX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35245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Easy-to-use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(Low-code)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Python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One-command local fine-tuning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Flexible, 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config-driven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Ultra-fast,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Low-memory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High-performance, 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real-time object detection 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8612504"/>
                  </a:ext>
                </a:extLst>
              </a:tr>
              <a:tr h="288810"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33524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Meta PyTorch FSDP2,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Hugging Face TRL,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lashAttention-3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Multipack, xFormers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Improved PyTorch,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 Triton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TensorRT,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OpenVINO Toolkit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28881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MS DeepSpeed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Megatron-DeepSpeed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NV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Megatron-LM, CUDA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NV 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45482051"/>
                  </a:ext>
                </a:extLst>
              </a:tr>
              <a:tr h="28881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PC/NB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PC/NB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PC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523365"/>
                  </a:ext>
                </a:extLst>
              </a:tr>
            </a:tbl>
          </a:graphicData>
        </a:graphic>
      </p:graphicFrame>
      <p:pic>
        <p:nvPicPr>
          <p:cNvPr id="8" name="圖片 7">
            <a:extLst>
              <a:ext uri="{FF2B5EF4-FFF2-40B4-BE49-F238E27FC236}">
                <a16:creationId xmlns:a16="http://schemas.microsoft.com/office/drawing/2014/main" id="{3E4BF44D-72A8-155F-5FEF-FF52AE9835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8173" y="1571103"/>
            <a:ext cx="468845" cy="612186"/>
          </a:xfrm>
          <a:prstGeom prst="rect">
            <a:avLst/>
          </a:prstGeom>
        </p:spPr>
      </p:pic>
      <p:pic>
        <p:nvPicPr>
          <p:cNvPr id="10" name="圖片 9">
            <a:extLst>
              <a:ext uri="{FF2B5EF4-FFF2-40B4-BE49-F238E27FC236}">
                <a16:creationId xmlns:a16="http://schemas.microsoft.com/office/drawing/2014/main" id="{35AB2B3A-E1D8-12EC-C70D-F1D3314C8DA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61324" y="1630331"/>
            <a:ext cx="511322" cy="511320"/>
          </a:xfrm>
          <a:prstGeom prst="rect">
            <a:avLst/>
          </a:prstGeom>
        </p:spPr>
      </p:pic>
      <p:pic>
        <p:nvPicPr>
          <p:cNvPr id="12" name="圖片 11">
            <a:extLst>
              <a:ext uri="{FF2B5EF4-FFF2-40B4-BE49-F238E27FC236}">
                <a16:creationId xmlns:a16="http://schemas.microsoft.com/office/drawing/2014/main" id="{8FE807A9-33DB-3107-644A-5FA5F14046A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1600" y="1609550"/>
            <a:ext cx="798718" cy="535293"/>
          </a:xfrm>
          <a:prstGeom prst="rect">
            <a:avLst/>
          </a:prstGeom>
        </p:spPr>
      </p:pic>
      <p:pic>
        <p:nvPicPr>
          <p:cNvPr id="14" name="圖片 13">
            <a:extLst>
              <a:ext uri="{FF2B5EF4-FFF2-40B4-BE49-F238E27FC236}">
                <a16:creationId xmlns:a16="http://schemas.microsoft.com/office/drawing/2014/main" id="{5C6322F9-E94E-0EA9-1F00-B7B8D761985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91292" y="1642124"/>
            <a:ext cx="511320" cy="511320"/>
          </a:xfrm>
          <a:prstGeom prst="rect">
            <a:avLst/>
          </a:prstGeom>
        </p:spPr>
      </p:pic>
      <p:pic>
        <p:nvPicPr>
          <p:cNvPr id="4" name="圖片 3">
            <a:extLst>
              <a:ext uri="{FF2B5EF4-FFF2-40B4-BE49-F238E27FC236}">
                <a16:creationId xmlns:a16="http://schemas.microsoft.com/office/drawing/2014/main" id="{17769C83-A1FB-75F4-4253-A03E2A898C7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38578" y="1621837"/>
            <a:ext cx="584846" cy="561452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A9192D10-9C29-66BC-B2D1-87AFD7FFA83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428171" y="1608689"/>
            <a:ext cx="610836" cy="574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46822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字方塊 4">
            <a:extLst>
              <a:ext uri="{FF2B5EF4-FFF2-40B4-BE49-F238E27FC236}">
                <a16:creationId xmlns:a16="http://schemas.microsoft.com/office/drawing/2014/main" id="{DE853544-DBA0-E3DB-54BF-4BDC27EE2E9F}"/>
              </a:ext>
            </a:extLst>
          </p:cNvPr>
          <p:cNvSpPr txBox="1"/>
          <p:nvPr/>
        </p:nvSpPr>
        <p:spPr>
          <a:xfrm>
            <a:off x="287524" y="4375264"/>
            <a:ext cx="8568952" cy="1862048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dirty="0"/>
              <a:t>Key Trends</a:t>
            </a:r>
            <a:endParaRPr lang="en-US" altLang="zh-TW" sz="16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>
                <a:effectLst/>
              </a:rPr>
              <a:t>Data Transition</a:t>
            </a:r>
            <a:r>
              <a:rPr lang="en-US" altLang="zh-TW" sz="1600" b="0" u="none" strike="noStrike" dirty="0">
                <a:effectLst/>
              </a:rPr>
              <a:t>: Shifting from Quantity (raw web) to </a:t>
            </a:r>
            <a:r>
              <a:rPr lang="en-US" altLang="zh-TW" sz="1600" b="0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Quality</a:t>
            </a:r>
            <a:r>
              <a:rPr lang="en-US" altLang="zh-TW" sz="1600" b="0" u="none" strike="noStrike" dirty="0">
                <a:effectLst/>
              </a:rPr>
              <a:t> (curated c</a:t>
            </a:r>
            <a:r>
              <a:rPr lang="en-US" altLang="zh-TW" sz="1600" dirty="0"/>
              <a:t>orpora)</a:t>
            </a:r>
            <a:r>
              <a:rPr lang="en-US" altLang="zh-TW" sz="1600" b="0" u="none" strike="noStrike" dirty="0">
                <a:effectLst/>
              </a:rPr>
              <a:t>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Architecture (MoE)</a:t>
            </a:r>
            <a:r>
              <a:rPr lang="en-US" altLang="zh-TW" sz="1600" dirty="0"/>
              <a:t>: Activating only relevant sub-networks to drastically lower inference </a:t>
            </a:r>
            <a:r>
              <a:rPr lang="en-US" altLang="zh-TW" sz="1600" dirty="0">
                <a:solidFill>
                  <a:schemeClr val="accent6">
                    <a:lumMod val="75000"/>
                  </a:schemeClr>
                </a:solidFill>
              </a:rPr>
              <a:t>costs</a:t>
            </a:r>
            <a:r>
              <a:rPr lang="en-US" altLang="zh-TW" sz="1600" dirty="0"/>
              <a:t>.</a:t>
            </a:r>
            <a:endParaRPr lang="en-US" altLang="zh-TW" sz="1600" dirty="0">
              <a:solidFill>
                <a:schemeClr val="bg1">
                  <a:lumMod val="75000"/>
                </a:schemeClr>
              </a:solidFill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Native Modality</a:t>
            </a:r>
            <a:r>
              <a:rPr lang="en-US" altLang="zh-TW" sz="1600" dirty="0"/>
              <a:t>: Integrating real-time voice and video natively for next-gen AI Agents.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Efficient Deployment</a:t>
            </a:r>
            <a:r>
              <a:rPr lang="en-US" altLang="zh-TW" sz="1600" dirty="0"/>
              <a:t>: Embracing Smaller Language Models (SLMs) for </a:t>
            </a:r>
            <a:r>
              <a:rPr lang="en-US" altLang="zh-TW" sz="1600" dirty="0">
                <a:solidFill>
                  <a:schemeClr val="accent6">
                    <a:lumMod val="75000"/>
                  </a:schemeClr>
                </a:solidFill>
              </a:rPr>
              <a:t>secure</a:t>
            </a:r>
            <a:r>
              <a:rPr lang="en-US" altLang="zh-TW" sz="1600" dirty="0"/>
              <a:t>, on-device AI.</a:t>
            </a:r>
            <a:endParaRPr lang="en-US" altLang="zh-TW" sz="1600" dirty="0">
              <a:solidFill>
                <a:schemeClr val="bg1">
                  <a:lumMod val="75000"/>
                </a:schemeClr>
              </a:solidFill>
            </a:endParaRPr>
          </a:p>
        </p:txBody>
      </p:sp>
      <p:grpSp>
        <p:nvGrpSpPr>
          <p:cNvPr id="6" name="群組 5">
            <a:extLst>
              <a:ext uri="{FF2B5EF4-FFF2-40B4-BE49-F238E27FC236}">
                <a16:creationId xmlns:a16="http://schemas.microsoft.com/office/drawing/2014/main" id="{5E04EBFC-4EB4-0EDE-A780-590452CD0E38}"/>
              </a:ext>
            </a:extLst>
          </p:cNvPr>
          <p:cNvGrpSpPr/>
          <p:nvPr/>
        </p:nvGrpSpPr>
        <p:grpSpPr>
          <a:xfrm>
            <a:off x="1058349" y="1193012"/>
            <a:ext cx="2094003" cy="2114742"/>
            <a:chOff x="1011755" y="2851680"/>
            <a:chExt cx="2094003" cy="2114742"/>
          </a:xfrm>
        </p:grpSpPr>
        <p:sp>
          <p:nvSpPr>
            <p:cNvPr id="7" name="弧形 6">
              <a:extLst>
                <a:ext uri="{FF2B5EF4-FFF2-40B4-BE49-F238E27FC236}">
                  <a16:creationId xmlns:a16="http://schemas.microsoft.com/office/drawing/2014/main" id="{ADE78692-DD87-A403-B53B-072E2A6E9BC6}"/>
                </a:ext>
              </a:extLst>
            </p:cNvPr>
            <p:cNvSpPr/>
            <p:nvPr/>
          </p:nvSpPr>
          <p:spPr>
            <a:xfrm>
              <a:off x="1050655" y="2869831"/>
              <a:ext cx="2055103" cy="2096591"/>
            </a:xfrm>
            <a:prstGeom prst="arc">
              <a:avLst>
                <a:gd name="adj1" fmla="val 16400852"/>
                <a:gd name="adj2" fmla="val 12348078"/>
              </a:avLst>
            </a:prstGeom>
            <a:solidFill>
              <a:schemeClr val="accent1">
                <a:lumMod val="20000"/>
                <a:lumOff val="80000"/>
                <a:alpha val="40000"/>
              </a:schemeClr>
            </a:solidFill>
            <a:ln w="25400">
              <a:solidFill>
                <a:schemeClr val="accent1">
                  <a:lumMod val="40000"/>
                  <a:lumOff val="60000"/>
                  <a:alpha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wrap="none" lIns="1097280" tIns="0" rIns="0" bIns="91440" rtlCol="0" anchor="b" anchorCtr="1"/>
            <a:lstStyle/>
            <a:p>
              <a:pPr algn="ctr"/>
              <a:endParaRPr lang="zh-TW" altLang="en-US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9" name="雲朵形 8">
              <a:extLst>
                <a:ext uri="{FF2B5EF4-FFF2-40B4-BE49-F238E27FC236}">
                  <a16:creationId xmlns:a16="http://schemas.microsoft.com/office/drawing/2014/main" id="{0D4D7F0B-3B8A-40C4-3859-2BE266019CFB}"/>
                </a:ext>
              </a:extLst>
            </p:cNvPr>
            <p:cNvSpPr/>
            <p:nvPr/>
          </p:nvSpPr>
          <p:spPr>
            <a:xfrm>
              <a:off x="1011755" y="2851680"/>
              <a:ext cx="1400005" cy="818598"/>
            </a:xfrm>
            <a:prstGeom prst="cloud">
              <a:avLst/>
            </a:prstGeom>
            <a:solidFill>
              <a:schemeClr val="bg1">
                <a:alpha val="90000"/>
              </a:schemeClr>
            </a:solidFill>
            <a:ln w="38100"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endParaRPr lang="zh-TW" altLang="en-US" sz="1600" dirty="0">
                <a:solidFill>
                  <a:schemeClr val="tx2"/>
                </a:solidFill>
              </a:endParaRPr>
            </a:p>
          </p:txBody>
        </p:sp>
        <p:sp>
          <p:nvSpPr>
            <p:cNvPr id="10" name="文字方塊 9">
              <a:extLst>
                <a:ext uri="{FF2B5EF4-FFF2-40B4-BE49-F238E27FC236}">
                  <a16:creationId xmlns:a16="http://schemas.microsoft.com/office/drawing/2014/main" id="{0933DF4D-AD42-441A-13FF-5E50431F984F}"/>
                </a:ext>
              </a:extLst>
            </p:cNvPr>
            <p:cNvSpPr txBox="1"/>
            <p:nvPr/>
          </p:nvSpPr>
          <p:spPr>
            <a:xfrm>
              <a:off x="1909740" y="4318350"/>
              <a:ext cx="1024639" cy="323239"/>
            </a:xfrm>
            <a:prstGeom prst="rect">
              <a:avLst/>
            </a:prstGeom>
            <a:noFill/>
          </p:spPr>
          <p:txBody>
            <a:bodyPr wrap="none" tIns="0" rIns="0" bIns="0" anchor="ctr" anchorCtr="0">
              <a:noAutofit/>
            </a:bodyPr>
            <a:lstStyle/>
            <a:p>
              <a:r>
                <a:rPr lang="en-US" altLang="zh-TW" dirty="0">
                  <a:solidFill>
                    <a:schemeClr val="accent1">
                      <a:lumMod val="75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Edge AI</a:t>
              </a:r>
            </a:p>
          </p:txBody>
        </p:sp>
        <p:cxnSp>
          <p:nvCxnSpPr>
            <p:cNvPr id="11" name="直線單箭頭接點 10">
              <a:extLst>
                <a:ext uri="{FF2B5EF4-FFF2-40B4-BE49-F238E27FC236}">
                  <a16:creationId xmlns:a16="http://schemas.microsoft.com/office/drawing/2014/main" id="{61D0780E-0D93-AC04-23AC-5BC70DB675D1}"/>
                </a:ext>
              </a:extLst>
            </p:cNvPr>
            <p:cNvCxnSpPr>
              <a:cxnSpLocks/>
              <a:stCxn id="13" idx="2"/>
              <a:endCxn id="10" idx="0"/>
            </p:cNvCxnSpPr>
            <p:nvPr/>
          </p:nvCxnSpPr>
          <p:spPr>
            <a:xfrm>
              <a:off x="1620496" y="3434549"/>
              <a:ext cx="801564" cy="883801"/>
            </a:xfrm>
            <a:prstGeom prst="straightConnector1">
              <a:avLst/>
            </a:prstGeom>
            <a:ln w="25400">
              <a:solidFill>
                <a:schemeClr val="accent6">
                  <a:alpha val="80000"/>
                </a:schemeClr>
              </a:solidFill>
              <a:headEnd w="med" len="lg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文字方塊 12">
              <a:extLst>
                <a:ext uri="{FF2B5EF4-FFF2-40B4-BE49-F238E27FC236}">
                  <a16:creationId xmlns:a16="http://schemas.microsoft.com/office/drawing/2014/main" id="{1E98D504-3706-7625-D7D4-1EF4B42EEE93}"/>
                </a:ext>
              </a:extLst>
            </p:cNvPr>
            <p:cNvSpPr txBox="1"/>
            <p:nvPr/>
          </p:nvSpPr>
          <p:spPr>
            <a:xfrm>
              <a:off x="1108176" y="3065217"/>
              <a:ext cx="1024639" cy="369332"/>
            </a:xfrm>
            <a:prstGeom prst="rect">
              <a:avLst/>
            </a:prstGeom>
            <a:noFill/>
          </p:spPr>
          <p:txBody>
            <a:bodyPr wrap="none" tIns="0" rIns="0" bIns="0" anchor="ctr" anchorCtr="0">
              <a:noAutofit/>
            </a:bodyPr>
            <a:lstStyle/>
            <a:p>
              <a:r>
                <a:rPr lang="en-US" altLang="zh-TW" dirty="0">
                  <a:solidFill>
                    <a:schemeClr val="accent1">
                      <a:lumMod val="60000"/>
                      <a:lumOff val="40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Cloud AI</a:t>
              </a:r>
            </a:p>
          </p:txBody>
        </p:sp>
      </p:grpSp>
      <p:sp>
        <p:nvSpPr>
          <p:cNvPr id="8" name="標題 1">
            <a:extLst>
              <a:ext uri="{FF2B5EF4-FFF2-40B4-BE49-F238E27FC236}">
                <a16:creationId xmlns:a16="http://schemas.microsoft.com/office/drawing/2014/main" id="{173EE053-1FAE-538C-ABFD-598B0D03DD4E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Emerging Trends in AI Systems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From Scale-Driven infrastructure to intelligence at the edge.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EBD64A5D-812A-71D3-28E3-739F618DBFC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00290827"/>
              </p:ext>
            </p:extLst>
          </p:nvPr>
        </p:nvGraphicFramePr>
        <p:xfrm>
          <a:off x="6012160" y="2204863"/>
          <a:ext cx="2736304" cy="158417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36104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888098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912102">
                  <a:extLst>
                    <a:ext uri="{9D8B030D-6E8A-4147-A177-3AD203B41FA5}">
                      <a16:colId xmlns:a16="http://schemas.microsoft.com/office/drawing/2014/main" val="2975023522"/>
                    </a:ext>
                  </a:extLst>
                </a:gridCol>
              </a:tblGrid>
              <a:tr h="307254">
                <a:tc>
                  <a:txBody>
                    <a:bodyPr/>
                    <a:lstStyle/>
                    <a:p>
                      <a:endParaRPr lang="zh-TW" altLang="en-US" sz="16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SLM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07254"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Parameter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70B~405B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3~8B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307254"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H/W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GPUs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NPU/SoC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94745"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Memory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HBM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4~16GB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  <a:tr h="367670"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Power</a:t>
                      </a:r>
                    </a:p>
                    <a:p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Consumption</a:t>
                      </a:r>
                      <a:endParaRPr lang="zh-TW" altLang="en-US" sz="1200" b="0" cap="none" spc="0" dirty="0">
                        <a:ln w="0">
                          <a:noFill/>
                        </a:ln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MW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(Cooling)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W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(FAN)</a:t>
                      </a:r>
                      <a:endParaRPr lang="zh-TW" altLang="en-US" sz="1200" b="0" cap="none" spc="0" dirty="0">
                        <a:ln w="0">
                          <a:noFill/>
                        </a:ln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1787730"/>
                  </a:ext>
                </a:extLst>
              </a:tr>
            </a:tbl>
          </a:graphicData>
        </a:graphic>
      </p:graphicFrame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6749B70F-5258-6FA9-79B1-4335864F07B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59788904"/>
              </p:ext>
            </p:extLst>
          </p:nvPr>
        </p:nvGraphicFramePr>
        <p:xfrm>
          <a:off x="1865763" y="3095134"/>
          <a:ext cx="2195330" cy="62189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5330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</a:tblGrid>
              <a:tr h="21577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On-premise and Local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40611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Enabling secure, low-latency, and privacy-first on-device AI.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</a:tbl>
          </a:graphicData>
        </a:graphic>
      </p:graphicFrame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8D203658-CE58-BAA2-6096-1412F792071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25046559"/>
              </p:ext>
            </p:extLst>
          </p:nvPr>
        </p:nvGraphicFramePr>
        <p:xfrm>
          <a:off x="262039" y="2030859"/>
          <a:ext cx="1233671" cy="548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367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Data Center</a:t>
                      </a:r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1416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Azure, AWS, GPT, 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Cloud Code, Grok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</a:tbl>
          </a:graphicData>
        </a:graphic>
      </p:graphicFrame>
      <p:pic>
        <p:nvPicPr>
          <p:cNvPr id="16" name="圖形 15" descr="上升趨勢的橫條圖 以實心填滿">
            <a:extLst>
              <a:ext uri="{FF2B5EF4-FFF2-40B4-BE49-F238E27FC236}">
                <a16:creationId xmlns:a16="http://schemas.microsoft.com/office/drawing/2014/main" id="{00E2A0E3-F313-B0E4-4656-A3E57C0C81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64288" y="1772814"/>
            <a:ext cx="432049" cy="432049"/>
          </a:xfrm>
          <a:prstGeom prst="rect">
            <a:avLst/>
          </a:prstGeom>
        </p:spPr>
      </p:pic>
      <p:pic>
        <p:nvPicPr>
          <p:cNvPr id="26" name="圖形 25" descr="細菌 以實心填滿">
            <a:extLst>
              <a:ext uri="{FF2B5EF4-FFF2-40B4-BE49-F238E27FC236}">
                <a16:creationId xmlns:a16="http://schemas.microsoft.com/office/drawing/2014/main" id="{7FB8FBF8-1C70-5BC8-E2E1-86A8F4DD366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442428" y="1365419"/>
            <a:ext cx="431917" cy="413783"/>
          </a:xfrm>
          <a:prstGeom prst="rect">
            <a:avLst/>
          </a:prstGeom>
        </p:spPr>
      </p:pic>
      <p:pic>
        <p:nvPicPr>
          <p:cNvPr id="30" name="圖形 29" descr="聊天 外框">
            <a:extLst>
              <a:ext uri="{FF2B5EF4-FFF2-40B4-BE49-F238E27FC236}">
                <a16:creationId xmlns:a16="http://schemas.microsoft.com/office/drawing/2014/main" id="{420F4A24-C4A0-7481-631F-F979E20E429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100392" y="1767553"/>
            <a:ext cx="432048" cy="437310"/>
          </a:xfrm>
          <a:prstGeom prst="rect">
            <a:avLst/>
          </a:prstGeom>
        </p:spPr>
      </p:pic>
      <p:pic>
        <p:nvPicPr>
          <p:cNvPr id="36" name="圖形 35" descr="火箭 以實心填滿">
            <a:extLst>
              <a:ext uri="{FF2B5EF4-FFF2-40B4-BE49-F238E27FC236}">
                <a16:creationId xmlns:a16="http://schemas.microsoft.com/office/drawing/2014/main" id="{6F139867-337F-D82D-3EDB-17ACEAD4CBB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flipH="1">
            <a:off x="6951680" y="1212288"/>
            <a:ext cx="432049" cy="412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21731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流程圖: 合併 49">
            <a:extLst>
              <a:ext uri="{FF2B5EF4-FFF2-40B4-BE49-F238E27FC236}">
                <a16:creationId xmlns:a16="http://schemas.microsoft.com/office/drawing/2014/main" id="{8447D011-EBCC-D1FB-0C69-2143A03943FE}"/>
              </a:ext>
            </a:extLst>
          </p:cNvPr>
          <p:cNvSpPr/>
          <p:nvPr/>
        </p:nvSpPr>
        <p:spPr>
          <a:xfrm>
            <a:off x="4716016" y="4437112"/>
            <a:ext cx="432048" cy="2139202"/>
          </a:xfrm>
          <a:prstGeom prst="flowChartMerge">
            <a:avLst/>
          </a:prstGeom>
          <a:solidFill>
            <a:srgbClr val="FFC000"/>
          </a:solidFill>
          <a:ln w="254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graphicFrame>
        <p:nvGraphicFramePr>
          <p:cNvPr id="13" name="表格 12">
            <a:extLst>
              <a:ext uri="{FF2B5EF4-FFF2-40B4-BE49-F238E27FC236}">
                <a16:creationId xmlns:a16="http://schemas.microsoft.com/office/drawing/2014/main" id="{94A6F720-5FB8-E782-4A1C-29BF54922BE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93643606"/>
              </p:ext>
            </p:extLst>
          </p:nvPr>
        </p:nvGraphicFramePr>
        <p:xfrm>
          <a:off x="716896" y="4131303"/>
          <a:ext cx="7704856" cy="232203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0120">
                  <a:extLst>
                    <a:ext uri="{9D8B030D-6E8A-4147-A177-3AD203B41FA5}">
                      <a16:colId xmlns:a16="http://schemas.microsoft.com/office/drawing/2014/main" val="4198244561"/>
                    </a:ext>
                  </a:extLst>
                </a:gridCol>
                <a:gridCol w="857032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731974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1060818">
                  <a:extLst>
                    <a:ext uri="{9D8B030D-6E8A-4147-A177-3AD203B41FA5}">
                      <a16:colId xmlns:a16="http://schemas.microsoft.com/office/drawing/2014/main" val="3328686525"/>
                    </a:ext>
                  </a:extLst>
                </a:gridCol>
                <a:gridCol w="993728">
                  <a:extLst>
                    <a:ext uri="{9D8B030D-6E8A-4147-A177-3AD203B41FA5}">
                      <a16:colId xmlns:a16="http://schemas.microsoft.com/office/drawing/2014/main" val="3752581630"/>
                    </a:ext>
                  </a:extLst>
                </a:gridCol>
                <a:gridCol w="993728">
                  <a:extLst>
                    <a:ext uri="{9D8B030D-6E8A-4147-A177-3AD203B41FA5}">
                      <a16:colId xmlns:a16="http://schemas.microsoft.com/office/drawing/2014/main" val="3948573510"/>
                    </a:ext>
                  </a:extLst>
                </a:gridCol>
                <a:gridCol w="993728">
                  <a:extLst>
                    <a:ext uri="{9D8B030D-6E8A-4147-A177-3AD203B41FA5}">
                      <a16:colId xmlns:a16="http://schemas.microsoft.com/office/drawing/2014/main" val="2054525474"/>
                    </a:ext>
                  </a:extLst>
                </a:gridCol>
                <a:gridCol w="993728">
                  <a:extLst>
                    <a:ext uri="{9D8B030D-6E8A-4147-A177-3AD203B41FA5}">
                      <a16:colId xmlns:a16="http://schemas.microsoft.com/office/drawing/2014/main" val="1920063261"/>
                    </a:ext>
                  </a:extLst>
                </a:gridCol>
              </a:tblGrid>
              <a:tr h="328084">
                <a:tc rowSpan="2">
                  <a:txBody>
                    <a:bodyPr/>
                    <a:lstStyle/>
                    <a:p>
                      <a:pPr algn="ctr"/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Model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Number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Language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Context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Window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Memory consumption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16024">
                <a:tc vMerge="1">
                  <a:txBody>
                    <a:bodyPr/>
                    <a:lstStyle/>
                    <a:p>
                      <a:pPr algn="ctr"/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algn="ctr"/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Parameters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FP16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SFP8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Q4_0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81155207"/>
                  </a:ext>
                </a:extLst>
              </a:tr>
              <a:tr h="280563">
                <a:tc rowSpan="2"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Server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72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Dense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58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31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17.5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82991">
                <a:tc vMerge="1"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26B 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MoE,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Diffusion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256k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26B(4B)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48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26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14.4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439318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PC/NB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72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Dense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27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6.7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2327442"/>
                  </a:ext>
                </a:extLst>
              </a:tr>
              <a:tr h="354133">
                <a:tc rowSpan="2"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Mobile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72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E4B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Dense,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PLE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128k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8B (4.5+3.5)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18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~4.5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320920">
                <a:tc vMerge="1">
                  <a:txBody>
                    <a:bodyPr/>
                    <a:lstStyle/>
                    <a:p>
                      <a:pPr algn="l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72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E2B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5B (2.3+2.8)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~2.9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</a:tbl>
          </a:graphicData>
        </a:graphic>
      </p:graphicFrame>
      <p:sp>
        <p:nvSpPr>
          <p:cNvPr id="8" name="文字方塊 7">
            <a:extLst>
              <a:ext uri="{FF2B5EF4-FFF2-40B4-BE49-F238E27FC236}">
                <a16:creationId xmlns:a16="http://schemas.microsoft.com/office/drawing/2014/main" id="{AF135B2E-EEC6-E246-846A-1EF62279E421}"/>
              </a:ext>
            </a:extLst>
          </p:cNvPr>
          <p:cNvSpPr txBox="1"/>
          <p:nvPr/>
        </p:nvSpPr>
        <p:spPr>
          <a:xfrm>
            <a:off x="179511" y="1377042"/>
            <a:ext cx="6470846" cy="1323439"/>
          </a:xfrm>
          <a:prstGeom prst="rect">
            <a:avLst/>
          </a:prstGeom>
          <a:solidFill>
            <a:schemeClr val="bg1">
              <a:alpha val="90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Features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Gemma 3: </a:t>
            </a:r>
            <a:r>
              <a:rPr lang="en-US" altLang="zh-TW" sz="1600" dirty="0"/>
              <a:t>Multimodal, multilingual 140+ and single chip.</a:t>
            </a:r>
            <a:endParaRPr lang="en-US" altLang="zh-TW" sz="1600" b="1" dirty="0"/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Gemma 4: </a:t>
            </a:r>
            <a:r>
              <a:rPr lang="en-US" altLang="zh-TW" sz="1600" dirty="0"/>
              <a:t>Native Multimodal, Apache 2.0, CoT,  &lt;|think|&gt;, multi-token prediction</a:t>
            </a:r>
            <a:r>
              <a:rPr lang="zh-TW" altLang="en-US" sz="1600" dirty="0"/>
              <a:t> </a:t>
            </a:r>
            <a:r>
              <a:rPr lang="en-US" altLang="zh-TW" sz="1600" dirty="0"/>
              <a:t>(</a:t>
            </a:r>
            <a:r>
              <a:rPr lang="en-US" altLang="zh-TW" sz="1600" b="1" dirty="0">
                <a:solidFill>
                  <a:schemeClr val="accent6">
                    <a:lumMod val="75000"/>
                  </a:schemeClr>
                </a:solidFill>
              </a:rPr>
              <a:t>MTP</a:t>
            </a:r>
            <a:r>
              <a:rPr lang="en-US" altLang="zh-TW" sz="1600" dirty="0"/>
              <a:t>) and Per Layer Embedding (</a:t>
            </a:r>
            <a:r>
              <a:rPr lang="en-US" altLang="zh-TW" sz="1600" b="1" dirty="0">
                <a:solidFill>
                  <a:schemeClr val="accent6">
                    <a:lumMod val="75000"/>
                  </a:schemeClr>
                </a:solidFill>
              </a:rPr>
              <a:t>PLE</a:t>
            </a:r>
            <a:r>
              <a:rPr lang="en-US" altLang="zh-TW" sz="1600" dirty="0"/>
              <a:t>).</a:t>
            </a:r>
          </a:p>
        </p:txBody>
      </p:sp>
      <p:sp>
        <p:nvSpPr>
          <p:cNvPr id="5" name="標題 1">
            <a:extLst>
              <a:ext uri="{FF2B5EF4-FFF2-40B4-BE49-F238E27FC236}">
                <a16:creationId xmlns:a16="http://schemas.microsoft.com/office/drawing/2014/main" id="{5E6D0E09-6EF5-9848-658D-D41ED80B4BAA}"/>
              </a:ext>
            </a:extLst>
          </p:cNvPr>
          <p:cNvSpPr txBox="1">
            <a:spLocks/>
          </p:cNvSpPr>
          <p:nvPr/>
        </p:nvSpPr>
        <p:spPr>
          <a:xfrm>
            <a:off x="179511" y="116632"/>
            <a:ext cx="8779627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Gemma Family</a:t>
            </a:r>
            <a:b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</a:b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Gemma 4 empowers local devices with autonomous agency.</a:t>
            </a: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pic>
        <p:nvPicPr>
          <p:cNvPr id="15" name="圖形 14" descr="伺服器 以實心填滿">
            <a:extLst>
              <a:ext uri="{FF2B5EF4-FFF2-40B4-BE49-F238E27FC236}">
                <a16:creationId xmlns:a16="http://schemas.microsoft.com/office/drawing/2014/main" id="{629E4120-1637-0AAB-6A3B-AB7FEACB71D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32025" y="4830909"/>
            <a:ext cx="254275" cy="254275"/>
          </a:xfrm>
          <a:prstGeom prst="rect">
            <a:avLst/>
          </a:prstGeom>
        </p:spPr>
      </p:pic>
      <p:pic>
        <p:nvPicPr>
          <p:cNvPr id="17" name="圖形 16" descr="筆記型電腦 以實心填滿">
            <a:extLst>
              <a:ext uri="{FF2B5EF4-FFF2-40B4-BE49-F238E27FC236}">
                <a16:creationId xmlns:a16="http://schemas.microsoft.com/office/drawing/2014/main" id="{E0B85A7F-5C8E-F628-BF10-ADC5F47E112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438047" y="5517232"/>
            <a:ext cx="245454" cy="245454"/>
          </a:xfrm>
          <a:prstGeom prst="rect">
            <a:avLst/>
          </a:prstGeom>
        </p:spPr>
      </p:pic>
      <p:pic>
        <p:nvPicPr>
          <p:cNvPr id="19" name="圖形 18" descr="電腦 以實心填滿">
            <a:extLst>
              <a:ext uri="{FF2B5EF4-FFF2-40B4-BE49-F238E27FC236}">
                <a16:creationId xmlns:a16="http://schemas.microsoft.com/office/drawing/2014/main" id="{94FDF6EB-1889-FE73-1996-CB12F1E1426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401440" y="5208870"/>
            <a:ext cx="315444" cy="315444"/>
          </a:xfrm>
          <a:prstGeom prst="rect">
            <a:avLst/>
          </a:prstGeom>
        </p:spPr>
      </p:pic>
      <p:pic>
        <p:nvPicPr>
          <p:cNvPr id="21" name="圖形 20" descr="智慧型手機 以實心填滿">
            <a:extLst>
              <a:ext uri="{FF2B5EF4-FFF2-40B4-BE49-F238E27FC236}">
                <a16:creationId xmlns:a16="http://schemas.microsoft.com/office/drawing/2014/main" id="{174E9551-9AA7-A945-F67E-E80B80582EA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444043" y="5805264"/>
            <a:ext cx="245454" cy="245454"/>
          </a:xfrm>
          <a:prstGeom prst="rect">
            <a:avLst/>
          </a:prstGeom>
        </p:spPr>
      </p:pic>
      <p:pic>
        <p:nvPicPr>
          <p:cNvPr id="23" name="圖形 22" descr="頭戴式耳機 以實心填滿">
            <a:extLst>
              <a:ext uri="{FF2B5EF4-FFF2-40B4-BE49-F238E27FC236}">
                <a16:creationId xmlns:a16="http://schemas.microsoft.com/office/drawing/2014/main" id="{92BA1BF4-2981-0AD1-D22C-7372851B626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436436" y="6093296"/>
            <a:ext cx="245454" cy="245454"/>
          </a:xfrm>
          <a:prstGeom prst="rect">
            <a:avLst/>
          </a:prstGeom>
        </p:spPr>
      </p:pic>
      <p:sp>
        <p:nvSpPr>
          <p:cNvPr id="26" name="雲朵形 25">
            <a:extLst>
              <a:ext uri="{FF2B5EF4-FFF2-40B4-BE49-F238E27FC236}">
                <a16:creationId xmlns:a16="http://schemas.microsoft.com/office/drawing/2014/main" id="{509766CE-DFB7-2679-00B7-E99E3812B74C}"/>
              </a:ext>
            </a:extLst>
          </p:cNvPr>
          <p:cNvSpPr/>
          <p:nvPr/>
        </p:nvSpPr>
        <p:spPr>
          <a:xfrm>
            <a:off x="291675" y="3212976"/>
            <a:ext cx="1400005" cy="654398"/>
          </a:xfrm>
          <a:prstGeom prst="cloud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endParaRPr lang="zh-TW" altLang="en-US" sz="1600" dirty="0">
              <a:solidFill>
                <a:schemeClr val="tx2"/>
              </a:solidFill>
            </a:endParaRPr>
          </a:p>
        </p:txBody>
      </p: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28016021-6586-F018-2D1F-235DAF68DE53}"/>
              </a:ext>
            </a:extLst>
          </p:cNvPr>
          <p:cNvSpPr txBox="1"/>
          <p:nvPr/>
        </p:nvSpPr>
        <p:spPr>
          <a:xfrm>
            <a:off x="683568" y="4291005"/>
            <a:ext cx="1193834" cy="32323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dirty="0">
                <a:solidFill>
                  <a:schemeClr val="accent1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Gemma 4</a:t>
            </a:r>
          </a:p>
        </p:txBody>
      </p:sp>
      <p:cxnSp>
        <p:nvCxnSpPr>
          <p:cNvPr id="28" name="直線單箭頭接點 27">
            <a:extLst>
              <a:ext uri="{FF2B5EF4-FFF2-40B4-BE49-F238E27FC236}">
                <a16:creationId xmlns:a16="http://schemas.microsoft.com/office/drawing/2014/main" id="{2CE94DF6-B418-F3D9-7106-9607209A20C4}"/>
              </a:ext>
            </a:extLst>
          </p:cNvPr>
          <p:cNvCxnSpPr>
            <a:cxnSpLocks/>
            <a:stCxn id="29" idx="2"/>
            <a:endCxn id="27" idx="0"/>
          </p:cNvCxnSpPr>
          <p:nvPr/>
        </p:nvCxnSpPr>
        <p:spPr>
          <a:xfrm>
            <a:off x="981887" y="3726324"/>
            <a:ext cx="298598" cy="564681"/>
          </a:xfrm>
          <a:prstGeom prst="straightConnector1">
            <a:avLst/>
          </a:prstGeom>
          <a:ln w="25400">
            <a:solidFill>
              <a:schemeClr val="accent6">
                <a:alpha val="80000"/>
              </a:schemeClr>
            </a:solidFill>
            <a:headEnd w="med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2AE78E0C-913E-773C-0B33-35D2814AA505}"/>
              </a:ext>
            </a:extLst>
          </p:cNvPr>
          <p:cNvSpPr txBox="1"/>
          <p:nvPr/>
        </p:nvSpPr>
        <p:spPr>
          <a:xfrm>
            <a:off x="469567" y="3356992"/>
            <a:ext cx="1024639" cy="369332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dirty="0">
                <a:solidFill>
                  <a:schemeClr val="accent1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Gemini 3</a:t>
            </a:r>
          </a:p>
        </p:txBody>
      </p:sp>
      <p:sp>
        <p:nvSpPr>
          <p:cNvPr id="4" name="矩形: 圓角 3">
            <a:extLst>
              <a:ext uri="{FF2B5EF4-FFF2-40B4-BE49-F238E27FC236}">
                <a16:creationId xmlns:a16="http://schemas.microsoft.com/office/drawing/2014/main" id="{24B0F035-97FD-79C3-C3A0-2E744AC34D19}"/>
              </a:ext>
            </a:extLst>
          </p:cNvPr>
          <p:cNvSpPr/>
          <p:nvPr/>
        </p:nvSpPr>
        <p:spPr>
          <a:xfrm>
            <a:off x="6670406" y="5838875"/>
            <a:ext cx="487445" cy="562041"/>
          </a:xfrm>
          <a:prstGeom prst="roundRect">
            <a:avLst>
              <a:gd name="adj" fmla="val 1682"/>
            </a:avLst>
          </a:prstGeom>
          <a:noFill/>
          <a:ln w="15875">
            <a:solidFill>
              <a:schemeClr val="accent2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1"/>
          <a:lstStyle/>
          <a:p>
            <a:pPr algn="ctr"/>
            <a:endParaRPr lang="zh-TW" altLang="en-US" sz="1000" dirty="0">
              <a:solidFill>
                <a:schemeClr val="accent2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FD26C871-0A6F-156B-6741-2D1BCEF1AF39}"/>
              </a:ext>
            </a:extLst>
          </p:cNvPr>
          <p:cNvSpPr txBox="1"/>
          <p:nvPr/>
        </p:nvSpPr>
        <p:spPr>
          <a:xfrm>
            <a:off x="7848364" y="44624"/>
            <a:ext cx="1240083" cy="3813095"/>
          </a:xfrm>
          <a:prstGeom prst="rect">
            <a:avLst/>
          </a:prstGeom>
          <a:noFill/>
        </p:spPr>
        <p:txBody>
          <a:bodyPr wrap="none" lIns="91440" tIns="91440" rIns="0" bIns="0">
            <a:spAutoFit/>
          </a:bodyPr>
          <a:lstStyle/>
          <a:p>
            <a:pPr defTabSz="1546225"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u="none" strike="noStrike" dirty="0">
                <a:effectLst/>
              </a:rPr>
              <a:t> Overview</a:t>
            </a:r>
            <a:endParaRPr lang="en-US" altLang="zh-TW" sz="1000" u="none" strike="noStrike" dirty="0">
              <a:effectLst/>
            </a:endParaRPr>
          </a:p>
          <a:p>
            <a:pPr marL="111125" lvl="3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zh-TW" altLang="en-US" sz="1000" dirty="0"/>
              <a:t> </a:t>
            </a:r>
            <a:r>
              <a:rPr lang="en-US" altLang="zh-TW" sz="1000" dirty="0"/>
              <a:t>ML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/>
              <a:t>Training Stages</a:t>
            </a:r>
            <a:endParaRPr lang="en-US" altLang="zh-TW" sz="1000" u="none" strike="noStrike" dirty="0">
              <a:effectLst/>
            </a:endParaRPr>
          </a:p>
          <a:p>
            <a:pPr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/>
              <a:t> Transformer</a:t>
            </a:r>
            <a:endParaRPr lang="en-US" altLang="zh-TW" sz="1000" dirty="0"/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/>
              <a:t> Program Flow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/>
              <a:t> Self-Attention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/>
              <a:t> FFN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zh-TW" altLang="en-US" sz="1000" dirty="0"/>
              <a:t> </a:t>
            </a:r>
            <a:r>
              <a:rPr lang="en-US" altLang="zh-TW" sz="1000" dirty="0"/>
              <a:t>Embeddings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/>
              <a:t> Position Encoding</a:t>
            </a:r>
          </a:p>
          <a:p>
            <a:pPr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/>
              <a:t> GPT</a:t>
            </a:r>
          </a:p>
          <a:p>
            <a:pPr marL="111125" marR="0" lvl="2" algn="l" defTabSz="914400" rtl="0" eaLnBrk="1" fontAlgn="auto" latinLnBrk="0" hangingPunct="1">
              <a:lnSpc>
                <a:spcPts val="10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 Pre-Training</a:t>
            </a:r>
          </a:p>
          <a:p>
            <a:pPr marL="111125" marR="0" lvl="2" algn="l" defTabSz="914400" rtl="0" eaLnBrk="1" fontAlgn="auto" latinLnBrk="0" hangingPunct="1">
              <a:lnSpc>
                <a:spcPts val="10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 MLP</a:t>
            </a:r>
          </a:p>
          <a:p>
            <a:pPr marL="111125" marR="0" lvl="2" algn="l" defTabSz="914400" rtl="0" eaLnBrk="1" fontAlgn="auto" latinLnBrk="0" hangingPunct="1">
              <a:lnSpc>
                <a:spcPts val="10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 Backpropagation</a:t>
            </a:r>
            <a:r>
              <a:rPr lang="en-US" altLang="zh-TW" sz="1000" dirty="0"/>
              <a:t> </a:t>
            </a:r>
          </a:p>
          <a:p>
            <a:pPr marL="111125" marR="0" lvl="2" algn="l" defTabSz="914400" rtl="0" eaLnBrk="1" fontAlgn="auto" latinLnBrk="0" hangingPunct="1">
              <a:lnSpc>
                <a:spcPts val="10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Training Cluster</a:t>
            </a:r>
          </a:p>
          <a:p>
            <a:pPr marL="111125" marR="0" lvl="2" algn="l" defTabSz="914400" rtl="0" eaLnBrk="1" fontAlgn="auto" latinLnBrk="0" hangingPunct="1">
              <a:lnSpc>
                <a:spcPts val="10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 AI Ecosystem</a:t>
            </a:r>
            <a:endParaRPr kumimoji="0" lang="en-US" altLang="zh-TW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  <a:p>
            <a:pPr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/>
              <a:t> AI Runtime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MCP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RAG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SLM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Emerging Trends </a:t>
            </a:r>
            <a:endParaRPr lang="en-US" altLang="zh-TW" sz="1000" dirty="0">
              <a:solidFill>
                <a:prstClr val="black"/>
              </a:solidFill>
            </a:endParaRPr>
          </a:p>
          <a:p>
            <a:pPr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zh-TW" altLang="en-US" sz="1000" b="1" dirty="0"/>
              <a:t> </a:t>
            </a:r>
            <a:r>
              <a:rPr lang="en-US" altLang="zh-TW" sz="1000" b="1" dirty="0">
                <a:solidFill>
                  <a:srgbClr val="FF0000"/>
                </a:solidFill>
              </a:rPr>
              <a:t>Gemma Family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Supervised FT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PEFT: QLoRA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PEFT: DoRA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Gemma4: PLE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Benchmarking</a:t>
            </a:r>
          </a:p>
          <a:p>
            <a:pPr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/>
              <a:t> Conclusion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Building the Agent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Practices</a:t>
            </a:r>
          </a:p>
        </p:txBody>
      </p:sp>
    </p:spTree>
    <p:extLst>
      <p:ext uri="{BB962C8B-B14F-4D97-AF65-F5344CB8AC3E}">
        <p14:creationId xmlns:p14="http://schemas.microsoft.com/office/powerpoint/2010/main" val="33437141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C86993-55F6-655D-6F3A-DCF41E0E7E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矩形: 圓角 92">
            <a:extLst>
              <a:ext uri="{FF2B5EF4-FFF2-40B4-BE49-F238E27FC236}">
                <a16:creationId xmlns:a16="http://schemas.microsoft.com/office/drawing/2014/main" id="{9BC5D209-CD0F-8B4F-B117-FFBA97F7BB22}"/>
              </a:ext>
            </a:extLst>
          </p:cNvPr>
          <p:cNvSpPr/>
          <p:nvPr/>
        </p:nvSpPr>
        <p:spPr>
          <a:xfrm>
            <a:off x="567640" y="1714074"/>
            <a:ext cx="1219522" cy="1720987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27688924-6F43-FE20-F39C-E0229359FB31}"/>
              </a:ext>
            </a:extLst>
          </p:cNvPr>
          <p:cNvSpPr txBox="1"/>
          <p:nvPr/>
        </p:nvSpPr>
        <p:spPr>
          <a:xfrm>
            <a:off x="635034" y="1793757"/>
            <a:ext cx="1086557" cy="936151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CA709BE2-1656-D0B4-AAC6-15D6C3575E40}"/>
              </a:ext>
            </a:extLst>
          </p:cNvPr>
          <p:cNvSpPr txBox="1"/>
          <p:nvPr/>
        </p:nvSpPr>
        <p:spPr>
          <a:xfrm>
            <a:off x="635034" y="2870996"/>
            <a:ext cx="1086557" cy="487960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31" name="直線單箭頭接點 30">
            <a:extLst>
              <a:ext uri="{FF2B5EF4-FFF2-40B4-BE49-F238E27FC236}">
                <a16:creationId xmlns:a16="http://schemas.microsoft.com/office/drawing/2014/main" id="{942C8466-D1D5-4EF3-2363-E4C21E214E95}"/>
              </a:ext>
            </a:extLst>
          </p:cNvPr>
          <p:cNvCxnSpPr>
            <a:cxnSpLocks/>
            <a:stCxn id="8" idx="0"/>
            <a:endCxn id="137" idx="2"/>
          </p:cNvCxnSpPr>
          <p:nvPr/>
        </p:nvCxnSpPr>
        <p:spPr>
          <a:xfrm flipH="1" flipV="1">
            <a:off x="1177120" y="1513424"/>
            <a:ext cx="1193" cy="280333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線單箭頭接點 31">
            <a:extLst>
              <a:ext uri="{FF2B5EF4-FFF2-40B4-BE49-F238E27FC236}">
                <a16:creationId xmlns:a16="http://schemas.microsoft.com/office/drawing/2014/main" id="{C78A0572-1A63-5E70-B09A-4C3D3A0EC38F}"/>
              </a:ext>
            </a:extLst>
          </p:cNvPr>
          <p:cNvCxnSpPr>
            <a:cxnSpLocks/>
            <a:stCxn id="73" idx="0"/>
            <a:endCxn id="29" idx="2"/>
          </p:cNvCxnSpPr>
          <p:nvPr/>
        </p:nvCxnSpPr>
        <p:spPr>
          <a:xfrm flipV="1">
            <a:off x="1177402" y="3358956"/>
            <a:ext cx="911" cy="274791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直線單箭頭接點 32">
            <a:extLst>
              <a:ext uri="{FF2B5EF4-FFF2-40B4-BE49-F238E27FC236}">
                <a16:creationId xmlns:a16="http://schemas.microsoft.com/office/drawing/2014/main" id="{BED8C8EA-0B18-FE3A-ACAC-8ED247CD33DA}"/>
              </a:ext>
            </a:extLst>
          </p:cNvPr>
          <p:cNvCxnSpPr>
            <a:cxnSpLocks/>
            <a:stCxn id="29" idx="0"/>
            <a:endCxn id="8" idx="2"/>
          </p:cNvCxnSpPr>
          <p:nvPr/>
        </p:nvCxnSpPr>
        <p:spPr>
          <a:xfrm flipV="1">
            <a:off x="1178313" y="2729908"/>
            <a:ext cx="0" cy="141088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文字方塊 72">
            <a:extLst>
              <a:ext uri="{FF2B5EF4-FFF2-40B4-BE49-F238E27FC236}">
                <a16:creationId xmlns:a16="http://schemas.microsoft.com/office/drawing/2014/main" id="{89DFAE5F-76DE-A380-A8BC-634A17D2929C}"/>
              </a:ext>
            </a:extLst>
          </p:cNvPr>
          <p:cNvSpPr txBox="1"/>
          <p:nvPr/>
        </p:nvSpPr>
        <p:spPr>
          <a:xfrm>
            <a:off x="567641" y="3633747"/>
            <a:ext cx="1219522" cy="587341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t" anchorCtr="1">
            <a:noAutofit/>
          </a:bodyPr>
          <a:lstStyle/>
          <a:p>
            <a:pPr marL="0" algn="ctr" rtl="0" eaLnBrk="1" fontAlgn="ctr" latinLnBrk="0" hangingPunct="1">
              <a:lnSpc>
                <a:spcPts val="1600"/>
              </a:lnSpc>
              <a:buNone/>
            </a:pPr>
            <a:r>
              <a:rPr lang="en-US" altLang="zh-TW" sz="1200" u="sng" strike="noStrike" kern="1200" spc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   </a:t>
            </a:r>
            <a:r>
              <a:rPr lang="en-US" altLang="zh-TW" sz="1200" b="1" u="sng" strike="noStrike" kern="1200" spc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Dataset   </a:t>
            </a:r>
            <a:endParaRPr lang="en-US" altLang="zh-TW" sz="1200" u="sng" strike="noStrike" kern="1200" spc="0" dirty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latin typeface="Consolas" panose="020B0609020204030204" pitchFamily="49" charset="0"/>
            </a:endParaRPr>
          </a:p>
          <a:p>
            <a:pPr marL="0" marR="0" lvl="0" algn="ctr" defTabSz="914400" rtl="0" eaLnBrk="1" fontAlgn="ctr" latinLnBrk="0" hangingPunct="1">
              <a:lnSpc>
                <a:spcPts val="1200"/>
              </a:lnSpc>
              <a:buClrTx/>
              <a:buSzTx/>
              <a:buFontTx/>
              <a:buNone/>
              <a:tabLst/>
              <a:defRPr/>
            </a:pPr>
            <a:r>
              <a:rPr kumimoji="0" lang="en-US" altLang="zh-TW" sz="1200" u="sng" strike="noStrike" kern="1200" cap="none" spc="0" normalizeH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rPr>
              <a:t>     </a:t>
            </a:r>
            <a:r>
              <a:rPr kumimoji="0" lang="zh-TW" altLang="en-US" sz="1200" u="sng" strike="noStrike" kern="1200" cap="none" spc="0" normalizeH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rPr>
              <a:t> </a:t>
            </a:r>
            <a:r>
              <a:rPr lang="en-US" altLang="zh-TW" sz="1200" u="sng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  <a:ea typeface="新細明體" panose="02020500000000000000" pitchFamily="18" charset="-120"/>
              </a:rPr>
              <a:t>…</a:t>
            </a:r>
            <a:r>
              <a:rPr kumimoji="0" lang="en-US" altLang="zh-TW" sz="1200" u="sng" strike="noStrike" kern="1200" cap="none" spc="0" normalizeH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rPr>
              <a:t>      </a:t>
            </a:r>
            <a:endParaRPr kumimoji="0" lang="zh-TW" altLang="zh-TW" sz="1200" u="sng" strike="noStrike" kern="1200" cap="none" spc="0" normalizeH="0" noProof="0" dirty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uLnTx/>
              <a:uFillTx/>
              <a:latin typeface="Consolas" panose="020B0609020204030204" pitchFamily="49" charset="0"/>
              <a:ea typeface="新細明體" panose="02020500000000000000" pitchFamily="18" charset="-120"/>
              <a:cs typeface="+mn-cs"/>
            </a:endParaRPr>
          </a:p>
          <a:p>
            <a:pPr marL="0" marR="0" lvl="0" algn="ctr" defTabSz="914400" rtl="0" eaLnBrk="1" fontAlgn="ctr" latinLnBrk="0" hangingPunct="1">
              <a:lnSpc>
                <a:spcPts val="1200"/>
              </a:lnSpc>
              <a:buClrTx/>
              <a:buSzTx/>
              <a:buFontTx/>
              <a:buNone/>
              <a:tabLst/>
              <a:defRPr/>
            </a:pPr>
            <a:r>
              <a:rPr kumimoji="0" lang="en-US" altLang="zh-TW" sz="1200" u="sng" strike="noStrike" kern="1200" cap="none" spc="0" normalizeH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rPr>
              <a:t>      … </a:t>
            </a:r>
            <a:r>
              <a:rPr kumimoji="0" lang="zh-TW" altLang="en-US" sz="1200" u="sng" strike="noStrike" kern="1200" cap="none" spc="0" normalizeH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rPr>
              <a:t>     </a:t>
            </a:r>
            <a:endParaRPr kumimoji="0" lang="en-US" altLang="zh-TW" sz="1200" u="sng" strike="noStrike" kern="1200" cap="none" spc="0" normalizeH="0" noProof="0" dirty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uLnTx/>
              <a:uFillTx/>
              <a:latin typeface="Consolas" panose="020B0609020204030204" pitchFamily="49" charset="0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17" name="矩形: 圓角 116">
            <a:extLst>
              <a:ext uri="{FF2B5EF4-FFF2-40B4-BE49-F238E27FC236}">
                <a16:creationId xmlns:a16="http://schemas.microsoft.com/office/drawing/2014/main" id="{CBBF751A-4841-643D-D672-6495988B1BA0}"/>
              </a:ext>
            </a:extLst>
          </p:cNvPr>
          <p:cNvSpPr/>
          <p:nvPr/>
        </p:nvSpPr>
        <p:spPr>
          <a:xfrm>
            <a:off x="2471724" y="1704468"/>
            <a:ext cx="1064550" cy="973888"/>
          </a:xfrm>
          <a:prstGeom prst="roundRect">
            <a:avLst>
              <a:gd name="adj" fmla="val 516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18" name="文字方塊 117">
            <a:extLst>
              <a:ext uri="{FF2B5EF4-FFF2-40B4-BE49-F238E27FC236}">
                <a16:creationId xmlns:a16="http://schemas.microsoft.com/office/drawing/2014/main" id="{0F5AF795-3B3C-801B-75CE-99F18D920572}"/>
              </a:ext>
            </a:extLst>
          </p:cNvPr>
          <p:cNvSpPr txBox="1"/>
          <p:nvPr/>
        </p:nvSpPr>
        <p:spPr>
          <a:xfrm>
            <a:off x="2539118" y="1768192"/>
            <a:ext cx="931588" cy="37085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119" name="文字方塊 118">
            <a:extLst>
              <a:ext uri="{FF2B5EF4-FFF2-40B4-BE49-F238E27FC236}">
                <a16:creationId xmlns:a16="http://schemas.microsoft.com/office/drawing/2014/main" id="{4F679991-33F8-2BC7-D7D4-C417EBD90EEA}"/>
              </a:ext>
            </a:extLst>
          </p:cNvPr>
          <p:cNvSpPr txBox="1"/>
          <p:nvPr/>
        </p:nvSpPr>
        <p:spPr>
          <a:xfrm>
            <a:off x="2539118" y="2239634"/>
            <a:ext cx="931587" cy="370858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122" name="直線單箭頭接點 121">
            <a:extLst>
              <a:ext uri="{FF2B5EF4-FFF2-40B4-BE49-F238E27FC236}">
                <a16:creationId xmlns:a16="http://schemas.microsoft.com/office/drawing/2014/main" id="{BBCCED22-9B60-A6F6-30FE-BEE684D117D3}"/>
              </a:ext>
            </a:extLst>
          </p:cNvPr>
          <p:cNvCxnSpPr>
            <a:cxnSpLocks/>
            <a:stCxn id="125" idx="0"/>
            <a:endCxn id="119" idx="2"/>
          </p:cNvCxnSpPr>
          <p:nvPr/>
        </p:nvCxnSpPr>
        <p:spPr>
          <a:xfrm flipH="1" flipV="1">
            <a:off x="3004912" y="2610492"/>
            <a:ext cx="4083" cy="220905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直線單箭頭接點 122">
            <a:extLst>
              <a:ext uri="{FF2B5EF4-FFF2-40B4-BE49-F238E27FC236}">
                <a16:creationId xmlns:a16="http://schemas.microsoft.com/office/drawing/2014/main" id="{76B940A6-6BCF-781A-CE7D-374C0654CC82}"/>
              </a:ext>
            </a:extLst>
          </p:cNvPr>
          <p:cNvCxnSpPr>
            <a:cxnSpLocks/>
            <a:stCxn id="119" idx="0"/>
            <a:endCxn id="118" idx="2"/>
          </p:cNvCxnSpPr>
          <p:nvPr/>
        </p:nvCxnSpPr>
        <p:spPr>
          <a:xfrm flipV="1">
            <a:off x="3004912" y="2139050"/>
            <a:ext cx="0" cy="100584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5" name="文字方塊 124">
            <a:extLst>
              <a:ext uri="{FF2B5EF4-FFF2-40B4-BE49-F238E27FC236}">
                <a16:creationId xmlns:a16="http://schemas.microsoft.com/office/drawing/2014/main" id="{252A4D11-98C1-E2CE-76F9-54E64CE32887}"/>
              </a:ext>
            </a:extLst>
          </p:cNvPr>
          <p:cNvSpPr txBox="1"/>
          <p:nvPr/>
        </p:nvSpPr>
        <p:spPr>
          <a:xfrm>
            <a:off x="2651259" y="2831397"/>
            <a:ext cx="715471" cy="460130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t" anchorCtr="1">
            <a:noAutofit/>
          </a:bodyPr>
          <a:lstStyle/>
          <a:p>
            <a:pPr marL="0" algn="ctr" rtl="0" eaLnBrk="1" fontAlgn="ctr" latinLnBrk="0" hangingPunct="1">
              <a:lnSpc>
                <a:spcPts val="1600"/>
              </a:lnSpc>
              <a:buNone/>
            </a:pPr>
            <a:r>
              <a:rPr lang="en-US" altLang="zh-TW" sz="12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Mentor</a:t>
            </a:r>
          </a:p>
          <a:p>
            <a:pPr marL="0" algn="ctr" rtl="0" eaLnBrk="1" fontAlgn="ctr" latinLnBrk="0" hangingPunct="1">
              <a:lnSpc>
                <a:spcPts val="1600"/>
              </a:lnSpc>
              <a:buNone/>
            </a:pPr>
            <a:r>
              <a:rPr lang="en-US" altLang="zh-TW" sz="12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Model</a:t>
            </a:r>
          </a:p>
        </p:txBody>
      </p:sp>
      <p:sp>
        <p:nvSpPr>
          <p:cNvPr id="137" name="文字方塊 136">
            <a:extLst>
              <a:ext uri="{FF2B5EF4-FFF2-40B4-BE49-F238E27FC236}">
                <a16:creationId xmlns:a16="http://schemas.microsoft.com/office/drawing/2014/main" id="{3B21D428-399E-48DA-FA3B-F4D2934EFEFE}"/>
              </a:ext>
            </a:extLst>
          </p:cNvPr>
          <p:cNvSpPr txBox="1"/>
          <p:nvPr/>
        </p:nvSpPr>
        <p:spPr>
          <a:xfrm>
            <a:off x="747752" y="1126708"/>
            <a:ext cx="858736" cy="386716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Loss of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Next Token</a:t>
            </a:r>
          </a:p>
        </p:txBody>
      </p:sp>
      <p:sp>
        <p:nvSpPr>
          <p:cNvPr id="139" name="文字方塊 138">
            <a:extLst>
              <a:ext uri="{FF2B5EF4-FFF2-40B4-BE49-F238E27FC236}">
                <a16:creationId xmlns:a16="http://schemas.microsoft.com/office/drawing/2014/main" id="{D5B44D3B-4241-2BF9-F500-31CADFD0B569}"/>
              </a:ext>
            </a:extLst>
          </p:cNvPr>
          <p:cNvSpPr txBox="1"/>
          <p:nvPr/>
        </p:nvSpPr>
        <p:spPr>
          <a:xfrm>
            <a:off x="2539118" y="1143594"/>
            <a:ext cx="931583" cy="377916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Loss of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Next Token</a:t>
            </a:r>
          </a:p>
        </p:txBody>
      </p:sp>
      <p:sp>
        <p:nvSpPr>
          <p:cNvPr id="315" name="矩形: 圓角 314">
            <a:extLst>
              <a:ext uri="{FF2B5EF4-FFF2-40B4-BE49-F238E27FC236}">
                <a16:creationId xmlns:a16="http://schemas.microsoft.com/office/drawing/2014/main" id="{FAAA9A43-CE4C-B3F6-E773-87ECFC273B53}"/>
              </a:ext>
            </a:extLst>
          </p:cNvPr>
          <p:cNvSpPr/>
          <p:nvPr/>
        </p:nvSpPr>
        <p:spPr>
          <a:xfrm>
            <a:off x="5793256" y="2470586"/>
            <a:ext cx="794968" cy="973888"/>
          </a:xfrm>
          <a:prstGeom prst="roundRect">
            <a:avLst>
              <a:gd name="adj" fmla="val 516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solidFill>
                <a:schemeClr val="tx2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16" name="文字方塊 315">
            <a:extLst>
              <a:ext uri="{FF2B5EF4-FFF2-40B4-BE49-F238E27FC236}">
                <a16:creationId xmlns:a16="http://schemas.microsoft.com/office/drawing/2014/main" id="{777D1806-1AC5-A090-0E2F-7F659A74A141}"/>
              </a:ext>
            </a:extLst>
          </p:cNvPr>
          <p:cNvSpPr txBox="1"/>
          <p:nvPr/>
        </p:nvSpPr>
        <p:spPr>
          <a:xfrm>
            <a:off x="5870354" y="2534310"/>
            <a:ext cx="416433" cy="433924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317" name="文字方塊 316">
            <a:extLst>
              <a:ext uri="{FF2B5EF4-FFF2-40B4-BE49-F238E27FC236}">
                <a16:creationId xmlns:a16="http://schemas.microsoft.com/office/drawing/2014/main" id="{B636CD72-4E44-11EE-89CB-634CD940FF09}"/>
              </a:ext>
            </a:extLst>
          </p:cNvPr>
          <p:cNvSpPr txBox="1"/>
          <p:nvPr/>
        </p:nvSpPr>
        <p:spPr>
          <a:xfrm>
            <a:off x="5870354" y="3005752"/>
            <a:ext cx="416433" cy="370858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318" name="直線單箭頭接點 317">
            <a:extLst>
              <a:ext uri="{FF2B5EF4-FFF2-40B4-BE49-F238E27FC236}">
                <a16:creationId xmlns:a16="http://schemas.microsoft.com/office/drawing/2014/main" id="{47BCA9D0-43E0-3E34-1EAB-DAC8C02BE71F}"/>
              </a:ext>
            </a:extLst>
          </p:cNvPr>
          <p:cNvCxnSpPr>
            <a:cxnSpLocks/>
            <a:stCxn id="316" idx="0"/>
            <a:endCxn id="322" idx="2"/>
          </p:cNvCxnSpPr>
          <p:nvPr/>
        </p:nvCxnSpPr>
        <p:spPr>
          <a:xfrm flipH="1" flipV="1">
            <a:off x="6076721" y="2372434"/>
            <a:ext cx="1850" cy="161876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9" name="直線單箭頭接點 318">
            <a:extLst>
              <a:ext uri="{FF2B5EF4-FFF2-40B4-BE49-F238E27FC236}">
                <a16:creationId xmlns:a16="http://schemas.microsoft.com/office/drawing/2014/main" id="{5085AE20-60EC-AD40-341B-68DC9CFF1AA3}"/>
              </a:ext>
            </a:extLst>
          </p:cNvPr>
          <p:cNvCxnSpPr>
            <a:cxnSpLocks/>
            <a:stCxn id="321" idx="0"/>
            <a:endCxn id="317" idx="2"/>
          </p:cNvCxnSpPr>
          <p:nvPr/>
        </p:nvCxnSpPr>
        <p:spPr>
          <a:xfrm flipV="1">
            <a:off x="6078570" y="3376610"/>
            <a:ext cx="1" cy="138088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1" name="文字方塊 320">
            <a:extLst>
              <a:ext uri="{FF2B5EF4-FFF2-40B4-BE49-F238E27FC236}">
                <a16:creationId xmlns:a16="http://schemas.microsoft.com/office/drawing/2014/main" id="{6050EABD-57B0-7FFB-D65A-5E5C8A88B497}"/>
              </a:ext>
            </a:extLst>
          </p:cNvPr>
          <p:cNvSpPr txBox="1"/>
          <p:nvPr/>
        </p:nvSpPr>
        <p:spPr>
          <a:xfrm>
            <a:off x="5862546" y="3514698"/>
            <a:ext cx="432048" cy="352634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algn="ctr" rtl="0" eaLnBrk="1" fontAlgn="ctr" latinLnBrk="0" hangingPunct="1">
              <a:lnSpc>
                <a:spcPts val="1600"/>
              </a:lnSpc>
              <a:buNone/>
            </a:pPr>
            <a:r>
              <a:rPr lang="en-US" altLang="zh-TW" sz="1000" b="1" u="sng" dirty="0">
                <a:solidFill>
                  <a:schemeClr val="bg2">
                    <a:lumMod val="25000"/>
                  </a:schemeClr>
                </a:solidFill>
                <a:latin typeface="Consolas" panose="020B0609020204030204" pitchFamily="49" charset="0"/>
              </a:rPr>
              <a:t>Q&amp;A</a:t>
            </a:r>
            <a:endParaRPr lang="en-US" altLang="zh-TW" sz="1000" u="sng" strike="noStrike" kern="1200" spc="0" dirty="0">
              <a:ln>
                <a:noFill/>
              </a:ln>
              <a:solidFill>
                <a:schemeClr val="bg2">
                  <a:lumMod val="25000"/>
                </a:schemeClr>
              </a:solidFill>
              <a:effectLst/>
              <a:latin typeface="Consolas" panose="020B0609020204030204" pitchFamily="49" charset="0"/>
            </a:endParaRPr>
          </a:p>
          <a:p>
            <a:pPr marL="0" marR="0" lvl="0" algn="ctr" defTabSz="914400" rtl="0" eaLnBrk="1" fontAlgn="ctr" latinLnBrk="0" hangingPunct="1">
              <a:lnSpc>
                <a:spcPts val="1200"/>
              </a:lnSpc>
              <a:buClrTx/>
              <a:buSzTx/>
              <a:buFontTx/>
              <a:buNone/>
              <a:tabLst/>
              <a:defRPr/>
            </a:pPr>
            <a:r>
              <a:rPr lang="en-US" altLang="zh-TW" sz="1000" dirty="0">
                <a:solidFill>
                  <a:schemeClr val="bg2">
                    <a:lumMod val="25000"/>
                  </a:schemeClr>
                </a:solidFill>
                <a:latin typeface="Consolas" panose="020B0609020204030204" pitchFamily="49" charset="0"/>
                <a:ea typeface="新細明體" panose="02020500000000000000" pitchFamily="18" charset="-120"/>
              </a:rPr>
              <a:t>(MCQ)</a:t>
            </a:r>
            <a:endParaRPr kumimoji="0" lang="zh-TW" altLang="zh-TW" sz="1000" strike="noStrike" kern="1200" cap="none" spc="0" normalizeH="0" noProof="0" dirty="0">
              <a:ln>
                <a:noFill/>
              </a:ln>
              <a:solidFill>
                <a:schemeClr val="bg2">
                  <a:lumMod val="25000"/>
                </a:schemeClr>
              </a:solidFill>
              <a:effectLst/>
              <a:uLnTx/>
              <a:uFillTx/>
              <a:latin typeface="Consolas" panose="020B0609020204030204" pitchFamily="49" charset="0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322" name="文字方塊 321">
            <a:extLst>
              <a:ext uri="{FF2B5EF4-FFF2-40B4-BE49-F238E27FC236}">
                <a16:creationId xmlns:a16="http://schemas.microsoft.com/office/drawing/2014/main" id="{BBB5E49F-166C-829A-96D9-BC04ED271FAF}"/>
              </a:ext>
            </a:extLst>
          </p:cNvPr>
          <p:cNvSpPr txBox="1"/>
          <p:nvPr/>
        </p:nvSpPr>
        <p:spPr>
          <a:xfrm>
            <a:off x="5853249" y="2181676"/>
            <a:ext cx="446943" cy="190758"/>
          </a:xfrm>
          <a:prstGeom prst="rect">
            <a:avLst/>
          </a:prstGeom>
          <a:noFill/>
          <a:ln w="15875">
            <a:noFill/>
          </a:ln>
          <a:effectLst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000"/>
              </a:lnSpc>
              <a:buNone/>
            </a:pPr>
            <a:r>
              <a:rPr lang="en-US" altLang="zh-TW" sz="1000" b="1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Score</a:t>
            </a:r>
          </a:p>
        </p:txBody>
      </p:sp>
      <p:sp>
        <p:nvSpPr>
          <p:cNvPr id="324" name="文字方塊 323">
            <a:extLst>
              <a:ext uri="{FF2B5EF4-FFF2-40B4-BE49-F238E27FC236}">
                <a16:creationId xmlns:a16="http://schemas.microsoft.com/office/drawing/2014/main" id="{D8AF711C-01F8-2383-A166-72304A75F5CF}"/>
              </a:ext>
            </a:extLst>
          </p:cNvPr>
          <p:cNvSpPr txBox="1"/>
          <p:nvPr/>
        </p:nvSpPr>
        <p:spPr>
          <a:xfrm>
            <a:off x="6320394" y="2534310"/>
            <a:ext cx="190225" cy="433924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tx2"/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</a:t>
            </a:r>
          </a:p>
        </p:txBody>
      </p:sp>
      <p:sp>
        <p:nvSpPr>
          <p:cNvPr id="325" name="文字方塊 324">
            <a:extLst>
              <a:ext uri="{FF2B5EF4-FFF2-40B4-BE49-F238E27FC236}">
                <a16:creationId xmlns:a16="http://schemas.microsoft.com/office/drawing/2014/main" id="{4C6AA02B-3311-B121-FEAD-3A83EEDD19D0}"/>
              </a:ext>
            </a:extLst>
          </p:cNvPr>
          <p:cNvSpPr txBox="1"/>
          <p:nvPr/>
        </p:nvSpPr>
        <p:spPr>
          <a:xfrm>
            <a:off x="6320394" y="3005752"/>
            <a:ext cx="190225" cy="370858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</a:t>
            </a:r>
          </a:p>
        </p:txBody>
      </p:sp>
      <p:sp>
        <p:nvSpPr>
          <p:cNvPr id="332" name="流程圖: 合併 331">
            <a:extLst>
              <a:ext uri="{FF2B5EF4-FFF2-40B4-BE49-F238E27FC236}">
                <a16:creationId xmlns:a16="http://schemas.microsoft.com/office/drawing/2014/main" id="{BCEAC993-7B03-4603-7D4F-16080ED42D99}"/>
              </a:ext>
            </a:extLst>
          </p:cNvPr>
          <p:cNvSpPr/>
          <p:nvPr/>
        </p:nvSpPr>
        <p:spPr>
          <a:xfrm>
            <a:off x="5174863" y="1303606"/>
            <a:ext cx="189225" cy="942348"/>
          </a:xfrm>
          <a:prstGeom prst="flowChartMerge">
            <a:avLst/>
          </a:prstGeom>
          <a:solidFill>
            <a:srgbClr val="FFC000"/>
          </a:solidFill>
          <a:ln w="254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91440" rIns="0" bIns="0" rtlCol="0" anchor="t" anchorCtr="1"/>
          <a:lstStyle/>
          <a:p>
            <a:pPr algn="r"/>
            <a:r>
              <a:rPr lang="en-US" altLang="zh-TW" sz="1200" b="1" dirty="0">
                <a:solidFill>
                  <a:schemeClr val="accent2">
                    <a:lumMod val="75000"/>
                  </a:schemeClr>
                </a:solidFill>
              </a:rPr>
              <a:t>VRAM</a:t>
            </a:r>
            <a:endParaRPr lang="zh-TW" altLang="en-US" sz="12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68" name="矩形: 圓角 367">
            <a:extLst>
              <a:ext uri="{FF2B5EF4-FFF2-40B4-BE49-F238E27FC236}">
                <a16:creationId xmlns:a16="http://schemas.microsoft.com/office/drawing/2014/main" id="{9EA0A467-5651-59AE-9729-2BEAA8CBE8A7}"/>
              </a:ext>
            </a:extLst>
          </p:cNvPr>
          <p:cNvSpPr/>
          <p:nvPr/>
        </p:nvSpPr>
        <p:spPr>
          <a:xfrm>
            <a:off x="6876256" y="2470502"/>
            <a:ext cx="794968" cy="973888"/>
          </a:xfrm>
          <a:prstGeom prst="roundRect">
            <a:avLst>
              <a:gd name="adj" fmla="val 516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solidFill>
                <a:schemeClr val="tx2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69" name="文字方塊 368">
            <a:extLst>
              <a:ext uri="{FF2B5EF4-FFF2-40B4-BE49-F238E27FC236}">
                <a16:creationId xmlns:a16="http://schemas.microsoft.com/office/drawing/2014/main" id="{C0659B23-491F-B9F4-046F-3D6F8970265F}"/>
              </a:ext>
            </a:extLst>
          </p:cNvPr>
          <p:cNvSpPr txBox="1"/>
          <p:nvPr/>
        </p:nvSpPr>
        <p:spPr>
          <a:xfrm>
            <a:off x="6953354" y="2534226"/>
            <a:ext cx="416433" cy="433924"/>
          </a:xfrm>
          <a:prstGeom prst="rect">
            <a:avLst/>
          </a:prstGeom>
          <a:solidFill>
            <a:srgbClr val="B7C9E7">
              <a:alpha val="1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370" name="文字方塊 369">
            <a:extLst>
              <a:ext uri="{FF2B5EF4-FFF2-40B4-BE49-F238E27FC236}">
                <a16:creationId xmlns:a16="http://schemas.microsoft.com/office/drawing/2014/main" id="{EF22FC26-3919-51CE-75E8-79C3F3E93FDE}"/>
              </a:ext>
            </a:extLst>
          </p:cNvPr>
          <p:cNvSpPr txBox="1"/>
          <p:nvPr/>
        </p:nvSpPr>
        <p:spPr>
          <a:xfrm>
            <a:off x="6953354" y="3005668"/>
            <a:ext cx="416433" cy="370858"/>
          </a:xfrm>
          <a:prstGeom prst="rect">
            <a:avLst/>
          </a:prstGeom>
          <a:solidFill>
            <a:srgbClr val="FEC203">
              <a:alpha val="1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371" name="直線單箭頭接點 370">
            <a:extLst>
              <a:ext uri="{FF2B5EF4-FFF2-40B4-BE49-F238E27FC236}">
                <a16:creationId xmlns:a16="http://schemas.microsoft.com/office/drawing/2014/main" id="{DB65FBC4-B58B-615F-380B-357BFECFF890}"/>
              </a:ext>
            </a:extLst>
          </p:cNvPr>
          <p:cNvCxnSpPr>
            <a:cxnSpLocks/>
            <a:stCxn id="369" idx="0"/>
            <a:endCxn id="54" idx="2"/>
          </p:cNvCxnSpPr>
          <p:nvPr/>
        </p:nvCxnSpPr>
        <p:spPr>
          <a:xfrm flipH="1" flipV="1">
            <a:off x="7159721" y="2372434"/>
            <a:ext cx="1850" cy="161792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2" name="直線單箭頭接點 371">
            <a:extLst>
              <a:ext uri="{FF2B5EF4-FFF2-40B4-BE49-F238E27FC236}">
                <a16:creationId xmlns:a16="http://schemas.microsoft.com/office/drawing/2014/main" id="{80417F5D-C68B-59D2-FCA6-5DDA7D38F16F}"/>
              </a:ext>
            </a:extLst>
          </p:cNvPr>
          <p:cNvCxnSpPr>
            <a:cxnSpLocks/>
            <a:stCxn id="373" idx="0"/>
            <a:endCxn id="370" idx="2"/>
          </p:cNvCxnSpPr>
          <p:nvPr/>
        </p:nvCxnSpPr>
        <p:spPr>
          <a:xfrm flipV="1">
            <a:off x="7161570" y="3376526"/>
            <a:ext cx="1" cy="138172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3" name="文字方塊 372">
            <a:extLst>
              <a:ext uri="{FF2B5EF4-FFF2-40B4-BE49-F238E27FC236}">
                <a16:creationId xmlns:a16="http://schemas.microsoft.com/office/drawing/2014/main" id="{719E8EC6-A31B-D42A-C145-2ADBE0C744F6}"/>
              </a:ext>
            </a:extLst>
          </p:cNvPr>
          <p:cNvSpPr txBox="1"/>
          <p:nvPr/>
        </p:nvSpPr>
        <p:spPr>
          <a:xfrm>
            <a:off x="6945546" y="3514698"/>
            <a:ext cx="432048" cy="352634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algn="ctr" rtl="0" eaLnBrk="1" fontAlgn="ctr" latinLnBrk="0" hangingPunct="1">
              <a:lnSpc>
                <a:spcPts val="1600"/>
              </a:lnSpc>
              <a:buNone/>
            </a:pPr>
            <a:r>
              <a:rPr lang="en-US" altLang="zh-TW" sz="1000" b="1" u="sng" dirty="0">
                <a:solidFill>
                  <a:schemeClr val="bg2">
                    <a:lumMod val="25000"/>
                  </a:schemeClr>
                </a:solidFill>
                <a:latin typeface="Consolas" panose="020B0609020204030204" pitchFamily="49" charset="0"/>
              </a:rPr>
              <a:t>Q&amp;A</a:t>
            </a:r>
            <a:endParaRPr lang="en-US" altLang="zh-TW" sz="1000" u="sng" strike="noStrike" kern="1200" spc="0" dirty="0">
              <a:ln>
                <a:noFill/>
              </a:ln>
              <a:solidFill>
                <a:schemeClr val="bg2">
                  <a:lumMod val="25000"/>
                </a:schemeClr>
              </a:solidFill>
              <a:effectLst/>
              <a:latin typeface="Consolas" panose="020B0609020204030204" pitchFamily="49" charset="0"/>
            </a:endParaRPr>
          </a:p>
          <a:p>
            <a:pPr marL="0" marR="0" lvl="0" algn="ctr" defTabSz="914400" rtl="0" eaLnBrk="1" fontAlgn="ctr" latinLnBrk="0" hangingPunct="1">
              <a:lnSpc>
                <a:spcPts val="1200"/>
              </a:lnSpc>
              <a:buClrTx/>
              <a:buSzTx/>
              <a:buFontTx/>
              <a:buNone/>
              <a:tabLst/>
              <a:defRPr/>
            </a:pPr>
            <a:r>
              <a:rPr lang="en-US" altLang="zh-TW" sz="1000" dirty="0">
                <a:solidFill>
                  <a:schemeClr val="bg2">
                    <a:lumMod val="25000"/>
                  </a:schemeClr>
                </a:solidFill>
                <a:latin typeface="Consolas" panose="020B0609020204030204" pitchFamily="49" charset="0"/>
                <a:ea typeface="新細明體" panose="02020500000000000000" pitchFamily="18" charset="-120"/>
              </a:rPr>
              <a:t>(MCQ)</a:t>
            </a:r>
            <a:endParaRPr kumimoji="0" lang="zh-TW" altLang="zh-TW" sz="1000" strike="noStrike" kern="1200" cap="none" spc="0" normalizeH="0" noProof="0" dirty="0">
              <a:ln>
                <a:noFill/>
              </a:ln>
              <a:solidFill>
                <a:schemeClr val="bg2">
                  <a:lumMod val="25000"/>
                </a:schemeClr>
              </a:solidFill>
              <a:effectLst/>
              <a:uLnTx/>
              <a:uFillTx/>
              <a:latin typeface="Consolas" panose="020B0609020204030204" pitchFamily="49" charset="0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376" name="文字方塊 375">
            <a:extLst>
              <a:ext uri="{FF2B5EF4-FFF2-40B4-BE49-F238E27FC236}">
                <a16:creationId xmlns:a16="http://schemas.microsoft.com/office/drawing/2014/main" id="{26919418-A789-EDA6-86D0-96CC2155BFCB}"/>
              </a:ext>
            </a:extLst>
          </p:cNvPr>
          <p:cNvSpPr txBox="1"/>
          <p:nvPr/>
        </p:nvSpPr>
        <p:spPr>
          <a:xfrm>
            <a:off x="7403394" y="2534226"/>
            <a:ext cx="190225" cy="433924"/>
          </a:xfrm>
          <a:prstGeom prst="rect">
            <a:avLst/>
          </a:prstGeom>
          <a:solidFill>
            <a:srgbClr val="B7C9E7">
              <a:alpha val="3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tx2"/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</a:t>
            </a:r>
          </a:p>
        </p:txBody>
      </p:sp>
      <p:sp>
        <p:nvSpPr>
          <p:cNvPr id="377" name="文字方塊 376">
            <a:extLst>
              <a:ext uri="{FF2B5EF4-FFF2-40B4-BE49-F238E27FC236}">
                <a16:creationId xmlns:a16="http://schemas.microsoft.com/office/drawing/2014/main" id="{385AF1C9-D14F-F596-B42A-EACBA5A9AD44}"/>
              </a:ext>
            </a:extLst>
          </p:cNvPr>
          <p:cNvSpPr txBox="1"/>
          <p:nvPr/>
        </p:nvSpPr>
        <p:spPr>
          <a:xfrm>
            <a:off x="7403394" y="3005668"/>
            <a:ext cx="190225" cy="370858"/>
          </a:xfrm>
          <a:prstGeom prst="rect">
            <a:avLst/>
          </a:prstGeom>
          <a:solidFill>
            <a:srgbClr val="FEC203">
              <a:alpha val="3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</a:t>
            </a:r>
          </a:p>
        </p:txBody>
      </p:sp>
      <p:sp>
        <p:nvSpPr>
          <p:cNvPr id="379" name="矩形: 圓角 378">
            <a:extLst>
              <a:ext uri="{FF2B5EF4-FFF2-40B4-BE49-F238E27FC236}">
                <a16:creationId xmlns:a16="http://schemas.microsoft.com/office/drawing/2014/main" id="{BCA1F0A1-C78B-4C44-6484-9B782920E7FF}"/>
              </a:ext>
            </a:extLst>
          </p:cNvPr>
          <p:cNvSpPr/>
          <p:nvPr/>
        </p:nvSpPr>
        <p:spPr>
          <a:xfrm>
            <a:off x="484964" y="1607424"/>
            <a:ext cx="1394497" cy="1918598"/>
          </a:xfrm>
          <a:prstGeom prst="roundRect">
            <a:avLst>
              <a:gd name="adj" fmla="val 4292"/>
            </a:avLst>
          </a:prstGeom>
          <a:solidFill>
            <a:schemeClr val="accent2">
              <a:lumMod val="50000"/>
              <a:alpha val="60000"/>
            </a:schemeClr>
          </a:solidFill>
          <a:ln w="15875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 anchorCtr="1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" name="標題 1">
            <a:extLst>
              <a:ext uri="{FF2B5EF4-FFF2-40B4-BE49-F238E27FC236}">
                <a16:creationId xmlns:a16="http://schemas.microsoft.com/office/drawing/2014/main" id="{66B49238-60F6-67AA-9BF6-00D4A6557700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Supervised Fine-Tuning</a:t>
            </a:r>
          </a:p>
          <a:p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SFT shapes behavior via structured, high-quality QA pairs, not knowledge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.</a:t>
            </a:r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618F6AD0-83FA-9357-73ED-4F671D392F32}"/>
              </a:ext>
            </a:extLst>
          </p:cNvPr>
          <p:cNvSpPr txBox="1"/>
          <p:nvPr/>
        </p:nvSpPr>
        <p:spPr>
          <a:xfrm>
            <a:off x="747752" y="1756903"/>
            <a:ext cx="872480" cy="1438867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>
                  <a:glow rad="1778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Optimizer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SGD, 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Adam, 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accent6">
                    <a:lumMod val="75000"/>
                  </a:schemeClr>
                </a:solidFill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*</a:t>
            </a:r>
            <a:r>
              <a:rPr lang="en-US" altLang="zh-TW" sz="1000" dirty="0"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AdamW,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Paged AdamW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 …</a:t>
            </a:r>
            <a:endParaRPr lang="en-US" altLang="zh-TW" sz="1000" u="none" strike="noStrike" dirty="0">
              <a:effectLst>
                <a:glow rad="127000">
                  <a:srgbClr val="FFFF00"/>
                </a:glow>
              </a:effectLst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sp>
        <p:nvSpPr>
          <p:cNvPr id="22" name="標題 1">
            <a:extLst>
              <a:ext uri="{FF2B5EF4-FFF2-40B4-BE49-F238E27FC236}">
                <a16:creationId xmlns:a16="http://schemas.microsoft.com/office/drawing/2014/main" id="{7A53AD3C-F2BB-4EE2-24CD-86C8D28B9CA8}"/>
              </a:ext>
            </a:extLst>
          </p:cNvPr>
          <p:cNvSpPr txBox="1">
            <a:spLocks/>
          </p:cNvSpPr>
          <p:nvPr/>
        </p:nvSpPr>
        <p:spPr>
          <a:xfrm>
            <a:off x="2760419" y="3326392"/>
            <a:ext cx="496133" cy="174616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Noto Sans HK" panose="020B0200000000000000" pitchFamily="34" charset="-120"/>
                <a:cs typeface="Arial" panose="020B0604020202020204" pitchFamily="34" charset="0"/>
              </a:rPr>
              <a:t>Distillation</a:t>
            </a:r>
          </a:p>
        </p:txBody>
      </p:sp>
      <p:sp>
        <p:nvSpPr>
          <p:cNvPr id="24" name="流程圖: 合併 23">
            <a:extLst>
              <a:ext uri="{FF2B5EF4-FFF2-40B4-BE49-F238E27FC236}">
                <a16:creationId xmlns:a16="http://schemas.microsoft.com/office/drawing/2014/main" id="{CF8E78C1-A247-3230-83FA-CB76161D9B1F}"/>
              </a:ext>
            </a:extLst>
          </p:cNvPr>
          <p:cNvSpPr/>
          <p:nvPr/>
        </p:nvSpPr>
        <p:spPr>
          <a:xfrm>
            <a:off x="2123728" y="1317518"/>
            <a:ext cx="189225" cy="942348"/>
          </a:xfrm>
          <a:prstGeom prst="flowChartMerge">
            <a:avLst/>
          </a:prstGeom>
          <a:solidFill>
            <a:srgbClr val="FFC000"/>
          </a:solidFill>
          <a:ln w="254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91440" rIns="0" bIns="0" rtlCol="0" anchor="t" anchorCtr="1"/>
          <a:lstStyle/>
          <a:p>
            <a:pPr algn="r"/>
            <a:r>
              <a:rPr lang="en-US" altLang="zh-TW" sz="1200" b="1" dirty="0">
                <a:solidFill>
                  <a:schemeClr val="accent2">
                    <a:lumMod val="75000"/>
                  </a:schemeClr>
                </a:solidFill>
              </a:rPr>
              <a:t>Time</a:t>
            </a:r>
            <a:endParaRPr lang="zh-TW" altLang="en-US" sz="12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55" name="標題 1">
            <a:extLst>
              <a:ext uri="{FF2B5EF4-FFF2-40B4-BE49-F238E27FC236}">
                <a16:creationId xmlns:a16="http://schemas.microsoft.com/office/drawing/2014/main" id="{B37A615F-552C-F797-9035-FB5C2D0F26EE}"/>
              </a:ext>
            </a:extLst>
          </p:cNvPr>
          <p:cNvSpPr txBox="1">
            <a:spLocks/>
          </p:cNvSpPr>
          <p:nvPr/>
        </p:nvSpPr>
        <p:spPr>
          <a:xfrm>
            <a:off x="6827284" y="3935370"/>
            <a:ext cx="640487" cy="272442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 algn="ctr">
              <a:lnSpc>
                <a:spcPts val="1000"/>
              </a:lnSpc>
              <a:spcBef>
                <a:spcPts val="0"/>
              </a:spcBef>
              <a:defRPr/>
            </a:pPr>
            <a:r>
              <a:rPr lang="en-US" altLang="zh-TW" sz="1200" b="1" dirty="0">
                <a:latin typeface="+mn-lt"/>
                <a:ea typeface="Noto Sans HK" panose="020B0200000000000000" pitchFamily="34" charset="-120"/>
                <a:cs typeface="Arial" panose="020B0604020202020204" pitchFamily="34" charset="0"/>
              </a:rPr>
              <a:t>PTQ</a:t>
            </a:r>
            <a:br>
              <a:rPr lang="en-US" altLang="zh-TW" sz="1000" dirty="0">
                <a:latin typeface="+mn-lt"/>
                <a:ea typeface="Noto Sans HK" panose="020B0200000000000000" pitchFamily="34" charset="-120"/>
                <a:cs typeface="Arial" panose="020B0604020202020204" pitchFamily="34" charset="0"/>
              </a:rPr>
            </a:br>
            <a:r>
              <a:rPr lang="en-US" altLang="zh-TW" sz="1000" dirty="0">
                <a:latin typeface="+mn-lt"/>
                <a:ea typeface="Noto Sans HK" panose="020B0200000000000000" pitchFamily="34" charset="-120"/>
                <a:cs typeface="Arial" panose="020B0604020202020204" pitchFamily="34" charset="0"/>
              </a:rPr>
              <a:t>(</a:t>
            </a:r>
            <a:r>
              <a:rPr kumimoji="0" lang="en-US" altLang="zh-TW" sz="10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新細明體" panose="02020500000000000000" pitchFamily="18" charset="-120"/>
                <a:cs typeface="+mn-cs"/>
              </a:rPr>
              <a:t>Precision</a:t>
            </a: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  <a:cs typeface="Calibri" panose="020F0502020204030204" pitchFamily="34" charset="0"/>
              </a:rPr>
              <a:t> ↓</a:t>
            </a:r>
            <a:r>
              <a:rPr kumimoji="0" lang="en-US" altLang="zh-TW" sz="10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新細明體" panose="02020500000000000000" pitchFamily="18" charset="-120"/>
                <a:cs typeface="+mn-cs"/>
              </a:rPr>
              <a:t>)</a:t>
            </a:r>
          </a:p>
        </p:txBody>
      </p:sp>
      <p:sp>
        <p:nvSpPr>
          <p:cNvPr id="58" name="標題 1">
            <a:extLst>
              <a:ext uri="{FF2B5EF4-FFF2-40B4-BE49-F238E27FC236}">
                <a16:creationId xmlns:a16="http://schemas.microsoft.com/office/drawing/2014/main" id="{0090CFC2-B2C3-795C-E73F-AE2C84936473}"/>
              </a:ext>
            </a:extLst>
          </p:cNvPr>
          <p:cNvSpPr txBox="1">
            <a:spLocks/>
          </p:cNvSpPr>
          <p:nvPr/>
        </p:nvSpPr>
        <p:spPr>
          <a:xfrm>
            <a:off x="5803721" y="3944782"/>
            <a:ext cx="640487" cy="272442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lnSpc>
                <a:spcPts val="1000"/>
              </a:lnSpc>
            </a:pPr>
            <a:r>
              <a:rPr lang="en-US" altLang="zh-TW" sz="1200" b="1" dirty="0">
                <a:latin typeface="+mn-lt"/>
                <a:ea typeface="Noto Sans HK" panose="020B0200000000000000" pitchFamily="34" charset="-120"/>
                <a:cs typeface="Arial" panose="020B0604020202020204" pitchFamily="34" charset="0"/>
              </a:rPr>
              <a:t>PRUNING</a:t>
            </a:r>
          </a:p>
          <a:p>
            <a:pPr lvl="0" algn="ctr">
              <a:lnSpc>
                <a:spcPts val="1000"/>
              </a:lnSpc>
              <a:spcBef>
                <a:spcPts val="0"/>
              </a:spcBef>
              <a:defRPr/>
            </a:pPr>
            <a:r>
              <a:rPr kumimoji="0" lang="en-US" altLang="zh-TW" sz="10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新細明體" panose="02020500000000000000" pitchFamily="18" charset="-120"/>
                <a:cs typeface="+mn-cs"/>
              </a:rPr>
              <a:t>(Dimension</a:t>
            </a: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  <a:cs typeface="Calibri" panose="020F0502020204030204" pitchFamily="34" charset="0"/>
              </a:rPr>
              <a:t> ↓</a:t>
            </a:r>
            <a:r>
              <a:rPr kumimoji="0" lang="en-US" altLang="zh-TW" sz="10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新細明體" panose="02020500000000000000" pitchFamily="18" charset="-120"/>
                <a:cs typeface="+mn-cs"/>
              </a:rPr>
              <a:t>)</a:t>
            </a:r>
          </a:p>
        </p:txBody>
      </p:sp>
      <p:sp>
        <p:nvSpPr>
          <p:cNvPr id="16" name="標題 1">
            <a:extLst>
              <a:ext uri="{FF2B5EF4-FFF2-40B4-BE49-F238E27FC236}">
                <a16:creationId xmlns:a16="http://schemas.microsoft.com/office/drawing/2014/main" id="{D7904C49-4BB8-1FF5-995D-DC1BDC65925E}"/>
              </a:ext>
            </a:extLst>
          </p:cNvPr>
          <p:cNvSpPr txBox="1">
            <a:spLocks/>
          </p:cNvSpPr>
          <p:nvPr/>
        </p:nvSpPr>
        <p:spPr>
          <a:xfrm>
            <a:off x="929053" y="4262496"/>
            <a:ext cx="496133" cy="174616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Noto Sans HK" panose="020B0200000000000000" pitchFamily="34" charset="-120"/>
                <a:cs typeface="Arial" panose="020B0604020202020204" pitchFamily="34" charset="0"/>
              </a:rPr>
              <a:t>Pre-Training</a:t>
            </a:r>
          </a:p>
        </p:txBody>
      </p:sp>
      <p:sp>
        <p:nvSpPr>
          <p:cNvPr id="54" name="文字方塊 53">
            <a:extLst>
              <a:ext uri="{FF2B5EF4-FFF2-40B4-BE49-F238E27FC236}">
                <a16:creationId xmlns:a16="http://schemas.microsoft.com/office/drawing/2014/main" id="{9E691904-0820-18B0-4CA4-0C81702D74D5}"/>
              </a:ext>
            </a:extLst>
          </p:cNvPr>
          <p:cNvSpPr txBox="1"/>
          <p:nvPr/>
        </p:nvSpPr>
        <p:spPr>
          <a:xfrm>
            <a:off x="6936249" y="2181592"/>
            <a:ext cx="446943" cy="190842"/>
          </a:xfrm>
          <a:prstGeom prst="rect">
            <a:avLst/>
          </a:prstGeom>
          <a:noFill/>
          <a:ln w="15875">
            <a:noFill/>
          </a:ln>
          <a:effectLst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000"/>
              </a:lnSpc>
              <a:buNone/>
            </a:pPr>
            <a:r>
              <a:rPr lang="en-US" altLang="zh-TW" sz="1000" b="1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Score</a:t>
            </a:r>
          </a:p>
        </p:txBody>
      </p:sp>
      <p:sp>
        <p:nvSpPr>
          <p:cNvPr id="10" name="標題 1">
            <a:extLst>
              <a:ext uri="{FF2B5EF4-FFF2-40B4-BE49-F238E27FC236}">
                <a16:creationId xmlns:a16="http://schemas.microsoft.com/office/drawing/2014/main" id="{6D8F9B5A-AD42-7F5E-59D3-5A2BC7763CF0}"/>
              </a:ext>
            </a:extLst>
          </p:cNvPr>
          <p:cNvSpPr txBox="1">
            <a:spLocks/>
          </p:cNvSpPr>
          <p:nvPr/>
        </p:nvSpPr>
        <p:spPr>
          <a:xfrm>
            <a:off x="6899462" y="4376830"/>
            <a:ext cx="496133" cy="174616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b="1" dirty="0">
                <a:solidFill>
                  <a:schemeClr val="tx2">
                    <a:lumMod val="50000"/>
                  </a:schemeClr>
                </a:solidFill>
                <a:latin typeface="+mn-lt"/>
                <a:ea typeface="Noto Sans HK" panose="020B0200000000000000" pitchFamily="34" charset="-120"/>
                <a:cs typeface="Arial" panose="020B0604020202020204" pitchFamily="34" charset="0"/>
              </a:rPr>
              <a:t>QAD</a:t>
            </a:r>
          </a:p>
        </p:txBody>
      </p:sp>
      <p:cxnSp>
        <p:nvCxnSpPr>
          <p:cNvPr id="121" name="直線單箭頭接點 120">
            <a:extLst>
              <a:ext uri="{FF2B5EF4-FFF2-40B4-BE49-F238E27FC236}">
                <a16:creationId xmlns:a16="http://schemas.microsoft.com/office/drawing/2014/main" id="{958C702D-720A-4007-6D16-2D4BCAC13B6B}"/>
              </a:ext>
            </a:extLst>
          </p:cNvPr>
          <p:cNvCxnSpPr>
            <a:cxnSpLocks/>
            <a:stCxn id="118" idx="0"/>
            <a:endCxn id="139" idx="2"/>
          </p:cNvCxnSpPr>
          <p:nvPr/>
        </p:nvCxnSpPr>
        <p:spPr>
          <a:xfrm flipH="1" flipV="1">
            <a:off x="3004910" y="1521510"/>
            <a:ext cx="2" cy="246682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5" name="矩形: 圓角 134">
            <a:extLst>
              <a:ext uri="{FF2B5EF4-FFF2-40B4-BE49-F238E27FC236}">
                <a16:creationId xmlns:a16="http://schemas.microsoft.com/office/drawing/2014/main" id="{EFEB4379-478B-ED90-928C-8ABA214FEFAD}"/>
              </a:ext>
            </a:extLst>
          </p:cNvPr>
          <p:cNvSpPr/>
          <p:nvPr/>
        </p:nvSpPr>
        <p:spPr>
          <a:xfrm>
            <a:off x="2422005" y="1607424"/>
            <a:ext cx="1157348" cy="1121017"/>
          </a:xfrm>
          <a:prstGeom prst="roundRect">
            <a:avLst>
              <a:gd name="adj" fmla="val 4292"/>
            </a:avLst>
          </a:prstGeom>
          <a:solidFill>
            <a:schemeClr val="accent2">
              <a:lumMod val="50000"/>
              <a:alpha val="60000"/>
            </a:schemeClr>
          </a:solidFill>
          <a:ln w="15875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56AA90C8-F0F4-60D7-CC2D-4ACFC9D0DB57}"/>
              </a:ext>
            </a:extLst>
          </p:cNvPr>
          <p:cNvSpPr txBox="1"/>
          <p:nvPr/>
        </p:nvSpPr>
        <p:spPr>
          <a:xfrm>
            <a:off x="2619400" y="1855569"/>
            <a:ext cx="872480" cy="548097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Layer</a:t>
            </a:r>
            <a:r>
              <a:rPr lang="en-US" altLang="zh-TW" sz="1000" b="1" dirty="0">
                <a:effectLst>
                  <a:glow rad="127000">
                    <a:srgbClr val="FFFF00"/>
                  </a:glo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↓</a:t>
            </a:r>
            <a:r>
              <a:rPr lang="en-US" altLang="zh-TW" sz="1000" dirty="0">
                <a:effectLst>
                  <a:glow rad="127000">
                    <a:srgbClr val="FFFF00"/>
                  </a:glo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</a:t>
            </a:r>
          </a:p>
          <a:p>
            <a:pPr algn="ctr">
              <a:lnSpc>
                <a:spcPts val="1400"/>
              </a:lnSpc>
            </a:pPr>
            <a:r>
              <a:rPr lang="en-US" altLang="zh-TW" sz="1000" dirty="0"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Dimension</a:t>
            </a:r>
            <a:r>
              <a:rPr lang="en-US" altLang="zh-TW" sz="1000" b="1" dirty="0">
                <a:effectLst>
                  <a:glow rad="127000">
                    <a:srgbClr val="FFFF00"/>
                  </a:glo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↓</a:t>
            </a:r>
            <a:endParaRPr lang="en-US" altLang="zh-TW" sz="1000" b="1" dirty="0">
              <a:effectLst>
                <a:glow rad="127000">
                  <a:srgbClr val="FFFF00"/>
                </a:glow>
              </a:effectLst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sp>
        <p:nvSpPr>
          <p:cNvPr id="25" name="矩形: 圓角 24">
            <a:extLst>
              <a:ext uri="{FF2B5EF4-FFF2-40B4-BE49-F238E27FC236}">
                <a16:creationId xmlns:a16="http://schemas.microsoft.com/office/drawing/2014/main" id="{038139EC-2911-D766-E9F4-9EC4A47613F0}"/>
              </a:ext>
            </a:extLst>
          </p:cNvPr>
          <p:cNvSpPr/>
          <p:nvPr/>
        </p:nvSpPr>
        <p:spPr>
          <a:xfrm>
            <a:off x="6871636" y="4882671"/>
            <a:ext cx="794968" cy="973888"/>
          </a:xfrm>
          <a:prstGeom prst="roundRect">
            <a:avLst>
              <a:gd name="adj" fmla="val 516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solidFill>
                <a:schemeClr val="tx2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6" name="文字方塊 25">
            <a:extLst>
              <a:ext uri="{FF2B5EF4-FFF2-40B4-BE49-F238E27FC236}">
                <a16:creationId xmlns:a16="http://schemas.microsoft.com/office/drawing/2014/main" id="{888D032C-2C1E-12FF-C88A-C93002A64CFF}"/>
              </a:ext>
            </a:extLst>
          </p:cNvPr>
          <p:cNvSpPr txBox="1"/>
          <p:nvPr/>
        </p:nvSpPr>
        <p:spPr>
          <a:xfrm>
            <a:off x="6948734" y="4946395"/>
            <a:ext cx="416433" cy="433924"/>
          </a:xfrm>
          <a:prstGeom prst="rect">
            <a:avLst/>
          </a:prstGeom>
          <a:solidFill>
            <a:srgbClr val="B7C9E7">
              <a:alpha val="1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44886D9A-736F-C281-2F59-B52D321C5207}"/>
              </a:ext>
            </a:extLst>
          </p:cNvPr>
          <p:cNvSpPr txBox="1"/>
          <p:nvPr/>
        </p:nvSpPr>
        <p:spPr>
          <a:xfrm>
            <a:off x="6948734" y="5417837"/>
            <a:ext cx="416433" cy="370858"/>
          </a:xfrm>
          <a:prstGeom prst="rect">
            <a:avLst/>
          </a:prstGeom>
          <a:solidFill>
            <a:srgbClr val="FEC203">
              <a:alpha val="1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30" name="直線單箭頭接點 29">
            <a:extLst>
              <a:ext uri="{FF2B5EF4-FFF2-40B4-BE49-F238E27FC236}">
                <a16:creationId xmlns:a16="http://schemas.microsoft.com/office/drawing/2014/main" id="{7858E5B8-E8AC-C548-9D59-288F9AD872C0}"/>
              </a:ext>
            </a:extLst>
          </p:cNvPr>
          <p:cNvCxnSpPr>
            <a:cxnSpLocks/>
            <a:stCxn id="34" idx="0"/>
            <a:endCxn id="27" idx="2"/>
          </p:cNvCxnSpPr>
          <p:nvPr/>
        </p:nvCxnSpPr>
        <p:spPr>
          <a:xfrm flipV="1">
            <a:off x="7155100" y="5788695"/>
            <a:ext cx="1851" cy="202774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文字方塊 33">
            <a:extLst>
              <a:ext uri="{FF2B5EF4-FFF2-40B4-BE49-F238E27FC236}">
                <a16:creationId xmlns:a16="http://schemas.microsoft.com/office/drawing/2014/main" id="{BDF147AB-9484-60B6-4538-414E0D6275A5}"/>
              </a:ext>
            </a:extLst>
          </p:cNvPr>
          <p:cNvSpPr txBox="1"/>
          <p:nvPr/>
        </p:nvSpPr>
        <p:spPr>
          <a:xfrm>
            <a:off x="6899462" y="5991469"/>
            <a:ext cx="511276" cy="288032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algn="ctr" rtl="0" eaLnBrk="1" fontAlgn="ctr" latinLnBrk="0" hangingPunct="1">
              <a:lnSpc>
                <a:spcPts val="1200"/>
              </a:lnSpc>
              <a:buNone/>
            </a:pPr>
            <a:r>
              <a:rPr kumimoji="0" lang="en-US" altLang="zh-TW" sz="1000" b="1" strike="noStrike" kern="1200" cap="none" spc="0" normalizeH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rPr>
              <a:t>Mentor</a:t>
            </a:r>
          </a:p>
          <a:p>
            <a:pPr marL="0" algn="ctr" rtl="0" eaLnBrk="1" fontAlgn="ctr" latinLnBrk="0" hangingPunct="1">
              <a:lnSpc>
                <a:spcPts val="1200"/>
              </a:lnSpc>
              <a:buNone/>
            </a:pPr>
            <a:r>
              <a:rPr lang="en-US" altLang="zh-TW" sz="1000" b="1" dirty="0">
                <a:latin typeface="Consolas" panose="020B0609020204030204" pitchFamily="49" charset="0"/>
                <a:ea typeface="新細明體" panose="02020500000000000000" pitchFamily="18" charset="-120"/>
              </a:rPr>
              <a:t>Model</a:t>
            </a:r>
            <a:endParaRPr kumimoji="0" lang="zh-TW" altLang="zh-TW" sz="1000" strike="noStrike" kern="1200" cap="none" spc="0" normalizeH="0" noProof="0" dirty="0">
              <a:ln>
                <a:noFill/>
              </a:ln>
              <a:effectLst/>
              <a:uLnTx/>
              <a:uFillTx/>
              <a:latin typeface="Consolas" panose="020B0609020204030204" pitchFamily="49" charset="0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35" name="文字方塊 34">
            <a:extLst>
              <a:ext uri="{FF2B5EF4-FFF2-40B4-BE49-F238E27FC236}">
                <a16:creationId xmlns:a16="http://schemas.microsoft.com/office/drawing/2014/main" id="{B4E66B93-719D-CBB5-EF4B-34F3D4D5E385}"/>
              </a:ext>
            </a:extLst>
          </p:cNvPr>
          <p:cNvSpPr txBox="1"/>
          <p:nvPr/>
        </p:nvSpPr>
        <p:spPr>
          <a:xfrm>
            <a:off x="7398774" y="4946395"/>
            <a:ext cx="190225" cy="433924"/>
          </a:xfrm>
          <a:prstGeom prst="rect">
            <a:avLst/>
          </a:prstGeom>
          <a:solidFill>
            <a:srgbClr val="B7C9E7">
              <a:alpha val="3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tx2"/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</a:t>
            </a:r>
          </a:p>
        </p:txBody>
      </p:sp>
      <p:sp>
        <p:nvSpPr>
          <p:cNvPr id="36" name="文字方塊 35">
            <a:extLst>
              <a:ext uri="{FF2B5EF4-FFF2-40B4-BE49-F238E27FC236}">
                <a16:creationId xmlns:a16="http://schemas.microsoft.com/office/drawing/2014/main" id="{778BE287-ABAE-8938-B37C-19FD2B4B229E}"/>
              </a:ext>
            </a:extLst>
          </p:cNvPr>
          <p:cNvSpPr txBox="1"/>
          <p:nvPr/>
        </p:nvSpPr>
        <p:spPr>
          <a:xfrm>
            <a:off x="7398774" y="5417837"/>
            <a:ext cx="190225" cy="370858"/>
          </a:xfrm>
          <a:prstGeom prst="rect">
            <a:avLst/>
          </a:prstGeom>
          <a:solidFill>
            <a:srgbClr val="FEC203">
              <a:alpha val="3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</a:t>
            </a:r>
          </a:p>
        </p:txBody>
      </p:sp>
      <p:sp>
        <p:nvSpPr>
          <p:cNvPr id="44" name="矩形: 圓角 43">
            <a:extLst>
              <a:ext uri="{FF2B5EF4-FFF2-40B4-BE49-F238E27FC236}">
                <a16:creationId xmlns:a16="http://schemas.microsoft.com/office/drawing/2014/main" id="{5DE4A9B2-62EF-A9B5-5ECE-ED795AB7D94A}"/>
              </a:ext>
            </a:extLst>
          </p:cNvPr>
          <p:cNvSpPr/>
          <p:nvPr/>
        </p:nvSpPr>
        <p:spPr>
          <a:xfrm>
            <a:off x="6802561" y="4820861"/>
            <a:ext cx="862185" cy="1098601"/>
          </a:xfrm>
          <a:prstGeom prst="roundRect">
            <a:avLst>
              <a:gd name="adj" fmla="val 1682"/>
            </a:avLst>
          </a:prstGeom>
          <a:solidFill>
            <a:schemeClr val="accent2">
              <a:lumMod val="50000"/>
              <a:alpha val="60000"/>
            </a:schemeClr>
          </a:solidFill>
          <a:ln w="15875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cxnSp>
        <p:nvCxnSpPr>
          <p:cNvPr id="60" name="直線單箭頭接點 59">
            <a:extLst>
              <a:ext uri="{FF2B5EF4-FFF2-40B4-BE49-F238E27FC236}">
                <a16:creationId xmlns:a16="http://schemas.microsoft.com/office/drawing/2014/main" id="{2C954AD7-E402-6AFC-8B91-CBAD6E53D57E}"/>
              </a:ext>
            </a:extLst>
          </p:cNvPr>
          <p:cNvCxnSpPr>
            <a:cxnSpLocks/>
            <a:stCxn id="26" idx="0"/>
            <a:endCxn id="62" idx="2"/>
          </p:cNvCxnSpPr>
          <p:nvPr/>
        </p:nvCxnSpPr>
        <p:spPr>
          <a:xfrm flipH="1" flipV="1">
            <a:off x="7155101" y="4747761"/>
            <a:ext cx="1850" cy="198634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文字方塊 61">
            <a:extLst>
              <a:ext uri="{FF2B5EF4-FFF2-40B4-BE49-F238E27FC236}">
                <a16:creationId xmlns:a16="http://schemas.microsoft.com/office/drawing/2014/main" id="{D36BF304-77E9-0856-4BC0-AEEE5DDEDB92}"/>
              </a:ext>
            </a:extLst>
          </p:cNvPr>
          <p:cNvSpPr txBox="1"/>
          <p:nvPr/>
        </p:nvSpPr>
        <p:spPr>
          <a:xfrm>
            <a:off x="6931629" y="4592854"/>
            <a:ext cx="446943" cy="154907"/>
          </a:xfrm>
          <a:prstGeom prst="rect">
            <a:avLst/>
          </a:prstGeom>
          <a:noFill/>
          <a:ln w="15875">
            <a:noFill/>
          </a:ln>
          <a:effectLst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000"/>
              </a:lnSpc>
              <a:buNone/>
            </a:pPr>
            <a:r>
              <a:rPr lang="en-US" altLang="zh-TW" sz="1000" b="1" u="none" strike="noStrike" dirty="0">
                <a:effectLst>
                  <a:glow rad="1778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Logit</a:t>
            </a:r>
          </a:p>
        </p:txBody>
      </p:sp>
      <p:sp>
        <p:nvSpPr>
          <p:cNvPr id="90" name="文字方塊 89">
            <a:extLst>
              <a:ext uri="{FF2B5EF4-FFF2-40B4-BE49-F238E27FC236}">
                <a16:creationId xmlns:a16="http://schemas.microsoft.com/office/drawing/2014/main" id="{2AB2E4CD-81A2-C891-8A8A-C932E820910C}"/>
              </a:ext>
            </a:extLst>
          </p:cNvPr>
          <p:cNvSpPr txBox="1"/>
          <p:nvPr/>
        </p:nvSpPr>
        <p:spPr>
          <a:xfrm>
            <a:off x="8100392" y="2492896"/>
            <a:ext cx="881419" cy="324086"/>
          </a:xfrm>
          <a:prstGeom prst="rect">
            <a:avLst/>
          </a:prstGeom>
          <a:gradFill>
            <a:gsLst>
              <a:gs pos="0">
                <a:schemeClr val="accent2">
                  <a:lumMod val="40000"/>
                  <a:lumOff val="60000"/>
                </a:schemeClr>
              </a:gs>
              <a:gs pos="10000">
                <a:schemeClr val="accent2">
                  <a:lumMod val="20000"/>
                  <a:lumOff val="80000"/>
                  <a:alpha val="80000"/>
                </a:schemeClr>
              </a:gs>
              <a:gs pos="100000">
                <a:schemeClr val="accent1">
                  <a:lumMod val="20000"/>
                  <a:lumOff val="80000"/>
                </a:schemeClr>
              </a:gs>
            </a:gsLst>
            <a:lin ang="0" scaled="0"/>
          </a:gra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ctr" anchorCtr="1">
            <a:noAutofit/>
          </a:bodyPr>
          <a:lstStyle/>
          <a:p>
            <a:pPr algn="ctr">
              <a:lnSpc>
                <a:spcPts val="1200"/>
              </a:lnSpc>
              <a:buNone/>
            </a:pPr>
            <a:r>
              <a:rPr lang="en-US" altLang="zh-TW" sz="1400" b="1" u="none" strike="noStrike" dirty="0">
                <a:effectLst/>
              </a:rPr>
              <a:t>Full-FT</a:t>
            </a:r>
            <a:br>
              <a:rPr lang="en-US" altLang="zh-TW" sz="1400" b="1" u="none" strike="noStrike" dirty="0">
                <a:effectLst/>
              </a:rPr>
            </a:br>
            <a:r>
              <a:rPr lang="en-US" altLang="zh-TW" sz="1200" u="none" strike="noStrike" dirty="0">
                <a:effectLst/>
              </a:rPr>
              <a:t>mobile</a:t>
            </a:r>
            <a:r>
              <a:rPr lang="zh-TW" altLang="en-US" sz="1200" u="none" strike="noStrike" dirty="0">
                <a:effectLst/>
              </a:rPr>
              <a:t> </a:t>
            </a:r>
            <a:r>
              <a:rPr lang="en-US" altLang="zh-TW" sz="1200" u="none" strike="noStrike" dirty="0">
                <a:effectLst/>
              </a:rPr>
              <a:t>phone</a:t>
            </a:r>
          </a:p>
        </p:txBody>
      </p:sp>
      <p:sp>
        <p:nvSpPr>
          <p:cNvPr id="97" name="文字方塊 96">
            <a:extLst>
              <a:ext uri="{FF2B5EF4-FFF2-40B4-BE49-F238E27FC236}">
                <a16:creationId xmlns:a16="http://schemas.microsoft.com/office/drawing/2014/main" id="{8E46294F-E8D5-8000-D7A7-61B2407B3F27}"/>
              </a:ext>
            </a:extLst>
          </p:cNvPr>
          <p:cNvSpPr txBox="1"/>
          <p:nvPr/>
        </p:nvSpPr>
        <p:spPr>
          <a:xfrm>
            <a:off x="8100392" y="4221088"/>
            <a:ext cx="881419" cy="324086"/>
          </a:xfrm>
          <a:prstGeom prst="rect">
            <a:avLst/>
          </a:prstGeom>
          <a:gradFill>
            <a:gsLst>
              <a:gs pos="0">
                <a:schemeClr val="accent2">
                  <a:lumMod val="40000"/>
                  <a:lumOff val="60000"/>
                </a:schemeClr>
              </a:gs>
              <a:gs pos="10000">
                <a:schemeClr val="accent2">
                  <a:lumMod val="20000"/>
                  <a:lumOff val="80000"/>
                  <a:alpha val="80000"/>
                </a:schemeClr>
              </a:gs>
              <a:gs pos="100000">
                <a:schemeClr val="accent1">
                  <a:lumMod val="20000"/>
                  <a:lumOff val="80000"/>
                </a:schemeClr>
              </a:gs>
            </a:gsLst>
            <a:lin ang="0" scaled="0"/>
          </a:gra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ctr" anchorCtr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P </a:t>
            </a:r>
            <a:r>
              <a:rPr kumimoji="0" lang="zh-TW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➔</a:t>
            </a: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INT4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NV, Qualcomm</a:t>
            </a:r>
            <a:endParaRPr kumimoji="0" lang="en-US" altLang="zh-TW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99" name="文字方塊 98">
            <a:extLst>
              <a:ext uri="{FF2B5EF4-FFF2-40B4-BE49-F238E27FC236}">
                <a16:creationId xmlns:a16="http://schemas.microsoft.com/office/drawing/2014/main" id="{088F6325-C28A-4157-F3A9-7C1C0E7C8669}"/>
              </a:ext>
            </a:extLst>
          </p:cNvPr>
          <p:cNvSpPr txBox="1"/>
          <p:nvPr/>
        </p:nvSpPr>
        <p:spPr>
          <a:xfrm>
            <a:off x="8100392" y="3068960"/>
            <a:ext cx="881419" cy="324086"/>
          </a:xfrm>
          <a:prstGeom prst="rect">
            <a:avLst/>
          </a:prstGeom>
          <a:gradFill>
            <a:gsLst>
              <a:gs pos="0">
                <a:schemeClr val="accent2">
                  <a:lumMod val="40000"/>
                  <a:lumOff val="60000"/>
                </a:schemeClr>
              </a:gs>
              <a:gs pos="10000">
                <a:schemeClr val="accent2">
                  <a:lumMod val="20000"/>
                  <a:lumOff val="80000"/>
                  <a:alpha val="80000"/>
                </a:schemeClr>
              </a:gs>
              <a:gs pos="100000">
                <a:schemeClr val="accent1">
                  <a:lumMod val="20000"/>
                  <a:lumOff val="80000"/>
                </a:schemeClr>
              </a:gs>
            </a:gsLst>
            <a:lin ang="0" scaled="0"/>
          </a:gra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ctr" anchorCtr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b="1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PEFT + Q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4-bit / 8-bit</a:t>
            </a:r>
          </a:p>
        </p:txBody>
      </p:sp>
      <p:graphicFrame>
        <p:nvGraphicFramePr>
          <p:cNvPr id="101" name="表格 100">
            <a:extLst>
              <a:ext uri="{FF2B5EF4-FFF2-40B4-BE49-F238E27FC236}">
                <a16:creationId xmlns:a16="http://schemas.microsoft.com/office/drawing/2014/main" id="{62234615-AD4E-B363-8156-95B96ED52A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04184708"/>
              </p:ext>
            </p:extLst>
          </p:nvPr>
        </p:nvGraphicFramePr>
        <p:xfrm>
          <a:off x="446679" y="5483659"/>
          <a:ext cx="2061433" cy="8716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61433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22966">
                <a:tc>
                  <a:txBody>
                    <a:bodyPr/>
                    <a:lstStyle/>
                    <a:p>
                      <a:pPr algn="l"/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Quantization-Aware (QA)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37252825"/>
                  </a:ext>
                </a:extLst>
              </a:tr>
              <a:tr h="176164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Fake Quantization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7616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FP: Quantization Noise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9197690"/>
                  </a:ext>
                </a:extLst>
              </a:tr>
              <a:tr h="17616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BP: Straight-Through Estimator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76899233"/>
                  </a:ext>
                </a:extLst>
              </a:tr>
            </a:tbl>
          </a:graphicData>
        </a:graphic>
      </p:graphicFrame>
      <p:sp>
        <p:nvSpPr>
          <p:cNvPr id="105" name="矩形: 圓角 104">
            <a:extLst>
              <a:ext uri="{FF2B5EF4-FFF2-40B4-BE49-F238E27FC236}">
                <a16:creationId xmlns:a16="http://schemas.microsoft.com/office/drawing/2014/main" id="{7C945779-99C8-E510-B0CC-B3511BDE59A2}"/>
              </a:ext>
            </a:extLst>
          </p:cNvPr>
          <p:cNvSpPr/>
          <p:nvPr/>
        </p:nvSpPr>
        <p:spPr>
          <a:xfrm>
            <a:off x="5604492" y="1916832"/>
            <a:ext cx="2204154" cy="4404214"/>
          </a:xfrm>
          <a:prstGeom prst="roundRect">
            <a:avLst>
              <a:gd name="adj" fmla="val 1682"/>
            </a:avLst>
          </a:prstGeom>
          <a:noFill/>
          <a:ln w="15875">
            <a:solidFill>
              <a:schemeClr val="accent2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1"/>
          <a:lstStyle/>
          <a:p>
            <a:pPr algn="ctr"/>
            <a:r>
              <a:rPr lang="en-US" altLang="zh-TW" sz="1000" dirty="0">
                <a:solidFill>
                  <a:schemeClr val="accent2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Quantization</a:t>
            </a:r>
            <a:endParaRPr lang="zh-TW" altLang="en-US" sz="1000" dirty="0">
              <a:solidFill>
                <a:schemeClr val="accent2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pSp>
        <p:nvGrpSpPr>
          <p:cNvPr id="149" name="群組 148">
            <a:extLst>
              <a:ext uri="{FF2B5EF4-FFF2-40B4-BE49-F238E27FC236}">
                <a16:creationId xmlns:a16="http://schemas.microsoft.com/office/drawing/2014/main" id="{325668A4-D446-9102-28ED-F52E943FA4E6}"/>
              </a:ext>
            </a:extLst>
          </p:cNvPr>
          <p:cNvGrpSpPr/>
          <p:nvPr/>
        </p:nvGrpSpPr>
        <p:grpSpPr>
          <a:xfrm>
            <a:off x="3971048" y="1140776"/>
            <a:ext cx="1105008" cy="2271474"/>
            <a:chOff x="3971048" y="1140776"/>
            <a:chExt cx="1105008" cy="2271474"/>
          </a:xfrm>
        </p:grpSpPr>
        <p:sp>
          <p:nvSpPr>
            <p:cNvPr id="231" name="矩形: 圓角 230">
              <a:extLst>
                <a:ext uri="{FF2B5EF4-FFF2-40B4-BE49-F238E27FC236}">
                  <a16:creationId xmlns:a16="http://schemas.microsoft.com/office/drawing/2014/main" id="{45D54DA9-81FE-C438-046A-1A46ED3096E4}"/>
                </a:ext>
              </a:extLst>
            </p:cNvPr>
            <p:cNvSpPr/>
            <p:nvPr/>
          </p:nvSpPr>
          <p:spPr>
            <a:xfrm>
              <a:off x="4039595" y="1701650"/>
              <a:ext cx="881418" cy="973888"/>
            </a:xfrm>
            <a:prstGeom prst="roundRect">
              <a:avLst>
                <a:gd name="adj" fmla="val 5163"/>
              </a:avLst>
            </a:prstGeom>
            <a:solidFill>
              <a:srgbClr val="DDDDDD">
                <a:alpha val="4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000"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232" name="文字方塊 231">
              <a:extLst>
                <a:ext uri="{FF2B5EF4-FFF2-40B4-BE49-F238E27FC236}">
                  <a16:creationId xmlns:a16="http://schemas.microsoft.com/office/drawing/2014/main" id="{2915F053-5BA3-91A3-F3A0-E318E31CF1D9}"/>
                </a:ext>
              </a:extLst>
            </p:cNvPr>
            <p:cNvSpPr txBox="1"/>
            <p:nvPr/>
          </p:nvSpPr>
          <p:spPr>
            <a:xfrm>
              <a:off x="4106989" y="1765374"/>
              <a:ext cx="523087" cy="37085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200" b="1" u="none" strike="noStrike" dirty="0">
                  <a:effectLst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FFN</a:t>
              </a:r>
            </a:p>
          </p:txBody>
        </p:sp>
        <p:sp>
          <p:nvSpPr>
            <p:cNvPr id="233" name="文字方塊 232">
              <a:extLst>
                <a:ext uri="{FF2B5EF4-FFF2-40B4-BE49-F238E27FC236}">
                  <a16:creationId xmlns:a16="http://schemas.microsoft.com/office/drawing/2014/main" id="{26EFE7DA-DC3D-61EF-CA7F-CDB6E8A8BB1F}"/>
                </a:ext>
              </a:extLst>
            </p:cNvPr>
            <p:cNvSpPr txBox="1"/>
            <p:nvPr/>
          </p:nvSpPr>
          <p:spPr>
            <a:xfrm>
              <a:off x="4106989" y="2236816"/>
              <a:ext cx="523087" cy="370858"/>
            </a:xfrm>
            <a:prstGeom prst="rect">
              <a:avLst/>
            </a:prstGeom>
            <a:solidFill>
              <a:srgbClr val="FEC203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200" b="1" u="none" strike="noStrike" dirty="0">
                  <a:effectLst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MHA</a:t>
              </a:r>
            </a:p>
          </p:txBody>
        </p:sp>
        <p:cxnSp>
          <p:nvCxnSpPr>
            <p:cNvPr id="235" name="直線單箭頭接點 234">
              <a:extLst>
                <a:ext uri="{FF2B5EF4-FFF2-40B4-BE49-F238E27FC236}">
                  <a16:creationId xmlns:a16="http://schemas.microsoft.com/office/drawing/2014/main" id="{280F35D4-BAD6-1EA4-8951-F083A9B10714}"/>
                </a:ext>
              </a:extLst>
            </p:cNvPr>
            <p:cNvCxnSpPr>
              <a:cxnSpLocks/>
              <a:stCxn id="237" idx="0"/>
              <a:endCxn id="233" idx="2"/>
            </p:cNvCxnSpPr>
            <p:nvPr/>
          </p:nvCxnSpPr>
          <p:spPr>
            <a:xfrm flipV="1">
              <a:off x="4366676" y="2607674"/>
              <a:ext cx="1857" cy="238111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6" name="直線單箭頭接點 235">
              <a:extLst>
                <a:ext uri="{FF2B5EF4-FFF2-40B4-BE49-F238E27FC236}">
                  <a16:creationId xmlns:a16="http://schemas.microsoft.com/office/drawing/2014/main" id="{FFBF7D4D-75E4-EAF1-B65E-C8CB1B654F37}"/>
                </a:ext>
              </a:extLst>
            </p:cNvPr>
            <p:cNvCxnSpPr>
              <a:cxnSpLocks/>
              <a:stCxn id="233" idx="0"/>
              <a:endCxn id="232" idx="2"/>
            </p:cNvCxnSpPr>
            <p:nvPr/>
          </p:nvCxnSpPr>
          <p:spPr>
            <a:xfrm flipV="1">
              <a:off x="4368533" y="2136232"/>
              <a:ext cx="0" cy="10058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7" name="文字方塊 236">
              <a:extLst>
                <a:ext uri="{FF2B5EF4-FFF2-40B4-BE49-F238E27FC236}">
                  <a16:creationId xmlns:a16="http://schemas.microsoft.com/office/drawing/2014/main" id="{E79CA7A2-37EC-63CC-FF32-801B15CF6DFD}"/>
                </a:ext>
              </a:extLst>
            </p:cNvPr>
            <p:cNvSpPr txBox="1"/>
            <p:nvPr/>
          </p:nvSpPr>
          <p:spPr>
            <a:xfrm>
              <a:off x="4150652" y="2845785"/>
              <a:ext cx="432048" cy="367191"/>
            </a:xfrm>
            <a:prstGeom prst="rect">
              <a:avLst/>
            </a:prstGeom>
            <a:solidFill>
              <a:srgbClr val="FDE7DA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0" tIns="0" rIns="0" bIns="0" anchor="t" anchorCtr="1">
              <a:noAutofit/>
            </a:bodyPr>
            <a:lstStyle/>
            <a:p>
              <a:pPr marL="0" algn="ctr" rtl="0" eaLnBrk="1" fontAlgn="ctr" latinLnBrk="0" hangingPunct="1">
                <a:lnSpc>
                  <a:spcPts val="1600"/>
                </a:lnSpc>
                <a:buNone/>
              </a:pPr>
              <a:r>
                <a:rPr lang="en-US" altLang="zh-TW" sz="1200" u="sng" strike="noStrike" kern="1200" spc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zh-TW" sz="1200" b="1" u="sng" dirty="0">
                  <a:solidFill>
                    <a:srgbClr val="000000"/>
                  </a:solidFill>
                  <a:latin typeface="Consolas" panose="020B0609020204030204" pitchFamily="49" charset="0"/>
                </a:rPr>
                <a:t>Q&amp;A</a:t>
              </a:r>
              <a:r>
                <a:rPr lang="en-US" altLang="zh-TW" sz="1200" b="1" u="sng" strike="noStrike" kern="1200" spc="0" dirty="0">
                  <a:ln>
                    <a:noFill/>
                  </a:ln>
                  <a:effectLst/>
                  <a:latin typeface="Consolas" panose="020B0609020204030204" pitchFamily="49" charset="0"/>
                </a:rPr>
                <a:t> </a:t>
              </a:r>
              <a:endParaRPr lang="en-US" altLang="zh-TW" sz="1200" u="sng" strike="noStrike" kern="1200" spc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endParaRPr>
            </a:p>
            <a:p>
              <a:pPr marL="0" marR="0" lvl="0" algn="ctr" defTabSz="914400" rtl="0" eaLnBrk="1" fontAlgn="ctr" latinLnBrk="0" hangingPunct="1">
                <a:lnSpc>
                  <a:spcPts val="1200"/>
                </a:lnSpc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strike="noStrike" kern="1200" cap="none" spc="0" normalizeH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Consolas" panose="020B0609020204030204" pitchFamily="49" charset="0"/>
                  <a:ea typeface="新細明體" panose="02020500000000000000" pitchFamily="18" charset="-120"/>
                  <a:cs typeface="+mn-cs"/>
                </a:rPr>
                <a:t> </a:t>
              </a:r>
              <a:r>
                <a:rPr kumimoji="0" lang="zh-TW" altLang="en-US" sz="1200" strike="noStrike" kern="1200" cap="none" spc="0" normalizeH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Consolas" panose="020B0609020204030204" pitchFamily="49" charset="0"/>
                  <a:ea typeface="新細明體" panose="02020500000000000000" pitchFamily="18" charset="-120"/>
                  <a:cs typeface="+mn-cs"/>
                </a:rPr>
                <a:t> </a:t>
              </a:r>
              <a:r>
                <a:rPr lang="en-US" altLang="zh-TW" sz="1200" dirty="0">
                  <a:solidFill>
                    <a:schemeClr val="bg1">
                      <a:lumMod val="50000"/>
                    </a:schemeClr>
                  </a:solidFill>
                  <a:latin typeface="Consolas" panose="020B0609020204030204" pitchFamily="49" charset="0"/>
                  <a:ea typeface="新細明體" panose="02020500000000000000" pitchFamily="18" charset="-120"/>
                </a:rPr>
                <a:t>…</a:t>
              </a:r>
              <a:r>
                <a:rPr kumimoji="0" lang="en-US" altLang="zh-TW" sz="1200" strike="noStrike" kern="1200" cap="none" spc="0" normalizeH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Consolas" panose="020B0609020204030204" pitchFamily="49" charset="0"/>
                  <a:ea typeface="新細明體" panose="02020500000000000000" pitchFamily="18" charset="-120"/>
                  <a:cs typeface="+mn-cs"/>
                </a:rPr>
                <a:t>  </a:t>
              </a:r>
              <a:endParaRPr kumimoji="0" lang="zh-TW" altLang="zh-TW" sz="1200" strike="noStrike" kern="1200" cap="none" spc="0" normalizeH="0" noProof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238" name="文字方塊 237">
              <a:extLst>
                <a:ext uri="{FF2B5EF4-FFF2-40B4-BE49-F238E27FC236}">
                  <a16:creationId xmlns:a16="http://schemas.microsoft.com/office/drawing/2014/main" id="{E4CBB606-3145-C366-F2CA-61F748F8E672}"/>
                </a:ext>
              </a:extLst>
            </p:cNvPr>
            <p:cNvSpPr txBox="1"/>
            <p:nvPr/>
          </p:nvSpPr>
          <p:spPr>
            <a:xfrm>
              <a:off x="3971048" y="1140776"/>
              <a:ext cx="794968" cy="377916"/>
            </a:xfrm>
            <a:prstGeom prst="rect">
              <a:avLst/>
            </a:prstGeom>
            <a:noFill/>
            <a:ln w="15875">
              <a:noFill/>
            </a:ln>
          </p:spPr>
          <p:txBody>
            <a:bodyPr wrap="none" lIns="0" tIns="0" rIns="0" bIns="0" anchor="ctr" anchorCtr="1">
              <a:noAutofit/>
            </a:bodyPr>
            <a:lstStyle/>
            <a:p>
              <a:pPr algn="ctr">
                <a:lnSpc>
                  <a:spcPts val="1400"/>
                </a:lnSpc>
                <a:buNone/>
              </a:pPr>
              <a:r>
                <a:rPr lang="en-US" altLang="zh-TW" sz="1000" dirty="0">
                  <a:effectLst>
                    <a:glow rad="177800">
                      <a:srgbClr val="FFFF00"/>
                    </a:glow>
                  </a:effectLst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Loss of</a:t>
              </a:r>
            </a:p>
            <a:p>
              <a:pPr algn="ctr">
                <a:lnSpc>
                  <a:spcPts val="1400"/>
                </a:lnSpc>
                <a:buNone/>
              </a:pPr>
              <a:r>
                <a:rPr lang="en-US" altLang="zh-TW" sz="1100" b="1" u="none" strike="noStrike" dirty="0">
                  <a:effectLst>
                    <a:glow rad="177800">
                      <a:srgbClr val="FFFF00"/>
                    </a:glow>
                  </a:effectLst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Answer</a:t>
              </a:r>
            </a:p>
          </p:txBody>
        </p:sp>
        <p:sp>
          <p:nvSpPr>
            <p:cNvPr id="5" name="標題 1">
              <a:extLst>
                <a:ext uri="{FF2B5EF4-FFF2-40B4-BE49-F238E27FC236}">
                  <a16:creationId xmlns:a16="http://schemas.microsoft.com/office/drawing/2014/main" id="{6F6F6AAC-AA6F-4EE2-07D9-BB9A5FBD34B2}"/>
                </a:ext>
              </a:extLst>
            </p:cNvPr>
            <p:cNvSpPr txBox="1">
              <a:spLocks/>
            </p:cNvSpPr>
            <p:nvPr/>
          </p:nvSpPr>
          <p:spPr>
            <a:xfrm>
              <a:off x="4094886" y="3212976"/>
              <a:ext cx="981170" cy="199274"/>
            </a:xfrm>
            <a:prstGeom prst="rect">
              <a:avLst/>
            </a:prstGeom>
            <a:ln>
              <a:noFill/>
            </a:ln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altLang="zh-TW" sz="1200" b="1" dirty="0">
                  <a:solidFill>
                    <a:schemeClr val="tx2">
                      <a:lumMod val="50000"/>
                    </a:schemeClr>
                  </a:solidFill>
                  <a:latin typeface="+mn-lt"/>
                  <a:ea typeface="Noto Sans HK" panose="020B0200000000000000" pitchFamily="34" charset="-120"/>
                  <a:cs typeface="Arial" panose="020B0604020202020204" pitchFamily="34" charset="0"/>
                </a:rPr>
                <a:t>Full-FT +</a:t>
              </a:r>
              <a:r>
                <a:rPr lang="zh-TW" altLang="en-US" sz="1200" b="1" dirty="0">
                  <a:solidFill>
                    <a:schemeClr val="tx2">
                      <a:lumMod val="50000"/>
                    </a:schemeClr>
                  </a:solidFill>
                  <a:latin typeface="+mn-lt"/>
                  <a:ea typeface="Noto Sans HK" panose="020B0200000000000000" pitchFamily="34" charset="-120"/>
                  <a:cs typeface="Arial" panose="020B0604020202020204" pitchFamily="34" charset="0"/>
                </a:rPr>
                <a:t> </a:t>
              </a:r>
              <a:r>
                <a:rPr lang="en-US" altLang="zh-TW" sz="1200" b="1" dirty="0">
                  <a:solidFill>
                    <a:schemeClr val="tx2">
                      <a:lumMod val="50000"/>
                    </a:schemeClr>
                  </a:solidFill>
                  <a:latin typeface="+mn-lt"/>
                  <a:ea typeface="Noto Sans HK" panose="020B0200000000000000" pitchFamily="34" charset="-120"/>
                  <a:cs typeface="Arial" panose="020B0604020202020204" pitchFamily="34" charset="0"/>
                </a:rPr>
                <a:t>QAT</a:t>
              </a:r>
            </a:p>
          </p:txBody>
        </p:sp>
        <p:cxnSp>
          <p:nvCxnSpPr>
            <p:cNvPr id="234" name="直線單箭頭接點 233">
              <a:extLst>
                <a:ext uri="{FF2B5EF4-FFF2-40B4-BE49-F238E27FC236}">
                  <a16:creationId xmlns:a16="http://schemas.microsoft.com/office/drawing/2014/main" id="{AFADEF92-C88A-CA53-FDE0-5F7892DC5CFD}"/>
                </a:ext>
              </a:extLst>
            </p:cNvPr>
            <p:cNvCxnSpPr>
              <a:cxnSpLocks/>
              <a:stCxn id="232" idx="0"/>
              <a:endCxn id="238" idx="2"/>
            </p:cNvCxnSpPr>
            <p:nvPr/>
          </p:nvCxnSpPr>
          <p:spPr>
            <a:xfrm flipH="1" flipV="1">
              <a:off x="4368532" y="1518692"/>
              <a:ext cx="1" cy="24668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0" name="矩形: 圓角 299">
              <a:extLst>
                <a:ext uri="{FF2B5EF4-FFF2-40B4-BE49-F238E27FC236}">
                  <a16:creationId xmlns:a16="http://schemas.microsoft.com/office/drawing/2014/main" id="{72283385-EF65-D064-44F7-ED7DF89F2AE4}"/>
                </a:ext>
              </a:extLst>
            </p:cNvPr>
            <p:cNvSpPr/>
            <p:nvPr/>
          </p:nvSpPr>
          <p:spPr>
            <a:xfrm>
              <a:off x="3976886" y="1605576"/>
              <a:ext cx="746408" cy="1121017"/>
            </a:xfrm>
            <a:prstGeom prst="roundRect">
              <a:avLst>
                <a:gd name="adj" fmla="val 1682"/>
              </a:avLst>
            </a:prstGeom>
            <a:solidFill>
              <a:schemeClr val="accent2">
                <a:lumMod val="50000"/>
                <a:alpha val="60000"/>
              </a:schemeClr>
            </a:solidFill>
            <a:ln w="15875"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000"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107" name="矩形: 圓角 106">
              <a:extLst>
                <a:ext uri="{FF2B5EF4-FFF2-40B4-BE49-F238E27FC236}">
                  <a16:creationId xmlns:a16="http://schemas.microsoft.com/office/drawing/2014/main" id="{B9D231FB-B9CF-9880-E698-8380D24C64B4}"/>
                </a:ext>
              </a:extLst>
            </p:cNvPr>
            <p:cNvSpPr/>
            <p:nvPr/>
          </p:nvSpPr>
          <p:spPr>
            <a:xfrm>
              <a:off x="4716016" y="3222501"/>
              <a:ext cx="345765" cy="174616"/>
            </a:xfrm>
            <a:prstGeom prst="roundRect">
              <a:avLst>
                <a:gd name="adj" fmla="val 1682"/>
              </a:avLst>
            </a:prstGeom>
            <a:noFill/>
            <a:ln w="15875">
              <a:solidFill>
                <a:schemeClr val="accent2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1"/>
            <a:lstStyle/>
            <a:p>
              <a:pPr algn="ctr"/>
              <a:endParaRPr lang="zh-TW" altLang="en-US" sz="1000" dirty="0">
                <a:solidFill>
                  <a:schemeClr val="accent2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</p:grpSp>
      <p:grpSp>
        <p:nvGrpSpPr>
          <p:cNvPr id="128" name="群組 127">
            <a:extLst>
              <a:ext uri="{FF2B5EF4-FFF2-40B4-BE49-F238E27FC236}">
                <a16:creationId xmlns:a16="http://schemas.microsoft.com/office/drawing/2014/main" id="{54D06E2C-3FA0-3B42-0585-4F52CCF2DA87}"/>
              </a:ext>
            </a:extLst>
          </p:cNvPr>
          <p:cNvGrpSpPr/>
          <p:nvPr/>
        </p:nvGrpSpPr>
        <p:grpSpPr>
          <a:xfrm>
            <a:off x="3923928" y="3645024"/>
            <a:ext cx="1125186" cy="2088232"/>
            <a:chOff x="3923928" y="3645024"/>
            <a:chExt cx="1125186" cy="2088232"/>
          </a:xfrm>
        </p:grpSpPr>
        <p:sp>
          <p:nvSpPr>
            <p:cNvPr id="303" name="矩形: 圓角 302">
              <a:extLst>
                <a:ext uri="{FF2B5EF4-FFF2-40B4-BE49-F238E27FC236}">
                  <a16:creationId xmlns:a16="http://schemas.microsoft.com/office/drawing/2014/main" id="{E979668C-1675-047A-AB0A-72961AD64DC2}"/>
                </a:ext>
              </a:extLst>
            </p:cNvPr>
            <p:cNvSpPr/>
            <p:nvPr/>
          </p:nvSpPr>
          <p:spPr>
            <a:xfrm>
              <a:off x="3992475" y="4058948"/>
              <a:ext cx="881418" cy="973888"/>
            </a:xfrm>
            <a:prstGeom prst="roundRect">
              <a:avLst>
                <a:gd name="adj" fmla="val 5163"/>
              </a:avLst>
            </a:prstGeom>
            <a:solidFill>
              <a:srgbClr val="DDDDDD">
                <a:alpha val="4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000"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304" name="文字方塊 303">
              <a:extLst>
                <a:ext uri="{FF2B5EF4-FFF2-40B4-BE49-F238E27FC236}">
                  <a16:creationId xmlns:a16="http://schemas.microsoft.com/office/drawing/2014/main" id="{1BE78960-095F-03AA-5CF1-43CA262380D5}"/>
                </a:ext>
              </a:extLst>
            </p:cNvPr>
            <p:cNvSpPr txBox="1"/>
            <p:nvPr/>
          </p:nvSpPr>
          <p:spPr>
            <a:xfrm>
              <a:off x="4059869" y="4122672"/>
              <a:ext cx="523087" cy="37085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200" b="1" u="none" strike="noStrike" dirty="0">
                  <a:effectLst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FFN</a:t>
              </a:r>
            </a:p>
          </p:txBody>
        </p:sp>
        <p:sp>
          <p:nvSpPr>
            <p:cNvPr id="305" name="文字方塊 304">
              <a:extLst>
                <a:ext uri="{FF2B5EF4-FFF2-40B4-BE49-F238E27FC236}">
                  <a16:creationId xmlns:a16="http://schemas.microsoft.com/office/drawing/2014/main" id="{BE3E2506-D931-6DDB-E8E2-4F6D4B155C8E}"/>
                </a:ext>
              </a:extLst>
            </p:cNvPr>
            <p:cNvSpPr txBox="1"/>
            <p:nvPr/>
          </p:nvSpPr>
          <p:spPr>
            <a:xfrm>
              <a:off x="4059869" y="4594114"/>
              <a:ext cx="523087" cy="370858"/>
            </a:xfrm>
            <a:prstGeom prst="rect">
              <a:avLst/>
            </a:prstGeom>
            <a:solidFill>
              <a:srgbClr val="FEC203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200" b="1" u="none" strike="noStrike" dirty="0">
                  <a:effectLst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MHA</a:t>
              </a:r>
            </a:p>
          </p:txBody>
        </p:sp>
        <p:cxnSp>
          <p:nvCxnSpPr>
            <p:cNvPr id="306" name="直線單箭頭接點 305">
              <a:extLst>
                <a:ext uri="{FF2B5EF4-FFF2-40B4-BE49-F238E27FC236}">
                  <a16:creationId xmlns:a16="http://schemas.microsoft.com/office/drawing/2014/main" id="{CED5AFD8-7F9E-115D-A10B-D6EB519C0C2C}"/>
                </a:ext>
              </a:extLst>
            </p:cNvPr>
            <p:cNvCxnSpPr>
              <a:cxnSpLocks/>
              <a:stCxn id="304" idx="0"/>
              <a:endCxn id="310" idx="2"/>
            </p:cNvCxnSpPr>
            <p:nvPr/>
          </p:nvCxnSpPr>
          <p:spPr>
            <a:xfrm flipH="1" flipV="1">
              <a:off x="4321412" y="4022940"/>
              <a:ext cx="1" cy="9973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7" name="直線單箭頭接點 306">
              <a:extLst>
                <a:ext uri="{FF2B5EF4-FFF2-40B4-BE49-F238E27FC236}">
                  <a16:creationId xmlns:a16="http://schemas.microsoft.com/office/drawing/2014/main" id="{E4C3FB2A-315E-23D6-2838-943D77BE79D1}"/>
                </a:ext>
              </a:extLst>
            </p:cNvPr>
            <p:cNvCxnSpPr>
              <a:cxnSpLocks/>
              <a:stCxn id="309" idx="0"/>
              <a:endCxn id="305" idx="2"/>
            </p:cNvCxnSpPr>
            <p:nvPr/>
          </p:nvCxnSpPr>
          <p:spPr>
            <a:xfrm flipV="1">
              <a:off x="4319556" y="4964972"/>
              <a:ext cx="1857" cy="17905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8" name="直線單箭頭接點 307">
              <a:extLst>
                <a:ext uri="{FF2B5EF4-FFF2-40B4-BE49-F238E27FC236}">
                  <a16:creationId xmlns:a16="http://schemas.microsoft.com/office/drawing/2014/main" id="{8AD3E93F-3282-D2F8-28FA-263D53C0A3D6}"/>
                </a:ext>
              </a:extLst>
            </p:cNvPr>
            <p:cNvCxnSpPr>
              <a:cxnSpLocks/>
              <a:stCxn id="305" idx="0"/>
              <a:endCxn id="304" idx="2"/>
            </p:cNvCxnSpPr>
            <p:nvPr/>
          </p:nvCxnSpPr>
          <p:spPr>
            <a:xfrm flipV="1">
              <a:off x="4321413" y="4493530"/>
              <a:ext cx="0" cy="10058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9" name="文字方塊 308">
              <a:extLst>
                <a:ext uri="{FF2B5EF4-FFF2-40B4-BE49-F238E27FC236}">
                  <a16:creationId xmlns:a16="http://schemas.microsoft.com/office/drawing/2014/main" id="{C07C3214-A890-341F-2ABA-EC9F5BDE38A4}"/>
                </a:ext>
              </a:extLst>
            </p:cNvPr>
            <p:cNvSpPr txBox="1"/>
            <p:nvPr/>
          </p:nvSpPr>
          <p:spPr>
            <a:xfrm>
              <a:off x="4103532" y="5144030"/>
              <a:ext cx="432048" cy="373202"/>
            </a:xfrm>
            <a:prstGeom prst="rect">
              <a:avLst/>
            </a:prstGeom>
            <a:solidFill>
              <a:srgbClr val="FDE7DA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0" tIns="0" rIns="0" bIns="0" anchor="t" anchorCtr="1">
              <a:noAutofit/>
            </a:bodyPr>
            <a:lstStyle/>
            <a:p>
              <a:pPr marL="0" algn="ctr" rtl="0" eaLnBrk="1" fontAlgn="ctr" latinLnBrk="0" hangingPunct="1">
                <a:lnSpc>
                  <a:spcPts val="1600"/>
                </a:lnSpc>
                <a:buNone/>
              </a:pPr>
              <a:r>
                <a:rPr lang="en-US" altLang="zh-TW" sz="1200" u="sng" strike="noStrike" kern="1200" spc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zh-TW" sz="1200" b="1" u="sng" dirty="0">
                  <a:solidFill>
                    <a:srgbClr val="000000"/>
                  </a:solidFill>
                  <a:latin typeface="Consolas" panose="020B0609020204030204" pitchFamily="49" charset="0"/>
                </a:rPr>
                <a:t>Q&amp;A</a:t>
              </a:r>
              <a:r>
                <a:rPr lang="en-US" altLang="zh-TW" sz="1200" b="1" u="sng" strike="noStrike" kern="1200" spc="0" dirty="0">
                  <a:ln>
                    <a:noFill/>
                  </a:ln>
                  <a:effectLst/>
                  <a:latin typeface="Consolas" panose="020B0609020204030204" pitchFamily="49" charset="0"/>
                </a:rPr>
                <a:t> </a:t>
              </a:r>
              <a:endParaRPr lang="en-US" altLang="zh-TW" sz="1200" u="sng" strike="noStrike" kern="1200" spc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endParaRPr>
            </a:p>
            <a:p>
              <a:pPr marL="0" marR="0" lvl="0" algn="ctr" defTabSz="914400" rtl="0" eaLnBrk="1" fontAlgn="ctr" latinLnBrk="0" hangingPunct="1">
                <a:lnSpc>
                  <a:spcPts val="1200"/>
                </a:lnSpc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strike="noStrike" kern="1200" cap="none" spc="0" normalizeH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Consolas" panose="020B0609020204030204" pitchFamily="49" charset="0"/>
                  <a:ea typeface="新細明體" panose="02020500000000000000" pitchFamily="18" charset="-120"/>
                  <a:cs typeface="+mn-cs"/>
                </a:rPr>
                <a:t> </a:t>
              </a:r>
              <a:r>
                <a:rPr kumimoji="0" lang="zh-TW" altLang="en-US" sz="1200" strike="noStrike" kern="1200" cap="none" spc="0" normalizeH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Consolas" panose="020B0609020204030204" pitchFamily="49" charset="0"/>
                  <a:ea typeface="新細明體" panose="02020500000000000000" pitchFamily="18" charset="-120"/>
                  <a:cs typeface="+mn-cs"/>
                </a:rPr>
                <a:t> </a:t>
              </a:r>
              <a:r>
                <a:rPr lang="en-US" altLang="zh-TW" sz="1200" dirty="0">
                  <a:solidFill>
                    <a:schemeClr val="bg1">
                      <a:lumMod val="50000"/>
                    </a:schemeClr>
                  </a:solidFill>
                  <a:latin typeface="Consolas" panose="020B0609020204030204" pitchFamily="49" charset="0"/>
                  <a:ea typeface="新細明體" panose="02020500000000000000" pitchFamily="18" charset="-120"/>
                </a:rPr>
                <a:t>…</a:t>
              </a:r>
              <a:r>
                <a:rPr kumimoji="0" lang="en-US" altLang="zh-TW" sz="1200" strike="noStrike" kern="1200" cap="none" spc="0" normalizeH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Consolas" panose="020B0609020204030204" pitchFamily="49" charset="0"/>
                  <a:ea typeface="新細明體" panose="02020500000000000000" pitchFamily="18" charset="-120"/>
                  <a:cs typeface="+mn-cs"/>
                </a:rPr>
                <a:t>  </a:t>
              </a:r>
              <a:endParaRPr kumimoji="0" lang="zh-TW" altLang="zh-TW" sz="1200" strike="noStrike" kern="1200" cap="none" spc="0" normalizeH="0" noProof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310" name="文字方塊 309">
              <a:extLst>
                <a:ext uri="{FF2B5EF4-FFF2-40B4-BE49-F238E27FC236}">
                  <a16:creationId xmlns:a16="http://schemas.microsoft.com/office/drawing/2014/main" id="{3EEE3D60-9DDA-59EF-9DF3-94A1CC72A610}"/>
                </a:ext>
              </a:extLst>
            </p:cNvPr>
            <p:cNvSpPr txBox="1"/>
            <p:nvPr/>
          </p:nvSpPr>
          <p:spPr>
            <a:xfrm>
              <a:off x="3923928" y="3645024"/>
              <a:ext cx="794968" cy="377916"/>
            </a:xfrm>
            <a:prstGeom prst="rect">
              <a:avLst/>
            </a:prstGeom>
            <a:noFill/>
            <a:ln w="15875">
              <a:noFill/>
            </a:ln>
          </p:spPr>
          <p:txBody>
            <a:bodyPr wrap="none" lIns="0" tIns="0" rIns="0" bIns="0" anchor="ctr" anchorCtr="1">
              <a:noAutofit/>
            </a:bodyPr>
            <a:lstStyle/>
            <a:p>
              <a:pPr algn="ctr">
                <a:lnSpc>
                  <a:spcPts val="1400"/>
                </a:lnSpc>
                <a:buNone/>
              </a:pPr>
              <a:r>
                <a:rPr lang="en-US" altLang="zh-TW" sz="1000" dirty="0">
                  <a:effectLst>
                    <a:glow rad="177800">
                      <a:srgbClr val="FFFF00"/>
                    </a:glow>
                  </a:effectLst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Loss of</a:t>
              </a:r>
            </a:p>
            <a:p>
              <a:pPr algn="ctr">
                <a:lnSpc>
                  <a:spcPts val="1400"/>
                </a:lnSpc>
                <a:buNone/>
              </a:pPr>
              <a:r>
                <a:rPr lang="en-US" altLang="zh-TW" sz="1100" b="1" u="none" strike="noStrike" dirty="0">
                  <a:effectLst>
                    <a:glow rad="177800">
                      <a:srgbClr val="FFFF00"/>
                    </a:glow>
                  </a:effectLst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Answer</a:t>
              </a:r>
            </a:p>
          </p:txBody>
        </p:sp>
        <p:sp>
          <p:nvSpPr>
            <p:cNvPr id="312" name="文字方塊 311">
              <a:extLst>
                <a:ext uri="{FF2B5EF4-FFF2-40B4-BE49-F238E27FC236}">
                  <a16:creationId xmlns:a16="http://schemas.microsoft.com/office/drawing/2014/main" id="{8A5A3840-A3F7-2154-33FB-3424CAF267FE}"/>
                </a:ext>
              </a:extLst>
            </p:cNvPr>
            <p:cNvSpPr txBox="1"/>
            <p:nvPr/>
          </p:nvSpPr>
          <p:spPr>
            <a:xfrm>
              <a:off x="4642234" y="4122672"/>
              <a:ext cx="189751" cy="37085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000" b="1" dirty="0"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Adapter</a:t>
              </a:r>
            </a:p>
          </p:txBody>
        </p:sp>
        <p:sp>
          <p:nvSpPr>
            <p:cNvPr id="313" name="文字方塊 312">
              <a:extLst>
                <a:ext uri="{FF2B5EF4-FFF2-40B4-BE49-F238E27FC236}">
                  <a16:creationId xmlns:a16="http://schemas.microsoft.com/office/drawing/2014/main" id="{4C70843D-8C4D-B7FB-568A-374C7DC85E55}"/>
                </a:ext>
              </a:extLst>
            </p:cNvPr>
            <p:cNvSpPr txBox="1"/>
            <p:nvPr/>
          </p:nvSpPr>
          <p:spPr>
            <a:xfrm>
              <a:off x="4642234" y="4594114"/>
              <a:ext cx="198767" cy="370858"/>
            </a:xfrm>
            <a:prstGeom prst="rect">
              <a:avLst/>
            </a:prstGeom>
            <a:solidFill>
              <a:srgbClr val="FEC203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000" b="1" u="none" strike="noStrike" dirty="0">
                  <a:effectLst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Adapter</a:t>
              </a:r>
            </a:p>
          </p:txBody>
        </p:sp>
        <p:sp>
          <p:nvSpPr>
            <p:cNvPr id="314" name="矩形: 圓角 313">
              <a:extLst>
                <a:ext uri="{FF2B5EF4-FFF2-40B4-BE49-F238E27FC236}">
                  <a16:creationId xmlns:a16="http://schemas.microsoft.com/office/drawing/2014/main" id="{0A3FD1D8-8B24-8160-A2DC-EA4E3F89C00E}"/>
                </a:ext>
              </a:extLst>
            </p:cNvPr>
            <p:cNvSpPr/>
            <p:nvPr/>
          </p:nvSpPr>
          <p:spPr>
            <a:xfrm>
              <a:off x="4581099" y="4013415"/>
              <a:ext cx="293347" cy="1060951"/>
            </a:xfrm>
            <a:prstGeom prst="roundRect">
              <a:avLst>
                <a:gd name="adj" fmla="val 1682"/>
              </a:avLst>
            </a:prstGeom>
            <a:solidFill>
              <a:schemeClr val="accent2">
                <a:lumMod val="50000"/>
                <a:alpha val="60000"/>
              </a:schemeClr>
            </a:solidFill>
            <a:ln w="15875"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000"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3" name="標題 1">
              <a:extLst>
                <a:ext uri="{FF2B5EF4-FFF2-40B4-BE49-F238E27FC236}">
                  <a16:creationId xmlns:a16="http://schemas.microsoft.com/office/drawing/2014/main" id="{C54505D7-E619-DAEA-2B54-9E119C3FCDE0}"/>
                </a:ext>
              </a:extLst>
            </p:cNvPr>
            <p:cNvSpPr txBox="1">
              <a:spLocks/>
            </p:cNvSpPr>
            <p:nvPr/>
          </p:nvSpPr>
          <p:spPr>
            <a:xfrm>
              <a:off x="4067944" y="5533982"/>
              <a:ext cx="981170" cy="199274"/>
            </a:xfrm>
            <a:prstGeom prst="rect">
              <a:avLst/>
            </a:prstGeom>
            <a:ln>
              <a:noFill/>
            </a:ln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altLang="zh-TW" sz="1200" b="1" dirty="0">
                  <a:solidFill>
                    <a:schemeClr val="tx2">
                      <a:lumMod val="50000"/>
                    </a:schemeClr>
                  </a:solidFill>
                  <a:latin typeface="+mn-lt"/>
                  <a:ea typeface="Noto Sans HK" panose="020B0200000000000000" pitchFamily="34" charset="-120"/>
                  <a:cs typeface="Arial" panose="020B0604020202020204" pitchFamily="34" charset="0"/>
                </a:rPr>
                <a:t>PEFT +</a:t>
              </a:r>
              <a:r>
                <a:rPr lang="zh-TW" altLang="en-US" sz="1200" b="1" dirty="0">
                  <a:solidFill>
                    <a:schemeClr val="tx2">
                      <a:lumMod val="50000"/>
                    </a:schemeClr>
                  </a:solidFill>
                  <a:latin typeface="+mn-lt"/>
                  <a:ea typeface="Noto Sans HK" panose="020B0200000000000000" pitchFamily="34" charset="-120"/>
                  <a:cs typeface="Arial" panose="020B0604020202020204" pitchFamily="34" charset="0"/>
                </a:rPr>
                <a:t> </a:t>
              </a:r>
              <a:r>
                <a:rPr lang="en-US" altLang="zh-TW" sz="1200" b="1" dirty="0">
                  <a:solidFill>
                    <a:schemeClr val="tx2">
                      <a:lumMod val="50000"/>
                    </a:schemeClr>
                  </a:solidFill>
                  <a:latin typeface="+mn-lt"/>
                  <a:ea typeface="Noto Sans HK" panose="020B0200000000000000" pitchFamily="34" charset="-120"/>
                  <a:cs typeface="Arial" panose="020B0604020202020204" pitchFamily="34" charset="0"/>
                </a:rPr>
                <a:t>QAT</a:t>
              </a:r>
            </a:p>
          </p:txBody>
        </p:sp>
        <p:sp>
          <p:nvSpPr>
            <p:cNvPr id="21" name="標題 1">
              <a:extLst>
                <a:ext uri="{FF2B5EF4-FFF2-40B4-BE49-F238E27FC236}">
                  <a16:creationId xmlns:a16="http://schemas.microsoft.com/office/drawing/2014/main" id="{38029C74-2663-CD68-BD22-D629C819599D}"/>
                </a:ext>
              </a:extLst>
            </p:cNvPr>
            <p:cNvSpPr txBox="1">
              <a:spLocks/>
            </p:cNvSpPr>
            <p:nvPr/>
          </p:nvSpPr>
          <p:spPr>
            <a:xfrm>
              <a:off x="4630988" y="5097167"/>
              <a:ext cx="180410" cy="174616"/>
            </a:xfrm>
            <a:prstGeom prst="rect">
              <a:avLst/>
            </a:prstGeom>
            <a:ln>
              <a:noFill/>
            </a:ln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altLang="zh-TW" sz="1000" b="1" dirty="0">
                  <a:solidFill>
                    <a:srgbClr val="FF0000"/>
                  </a:solidFill>
                  <a:latin typeface="+mn-lt"/>
                  <a:ea typeface="Noto Sans HK" panose="020B0200000000000000" pitchFamily="34" charset="-120"/>
                  <a:cs typeface="Arial" panose="020B0604020202020204" pitchFamily="34" charset="0"/>
                </a:rPr>
                <a:t>1%</a:t>
              </a:r>
            </a:p>
          </p:txBody>
        </p:sp>
        <p:sp>
          <p:nvSpPr>
            <p:cNvPr id="109" name="矩形: 圓角 108">
              <a:extLst>
                <a:ext uri="{FF2B5EF4-FFF2-40B4-BE49-F238E27FC236}">
                  <a16:creationId xmlns:a16="http://schemas.microsoft.com/office/drawing/2014/main" id="{60F6AB3F-3534-E587-A360-D1486A2D7322}"/>
                </a:ext>
              </a:extLst>
            </p:cNvPr>
            <p:cNvSpPr/>
            <p:nvPr/>
          </p:nvSpPr>
          <p:spPr>
            <a:xfrm>
              <a:off x="4635144" y="5540621"/>
              <a:ext cx="340696" cy="186128"/>
            </a:xfrm>
            <a:prstGeom prst="roundRect">
              <a:avLst>
                <a:gd name="adj" fmla="val 1682"/>
              </a:avLst>
            </a:prstGeom>
            <a:noFill/>
            <a:ln w="15875">
              <a:solidFill>
                <a:schemeClr val="accent2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1"/>
            <a:lstStyle/>
            <a:p>
              <a:pPr algn="ctr"/>
              <a:endParaRPr lang="zh-TW" altLang="en-US" sz="1000" dirty="0">
                <a:solidFill>
                  <a:schemeClr val="accent2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</p:grpSp>
      <p:sp>
        <p:nvSpPr>
          <p:cNvPr id="111" name="文字方塊 110">
            <a:extLst>
              <a:ext uri="{FF2B5EF4-FFF2-40B4-BE49-F238E27FC236}">
                <a16:creationId xmlns:a16="http://schemas.microsoft.com/office/drawing/2014/main" id="{3BEFA795-6B5D-D44D-7961-3C9B06DB3A44}"/>
              </a:ext>
            </a:extLst>
          </p:cNvPr>
          <p:cNvSpPr txBox="1"/>
          <p:nvPr/>
        </p:nvSpPr>
        <p:spPr>
          <a:xfrm>
            <a:off x="8097490" y="3645024"/>
            <a:ext cx="881419" cy="324086"/>
          </a:xfrm>
          <a:prstGeom prst="rect">
            <a:avLst/>
          </a:prstGeom>
          <a:gradFill>
            <a:gsLst>
              <a:gs pos="0">
                <a:schemeClr val="accent2">
                  <a:lumMod val="40000"/>
                  <a:lumOff val="60000"/>
                </a:schemeClr>
              </a:gs>
              <a:gs pos="10000">
                <a:schemeClr val="accent2">
                  <a:lumMod val="20000"/>
                  <a:lumOff val="80000"/>
                  <a:alpha val="80000"/>
                </a:schemeClr>
              </a:gs>
              <a:gs pos="100000">
                <a:schemeClr val="accent1">
                  <a:lumMod val="20000"/>
                  <a:lumOff val="80000"/>
                </a:schemeClr>
              </a:gs>
            </a:gsLst>
            <a:lin ang="0" scaled="0"/>
          </a:gra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ctr" anchorCtr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b="1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P </a:t>
            </a:r>
            <a:r>
              <a:rPr kumimoji="0" lang="zh-TW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➔</a:t>
            </a:r>
            <a:r>
              <a:rPr lang="en-US" altLang="zh-TW" sz="1400" b="1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 INT4</a:t>
            </a:r>
            <a:endParaRPr kumimoji="0" lang="en-US" altLang="zh-TW" sz="1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Quantization</a:t>
            </a:r>
          </a:p>
        </p:txBody>
      </p:sp>
      <p:sp>
        <p:nvSpPr>
          <p:cNvPr id="132" name="流程圖: 合併 131">
            <a:extLst>
              <a:ext uri="{FF2B5EF4-FFF2-40B4-BE49-F238E27FC236}">
                <a16:creationId xmlns:a16="http://schemas.microsoft.com/office/drawing/2014/main" id="{B318699F-9485-4652-8519-8E7321EEE6C1}"/>
              </a:ext>
            </a:extLst>
          </p:cNvPr>
          <p:cNvSpPr/>
          <p:nvPr/>
        </p:nvSpPr>
        <p:spPr>
          <a:xfrm>
            <a:off x="8388424" y="1327726"/>
            <a:ext cx="189225" cy="942348"/>
          </a:xfrm>
          <a:prstGeom prst="flowChartMerge">
            <a:avLst/>
          </a:prstGeom>
          <a:solidFill>
            <a:srgbClr val="FFC000"/>
          </a:solidFill>
          <a:ln w="254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91440" rIns="0" bIns="0" rtlCol="0" anchor="t" anchorCtr="1"/>
          <a:lstStyle/>
          <a:p>
            <a:pPr algn="r"/>
            <a:r>
              <a:rPr lang="en-US" altLang="zh-TW" sz="1200" b="1" dirty="0">
                <a:solidFill>
                  <a:schemeClr val="accent2">
                    <a:lumMod val="75000"/>
                  </a:schemeClr>
                </a:solidFill>
              </a:rPr>
              <a:t>Cost</a:t>
            </a:r>
            <a:endParaRPr lang="zh-TW" altLang="en-US" sz="12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cxnSp>
        <p:nvCxnSpPr>
          <p:cNvPr id="133" name="接點: 肘形 132">
            <a:extLst>
              <a:ext uri="{FF2B5EF4-FFF2-40B4-BE49-F238E27FC236}">
                <a16:creationId xmlns:a16="http://schemas.microsoft.com/office/drawing/2014/main" id="{25E3FDBC-A31D-8588-0E05-C4418761BDBC}"/>
              </a:ext>
            </a:extLst>
          </p:cNvPr>
          <p:cNvCxnSpPr>
            <a:cxnSpLocks/>
            <a:stCxn id="109" idx="3"/>
            <a:endCxn id="105" idx="1"/>
          </p:cNvCxnSpPr>
          <p:nvPr/>
        </p:nvCxnSpPr>
        <p:spPr>
          <a:xfrm flipV="1">
            <a:off x="4975840" y="4118939"/>
            <a:ext cx="628652" cy="1514746"/>
          </a:xfrm>
          <a:prstGeom prst="bentConnector3">
            <a:avLst>
              <a:gd name="adj1" fmla="val 56061"/>
            </a:avLst>
          </a:prstGeom>
          <a:ln w="19050">
            <a:solidFill>
              <a:schemeClr val="accent2"/>
            </a:solidFill>
            <a:prstDash val="sysDot"/>
            <a:headEnd type="none" w="sm" len="sm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接點: 肘形 137">
            <a:extLst>
              <a:ext uri="{FF2B5EF4-FFF2-40B4-BE49-F238E27FC236}">
                <a16:creationId xmlns:a16="http://schemas.microsoft.com/office/drawing/2014/main" id="{98D0DC95-1A97-D891-3726-7D42B7DA65C9}"/>
              </a:ext>
            </a:extLst>
          </p:cNvPr>
          <p:cNvCxnSpPr>
            <a:cxnSpLocks/>
            <a:stCxn id="107" idx="3"/>
            <a:endCxn id="105" idx="1"/>
          </p:cNvCxnSpPr>
          <p:nvPr/>
        </p:nvCxnSpPr>
        <p:spPr>
          <a:xfrm>
            <a:off x="5061781" y="3309809"/>
            <a:ext cx="542711" cy="809130"/>
          </a:xfrm>
          <a:prstGeom prst="bentConnector3">
            <a:avLst>
              <a:gd name="adj1" fmla="val 50000"/>
            </a:avLst>
          </a:prstGeom>
          <a:ln w="19050">
            <a:solidFill>
              <a:schemeClr val="accent2"/>
            </a:solidFill>
            <a:prstDash val="sysDot"/>
            <a:headEnd type="none" w="sm" len="sm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161920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87DFB4-612C-B0B9-4BE8-45819BE65B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文字方塊 8">
            <a:extLst>
              <a:ext uri="{FF2B5EF4-FFF2-40B4-BE49-F238E27FC236}">
                <a16:creationId xmlns:a16="http://schemas.microsoft.com/office/drawing/2014/main" id="{46EDBCD4-7EAC-421B-66FB-3388FFFF2900}"/>
              </a:ext>
            </a:extLst>
          </p:cNvPr>
          <p:cNvSpPr txBox="1"/>
          <p:nvPr/>
        </p:nvSpPr>
        <p:spPr>
          <a:xfrm>
            <a:off x="2456679" y="2515143"/>
            <a:ext cx="69584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100 x 8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sp>
        <p:nvSpPr>
          <p:cNvPr id="3" name="標題 1">
            <a:extLst>
              <a:ext uri="{FF2B5EF4-FFF2-40B4-BE49-F238E27FC236}">
                <a16:creationId xmlns:a16="http://schemas.microsoft.com/office/drawing/2014/main" id="{5B7B60AB-5109-7BAE-FA39-45AF0A7FD0FA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PEFT: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Q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uantization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Lo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w-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R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ank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daptation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QLoRA freezes the base model, squeezing updates through a narrow parameter bottleneck (r). 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6230C510-B223-AB07-63E6-5CA7DC527E06}"/>
              </a:ext>
            </a:extLst>
          </p:cNvPr>
          <p:cNvSpPr txBox="1"/>
          <p:nvPr/>
        </p:nvSpPr>
        <p:spPr>
          <a:xfrm>
            <a:off x="5546170" y="1432160"/>
            <a:ext cx="754022" cy="263368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2"/>
                </a:solidFill>
                <a:effectLst/>
              </a:rPr>
              <a:t>100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400" b="1" dirty="0">
              <a:solidFill>
                <a:schemeClr val="accent2"/>
              </a:solidFill>
            </a:endParaRP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7E11950E-8F49-2745-2EDD-097C758F04BA}"/>
              </a:ext>
            </a:extLst>
          </p:cNvPr>
          <p:cNvSpPr txBox="1"/>
          <p:nvPr/>
        </p:nvSpPr>
        <p:spPr>
          <a:xfrm>
            <a:off x="5505822" y="2644706"/>
            <a:ext cx="792088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100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174A7689-58E1-25E4-CAB8-C95092422A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45533721"/>
              </p:ext>
            </p:extLst>
          </p:nvPr>
        </p:nvGraphicFramePr>
        <p:xfrm>
          <a:off x="2408514" y="2852936"/>
          <a:ext cx="768819" cy="864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27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56273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6273">
                  <a:extLst>
                    <a:ext uri="{9D8B030D-6E8A-4147-A177-3AD203B41FA5}">
                      <a16:colId xmlns:a16="http://schemas.microsoft.com/office/drawing/2014/main" val="3366401909"/>
                    </a:ext>
                  </a:extLst>
                </a:gridCol>
              </a:tblGrid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...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...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2413032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4F6F6C15-94A2-C0C5-36A9-0DAC9AAC373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60860446"/>
              </p:ext>
            </p:extLst>
          </p:nvPr>
        </p:nvGraphicFramePr>
        <p:xfrm>
          <a:off x="5295270" y="1725388"/>
          <a:ext cx="1218664" cy="7148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10" name="文字方塊 9">
            <a:extLst>
              <a:ext uri="{FF2B5EF4-FFF2-40B4-BE49-F238E27FC236}">
                <a16:creationId xmlns:a16="http://schemas.microsoft.com/office/drawing/2014/main" id="{FDAA76A0-7CB4-DA0D-EDD9-6D1BAA982226}"/>
              </a:ext>
            </a:extLst>
          </p:cNvPr>
          <p:cNvSpPr txBox="1"/>
          <p:nvPr/>
        </p:nvSpPr>
        <p:spPr>
          <a:xfrm>
            <a:off x="3801863" y="2780928"/>
            <a:ext cx="69584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dirty="0">
                <a:solidFill>
                  <a:schemeClr val="accent6">
                    <a:lumMod val="75000"/>
                  </a:schemeClr>
                </a:solidFill>
              </a:rPr>
              <a:t>8</a:t>
            </a: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graphicFrame>
        <p:nvGraphicFramePr>
          <p:cNvPr id="11" name="表格 10">
            <a:extLst>
              <a:ext uri="{FF2B5EF4-FFF2-40B4-BE49-F238E27FC236}">
                <a16:creationId xmlns:a16="http://schemas.microsoft.com/office/drawing/2014/main" id="{970FEFC2-8AF0-B494-88D8-630F4FEC97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56315104"/>
              </p:ext>
            </p:extLst>
          </p:nvPr>
        </p:nvGraphicFramePr>
        <p:xfrm>
          <a:off x="3426644" y="3074156"/>
          <a:ext cx="1577404" cy="3548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435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17742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742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graphicFrame>
        <p:nvGraphicFramePr>
          <p:cNvPr id="12" name="表格 11">
            <a:extLst>
              <a:ext uri="{FF2B5EF4-FFF2-40B4-BE49-F238E27FC236}">
                <a16:creationId xmlns:a16="http://schemas.microsoft.com/office/drawing/2014/main" id="{FDFCECAB-DFF2-9A96-42C1-C1A92C90C6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91471018"/>
              </p:ext>
            </p:extLst>
          </p:nvPr>
        </p:nvGraphicFramePr>
        <p:xfrm>
          <a:off x="5292080" y="2913354"/>
          <a:ext cx="1218664" cy="7148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13" name="文字方塊 12">
            <a:extLst>
              <a:ext uri="{FF2B5EF4-FFF2-40B4-BE49-F238E27FC236}">
                <a16:creationId xmlns:a16="http://schemas.microsoft.com/office/drawing/2014/main" id="{CA418A53-024F-5256-DFDC-38C367C98546}"/>
              </a:ext>
            </a:extLst>
          </p:cNvPr>
          <p:cNvSpPr txBox="1"/>
          <p:nvPr/>
        </p:nvSpPr>
        <p:spPr>
          <a:xfrm>
            <a:off x="4010625" y="1721623"/>
            <a:ext cx="678086" cy="247833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</a:rPr>
              <a:t>1 x 100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aphicFrame>
        <p:nvGraphicFramePr>
          <p:cNvPr id="14" name="表格 13">
            <a:extLst>
              <a:ext uri="{FF2B5EF4-FFF2-40B4-BE49-F238E27FC236}">
                <a16:creationId xmlns:a16="http://schemas.microsoft.com/office/drawing/2014/main" id="{3345E229-AD34-1F98-A1EE-ED0FCB9682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41442973"/>
              </p:ext>
            </p:extLst>
          </p:nvPr>
        </p:nvGraphicFramePr>
        <p:xfrm>
          <a:off x="3717516" y="1997327"/>
          <a:ext cx="1218664" cy="178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15" name="文字方塊 14">
            <a:extLst>
              <a:ext uri="{FF2B5EF4-FFF2-40B4-BE49-F238E27FC236}">
                <a16:creationId xmlns:a16="http://schemas.microsoft.com/office/drawing/2014/main" id="{12B550F6-AAF7-C19A-A92E-CF87D9C54EF1}"/>
              </a:ext>
            </a:extLst>
          </p:cNvPr>
          <p:cNvSpPr txBox="1"/>
          <p:nvPr/>
        </p:nvSpPr>
        <p:spPr>
          <a:xfrm>
            <a:off x="7030856" y="1721623"/>
            <a:ext cx="648072" cy="247833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1">
                    <a:lumMod val="75000"/>
                  </a:schemeClr>
                </a:solidFill>
                <a:effectLst/>
              </a:rPr>
              <a:t>1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aphicFrame>
        <p:nvGraphicFramePr>
          <p:cNvPr id="16" name="表格 15">
            <a:extLst>
              <a:ext uri="{FF2B5EF4-FFF2-40B4-BE49-F238E27FC236}">
                <a16:creationId xmlns:a16="http://schemas.microsoft.com/office/drawing/2014/main" id="{996B90EC-11CB-52EE-8E93-6793DBEBCC4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04188969"/>
              </p:ext>
            </p:extLst>
          </p:nvPr>
        </p:nvGraphicFramePr>
        <p:xfrm>
          <a:off x="6729958" y="1987628"/>
          <a:ext cx="1218664" cy="178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17" name="文字方塊 16">
            <a:extLst>
              <a:ext uri="{FF2B5EF4-FFF2-40B4-BE49-F238E27FC236}">
                <a16:creationId xmlns:a16="http://schemas.microsoft.com/office/drawing/2014/main" id="{AC4206E9-412D-FD84-36F9-9F12F7A65F2F}"/>
              </a:ext>
            </a:extLst>
          </p:cNvPr>
          <p:cNvSpPr txBox="1"/>
          <p:nvPr/>
        </p:nvSpPr>
        <p:spPr>
          <a:xfrm>
            <a:off x="5793854" y="2457142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+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4EEBCB8E-14AD-6B5D-4F80-0544704FC54A}"/>
              </a:ext>
            </a:extLst>
          </p:cNvPr>
          <p:cNvSpPr txBox="1"/>
          <p:nvPr/>
        </p:nvSpPr>
        <p:spPr>
          <a:xfrm>
            <a:off x="5031780" y="1938722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x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7C2A484D-460F-1A04-04CA-5C1908284B6D}"/>
              </a:ext>
            </a:extLst>
          </p:cNvPr>
          <p:cNvSpPr txBox="1"/>
          <p:nvPr/>
        </p:nvSpPr>
        <p:spPr>
          <a:xfrm>
            <a:off x="6510744" y="1938722"/>
            <a:ext cx="219214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=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B37AEACB-00C0-87CF-71EE-829E83706821}"/>
              </a:ext>
            </a:extLst>
          </p:cNvPr>
          <p:cNvSpPr txBox="1"/>
          <p:nvPr/>
        </p:nvSpPr>
        <p:spPr>
          <a:xfrm>
            <a:off x="3223295" y="3119894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x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493FF47D-66F2-8021-8537-0B49581A514D}"/>
              </a:ext>
            </a:extLst>
          </p:cNvPr>
          <p:cNvSpPr txBox="1"/>
          <p:nvPr/>
        </p:nvSpPr>
        <p:spPr>
          <a:xfrm>
            <a:off x="5031780" y="3153300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=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4" name="文字方塊 23">
            <a:extLst>
              <a:ext uri="{FF2B5EF4-FFF2-40B4-BE49-F238E27FC236}">
                <a16:creationId xmlns:a16="http://schemas.microsoft.com/office/drawing/2014/main" id="{166C89C2-E685-02E9-C209-61874A3350C9}"/>
              </a:ext>
            </a:extLst>
          </p:cNvPr>
          <p:cNvSpPr txBox="1"/>
          <p:nvPr/>
        </p:nvSpPr>
        <p:spPr>
          <a:xfrm>
            <a:off x="2577725" y="5199131"/>
            <a:ext cx="695847" cy="231316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100 x 1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graphicFrame>
        <p:nvGraphicFramePr>
          <p:cNvPr id="25" name="表格 24">
            <a:extLst>
              <a:ext uri="{FF2B5EF4-FFF2-40B4-BE49-F238E27FC236}">
                <a16:creationId xmlns:a16="http://schemas.microsoft.com/office/drawing/2014/main" id="{3A408C77-9AA7-C9E5-0EEA-D090525596A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90038720"/>
              </p:ext>
            </p:extLst>
          </p:nvPr>
        </p:nvGraphicFramePr>
        <p:xfrm>
          <a:off x="2793923" y="5462499"/>
          <a:ext cx="272530" cy="864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53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</a:tblGrid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2413032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sp>
        <p:nvSpPr>
          <p:cNvPr id="26" name="文字方塊 25">
            <a:extLst>
              <a:ext uri="{FF2B5EF4-FFF2-40B4-BE49-F238E27FC236}">
                <a16:creationId xmlns:a16="http://schemas.microsoft.com/office/drawing/2014/main" id="{46547153-3887-39D1-68AC-E63C5A9D08BB}"/>
              </a:ext>
            </a:extLst>
          </p:cNvPr>
          <p:cNvSpPr txBox="1"/>
          <p:nvPr/>
        </p:nvSpPr>
        <p:spPr>
          <a:xfrm>
            <a:off x="3801862" y="5517232"/>
            <a:ext cx="695847" cy="276999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1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graphicFrame>
        <p:nvGraphicFramePr>
          <p:cNvPr id="27" name="表格 26">
            <a:extLst>
              <a:ext uri="{FF2B5EF4-FFF2-40B4-BE49-F238E27FC236}">
                <a16:creationId xmlns:a16="http://schemas.microsoft.com/office/drawing/2014/main" id="{D856DEEC-0920-37CD-984E-6387928C97E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94179731"/>
              </p:ext>
            </p:extLst>
          </p:nvPr>
        </p:nvGraphicFramePr>
        <p:xfrm>
          <a:off x="3424362" y="5777513"/>
          <a:ext cx="1577404" cy="17742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435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17742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28" name="文字方塊 27">
            <a:extLst>
              <a:ext uri="{FF2B5EF4-FFF2-40B4-BE49-F238E27FC236}">
                <a16:creationId xmlns:a16="http://schemas.microsoft.com/office/drawing/2014/main" id="{8012E381-AA45-3D1A-CAEC-4D2813F6AB34}"/>
              </a:ext>
            </a:extLst>
          </p:cNvPr>
          <p:cNvSpPr txBox="1"/>
          <p:nvPr/>
        </p:nvSpPr>
        <p:spPr>
          <a:xfrm>
            <a:off x="3201566" y="5734540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x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graphicFrame>
        <p:nvGraphicFramePr>
          <p:cNvPr id="40" name="表格 39">
            <a:extLst>
              <a:ext uri="{FF2B5EF4-FFF2-40B4-BE49-F238E27FC236}">
                <a16:creationId xmlns:a16="http://schemas.microsoft.com/office/drawing/2014/main" id="{9E880617-74A7-3F1D-19E7-1C6CE624CC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69814430"/>
              </p:ext>
            </p:extLst>
          </p:nvPr>
        </p:nvGraphicFramePr>
        <p:xfrm>
          <a:off x="1835696" y="4819447"/>
          <a:ext cx="2823168" cy="263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6448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3066584392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3404935993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194789956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4011389836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1056063242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569222339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2844237105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312702483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1426537453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521542109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1942328799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3241487124"/>
                    </a:ext>
                  </a:extLst>
                </a:gridCol>
              </a:tblGrid>
              <a:tr h="26336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5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9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41" name="表格 40">
            <a:extLst>
              <a:ext uri="{FF2B5EF4-FFF2-40B4-BE49-F238E27FC236}">
                <a16:creationId xmlns:a16="http://schemas.microsoft.com/office/drawing/2014/main" id="{9E930552-FE47-29BE-877E-18BE859F76F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49484635"/>
              </p:ext>
            </p:extLst>
          </p:nvPr>
        </p:nvGraphicFramePr>
        <p:xfrm>
          <a:off x="2251383" y="4330399"/>
          <a:ext cx="2437328" cy="178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3066584392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3404935993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94789956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4011389836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b15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cxnSp>
        <p:nvCxnSpPr>
          <p:cNvPr id="43" name="直線單箭頭接點 42">
            <a:extLst>
              <a:ext uri="{FF2B5EF4-FFF2-40B4-BE49-F238E27FC236}">
                <a16:creationId xmlns:a16="http://schemas.microsoft.com/office/drawing/2014/main" id="{3D69D28E-D3BB-E57F-0654-C588ED181323}"/>
              </a:ext>
            </a:extLst>
          </p:cNvPr>
          <p:cNvCxnSpPr>
            <a:cxnSpLocks/>
          </p:cNvCxnSpPr>
          <p:nvPr/>
        </p:nvCxnSpPr>
        <p:spPr>
          <a:xfrm>
            <a:off x="2556939" y="4419193"/>
            <a:ext cx="0" cy="400254"/>
          </a:xfrm>
          <a:prstGeom prst="straightConnector1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直線單箭頭接點 45">
            <a:extLst>
              <a:ext uri="{FF2B5EF4-FFF2-40B4-BE49-F238E27FC236}">
                <a16:creationId xmlns:a16="http://schemas.microsoft.com/office/drawing/2014/main" id="{F9A3051A-7393-2108-A65E-E17A5BDFC742}"/>
              </a:ext>
            </a:extLst>
          </p:cNvPr>
          <p:cNvCxnSpPr>
            <a:cxnSpLocks/>
            <a:endCxn id="40" idx="0"/>
          </p:cNvCxnSpPr>
          <p:nvPr/>
        </p:nvCxnSpPr>
        <p:spPr>
          <a:xfrm>
            <a:off x="2824829" y="4496168"/>
            <a:ext cx="422451" cy="323279"/>
          </a:xfrm>
          <a:prstGeom prst="straightConnector1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D91FD903-5CA4-5DF9-C34F-F10FB97C112B}"/>
              </a:ext>
            </a:extLst>
          </p:cNvPr>
          <p:cNvSpPr txBox="1"/>
          <p:nvPr/>
        </p:nvSpPr>
        <p:spPr>
          <a:xfrm>
            <a:off x="2627784" y="4640726"/>
            <a:ext cx="422451" cy="183932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200" dirty="0">
                <a:solidFill>
                  <a:prstClr val="black"/>
                </a:solidFill>
                <a:ea typeface="Cambria Math" panose="02040503050406030204" pitchFamily="18" charset="0"/>
              </a:rPr>
              <a:t>4 bits</a:t>
            </a:r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233890C5-0A88-D645-14E5-9AA7C51DF87A}"/>
              </a:ext>
            </a:extLst>
          </p:cNvPr>
          <p:cNvSpPr txBox="1"/>
          <p:nvPr/>
        </p:nvSpPr>
        <p:spPr>
          <a:xfrm>
            <a:off x="2503198" y="3966964"/>
            <a:ext cx="422451" cy="288032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200"/>
              </a:lnSpc>
            </a:pPr>
            <a:r>
              <a:rPr lang="en-US" altLang="zh-TW" sz="1200" dirty="0">
                <a:solidFill>
                  <a:prstClr val="black"/>
                </a:solidFill>
                <a:ea typeface="Cambria Math" panose="02040503050406030204" pitchFamily="18" charset="0"/>
              </a:rPr>
              <a:t>16</a:t>
            </a:r>
          </a:p>
          <a:p>
            <a:pPr>
              <a:lnSpc>
                <a:spcPts val="1200"/>
              </a:lnSpc>
            </a:pPr>
            <a:r>
              <a:rPr lang="en-US" altLang="zh-TW" sz="1200" dirty="0">
                <a:solidFill>
                  <a:prstClr val="black"/>
                </a:solidFill>
                <a:ea typeface="Cambria Math" panose="02040503050406030204" pitchFamily="18" charset="0"/>
              </a:rPr>
              <a:t>bits</a:t>
            </a:r>
          </a:p>
        </p:txBody>
      </p:sp>
      <p:sp>
        <p:nvSpPr>
          <p:cNvPr id="39" name="右大括弧 38">
            <a:extLst>
              <a:ext uri="{FF2B5EF4-FFF2-40B4-BE49-F238E27FC236}">
                <a16:creationId xmlns:a16="http://schemas.microsoft.com/office/drawing/2014/main" id="{43AD7CAA-9919-2BDC-C547-ADA2F3ADF7DF}"/>
              </a:ext>
            </a:extLst>
          </p:cNvPr>
          <p:cNvSpPr/>
          <p:nvPr/>
        </p:nvSpPr>
        <p:spPr>
          <a:xfrm rot="10800000">
            <a:off x="2043852" y="2728274"/>
            <a:ext cx="108700" cy="988757"/>
          </a:xfrm>
          <a:prstGeom prst="rightBrac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44" name="文字方塊 43">
            <a:extLst>
              <a:ext uri="{FF2B5EF4-FFF2-40B4-BE49-F238E27FC236}">
                <a16:creationId xmlns:a16="http://schemas.microsoft.com/office/drawing/2014/main" id="{8C236E84-CA66-55C6-A353-D96F41563DD1}"/>
              </a:ext>
            </a:extLst>
          </p:cNvPr>
          <p:cNvSpPr txBox="1"/>
          <p:nvPr/>
        </p:nvSpPr>
        <p:spPr>
          <a:xfrm>
            <a:off x="1547664" y="3079993"/>
            <a:ext cx="401072" cy="27699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400" b="1" dirty="0"/>
              <a:t>LoRA</a:t>
            </a:r>
            <a:endParaRPr lang="zh-TW" altLang="en-US" sz="1400" b="1" dirty="0"/>
          </a:p>
        </p:txBody>
      </p:sp>
      <p:sp>
        <p:nvSpPr>
          <p:cNvPr id="49" name="文字方塊 48">
            <a:extLst>
              <a:ext uri="{FF2B5EF4-FFF2-40B4-BE49-F238E27FC236}">
                <a16:creationId xmlns:a16="http://schemas.microsoft.com/office/drawing/2014/main" id="{99A5FBEF-DD1B-027F-7308-223EF51BE499}"/>
              </a:ext>
            </a:extLst>
          </p:cNvPr>
          <p:cNvSpPr txBox="1"/>
          <p:nvPr/>
        </p:nvSpPr>
        <p:spPr>
          <a:xfrm>
            <a:off x="971600" y="5517232"/>
            <a:ext cx="401072" cy="27699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400" b="1" dirty="0"/>
              <a:t>QLoRA</a:t>
            </a:r>
            <a:endParaRPr lang="zh-TW" altLang="en-US" sz="1400" b="1" dirty="0"/>
          </a:p>
        </p:txBody>
      </p:sp>
      <p:sp>
        <p:nvSpPr>
          <p:cNvPr id="55" name="右大括弧 54">
            <a:extLst>
              <a:ext uri="{FF2B5EF4-FFF2-40B4-BE49-F238E27FC236}">
                <a16:creationId xmlns:a16="http://schemas.microsoft.com/office/drawing/2014/main" id="{FDC02000-3510-2BFF-9245-7620E6943787}"/>
              </a:ext>
            </a:extLst>
          </p:cNvPr>
          <p:cNvSpPr/>
          <p:nvPr/>
        </p:nvSpPr>
        <p:spPr>
          <a:xfrm rot="10800000">
            <a:off x="1475656" y="4951131"/>
            <a:ext cx="138303" cy="1378626"/>
          </a:xfrm>
          <a:prstGeom prst="rightBrac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59" name="矩形: 圓角 58">
            <a:extLst>
              <a:ext uri="{FF2B5EF4-FFF2-40B4-BE49-F238E27FC236}">
                <a16:creationId xmlns:a16="http://schemas.microsoft.com/office/drawing/2014/main" id="{0B7BD835-FD81-3F02-5FD1-3F2F8343A2F6}"/>
              </a:ext>
            </a:extLst>
          </p:cNvPr>
          <p:cNvSpPr/>
          <p:nvPr/>
        </p:nvSpPr>
        <p:spPr>
          <a:xfrm>
            <a:off x="2324300" y="2814836"/>
            <a:ext cx="922980" cy="288032"/>
          </a:xfrm>
          <a:prstGeom prst="roundRect">
            <a:avLst>
              <a:gd name="adj" fmla="val 1682"/>
            </a:avLst>
          </a:prstGeom>
          <a:noFill/>
          <a:ln w="15875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63" name="矩形: 圓角 62">
            <a:extLst>
              <a:ext uri="{FF2B5EF4-FFF2-40B4-BE49-F238E27FC236}">
                <a16:creationId xmlns:a16="http://schemas.microsoft.com/office/drawing/2014/main" id="{79368FC2-23FC-8AFF-A6B0-B3063BDB7FC4}"/>
              </a:ext>
            </a:extLst>
          </p:cNvPr>
          <p:cNvSpPr/>
          <p:nvPr/>
        </p:nvSpPr>
        <p:spPr>
          <a:xfrm>
            <a:off x="2166294" y="4278319"/>
            <a:ext cx="2621730" cy="288032"/>
          </a:xfrm>
          <a:prstGeom prst="roundRect">
            <a:avLst>
              <a:gd name="adj" fmla="val 1682"/>
            </a:avLst>
          </a:prstGeom>
          <a:noFill/>
          <a:ln w="15875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814980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63889C-D10C-B36A-2721-EFF1DC2986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1">
            <a:extLst>
              <a:ext uri="{FF2B5EF4-FFF2-40B4-BE49-F238E27FC236}">
                <a16:creationId xmlns:a16="http://schemas.microsoft.com/office/drawing/2014/main" id="{D35E2BF1-6FE3-3015-8276-1481380950DB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PEFT: Weight-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D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ecomposed L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oRA</a:t>
            </a:r>
          </a:p>
          <a:p>
            <a:r>
              <a:rPr lang="en-US" altLang="zh-TW" sz="1400" b="1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DoRA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 fundamentally improves LoRA by decomposing weights into </a:t>
            </a:r>
            <a:r>
              <a:rPr lang="en-US" altLang="zh-TW" sz="14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magnitude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 and </a:t>
            </a:r>
            <a:r>
              <a:rPr lang="en-US" altLang="zh-TW" sz="14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direction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. </a:t>
            </a:r>
          </a:p>
        </p:txBody>
      </p:sp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EBEBCF88-3560-5ABF-5D6D-C099FC517E5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67680322"/>
              </p:ext>
            </p:extLst>
          </p:nvPr>
        </p:nvGraphicFramePr>
        <p:xfrm>
          <a:off x="2938059" y="2204864"/>
          <a:ext cx="545060" cy="864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53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72530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216024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2413032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F5969713-48F1-14D8-0B44-BBB25E2E66B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25836973"/>
              </p:ext>
            </p:extLst>
          </p:nvPr>
        </p:nvGraphicFramePr>
        <p:xfrm>
          <a:off x="5585584" y="1381276"/>
          <a:ext cx="1218664" cy="7148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10" name="文字方塊 9">
            <a:extLst>
              <a:ext uri="{FF2B5EF4-FFF2-40B4-BE49-F238E27FC236}">
                <a16:creationId xmlns:a16="http://schemas.microsoft.com/office/drawing/2014/main" id="{69F885FB-F8DB-3366-45FC-8F10E81744B6}"/>
              </a:ext>
            </a:extLst>
          </p:cNvPr>
          <p:cNvSpPr txBox="1"/>
          <p:nvPr/>
        </p:nvSpPr>
        <p:spPr>
          <a:xfrm>
            <a:off x="3320587" y="3597835"/>
            <a:ext cx="403578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 0.1 x </a:t>
            </a:r>
          </a:p>
        </p:txBody>
      </p:sp>
      <p:graphicFrame>
        <p:nvGraphicFramePr>
          <p:cNvPr id="11" name="表格 10">
            <a:extLst>
              <a:ext uri="{FF2B5EF4-FFF2-40B4-BE49-F238E27FC236}">
                <a16:creationId xmlns:a16="http://schemas.microsoft.com/office/drawing/2014/main" id="{A0B7BCF8-5297-D373-E95B-1D2A0407EE3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34240659"/>
              </p:ext>
            </p:extLst>
          </p:nvPr>
        </p:nvGraphicFramePr>
        <p:xfrm>
          <a:off x="3658140" y="2430190"/>
          <a:ext cx="1577404" cy="3548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435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177422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7422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sp>
        <p:nvSpPr>
          <p:cNvPr id="13" name="文字方塊 12">
            <a:extLst>
              <a:ext uri="{FF2B5EF4-FFF2-40B4-BE49-F238E27FC236}">
                <a16:creationId xmlns:a16="http://schemas.microsoft.com/office/drawing/2014/main" id="{A82BA1F2-8B0F-F56C-5C78-D715BD5F2455}"/>
              </a:ext>
            </a:extLst>
          </p:cNvPr>
          <p:cNvSpPr txBox="1"/>
          <p:nvPr/>
        </p:nvSpPr>
        <p:spPr>
          <a:xfrm>
            <a:off x="1048685" y="1340768"/>
            <a:ext cx="678086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</a:rPr>
              <a:t>1 x 100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aphicFrame>
        <p:nvGraphicFramePr>
          <p:cNvPr id="14" name="表格 13">
            <a:extLst>
              <a:ext uri="{FF2B5EF4-FFF2-40B4-BE49-F238E27FC236}">
                <a16:creationId xmlns:a16="http://schemas.microsoft.com/office/drawing/2014/main" id="{5EA5B1A1-E8FE-FFA5-DD35-8926472EC6E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08188330"/>
              </p:ext>
            </p:extLst>
          </p:nvPr>
        </p:nvGraphicFramePr>
        <p:xfrm>
          <a:off x="755576" y="1641136"/>
          <a:ext cx="1218664" cy="178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15" name="文字方塊 14">
            <a:extLst>
              <a:ext uri="{FF2B5EF4-FFF2-40B4-BE49-F238E27FC236}">
                <a16:creationId xmlns:a16="http://schemas.microsoft.com/office/drawing/2014/main" id="{7A5A42F4-7CBD-9D47-F69F-2489A0F2911A}"/>
              </a:ext>
            </a:extLst>
          </p:cNvPr>
          <p:cNvSpPr txBox="1"/>
          <p:nvPr/>
        </p:nvSpPr>
        <p:spPr>
          <a:xfrm>
            <a:off x="7398650" y="1340768"/>
            <a:ext cx="648072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1">
                    <a:lumMod val="75000"/>
                  </a:schemeClr>
                </a:solidFill>
                <a:effectLst/>
              </a:rPr>
              <a:t>1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aphicFrame>
        <p:nvGraphicFramePr>
          <p:cNvPr id="16" name="表格 15">
            <a:extLst>
              <a:ext uri="{FF2B5EF4-FFF2-40B4-BE49-F238E27FC236}">
                <a16:creationId xmlns:a16="http://schemas.microsoft.com/office/drawing/2014/main" id="{A4887E64-451C-2A98-2140-B60E4788F5D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63612413"/>
              </p:ext>
            </p:extLst>
          </p:nvPr>
        </p:nvGraphicFramePr>
        <p:xfrm>
          <a:off x="7169760" y="1631437"/>
          <a:ext cx="1218664" cy="178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20" name="文字方塊 19">
            <a:extLst>
              <a:ext uri="{FF2B5EF4-FFF2-40B4-BE49-F238E27FC236}">
                <a16:creationId xmlns:a16="http://schemas.microsoft.com/office/drawing/2014/main" id="{E5328391-F130-91DE-E826-96E58451F388}"/>
              </a:ext>
            </a:extLst>
          </p:cNvPr>
          <p:cNvSpPr txBox="1"/>
          <p:nvPr/>
        </p:nvSpPr>
        <p:spPr>
          <a:xfrm>
            <a:off x="2051720" y="1582531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x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CBE4D3F9-BE11-216C-0F65-9F89C76CEE67}"/>
              </a:ext>
            </a:extLst>
          </p:cNvPr>
          <p:cNvSpPr txBox="1"/>
          <p:nvPr/>
        </p:nvSpPr>
        <p:spPr>
          <a:xfrm>
            <a:off x="6878538" y="1582531"/>
            <a:ext cx="219214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=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06666021-CE75-49AD-E5F2-0C852C147D4F}"/>
              </a:ext>
            </a:extLst>
          </p:cNvPr>
          <p:cNvSpPr txBox="1"/>
          <p:nvPr/>
        </p:nvSpPr>
        <p:spPr>
          <a:xfrm>
            <a:off x="3480182" y="2475928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x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graphicFrame>
        <p:nvGraphicFramePr>
          <p:cNvPr id="30" name="表格 29">
            <a:extLst>
              <a:ext uri="{FF2B5EF4-FFF2-40B4-BE49-F238E27FC236}">
                <a16:creationId xmlns:a16="http://schemas.microsoft.com/office/drawing/2014/main" id="{B73339CD-B5DB-548D-81FC-776E1139B35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95626006"/>
              </p:ext>
            </p:extLst>
          </p:nvPr>
        </p:nvGraphicFramePr>
        <p:xfrm>
          <a:off x="1043608" y="4043666"/>
          <a:ext cx="1577404" cy="17742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435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17742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m11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m12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M13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38" name="文字方塊 37">
            <a:extLst>
              <a:ext uri="{FF2B5EF4-FFF2-40B4-BE49-F238E27FC236}">
                <a16:creationId xmlns:a16="http://schemas.microsoft.com/office/drawing/2014/main" id="{CBFA29BC-16EA-8E29-DAF3-456E58026E7D}"/>
              </a:ext>
            </a:extLst>
          </p:cNvPr>
          <p:cNvSpPr txBox="1"/>
          <p:nvPr/>
        </p:nvSpPr>
        <p:spPr>
          <a:xfrm>
            <a:off x="5474120" y="4010908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)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graphicFrame>
        <p:nvGraphicFramePr>
          <p:cNvPr id="58" name="表格 57">
            <a:extLst>
              <a:ext uri="{FF2B5EF4-FFF2-40B4-BE49-F238E27FC236}">
                <a16:creationId xmlns:a16="http://schemas.microsoft.com/office/drawing/2014/main" id="{3C496CFB-6BBB-3BA0-2E6D-8F5F1098A95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65475233"/>
              </p:ext>
            </p:extLst>
          </p:nvPr>
        </p:nvGraphicFramePr>
        <p:xfrm>
          <a:off x="4139953" y="4221088"/>
          <a:ext cx="444549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00">
                  <a:extLst>
                    <a:ext uri="{9D8B030D-6E8A-4147-A177-3AD203B41FA5}">
                      <a16:colId xmlns:a16="http://schemas.microsoft.com/office/drawing/2014/main" val="2877778302"/>
                    </a:ext>
                  </a:extLst>
                </a:gridCol>
                <a:gridCol w="11227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8125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8125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118961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400">
                  <a:extLst>
                    <a:ext uri="{9D8B030D-6E8A-4147-A177-3AD203B41FA5}">
                      <a16:colId xmlns:a16="http://schemas.microsoft.com/office/drawing/2014/main" val="3942451870"/>
                    </a:ext>
                  </a:extLst>
                </a:gridCol>
              </a:tblGrid>
              <a:tr h="103417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03417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03417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</a:tbl>
          </a:graphicData>
        </a:graphic>
      </p:graphicFrame>
      <p:cxnSp>
        <p:nvCxnSpPr>
          <p:cNvPr id="60" name="直線接點 59">
            <a:extLst>
              <a:ext uri="{FF2B5EF4-FFF2-40B4-BE49-F238E27FC236}">
                <a16:creationId xmlns:a16="http://schemas.microsoft.com/office/drawing/2014/main" id="{EB1EA629-4209-A850-F1A1-D8BA04D9C9CC}"/>
              </a:ext>
            </a:extLst>
          </p:cNvPr>
          <p:cNvCxnSpPr>
            <a:cxnSpLocks/>
          </p:cNvCxnSpPr>
          <p:nvPr/>
        </p:nvCxnSpPr>
        <p:spPr>
          <a:xfrm>
            <a:off x="3310495" y="4135391"/>
            <a:ext cx="2163625" cy="0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文字方塊 61">
            <a:extLst>
              <a:ext uri="{FF2B5EF4-FFF2-40B4-BE49-F238E27FC236}">
                <a16:creationId xmlns:a16="http://schemas.microsoft.com/office/drawing/2014/main" id="{479E246E-2FCC-8FE5-B733-A981CCE1C6B4}"/>
              </a:ext>
            </a:extLst>
          </p:cNvPr>
          <p:cNvSpPr txBox="1"/>
          <p:nvPr/>
        </p:nvSpPr>
        <p:spPr>
          <a:xfrm>
            <a:off x="4138467" y="4359499"/>
            <a:ext cx="444549" cy="199418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000"/>
              </a:lnSpc>
              <a:buNone/>
            </a:pPr>
            <a:r>
              <a:rPr lang="en-US" altLang="zh-TW" sz="1000" b="1" u="none" strike="noStrike" dirty="0">
                <a:effectLst/>
              </a:rPr>
              <a:t>Norm</a:t>
            </a:r>
          </a:p>
        </p:txBody>
      </p:sp>
      <p:graphicFrame>
        <p:nvGraphicFramePr>
          <p:cNvPr id="68" name="表格 67">
            <a:extLst>
              <a:ext uri="{FF2B5EF4-FFF2-40B4-BE49-F238E27FC236}">
                <a16:creationId xmlns:a16="http://schemas.microsoft.com/office/drawing/2014/main" id="{9EFD464C-B4A7-F135-02DA-626DD5A5720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03936189"/>
              </p:ext>
            </p:extLst>
          </p:nvPr>
        </p:nvGraphicFramePr>
        <p:xfrm>
          <a:off x="3745928" y="3429000"/>
          <a:ext cx="573079" cy="609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00">
                  <a:extLst>
                    <a:ext uri="{9D8B030D-6E8A-4147-A177-3AD203B41FA5}">
                      <a16:colId xmlns:a16="http://schemas.microsoft.com/office/drawing/2014/main" val="2877778302"/>
                    </a:ext>
                  </a:extLst>
                </a:gridCol>
                <a:gridCol w="14892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157793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400">
                  <a:extLst>
                    <a:ext uri="{9D8B030D-6E8A-4147-A177-3AD203B41FA5}">
                      <a16:colId xmlns:a16="http://schemas.microsoft.com/office/drawing/2014/main" val="3942451870"/>
                    </a:ext>
                  </a:extLst>
                </a:gridCol>
              </a:tblGrid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graphicFrame>
        <p:nvGraphicFramePr>
          <p:cNvPr id="70" name="表格 69">
            <a:extLst>
              <a:ext uri="{FF2B5EF4-FFF2-40B4-BE49-F238E27FC236}">
                <a16:creationId xmlns:a16="http://schemas.microsoft.com/office/drawing/2014/main" id="{81CA69A3-B5CC-02BB-7359-C1BA5E6B65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21733383"/>
              </p:ext>
            </p:extLst>
          </p:nvPr>
        </p:nvGraphicFramePr>
        <p:xfrm>
          <a:off x="4901041" y="3429000"/>
          <a:ext cx="573079" cy="609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00">
                  <a:extLst>
                    <a:ext uri="{9D8B030D-6E8A-4147-A177-3AD203B41FA5}">
                      <a16:colId xmlns:a16="http://schemas.microsoft.com/office/drawing/2014/main" val="2877778302"/>
                    </a:ext>
                  </a:extLst>
                </a:gridCol>
                <a:gridCol w="14892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157793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400">
                  <a:extLst>
                    <a:ext uri="{9D8B030D-6E8A-4147-A177-3AD203B41FA5}">
                      <a16:colId xmlns:a16="http://schemas.microsoft.com/office/drawing/2014/main" val="3942451870"/>
                    </a:ext>
                  </a:extLst>
                </a:gridCol>
              </a:tblGrid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72" name="文字方塊 71">
            <a:extLst>
              <a:ext uri="{FF2B5EF4-FFF2-40B4-BE49-F238E27FC236}">
                <a16:creationId xmlns:a16="http://schemas.microsoft.com/office/drawing/2014/main" id="{947E49BB-0A02-34B7-7B44-573B60119A2B}"/>
              </a:ext>
            </a:extLst>
          </p:cNvPr>
          <p:cNvSpPr txBox="1"/>
          <p:nvPr/>
        </p:nvSpPr>
        <p:spPr>
          <a:xfrm>
            <a:off x="4394000" y="3595681"/>
            <a:ext cx="378033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 </a:t>
            </a:r>
            <a:r>
              <a:rPr lang="en-US" altLang="zh-TW" sz="1400" b="1" dirty="0"/>
              <a:t> </a:t>
            </a:r>
            <a:r>
              <a:rPr lang="en-US" altLang="zh-TW" sz="1400" b="1" u="none" strike="noStrike" dirty="0">
                <a:effectLst/>
              </a:rPr>
              <a:t>+ 0.9</a:t>
            </a:r>
            <a:r>
              <a:rPr lang="zh-TW" altLang="en-US" sz="1400" b="1" u="none" strike="noStrike" dirty="0">
                <a:effectLst/>
              </a:rPr>
              <a:t> </a:t>
            </a:r>
            <a:r>
              <a:rPr lang="en-US" altLang="zh-TW" sz="1400" b="1" u="none" strike="noStrike" dirty="0">
                <a:effectLst/>
              </a:rPr>
              <a:t>x</a:t>
            </a:r>
            <a:r>
              <a:rPr lang="zh-TW" altLang="en-US" sz="1400" b="1" u="none" strike="noStrike" dirty="0">
                <a:effectLst/>
              </a:rPr>
              <a:t> </a:t>
            </a:r>
            <a:endParaRPr lang="en-US" altLang="zh-TW" sz="1400" b="1" u="none" strike="noStrike" dirty="0">
              <a:effectLst/>
            </a:endParaRPr>
          </a:p>
          <a:p>
            <a:pPr algn="ctr">
              <a:lnSpc>
                <a:spcPts val="1400"/>
              </a:lnSpc>
              <a:buNone/>
            </a:pPr>
            <a:endParaRPr lang="en-US" altLang="zh-TW" sz="1400" b="1" dirty="0"/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sp>
        <p:nvSpPr>
          <p:cNvPr id="76" name="文字方塊 75">
            <a:extLst>
              <a:ext uri="{FF2B5EF4-FFF2-40B4-BE49-F238E27FC236}">
                <a16:creationId xmlns:a16="http://schemas.microsoft.com/office/drawing/2014/main" id="{92780C9C-6CB0-EE4E-3624-E9C83BEC065A}"/>
              </a:ext>
            </a:extLst>
          </p:cNvPr>
          <p:cNvSpPr txBox="1"/>
          <p:nvPr/>
        </p:nvSpPr>
        <p:spPr>
          <a:xfrm>
            <a:off x="2987824" y="4012575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400" b="1" dirty="0">
                <a:solidFill>
                  <a:prstClr val="black"/>
                </a:solidFill>
                <a:ea typeface="Cambria Math" panose="02040503050406030204" pitchFamily="18" charset="0"/>
              </a:rPr>
              <a:t> </a:t>
            </a:r>
            <a:r>
              <a:rPr kumimoji="0" lang="az-Cyrl-AZ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Ꙩ</a:t>
            </a:r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</a:t>
            </a:r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 (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66" name="文字方塊 65">
            <a:extLst>
              <a:ext uri="{FF2B5EF4-FFF2-40B4-BE49-F238E27FC236}">
                <a16:creationId xmlns:a16="http://schemas.microsoft.com/office/drawing/2014/main" id="{C4461DE9-71CF-6217-CB5B-A3A0EE539051}"/>
              </a:ext>
            </a:extLst>
          </p:cNvPr>
          <p:cNvSpPr txBox="1"/>
          <p:nvPr/>
        </p:nvSpPr>
        <p:spPr>
          <a:xfrm>
            <a:off x="4932961" y="3606350"/>
            <a:ext cx="50923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W</a:t>
            </a:r>
            <a:r>
              <a:rPr lang="en-US" altLang="zh-TW" sz="1400" b="1" u="none" strike="noStrike" baseline="-25000" dirty="0">
                <a:effectLst/>
              </a:rPr>
              <a:t>0</a:t>
            </a:r>
          </a:p>
        </p:txBody>
      </p:sp>
      <p:sp>
        <p:nvSpPr>
          <p:cNvPr id="82" name="文字方塊 81">
            <a:extLst>
              <a:ext uri="{FF2B5EF4-FFF2-40B4-BE49-F238E27FC236}">
                <a16:creationId xmlns:a16="http://schemas.microsoft.com/office/drawing/2014/main" id="{01F0EDB0-BF85-DC0D-9878-3554C87FB711}"/>
              </a:ext>
            </a:extLst>
          </p:cNvPr>
          <p:cNvSpPr txBox="1"/>
          <p:nvPr/>
        </p:nvSpPr>
        <p:spPr>
          <a:xfrm>
            <a:off x="3779912" y="3606350"/>
            <a:ext cx="50923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W</a:t>
            </a:r>
            <a:r>
              <a:rPr lang="en-US" altLang="zh-TW" sz="1400" b="1" u="none" strike="noStrike" baseline="-25000" dirty="0">
                <a:effectLst/>
              </a:rPr>
              <a:t>1</a:t>
            </a:r>
          </a:p>
        </p:txBody>
      </p:sp>
      <p:sp>
        <p:nvSpPr>
          <p:cNvPr id="84" name="右大括弧 83">
            <a:extLst>
              <a:ext uri="{FF2B5EF4-FFF2-40B4-BE49-F238E27FC236}">
                <a16:creationId xmlns:a16="http://schemas.microsoft.com/office/drawing/2014/main" id="{DE720BE9-4C36-0318-5B45-E24D7860CFCE}"/>
              </a:ext>
            </a:extLst>
          </p:cNvPr>
          <p:cNvSpPr/>
          <p:nvPr/>
        </p:nvSpPr>
        <p:spPr>
          <a:xfrm rot="5400000">
            <a:off x="4019893" y="2059133"/>
            <a:ext cx="133813" cy="2297484"/>
          </a:xfrm>
          <a:prstGeom prst="rightBrac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86" name="右大括弧 85">
            <a:extLst>
              <a:ext uri="{FF2B5EF4-FFF2-40B4-BE49-F238E27FC236}">
                <a16:creationId xmlns:a16="http://schemas.microsoft.com/office/drawing/2014/main" id="{CF43AA5F-9211-1098-2460-3701EE3A76BD}"/>
              </a:ext>
            </a:extLst>
          </p:cNvPr>
          <p:cNvSpPr/>
          <p:nvPr/>
        </p:nvSpPr>
        <p:spPr>
          <a:xfrm rot="5400000">
            <a:off x="6109823" y="1697396"/>
            <a:ext cx="137191" cy="1008112"/>
          </a:xfrm>
          <a:prstGeom prst="rightBrac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graphicFrame>
        <p:nvGraphicFramePr>
          <p:cNvPr id="88" name="表格 87">
            <a:extLst>
              <a:ext uri="{FF2B5EF4-FFF2-40B4-BE49-F238E27FC236}">
                <a16:creationId xmlns:a16="http://schemas.microsoft.com/office/drawing/2014/main" id="{E393108B-6E78-7538-15D5-25B450E877E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85725624"/>
              </p:ext>
            </p:extLst>
          </p:nvPr>
        </p:nvGraphicFramePr>
        <p:xfrm>
          <a:off x="5893372" y="2315344"/>
          <a:ext cx="573079" cy="609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00">
                  <a:extLst>
                    <a:ext uri="{9D8B030D-6E8A-4147-A177-3AD203B41FA5}">
                      <a16:colId xmlns:a16="http://schemas.microsoft.com/office/drawing/2014/main" val="2877778302"/>
                    </a:ext>
                  </a:extLst>
                </a:gridCol>
                <a:gridCol w="14892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157793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400">
                  <a:extLst>
                    <a:ext uri="{9D8B030D-6E8A-4147-A177-3AD203B41FA5}">
                      <a16:colId xmlns:a16="http://schemas.microsoft.com/office/drawing/2014/main" val="3942451870"/>
                    </a:ext>
                  </a:extLst>
                </a:gridCol>
              </a:tblGrid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90" name="文字方塊 89">
            <a:extLst>
              <a:ext uri="{FF2B5EF4-FFF2-40B4-BE49-F238E27FC236}">
                <a16:creationId xmlns:a16="http://schemas.microsoft.com/office/drawing/2014/main" id="{1CA08461-6A73-1D89-9315-A1074039A04F}"/>
              </a:ext>
            </a:extLst>
          </p:cNvPr>
          <p:cNvSpPr txBox="1"/>
          <p:nvPr/>
        </p:nvSpPr>
        <p:spPr>
          <a:xfrm>
            <a:off x="5925292" y="2492694"/>
            <a:ext cx="50923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W</a:t>
            </a:r>
            <a:r>
              <a:rPr lang="en-US" altLang="zh-TW" sz="1400" b="1" u="none" strike="noStrike" baseline="-25000" dirty="0">
                <a:effectLst/>
              </a:rPr>
              <a:t>0</a:t>
            </a:r>
          </a:p>
        </p:txBody>
      </p:sp>
      <p:sp>
        <p:nvSpPr>
          <p:cNvPr id="92" name="文字方塊 91">
            <a:extLst>
              <a:ext uri="{FF2B5EF4-FFF2-40B4-BE49-F238E27FC236}">
                <a16:creationId xmlns:a16="http://schemas.microsoft.com/office/drawing/2014/main" id="{DBF2618B-7ED8-C2C2-19D7-3BA9775AF4CF}"/>
              </a:ext>
            </a:extLst>
          </p:cNvPr>
          <p:cNvSpPr txBox="1"/>
          <p:nvPr/>
        </p:nvSpPr>
        <p:spPr>
          <a:xfrm>
            <a:off x="5366373" y="2451264"/>
            <a:ext cx="378033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 </a:t>
            </a:r>
            <a:r>
              <a:rPr lang="en-US" altLang="zh-TW" sz="1400" b="1" dirty="0"/>
              <a:t> </a:t>
            </a:r>
            <a:r>
              <a:rPr lang="en-US" altLang="zh-TW" sz="1400" b="1" u="none" strike="noStrike" dirty="0">
                <a:effectLst/>
              </a:rPr>
              <a:t>+ 0.9</a:t>
            </a:r>
            <a:r>
              <a:rPr lang="zh-TW" altLang="en-US" sz="1400" b="1" u="none" strike="noStrike" dirty="0">
                <a:effectLst/>
              </a:rPr>
              <a:t> </a:t>
            </a:r>
            <a:r>
              <a:rPr lang="en-US" altLang="zh-TW" sz="1400" b="1" u="none" strike="noStrike" dirty="0">
                <a:effectLst/>
              </a:rPr>
              <a:t>x</a:t>
            </a:r>
            <a:r>
              <a:rPr lang="zh-TW" altLang="en-US" sz="1400" b="1" u="none" strike="noStrike" dirty="0">
                <a:effectLst/>
              </a:rPr>
              <a:t> </a:t>
            </a:r>
            <a:endParaRPr lang="en-US" altLang="zh-TW" sz="1400" b="1" u="none" strike="noStrike" dirty="0">
              <a:effectLst/>
            </a:endParaRPr>
          </a:p>
          <a:p>
            <a:pPr algn="ctr">
              <a:lnSpc>
                <a:spcPts val="1400"/>
              </a:lnSpc>
              <a:buNone/>
            </a:pPr>
            <a:endParaRPr lang="en-US" altLang="zh-TW" sz="1400" b="1" dirty="0"/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sp>
        <p:nvSpPr>
          <p:cNvPr id="94" name="文字方塊 93">
            <a:extLst>
              <a:ext uri="{FF2B5EF4-FFF2-40B4-BE49-F238E27FC236}">
                <a16:creationId xmlns:a16="http://schemas.microsoft.com/office/drawing/2014/main" id="{32F7E401-3DF7-E006-A589-EECCFB9095AE}"/>
              </a:ext>
            </a:extLst>
          </p:cNvPr>
          <p:cNvSpPr txBox="1"/>
          <p:nvPr/>
        </p:nvSpPr>
        <p:spPr>
          <a:xfrm>
            <a:off x="2434003" y="2463423"/>
            <a:ext cx="403578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 0.1 x 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10173DE3-5F00-B4F7-46E1-11CEA7497299}"/>
              </a:ext>
            </a:extLst>
          </p:cNvPr>
          <p:cNvSpPr txBox="1"/>
          <p:nvPr/>
        </p:nvSpPr>
        <p:spPr>
          <a:xfrm>
            <a:off x="2862665" y="1921964"/>
            <a:ext cx="69584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100 x 8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BDAE5345-4FEF-8806-2B9A-F6EFAE99D6B2}"/>
              </a:ext>
            </a:extLst>
          </p:cNvPr>
          <p:cNvSpPr txBox="1"/>
          <p:nvPr/>
        </p:nvSpPr>
        <p:spPr>
          <a:xfrm>
            <a:off x="4115099" y="2142158"/>
            <a:ext cx="69584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8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79D5D804-4AE3-B471-BED8-5AE258E2B811}"/>
              </a:ext>
            </a:extLst>
          </p:cNvPr>
          <p:cNvSpPr txBox="1"/>
          <p:nvPr/>
        </p:nvSpPr>
        <p:spPr>
          <a:xfrm>
            <a:off x="1499889" y="3752028"/>
            <a:ext cx="695847" cy="263369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M: 1 x 100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C5BB9756-EA36-B027-E7A2-71CE086E3B6A}"/>
              </a:ext>
            </a:extLst>
          </p:cNvPr>
          <p:cNvSpPr txBox="1"/>
          <p:nvPr/>
        </p:nvSpPr>
        <p:spPr>
          <a:xfrm>
            <a:off x="5796094" y="1106603"/>
            <a:ext cx="754022" cy="263368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2"/>
                </a:solidFill>
                <a:effectLst/>
              </a:rPr>
              <a:t>100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400" b="1" dirty="0">
              <a:solidFill>
                <a:schemeClr val="accent2"/>
              </a:solidFill>
            </a:endParaRP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47827DFC-85FE-6F70-3512-7A29995ED83A}"/>
              </a:ext>
            </a:extLst>
          </p:cNvPr>
          <p:cNvSpPr txBox="1"/>
          <p:nvPr/>
        </p:nvSpPr>
        <p:spPr>
          <a:xfrm>
            <a:off x="2339752" y="4296921"/>
            <a:ext cx="1362776" cy="591894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200" b="1" dirty="0">
                <a:solidFill>
                  <a:prstClr val="black"/>
                </a:solidFill>
                <a:ea typeface="Cambria Math" panose="02040503050406030204" pitchFamily="18" charset="0"/>
              </a:rPr>
              <a:t>Hadamard Product</a:t>
            </a:r>
            <a:br>
              <a:rPr lang="en-US" altLang="zh-TW" sz="1000" dirty="0">
                <a:solidFill>
                  <a:prstClr val="black"/>
                </a:solidFill>
                <a:ea typeface="Cambria Math" panose="02040503050406030204" pitchFamily="18" charset="0"/>
              </a:rPr>
            </a:br>
            <a:r>
              <a:rPr lang="en-US" altLang="zh-TW" sz="1000" dirty="0">
                <a:solidFill>
                  <a:prstClr val="black"/>
                </a:solidFill>
                <a:ea typeface="Cambria Math" panose="02040503050406030204" pitchFamily="18" charset="0"/>
              </a:rPr>
              <a:t>Element-wise</a:t>
            </a:r>
          </a:p>
          <a:p>
            <a:r>
              <a:rPr lang="en-US" altLang="zh-TW" sz="1000" dirty="0">
                <a:solidFill>
                  <a:prstClr val="black"/>
                </a:solidFill>
                <a:ea typeface="Cambria Math" panose="02040503050406030204" pitchFamily="18" charset="0"/>
              </a:rPr>
              <a:t>Multiplication</a:t>
            </a:r>
            <a:endParaRPr kumimoji="0" lang="en-US" altLang="zh-TW" sz="100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D1F00872-DD77-6591-7CF4-63B351B612B9}"/>
              </a:ext>
            </a:extLst>
          </p:cNvPr>
          <p:cNvSpPr txBox="1"/>
          <p:nvPr/>
        </p:nvSpPr>
        <p:spPr>
          <a:xfrm>
            <a:off x="4025388" y="4797152"/>
            <a:ext cx="754022" cy="221448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2"/>
                </a:solidFill>
                <a:effectLst/>
              </a:rPr>
              <a:t>100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400" b="1" dirty="0">
              <a:solidFill>
                <a:schemeClr val="accent2"/>
              </a:solidFill>
            </a:endParaRP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graphicFrame>
        <p:nvGraphicFramePr>
          <p:cNvPr id="29" name="表格 28">
            <a:extLst>
              <a:ext uri="{FF2B5EF4-FFF2-40B4-BE49-F238E27FC236}">
                <a16:creationId xmlns:a16="http://schemas.microsoft.com/office/drawing/2014/main" id="{742C410A-5519-9D60-F89D-F24FCB8B627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24410213"/>
              </p:ext>
            </p:extLst>
          </p:nvPr>
        </p:nvGraphicFramePr>
        <p:xfrm>
          <a:off x="4139952" y="5483696"/>
          <a:ext cx="573079" cy="609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00">
                  <a:extLst>
                    <a:ext uri="{9D8B030D-6E8A-4147-A177-3AD203B41FA5}">
                      <a16:colId xmlns:a16="http://schemas.microsoft.com/office/drawing/2014/main" val="2877778302"/>
                    </a:ext>
                  </a:extLst>
                </a:gridCol>
                <a:gridCol w="14892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157793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400">
                  <a:extLst>
                    <a:ext uri="{9D8B030D-6E8A-4147-A177-3AD203B41FA5}">
                      <a16:colId xmlns:a16="http://schemas.microsoft.com/office/drawing/2014/main" val="3942451870"/>
                    </a:ext>
                  </a:extLst>
                </a:gridCol>
              </a:tblGrid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32" name="文字方塊 31">
            <a:extLst>
              <a:ext uri="{FF2B5EF4-FFF2-40B4-BE49-F238E27FC236}">
                <a16:creationId xmlns:a16="http://schemas.microsoft.com/office/drawing/2014/main" id="{8F638586-DD0F-7B38-ADEB-148121242354}"/>
              </a:ext>
            </a:extLst>
          </p:cNvPr>
          <p:cNvSpPr txBox="1"/>
          <p:nvPr/>
        </p:nvSpPr>
        <p:spPr>
          <a:xfrm>
            <a:off x="4171872" y="5644480"/>
            <a:ext cx="50923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Final</a:t>
            </a:r>
          </a:p>
        </p:txBody>
      </p:sp>
      <p:sp>
        <p:nvSpPr>
          <p:cNvPr id="34" name="文字方塊 33">
            <a:extLst>
              <a:ext uri="{FF2B5EF4-FFF2-40B4-BE49-F238E27FC236}">
                <a16:creationId xmlns:a16="http://schemas.microsoft.com/office/drawing/2014/main" id="{EE495000-44A7-A1D6-AFDB-A89929F61919}"/>
              </a:ext>
            </a:extLst>
          </p:cNvPr>
          <p:cNvSpPr txBox="1"/>
          <p:nvPr/>
        </p:nvSpPr>
        <p:spPr>
          <a:xfrm>
            <a:off x="2981052" y="5481110"/>
            <a:ext cx="678086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</a:rPr>
              <a:t>1 x 100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aphicFrame>
        <p:nvGraphicFramePr>
          <p:cNvPr id="36" name="表格 35">
            <a:extLst>
              <a:ext uri="{FF2B5EF4-FFF2-40B4-BE49-F238E27FC236}">
                <a16:creationId xmlns:a16="http://schemas.microsoft.com/office/drawing/2014/main" id="{D82F859B-7C9B-D910-AF09-635336C66F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0218863"/>
              </p:ext>
            </p:extLst>
          </p:nvPr>
        </p:nvGraphicFramePr>
        <p:xfrm>
          <a:off x="2693565" y="5727685"/>
          <a:ext cx="1218664" cy="178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39" name="文字方塊 38">
            <a:extLst>
              <a:ext uri="{FF2B5EF4-FFF2-40B4-BE49-F238E27FC236}">
                <a16:creationId xmlns:a16="http://schemas.microsoft.com/office/drawing/2014/main" id="{AE3E24DD-8382-131D-AED4-CD0C90FD0F59}"/>
              </a:ext>
            </a:extLst>
          </p:cNvPr>
          <p:cNvSpPr txBox="1"/>
          <p:nvPr/>
        </p:nvSpPr>
        <p:spPr>
          <a:xfrm>
            <a:off x="3989709" y="5669080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x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41" name="文字方塊 40">
            <a:extLst>
              <a:ext uri="{FF2B5EF4-FFF2-40B4-BE49-F238E27FC236}">
                <a16:creationId xmlns:a16="http://schemas.microsoft.com/office/drawing/2014/main" id="{38235047-EB09-64DA-E23A-B7F18CD8C13D}"/>
              </a:ext>
            </a:extLst>
          </p:cNvPr>
          <p:cNvSpPr txBox="1"/>
          <p:nvPr/>
        </p:nvSpPr>
        <p:spPr>
          <a:xfrm>
            <a:off x="5219948" y="5405912"/>
            <a:ext cx="648072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1">
                    <a:lumMod val="75000"/>
                  </a:schemeClr>
                </a:solidFill>
                <a:effectLst/>
              </a:rPr>
              <a:t>1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aphicFrame>
        <p:nvGraphicFramePr>
          <p:cNvPr id="43" name="表格 42">
            <a:extLst>
              <a:ext uri="{FF2B5EF4-FFF2-40B4-BE49-F238E27FC236}">
                <a16:creationId xmlns:a16="http://schemas.microsoft.com/office/drawing/2014/main" id="{911C3EE7-A426-ADFD-A68E-92DF32F503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20970887"/>
              </p:ext>
            </p:extLst>
          </p:nvPr>
        </p:nvGraphicFramePr>
        <p:xfrm>
          <a:off x="4991058" y="5696581"/>
          <a:ext cx="1218664" cy="178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45" name="文字方塊 44">
            <a:extLst>
              <a:ext uri="{FF2B5EF4-FFF2-40B4-BE49-F238E27FC236}">
                <a16:creationId xmlns:a16="http://schemas.microsoft.com/office/drawing/2014/main" id="{DCA76E16-589B-9769-DD1E-F10E8D3A2835}"/>
              </a:ext>
            </a:extLst>
          </p:cNvPr>
          <p:cNvSpPr txBox="1"/>
          <p:nvPr/>
        </p:nvSpPr>
        <p:spPr>
          <a:xfrm>
            <a:off x="4699836" y="5647675"/>
            <a:ext cx="219214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=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47" name="矩形: 圓角 46">
            <a:extLst>
              <a:ext uri="{FF2B5EF4-FFF2-40B4-BE49-F238E27FC236}">
                <a16:creationId xmlns:a16="http://schemas.microsoft.com/office/drawing/2014/main" id="{60CCA852-9376-3C28-913E-AAC8857E093D}"/>
              </a:ext>
            </a:extLst>
          </p:cNvPr>
          <p:cNvSpPr/>
          <p:nvPr/>
        </p:nvSpPr>
        <p:spPr>
          <a:xfrm>
            <a:off x="971600" y="4010908"/>
            <a:ext cx="1726706" cy="263368"/>
          </a:xfrm>
          <a:prstGeom prst="roundRect">
            <a:avLst>
              <a:gd name="adj" fmla="val 1682"/>
            </a:avLst>
          </a:prstGeom>
          <a:noFill/>
          <a:ln w="15875">
            <a:solidFill>
              <a:schemeClr val="accent2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1"/>
          <a:lstStyle/>
          <a:p>
            <a:pPr algn="ctr"/>
            <a:endParaRPr lang="zh-TW" altLang="en-US" sz="1000" dirty="0">
              <a:solidFill>
                <a:schemeClr val="accent2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9" name="矩形: 圓角 48">
            <a:extLst>
              <a:ext uri="{FF2B5EF4-FFF2-40B4-BE49-F238E27FC236}">
                <a16:creationId xmlns:a16="http://schemas.microsoft.com/office/drawing/2014/main" id="{7A2721A8-CA55-88EE-ED72-26D429AD1942}"/>
              </a:ext>
            </a:extLst>
          </p:cNvPr>
          <p:cNvSpPr/>
          <p:nvPr/>
        </p:nvSpPr>
        <p:spPr>
          <a:xfrm>
            <a:off x="3710889" y="3379160"/>
            <a:ext cx="652867" cy="704664"/>
          </a:xfrm>
          <a:prstGeom prst="roundRect">
            <a:avLst>
              <a:gd name="adj" fmla="val 1682"/>
            </a:avLst>
          </a:prstGeom>
          <a:noFill/>
          <a:ln w="15875">
            <a:solidFill>
              <a:schemeClr val="accent2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1"/>
          <a:lstStyle/>
          <a:p>
            <a:pPr algn="ctr"/>
            <a:endParaRPr lang="zh-TW" altLang="en-US" sz="1000" dirty="0">
              <a:solidFill>
                <a:schemeClr val="accent2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1AC6279B-7C82-7076-50F0-8DCC108C2EF4}"/>
              </a:ext>
            </a:extLst>
          </p:cNvPr>
          <p:cNvSpPr txBox="1"/>
          <p:nvPr/>
        </p:nvSpPr>
        <p:spPr>
          <a:xfrm>
            <a:off x="2954502" y="2473024"/>
            <a:ext cx="50923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A</a:t>
            </a:r>
            <a:endParaRPr lang="en-US" altLang="zh-TW" sz="1400" b="1" u="none" strike="noStrike" baseline="-25000" dirty="0">
              <a:effectLst/>
            </a:endParaRPr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7D5FD221-D39C-00C4-4B77-1B45AF5D91EC}"/>
              </a:ext>
            </a:extLst>
          </p:cNvPr>
          <p:cNvSpPr txBox="1"/>
          <p:nvPr/>
        </p:nvSpPr>
        <p:spPr>
          <a:xfrm>
            <a:off x="4192223" y="2454603"/>
            <a:ext cx="50923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B</a:t>
            </a:r>
            <a:endParaRPr lang="en-US" altLang="zh-TW" sz="1400" b="1" u="none" strike="noStrike" baseline="-25000" dirty="0">
              <a:effectLst/>
            </a:endParaRPr>
          </a:p>
        </p:txBody>
      </p:sp>
      <p:sp>
        <p:nvSpPr>
          <p:cNvPr id="96" name="右大括弧 95">
            <a:extLst>
              <a:ext uri="{FF2B5EF4-FFF2-40B4-BE49-F238E27FC236}">
                <a16:creationId xmlns:a16="http://schemas.microsoft.com/office/drawing/2014/main" id="{09FEF152-97B2-87C8-447A-FE52110300CB}"/>
              </a:ext>
            </a:extLst>
          </p:cNvPr>
          <p:cNvSpPr/>
          <p:nvPr/>
        </p:nvSpPr>
        <p:spPr>
          <a:xfrm rot="5400000">
            <a:off x="4216932" y="4321960"/>
            <a:ext cx="370934" cy="2163625"/>
          </a:xfrm>
          <a:prstGeom prst="rightBrace">
            <a:avLst>
              <a:gd name="adj1" fmla="val 19145"/>
              <a:gd name="adj2" fmla="val 50440"/>
            </a:avLst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5475845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91FE66-60E4-CAE7-B48E-D43A9C24AF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矩形: 圓角 209">
            <a:extLst>
              <a:ext uri="{FF2B5EF4-FFF2-40B4-BE49-F238E27FC236}">
                <a16:creationId xmlns:a16="http://schemas.microsoft.com/office/drawing/2014/main" id="{8152BEA7-2384-6EDC-C5EE-8FA83875660D}"/>
              </a:ext>
            </a:extLst>
          </p:cNvPr>
          <p:cNvSpPr/>
          <p:nvPr/>
        </p:nvSpPr>
        <p:spPr>
          <a:xfrm>
            <a:off x="3780194" y="1910381"/>
            <a:ext cx="1219522" cy="279504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54" name="矩形 453">
            <a:extLst>
              <a:ext uri="{FF2B5EF4-FFF2-40B4-BE49-F238E27FC236}">
                <a16:creationId xmlns:a16="http://schemas.microsoft.com/office/drawing/2014/main" id="{05AFD648-1F4F-AE9D-EF01-0F282686B55C}"/>
              </a:ext>
            </a:extLst>
          </p:cNvPr>
          <p:cNvSpPr/>
          <p:nvPr/>
        </p:nvSpPr>
        <p:spPr>
          <a:xfrm>
            <a:off x="8244408" y="2883915"/>
            <a:ext cx="648072" cy="1041669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2">
                <a:lumMod val="5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600" dirty="0">
                <a:solidFill>
                  <a:schemeClr val="bg2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VC</a:t>
            </a:r>
          </a:p>
          <a:p>
            <a:pPr algn="ctr">
              <a:lnSpc>
                <a:spcPts val="1600"/>
              </a:lnSpc>
            </a:pPr>
            <a:endParaRPr lang="en-US" altLang="zh-TW" sz="1600" dirty="0">
              <a:solidFill>
                <a:schemeClr val="bg2">
                  <a:lumMod val="50000"/>
                </a:schemeClr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ctr">
              <a:lnSpc>
                <a:spcPts val="1600"/>
              </a:lnSpc>
            </a:pPr>
            <a:endParaRPr lang="en-US" altLang="zh-TW" sz="1600" dirty="0">
              <a:solidFill>
                <a:schemeClr val="bg2">
                  <a:lumMod val="50000"/>
                </a:schemeClr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ctr">
              <a:lnSpc>
                <a:spcPts val="1600"/>
              </a:lnSpc>
            </a:pPr>
            <a:endParaRPr lang="en-US" altLang="zh-TW" sz="1600" dirty="0">
              <a:solidFill>
                <a:schemeClr val="tx1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45" name="矩形 444">
            <a:extLst>
              <a:ext uri="{FF2B5EF4-FFF2-40B4-BE49-F238E27FC236}">
                <a16:creationId xmlns:a16="http://schemas.microsoft.com/office/drawing/2014/main" id="{F4F43444-68EC-669F-9DC6-881E853A6805}"/>
              </a:ext>
            </a:extLst>
          </p:cNvPr>
          <p:cNvSpPr/>
          <p:nvPr/>
        </p:nvSpPr>
        <p:spPr>
          <a:xfrm>
            <a:off x="8367367" y="2883915"/>
            <a:ext cx="241412" cy="1041669"/>
          </a:xfrm>
          <a:prstGeom prst="rect">
            <a:avLst/>
          </a:prstGeom>
          <a:solidFill>
            <a:schemeClr val="bg2">
              <a:lumMod val="90000"/>
              <a:alpha val="60000"/>
            </a:schemeClr>
          </a:solidFill>
          <a:ln w="19050">
            <a:solidFill>
              <a:schemeClr val="bg2">
                <a:lumMod val="50000"/>
                <a:alpha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000" b="1" dirty="0">
                <a:solidFill>
                  <a:schemeClr val="tx1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VC</a:t>
            </a:r>
          </a:p>
          <a:p>
            <a:pPr algn="ctr">
              <a:lnSpc>
                <a:spcPts val="1000"/>
              </a:lnSpc>
            </a:pPr>
            <a:r>
              <a:rPr lang="en-US" altLang="zh-TW" sz="1000" dirty="0">
                <a:solidFill>
                  <a:schemeClr val="tx1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PLE</a:t>
            </a:r>
          </a:p>
          <a:p>
            <a:pPr algn="ctr">
              <a:lnSpc>
                <a:spcPts val="1000"/>
              </a:lnSpc>
            </a:pPr>
            <a:endParaRPr lang="en-US" altLang="zh-TW" sz="1000" dirty="0">
              <a:solidFill>
                <a:schemeClr val="tx1"/>
              </a:solidFill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70" name="矩形: 圓角 169">
            <a:extLst>
              <a:ext uri="{FF2B5EF4-FFF2-40B4-BE49-F238E27FC236}">
                <a16:creationId xmlns:a16="http://schemas.microsoft.com/office/drawing/2014/main" id="{BE19256F-39DD-757C-6459-C5C27369D12B}"/>
              </a:ext>
            </a:extLst>
          </p:cNvPr>
          <p:cNvSpPr/>
          <p:nvPr/>
        </p:nvSpPr>
        <p:spPr>
          <a:xfrm>
            <a:off x="2123728" y="5092506"/>
            <a:ext cx="1219522" cy="34524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Input Layer</a:t>
            </a:r>
          </a:p>
        </p:txBody>
      </p:sp>
      <p:sp>
        <p:nvSpPr>
          <p:cNvPr id="172" name="矩形: 圓角 171">
            <a:extLst>
              <a:ext uri="{FF2B5EF4-FFF2-40B4-BE49-F238E27FC236}">
                <a16:creationId xmlns:a16="http://schemas.microsoft.com/office/drawing/2014/main" id="{E4FBE54E-BF70-627C-7E2E-725B760BEB6D}"/>
              </a:ext>
            </a:extLst>
          </p:cNvPr>
          <p:cNvSpPr/>
          <p:nvPr/>
        </p:nvSpPr>
        <p:spPr>
          <a:xfrm>
            <a:off x="467544" y="5092506"/>
            <a:ext cx="1219522" cy="34524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Input Layer</a:t>
            </a:r>
          </a:p>
        </p:txBody>
      </p:sp>
      <p:sp>
        <p:nvSpPr>
          <p:cNvPr id="229" name="矩形: 圓角 228">
            <a:extLst>
              <a:ext uri="{FF2B5EF4-FFF2-40B4-BE49-F238E27FC236}">
                <a16:creationId xmlns:a16="http://schemas.microsoft.com/office/drawing/2014/main" id="{8F1B5488-7BCE-8EA6-44BE-77F3FE5C352E}"/>
              </a:ext>
            </a:extLst>
          </p:cNvPr>
          <p:cNvSpPr/>
          <p:nvPr/>
        </p:nvSpPr>
        <p:spPr>
          <a:xfrm>
            <a:off x="3779912" y="5092506"/>
            <a:ext cx="1219522" cy="34524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Input Layer</a:t>
            </a:r>
          </a:p>
        </p:txBody>
      </p:sp>
      <p:sp>
        <p:nvSpPr>
          <p:cNvPr id="2" name="矩形: 圓角 1">
            <a:extLst>
              <a:ext uri="{FF2B5EF4-FFF2-40B4-BE49-F238E27FC236}">
                <a16:creationId xmlns:a16="http://schemas.microsoft.com/office/drawing/2014/main" id="{63207710-985C-7A28-4056-2FA6713D85CB}"/>
              </a:ext>
            </a:extLst>
          </p:cNvPr>
          <p:cNvSpPr/>
          <p:nvPr/>
        </p:nvSpPr>
        <p:spPr>
          <a:xfrm>
            <a:off x="467826" y="1922626"/>
            <a:ext cx="1219522" cy="279504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F70EDC75-7385-5F95-B4BA-97F9859B8A9F}"/>
              </a:ext>
            </a:extLst>
          </p:cNvPr>
          <p:cNvSpPr txBox="1"/>
          <p:nvPr/>
        </p:nvSpPr>
        <p:spPr>
          <a:xfrm>
            <a:off x="535220" y="2002309"/>
            <a:ext cx="1086557" cy="1635243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5587727A-BDEF-F32C-B3C5-7C3AB14BD1E5}"/>
              </a:ext>
            </a:extLst>
          </p:cNvPr>
          <p:cNvSpPr txBox="1"/>
          <p:nvPr/>
        </p:nvSpPr>
        <p:spPr>
          <a:xfrm>
            <a:off x="535220" y="3781568"/>
            <a:ext cx="1086557" cy="824652"/>
          </a:xfrm>
          <a:prstGeom prst="rect">
            <a:avLst/>
          </a:prstGeom>
          <a:solidFill>
            <a:schemeClr val="accent1">
              <a:lumMod val="20000"/>
              <a:lumOff val="80000"/>
              <a:alpha val="20000"/>
            </a:scheme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7" name="直線單箭頭接點 6">
            <a:extLst>
              <a:ext uri="{FF2B5EF4-FFF2-40B4-BE49-F238E27FC236}">
                <a16:creationId xmlns:a16="http://schemas.microsoft.com/office/drawing/2014/main" id="{EB078010-CFFF-9CD7-52C0-BC77FCB4C98B}"/>
              </a:ext>
            </a:extLst>
          </p:cNvPr>
          <p:cNvCxnSpPr>
            <a:cxnSpLocks/>
            <a:endCxn id="179" idx="2"/>
          </p:cNvCxnSpPr>
          <p:nvPr/>
        </p:nvCxnSpPr>
        <p:spPr>
          <a:xfrm flipH="1" flipV="1">
            <a:off x="1075281" y="4501648"/>
            <a:ext cx="2307" cy="435063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標題 1">
            <a:extLst>
              <a:ext uri="{FF2B5EF4-FFF2-40B4-BE49-F238E27FC236}">
                <a16:creationId xmlns:a16="http://schemas.microsoft.com/office/drawing/2014/main" id="{6437C88A-0580-6462-84EA-7D74708B04ED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Gemma 4: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 P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er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ayer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mbeddings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PLE is a soft-gated, lightweight MoE variant that dynamically activates layer-wise token embeddings.</a:t>
            </a:r>
          </a:p>
        </p:txBody>
      </p:sp>
      <p:sp>
        <p:nvSpPr>
          <p:cNvPr id="19" name="矩形: 圓角 18">
            <a:extLst>
              <a:ext uri="{FF2B5EF4-FFF2-40B4-BE49-F238E27FC236}">
                <a16:creationId xmlns:a16="http://schemas.microsoft.com/office/drawing/2014/main" id="{7D10604D-7C92-2E3B-35EC-F4C7CB2B62D2}"/>
              </a:ext>
            </a:extLst>
          </p:cNvPr>
          <p:cNvSpPr/>
          <p:nvPr/>
        </p:nvSpPr>
        <p:spPr>
          <a:xfrm>
            <a:off x="2123728" y="1922626"/>
            <a:ext cx="1219522" cy="279504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E6E0CA71-1BC7-E4CA-433F-7736D51728A0}"/>
              </a:ext>
            </a:extLst>
          </p:cNvPr>
          <p:cNvSpPr txBox="1"/>
          <p:nvPr/>
        </p:nvSpPr>
        <p:spPr>
          <a:xfrm>
            <a:off x="2200023" y="2081639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869BCEB1-E0B0-B90E-2045-1A27BA4B3F18}"/>
              </a:ext>
            </a:extLst>
          </p:cNvPr>
          <p:cNvSpPr txBox="1"/>
          <p:nvPr/>
        </p:nvSpPr>
        <p:spPr>
          <a:xfrm>
            <a:off x="2195735" y="3781568"/>
            <a:ext cx="1086557" cy="824652"/>
          </a:xfrm>
          <a:prstGeom prst="rect">
            <a:avLst/>
          </a:prstGeom>
          <a:solidFill>
            <a:srgbClr val="DCE6F2">
              <a:alpha val="2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23" name="直線單箭頭接點 22">
            <a:extLst>
              <a:ext uri="{FF2B5EF4-FFF2-40B4-BE49-F238E27FC236}">
                <a16:creationId xmlns:a16="http://schemas.microsoft.com/office/drawing/2014/main" id="{A6DD51A0-4E9D-53D5-774B-7FB0D7B40776}"/>
              </a:ext>
            </a:extLst>
          </p:cNvPr>
          <p:cNvCxnSpPr>
            <a:cxnSpLocks/>
            <a:stCxn id="176" idx="0"/>
            <a:endCxn id="177" idx="2"/>
          </p:cNvCxnSpPr>
          <p:nvPr/>
        </p:nvCxnSpPr>
        <p:spPr>
          <a:xfrm flipH="1" flipV="1">
            <a:off x="2726271" y="4501648"/>
            <a:ext cx="2070" cy="255057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4" name="矩形: 圓角 113">
            <a:extLst>
              <a:ext uri="{FF2B5EF4-FFF2-40B4-BE49-F238E27FC236}">
                <a16:creationId xmlns:a16="http://schemas.microsoft.com/office/drawing/2014/main" id="{EEB91617-C124-5DE4-BE19-2CEB48DC1241}"/>
              </a:ext>
            </a:extLst>
          </p:cNvPr>
          <p:cNvSpPr/>
          <p:nvPr/>
        </p:nvSpPr>
        <p:spPr>
          <a:xfrm>
            <a:off x="2123728" y="1405304"/>
            <a:ext cx="1219522" cy="34524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Next Layer</a:t>
            </a:r>
          </a:p>
        </p:txBody>
      </p:sp>
      <p:sp>
        <p:nvSpPr>
          <p:cNvPr id="116" name="矩形: 圓角 115">
            <a:extLst>
              <a:ext uri="{FF2B5EF4-FFF2-40B4-BE49-F238E27FC236}">
                <a16:creationId xmlns:a16="http://schemas.microsoft.com/office/drawing/2014/main" id="{880A86E0-5A57-1AAC-19B8-36E088E57F41}"/>
              </a:ext>
            </a:extLst>
          </p:cNvPr>
          <p:cNvSpPr/>
          <p:nvPr/>
        </p:nvSpPr>
        <p:spPr>
          <a:xfrm>
            <a:off x="467544" y="1405304"/>
            <a:ext cx="1219522" cy="34524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Next Layer</a:t>
            </a:r>
          </a:p>
        </p:txBody>
      </p:sp>
      <p:cxnSp>
        <p:nvCxnSpPr>
          <p:cNvPr id="117" name="直線單箭頭接點 116">
            <a:extLst>
              <a:ext uri="{FF2B5EF4-FFF2-40B4-BE49-F238E27FC236}">
                <a16:creationId xmlns:a16="http://schemas.microsoft.com/office/drawing/2014/main" id="{85BE5E5C-28BB-97A1-01B2-6768AAA67AEF}"/>
              </a:ext>
            </a:extLst>
          </p:cNvPr>
          <p:cNvCxnSpPr>
            <a:cxnSpLocks/>
            <a:stCxn id="2" idx="0"/>
            <a:endCxn id="116" idx="2"/>
          </p:cNvCxnSpPr>
          <p:nvPr/>
        </p:nvCxnSpPr>
        <p:spPr>
          <a:xfrm flipH="1" flipV="1">
            <a:off x="1077305" y="1750550"/>
            <a:ext cx="282" cy="172076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直線單箭頭接點 119">
            <a:extLst>
              <a:ext uri="{FF2B5EF4-FFF2-40B4-BE49-F238E27FC236}">
                <a16:creationId xmlns:a16="http://schemas.microsoft.com/office/drawing/2014/main" id="{B696DE89-8A26-544F-3D66-7094163C735B}"/>
              </a:ext>
            </a:extLst>
          </p:cNvPr>
          <p:cNvCxnSpPr>
            <a:cxnSpLocks/>
            <a:stCxn id="19" idx="0"/>
            <a:endCxn id="114" idx="2"/>
          </p:cNvCxnSpPr>
          <p:nvPr/>
        </p:nvCxnSpPr>
        <p:spPr>
          <a:xfrm flipV="1">
            <a:off x="2733489" y="1750550"/>
            <a:ext cx="0" cy="172076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9" name="文字方塊 128">
            <a:extLst>
              <a:ext uri="{FF2B5EF4-FFF2-40B4-BE49-F238E27FC236}">
                <a16:creationId xmlns:a16="http://schemas.microsoft.com/office/drawing/2014/main" id="{5E0CAF59-BBBF-C06E-BFAB-579759835897}"/>
              </a:ext>
            </a:extLst>
          </p:cNvPr>
          <p:cNvSpPr txBox="1"/>
          <p:nvPr/>
        </p:nvSpPr>
        <p:spPr>
          <a:xfrm>
            <a:off x="2488055" y="2081639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38" name="文字方塊 137">
            <a:extLst>
              <a:ext uri="{FF2B5EF4-FFF2-40B4-BE49-F238E27FC236}">
                <a16:creationId xmlns:a16="http://schemas.microsoft.com/office/drawing/2014/main" id="{8F514093-6F77-65BB-A2D2-6043D3519CE7}"/>
              </a:ext>
            </a:extLst>
          </p:cNvPr>
          <p:cNvSpPr txBox="1"/>
          <p:nvPr/>
        </p:nvSpPr>
        <p:spPr>
          <a:xfrm>
            <a:off x="2787962" y="2081639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40" name="文字方塊 139">
            <a:extLst>
              <a:ext uri="{FF2B5EF4-FFF2-40B4-BE49-F238E27FC236}">
                <a16:creationId xmlns:a16="http://schemas.microsoft.com/office/drawing/2014/main" id="{ECA51B2A-2ABF-6E33-0457-6751CBACF99B}"/>
              </a:ext>
            </a:extLst>
          </p:cNvPr>
          <p:cNvSpPr txBox="1"/>
          <p:nvPr/>
        </p:nvSpPr>
        <p:spPr>
          <a:xfrm>
            <a:off x="3074595" y="2081639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42" name="文字方塊 141">
            <a:extLst>
              <a:ext uri="{FF2B5EF4-FFF2-40B4-BE49-F238E27FC236}">
                <a16:creationId xmlns:a16="http://schemas.microsoft.com/office/drawing/2014/main" id="{744B4012-ACB2-0F3C-758F-4D04EBA7F1FE}"/>
              </a:ext>
            </a:extLst>
          </p:cNvPr>
          <p:cNvSpPr txBox="1"/>
          <p:nvPr/>
        </p:nvSpPr>
        <p:spPr>
          <a:xfrm>
            <a:off x="2195736" y="2350933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44" name="文字方塊 143">
            <a:extLst>
              <a:ext uri="{FF2B5EF4-FFF2-40B4-BE49-F238E27FC236}">
                <a16:creationId xmlns:a16="http://schemas.microsoft.com/office/drawing/2014/main" id="{6AE005A0-05D7-773E-285E-3FCA95F33F2D}"/>
              </a:ext>
            </a:extLst>
          </p:cNvPr>
          <p:cNvSpPr txBox="1"/>
          <p:nvPr/>
        </p:nvSpPr>
        <p:spPr>
          <a:xfrm>
            <a:off x="2483768" y="2350933"/>
            <a:ext cx="201168" cy="20116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46" name="文字方塊 145">
            <a:extLst>
              <a:ext uri="{FF2B5EF4-FFF2-40B4-BE49-F238E27FC236}">
                <a16:creationId xmlns:a16="http://schemas.microsoft.com/office/drawing/2014/main" id="{4051D90B-7D0B-401F-7F76-104C3902FCE5}"/>
              </a:ext>
            </a:extLst>
          </p:cNvPr>
          <p:cNvSpPr txBox="1"/>
          <p:nvPr/>
        </p:nvSpPr>
        <p:spPr>
          <a:xfrm>
            <a:off x="2783675" y="2350933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48" name="文字方塊 147">
            <a:extLst>
              <a:ext uri="{FF2B5EF4-FFF2-40B4-BE49-F238E27FC236}">
                <a16:creationId xmlns:a16="http://schemas.microsoft.com/office/drawing/2014/main" id="{BF64FCE1-31A2-A9B7-C357-917B8D840233}"/>
              </a:ext>
            </a:extLst>
          </p:cNvPr>
          <p:cNvSpPr txBox="1"/>
          <p:nvPr/>
        </p:nvSpPr>
        <p:spPr>
          <a:xfrm>
            <a:off x="3074595" y="2350933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50" name="文字方塊 149">
            <a:extLst>
              <a:ext uri="{FF2B5EF4-FFF2-40B4-BE49-F238E27FC236}">
                <a16:creationId xmlns:a16="http://schemas.microsoft.com/office/drawing/2014/main" id="{414B2865-C3D6-34B0-B1AB-48FB701BAEE5}"/>
              </a:ext>
            </a:extLst>
          </p:cNvPr>
          <p:cNvSpPr txBox="1"/>
          <p:nvPr/>
        </p:nvSpPr>
        <p:spPr>
          <a:xfrm>
            <a:off x="2199071" y="2629440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52" name="文字方塊 151">
            <a:extLst>
              <a:ext uri="{FF2B5EF4-FFF2-40B4-BE49-F238E27FC236}">
                <a16:creationId xmlns:a16="http://schemas.microsoft.com/office/drawing/2014/main" id="{C36BF9ED-BB06-85E2-9031-050919357D81}"/>
              </a:ext>
            </a:extLst>
          </p:cNvPr>
          <p:cNvSpPr txBox="1"/>
          <p:nvPr/>
        </p:nvSpPr>
        <p:spPr>
          <a:xfrm>
            <a:off x="2487103" y="2629440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54" name="文字方塊 153">
            <a:extLst>
              <a:ext uri="{FF2B5EF4-FFF2-40B4-BE49-F238E27FC236}">
                <a16:creationId xmlns:a16="http://schemas.microsoft.com/office/drawing/2014/main" id="{689A7308-C46C-A590-0867-D7C276AD8556}"/>
              </a:ext>
            </a:extLst>
          </p:cNvPr>
          <p:cNvSpPr txBox="1"/>
          <p:nvPr/>
        </p:nvSpPr>
        <p:spPr>
          <a:xfrm>
            <a:off x="2787010" y="2629440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56" name="文字方塊 155">
            <a:extLst>
              <a:ext uri="{FF2B5EF4-FFF2-40B4-BE49-F238E27FC236}">
                <a16:creationId xmlns:a16="http://schemas.microsoft.com/office/drawing/2014/main" id="{439DE49D-B3C9-076B-1306-62B820CCC6AA}"/>
              </a:ext>
            </a:extLst>
          </p:cNvPr>
          <p:cNvSpPr txBox="1"/>
          <p:nvPr/>
        </p:nvSpPr>
        <p:spPr>
          <a:xfrm>
            <a:off x="3073643" y="2629440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58" name="文字方塊 157">
            <a:extLst>
              <a:ext uri="{FF2B5EF4-FFF2-40B4-BE49-F238E27FC236}">
                <a16:creationId xmlns:a16="http://schemas.microsoft.com/office/drawing/2014/main" id="{3F814F05-AF87-78FB-274A-CB46919FC54B}"/>
              </a:ext>
            </a:extLst>
          </p:cNvPr>
          <p:cNvSpPr txBox="1"/>
          <p:nvPr/>
        </p:nvSpPr>
        <p:spPr>
          <a:xfrm>
            <a:off x="2194784" y="2917472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60" name="文字方塊 159">
            <a:extLst>
              <a:ext uri="{FF2B5EF4-FFF2-40B4-BE49-F238E27FC236}">
                <a16:creationId xmlns:a16="http://schemas.microsoft.com/office/drawing/2014/main" id="{86604D7E-3B80-431C-B51D-7F28A1DC59B6}"/>
              </a:ext>
            </a:extLst>
          </p:cNvPr>
          <p:cNvSpPr txBox="1"/>
          <p:nvPr/>
        </p:nvSpPr>
        <p:spPr>
          <a:xfrm>
            <a:off x="2482816" y="2917472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62" name="文字方塊 161">
            <a:extLst>
              <a:ext uri="{FF2B5EF4-FFF2-40B4-BE49-F238E27FC236}">
                <a16:creationId xmlns:a16="http://schemas.microsoft.com/office/drawing/2014/main" id="{99CA2173-A9DE-DD28-3E1F-D8D274448690}"/>
              </a:ext>
            </a:extLst>
          </p:cNvPr>
          <p:cNvSpPr txBox="1"/>
          <p:nvPr/>
        </p:nvSpPr>
        <p:spPr>
          <a:xfrm>
            <a:off x="2782723" y="2917472"/>
            <a:ext cx="201168" cy="20116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64" name="文字方塊 163">
            <a:extLst>
              <a:ext uri="{FF2B5EF4-FFF2-40B4-BE49-F238E27FC236}">
                <a16:creationId xmlns:a16="http://schemas.microsoft.com/office/drawing/2014/main" id="{DD71B362-A01D-EBB9-D617-94917BA6CDEC}"/>
              </a:ext>
            </a:extLst>
          </p:cNvPr>
          <p:cNvSpPr txBox="1"/>
          <p:nvPr/>
        </p:nvSpPr>
        <p:spPr>
          <a:xfrm>
            <a:off x="3073643" y="2917472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68" name="矩形 167">
            <a:extLst>
              <a:ext uri="{FF2B5EF4-FFF2-40B4-BE49-F238E27FC236}">
                <a16:creationId xmlns:a16="http://schemas.microsoft.com/office/drawing/2014/main" id="{4984473E-2D74-7C5F-7523-1066200E0569}"/>
              </a:ext>
            </a:extLst>
          </p:cNvPr>
          <p:cNvSpPr/>
          <p:nvPr/>
        </p:nvSpPr>
        <p:spPr>
          <a:xfrm>
            <a:off x="607229" y="4756564"/>
            <a:ext cx="933795" cy="393156"/>
          </a:xfrm>
          <a:prstGeom prst="rect">
            <a:avLst/>
          </a:prstGeom>
          <a:solidFill>
            <a:schemeClr val="bg1"/>
          </a:solidFill>
          <a:ln w="25400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9144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X</a:t>
            </a:r>
          </a:p>
          <a:p>
            <a:pPr marL="0" marR="0" lvl="0" indent="0" algn="ctr" defTabSz="914400" rtl="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NxD</a:t>
            </a:r>
          </a:p>
        </p:txBody>
      </p:sp>
      <p:sp>
        <p:nvSpPr>
          <p:cNvPr id="176" name="矩形 175">
            <a:extLst>
              <a:ext uri="{FF2B5EF4-FFF2-40B4-BE49-F238E27FC236}">
                <a16:creationId xmlns:a16="http://schemas.microsoft.com/office/drawing/2014/main" id="{ACB06678-7FB7-4292-ABE6-B489A21D9B47}"/>
              </a:ext>
            </a:extLst>
          </p:cNvPr>
          <p:cNvSpPr/>
          <p:nvPr/>
        </p:nvSpPr>
        <p:spPr>
          <a:xfrm>
            <a:off x="2476313" y="4756705"/>
            <a:ext cx="504056" cy="393015"/>
          </a:xfrm>
          <a:prstGeom prst="rect">
            <a:avLst/>
          </a:prstGeom>
          <a:solidFill>
            <a:schemeClr val="bg1"/>
          </a:solidFill>
          <a:ln w="25400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9144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X</a:t>
            </a:r>
          </a:p>
          <a:p>
            <a:pPr marL="0" marR="0" lvl="0" indent="0" algn="ctr" defTabSz="914400" rtl="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NxD</a:t>
            </a:r>
          </a:p>
        </p:txBody>
      </p:sp>
      <p:sp>
        <p:nvSpPr>
          <p:cNvPr id="177" name="矩形: 圓角 176">
            <a:extLst>
              <a:ext uri="{FF2B5EF4-FFF2-40B4-BE49-F238E27FC236}">
                <a16:creationId xmlns:a16="http://schemas.microsoft.com/office/drawing/2014/main" id="{DA06AFCC-47AC-D0E2-83E9-2D3F7A51BC37}"/>
              </a:ext>
            </a:extLst>
          </p:cNvPr>
          <p:cNvSpPr/>
          <p:nvPr/>
        </p:nvSpPr>
        <p:spPr>
          <a:xfrm>
            <a:off x="2474243" y="4069600"/>
            <a:ext cx="504056" cy="432048"/>
          </a:xfrm>
          <a:prstGeom prst="roundRect">
            <a:avLst/>
          </a:prstGeom>
          <a:solidFill>
            <a:schemeClr val="bg1"/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QKV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N x 2048</a:t>
            </a:r>
          </a:p>
        </p:txBody>
      </p:sp>
      <p:sp>
        <p:nvSpPr>
          <p:cNvPr id="179" name="矩形: 圓角 178">
            <a:extLst>
              <a:ext uri="{FF2B5EF4-FFF2-40B4-BE49-F238E27FC236}">
                <a16:creationId xmlns:a16="http://schemas.microsoft.com/office/drawing/2014/main" id="{EC117753-EFAC-91F3-0AE6-4EB0623CBA38}"/>
              </a:ext>
            </a:extLst>
          </p:cNvPr>
          <p:cNvSpPr/>
          <p:nvPr/>
        </p:nvSpPr>
        <p:spPr>
          <a:xfrm>
            <a:off x="607229" y="4069600"/>
            <a:ext cx="936104" cy="432048"/>
          </a:xfrm>
          <a:prstGeom prst="roundRect">
            <a:avLst/>
          </a:prstGeom>
          <a:solidFill>
            <a:schemeClr val="bg1"/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QKV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N x 8192</a:t>
            </a:r>
          </a:p>
        </p:txBody>
      </p:sp>
      <p:sp>
        <p:nvSpPr>
          <p:cNvPr id="181" name="矩形: 圓角 180">
            <a:extLst>
              <a:ext uri="{FF2B5EF4-FFF2-40B4-BE49-F238E27FC236}">
                <a16:creationId xmlns:a16="http://schemas.microsoft.com/office/drawing/2014/main" id="{1C7D8B6E-9018-D3B0-9050-78C4C703439B}"/>
              </a:ext>
            </a:extLst>
          </p:cNvPr>
          <p:cNvSpPr/>
          <p:nvPr/>
        </p:nvSpPr>
        <p:spPr>
          <a:xfrm>
            <a:off x="607229" y="2472158"/>
            <a:ext cx="936104" cy="1093386"/>
          </a:xfrm>
          <a:prstGeom prst="roundRect">
            <a:avLst>
              <a:gd name="adj" fmla="val 8860"/>
            </a:avLst>
          </a:prstGeom>
          <a:solidFill>
            <a:schemeClr val="accent2">
              <a:lumMod val="20000"/>
              <a:lumOff val="8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FFN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NxD</a:t>
            </a:r>
          </a:p>
        </p:txBody>
      </p:sp>
      <p:sp>
        <p:nvSpPr>
          <p:cNvPr id="211" name="文字方塊 210">
            <a:extLst>
              <a:ext uri="{FF2B5EF4-FFF2-40B4-BE49-F238E27FC236}">
                <a16:creationId xmlns:a16="http://schemas.microsoft.com/office/drawing/2014/main" id="{E8BBC1BD-B857-3E87-A92C-9AD7F8FD3FDD}"/>
              </a:ext>
            </a:extLst>
          </p:cNvPr>
          <p:cNvSpPr txBox="1"/>
          <p:nvPr/>
        </p:nvSpPr>
        <p:spPr>
          <a:xfrm>
            <a:off x="3851920" y="1990064"/>
            <a:ext cx="754719" cy="1635243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212" name="文字方塊 211">
            <a:extLst>
              <a:ext uri="{FF2B5EF4-FFF2-40B4-BE49-F238E27FC236}">
                <a16:creationId xmlns:a16="http://schemas.microsoft.com/office/drawing/2014/main" id="{8BCA93BD-0565-5A58-CC44-CB484CF1AC63}"/>
              </a:ext>
            </a:extLst>
          </p:cNvPr>
          <p:cNvSpPr txBox="1"/>
          <p:nvPr/>
        </p:nvSpPr>
        <p:spPr>
          <a:xfrm>
            <a:off x="3851921" y="3769323"/>
            <a:ext cx="755000" cy="824652"/>
          </a:xfrm>
          <a:prstGeom prst="rect">
            <a:avLst/>
          </a:prstGeom>
          <a:solidFill>
            <a:srgbClr val="DCE6F2">
              <a:alpha val="2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sp>
        <p:nvSpPr>
          <p:cNvPr id="214" name="矩形: 圓角 213">
            <a:extLst>
              <a:ext uri="{FF2B5EF4-FFF2-40B4-BE49-F238E27FC236}">
                <a16:creationId xmlns:a16="http://schemas.microsoft.com/office/drawing/2014/main" id="{B8497F08-95D0-F2C5-894C-7C8B7701641F}"/>
              </a:ext>
            </a:extLst>
          </p:cNvPr>
          <p:cNvSpPr/>
          <p:nvPr/>
        </p:nvSpPr>
        <p:spPr>
          <a:xfrm>
            <a:off x="3779912" y="1393059"/>
            <a:ext cx="1219522" cy="34524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Next Layer</a:t>
            </a:r>
          </a:p>
        </p:txBody>
      </p:sp>
      <p:cxnSp>
        <p:nvCxnSpPr>
          <p:cNvPr id="215" name="直線單箭頭接點 214">
            <a:extLst>
              <a:ext uri="{FF2B5EF4-FFF2-40B4-BE49-F238E27FC236}">
                <a16:creationId xmlns:a16="http://schemas.microsoft.com/office/drawing/2014/main" id="{28BE8337-43EE-0003-F107-E86F662BD722}"/>
              </a:ext>
            </a:extLst>
          </p:cNvPr>
          <p:cNvCxnSpPr>
            <a:cxnSpLocks/>
            <a:stCxn id="210" idx="0"/>
            <a:endCxn id="214" idx="2"/>
          </p:cNvCxnSpPr>
          <p:nvPr/>
        </p:nvCxnSpPr>
        <p:spPr>
          <a:xfrm flipH="1" flipV="1">
            <a:off x="4389673" y="1738305"/>
            <a:ext cx="282" cy="172076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8" name="矩形: 圓角 217">
            <a:extLst>
              <a:ext uri="{FF2B5EF4-FFF2-40B4-BE49-F238E27FC236}">
                <a16:creationId xmlns:a16="http://schemas.microsoft.com/office/drawing/2014/main" id="{B1EC08CE-E011-D4FD-3B57-E460890E997B}"/>
              </a:ext>
            </a:extLst>
          </p:cNvPr>
          <p:cNvSpPr/>
          <p:nvPr/>
        </p:nvSpPr>
        <p:spPr>
          <a:xfrm>
            <a:off x="3995936" y="2468760"/>
            <a:ext cx="485573" cy="1096784"/>
          </a:xfrm>
          <a:prstGeom prst="roundRect">
            <a:avLst>
              <a:gd name="adj" fmla="val 13748"/>
            </a:avLst>
          </a:prstGeom>
          <a:solidFill>
            <a:schemeClr val="accent2">
              <a:lumMod val="20000"/>
              <a:lumOff val="80000"/>
            </a:schemeClr>
          </a:solidFill>
          <a:ln w="158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FFN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微軟正黑體" panose="020B0604030504040204" pitchFamily="34" charset="-120"/>
              </a:rPr>
              <a:t>Nxd</a:t>
            </a:r>
            <a:endParaRPr kumimoji="0" lang="en-US" altLang="zh-TW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cxnSp>
        <p:nvCxnSpPr>
          <p:cNvPr id="232" name="直線單箭頭接點 231">
            <a:extLst>
              <a:ext uri="{FF2B5EF4-FFF2-40B4-BE49-F238E27FC236}">
                <a16:creationId xmlns:a16="http://schemas.microsoft.com/office/drawing/2014/main" id="{F26B60A0-8C3B-AFEC-E949-85B592C35EA9}"/>
              </a:ext>
            </a:extLst>
          </p:cNvPr>
          <p:cNvCxnSpPr>
            <a:cxnSpLocks/>
            <a:stCxn id="233" idx="0"/>
            <a:endCxn id="234" idx="2"/>
          </p:cNvCxnSpPr>
          <p:nvPr/>
        </p:nvCxnSpPr>
        <p:spPr>
          <a:xfrm flipH="1" flipV="1">
            <a:off x="4226493" y="4508771"/>
            <a:ext cx="3979" cy="233287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3" name="矩形 232">
            <a:extLst>
              <a:ext uri="{FF2B5EF4-FFF2-40B4-BE49-F238E27FC236}">
                <a16:creationId xmlns:a16="http://schemas.microsoft.com/office/drawing/2014/main" id="{EE8233CC-685F-7D13-2602-C521F75A2832}"/>
              </a:ext>
            </a:extLst>
          </p:cNvPr>
          <p:cNvSpPr/>
          <p:nvPr/>
        </p:nvSpPr>
        <p:spPr>
          <a:xfrm>
            <a:off x="4032960" y="4742058"/>
            <a:ext cx="395024" cy="407662"/>
          </a:xfrm>
          <a:prstGeom prst="rect">
            <a:avLst/>
          </a:prstGeom>
          <a:solidFill>
            <a:schemeClr val="bg1"/>
          </a:solidFill>
          <a:ln w="25400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9144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X</a:t>
            </a:r>
          </a:p>
          <a:p>
            <a:pPr marL="0" marR="0" lvl="0" indent="0" algn="ctr" defTabSz="914400" rtl="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NxD</a:t>
            </a:r>
          </a:p>
        </p:txBody>
      </p:sp>
      <p:sp>
        <p:nvSpPr>
          <p:cNvPr id="234" name="矩形: 圓角 233">
            <a:extLst>
              <a:ext uri="{FF2B5EF4-FFF2-40B4-BE49-F238E27FC236}">
                <a16:creationId xmlns:a16="http://schemas.microsoft.com/office/drawing/2014/main" id="{ECD326D8-B7FF-4E8B-8C79-96380FFA8CB5}"/>
              </a:ext>
            </a:extLst>
          </p:cNvPr>
          <p:cNvSpPr/>
          <p:nvPr/>
        </p:nvSpPr>
        <p:spPr>
          <a:xfrm>
            <a:off x="4025003" y="4069600"/>
            <a:ext cx="402980" cy="439171"/>
          </a:xfrm>
          <a:prstGeom prst="roundRect">
            <a:avLst/>
          </a:prstGeom>
          <a:solidFill>
            <a:schemeClr val="bg1"/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QKV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Nx1536</a:t>
            </a:r>
          </a:p>
        </p:txBody>
      </p:sp>
      <p:sp>
        <p:nvSpPr>
          <p:cNvPr id="243" name="矩形: 圓角 242">
            <a:extLst>
              <a:ext uri="{FF2B5EF4-FFF2-40B4-BE49-F238E27FC236}">
                <a16:creationId xmlns:a16="http://schemas.microsoft.com/office/drawing/2014/main" id="{D2F0EB87-8852-A70A-3723-552C9C22DAC4}"/>
              </a:ext>
            </a:extLst>
          </p:cNvPr>
          <p:cNvSpPr/>
          <p:nvPr/>
        </p:nvSpPr>
        <p:spPr>
          <a:xfrm>
            <a:off x="2467914" y="3224554"/>
            <a:ext cx="516929" cy="436010"/>
          </a:xfrm>
          <a:prstGeom prst="roundRect">
            <a:avLst>
              <a:gd name="adj" fmla="val 8860"/>
            </a:avLst>
          </a:prstGeom>
          <a:solidFill>
            <a:schemeClr val="accent2">
              <a:lumMod val="20000"/>
              <a:lumOff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MoE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Router</a:t>
            </a:r>
          </a:p>
        </p:txBody>
      </p:sp>
      <p:graphicFrame>
        <p:nvGraphicFramePr>
          <p:cNvPr id="247" name="表格 246">
            <a:extLst>
              <a:ext uri="{FF2B5EF4-FFF2-40B4-BE49-F238E27FC236}">
                <a16:creationId xmlns:a16="http://schemas.microsoft.com/office/drawing/2014/main" id="{61885D46-3697-0E37-AEE5-5620963F4DE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39438005"/>
              </p:ext>
            </p:extLst>
          </p:nvPr>
        </p:nvGraphicFramePr>
        <p:xfrm>
          <a:off x="5652400" y="1777144"/>
          <a:ext cx="2520000" cy="2618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00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37396536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23754513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34335693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85082099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242229700"/>
                    </a:ext>
                  </a:extLst>
                </a:gridCol>
                <a:gridCol w="504000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261855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D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1536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253" name="表格 252">
            <a:extLst>
              <a:ext uri="{FF2B5EF4-FFF2-40B4-BE49-F238E27FC236}">
                <a16:creationId xmlns:a16="http://schemas.microsoft.com/office/drawing/2014/main" id="{DC5B4798-CEC6-AFB5-C676-A6C5088940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83125562"/>
              </p:ext>
            </p:extLst>
          </p:nvPr>
        </p:nvGraphicFramePr>
        <p:xfrm>
          <a:off x="6823274" y="3400354"/>
          <a:ext cx="1264220" cy="2736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844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52844">
                  <a:extLst>
                    <a:ext uri="{9D8B030D-6E8A-4147-A177-3AD203B41FA5}">
                      <a16:colId xmlns:a16="http://schemas.microsoft.com/office/drawing/2014/main" val="337396536"/>
                    </a:ext>
                  </a:extLst>
                </a:gridCol>
                <a:gridCol w="252844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145648">
                  <a:extLst>
                    <a:ext uri="{9D8B030D-6E8A-4147-A177-3AD203B41FA5}">
                      <a16:colId xmlns:a16="http://schemas.microsoft.com/office/drawing/2014/main" val="223754513"/>
                    </a:ext>
                  </a:extLst>
                </a:gridCol>
                <a:gridCol w="360040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</a:tblGrid>
              <a:tr h="273655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v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v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v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v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256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259" name="表格 258">
            <a:extLst>
              <a:ext uri="{FF2B5EF4-FFF2-40B4-BE49-F238E27FC236}">
                <a16:creationId xmlns:a16="http://schemas.microsoft.com/office/drawing/2014/main" id="{BB345011-E72A-4B57-7623-0F079D3A82B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12851739"/>
              </p:ext>
            </p:extLst>
          </p:nvPr>
        </p:nvGraphicFramePr>
        <p:xfrm>
          <a:off x="6823274" y="4066479"/>
          <a:ext cx="1264220" cy="2767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844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52844">
                  <a:extLst>
                    <a:ext uri="{9D8B030D-6E8A-4147-A177-3AD203B41FA5}">
                      <a16:colId xmlns:a16="http://schemas.microsoft.com/office/drawing/2014/main" val="337396536"/>
                    </a:ext>
                  </a:extLst>
                </a:gridCol>
                <a:gridCol w="252844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145650">
                  <a:extLst>
                    <a:ext uri="{9D8B030D-6E8A-4147-A177-3AD203B41FA5}">
                      <a16:colId xmlns:a16="http://schemas.microsoft.com/office/drawing/2014/main" val="223754513"/>
                    </a:ext>
                  </a:extLst>
                </a:gridCol>
                <a:gridCol w="360038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</a:tblGrid>
              <a:tr h="27677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g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g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g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g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256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261" name="表格 260">
            <a:extLst>
              <a:ext uri="{FF2B5EF4-FFF2-40B4-BE49-F238E27FC236}">
                <a16:creationId xmlns:a16="http://schemas.microsoft.com/office/drawing/2014/main" id="{FFB275EB-4E36-DB50-7280-FD028F5641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80050720"/>
              </p:ext>
            </p:extLst>
          </p:nvPr>
        </p:nvGraphicFramePr>
        <p:xfrm>
          <a:off x="5652120" y="5265132"/>
          <a:ext cx="2520000" cy="30225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00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37396536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23754513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34335693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85082099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242229700"/>
                    </a:ext>
                  </a:extLst>
                </a:gridCol>
                <a:gridCol w="504000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30225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X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X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X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X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1536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cxnSp>
        <p:nvCxnSpPr>
          <p:cNvPr id="277" name="接點: 肘形 276">
            <a:extLst>
              <a:ext uri="{FF2B5EF4-FFF2-40B4-BE49-F238E27FC236}">
                <a16:creationId xmlns:a16="http://schemas.microsoft.com/office/drawing/2014/main" id="{928978F1-37A7-0A94-71DE-2F6FA9EC1494}"/>
              </a:ext>
            </a:extLst>
          </p:cNvPr>
          <p:cNvCxnSpPr>
            <a:cxnSpLocks/>
            <a:stCxn id="247" idx="1"/>
            <a:endCxn id="353" idx="3"/>
          </p:cNvCxnSpPr>
          <p:nvPr/>
        </p:nvCxnSpPr>
        <p:spPr>
          <a:xfrm rot="10800000" flipV="1">
            <a:off x="5148064" y="1908071"/>
            <a:ext cx="504336" cy="1757498"/>
          </a:xfrm>
          <a:prstGeom prst="bentConnector3">
            <a:avLst>
              <a:gd name="adj1" fmla="val 50000"/>
            </a:avLst>
          </a:prstGeom>
          <a:ln>
            <a:solidFill>
              <a:schemeClr val="tx1">
                <a:lumMod val="50000"/>
                <a:lumOff val="50000"/>
              </a:schemeClr>
            </a:solidFill>
            <a:prstDash val="dash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8" name="接點: 肘形 277">
            <a:extLst>
              <a:ext uri="{FF2B5EF4-FFF2-40B4-BE49-F238E27FC236}">
                <a16:creationId xmlns:a16="http://schemas.microsoft.com/office/drawing/2014/main" id="{717C5D64-7B86-5E45-0548-0FDD29BF909A}"/>
              </a:ext>
            </a:extLst>
          </p:cNvPr>
          <p:cNvCxnSpPr>
            <a:cxnSpLocks/>
            <a:stCxn id="355" idx="3"/>
            <a:endCxn id="261" idx="1"/>
          </p:cNvCxnSpPr>
          <p:nvPr/>
        </p:nvCxnSpPr>
        <p:spPr>
          <a:xfrm>
            <a:off x="5148064" y="3789373"/>
            <a:ext cx="504056" cy="1626888"/>
          </a:xfrm>
          <a:prstGeom prst="bentConnector3">
            <a:avLst>
              <a:gd name="adj1" fmla="val 50000"/>
            </a:avLst>
          </a:prstGeom>
          <a:ln>
            <a:solidFill>
              <a:schemeClr val="tx1">
                <a:lumMod val="50000"/>
                <a:lumOff val="50000"/>
              </a:schemeClr>
            </a:solidFill>
            <a:prstDash val="dash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3" name="直線接點 292">
            <a:extLst>
              <a:ext uri="{FF2B5EF4-FFF2-40B4-BE49-F238E27FC236}">
                <a16:creationId xmlns:a16="http://schemas.microsoft.com/office/drawing/2014/main" id="{A2D0A9B0-FA90-7699-CF4F-9C904905E5EC}"/>
              </a:ext>
            </a:extLst>
          </p:cNvPr>
          <p:cNvCxnSpPr>
            <a:cxnSpLocks/>
            <a:stCxn id="447" idx="1"/>
            <a:endCxn id="253" idx="3"/>
          </p:cNvCxnSpPr>
          <p:nvPr/>
        </p:nvCxnSpPr>
        <p:spPr>
          <a:xfrm flipH="1">
            <a:off x="8087494" y="3537181"/>
            <a:ext cx="275854" cy="0"/>
          </a:xfrm>
          <a:prstGeom prst="line">
            <a:avLst/>
          </a:prstGeom>
          <a:ln>
            <a:solidFill>
              <a:schemeClr val="accent6">
                <a:lumMod val="50000"/>
              </a:schemeClr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3" name="文字方塊 322">
            <a:extLst>
              <a:ext uri="{FF2B5EF4-FFF2-40B4-BE49-F238E27FC236}">
                <a16:creationId xmlns:a16="http://schemas.microsoft.com/office/drawing/2014/main" id="{28DFD3BC-A87F-A5C7-534C-3F0D49144805}"/>
              </a:ext>
            </a:extLst>
          </p:cNvPr>
          <p:cNvSpPr txBox="1"/>
          <p:nvPr/>
        </p:nvSpPr>
        <p:spPr>
          <a:xfrm>
            <a:off x="5652120" y="5069655"/>
            <a:ext cx="899391" cy="209704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200" dirty="0">
                <a:solidFill>
                  <a:prstClr val="black"/>
                </a:solidFill>
                <a:ea typeface="Cambria Math" panose="02040503050406030204" pitchFamily="18" charset="0"/>
              </a:rPr>
              <a:t>Gating </a:t>
            </a:r>
            <a:r>
              <a:rPr kumimoji="0" lang="en-US" altLang="zh-TW" sz="120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Router</a:t>
            </a:r>
          </a:p>
        </p:txBody>
      </p:sp>
      <p:sp>
        <p:nvSpPr>
          <p:cNvPr id="238" name="矩形: 圓角 237">
            <a:extLst>
              <a:ext uri="{FF2B5EF4-FFF2-40B4-BE49-F238E27FC236}">
                <a16:creationId xmlns:a16="http://schemas.microsoft.com/office/drawing/2014/main" id="{4B06301D-1BE8-1326-B4FC-7F4CF91E61AE}"/>
              </a:ext>
            </a:extLst>
          </p:cNvPr>
          <p:cNvSpPr/>
          <p:nvPr/>
        </p:nvSpPr>
        <p:spPr>
          <a:xfrm>
            <a:off x="4755291" y="2941403"/>
            <a:ext cx="72008" cy="1093386"/>
          </a:xfrm>
          <a:prstGeom prst="roundRect">
            <a:avLst>
              <a:gd name="adj" fmla="val 13748"/>
            </a:avLst>
          </a:prstGeom>
          <a:solidFill>
            <a:schemeClr val="accent6">
              <a:lumMod val="60000"/>
              <a:lumOff val="40000"/>
              <a:alpha val="40000"/>
            </a:schemeClr>
          </a:solidFill>
          <a:ln w="15875">
            <a:solidFill>
              <a:schemeClr val="accent6">
                <a:lumMod val="75000"/>
                <a:alpha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sp>
        <p:nvSpPr>
          <p:cNvPr id="363" name="文字方塊 362">
            <a:extLst>
              <a:ext uri="{FF2B5EF4-FFF2-40B4-BE49-F238E27FC236}">
                <a16:creationId xmlns:a16="http://schemas.microsoft.com/office/drawing/2014/main" id="{525FB032-A4CB-7C4D-2D54-F9DD83D1962B}"/>
              </a:ext>
            </a:extLst>
          </p:cNvPr>
          <p:cNvSpPr txBox="1"/>
          <p:nvPr/>
        </p:nvSpPr>
        <p:spPr>
          <a:xfrm>
            <a:off x="6823274" y="3839199"/>
            <a:ext cx="963697" cy="26450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/>
            <a:r>
              <a:rPr lang="en-US" altLang="zh-TW" sz="1200" dirty="0">
                <a:solidFill>
                  <a:prstClr val="black"/>
                </a:solidFill>
                <a:ea typeface="Cambria Math" panose="02040503050406030204" pitchFamily="18" charset="0"/>
              </a:rPr>
              <a:t>Token Indexing</a:t>
            </a:r>
            <a:endParaRPr kumimoji="0" lang="en-US" altLang="zh-TW" sz="120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cxnSp>
        <p:nvCxnSpPr>
          <p:cNvPr id="365" name="接點: 肘形 364">
            <a:extLst>
              <a:ext uri="{FF2B5EF4-FFF2-40B4-BE49-F238E27FC236}">
                <a16:creationId xmlns:a16="http://schemas.microsoft.com/office/drawing/2014/main" id="{DD415140-B33D-1548-4B58-7C4C4747B9D4}"/>
              </a:ext>
            </a:extLst>
          </p:cNvPr>
          <p:cNvCxnSpPr>
            <a:cxnSpLocks/>
            <a:stCxn id="233" idx="3"/>
            <a:endCxn id="369" idx="2"/>
          </p:cNvCxnSpPr>
          <p:nvPr/>
        </p:nvCxnSpPr>
        <p:spPr>
          <a:xfrm flipV="1">
            <a:off x="4427984" y="4501648"/>
            <a:ext cx="357953" cy="444241"/>
          </a:xfrm>
          <a:prstGeom prst="bentConnector2">
            <a:avLst/>
          </a:prstGeom>
          <a:ln w="19050">
            <a:solidFill>
              <a:schemeClr val="tx1"/>
            </a:solidFill>
            <a:headEnd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9" name="矩形: 圓角 368">
            <a:extLst>
              <a:ext uri="{FF2B5EF4-FFF2-40B4-BE49-F238E27FC236}">
                <a16:creationId xmlns:a16="http://schemas.microsoft.com/office/drawing/2014/main" id="{DE9F4776-897F-EF38-755B-22FC78B99362}"/>
              </a:ext>
            </a:extLst>
          </p:cNvPr>
          <p:cNvSpPr/>
          <p:nvPr/>
        </p:nvSpPr>
        <p:spPr>
          <a:xfrm>
            <a:off x="4644008" y="4069600"/>
            <a:ext cx="283858" cy="432048"/>
          </a:xfrm>
          <a:prstGeom prst="roundRect">
            <a:avLst/>
          </a:prstGeom>
          <a:solidFill>
            <a:schemeClr val="bg1"/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PLE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256</a:t>
            </a:r>
          </a:p>
        </p:txBody>
      </p:sp>
      <p:sp>
        <p:nvSpPr>
          <p:cNvPr id="379" name="矩形: 圓角 378">
            <a:extLst>
              <a:ext uri="{FF2B5EF4-FFF2-40B4-BE49-F238E27FC236}">
                <a16:creationId xmlns:a16="http://schemas.microsoft.com/office/drawing/2014/main" id="{C319F167-CD75-A554-5FB6-13D7673C674F}"/>
              </a:ext>
            </a:extLst>
          </p:cNvPr>
          <p:cNvSpPr/>
          <p:nvPr/>
        </p:nvSpPr>
        <p:spPr>
          <a:xfrm>
            <a:off x="8355366" y="5135343"/>
            <a:ext cx="287468" cy="302259"/>
          </a:xfrm>
          <a:prstGeom prst="roundRect">
            <a:avLst>
              <a:gd name="adj" fmla="val 13748"/>
            </a:avLst>
          </a:prstGeom>
          <a:solidFill>
            <a:srgbClr val="DCE6F2">
              <a:alpha val="40000"/>
            </a:srgbClr>
          </a:solidFill>
          <a:ln w="19050">
            <a:solidFill>
              <a:schemeClr val="bg1">
                <a:lumMod val="50000"/>
                <a:alpha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b" anchorCtr="1"/>
          <a:lstStyle/>
          <a:p>
            <a:pPr marL="0" marR="0" lvl="0" indent="0" algn="ctr" defTabSz="914400" rtl="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dirty="0">
                <a:solidFill>
                  <a:prstClr val="black"/>
                </a:solidFill>
                <a:latin typeface="Calibri"/>
                <a:ea typeface="微軟正黑體" panose="020B0604030504040204" pitchFamily="34" charset="-120"/>
              </a:rPr>
              <a:t>W</a:t>
            </a:r>
            <a:br>
              <a:rPr lang="en-US" altLang="zh-TW" sz="1000" dirty="0">
                <a:solidFill>
                  <a:prstClr val="black"/>
                </a:solidFill>
                <a:latin typeface="Calibri"/>
                <a:ea typeface="微軟正黑體" panose="020B0604030504040204" pitchFamily="34" charset="-120"/>
              </a:rPr>
            </a:br>
            <a:r>
              <a:rPr lang="en-US" altLang="zh-TW" sz="1000" dirty="0">
                <a:solidFill>
                  <a:prstClr val="black"/>
                </a:solidFill>
                <a:latin typeface="Calibri"/>
                <a:ea typeface="微軟正黑體" panose="020B0604030504040204" pitchFamily="34" charset="-120"/>
              </a:rPr>
              <a:t>Dxd</a:t>
            </a:r>
            <a:endParaRPr kumimoji="0" lang="en-US" altLang="zh-TW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sp>
        <p:nvSpPr>
          <p:cNvPr id="402" name="文字方塊 401">
            <a:extLst>
              <a:ext uri="{FF2B5EF4-FFF2-40B4-BE49-F238E27FC236}">
                <a16:creationId xmlns:a16="http://schemas.microsoft.com/office/drawing/2014/main" id="{72FAC1CD-FDAF-2C4E-5F25-3580BA933392}"/>
              </a:ext>
            </a:extLst>
          </p:cNvPr>
          <p:cNvSpPr txBox="1"/>
          <p:nvPr/>
        </p:nvSpPr>
        <p:spPr>
          <a:xfrm>
            <a:off x="8172400" y="5135343"/>
            <a:ext cx="182966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x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cxnSp>
        <p:nvCxnSpPr>
          <p:cNvPr id="407" name="接點: 弧形 406">
            <a:extLst>
              <a:ext uri="{FF2B5EF4-FFF2-40B4-BE49-F238E27FC236}">
                <a16:creationId xmlns:a16="http://schemas.microsoft.com/office/drawing/2014/main" id="{6B75EBEC-48B3-25A0-46E3-2D8C9256BCD5}"/>
              </a:ext>
            </a:extLst>
          </p:cNvPr>
          <p:cNvCxnSpPr>
            <a:cxnSpLocks/>
            <a:stCxn id="406" idx="0"/>
            <a:endCxn id="259" idx="3"/>
          </p:cNvCxnSpPr>
          <p:nvPr/>
        </p:nvCxnSpPr>
        <p:spPr>
          <a:xfrm rot="16200000" flipV="1">
            <a:off x="8118153" y="4174208"/>
            <a:ext cx="354412" cy="415730"/>
          </a:xfrm>
          <a:prstGeom prst="curvedConnector2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4" name="接點: 弧形 413">
            <a:extLst>
              <a:ext uri="{FF2B5EF4-FFF2-40B4-BE49-F238E27FC236}">
                <a16:creationId xmlns:a16="http://schemas.microsoft.com/office/drawing/2014/main" id="{6A8855D9-5D93-9B03-FA67-8CB796C3379A}"/>
              </a:ext>
            </a:extLst>
          </p:cNvPr>
          <p:cNvCxnSpPr>
            <a:cxnSpLocks/>
            <a:stCxn id="379" idx="0"/>
            <a:endCxn id="404" idx="3"/>
          </p:cNvCxnSpPr>
          <p:nvPr/>
        </p:nvCxnSpPr>
        <p:spPr>
          <a:xfrm rot="16200000" flipV="1">
            <a:off x="8139011" y="4775254"/>
            <a:ext cx="321471" cy="398708"/>
          </a:xfrm>
          <a:prstGeom prst="curvedConnector2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0" name="文字方塊 399">
            <a:extLst>
              <a:ext uri="{FF2B5EF4-FFF2-40B4-BE49-F238E27FC236}">
                <a16:creationId xmlns:a16="http://schemas.microsoft.com/office/drawing/2014/main" id="{C2D0AA9D-2CF4-2067-F683-7B9B3215C81A}"/>
              </a:ext>
            </a:extLst>
          </p:cNvPr>
          <p:cNvSpPr txBox="1"/>
          <p:nvPr/>
        </p:nvSpPr>
        <p:spPr>
          <a:xfrm>
            <a:off x="8100392" y="4559279"/>
            <a:ext cx="252367" cy="276776"/>
          </a:xfrm>
          <a:prstGeom prst="rect">
            <a:avLst/>
          </a:prstGeom>
          <a:solidFill>
            <a:schemeClr val="bg1">
              <a:alpha val="60000"/>
            </a:schemeClr>
          </a:solidFill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400" b="1" dirty="0">
                <a:solidFill>
                  <a:prstClr val="black"/>
                </a:solidFill>
                <a:ea typeface="Cambria Math" panose="02040503050406030204" pitchFamily="18" charset="0"/>
              </a:rPr>
              <a:t> </a:t>
            </a:r>
            <a:r>
              <a:rPr kumimoji="0" lang="az-Cyrl-AZ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Ꙩ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406" name="矩形: 圓角 405">
            <a:extLst>
              <a:ext uri="{FF2B5EF4-FFF2-40B4-BE49-F238E27FC236}">
                <a16:creationId xmlns:a16="http://schemas.microsoft.com/office/drawing/2014/main" id="{67454EB2-CB74-516D-45F4-16E55A222BF8}"/>
              </a:ext>
            </a:extLst>
          </p:cNvPr>
          <p:cNvSpPr/>
          <p:nvPr/>
        </p:nvSpPr>
        <p:spPr>
          <a:xfrm>
            <a:off x="8365657" y="4559279"/>
            <a:ext cx="275134" cy="276776"/>
          </a:xfrm>
          <a:prstGeom prst="roundRect">
            <a:avLst>
              <a:gd name="adj" fmla="val 13748"/>
            </a:avLst>
          </a:prstGeom>
          <a:solidFill>
            <a:schemeClr val="bg1">
              <a:alpha val="60000"/>
            </a:schemeClr>
          </a:solidFill>
          <a:ln w="19050">
            <a:solidFill>
              <a:schemeClr val="bg1">
                <a:lumMod val="50000"/>
                <a:alpha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l-GR" altLang="zh-TW" sz="1400" b="1" dirty="0">
                <a:solidFill>
                  <a:prstClr val="black"/>
                </a:solidFill>
                <a:latin typeface="Calibri"/>
                <a:ea typeface="微軟正黑體" panose="020B0604030504040204" pitchFamily="34" charset="-120"/>
              </a:rPr>
              <a:t>σ</a:t>
            </a:r>
            <a:endParaRPr lang="en-US" altLang="zh-TW" sz="1400" b="1" dirty="0">
              <a:solidFill>
                <a:prstClr val="black"/>
              </a:solidFill>
              <a:latin typeface="Calibri"/>
              <a:ea typeface="微軟正黑體" panose="020B0604030504040204" pitchFamily="34" charset="-120"/>
            </a:endParaRPr>
          </a:p>
          <a:p>
            <a:pPr marL="0" marR="0" lvl="0" indent="0" algn="ctr" defTabSz="914400" rtl="0" eaLnBrk="1" fontAlgn="auto" latinLnBrk="0" hangingPunct="1">
              <a:lnSpc>
                <a:spcPts val="8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1xd</a:t>
            </a:r>
          </a:p>
        </p:txBody>
      </p:sp>
      <p:graphicFrame>
        <p:nvGraphicFramePr>
          <p:cNvPr id="404" name="表格 403">
            <a:extLst>
              <a:ext uri="{FF2B5EF4-FFF2-40B4-BE49-F238E27FC236}">
                <a16:creationId xmlns:a16="http://schemas.microsoft.com/office/drawing/2014/main" id="{EC50C037-BABC-90C0-4103-A8A24C94572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87970535"/>
              </p:ext>
            </p:extLst>
          </p:nvPr>
        </p:nvGraphicFramePr>
        <p:xfrm>
          <a:off x="6836172" y="4662743"/>
          <a:ext cx="1264220" cy="30225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60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19521">
                  <a:extLst>
                    <a:ext uri="{9D8B030D-6E8A-4147-A177-3AD203B41FA5}">
                      <a16:colId xmlns:a16="http://schemas.microsoft.com/office/drawing/2014/main" val="337396536"/>
                    </a:ext>
                  </a:extLst>
                </a:gridCol>
                <a:gridCol w="141685">
                  <a:extLst>
                    <a:ext uri="{9D8B030D-6E8A-4147-A177-3AD203B41FA5}">
                      <a16:colId xmlns:a16="http://schemas.microsoft.com/office/drawing/2014/main" val="334335693"/>
                    </a:ext>
                  </a:extLst>
                </a:gridCol>
                <a:gridCol w="180603">
                  <a:extLst>
                    <a:ext uri="{9D8B030D-6E8A-4147-A177-3AD203B41FA5}">
                      <a16:colId xmlns:a16="http://schemas.microsoft.com/office/drawing/2014/main" val="2850820999"/>
                    </a:ext>
                  </a:extLst>
                </a:gridCol>
                <a:gridCol w="180603">
                  <a:extLst>
                    <a:ext uri="{9D8B030D-6E8A-4147-A177-3AD203B41FA5}">
                      <a16:colId xmlns:a16="http://schemas.microsoft.com/office/drawing/2014/main" val="3242229700"/>
                    </a:ext>
                  </a:extLst>
                </a:gridCol>
                <a:gridCol w="361205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30225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w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w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w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256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427" name="文字方塊 426">
            <a:extLst>
              <a:ext uri="{FF2B5EF4-FFF2-40B4-BE49-F238E27FC236}">
                <a16:creationId xmlns:a16="http://schemas.microsoft.com/office/drawing/2014/main" id="{CA43E46A-4463-4F26-3FD5-3A646BC83E23}"/>
              </a:ext>
            </a:extLst>
          </p:cNvPr>
          <p:cNvSpPr txBox="1"/>
          <p:nvPr/>
        </p:nvSpPr>
        <p:spPr>
          <a:xfrm>
            <a:off x="6836172" y="4475026"/>
            <a:ext cx="646847" cy="20330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200" dirty="0">
                <a:solidFill>
                  <a:prstClr val="black"/>
                </a:solidFill>
                <a:ea typeface="Cambria Math" panose="02040503050406030204" pitchFamily="18" charset="0"/>
              </a:rPr>
              <a:t>Sigmoid</a:t>
            </a:r>
            <a:endParaRPr kumimoji="0" lang="en-US" altLang="zh-TW" sz="120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435" name="矩形 434">
            <a:extLst>
              <a:ext uri="{FF2B5EF4-FFF2-40B4-BE49-F238E27FC236}">
                <a16:creationId xmlns:a16="http://schemas.microsoft.com/office/drawing/2014/main" id="{5197D484-ABC8-13C5-E5F6-FB749CE8FAC9}"/>
              </a:ext>
            </a:extLst>
          </p:cNvPr>
          <p:cNvSpPr/>
          <p:nvPr/>
        </p:nvSpPr>
        <p:spPr>
          <a:xfrm>
            <a:off x="282880" y="5308701"/>
            <a:ext cx="362588" cy="424555"/>
          </a:xfrm>
          <a:prstGeom prst="rect">
            <a:avLst/>
          </a:prstGeom>
          <a:solidFill>
            <a:schemeClr val="bg2">
              <a:lumMod val="90000"/>
            </a:schemeClr>
          </a:solidFill>
          <a:ln w="381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6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VC</a:t>
            </a:r>
            <a:endParaRPr lang="en-US" altLang="zh-TW" sz="1600" baseline="-25000" dirty="0">
              <a:solidFill>
                <a:schemeClr val="tx1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37" name="矩形 436">
            <a:extLst>
              <a:ext uri="{FF2B5EF4-FFF2-40B4-BE49-F238E27FC236}">
                <a16:creationId xmlns:a16="http://schemas.microsoft.com/office/drawing/2014/main" id="{69BE9F70-005C-830C-0F84-3A9F03A44EB7}"/>
              </a:ext>
            </a:extLst>
          </p:cNvPr>
          <p:cNvSpPr/>
          <p:nvPr/>
        </p:nvSpPr>
        <p:spPr>
          <a:xfrm>
            <a:off x="1939064" y="5308701"/>
            <a:ext cx="362588" cy="424555"/>
          </a:xfrm>
          <a:prstGeom prst="rect">
            <a:avLst/>
          </a:prstGeom>
          <a:solidFill>
            <a:schemeClr val="bg2">
              <a:lumMod val="90000"/>
            </a:schemeClr>
          </a:solidFill>
          <a:ln w="381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6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VC</a:t>
            </a:r>
            <a:endParaRPr lang="en-US" altLang="zh-TW" sz="1600" baseline="-25000" dirty="0">
              <a:solidFill>
                <a:schemeClr val="tx1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39" name="矩形 438">
            <a:extLst>
              <a:ext uri="{FF2B5EF4-FFF2-40B4-BE49-F238E27FC236}">
                <a16:creationId xmlns:a16="http://schemas.microsoft.com/office/drawing/2014/main" id="{5140CBF9-9A18-5C52-07CB-4AD7B2111DA5}"/>
              </a:ext>
            </a:extLst>
          </p:cNvPr>
          <p:cNvSpPr/>
          <p:nvPr/>
        </p:nvSpPr>
        <p:spPr>
          <a:xfrm>
            <a:off x="3595248" y="5300108"/>
            <a:ext cx="362588" cy="424555"/>
          </a:xfrm>
          <a:prstGeom prst="rect">
            <a:avLst/>
          </a:prstGeom>
          <a:solidFill>
            <a:schemeClr val="bg2">
              <a:lumMod val="90000"/>
            </a:schemeClr>
          </a:solidFill>
          <a:ln w="381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6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VC</a:t>
            </a:r>
            <a:endParaRPr lang="en-US" altLang="zh-TW" sz="1600" baseline="-25000" dirty="0">
              <a:solidFill>
                <a:schemeClr val="tx1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43" name="矩形 442">
            <a:extLst>
              <a:ext uri="{FF2B5EF4-FFF2-40B4-BE49-F238E27FC236}">
                <a16:creationId xmlns:a16="http://schemas.microsoft.com/office/drawing/2014/main" id="{6FDA76AC-3819-6910-C4B2-7A5CE3BC76C1}"/>
              </a:ext>
            </a:extLst>
          </p:cNvPr>
          <p:cNvSpPr/>
          <p:nvPr/>
        </p:nvSpPr>
        <p:spPr>
          <a:xfrm>
            <a:off x="4870424" y="2942439"/>
            <a:ext cx="104230" cy="479089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VC</a:t>
            </a:r>
            <a:endParaRPr lang="en-US" altLang="zh-TW" sz="1000" baseline="-25000" dirty="0">
              <a:solidFill>
                <a:schemeClr val="tx1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47" name="矩形: 圓角 446">
            <a:extLst>
              <a:ext uri="{FF2B5EF4-FFF2-40B4-BE49-F238E27FC236}">
                <a16:creationId xmlns:a16="http://schemas.microsoft.com/office/drawing/2014/main" id="{C0B6E053-FF58-D53D-1860-D25BEA29989C}"/>
              </a:ext>
            </a:extLst>
          </p:cNvPr>
          <p:cNvSpPr/>
          <p:nvPr/>
        </p:nvSpPr>
        <p:spPr>
          <a:xfrm>
            <a:off x="8363348" y="3501266"/>
            <a:ext cx="257333" cy="71829"/>
          </a:xfrm>
          <a:prstGeom prst="roundRect">
            <a:avLst>
              <a:gd name="adj" fmla="val 13748"/>
            </a:avLst>
          </a:prstGeom>
          <a:solidFill>
            <a:schemeClr val="accent6">
              <a:lumMod val="60000"/>
              <a:lumOff val="40000"/>
            </a:schemeClr>
          </a:solidFill>
          <a:ln w="1905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cxnSp>
        <p:nvCxnSpPr>
          <p:cNvPr id="448" name="接點: 肘形 447">
            <a:extLst>
              <a:ext uri="{FF2B5EF4-FFF2-40B4-BE49-F238E27FC236}">
                <a16:creationId xmlns:a16="http://schemas.microsoft.com/office/drawing/2014/main" id="{7E15CB88-84AE-BF15-F851-06F42158E725}"/>
              </a:ext>
            </a:extLst>
          </p:cNvPr>
          <p:cNvCxnSpPr>
            <a:cxnSpLocks/>
            <a:stCxn id="363" idx="3"/>
            <a:endCxn id="447" idx="2"/>
          </p:cNvCxnSpPr>
          <p:nvPr/>
        </p:nvCxnSpPr>
        <p:spPr>
          <a:xfrm flipV="1">
            <a:off x="7786971" y="3573095"/>
            <a:ext cx="705044" cy="398354"/>
          </a:xfrm>
          <a:prstGeom prst="bentConnector2">
            <a:avLst/>
          </a:prstGeom>
          <a:ln>
            <a:solidFill>
              <a:schemeClr val="accent6">
                <a:lumMod val="50000"/>
              </a:schemeClr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6" name="文字方塊 465">
            <a:extLst>
              <a:ext uri="{FF2B5EF4-FFF2-40B4-BE49-F238E27FC236}">
                <a16:creationId xmlns:a16="http://schemas.microsoft.com/office/drawing/2014/main" id="{9EDE28DD-20E0-22B3-9112-F36B0AF38090}"/>
              </a:ext>
            </a:extLst>
          </p:cNvPr>
          <p:cNvSpPr txBox="1"/>
          <p:nvPr/>
        </p:nvSpPr>
        <p:spPr>
          <a:xfrm>
            <a:off x="6823274" y="3191127"/>
            <a:ext cx="1135886" cy="209227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/>
            <a:r>
              <a:rPr lang="en-US" altLang="zh-TW" sz="1200" dirty="0">
                <a:solidFill>
                  <a:prstClr val="black"/>
                </a:solidFill>
                <a:ea typeface="Cambria Math" panose="02040503050406030204" pitchFamily="18" charset="0"/>
              </a:rPr>
              <a:t>Layer</a:t>
            </a:r>
            <a:r>
              <a:rPr lang="zh-TW" altLang="en-US" sz="1200" dirty="0">
                <a:solidFill>
                  <a:prstClr val="black"/>
                </a:solidFill>
                <a:ea typeface="Cambria Math" panose="02040503050406030204" pitchFamily="18" charset="0"/>
              </a:rPr>
              <a:t> </a:t>
            </a:r>
            <a:r>
              <a:rPr kumimoji="0" lang="en-US" altLang="zh-TW" sz="120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Embedding</a:t>
            </a:r>
          </a:p>
        </p:txBody>
      </p:sp>
      <p:sp>
        <p:nvSpPr>
          <p:cNvPr id="479" name="矩形: 圓角 478">
            <a:extLst>
              <a:ext uri="{FF2B5EF4-FFF2-40B4-BE49-F238E27FC236}">
                <a16:creationId xmlns:a16="http://schemas.microsoft.com/office/drawing/2014/main" id="{D1FB5A6B-242D-349D-5C43-049DCFA823B7}"/>
              </a:ext>
            </a:extLst>
          </p:cNvPr>
          <p:cNvSpPr/>
          <p:nvPr/>
        </p:nvSpPr>
        <p:spPr>
          <a:xfrm>
            <a:off x="7365587" y="2787416"/>
            <a:ext cx="287468" cy="302259"/>
          </a:xfrm>
          <a:prstGeom prst="roundRect">
            <a:avLst>
              <a:gd name="adj" fmla="val 13748"/>
            </a:avLst>
          </a:prstGeom>
          <a:solidFill>
            <a:srgbClr val="DCE6F2">
              <a:alpha val="40000"/>
            </a:srgbClr>
          </a:solidFill>
          <a:ln w="19050">
            <a:solidFill>
              <a:schemeClr val="bg1">
                <a:lumMod val="50000"/>
                <a:alpha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b" anchorCtr="1"/>
          <a:lstStyle/>
          <a:p>
            <a:pPr marL="0" marR="0" lvl="0" indent="0" algn="ctr" defTabSz="914400" rtl="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dirty="0">
                <a:solidFill>
                  <a:prstClr val="black"/>
                </a:solidFill>
                <a:latin typeface="Calibri"/>
                <a:ea typeface="微軟正黑體" panose="020B0604030504040204" pitchFamily="34" charset="-120"/>
              </a:rPr>
              <a:t>U</a:t>
            </a:r>
            <a:br>
              <a:rPr lang="en-US" altLang="zh-TW" sz="1000" dirty="0">
                <a:solidFill>
                  <a:prstClr val="black"/>
                </a:solidFill>
                <a:latin typeface="Calibri"/>
                <a:ea typeface="微軟正黑體" panose="020B0604030504040204" pitchFamily="34" charset="-120"/>
              </a:rPr>
            </a:br>
            <a:r>
              <a:rPr lang="en-US" altLang="zh-TW" sz="1000" dirty="0" err="1">
                <a:solidFill>
                  <a:prstClr val="black"/>
                </a:solidFill>
                <a:latin typeface="Calibri"/>
                <a:ea typeface="微軟正黑體" panose="020B0604030504040204" pitchFamily="34" charset="-120"/>
              </a:rPr>
              <a:t>dxD</a:t>
            </a:r>
            <a:endParaRPr kumimoji="0" lang="en-US" altLang="zh-TW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graphicFrame>
        <p:nvGraphicFramePr>
          <p:cNvPr id="481" name="表格 480">
            <a:extLst>
              <a:ext uri="{FF2B5EF4-FFF2-40B4-BE49-F238E27FC236}">
                <a16:creationId xmlns:a16="http://schemas.microsoft.com/office/drawing/2014/main" id="{8198FD95-2130-DE8C-2894-D9D277FFDE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28412873"/>
              </p:ext>
            </p:extLst>
          </p:nvPr>
        </p:nvGraphicFramePr>
        <p:xfrm>
          <a:off x="5652400" y="2209192"/>
          <a:ext cx="2520000" cy="2618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00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37396536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23754513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34335693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85082099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242229700"/>
                    </a:ext>
                  </a:extLst>
                </a:gridCol>
                <a:gridCol w="504000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261855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a1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a2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a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a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1536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483" name="表格 482">
            <a:extLst>
              <a:ext uri="{FF2B5EF4-FFF2-40B4-BE49-F238E27FC236}">
                <a16:creationId xmlns:a16="http://schemas.microsoft.com/office/drawing/2014/main" id="{ACBE89B7-C0CF-4307-100A-AE10558D9E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80568234"/>
              </p:ext>
            </p:extLst>
          </p:nvPr>
        </p:nvGraphicFramePr>
        <p:xfrm>
          <a:off x="6823274" y="2787342"/>
          <a:ext cx="375653" cy="2935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65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</a:tblGrid>
              <a:tr h="2935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+mn-lt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1xd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485" name="文字方塊 484">
            <a:extLst>
              <a:ext uri="{FF2B5EF4-FFF2-40B4-BE49-F238E27FC236}">
                <a16:creationId xmlns:a16="http://schemas.microsoft.com/office/drawing/2014/main" id="{CFCE0F9D-ED6F-C81A-D59B-0D98F8DCA129}"/>
              </a:ext>
            </a:extLst>
          </p:cNvPr>
          <p:cNvSpPr txBox="1"/>
          <p:nvPr/>
        </p:nvSpPr>
        <p:spPr>
          <a:xfrm>
            <a:off x="7211082" y="2831087"/>
            <a:ext cx="131861" cy="19951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/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x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57" name="文字方塊 256">
            <a:extLst>
              <a:ext uri="{FF2B5EF4-FFF2-40B4-BE49-F238E27FC236}">
                <a16:creationId xmlns:a16="http://schemas.microsoft.com/office/drawing/2014/main" id="{C7691DC9-6984-0D23-A0E0-6E7D19059F8F}"/>
              </a:ext>
            </a:extLst>
          </p:cNvPr>
          <p:cNvSpPr txBox="1"/>
          <p:nvPr/>
        </p:nvSpPr>
        <p:spPr>
          <a:xfrm>
            <a:off x="7936010" y="3839925"/>
            <a:ext cx="313421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400" b="1" dirty="0">
                <a:solidFill>
                  <a:prstClr val="black"/>
                </a:solidFill>
                <a:ea typeface="Cambria Math" panose="02040503050406030204" pitchFamily="18" charset="0"/>
              </a:rPr>
              <a:t> </a:t>
            </a:r>
            <a:r>
              <a:rPr kumimoji="0" lang="az-Cyrl-AZ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Ꙩ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487" name="文字方塊 486">
            <a:extLst>
              <a:ext uri="{FF2B5EF4-FFF2-40B4-BE49-F238E27FC236}">
                <a16:creationId xmlns:a16="http://schemas.microsoft.com/office/drawing/2014/main" id="{8B4A16DF-DE69-01D3-C03A-0A8EAB36D537}"/>
              </a:ext>
            </a:extLst>
          </p:cNvPr>
          <p:cNvSpPr txBox="1"/>
          <p:nvPr/>
        </p:nvSpPr>
        <p:spPr>
          <a:xfrm>
            <a:off x="6588779" y="1981367"/>
            <a:ext cx="313421" cy="27365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400" b="1" dirty="0">
                <a:solidFill>
                  <a:prstClr val="black"/>
                </a:solidFill>
                <a:ea typeface="Cambria Math" panose="02040503050406030204" pitchFamily="18" charset="0"/>
              </a:rPr>
              <a:t> </a:t>
            </a:r>
            <a:r>
              <a:rPr lang="en-US" altLang="zh-TW" sz="1400" b="1" dirty="0">
                <a:solidFill>
                  <a:prstClr val="black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+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493" name="文字方塊 492">
            <a:extLst>
              <a:ext uri="{FF2B5EF4-FFF2-40B4-BE49-F238E27FC236}">
                <a16:creationId xmlns:a16="http://schemas.microsoft.com/office/drawing/2014/main" id="{0ADB9979-292B-C90A-3C7E-205F7E7CC282}"/>
              </a:ext>
            </a:extLst>
          </p:cNvPr>
          <p:cNvSpPr txBox="1"/>
          <p:nvPr/>
        </p:nvSpPr>
        <p:spPr>
          <a:xfrm>
            <a:off x="5652120" y="1549320"/>
            <a:ext cx="1321377" cy="27365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/>
            <a:r>
              <a:rPr lang="en-US" altLang="zh-TW" sz="1200" dirty="0">
                <a:solidFill>
                  <a:prstClr val="black"/>
                </a:solidFill>
                <a:ea typeface="Cambria Math" panose="02040503050406030204" pitchFamily="18" charset="0"/>
              </a:rPr>
              <a:t>Residual Connection</a:t>
            </a:r>
            <a:endParaRPr kumimoji="0" lang="en-US" altLang="zh-TW" sz="120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cxnSp>
        <p:nvCxnSpPr>
          <p:cNvPr id="494" name="接點: 弧形 493">
            <a:extLst>
              <a:ext uri="{FF2B5EF4-FFF2-40B4-BE49-F238E27FC236}">
                <a16:creationId xmlns:a16="http://schemas.microsoft.com/office/drawing/2014/main" id="{903D6AF1-D490-6992-844B-1553A488E0AA}"/>
              </a:ext>
            </a:extLst>
          </p:cNvPr>
          <p:cNvCxnSpPr>
            <a:cxnSpLocks/>
            <a:stCxn id="479" idx="3"/>
            <a:endCxn id="481" idx="3"/>
          </p:cNvCxnSpPr>
          <p:nvPr/>
        </p:nvCxnSpPr>
        <p:spPr>
          <a:xfrm flipV="1">
            <a:off x="7653055" y="2340119"/>
            <a:ext cx="519345" cy="598427"/>
          </a:xfrm>
          <a:prstGeom prst="curvedConnector3">
            <a:avLst>
              <a:gd name="adj1" fmla="val 144017"/>
            </a:avLst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16" name="群組 515">
            <a:extLst>
              <a:ext uri="{FF2B5EF4-FFF2-40B4-BE49-F238E27FC236}">
                <a16:creationId xmlns:a16="http://schemas.microsoft.com/office/drawing/2014/main" id="{82F115A4-A0A4-7463-9E32-D2D6620DD405}"/>
              </a:ext>
            </a:extLst>
          </p:cNvPr>
          <p:cNvGrpSpPr/>
          <p:nvPr/>
        </p:nvGrpSpPr>
        <p:grpSpPr>
          <a:xfrm>
            <a:off x="4648622" y="3605968"/>
            <a:ext cx="499442" cy="247608"/>
            <a:chOff x="4648622" y="3181392"/>
            <a:chExt cx="499442" cy="247608"/>
          </a:xfrm>
        </p:grpSpPr>
        <p:sp>
          <p:nvSpPr>
            <p:cNvPr id="355" name="矩形 354">
              <a:extLst>
                <a:ext uri="{FF2B5EF4-FFF2-40B4-BE49-F238E27FC236}">
                  <a16:creationId xmlns:a16="http://schemas.microsoft.com/office/drawing/2014/main" id="{D1BE1B28-A0DE-7CDB-7938-F60BA3CC21F8}"/>
                </a:ext>
              </a:extLst>
            </p:cNvPr>
            <p:cNvSpPr/>
            <p:nvPr/>
          </p:nvSpPr>
          <p:spPr>
            <a:xfrm>
              <a:off x="4788024" y="3300594"/>
              <a:ext cx="360040" cy="128406"/>
            </a:xfrm>
            <a:prstGeom prst="rect">
              <a:avLst/>
            </a:prstGeom>
            <a:noFill/>
            <a:ln w="3175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200"/>
                </a:lnSpc>
              </a:pPr>
              <a:endParaRPr kumimoji="0" lang="en-US" altLang="zh-TW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endParaRPr>
            </a:p>
          </p:txBody>
        </p:sp>
        <p:sp>
          <p:nvSpPr>
            <p:cNvPr id="353" name="矩形 352">
              <a:extLst>
                <a:ext uri="{FF2B5EF4-FFF2-40B4-BE49-F238E27FC236}">
                  <a16:creationId xmlns:a16="http://schemas.microsoft.com/office/drawing/2014/main" id="{05F2B42F-45F0-D38D-1A71-B66F6E61569D}"/>
                </a:ext>
              </a:extLst>
            </p:cNvPr>
            <p:cNvSpPr/>
            <p:nvPr/>
          </p:nvSpPr>
          <p:spPr>
            <a:xfrm>
              <a:off x="4789926" y="3181392"/>
              <a:ext cx="358138" cy="119202"/>
            </a:xfrm>
            <a:prstGeom prst="rect">
              <a:avLst/>
            </a:prstGeom>
            <a:noFill/>
            <a:ln w="3175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200"/>
                </a:lnSpc>
              </a:pPr>
              <a:endParaRPr kumimoji="0" lang="en-US" altLang="zh-TW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endParaRPr>
            </a:p>
          </p:txBody>
        </p:sp>
        <p:sp>
          <p:nvSpPr>
            <p:cNvPr id="513" name="矩形 512">
              <a:extLst>
                <a:ext uri="{FF2B5EF4-FFF2-40B4-BE49-F238E27FC236}">
                  <a16:creationId xmlns:a16="http://schemas.microsoft.com/office/drawing/2014/main" id="{65F2EBF5-7322-0EF5-533C-66A32F123AD3}"/>
                </a:ext>
              </a:extLst>
            </p:cNvPr>
            <p:cNvSpPr/>
            <p:nvPr/>
          </p:nvSpPr>
          <p:spPr>
            <a:xfrm>
              <a:off x="4648622" y="3240992"/>
              <a:ext cx="427434" cy="123805"/>
            </a:xfrm>
            <a:prstGeom prst="rect">
              <a:avLst/>
            </a:prstGeom>
            <a:noFill/>
            <a:ln w="3175">
              <a:solidFill>
                <a:schemeClr val="tx1">
                  <a:lumMod val="85000"/>
                  <a:lumOff val="15000"/>
                </a:schemeClr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200"/>
                </a:lnSpc>
              </a:pPr>
              <a:r>
                <a:rPr kumimoji="0" lang="en-US" altLang="zh-TW" sz="10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token</a:t>
              </a:r>
            </a:p>
          </p:txBody>
        </p:sp>
      </p:grpSp>
      <p:sp>
        <p:nvSpPr>
          <p:cNvPr id="6" name="右大括弧 5">
            <a:extLst>
              <a:ext uri="{FF2B5EF4-FFF2-40B4-BE49-F238E27FC236}">
                <a16:creationId xmlns:a16="http://schemas.microsoft.com/office/drawing/2014/main" id="{9E7BBFE7-8CE2-0E13-D1DA-41B96806AD58}"/>
              </a:ext>
            </a:extLst>
          </p:cNvPr>
          <p:cNvSpPr/>
          <p:nvPr/>
        </p:nvSpPr>
        <p:spPr>
          <a:xfrm rot="5400000">
            <a:off x="6865727" y="4375632"/>
            <a:ext cx="92783" cy="2519999"/>
          </a:xfrm>
          <a:prstGeom prst="rightBrac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CEBDAFB9-FF64-AF0E-65A2-88DBF5A1232D}"/>
              </a:ext>
            </a:extLst>
          </p:cNvPr>
          <p:cNvSpPr txBox="1"/>
          <p:nvPr/>
        </p:nvSpPr>
        <p:spPr>
          <a:xfrm>
            <a:off x="6712434" y="5620158"/>
            <a:ext cx="247476" cy="22619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20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29307279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A7115C8-56FB-C1E8-48CB-42F4B251C3ED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568952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Code Intelligence Benchmarking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Gemma 4 sets a new efficiency standard by delivering flagship-level intelligence on edge devices.</a:t>
            </a: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8A44451E-FF02-AF4A-2290-C616F7E886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6098217"/>
              </p:ext>
            </p:extLst>
          </p:nvPr>
        </p:nvGraphicFramePr>
        <p:xfrm>
          <a:off x="683568" y="1317641"/>
          <a:ext cx="7560839" cy="49684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5757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1414443">
                  <a:extLst>
                    <a:ext uri="{9D8B030D-6E8A-4147-A177-3AD203B41FA5}">
                      <a16:colId xmlns:a16="http://schemas.microsoft.com/office/drawing/2014/main" val="401334077"/>
                    </a:ext>
                  </a:extLst>
                </a:gridCol>
                <a:gridCol w="1008112">
                  <a:extLst>
                    <a:ext uri="{9D8B030D-6E8A-4147-A177-3AD203B41FA5}">
                      <a16:colId xmlns:a16="http://schemas.microsoft.com/office/drawing/2014/main" val="3431692166"/>
                    </a:ext>
                  </a:extLst>
                </a:gridCol>
                <a:gridCol w="1008112">
                  <a:extLst>
                    <a:ext uri="{9D8B030D-6E8A-4147-A177-3AD203B41FA5}">
                      <a16:colId xmlns:a16="http://schemas.microsoft.com/office/drawing/2014/main" val="768901619"/>
                    </a:ext>
                  </a:extLst>
                </a:gridCol>
                <a:gridCol w="1321184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242323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20084">
                <a:tc>
                  <a:txBody>
                    <a:bodyPr/>
                    <a:lstStyle/>
                    <a:p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Models</a:t>
                      </a:r>
                    </a:p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Name</a:t>
                      </a:r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Parameter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(active/total)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Context</a:t>
                      </a:r>
                      <a:b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</a:b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(tokens)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LiveCodeBench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(Pass@1)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Description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(Requirement)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20084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Gemini 3 Pro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Preview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Cloud-based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Closed source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96.2%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zh-TW" sz="1100" b="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目前最強的雲端閉源模型之一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99841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Gemini 3.5 Flash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95.5%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zh-TW" sz="1100" b="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高速推理的頂級代表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99841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Gemma 4 26B A4B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3.8B/25.2B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256k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94.8%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開源模型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,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極省電 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(24GB VRAM)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299841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GPT-5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93.5%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OpenAI 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的主力旗艦模型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5*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 o3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91.9%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具備深度思考推理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(Reasoning)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能力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 o4-mini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90.7%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輕量化推理模型的代表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013170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DeepSeek V3.2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51B/685B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89.6%~73%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MoE, Local open source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8966719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Gemma 4 31B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31B/31B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256k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88.9%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Dense 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旗艦模型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18975361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Claude Fable 5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89.7%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Anthropic premium Agent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6205179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10*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 o1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87.1%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雲端 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API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：本地無硬體要求，經典初代大文本思考模型。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3407724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11*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Claude Opus 4.5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87.1%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深度邏輯強悍但 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API 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成本較高。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138396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Claude 3.5 Sonnet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83.3%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雲端 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API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：本地無硬體要求，企業最愛用的長青高性價比模型。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2432676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13_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DeepSeek V3.1 Terminus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37B/671B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79.8%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超大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MoE (160GB+VRAM)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4905601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14_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 3 Nemotron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49B/49B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73.7%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Dense, 48GB VRAM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04574766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15_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 4 Maverick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~70B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10M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~72.0%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Dense, 48GB VRAM x 2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850355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84705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9" name="表格 108">
            <a:extLst>
              <a:ext uri="{FF2B5EF4-FFF2-40B4-BE49-F238E27FC236}">
                <a16:creationId xmlns:a16="http://schemas.microsoft.com/office/drawing/2014/main" id="{21D0682F-D0D5-3FEB-FA02-4B5EAE7E36D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91995762"/>
              </p:ext>
            </p:extLst>
          </p:nvPr>
        </p:nvGraphicFramePr>
        <p:xfrm>
          <a:off x="2334256" y="4034730"/>
          <a:ext cx="1432386" cy="2050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2386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</a:tblGrid>
              <a:tr h="1227041"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Fine-Tunning</a:t>
                      </a:r>
                    </a:p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Environment</a:t>
                      </a:r>
                    </a:p>
                  </a:txBody>
                  <a:tcPr marL="0" marR="72000" marT="0" marB="72000" anchor="b">
                    <a:lnL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507786"/>
                  </a:ext>
                </a:extLst>
              </a:tr>
              <a:tr h="82299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GPU</a:t>
                      </a: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8831162"/>
                  </a:ext>
                </a:extLst>
              </a:tr>
            </a:tbl>
          </a:graphicData>
        </a:graphic>
      </p:graphicFrame>
      <p:sp>
        <p:nvSpPr>
          <p:cNvPr id="3" name="文字方塊 2">
            <a:extLst>
              <a:ext uri="{FF2B5EF4-FFF2-40B4-BE49-F238E27FC236}">
                <a16:creationId xmlns:a16="http://schemas.microsoft.com/office/drawing/2014/main" id="{F014465A-7992-6D2B-0ED2-2EFC285D37EC}"/>
              </a:ext>
            </a:extLst>
          </p:cNvPr>
          <p:cNvSpPr txBox="1"/>
          <p:nvPr/>
        </p:nvSpPr>
        <p:spPr>
          <a:xfrm>
            <a:off x="213023" y="1052736"/>
            <a:ext cx="8751465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Buildup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Fine-Tuning Solution</a:t>
            </a:r>
            <a:r>
              <a:rPr lang="en-US" altLang="zh-TW" sz="1600" b="0" u="none" strike="noStrike" dirty="0">
                <a:effectLst/>
              </a:rPr>
              <a:t>:</a:t>
            </a:r>
            <a:r>
              <a:rPr lang="zh-TW" altLang="en-US" sz="1600" b="0" u="none" strike="noStrike" dirty="0">
                <a:effectLst/>
              </a:rPr>
              <a:t> </a:t>
            </a:r>
            <a:r>
              <a:rPr lang="en-US" altLang="zh-TW" sz="1600" b="0" u="none" strike="noStrike" dirty="0">
                <a:effectLst/>
              </a:rPr>
              <a:t>Support QLoRA</a:t>
            </a:r>
            <a:r>
              <a:rPr lang="en-US" altLang="zh-TW" sz="1600" dirty="0"/>
              <a:t>. (Unsloth,</a:t>
            </a:r>
            <a:r>
              <a:rPr lang="zh-TW" altLang="en-US" sz="1600" dirty="0"/>
              <a:t> </a:t>
            </a:r>
            <a:r>
              <a:rPr lang="en-US" altLang="zh-TW" sz="1600" dirty="0"/>
              <a:t>Hugging Face TRL)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Model Engine</a:t>
            </a:r>
            <a:r>
              <a:rPr lang="en-US" altLang="zh-TW" sz="1600" dirty="0"/>
              <a:t>: Freeze base weight. ( llama, Gemma 4)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Agent</a:t>
            </a:r>
            <a:r>
              <a:rPr lang="en-US" altLang="zh-TW" sz="1600" dirty="0"/>
              <a:t>:</a:t>
            </a:r>
            <a:r>
              <a:rPr lang="zh-TW" altLang="en-US" sz="1600" dirty="0"/>
              <a:t> </a:t>
            </a:r>
            <a:r>
              <a:rPr lang="en-US" altLang="zh-TW" sz="1600" dirty="0"/>
              <a:t>OpenClaw and bio-python library.</a:t>
            </a:r>
          </a:p>
        </p:txBody>
      </p:sp>
      <p:sp>
        <p:nvSpPr>
          <p:cNvPr id="5" name="標題 1">
            <a:extLst>
              <a:ext uri="{FF2B5EF4-FFF2-40B4-BE49-F238E27FC236}">
                <a16:creationId xmlns:a16="http://schemas.microsoft.com/office/drawing/2014/main" id="{A6861017-B894-8BC1-F162-75F3B0AC580D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85698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Building the Bio-IT AI</a:t>
            </a:r>
            <a:r>
              <a:rPr lang="zh-TW" altLang="en-US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 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Agent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AI agents will collaborate with Summit Spatial sequencers to complete tasks.</a:t>
            </a:r>
          </a:p>
        </p:txBody>
      </p:sp>
      <p:graphicFrame>
        <p:nvGraphicFramePr>
          <p:cNvPr id="20" name="表格 19">
            <a:extLst>
              <a:ext uri="{FF2B5EF4-FFF2-40B4-BE49-F238E27FC236}">
                <a16:creationId xmlns:a16="http://schemas.microsoft.com/office/drawing/2014/main" id="{45B540ED-60EE-58A7-8070-E5C33AF10E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24432599"/>
              </p:ext>
            </p:extLst>
          </p:nvPr>
        </p:nvGraphicFramePr>
        <p:xfrm>
          <a:off x="4826419" y="4019587"/>
          <a:ext cx="1217339" cy="205004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17339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</a:tblGrid>
              <a:tr h="429442"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72000" marT="0" marB="36000" anchor="b">
                    <a:lnL w="28575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507786"/>
                  </a:ext>
                </a:extLst>
              </a:tr>
              <a:tr h="794709"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Inference</a:t>
                      </a:r>
                    </a:p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Environment</a:t>
                      </a:r>
                    </a:p>
                  </a:txBody>
                  <a:tcPr marL="0" marR="72000" marT="0" marB="72000" anchor="b">
                    <a:lnL w="28575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38426438"/>
                  </a:ext>
                </a:extLst>
              </a:tr>
              <a:tr h="82589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PC/NB</a:t>
                      </a: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lumMod val="95000"/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02830567"/>
                  </a:ext>
                </a:extLst>
              </a:tr>
            </a:tbl>
          </a:graphicData>
        </a:graphic>
      </p:graphicFrame>
      <p:pic>
        <p:nvPicPr>
          <p:cNvPr id="4" name="圖片 3">
            <a:extLst>
              <a:ext uri="{FF2B5EF4-FFF2-40B4-BE49-F238E27FC236}">
                <a16:creationId xmlns:a16="http://schemas.microsoft.com/office/drawing/2014/main" id="{F9EE3A7A-38B4-D1E9-5799-C8A7D35B97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4451" y="3845698"/>
            <a:ext cx="432048" cy="432048"/>
          </a:xfrm>
          <a:prstGeom prst="rect">
            <a:avLst/>
          </a:prstGeom>
          <a:effectLst>
            <a:glow rad="25400">
              <a:schemeClr val="accent1">
                <a:lumMod val="20000"/>
                <a:lumOff val="80000"/>
                <a:alpha val="40000"/>
              </a:schemeClr>
            </a:glow>
            <a:softEdge rad="50800"/>
          </a:effectLst>
        </p:spPr>
      </p:pic>
      <p:cxnSp>
        <p:nvCxnSpPr>
          <p:cNvPr id="42" name="接點: 肘形 41">
            <a:extLst>
              <a:ext uri="{FF2B5EF4-FFF2-40B4-BE49-F238E27FC236}">
                <a16:creationId xmlns:a16="http://schemas.microsoft.com/office/drawing/2014/main" id="{FC7173A3-FD52-3361-7E1C-CBD7A5EB8814}"/>
              </a:ext>
            </a:extLst>
          </p:cNvPr>
          <p:cNvCxnSpPr>
            <a:cxnSpLocks/>
            <a:stCxn id="8" idx="2"/>
            <a:endCxn id="46" idx="1"/>
          </p:cNvCxnSpPr>
          <p:nvPr/>
        </p:nvCxnSpPr>
        <p:spPr>
          <a:xfrm rot="16200000" flipH="1">
            <a:off x="3519681" y="3964968"/>
            <a:ext cx="262708" cy="1206994"/>
          </a:xfrm>
          <a:prstGeom prst="bentConnector2">
            <a:avLst/>
          </a:prstGeom>
          <a:ln w="50800">
            <a:solidFill>
              <a:schemeClr val="bg1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矩形 45">
            <a:extLst>
              <a:ext uri="{FF2B5EF4-FFF2-40B4-BE49-F238E27FC236}">
                <a16:creationId xmlns:a16="http://schemas.microsoft.com/office/drawing/2014/main" id="{063E6162-D5C9-01FE-BA92-C6CBDE280172}"/>
              </a:ext>
            </a:extLst>
          </p:cNvPr>
          <p:cNvSpPr/>
          <p:nvPr/>
        </p:nvSpPr>
        <p:spPr>
          <a:xfrm>
            <a:off x="4254532" y="4545827"/>
            <a:ext cx="859919" cy="307983"/>
          </a:xfrm>
          <a:prstGeom prst="rect">
            <a:avLst/>
          </a:prstGeom>
          <a:solidFill>
            <a:schemeClr val="accent1">
              <a:lumMod val="20000"/>
              <a:lumOff val="80000"/>
              <a:alpha val="40000"/>
            </a:schemeClr>
          </a:solidFill>
          <a:ln w="38100">
            <a:solidFill>
              <a:schemeClr val="tx2">
                <a:lumMod val="60000"/>
                <a:lumOff val="40000"/>
                <a:alpha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b="1" dirty="0">
                <a:solidFill>
                  <a:schemeClr val="tx2"/>
                </a:solidFill>
              </a:rPr>
              <a:t>Gemma 4</a:t>
            </a:r>
            <a:endParaRPr lang="zh-TW" altLang="en-US" dirty="0"/>
          </a:p>
        </p:txBody>
      </p:sp>
      <p:grpSp>
        <p:nvGrpSpPr>
          <p:cNvPr id="37" name="群組 36">
            <a:extLst>
              <a:ext uri="{FF2B5EF4-FFF2-40B4-BE49-F238E27FC236}">
                <a16:creationId xmlns:a16="http://schemas.microsoft.com/office/drawing/2014/main" id="{AD71FA00-73CF-96E2-DB9D-29D266518612}"/>
              </a:ext>
            </a:extLst>
          </p:cNvPr>
          <p:cNvGrpSpPr/>
          <p:nvPr/>
        </p:nvGrpSpPr>
        <p:grpSpPr>
          <a:xfrm>
            <a:off x="4484767" y="4781802"/>
            <a:ext cx="396274" cy="465099"/>
            <a:chOff x="283951" y="1194723"/>
            <a:chExt cx="487696" cy="626385"/>
          </a:xfrm>
          <a:effectLst>
            <a:glow rad="76200">
              <a:schemeClr val="accent1">
                <a:lumMod val="20000"/>
                <a:lumOff val="80000"/>
                <a:alpha val="20000"/>
              </a:schemeClr>
            </a:glow>
          </a:effectLst>
        </p:grpSpPr>
        <p:sp>
          <p:nvSpPr>
            <p:cNvPr id="38" name="文字方塊 37">
              <a:extLst>
                <a:ext uri="{FF2B5EF4-FFF2-40B4-BE49-F238E27FC236}">
                  <a16:creationId xmlns:a16="http://schemas.microsoft.com/office/drawing/2014/main" id="{DBE13760-C824-72A8-0F6C-52D418E9F327}"/>
                </a:ext>
              </a:extLst>
            </p:cNvPr>
            <p:cNvSpPr txBox="1"/>
            <p:nvPr/>
          </p:nvSpPr>
          <p:spPr>
            <a:xfrm>
              <a:off x="283951" y="1573740"/>
              <a:ext cx="487696" cy="247368"/>
            </a:xfrm>
            <a:prstGeom prst="rect">
              <a:avLst/>
            </a:prstGeom>
            <a:solidFill>
              <a:schemeClr val="bg1">
                <a:lumMod val="95000"/>
                <a:alpha val="40000"/>
              </a:schemeClr>
            </a:solidFill>
            <a:ln>
              <a:noFill/>
            </a:ln>
            <a:effectLst>
              <a:glow rad="25400">
                <a:schemeClr val="bg1">
                  <a:lumMod val="95000"/>
                  <a:alpha val="40000"/>
                </a:schemeClr>
              </a:glow>
              <a:softEdge rad="50800"/>
            </a:effectLst>
          </p:spPr>
          <p:txBody>
            <a:bodyPr wrap="none" lIns="0" tIns="0" rIns="0" bIns="0" anchor="ctr" anchorCtr="1">
              <a:noAutofit/>
            </a:bodyPr>
            <a:lstStyle/>
            <a:p>
              <a:r>
                <a:rPr lang="en-US" altLang="zh-TW" sz="1200" dirty="0">
                  <a:ln w="0"/>
                  <a:solidFill>
                    <a:schemeClr val="accent1">
                      <a:lumMod val="75000"/>
                    </a:schemeClr>
                  </a:solidFill>
                  <a:latin typeface="Calibri"/>
                  <a:ea typeface="新細明體" panose="02020500000000000000" pitchFamily="18" charset="-120"/>
                </a:rPr>
                <a:t>O</a:t>
              </a:r>
              <a:r>
                <a:rPr lang="en-US" altLang="zh-TW" sz="1200" dirty="0">
                  <a:ln w="0"/>
                  <a:solidFill>
                    <a:schemeClr val="tx1">
                      <a:lumMod val="95000"/>
                      <a:lumOff val="5000"/>
                    </a:schemeClr>
                  </a:solidFill>
                  <a:latin typeface="Calibri"/>
                  <a:ea typeface="新細明體" panose="02020500000000000000" pitchFamily="18" charset="-120"/>
                </a:rPr>
                <a:t>llama</a:t>
              </a:r>
            </a:p>
          </p:txBody>
        </p:sp>
        <p:pic>
          <p:nvPicPr>
            <p:cNvPr id="39" name="圖片 38">
              <a:extLst>
                <a:ext uri="{FF2B5EF4-FFF2-40B4-BE49-F238E27FC236}">
                  <a16:creationId xmlns:a16="http://schemas.microsoft.com/office/drawing/2014/main" id="{BDD586E3-E3B0-BBF3-6C2C-F304D5C0DCF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55960" y="1194723"/>
              <a:ext cx="337951" cy="390669"/>
            </a:xfrm>
            <a:prstGeom prst="rect">
              <a:avLst/>
            </a:prstGeom>
            <a:solidFill>
              <a:schemeClr val="bg1">
                <a:alpha val="20000"/>
              </a:schemeClr>
            </a:solidFill>
            <a:effectLst>
              <a:glow rad="76200">
                <a:schemeClr val="accent1">
                  <a:lumMod val="20000"/>
                  <a:lumOff val="80000"/>
                  <a:alpha val="40000"/>
                </a:schemeClr>
              </a:glow>
              <a:softEdge rad="25400"/>
            </a:effectLst>
          </p:spPr>
        </p:pic>
      </p:grpSp>
      <p:sp>
        <p:nvSpPr>
          <p:cNvPr id="51" name="矩形 50">
            <a:extLst>
              <a:ext uri="{FF2B5EF4-FFF2-40B4-BE49-F238E27FC236}">
                <a16:creationId xmlns:a16="http://schemas.microsoft.com/office/drawing/2014/main" id="{BD9F5FA8-DF10-F8FD-719D-E220A101592C}"/>
              </a:ext>
            </a:extLst>
          </p:cNvPr>
          <p:cNvSpPr/>
          <p:nvPr/>
        </p:nvSpPr>
        <p:spPr>
          <a:xfrm>
            <a:off x="6350708" y="3880539"/>
            <a:ext cx="534601" cy="397207"/>
          </a:xfrm>
          <a:prstGeom prst="rect">
            <a:avLst/>
          </a:prstGeom>
          <a:solidFill>
            <a:schemeClr val="accent4">
              <a:lumMod val="20000"/>
              <a:lumOff val="80000"/>
              <a:alpha val="80000"/>
            </a:schemeClr>
          </a:solidFill>
          <a:ln w="38100">
            <a:solidFill>
              <a:schemeClr val="accent3">
                <a:alpha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200"/>
              </a:lnSpc>
            </a:pPr>
            <a:r>
              <a:rPr lang="en-US" altLang="zh-TW" sz="1200" dirty="0">
                <a:solidFill>
                  <a:schemeClr val="accent4">
                    <a:lumMod val="75000"/>
                  </a:schemeClr>
                </a:solidFill>
              </a:rPr>
              <a:t>Bio-</a:t>
            </a:r>
          </a:p>
          <a:p>
            <a:pPr algn="ctr">
              <a:lnSpc>
                <a:spcPts val="1200"/>
              </a:lnSpc>
            </a:pPr>
            <a:r>
              <a:rPr lang="en-US" altLang="zh-TW" sz="1200" dirty="0">
                <a:solidFill>
                  <a:schemeClr val="accent4">
                    <a:lumMod val="75000"/>
                  </a:schemeClr>
                </a:solidFill>
              </a:rPr>
              <a:t>Python</a:t>
            </a:r>
            <a:endParaRPr lang="zh-TW" altLang="en-US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61" name="文字方塊 60">
            <a:extLst>
              <a:ext uri="{FF2B5EF4-FFF2-40B4-BE49-F238E27FC236}">
                <a16:creationId xmlns:a16="http://schemas.microsoft.com/office/drawing/2014/main" id="{67F5AA83-B63F-1EB5-698E-7FFF4D222A30}"/>
              </a:ext>
            </a:extLst>
          </p:cNvPr>
          <p:cNvSpPr txBox="1"/>
          <p:nvPr/>
        </p:nvSpPr>
        <p:spPr>
          <a:xfrm>
            <a:off x="5010741" y="2981602"/>
            <a:ext cx="646161" cy="28470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2000"/>
              </a:lnSpc>
              <a:buNone/>
            </a:pPr>
            <a:r>
              <a:rPr lang="en-US" altLang="zh-TW" sz="2000" b="1" u="none" strike="noStrike" dirty="0">
                <a:effectLst/>
              </a:rPr>
              <a:t>User</a:t>
            </a:r>
          </a:p>
        </p:txBody>
      </p:sp>
      <p:cxnSp>
        <p:nvCxnSpPr>
          <p:cNvPr id="62" name="直線單箭頭接點 61">
            <a:extLst>
              <a:ext uri="{FF2B5EF4-FFF2-40B4-BE49-F238E27FC236}">
                <a16:creationId xmlns:a16="http://schemas.microsoft.com/office/drawing/2014/main" id="{A496B558-57D1-8B0F-DD92-B32AFC3E6647}"/>
              </a:ext>
            </a:extLst>
          </p:cNvPr>
          <p:cNvCxnSpPr>
            <a:cxnSpLocks/>
            <a:stCxn id="61" idx="2"/>
            <a:endCxn id="4" idx="0"/>
          </p:cNvCxnSpPr>
          <p:nvPr/>
        </p:nvCxnSpPr>
        <p:spPr>
          <a:xfrm flipH="1">
            <a:off x="5330475" y="3266305"/>
            <a:ext cx="3347" cy="579393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直線單箭頭接點 100">
            <a:extLst>
              <a:ext uri="{FF2B5EF4-FFF2-40B4-BE49-F238E27FC236}">
                <a16:creationId xmlns:a16="http://schemas.microsoft.com/office/drawing/2014/main" id="{DA424801-F801-7754-6900-FA56043A9135}"/>
              </a:ext>
            </a:extLst>
          </p:cNvPr>
          <p:cNvCxnSpPr>
            <a:cxnSpLocks/>
            <a:stCxn id="4" idx="3"/>
            <a:endCxn id="122" idx="0"/>
          </p:cNvCxnSpPr>
          <p:nvPr/>
        </p:nvCxnSpPr>
        <p:spPr>
          <a:xfrm flipV="1">
            <a:off x="5546499" y="4061721"/>
            <a:ext cx="390288" cy="1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" name="箭號: 向下 121">
            <a:extLst>
              <a:ext uri="{FF2B5EF4-FFF2-40B4-BE49-F238E27FC236}">
                <a16:creationId xmlns:a16="http://schemas.microsoft.com/office/drawing/2014/main" id="{33B733D2-7161-33F4-79FD-E649F748C48C}"/>
              </a:ext>
            </a:extLst>
          </p:cNvPr>
          <p:cNvSpPr/>
          <p:nvPr/>
        </p:nvSpPr>
        <p:spPr>
          <a:xfrm rot="16200000">
            <a:off x="6003799" y="3831784"/>
            <a:ext cx="325849" cy="459874"/>
          </a:xfrm>
          <a:prstGeom prst="downArrow">
            <a:avLst>
              <a:gd name="adj1" fmla="val 62892"/>
              <a:gd name="adj2" fmla="val 52184"/>
            </a:avLst>
          </a:prstGeom>
          <a:solidFill>
            <a:schemeClr val="accent4">
              <a:lumMod val="20000"/>
              <a:lumOff val="80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wrap="none" lIns="0" tIns="72000" rIns="0" bIns="0" rtlCol="0" anchor="ctr" anchorCtr="1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123" name="接點: 肘形 122">
            <a:extLst>
              <a:ext uri="{FF2B5EF4-FFF2-40B4-BE49-F238E27FC236}">
                <a16:creationId xmlns:a16="http://schemas.microsoft.com/office/drawing/2014/main" id="{86FF8C34-7087-86E9-F333-164B1E3A395E}"/>
              </a:ext>
            </a:extLst>
          </p:cNvPr>
          <p:cNvCxnSpPr>
            <a:cxnSpLocks/>
            <a:stCxn id="4" idx="2"/>
            <a:endCxn id="46" idx="3"/>
          </p:cNvCxnSpPr>
          <p:nvPr/>
        </p:nvCxnSpPr>
        <p:spPr>
          <a:xfrm rot="5400000">
            <a:off x="5011427" y="4380770"/>
            <a:ext cx="422073" cy="216024"/>
          </a:xfrm>
          <a:prstGeom prst="bentConnector2">
            <a:avLst/>
          </a:prstGeom>
          <a:ln w="25400">
            <a:solidFill>
              <a:schemeClr val="accent1">
                <a:lumMod val="75000"/>
              </a:schemeClr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語音泡泡: 圓角矩形 11">
            <a:extLst>
              <a:ext uri="{FF2B5EF4-FFF2-40B4-BE49-F238E27FC236}">
                <a16:creationId xmlns:a16="http://schemas.microsoft.com/office/drawing/2014/main" id="{805C6CFD-1267-A5F6-F337-D02B15A18DC9}"/>
              </a:ext>
            </a:extLst>
          </p:cNvPr>
          <p:cNvSpPr/>
          <p:nvPr/>
        </p:nvSpPr>
        <p:spPr>
          <a:xfrm>
            <a:off x="5690515" y="2864864"/>
            <a:ext cx="1329757" cy="636144"/>
          </a:xfrm>
          <a:prstGeom prst="wedgeRoundRectCallout">
            <a:avLst>
              <a:gd name="adj1" fmla="val -68885"/>
              <a:gd name="adj2" fmla="val 585"/>
              <a:gd name="adj3" fmla="val 16667"/>
            </a:avLst>
          </a:prstGeom>
          <a:solidFill>
            <a:schemeClr val="bg1">
              <a:alpha val="80000"/>
            </a:schemeClr>
          </a:solidFill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Dr. BioByte, 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Please interpret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My </a:t>
            </a: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gut biopsy.</a:t>
            </a:r>
            <a:endParaRPr lang="en-US" altLang="zh-TW" sz="1200" dirty="0">
              <a:ln w="0"/>
              <a:solidFill>
                <a:srgbClr val="4F81BD">
                  <a:lumMod val="75000"/>
                </a:srgbClr>
              </a:solidFill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</p:txBody>
      </p:sp>
      <p:sp>
        <p:nvSpPr>
          <p:cNvPr id="15" name="語音泡泡: 圓角矩形 14">
            <a:extLst>
              <a:ext uri="{FF2B5EF4-FFF2-40B4-BE49-F238E27FC236}">
                <a16:creationId xmlns:a16="http://schemas.microsoft.com/office/drawing/2014/main" id="{7646EECD-3620-7195-6E62-42B29BED12D2}"/>
              </a:ext>
            </a:extLst>
          </p:cNvPr>
          <p:cNvSpPr/>
          <p:nvPr/>
        </p:nvSpPr>
        <p:spPr>
          <a:xfrm>
            <a:off x="3895382" y="3269634"/>
            <a:ext cx="1219070" cy="610905"/>
          </a:xfrm>
          <a:prstGeom prst="wedgeRoundRectCallout">
            <a:avLst>
              <a:gd name="adj1" fmla="val 59020"/>
              <a:gd name="adj2" fmla="val 57509"/>
              <a:gd name="adj3" fmla="val 16667"/>
            </a:avLst>
          </a:prstGeom>
          <a:solidFill>
            <a:schemeClr val="bg1">
              <a:alpha val="80000"/>
            </a:schemeClr>
          </a:solidFill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Terrible, </a:t>
            </a:r>
            <a:b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</a:b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Zero fast food.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Eat real grass.</a:t>
            </a:r>
            <a:endParaRPr lang="en-US" altLang="zh-TW" sz="1200" dirty="0">
              <a:ln w="0"/>
              <a:solidFill>
                <a:srgbClr val="4F81BD">
                  <a:lumMod val="75000"/>
                </a:srgbClr>
              </a:solidFill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6BEE719D-AA9B-D04C-EC5E-E63F70E1E42A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1514" y="4005064"/>
            <a:ext cx="432048" cy="432047"/>
          </a:xfrm>
          <a:prstGeom prst="rect">
            <a:avLst/>
          </a:prstGeom>
          <a:effectLst>
            <a:glow rad="76200">
              <a:srgbClr val="00B050">
                <a:alpha val="40000"/>
              </a:srgbClr>
            </a:glow>
          </a:effectLst>
        </p:spPr>
      </p:pic>
      <p:sp>
        <p:nvSpPr>
          <p:cNvPr id="114" name="文字方塊 113">
            <a:extLst>
              <a:ext uri="{FF2B5EF4-FFF2-40B4-BE49-F238E27FC236}">
                <a16:creationId xmlns:a16="http://schemas.microsoft.com/office/drawing/2014/main" id="{A157AB89-C11C-9FF7-93B3-94697A292BC9}"/>
              </a:ext>
            </a:extLst>
          </p:cNvPr>
          <p:cNvSpPr txBox="1"/>
          <p:nvPr/>
        </p:nvSpPr>
        <p:spPr>
          <a:xfrm>
            <a:off x="2843808" y="4477776"/>
            <a:ext cx="432048" cy="247368"/>
          </a:xfrm>
          <a:prstGeom prst="rect">
            <a:avLst/>
          </a:prstGeom>
          <a:solidFill>
            <a:schemeClr val="bg1">
              <a:lumMod val="95000"/>
              <a:alpha val="40000"/>
            </a:schemeClr>
          </a:solidFill>
          <a:ln>
            <a:noFill/>
          </a:ln>
          <a:effectLst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200" dirty="0">
                <a:ln w="0"/>
                <a:latin typeface="Calibri"/>
                <a:ea typeface="新細明體" panose="02020500000000000000" pitchFamily="18" charset="-120"/>
              </a:rPr>
              <a:t>Unsloth</a:t>
            </a:r>
            <a:endParaRPr lang="en-US" altLang="zh-TW" sz="1200" dirty="0">
              <a:ln w="0"/>
              <a:solidFill>
                <a:schemeClr val="tx1">
                  <a:lumMod val="95000"/>
                  <a:lumOff val="5000"/>
                </a:schemeClr>
              </a:solidFill>
              <a:latin typeface="Calibri"/>
              <a:ea typeface="新細明體" panose="02020500000000000000" pitchFamily="18" charset="-120"/>
            </a:endParaRPr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65702545-0EF5-72BF-9149-DBDB7D6270A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02102" y="4811708"/>
            <a:ext cx="411308" cy="386908"/>
          </a:xfrm>
          <a:prstGeom prst="rect">
            <a:avLst/>
          </a:prstGeom>
          <a:effectLst>
            <a:glow rad="76200">
              <a:schemeClr val="accent6">
                <a:lumMod val="20000"/>
                <a:lumOff val="80000"/>
              </a:schemeClr>
            </a:glow>
            <a:softEdge rad="50800"/>
          </a:effectLst>
        </p:spPr>
      </p:pic>
    </p:spTree>
    <p:extLst>
      <p:ext uri="{BB962C8B-B14F-4D97-AF65-F5344CB8AC3E}">
        <p14:creationId xmlns:p14="http://schemas.microsoft.com/office/powerpoint/2010/main" val="12455514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5C2FA1-D71C-1571-5DF7-FBBBA4385E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字方塊 5">
            <a:extLst>
              <a:ext uri="{FF2B5EF4-FFF2-40B4-BE49-F238E27FC236}">
                <a16:creationId xmlns:a16="http://schemas.microsoft.com/office/drawing/2014/main" id="{18753B56-4876-526F-D548-E446B615A4E6}"/>
              </a:ext>
            </a:extLst>
          </p:cNvPr>
          <p:cNvSpPr txBox="1"/>
          <p:nvPr/>
        </p:nvSpPr>
        <p:spPr>
          <a:xfrm>
            <a:off x="179512" y="1196752"/>
            <a:ext cx="4824536" cy="4267058"/>
          </a:xfrm>
          <a:prstGeom prst="rect">
            <a:avLst/>
          </a:prstGeom>
          <a:solidFill>
            <a:srgbClr val="EAEAEA"/>
          </a:solidFill>
        </p:spPr>
        <p:txBody>
          <a:bodyPr wrap="none">
            <a:noAutofit/>
          </a:bodyPr>
          <a:lstStyle/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</a:t>
            </a:r>
            <a:r>
              <a:rPr lang="zh-TW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torch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</a:t>
            </a:r>
            <a:r>
              <a:rPr lang="zh-TW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unsloth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</a:t>
            </a:r>
            <a:r>
              <a:rPr lang="zh-TW" altLang="zh-TW" sz="1000" b="0" u="none" strike="noStrike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</a:t>
            </a:r>
            <a:r>
              <a:rPr lang="zh-TW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FastLanguageModel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</a:t>
            </a:r>
            <a:r>
              <a:rPr lang="zh-TW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transformers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</a:t>
            </a:r>
            <a:r>
              <a:rPr lang="zh-TW" altLang="zh-TW" sz="1000" b="0" u="none" strike="noStrike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</a:t>
            </a:r>
            <a:r>
              <a:rPr lang="zh-TW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TrainingArguments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</a:t>
            </a:r>
            <a:r>
              <a:rPr lang="zh-TW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trl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</a:t>
            </a:r>
            <a:r>
              <a:rPr lang="zh-TW" altLang="zh-TW" sz="1000" b="0" u="none" strike="noStrike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</a:t>
            </a:r>
            <a:r>
              <a:rPr lang="zh-TW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SFTTrainer</a:t>
            </a:r>
          </a:p>
          <a:p>
            <a:pPr marL="0" marR="0" rtl="0">
              <a:lnSpc>
                <a:spcPts val="1200"/>
              </a:lnSpc>
              <a:buNone/>
            </a:pPr>
            <a:endParaRPr lang="zh-TW" altLang="zh-TW" sz="1000" b="0" u="none" strike="noStrike" dirty="0">
              <a:effectLst/>
              <a:latin typeface="Consolas" panose="020B0609020204030204" pitchFamily="49" charset="0"/>
            </a:endParaRP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i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# 1. </a:t>
            </a:r>
            <a:r>
              <a:rPr lang="en-US" altLang="zh-TW" sz="1000" b="0" i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Load Initialized</a:t>
            </a:r>
            <a:r>
              <a:rPr lang="zh-TW" altLang="zh-TW" sz="1000" b="0" i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TW" sz="1000" b="0" i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Model and</a:t>
            </a:r>
            <a:r>
              <a:rPr lang="zh-TW" altLang="zh-TW" sz="1000" b="0" i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 Tokenizer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en-US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m</a:t>
            </a:r>
            <a:r>
              <a:rPr lang="zh-TW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ax_seq_length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= </a:t>
            </a:r>
            <a:r>
              <a:rPr lang="zh-TW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2048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# Context </a:t>
            </a:r>
            <a:r>
              <a:rPr lang="en-US" altLang="zh-TW" sz="1000" b="0" u="none" strike="noStrike" dirty="0">
                <a:effectLst/>
                <a:latin typeface="Consolas" panose="020B0609020204030204" pitchFamily="49" charset="0"/>
              </a:rPr>
              <a:t>Length</a:t>
            </a:r>
            <a:endParaRPr lang="zh-TW" altLang="zh-TW" sz="1000" b="0" u="none" strike="noStrike" dirty="0">
              <a:effectLst/>
              <a:latin typeface="Consolas" panose="020B0609020204030204" pitchFamily="49" charset="0"/>
            </a:endParaRPr>
          </a:p>
          <a:p>
            <a:pPr marL="0" marR="0" rtl="0">
              <a:lnSpc>
                <a:spcPts val="1200"/>
              </a:lnSpc>
              <a:buNone/>
            </a:pPr>
            <a:r>
              <a:rPr lang="en-US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model</a:t>
            </a:r>
            <a:r>
              <a:rPr lang="en-US" altLang="zh-TW" sz="1000" b="0" u="none" strike="noStrike" dirty="0">
                <a:effectLst/>
                <a:latin typeface="Consolas" panose="020B0609020204030204" pitchFamily="49" charset="0"/>
              </a:rPr>
              <a:t>, </a:t>
            </a:r>
            <a:r>
              <a:rPr lang="zh-TW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tokenizer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= FastLanguageModel.from_pretrained(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model_name=</a:t>
            </a:r>
            <a:r>
              <a:rPr lang="zh-TW" altLang="zh-TW" sz="1000" b="0" u="none" strike="noStrike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"unsloth/gemma-2-9b-it"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,  # </a:t>
            </a:r>
            <a:r>
              <a:rPr lang="en-US" altLang="zh-TW" sz="1000" b="0" u="none" strike="noStrike" dirty="0">
                <a:effectLst/>
                <a:latin typeface="Consolas" panose="020B0609020204030204" pitchFamily="49" charset="0"/>
              </a:rPr>
              <a:t>Init</a:t>
            </a:r>
            <a:endParaRPr lang="zh-TW" altLang="zh-TW" sz="1000" b="0" u="none" strike="noStrike" dirty="0">
              <a:effectLst/>
              <a:latin typeface="Consolas" panose="020B0609020204030204" pitchFamily="49" charset="0"/>
            </a:endParaRP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max_seq_length=max_seq_length,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load_in_4bit=</a:t>
            </a:r>
            <a:r>
              <a:rPr lang="zh-TW" altLang="zh-TW" sz="1000" b="0" u="none" strike="noStrike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,                   # 4-bit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)</a:t>
            </a:r>
          </a:p>
          <a:p>
            <a:pPr marL="0" marR="0" rtl="0">
              <a:lnSpc>
                <a:spcPts val="1200"/>
              </a:lnSpc>
              <a:buNone/>
            </a:pPr>
            <a:endParaRPr lang="zh-TW" altLang="zh-TW" sz="1000" b="0" u="none" strike="noStrike" dirty="0">
              <a:effectLst/>
              <a:latin typeface="Consolas" panose="020B0609020204030204" pitchFamily="49" charset="0"/>
            </a:endParaRP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i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# 2. </a:t>
            </a:r>
            <a:r>
              <a:rPr lang="en-US" altLang="zh-TW" sz="1000" b="0" i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Setup</a:t>
            </a:r>
            <a:r>
              <a:rPr lang="zh-TW" altLang="zh-TW" sz="1000" b="0" i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 Unsloth PEFT(QLoRA) 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model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= FastLanguageModel.get_peft_model(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model,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r=</a:t>
            </a:r>
            <a:r>
              <a:rPr lang="zh-TW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16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lora_alpha=</a:t>
            </a:r>
            <a:r>
              <a:rPr lang="zh-TW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16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target_modules=[</a:t>
            </a:r>
            <a:r>
              <a:rPr lang="zh-TW" altLang="zh-TW" sz="1000" b="0" u="none" strike="noStrike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"q_proj"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, </a:t>
            </a:r>
            <a:r>
              <a:rPr lang="zh-TW" altLang="zh-TW" sz="1000" b="0" u="none" strike="noStrike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"k_proj"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, </a:t>
            </a:r>
            <a:r>
              <a:rPr lang="zh-TW" altLang="zh-TW" sz="1000" b="0" u="none" strike="noStrike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"v_proj"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, </a:t>
            </a:r>
            <a:br>
              <a:rPr lang="en-US" altLang="zh-TW" sz="1000" b="0" u="none" strike="noStrike" dirty="0">
                <a:effectLst/>
                <a:latin typeface="Consolas" panose="020B0609020204030204" pitchFamily="49" charset="0"/>
              </a:rPr>
            </a:br>
            <a:r>
              <a:rPr lang="en-US" altLang="zh-TW" sz="1000" b="0" u="none" strike="noStrike" dirty="0">
                <a:effectLst/>
                <a:latin typeface="Consolas" panose="020B0609020204030204" pitchFamily="49" charset="0"/>
              </a:rPr>
              <a:t>	       </a:t>
            </a:r>
            <a:r>
              <a:rPr lang="zh-TW" altLang="zh-TW" sz="1000" b="0" u="none" strike="noStrike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"o_proj"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, </a:t>
            </a:r>
            <a:r>
              <a:rPr lang="zh-TW" altLang="zh-TW" sz="1000" b="0" u="none" strike="noStrike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"gate_proj"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, </a:t>
            </a:r>
            <a:r>
              <a:rPr lang="zh-TW" altLang="zh-TW" sz="1000" b="0" u="none" strike="noStrike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"up_proj"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, </a:t>
            </a:r>
            <a:r>
              <a:rPr lang="zh-TW" altLang="zh-TW" sz="1000" b="0" u="none" strike="noStrike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"down_proj"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],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lora_dropout=</a:t>
            </a:r>
            <a:r>
              <a:rPr lang="zh-TW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, # </a:t>
            </a:r>
            <a:r>
              <a:rPr lang="en-US" altLang="zh-TW" sz="1000" b="0" u="none" strike="noStrike" dirty="0">
                <a:effectLst/>
                <a:latin typeface="Consolas" panose="020B0609020204030204" pitchFamily="49" charset="0"/>
              </a:rPr>
              <a:t>Best performance</a:t>
            </a:r>
            <a:endParaRPr lang="zh-TW" altLang="zh-TW" sz="1000" b="0" u="none" strike="noStrike" dirty="0">
              <a:effectLst/>
              <a:latin typeface="Consolas" panose="020B0609020204030204" pitchFamily="49" charset="0"/>
            </a:endParaRP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bias=</a:t>
            </a:r>
            <a:r>
              <a:rPr lang="zh-TW" altLang="zh-TW" sz="1000" b="0" u="none" strike="noStrike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"none"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use_gradient_checkpointing=</a:t>
            </a:r>
            <a:r>
              <a:rPr lang="zh-TW" altLang="zh-TW" sz="1000" b="0" u="none" strike="noStrike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"unsloth"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, # </a:t>
            </a:r>
            <a:r>
              <a:rPr lang="en-US" altLang="zh-TW" sz="1000" b="0" u="none" strike="noStrike" dirty="0">
                <a:effectLst/>
                <a:latin typeface="Consolas" panose="020B0609020204030204" pitchFamily="49" charset="0"/>
              </a:rPr>
              <a:t>Ultra-low 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VRAM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random_state=</a:t>
            </a:r>
            <a:r>
              <a:rPr lang="zh-TW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3407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200"/>
              </a:lnSpc>
            </a:pPr>
            <a:endParaRPr lang="zh-TW" altLang="en-US" sz="1000" dirty="0">
              <a:latin typeface="Consolas" panose="020B0609020204030204" pitchFamily="49" charset="0"/>
            </a:endParaRP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18F3D1BD-FEA1-1267-FF02-F5C2BD90F822}"/>
              </a:ext>
            </a:extLst>
          </p:cNvPr>
          <p:cNvSpPr txBox="1"/>
          <p:nvPr/>
        </p:nvSpPr>
        <p:spPr>
          <a:xfrm>
            <a:off x="5076056" y="1196752"/>
            <a:ext cx="3288080" cy="4267058"/>
          </a:xfrm>
          <a:prstGeom prst="rect">
            <a:avLst/>
          </a:prstGeom>
          <a:solidFill>
            <a:srgbClr val="EAEAEA"/>
          </a:solidFill>
        </p:spPr>
        <p:txBody>
          <a:bodyPr wrap="none">
            <a:noAutofit/>
          </a:bodyPr>
          <a:lstStyle/>
          <a:p>
            <a:pPr marL="0" marR="0" rtl="0">
              <a:lnSpc>
                <a:spcPts val="1200"/>
              </a:lnSpc>
              <a:buNone/>
            </a:pPr>
            <a:endParaRPr lang="en-US" altLang="zh-TW" sz="1000" b="0" u="none" strike="noStrike" dirty="0">
              <a:effectLst/>
              <a:latin typeface="Consolas" panose="020B0609020204030204" pitchFamily="49" charset="0"/>
            </a:endParaRP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i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# 3. </a:t>
            </a:r>
            <a:r>
              <a:rPr lang="en-US" altLang="zh-TW" sz="1000" b="0" i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Setup Unsloth Optimizer</a:t>
            </a:r>
            <a:endParaRPr lang="zh-TW" altLang="zh-TW" sz="1000" b="0" i="1" u="none" strike="noStrike" dirty="0">
              <a:solidFill>
                <a:schemeClr val="bg1">
                  <a:lumMod val="50000"/>
                </a:schemeClr>
              </a:solidFill>
              <a:effectLst/>
              <a:latin typeface="Consolas" panose="020B0609020204030204" pitchFamily="49" charset="0"/>
            </a:endParaRP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training_args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= TrainingArguments(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output_dir=</a:t>
            </a:r>
            <a:r>
              <a:rPr lang="zh-TW" altLang="zh-TW" sz="1000" b="0" u="none" strike="noStrike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"./gemma-unsloth-output"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per_device_train_batch_size=</a:t>
            </a:r>
            <a:r>
              <a:rPr lang="zh-TW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gradient_accumulation_steps=</a:t>
            </a:r>
            <a:r>
              <a:rPr lang="zh-TW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warmup_steps=</a:t>
            </a:r>
            <a:r>
              <a:rPr lang="zh-TW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max_steps=</a:t>
            </a:r>
            <a:r>
              <a:rPr lang="zh-TW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60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,</a:t>
            </a:r>
            <a:r>
              <a:rPr lang="en-US" altLang="zh-TW" sz="1000" dirty="0">
                <a:latin typeface="Consolas" panose="020B0609020204030204" pitchFamily="49" charset="0"/>
              </a:rPr>
              <a:t>	</a:t>
            </a:r>
            <a:endParaRPr lang="zh-TW" altLang="zh-TW" sz="1000" b="0" u="none" strike="noStrike" dirty="0">
              <a:effectLst/>
              <a:latin typeface="Consolas" panose="020B0609020204030204" pitchFamily="49" charset="0"/>
            </a:endParaRP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learning_rate=</a:t>
            </a:r>
            <a:r>
              <a:rPr lang="zh-TW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2e-4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fp16=</a:t>
            </a:r>
            <a:r>
              <a:rPr lang="zh-TW" altLang="zh-TW" sz="1000" b="0" u="none" strike="noStrike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not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torch.cuda.is_bf16_supported(),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bf16=torch.cuda.is_bf16_supported(),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logging_steps=</a:t>
            </a:r>
            <a:r>
              <a:rPr lang="zh-TW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optim=</a:t>
            </a:r>
            <a:r>
              <a:rPr lang="zh-TW" altLang="zh-TW" sz="1000" b="0" u="none" strike="noStrike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"adamw_8bit"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, 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)</a:t>
            </a:r>
          </a:p>
          <a:p>
            <a:pPr marL="0" marR="0" rtl="0">
              <a:lnSpc>
                <a:spcPts val="1200"/>
              </a:lnSpc>
              <a:buNone/>
            </a:pPr>
            <a:endParaRPr lang="en-US" altLang="zh-TW" sz="1000" b="0" u="none" strike="noStrike" dirty="0">
              <a:effectLst/>
              <a:latin typeface="Consolas" panose="020B0609020204030204" pitchFamily="49" charset="0"/>
            </a:endParaRPr>
          </a:p>
          <a:p>
            <a:pPr marL="0" marR="0" rtl="0">
              <a:lnSpc>
                <a:spcPts val="1200"/>
              </a:lnSpc>
              <a:buNone/>
            </a:pPr>
            <a:endParaRPr lang="zh-TW" altLang="zh-TW" sz="1000" b="0" u="none" strike="noStrike" dirty="0">
              <a:effectLst/>
              <a:latin typeface="Consolas" panose="020B0609020204030204" pitchFamily="49" charset="0"/>
            </a:endParaRP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i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# 4. </a:t>
            </a:r>
            <a:r>
              <a:rPr lang="en-US" altLang="zh-TW" sz="1000" b="0" i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Start Training</a:t>
            </a:r>
            <a:endParaRPr lang="zh-TW" altLang="zh-TW" sz="1000" b="0" i="1" u="none" strike="noStrike" dirty="0">
              <a:solidFill>
                <a:schemeClr val="bg1">
                  <a:lumMod val="50000"/>
                </a:schemeClr>
              </a:solidFill>
              <a:effectLst/>
              <a:latin typeface="Consolas" panose="020B0609020204030204" pitchFamily="49" charset="0"/>
            </a:endParaRP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trainer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= SFTTrainer(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model=model,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tokenizer=tokenizer,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train_dataset=dataset,</a:t>
            </a:r>
            <a:r>
              <a:rPr lang="en-US" altLang="zh-TW" sz="1000" b="0" u="none" strike="noStrike" dirty="0">
                <a:effectLst/>
                <a:latin typeface="Consolas" panose="020B0609020204030204" pitchFamily="49" charset="0"/>
              </a:rPr>
              <a:t> </a:t>
            </a:r>
            <a:r>
              <a:rPr lang="zh-TW" altLang="zh-TW" sz="1000" b="0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#</a:t>
            </a:r>
            <a:r>
              <a:rPr lang="en-US" altLang="zh-TW" sz="1000" b="0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 Aligned Data!!</a:t>
            </a:r>
            <a:endParaRPr lang="zh-TW" altLang="zh-TW" sz="1000" b="0" u="none" strike="noStrike" dirty="0">
              <a:solidFill>
                <a:schemeClr val="bg1">
                  <a:lumMod val="50000"/>
                </a:schemeClr>
              </a:solidFill>
              <a:effectLst/>
              <a:latin typeface="Consolas" panose="020B0609020204030204" pitchFamily="49" charset="0"/>
            </a:endParaRP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dataset_text_field=</a:t>
            </a:r>
            <a:r>
              <a:rPr lang="zh-TW" altLang="zh-TW" sz="1000" b="0" u="none" strike="noStrike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"text"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max_seq_length=max_seq_length,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dataset_num_proc=</a:t>
            </a:r>
            <a:r>
              <a:rPr lang="zh-TW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args=training_args,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)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trainer_stats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= trainer.train()</a:t>
            </a:r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23593BEC-05A3-F409-07AD-D3589DE96DAB}"/>
              </a:ext>
            </a:extLst>
          </p:cNvPr>
          <p:cNvSpPr txBox="1"/>
          <p:nvPr/>
        </p:nvSpPr>
        <p:spPr>
          <a:xfrm>
            <a:off x="179512" y="5877272"/>
            <a:ext cx="8184624" cy="440429"/>
          </a:xfrm>
          <a:prstGeom prst="rect">
            <a:avLst/>
          </a:prstGeom>
          <a:solidFill>
            <a:srgbClr val="EAEAEA"/>
          </a:solidFill>
        </p:spPr>
        <p:txBody>
          <a:bodyPr wrap="none">
            <a:noAutofit/>
          </a:bodyPr>
          <a:lstStyle/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i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US" altLang="zh-TW" sz="1000" i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Save</a:t>
            </a:r>
            <a:r>
              <a:rPr lang="en-US" altLang="zh-TW" sz="1000" b="0" i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 tuned weights into compressed Ollama GGUF format</a:t>
            </a:r>
            <a:r>
              <a:rPr lang="zh-TW" altLang="zh-TW" sz="1000" b="0" i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pPr>
              <a:lnSpc>
                <a:spcPts val="1200"/>
              </a:lnSpc>
            </a:pPr>
            <a:r>
              <a:rPr lang="en-US" altLang="zh-TW" sz="1000" dirty="0">
                <a:latin typeface="Consolas" panose="020B0609020204030204" pitchFamily="49" charset="0"/>
              </a:rPr>
              <a:t>model.save_pretrained_gguf(</a:t>
            </a:r>
            <a:r>
              <a:rPr lang="en-US" altLang="zh-TW" sz="1000" b="0" u="none" strike="noStrike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"my_gemma_model"</a:t>
            </a:r>
            <a:r>
              <a:rPr lang="en-US" altLang="zh-TW" sz="1000" b="0" u="none" strike="noStrike" dirty="0">
                <a:effectLst/>
                <a:latin typeface="Consolas" panose="020B0609020204030204" pitchFamily="49" charset="0"/>
              </a:rPr>
              <a:t>, tokenizer, quantization_method=</a:t>
            </a:r>
            <a:r>
              <a:rPr lang="en-US" altLang="zh-TW" sz="1000" b="0" u="none" strike="noStrike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"q4_k_m"</a:t>
            </a:r>
            <a:r>
              <a:rPr lang="en-US" altLang="zh-TW" sz="1000" b="0" u="none" strike="noStrike" dirty="0">
                <a:effectLst/>
                <a:latin typeface="Consolas" panose="020B0609020204030204" pitchFamily="49" charset="0"/>
              </a:rPr>
              <a:t>)</a:t>
            </a:r>
            <a:endParaRPr lang="zh-TW" altLang="en-US" sz="1000" dirty="0">
              <a:latin typeface="Consolas" panose="020B0609020204030204" pitchFamily="49" charset="0"/>
            </a:endParaRPr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0F9639B6-9ABE-ADFD-AEF2-698F1687076E}"/>
              </a:ext>
            </a:extLst>
          </p:cNvPr>
          <p:cNvSpPr txBox="1"/>
          <p:nvPr/>
        </p:nvSpPr>
        <p:spPr>
          <a:xfrm>
            <a:off x="179512" y="5661248"/>
            <a:ext cx="2304256" cy="247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lnSpc>
                <a:spcPts val="1200"/>
              </a:lnSpc>
              <a:buNone/>
            </a:pPr>
            <a:r>
              <a:rPr lang="en-US" altLang="zh-TW" sz="1200" b="1" u="none" strike="noStrike" dirty="0">
                <a:effectLst/>
                <a:latin typeface="Consolas" panose="020B0609020204030204" pitchFamily="49" charset="0"/>
              </a:rPr>
              <a:t>Exporting GGUF</a:t>
            </a:r>
            <a:endParaRPr lang="zh-TW" altLang="zh-TW" sz="1200" b="1" u="none" strike="noStrike" dirty="0">
              <a:effectLst/>
              <a:latin typeface="Consolas" panose="020B0609020204030204" pitchFamily="49" charset="0"/>
            </a:endParaRPr>
          </a:p>
        </p:txBody>
      </p:sp>
      <p:pic>
        <p:nvPicPr>
          <p:cNvPr id="23" name="圖片 22">
            <a:extLst>
              <a:ext uri="{FF2B5EF4-FFF2-40B4-BE49-F238E27FC236}">
                <a16:creationId xmlns:a16="http://schemas.microsoft.com/office/drawing/2014/main" id="{7DE70DD2-16BF-ECEA-19B3-80072208A0E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03748" y="134693"/>
            <a:ext cx="576064" cy="576063"/>
          </a:xfrm>
          <a:prstGeom prst="rect">
            <a:avLst/>
          </a:prstGeom>
          <a:effectLst>
            <a:glow rad="76200">
              <a:srgbClr val="00B050">
                <a:alpha val="40000"/>
              </a:srgbClr>
            </a:glow>
          </a:effectLst>
        </p:spPr>
      </p:pic>
      <p:sp>
        <p:nvSpPr>
          <p:cNvPr id="4" name="標題 1">
            <a:extLst>
              <a:ext uri="{FF2B5EF4-FFF2-40B4-BE49-F238E27FC236}">
                <a16:creationId xmlns:a16="http://schemas.microsoft.com/office/drawing/2014/main" id="{8D3514BD-B7B4-ADB3-173D-B32B3B7287E0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85698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Unsloth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SFT and Quantization</a:t>
            </a:r>
          </a:p>
        </p:txBody>
      </p:sp>
    </p:spTree>
    <p:extLst>
      <p:ext uri="{BB962C8B-B14F-4D97-AF65-F5344CB8AC3E}">
        <p14:creationId xmlns:p14="http://schemas.microsoft.com/office/powerpoint/2010/main" val="22319526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矩形 10">
            <a:extLst>
              <a:ext uri="{FF2B5EF4-FFF2-40B4-BE49-F238E27FC236}">
                <a16:creationId xmlns:a16="http://schemas.microsoft.com/office/drawing/2014/main" id="{7D88264F-8D27-8E9F-CBF6-F61243BD5B41}"/>
              </a:ext>
            </a:extLst>
          </p:cNvPr>
          <p:cNvSpPr/>
          <p:nvPr/>
        </p:nvSpPr>
        <p:spPr>
          <a:xfrm>
            <a:off x="5918111" y="1933659"/>
            <a:ext cx="2764248" cy="333300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b"/>
          <a:lstStyle/>
          <a:p>
            <a:r>
              <a:rPr lang="zh-TW" altLang="zh-TW" sz="900" b="1" dirty="0">
                <a:solidFill>
                  <a:schemeClr val="bg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Thought</a:t>
            </a:r>
            <a:endParaRPr lang="zh-TW" altLang="en-US" sz="900" b="1" dirty="0">
              <a:solidFill>
                <a:schemeClr val="bg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E70AF1FB-ED05-70F0-4DB3-6127255BC839}"/>
              </a:ext>
            </a:extLst>
          </p:cNvPr>
          <p:cNvSpPr/>
          <p:nvPr/>
        </p:nvSpPr>
        <p:spPr>
          <a:xfrm>
            <a:off x="6228599" y="2908192"/>
            <a:ext cx="2138553" cy="23506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System Prompt 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C07BA97E-C56E-E7DA-9BCB-13829BFBAF71}"/>
              </a:ext>
            </a:extLst>
          </p:cNvPr>
          <p:cNvSpPr/>
          <p:nvPr/>
        </p:nvSpPr>
        <p:spPr>
          <a:xfrm>
            <a:off x="6228599" y="2354902"/>
            <a:ext cx="2138553" cy="45396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TW" altLang="zh-TW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User Prompt</a:t>
            </a:r>
            <a:endParaRPr lang="en-US" altLang="zh-TW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  <a:p>
            <a:pPr algn="ctr"/>
            <a:r>
              <a:rPr lang="zh-CN" altLang="en-US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問話、檔案、圖片、聲音、影片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DEFB6727-F3BA-A57C-3144-6772B21B5D15}"/>
              </a:ext>
            </a:extLst>
          </p:cNvPr>
          <p:cNvSpPr/>
          <p:nvPr/>
        </p:nvSpPr>
        <p:spPr>
          <a:xfrm>
            <a:off x="6211295" y="4334356"/>
            <a:ext cx="2138553" cy="55690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Block Hashing</a:t>
            </a:r>
            <a:br>
              <a:rPr lang="en-US" altLang="zh-TW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KV Cache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E032344B-9D17-C577-54A3-35184C84F7A8}"/>
              </a:ext>
            </a:extLst>
          </p:cNvPr>
          <p:cNvSpPr/>
          <p:nvPr/>
        </p:nvSpPr>
        <p:spPr>
          <a:xfrm>
            <a:off x="6225468" y="3644907"/>
            <a:ext cx="2138553" cy="24957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Prompt Templating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2AD862E8-6E61-CCD5-92B1-19DF3C04E057}"/>
              </a:ext>
            </a:extLst>
          </p:cNvPr>
          <p:cNvSpPr/>
          <p:nvPr/>
        </p:nvSpPr>
        <p:spPr>
          <a:xfrm>
            <a:off x="6211295" y="3995768"/>
            <a:ext cx="2138553" cy="24957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Tokenization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39" name="文字方塊 38">
            <a:extLst>
              <a:ext uri="{FF2B5EF4-FFF2-40B4-BE49-F238E27FC236}">
                <a16:creationId xmlns:a16="http://schemas.microsoft.com/office/drawing/2014/main" id="{DFCD5701-21B1-1F5E-2482-B310571D001E}"/>
              </a:ext>
            </a:extLst>
          </p:cNvPr>
          <p:cNvSpPr txBox="1"/>
          <p:nvPr/>
        </p:nvSpPr>
        <p:spPr>
          <a:xfrm>
            <a:off x="3932018" y="1840642"/>
            <a:ext cx="1652125" cy="3000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350" b="1" dirty="0">
                <a:solidFill>
                  <a:schemeClr val="accent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Agent (ReAct)</a:t>
            </a:r>
            <a:endParaRPr lang="zh-TW" altLang="en-US" sz="1350" b="1" dirty="0">
              <a:solidFill>
                <a:schemeClr val="accent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0CD72146-64C0-38AB-C94D-DB29869A769A}"/>
              </a:ext>
            </a:extLst>
          </p:cNvPr>
          <p:cNvSpPr/>
          <p:nvPr/>
        </p:nvSpPr>
        <p:spPr>
          <a:xfrm>
            <a:off x="5020175" y="3385045"/>
            <a:ext cx="803152" cy="23083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900" b="1" dirty="0">
                <a:solidFill>
                  <a:schemeClr val="bg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Action</a:t>
            </a:r>
            <a:endParaRPr lang="zh-TW" altLang="en-US" sz="900" b="1" dirty="0">
              <a:solidFill>
                <a:schemeClr val="bg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397712A-50F4-F6E5-E88D-87EF4557CA99}"/>
              </a:ext>
            </a:extLst>
          </p:cNvPr>
          <p:cNvSpPr/>
          <p:nvPr/>
        </p:nvSpPr>
        <p:spPr>
          <a:xfrm>
            <a:off x="6063577" y="3415248"/>
            <a:ext cx="2462339" cy="1568706"/>
          </a:xfrm>
          <a:prstGeom prst="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zh-CN" altLang="en-US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大模型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4B79AF00-F49A-7AF2-43C3-191C63509881}"/>
              </a:ext>
            </a:extLst>
          </p:cNvPr>
          <p:cNvSpPr/>
          <p:nvPr/>
        </p:nvSpPr>
        <p:spPr>
          <a:xfrm>
            <a:off x="6063576" y="2124619"/>
            <a:ext cx="2462339" cy="1078430"/>
          </a:xfrm>
          <a:prstGeom prst="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zh-CN" altLang="en-US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上下文管理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71E3A592-835A-8275-6406-486816C11202}"/>
              </a:ext>
            </a:extLst>
          </p:cNvPr>
          <p:cNvSpPr/>
          <p:nvPr/>
        </p:nvSpPr>
        <p:spPr>
          <a:xfrm>
            <a:off x="5020175" y="2708017"/>
            <a:ext cx="803151" cy="23083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900" b="1" dirty="0">
                <a:solidFill>
                  <a:schemeClr val="bg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Observation</a:t>
            </a:r>
            <a:endParaRPr lang="zh-TW" altLang="en-US" sz="900" b="1" dirty="0">
              <a:solidFill>
                <a:schemeClr val="bg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cxnSp>
        <p:nvCxnSpPr>
          <p:cNvPr id="45" name="接點: 肘形 44">
            <a:extLst>
              <a:ext uri="{FF2B5EF4-FFF2-40B4-BE49-F238E27FC236}">
                <a16:creationId xmlns:a16="http://schemas.microsoft.com/office/drawing/2014/main" id="{FCF97746-0406-AF7D-A163-C26DD130A6D2}"/>
              </a:ext>
            </a:extLst>
          </p:cNvPr>
          <p:cNvCxnSpPr>
            <a:cxnSpLocks/>
            <a:stCxn id="11" idx="2"/>
            <a:endCxn id="41" idx="2"/>
          </p:cNvCxnSpPr>
          <p:nvPr/>
        </p:nvCxnSpPr>
        <p:spPr>
          <a:xfrm rot="5400000" flipH="1">
            <a:off x="5535601" y="3502028"/>
            <a:ext cx="1650785" cy="1878485"/>
          </a:xfrm>
          <a:prstGeom prst="bentConnector3">
            <a:avLst>
              <a:gd name="adj1" fmla="val -5935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接點: 肘形 45">
            <a:extLst>
              <a:ext uri="{FF2B5EF4-FFF2-40B4-BE49-F238E27FC236}">
                <a16:creationId xmlns:a16="http://schemas.microsoft.com/office/drawing/2014/main" id="{2766C5AD-18D5-9375-0DD2-00BA9204801A}"/>
              </a:ext>
            </a:extLst>
          </p:cNvPr>
          <p:cNvCxnSpPr>
            <a:cxnSpLocks/>
            <a:stCxn id="43" idx="0"/>
            <a:endCxn id="15" idx="0"/>
          </p:cNvCxnSpPr>
          <p:nvPr/>
        </p:nvCxnSpPr>
        <p:spPr>
          <a:xfrm rot="5400000" flipH="1" flipV="1">
            <a:off x="6183255" y="1593397"/>
            <a:ext cx="353115" cy="1876125"/>
          </a:xfrm>
          <a:prstGeom prst="bentConnector3">
            <a:avLst>
              <a:gd name="adj1" fmla="val 190171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接點: 肘形 49">
            <a:extLst>
              <a:ext uri="{FF2B5EF4-FFF2-40B4-BE49-F238E27FC236}">
                <a16:creationId xmlns:a16="http://schemas.microsoft.com/office/drawing/2014/main" id="{49FD5CB2-9F5D-592A-DAEE-72750F2C19A6}"/>
              </a:ext>
            </a:extLst>
          </p:cNvPr>
          <p:cNvCxnSpPr>
            <a:cxnSpLocks/>
            <a:stCxn id="41" idx="0"/>
            <a:endCxn id="43" idx="2"/>
          </p:cNvCxnSpPr>
          <p:nvPr/>
        </p:nvCxnSpPr>
        <p:spPr>
          <a:xfrm rot="16200000" flipV="1">
            <a:off x="5198653" y="3161947"/>
            <a:ext cx="446195" cy="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文字方塊 61">
            <a:extLst>
              <a:ext uri="{FF2B5EF4-FFF2-40B4-BE49-F238E27FC236}">
                <a16:creationId xmlns:a16="http://schemas.microsoft.com/office/drawing/2014/main" id="{C4933434-E99C-ACA0-C643-C8FD37F2A477}"/>
              </a:ext>
            </a:extLst>
          </p:cNvPr>
          <p:cNvSpPr txBox="1"/>
          <p:nvPr/>
        </p:nvSpPr>
        <p:spPr>
          <a:xfrm>
            <a:off x="3974512" y="3377636"/>
            <a:ext cx="777098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0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工具執行</a:t>
            </a:r>
            <a:endParaRPr lang="zh-TW" altLang="en-US" sz="10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64" name="文字方塊 63">
            <a:extLst>
              <a:ext uri="{FF2B5EF4-FFF2-40B4-BE49-F238E27FC236}">
                <a16:creationId xmlns:a16="http://schemas.microsoft.com/office/drawing/2014/main" id="{9D8D8E31-9F9C-C709-59F8-96561CA4DFD3}"/>
              </a:ext>
            </a:extLst>
          </p:cNvPr>
          <p:cNvSpPr txBox="1"/>
          <p:nvPr/>
        </p:nvSpPr>
        <p:spPr>
          <a:xfrm>
            <a:off x="3958684" y="2686622"/>
            <a:ext cx="978980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0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執行</a:t>
            </a:r>
            <a:r>
              <a:rPr lang="zh-CN" altLang="en-US" sz="10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結果反饋</a:t>
            </a:r>
            <a:endParaRPr lang="zh-TW" altLang="en-US" sz="10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70" name="矩形 69">
            <a:extLst>
              <a:ext uri="{FF2B5EF4-FFF2-40B4-BE49-F238E27FC236}">
                <a16:creationId xmlns:a16="http://schemas.microsoft.com/office/drawing/2014/main" id="{E4E60699-5A1E-65BD-C11D-3D1653332DA6}"/>
              </a:ext>
            </a:extLst>
          </p:cNvPr>
          <p:cNvSpPr/>
          <p:nvPr/>
        </p:nvSpPr>
        <p:spPr>
          <a:xfrm>
            <a:off x="6939459" y="5709871"/>
            <a:ext cx="721552" cy="23083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900" b="1" dirty="0">
                <a:solidFill>
                  <a:schemeClr val="bg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Answer</a:t>
            </a:r>
            <a:endParaRPr lang="zh-TW" altLang="en-US" sz="900" b="1" dirty="0">
              <a:solidFill>
                <a:schemeClr val="bg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78" name="矩形 77">
            <a:extLst>
              <a:ext uri="{FF2B5EF4-FFF2-40B4-BE49-F238E27FC236}">
                <a16:creationId xmlns:a16="http://schemas.microsoft.com/office/drawing/2014/main" id="{A0FB29B3-449C-CA85-0143-4D39CE832474}"/>
              </a:ext>
            </a:extLst>
          </p:cNvPr>
          <p:cNvSpPr/>
          <p:nvPr/>
        </p:nvSpPr>
        <p:spPr>
          <a:xfrm>
            <a:off x="6937100" y="1426796"/>
            <a:ext cx="721552" cy="23083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900" b="1" dirty="0">
                <a:solidFill>
                  <a:schemeClr val="bg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Question</a:t>
            </a:r>
            <a:endParaRPr lang="zh-TW" altLang="en-US" sz="900" b="1" dirty="0">
              <a:solidFill>
                <a:schemeClr val="bg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cxnSp>
        <p:nvCxnSpPr>
          <p:cNvPr id="81" name="接點: 肘形 80">
            <a:extLst>
              <a:ext uri="{FF2B5EF4-FFF2-40B4-BE49-F238E27FC236}">
                <a16:creationId xmlns:a16="http://schemas.microsoft.com/office/drawing/2014/main" id="{B4677D52-B7BF-A2F3-BD7C-A3CE3D5BC62F}"/>
              </a:ext>
            </a:extLst>
          </p:cNvPr>
          <p:cNvCxnSpPr>
            <a:cxnSpLocks/>
            <a:stCxn id="78" idx="2"/>
            <a:endCxn id="15" idx="0"/>
          </p:cNvCxnSpPr>
          <p:nvPr/>
        </p:nvCxnSpPr>
        <p:spPr>
          <a:xfrm rot="5400000">
            <a:off x="6949240" y="2006266"/>
            <a:ext cx="697272" cy="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接點: 肘形 84">
            <a:extLst>
              <a:ext uri="{FF2B5EF4-FFF2-40B4-BE49-F238E27FC236}">
                <a16:creationId xmlns:a16="http://schemas.microsoft.com/office/drawing/2014/main" id="{14C197BB-FF95-3F9F-2CF1-D8A0F38FABC2}"/>
              </a:ext>
            </a:extLst>
          </p:cNvPr>
          <p:cNvCxnSpPr>
            <a:cxnSpLocks/>
            <a:stCxn id="11" idx="2"/>
            <a:endCxn id="70" idx="0"/>
          </p:cNvCxnSpPr>
          <p:nvPr/>
        </p:nvCxnSpPr>
        <p:spPr>
          <a:xfrm rot="5400000">
            <a:off x="7078632" y="5488267"/>
            <a:ext cx="443209" cy="952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文字方塊 99">
            <a:extLst>
              <a:ext uri="{FF2B5EF4-FFF2-40B4-BE49-F238E27FC236}">
                <a16:creationId xmlns:a16="http://schemas.microsoft.com/office/drawing/2014/main" id="{E3159AEA-8130-A12D-8992-26D88711C085}"/>
              </a:ext>
            </a:extLst>
          </p:cNvPr>
          <p:cNvSpPr txBox="1"/>
          <p:nvPr/>
        </p:nvSpPr>
        <p:spPr>
          <a:xfrm>
            <a:off x="7340751" y="5288079"/>
            <a:ext cx="777098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0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規劃回應</a:t>
            </a:r>
            <a:endParaRPr lang="zh-TW" altLang="en-US" sz="10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14" name="矩形 113">
            <a:extLst>
              <a:ext uri="{FF2B5EF4-FFF2-40B4-BE49-F238E27FC236}">
                <a16:creationId xmlns:a16="http://schemas.microsoft.com/office/drawing/2014/main" id="{D0BC473B-D15A-A468-6E2B-BBDD3F162373}"/>
              </a:ext>
            </a:extLst>
          </p:cNvPr>
          <p:cNvSpPr/>
          <p:nvPr/>
        </p:nvSpPr>
        <p:spPr>
          <a:xfrm>
            <a:off x="3927022" y="1748523"/>
            <a:ext cx="4911308" cy="3770389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b"/>
          <a:lstStyle/>
          <a:p>
            <a:r>
              <a:rPr lang="zh-TW" altLang="zh-TW" sz="900" b="1" dirty="0">
                <a:noFill/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Thought</a:t>
            </a:r>
            <a:endParaRPr lang="zh-TW" altLang="en-US" sz="900" b="1" dirty="0">
              <a:noFill/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17" name="文字方塊 116">
            <a:extLst>
              <a:ext uri="{FF2B5EF4-FFF2-40B4-BE49-F238E27FC236}">
                <a16:creationId xmlns:a16="http://schemas.microsoft.com/office/drawing/2014/main" id="{30CFBF44-512D-8D83-A5D7-53A882A9823F}"/>
              </a:ext>
            </a:extLst>
          </p:cNvPr>
          <p:cNvSpPr txBox="1"/>
          <p:nvPr/>
        </p:nvSpPr>
        <p:spPr>
          <a:xfrm>
            <a:off x="4049780" y="980045"/>
            <a:ext cx="4632579" cy="3000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zh-TW" altLang="zh-TW" sz="1350" dirty="0"/>
              <a:t>Agent 的上限由大模型決定，但下限由上下文管理決定。</a:t>
            </a:r>
          </a:p>
        </p:txBody>
      </p:sp>
      <p:sp>
        <p:nvSpPr>
          <p:cNvPr id="119" name="文字方塊 118">
            <a:extLst>
              <a:ext uri="{FF2B5EF4-FFF2-40B4-BE49-F238E27FC236}">
                <a16:creationId xmlns:a16="http://schemas.microsoft.com/office/drawing/2014/main" id="{DD4EBD5C-159C-4264-4591-18EC61B9DBA4}"/>
              </a:ext>
            </a:extLst>
          </p:cNvPr>
          <p:cNvSpPr txBox="1"/>
          <p:nvPr/>
        </p:nvSpPr>
        <p:spPr>
          <a:xfrm>
            <a:off x="3998628" y="3663028"/>
            <a:ext cx="1757590" cy="18928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zh-TW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Function Calling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MCP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skill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A2A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ACP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Ephemeral Agent</a:t>
            </a:r>
            <a:r>
              <a:rPr lang="zh-CN" altLang="en-US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（</a:t>
            </a: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Sub-agent</a:t>
            </a:r>
            <a:r>
              <a:rPr lang="zh-CN" altLang="en-US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）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HITL</a:t>
            </a:r>
          </a:p>
          <a:p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REPL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Sandbox</a:t>
            </a:r>
          </a:p>
          <a:p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Vision-Based Operation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Computer Use</a:t>
            </a:r>
          </a:p>
          <a:p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pic>
        <p:nvPicPr>
          <p:cNvPr id="163" name="圖片 162">
            <a:extLst>
              <a:ext uri="{FF2B5EF4-FFF2-40B4-BE49-F238E27FC236}">
                <a16:creationId xmlns:a16="http://schemas.microsoft.com/office/drawing/2014/main" id="{B441A2AC-9804-55D0-23BA-CBE712AD29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989" y="1565392"/>
            <a:ext cx="3340335" cy="2687707"/>
          </a:xfrm>
          <a:prstGeom prst="rect">
            <a:avLst/>
          </a:prstGeom>
        </p:spPr>
      </p:pic>
      <p:pic>
        <p:nvPicPr>
          <p:cNvPr id="165" name="圖片 164">
            <a:extLst>
              <a:ext uri="{FF2B5EF4-FFF2-40B4-BE49-F238E27FC236}">
                <a16:creationId xmlns:a16="http://schemas.microsoft.com/office/drawing/2014/main" id="{5753F105-B0A1-0CA7-1F31-A462F5FFDF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0237" y="4313131"/>
            <a:ext cx="3018275" cy="104092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67" name="文字方塊 166">
                <a:extLst>
                  <a:ext uri="{FF2B5EF4-FFF2-40B4-BE49-F238E27FC236}">
                    <a16:creationId xmlns:a16="http://schemas.microsoft.com/office/drawing/2014/main" id="{68428BF5-E137-79A2-9A22-6D73F9A159E5}"/>
                  </a:ext>
                </a:extLst>
              </p:cNvPr>
              <p:cNvSpPr txBox="1"/>
              <p:nvPr/>
            </p:nvSpPr>
            <p:spPr>
              <a:xfrm>
                <a:off x="214080" y="5403495"/>
                <a:ext cx="3332021" cy="36946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zh-TW" altLang="en-US" sz="900" i="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Hash</m:t>
                      </m:r>
                      <m:r>
                        <m:rPr>
                          <m:nor/>
                        </m:rPr>
                        <a:rPr lang="zh-TW" altLang="en-US" sz="900" i="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(</m:t>
                      </m:r>
                      <m:r>
                        <m:rPr>
                          <m:nor/>
                        </m:rPr>
                        <a:rPr lang="zh-TW" altLang="en-US" sz="900" i="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Block</m:t>
                      </m:r>
                      <m:r>
                        <m:rPr>
                          <m:nor/>
                        </m:rPr>
                        <a:rPr lang="zh-TW" altLang="en-US" sz="900" i="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 1)</m:t>
                      </m:r>
                      <m:r>
                        <a:rPr lang="zh-TW" altLang="en-US" sz="9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zh-TW" altLang="en-US" sz="900" i="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SHA</m:t>
                      </m:r>
                      <m:r>
                        <m:rPr>
                          <m:nor/>
                        </m:rPr>
                        <a:rPr lang="zh-TW" altLang="en-US" sz="900" i="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256</m:t>
                      </m:r>
                      <m:d>
                        <m:dPr>
                          <m:ctrlPr>
                            <a:rPr lang="zh-TW" altLang="en-US" sz="9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zh-TW" altLang="en-US" sz="900" i="0">
                              <a:latin typeface="微軟正黑體 Light" panose="020B0304030504040204" pitchFamily="34" charset="-120"/>
                              <a:ea typeface="微軟正黑體 Light" panose="020B0304030504040204" pitchFamily="34" charset="-120"/>
                            </a:rPr>
                            <m:t>Hash</m:t>
                          </m:r>
                          <m:r>
                            <m:rPr>
                              <m:nor/>
                            </m:rPr>
                            <a:rPr lang="zh-TW" altLang="en-US" sz="900" i="0">
                              <a:latin typeface="微軟正黑體 Light" panose="020B0304030504040204" pitchFamily="34" charset="-120"/>
                              <a:ea typeface="微軟正黑體 Light" panose="020B0304030504040204" pitchFamily="34" charset="-120"/>
                            </a:rPr>
                            <m:t>(</m:t>
                          </m:r>
                          <m:r>
                            <m:rPr>
                              <m:nor/>
                            </m:rPr>
                            <a:rPr lang="zh-TW" altLang="en-US" sz="900" i="0">
                              <a:latin typeface="微軟正黑體 Light" panose="020B0304030504040204" pitchFamily="34" charset="-120"/>
                              <a:ea typeface="微軟正黑體 Light" panose="020B0304030504040204" pitchFamily="34" charset="-120"/>
                            </a:rPr>
                            <m:t>Block</m:t>
                          </m:r>
                          <m:r>
                            <m:rPr>
                              <m:nor/>
                            </m:rPr>
                            <a:rPr lang="zh-TW" altLang="en-US" sz="900" i="0">
                              <a:latin typeface="微軟正黑體 Light" panose="020B0304030504040204" pitchFamily="34" charset="-120"/>
                              <a:ea typeface="微軟正黑體 Light" panose="020B0304030504040204" pitchFamily="34" charset="-120"/>
                            </a:rPr>
                            <m:t> 0)</m:t>
                          </m:r>
                          <m:r>
                            <a:rPr lang="zh-TW" altLang="en-US" sz="9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nor/>
                            </m:rPr>
                            <a:rPr lang="zh-TW" altLang="en-US" sz="900" i="0">
                              <a:latin typeface="微軟正黑體 Light" panose="020B0304030504040204" pitchFamily="34" charset="-120"/>
                              <a:ea typeface="微軟正黑體 Light" panose="020B0304030504040204" pitchFamily="34" charset="-120"/>
                            </a:rPr>
                            <m:t>Block</m:t>
                          </m:r>
                          <m:r>
                            <m:rPr>
                              <m:nor/>
                            </m:rPr>
                            <a:rPr lang="zh-TW" altLang="en-US" sz="900" i="0">
                              <a:latin typeface="微軟正黑體 Light" panose="020B0304030504040204" pitchFamily="34" charset="-120"/>
                              <a:ea typeface="微軟正黑體 Light" panose="020B0304030504040204" pitchFamily="34" charset="-120"/>
                            </a:rPr>
                            <m:t> 1 的內容</m:t>
                          </m:r>
                        </m:e>
                      </m:d>
                    </m:oMath>
                    <m:oMath xmlns:m="http://schemas.openxmlformats.org/officeDocument/2006/math">
                      <m:r>
                        <m:rPr>
                          <m:nor/>
                        </m:rPr>
                        <a:rPr lang="zh-TW" altLang="en-US" sz="900" i="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靜態在頂，動態在底；由穩入變，線性追加</m:t>
                      </m:r>
                    </m:oMath>
                  </m:oMathPara>
                </a14:m>
                <a:endParaRPr lang="zh-TW" altLang="en-US" sz="900" dirty="0">
                  <a:latin typeface="微軟正黑體 Light" panose="020B0304030504040204" pitchFamily="34" charset="-120"/>
                  <a:ea typeface="微軟正黑體 Light" panose="020B0304030504040204" pitchFamily="34" charset="-120"/>
                </a:endParaRPr>
              </a:p>
            </p:txBody>
          </p:sp>
        </mc:Choice>
        <mc:Fallback xmlns="">
          <p:sp>
            <p:nvSpPr>
              <p:cNvPr id="167" name="文字方塊 166">
                <a:extLst>
                  <a:ext uri="{FF2B5EF4-FFF2-40B4-BE49-F238E27FC236}">
                    <a16:creationId xmlns:a16="http://schemas.microsoft.com/office/drawing/2014/main" id="{68428BF5-E137-79A2-9A22-6D73F9A159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4080" y="5403495"/>
                <a:ext cx="3332021" cy="369460"/>
              </a:xfrm>
              <a:prstGeom prst="rect">
                <a:avLst/>
              </a:prstGeom>
              <a:blipFill>
                <a:blip r:embed="rId5"/>
                <a:stretch>
                  <a:fillRect b="-163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1" name="直線單箭頭接點 170">
            <a:extLst>
              <a:ext uri="{FF2B5EF4-FFF2-40B4-BE49-F238E27FC236}">
                <a16:creationId xmlns:a16="http://schemas.microsoft.com/office/drawing/2014/main" id="{441632E2-FB6B-F197-DF26-1CCC2A6D969E}"/>
              </a:ext>
            </a:extLst>
          </p:cNvPr>
          <p:cNvCxnSpPr>
            <a:cxnSpLocks/>
            <a:stCxn id="161" idx="3"/>
          </p:cNvCxnSpPr>
          <p:nvPr/>
        </p:nvCxnSpPr>
        <p:spPr>
          <a:xfrm>
            <a:off x="3303820" y="1614323"/>
            <a:ext cx="4001179" cy="1756863"/>
          </a:xfrm>
          <a:prstGeom prst="straightConnector1">
            <a:avLst/>
          </a:prstGeom>
          <a:ln w="19050" cap="flat" cmpd="sng" algn="ctr">
            <a:solidFill>
              <a:schemeClr val="accent6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72" name="直線單箭頭接點 171">
            <a:extLst>
              <a:ext uri="{FF2B5EF4-FFF2-40B4-BE49-F238E27FC236}">
                <a16:creationId xmlns:a16="http://schemas.microsoft.com/office/drawing/2014/main" id="{4F8379A8-E312-AAAB-0305-5F21D7A48075}"/>
              </a:ext>
            </a:extLst>
          </p:cNvPr>
          <p:cNvCxnSpPr>
            <a:cxnSpLocks/>
            <a:endCxn id="23" idx="1"/>
          </p:cNvCxnSpPr>
          <p:nvPr/>
        </p:nvCxnSpPr>
        <p:spPr>
          <a:xfrm>
            <a:off x="3080424" y="2908191"/>
            <a:ext cx="3145044" cy="861506"/>
          </a:xfrm>
          <a:prstGeom prst="straightConnector1">
            <a:avLst/>
          </a:prstGeom>
          <a:ln w="19050" cap="flat" cmpd="sng" algn="ctr">
            <a:solidFill>
              <a:schemeClr val="accent6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79" name="直線單箭頭接點 178">
            <a:extLst>
              <a:ext uri="{FF2B5EF4-FFF2-40B4-BE49-F238E27FC236}">
                <a16:creationId xmlns:a16="http://schemas.microsoft.com/office/drawing/2014/main" id="{CB0339C0-FB3B-E9D5-6168-023B9B26187C}"/>
              </a:ext>
            </a:extLst>
          </p:cNvPr>
          <p:cNvCxnSpPr>
            <a:cxnSpLocks/>
            <a:stCxn id="165" idx="3"/>
            <a:endCxn id="31" idx="1"/>
          </p:cNvCxnSpPr>
          <p:nvPr/>
        </p:nvCxnSpPr>
        <p:spPr>
          <a:xfrm flipV="1">
            <a:off x="3418511" y="4120558"/>
            <a:ext cx="2792784" cy="713036"/>
          </a:xfrm>
          <a:prstGeom prst="straightConnector1">
            <a:avLst/>
          </a:prstGeom>
          <a:ln w="19050" cap="flat" cmpd="sng" algn="ctr">
            <a:solidFill>
              <a:schemeClr val="accent6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82" name="直線單箭頭接點 181">
            <a:extLst>
              <a:ext uri="{FF2B5EF4-FFF2-40B4-BE49-F238E27FC236}">
                <a16:creationId xmlns:a16="http://schemas.microsoft.com/office/drawing/2014/main" id="{C2C124A4-03BF-CCAC-C4D6-0AB57500B2E6}"/>
              </a:ext>
            </a:extLst>
          </p:cNvPr>
          <p:cNvCxnSpPr>
            <a:cxnSpLocks/>
            <a:endCxn id="19" idx="1"/>
          </p:cNvCxnSpPr>
          <p:nvPr/>
        </p:nvCxnSpPr>
        <p:spPr>
          <a:xfrm flipV="1">
            <a:off x="3563977" y="4612810"/>
            <a:ext cx="2647319" cy="973959"/>
          </a:xfrm>
          <a:prstGeom prst="straightConnector1">
            <a:avLst/>
          </a:prstGeom>
          <a:ln w="19050" cap="flat" cmpd="sng" algn="ctr">
            <a:solidFill>
              <a:schemeClr val="accent6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188" name="圖片 187">
            <a:extLst>
              <a:ext uri="{FF2B5EF4-FFF2-40B4-BE49-F238E27FC236}">
                <a16:creationId xmlns:a16="http://schemas.microsoft.com/office/drawing/2014/main" id="{A3436026-A169-47CF-A377-C870212F410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85283" y="1426112"/>
            <a:ext cx="1697483" cy="139280"/>
          </a:xfrm>
          <a:prstGeom prst="rect">
            <a:avLst/>
          </a:prstGeom>
        </p:spPr>
      </p:pic>
      <p:pic>
        <p:nvPicPr>
          <p:cNvPr id="192" name="圖片 191">
            <a:extLst>
              <a:ext uri="{FF2B5EF4-FFF2-40B4-BE49-F238E27FC236}">
                <a16:creationId xmlns:a16="http://schemas.microsoft.com/office/drawing/2014/main" id="{DD6667E5-60F6-0869-8A1E-E007756D8E4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16478" y="2819990"/>
            <a:ext cx="1677644" cy="153246"/>
          </a:xfrm>
          <a:prstGeom prst="rect">
            <a:avLst/>
          </a:prstGeom>
        </p:spPr>
      </p:pic>
      <p:pic>
        <p:nvPicPr>
          <p:cNvPr id="161" name="圖片 160">
            <a:extLst>
              <a:ext uri="{FF2B5EF4-FFF2-40B4-BE49-F238E27FC236}">
                <a16:creationId xmlns:a16="http://schemas.microsoft.com/office/drawing/2014/main" id="{846CFD46-7FB4-E8C7-BCB8-ACCB38DC590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85545" y="1138729"/>
            <a:ext cx="3018275" cy="951188"/>
          </a:xfrm>
          <a:prstGeom prst="rect">
            <a:avLst/>
          </a:prstGeom>
        </p:spPr>
      </p:pic>
      <p:cxnSp>
        <p:nvCxnSpPr>
          <p:cNvPr id="4" name="接點: 肘形 3">
            <a:extLst>
              <a:ext uri="{FF2B5EF4-FFF2-40B4-BE49-F238E27FC236}">
                <a16:creationId xmlns:a16="http://schemas.microsoft.com/office/drawing/2014/main" id="{4EA7BBDC-7B61-EC8B-3736-ACD5249C1E37}"/>
              </a:ext>
            </a:extLst>
          </p:cNvPr>
          <p:cNvCxnSpPr>
            <a:cxnSpLocks/>
            <a:stCxn id="9" idx="2"/>
          </p:cNvCxnSpPr>
          <p:nvPr/>
        </p:nvCxnSpPr>
        <p:spPr>
          <a:xfrm rot="5400000">
            <a:off x="7099096" y="3398699"/>
            <a:ext cx="391299" cy="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A500A213-6C42-2B9F-F559-C623686766CC}"/>
              </a:ext>
            </a:extLst>
          </p:cNvPr>
          <p:cNvSpPr txBox="1"/>
          <p:nvPr/>
        </p:nvSpPr>
        <p:spPr>
          <a:xfrm>
            <a:off x="932451" y="1129909"/>
            <a:ext cx="4570821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zh-TW" altLang="zh-TW" sz="900" dirty="0">
                <a:solidFill>
                  <a:schemeClr val="bg1"/>
                </a:solidFill>
              </a:rPr>
              <a:t>OpenAI Chat Completions API 格式</a:t>
            </a:r>
          </a:p>
        </p:txBody>
      </p:sp>
    </p:spTree>
    <p:extLst>
      <p:ext uri="{BB962C8B-B14F-4D97-AF65-F5344CB8AC3E}">
        <p14:creationId xmlns:p14="http://schemas.microsoft.com/office/powerpoint/2010/main" val="257057684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字方塊 6">
            <a:extLst>
              <a:ext uri="{FF2B5EF4-FFF2-40B4-BE49-F238E27FC236}">
                <a16:creationId xmlns:a16="http://schemas.microsoft.com/office/drawing/2014/main" id="{D871E9EB-038B-1CAB-C8C1-9B3E44316CC7}"/>
              </a:ext>
            </a:extLst>
          </p:cNvPr>
          <p:cNvSpPr txBox="1"/>
          <p:nvPr/>
        </p:nvSpPr>
        <p:spPr>
          <a:xfrm>
            <a:off x="3406032" y="926707"/>
            <a:ext cx="852563" cy="646331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[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下載來源</a:t>
            </a:r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]</a:t>
            </a:r>
            <a:br>
              <a:rPr lang="en-US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Hugging Face Hub</a:t>
            </a:r>
            <a:br>
              <a:rPr lang="en-US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Civitai </a:t>
            </a:r>
            <a:b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Kaggle Models</a:t>
            </a:r>
            <a:b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ModelScope </a:t>
            </a:r>
            <a:endParaRPr lang="en-US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  <a:p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WiseModel </a:t>
            </a:r>
            <a:endParaRPr lang="zh-TW" altLang="en-US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D81F8168-4847-CF7D-8F9D-2111C391C931}"/>
              </a:ext>
            </a:extLst>
          </p:cNvPr>
          <p:cNvSpPr/>
          <p:nvPr/>
        </p:nvSpPr>
        <p:spPr>
          <a:xfrm>
            <a:off x="4533243" y="933330"/>
            <a:ext cx="852563" cy="17541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下載模型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D29966B9-F7E5-0499-6A5C-D6A8D2DE7588}"/>
              </a:ext>
            </a:extLst>
          </p:cNvPr>
          <p:cNvSpPr txBox="1"/>
          <p:nvPr/>
        </p:nvSpPr>
        <p:spPr>
          <a:xfrm>
            <a:off x="4937155" y="1193886"/>
            <a:ext cx="924021" cy="553998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b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config.json</a:t>
            </a:r>
          </a:p>
          <a:p>
            <a:r>
              <a:rPr lang="en-US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model.safetensors</a:t>
            </a:r>
          </a:p>
          <a:p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generation_config.json</a:t>
            </a:r>
            <a:endParaRPr lang="zh-TW" altLang="en-US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3520C49D-79FC-6920-1D5C-7808103E61EB}"/>
              </a:ext>
            </a:extLst>
          </p:cNvPr>
          <p:cNvSpPr/>
          <p:nvPr/>
        </p:nvSpPr>
        <p:spPr>
          <a:xfrm>
            <a:off x="7288922" y="934573"/>
            <a:ext cx="1032487" cy="17541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下載或自定訓練資料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3B7527AD-8CB3-9AE3-62DC-06B905D9F352}"/>
              </a:ext>
            </a:extLst>
          </p:cNvPr>
          <p:cNvSpPr/>
          <p:nvPr/>
        </p:nvSpPr>
        <p:spPr>
          <a:xfrm>
            <a:off x="7109102" y="2284877"/>
            <a:ext cx="1392126" cy="293915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訓練資料物件</a:t>
            </a:r>
            <a:br>
              <a:rPr lang="en-US" altLang="zh-CN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（</a:t>
            </a:r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 Apache Arrow 二進位矩陣</a:t>
            </a:r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）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19C03F95-903A-6223-6AFC-6B304CCF2901}"/>
              </a:ext>
            </a:extLst>
          </p:cNvPr>
          <p:cNvSpPr/>
          <p:nvPr/>
        </p:nvSpPr>
        <p:spPr>
          <a:xfrm>
            <a:off x="1289137" y="1942016"/>
            <a:ext cx="7319657" cy="969428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t"/>
          <a:lstStyle/>
          <a:p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訓練物件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894B8F03-7160-0260-331E-43923BD264A3}"/>
              </a:ext>
            </a:extLst>
          </p:cNvPr>
          <p:cNvSpPr/>
          <p:nvPr/>
        </p:nvSpPr>
        <p:spPr>
          <a:xfrm>
            <a:off x="4572000" y="4155133"/>
            <a:ext cx="777946" cy="160634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模型測試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2AFD015C-1F9D-2D95-AEDC-C02433CEBE33}"/>
              </a:ext>
            </a:extLst>
          </p:cNvPr>
          <p:cNvSpPr/>
          <p:nvPr/>
        </p:nvSpPr>
        <p:spPr>
          <a:xfrm>
            <a:off x="4572000" y="4449047"/>
            <a:ext cx="777946" cy="173672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模型產出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pic>
        <p:nvPicPr>
          <p:cNvPr id="28" name="圖片 27">
            <a:extLst>
              <a:ext uri="{FF2B5EF4-FFF2-40B4-BE49-F238E27FC236}">
                <a16:creationId xmlns:a16="http://schemas.microsoft.com/office/drawing/2014/main" id="{CA67325C-624F-32CA-327A-EC0F558153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0453" y="2152343"/>
            <a:ext cx="1879627" cy="719795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30" name="圖片 29">
            <a:extLst>
              <a:ext uri="{FF2B5EF4-FFF2-40B4-BE49-F238E27FC236}">
                <a16:creationId xmlns:a16="http://schemas.microsoft.com/office/drawing/2014/main" id="{16BF6715-9287-EC26-3307-4DDCD97FDC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3425" y="2204471"/>
            <a:ext cx="983534" cy="476558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32" name="圖片 31">
            <a:extLst>
              <a:ext uri="{FF2B5EF4-FFF2-40B4-BE49-F238E27FC236}">
                <a16:creationId xmlns:a16="http://schemas.microsoft.com/office/drawing/2014/main" id="{83457B68-7A59-7497-577E-E94876509A9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18268" y="3015979"/>
            <a:ext cx="2786069" cy="753353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34" name="矩形 33">
            <a:extLst>
              <a:ext uri="{FF2B5EF4-FFF2-40B4-BE49-F238E27FC236}">
                <a16:creationId xmlns:a16="http://schemas.microsoft.com/office/drawing/2014/main" id="{7E6842AC-5B91-0E0F-E4A9-D56BD2012DA0}"/>
              </a:ext>
            </a:extLst>
          </p:cNvPr>
          <p:cNvSpPr/>
          <p:nvPr/>
        </p:nvSpPr>
        <p:spPr>
          <a:xfrm>
            <a:off x="4240630" y="2041934"/>
            <a:ext cx="1429394" cy="784125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t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模型物件（</a:t>
            </a:r>
            <a:r>
              <a:rPr lang="en-US" altLang="zh-CN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PyTorch</a:t>
            </a:r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）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F252C65C-D672-5C68-794F-E0925F999210}"/>
              </a:ext>
            </a:extLst>
          </p:cNvPr>
          <p:cNvSpPr/>
          <p:nvPr/>
        </p:nvSpPr>
        <p:spPr>
          <a:xfrm>
            <a:off x="3333734" y="2351430"/>
            <a:ext cx="808909" cy="160811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訓練的參數物件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D9A29691-5DC4-2523-0848-4376079D4EEA}"/>
              </a:ext>
            </a:extLst>
          </p:cNvPr>
          <p:cNvSpPr/>
          <p:nvPr/>
        </p:nvSpPr>
        <p:spPr>
          <a:xfrm>
            <a:off x="5936391" y="941546"/>
            <a:ext cx="852562" cy="17541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下載分詞 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BA7E9471-E2FD-7314-ED18-B23A9B912B1C}"/>
              </a:ext>
            </a:extLst>
          </p:cNvPr>
          <p:cNvSpPr/>
          <p:nvPr/>
        </p:nvSpPr>
        <p:spPr>
          <a:xfrm>
            <a:off x="5943002" y="1761251"/>
            <a:ext cx="852562" cy="122673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分詞物件 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1AF69022-FE0D-1F1B-3379-9209ADAC26DA}"/>
              </a:ext>
            </a:extLst>
          </p:cNvPr>
          <p:cNvSpPr/>
          <p:nvPr/>
        </p:nvSpPr>
        <p:spPr>
          <a:xfrm>
            <a:off x="5777589" y="2284877"/>
            <a:ext cx="852563" cy="293915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資料核排物件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cxnSp>
        <p:nvCxnSpPr>
          <p:cNvPr id="48" name="接點: 肘形 47">
            <a:extLst>
              <a:ext uri="{FF2B5EF4-FFF2-40B4-BE49-F238E27FC236}">
                <a16:creationId xmlns:a16="http://schemas.microsoft.com/office/drawing/2014/main" id="{42A5639D-869E-B09B-00DF-F40598C0B66F}"/>
              </a:ext>
            </a:extLst>
          </p:cNvPr>
          <p:cNvCxnSpPr>
            <a:cxnSpLocks/>
            <a:stCxn id="40" idx="2"/>
            <a:endCxn id="20" idx="0"/>
          </p:cNvCxnSpPr>
          <p:nvPr/>
        </p:nvCxnSpPr>
        <p:spPr>
          <a:xfrm rot="16200000" flipH="1">
            <a:off x="6886748" y="1366459"/>
            <a:ext cx="400953" cy="1435883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接點: 肘形 50">
            <a:extLst>
              <a:ext uri="{FF2B5EF4-FFF2-40B4-BE49-F238E27FC236}">
                <a16:creationId xmlns:a16="http://schemas.microsoft.com/office/drawing/2014/main" id="{E8184D6F-1194-89A9-2EBE-106D9054DF3D}"/>
              </a:ext>
            </a:extLst>
          </p:cNvPr>
          <p:cNvCxnSpPr>
            <a:cxnSpLocks/>
            <a:stCxn id="40" idx="2"/>
            <a:endCxn id="42" idx="0"/>
          </p:cNvCxnSpPr>
          <p:nvPr/>
        </p:nvCxnSpPr>
        <p:spPr>
          <a:xfrm rot="5400000">
            <a:off x="6086100" y="2001694"/>
            <a:ext cx="400953" cy="165413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矩形 77">
            <a:extLst>
              <a:ext uri="{FF2B5EF4-FFF2-40B4-BE49-F238E27FC236}">
                <a16:creationId xmlns:a16="http://schemas.microsoft.com/office/drawing/2014/main" id="{E6C627EB-BF7F-9B14-B1F3-37E0A9AA5181}"/>
              </a:ext>
            </a:extLst>
          </p:cNvPr>
          <p:cNvSpPr/>
          <p:nvPr/>
        </p:nvSpPr>
        <p:spPr>
          <a:xfrm>
            <a:off x="4572000" y="3289905"/>
            <a:ext cx="772150" cy="293915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啓動模型訓練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05" name="矩形 104">
            <a:extLst>
              <a:ext uri="{FF2B5EF4-FFF2-40B4-BE49-F238E27FC236}">
                <a16:creationId xmlns:a16="http://schemas.microsoft.com/office/drawing/2014/main" id="{3EC90861-398C-5499-A9B4-38CA12520ACD}"/>
              </a:ext>
            </a:extLst>
          </p:cNvPr>
          <p:cNvSpPr/>
          <p:nvPr/>
        </p:nvSpPr>
        <p:spPr>
          <a:xfrm>
            <a:off x="185739" y="4999033"/>
            <a:ext cx="8815387" cy="704741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模型執行環境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10" name="矩形 109">
            <a:extLst>
              <a:ext uri="{FF2B5EF4-FFF2-40B4-BE49-F238E27FC236}">
                <a16:creationId xmlns:a16="http://schemas.microsoft.com/office/drawing/2014/main" id="{85109683-EDE3-2485-97C7-7F230C99D909}"/>
              </a:ext>
            </a:extLst>
          </p:cNvPr>
          <p:cNvSpPr/>
          <p:nvPr/>
        </p:nvSpPr>
        <p:spPr>
          <a:xfrm>
            <a:off x="185739" y="1679168"/>
            <a:ext cx="8815387" cy="2285241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t"/>
          <a:lstStyle/>
          <a:p>
            <a:r>
              <a:rPr lang="zh-TW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用 </a:t>
            </a:r>
            <a:r>
              <a:rPr lang="en-US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PyTorch </a:t>
            </a:r>
            <a:r>
              <a:rPr lang="zh-TW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從頭寫 </a:t>
            </a:r>
            <a:r>
              <a:rPr lang="en-US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code </a:t>
            </a:r>
            <a:r>
              <a:rPr lang="zh-TW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微調</a:t>
            </a:r>
          </a:p>
        </p:txBody>
      </p:sp>
      <p:cxnSp>
        <p:nvCxnSpPr>
          <p:cNvPr id="114" name="直線單箭頭接點 113">
            <a:extLst>
              <a:ext uri="{FF2B5EF4-FFF2-40B4-BE49-F238E27FC236}">
                <a16:creationId xmlns:a16="http://schemas.microsoft.com/office/drawing/2014/main" id="{E4ADABD1-954E-F32A-757A-287F2D9844C5}"/>
              </a:ext>
            </a:extLst>
          </p:cNvPr>
          <p:cNvCxnSpPr>
            <a:cxnSpLocks/>
            <a:stCxn id="10" idx="2"/>
            <a:endCxn id="34" idx="0"/>
          </p:cNvCxnSpPr>
          <p:nvPr/>
        </p:nvCxnSpPr>
        <p:spPr>
          <a:xfrm flipH="1">
            <a:off x="4955327" y="1108749"/>
            <a:ext cx="4198" cy="933185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直線單箭頭接點 117">
            <a:extLst>
              <a:ext uri="{FF2B5EF4-FFF2-40B4-BE49-F238E27FC236}">
                <a16:creationId xmlns:a16="http://schemas.microsoft.com/office/drawing/2014/main" id="{785C6C88-C610-04FC-BF45-F4DAD511E4BD}"/>
              </a:ext>
            </a:extLst>
          </p:cNvPr>
          <p:cNvCxnSpPr>
            <a:cxnSpLocks/>
            <a:stCxn id="38" idx="2"/>
            <a:endCxn id="40" idx="0"/>
          </p:cNvCxnSpPr>
          <p:nvPr/>
        </p:nvCxnSpPr>
        <p:spPr>
          <a:xfrm>
            <a:off x="6362672" y="1116965"/>
            <a:ext cx="6611" cy="644287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直線單箭頭接點 120">
            <a:extLst>
              <a:ext uri="{FF2B5EF4-FFF2-40B4-BE49-F238E27FC236}">
                <a16:creationId xmlns:a16="http://schemas.microsoft.com/office/drawing/2014/main" id="{7C0638DC-7015-38BE-4FEE-43D8B83328C7}"/>
              </a:ext>
            </a:extLst>
          </p:cNvPr>
          <p:cNvCxnSpPr>
            <a:cxnSpLocks/>
            <a:stCxn id="14" idx="2"/>
            <a:endCxn id="20" idx="0"/>
          </p:cNvCxnSpPr>
          <p:nvPr/>
        </p:nvCxnSpPr>
        <p:spPr>
          <a:xfrm>
            <a:off x="7805165" y="1109992"/>
            <a:ext cx="0" cy="1174886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直線單箭頭接點 127">
            <a:extLst>
              <a:ext uri="{FF2B5EF4-FFF2-40B4-BE49-F238E27FC236}">
                <a16:creationId xmlns:a16="http://schemas.microsoft.com/office/drawing/2014/main" id="{72A1A04D-60AD-D17B-5905-3D7A6E87482F}"/>
              </a:ext>
            </a:extLst>
          </p:cNvPr>
          <p:cNvCxnSpPr>
            <a:cxnSpLocks/>
            <a:stCxn id="20" idx="1"/>
            <a:endCxn id="42" idx="3"/>
          </p:cNvCxnSpPr>
          <p:nvPr/>
        </p:nvCxnSpPr>
        <p:spPr>
          <a:xfrm flipH="1">
            <a:off x="6630152" y="2431835"/>
            <a:ext cx="478951" cy="0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直線單箭頭接點 132">
            <a:extLst>
              <a:ext uri="{FF2B5EF4-FFF2-40B4-BE49-F238E27FC236}">
                <a16:creationId xmlns:a16="http://schemas.microsoft.com/office/drawing/2014/main" id="{F8859C5C-E641-D46A-0DB8-C5E6FAD38385}"/>
              </a:ext>
            </a:extLst>
          </p:cNvPr>
          <p:cNvCxnSpPr>
            <a:cxnSpLocks/>
            <a:stCxn id="42" idx="1"/>
            <a:endCxn id="34" idx="3"/>
          </p:cNvCxnSpPr>
          <p:nvPr/>
        </p:nvCxnSpPr>
        <p:spPr>
          <a:xfrm flipH="1">
            <a:off x="5670023" y="2431834"/>
            <a:ext cx="107565" cy="2162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直線單箭頭接點 136">
            <a:extLst>
              <a:ext uri="{FF2B5EF4-FFF2-40B4-BE49-F238E27FC236}">
                <a16:creationId xmlns:a16="http://schemas.microsoft.com/office/drawing/2014/main" id="{0F9F68E0-7684-F86B-A00C-A00298B706D2}"/>
              </a:ext>
            </a:extLst>
          </p:cNvPr>
          <p:cNvCxnSpPr>
            <a:cxnSpLocks/>
            <a:stCxn id="36" idx="3"/>
            <a:endCxn id="34" idx="1"/>
          </p:cNvCxnSpPr>
          <p:nvPr/>
        </p:nvCxnSpPr>
        <p:spPr>
          <a:xfrm>
            <a:off x="4142642" y="2431836"/>
            <a:ext cx="97988" cy="2161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矩形 145">
            <a:extLst>
              <a:ext uri="{FF2B5EF4-FFF2-40B4-BE49-F238E27FC236}">
                <a16:creationId xmlns:a16="http://schemas.microsoft.com/office/drawing/2014/main" id="{7CC0C207-7DCD-90A4-3CEE-B5686A84904A}"/>
              </a:ext>
            </a:extLst>
          </p:cNvPr>
          <p:cNvSpPr/>
          <p:nvPr/>
        </p:nvSpPr>
        <p:spPr>
          <a:xfrm>
            <a:off x="4461654" y="2240520"/>
            <a:ext cx="852563" cy="14837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微調</a:t>
            </a:r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手段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cxnSp>
        <p:nvCxnSpPr>
          <p:cNvPr id="163" name="直線單箭頭接點 162">
            <a:extLst>
              <a:ext uri="{FF2B5EF4-FFF2-40B4-BE49-F238E27FC236}">
                <a16:creationId xmlns:a16="http://schemas.microsoft.com/office/drawing/2014/main" id="{5A8FECF0-ECFE-CF5E-6405-F2FB24E48054}"/>
              </a:ext>
            </a:extLst>
          </p:cNvPr>
          <p:cNvCxnSpPr>
            <a:cxnSpLocks/>
            <a:stCxn id="34" idx="2"/>
            <a:endCxn id="78" idx="0"/>
          </p:cNvCxnSpPr>
          <p:nvPr/>
        </p:nvCxnSpPr>
        <p:spPr>
          <a:xfrm>
            <a:off x="4955327" y="2826058"/>
            <a:ext cx="2749" cy="463847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直線單箭頭接點 165">
            <a:extLst>
              <a:ext uri="{FF2B5EF4-FFF2-40B4-BE49-F238E27FC236}">
                <a16:creationId xmlns:a16="http://schemas.microsoft.com/office/drawing/2014/main" id="{3B95A4BC-289B-F123-E3F9-4A3D68D3C9D9}"/>
              </a:ext>
            </a:extLst>
          </p:cNvPr>
          <p:cNvCxnSpPr>
            <a:cxnSpLocks/>
            <a:stCxn id="78" idx="2"/>
            <a:endCxn id="24" idx="0"/>
          </p:cNvCxnSpPr>
          <p:nvPr/>
        </p:nvCxnSpPr>
        <p:spPr>
          <a:xfrm>
            <a:off x="4958075" y="3583819"/>
            <a:ext cx="2898" cy="571313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直線單箭頭接點 170">
            <a:extLst>
              <a:ext uri="{FF2B5EF4-FFF2-40B4-BE49-F238E27FC236}">
                <a16:creationId xmlns:a16="http://schemas.microsoft.com/office/drawing/2014/main" id="{2EB35435-5FF8-4324-BF98-F63774C09651}"/>
              </a:ext>
            </a:extLst>
          </p:cNvPr>
          <p:cNvCxnSpPr>
            <a:cxnSpLocks/>
            <a:stCxn id="24" idx="2"/>
            <a:endCxn id="26" idx="0"/>
          </p:cNvCxnSpPr>
          <p:nvPr/>
        </p:nvCxnSpPr>
        <p:spPr>
          <a:xfrm>
            <a:off x="4960973" y="4315767"/>
            <a:ext cx="0" cy="133280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5" name="文字方塊 174">
            <a:extLst>
              <a:ext uri="{FF2B5EF4-FFF2-40B4-BE49-F238E27FC236}">
                <a16:creationId xmlns:a16="http://schemas.microsoft.com/office/drawing/2014/main" id="{DC63F816-AC5B-9D01-4FA4-51AFBA0D6F6E}"/>
              </a:ext>
            </a:extLst>
          </p:cNvPr>
          <p:cNvSpPr txBox="1"/>
          <p:nvPr/>
        </p:nvSpPr>
        <p:spPr>
          <a:xfrm>
            <a:off x="4266801" y="2370255"/>
            <a:ext cx="1382548" cy="553998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開旁支：</a:t>
            </a: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LoRA / QLoRA / DoRA</a:t>
            </a:r>
          </a:p>
          <a:p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層凍結：</a:t>
            </a: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Freeze</a:t>
            </a:r>
            <a:b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虛擬 </a:t>
            </a:r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Token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：</a:t>
            </a: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Prefix / Prompt Tuning</a:t>
            </a:r>
          </a:p>
          <a:p>
            <a:r>
              <a:rPr lang="zh-TW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微調 </a:t>
            </a:r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Bias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：</a:t>
            </a: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BitFit</a:t>
            </a:r>
          </a:p>
        </p:txBody>
      </p:sp>
      <p:sp>
        <p:nvSpPr>
          <p:cNvPr id="191" name="文字方塊 190">
            <a:extLst>
              <a:ext uri="{FF2B5EF4-FFF2-40B4-BE49-F238E27FC236}">
                <a16:creationId xmlns:a16="http://schemas.microsoft.com/office/drawing/2014/main" id="{5D76B831-1B92-6132-F84C-703420D62D33}"/>
              </a:ext>
            </a:extLst>
          </p:cNvPr>
          <p:cNvSpPr txBox="1"/>
          <p:nvPr/>
        </p:nvSpPr>
        <p:spPr>
          <a:xfrm>
            <a:off x="6369282" y="1116147"/>
            <a:ext cx="1274688" cy="553998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tokenizer_config.json</a:t>
            </a:r>
          </a:p>
          <a:p>
            <a:r>
              <a:rPr lang="en-US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vocab.json</a:t>
            </a:r>
          </a:p>
          <a:p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merges.txt</a:t>
            </a:r>
          </a:p>
          <a:p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tokenizer.json</a:t>
            </a:r>
          </a:p>
          <a:p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special_tokens_map.json</a:t>
            </a:r>
          </a:p>
        </p:txBody>
      </p:sp>
      <p:sp>
        <p:nvSpPr>
          <p:cNvPr id="202" name="文字方塊 201">
            <a:extLst>
              <a:ext uri="{FF2B5EF4-FFF2-40B4-BE49-F238E27FC236}">
                <a16:creationId xmlns:a16="http://schemas.microsoft.com/office/drawing/2014/main" id="{86C78B19-240D-1AE5-CE33-34433538B3A6}"/>
              </a:ext>
            </a:extLst>
          </p:cNvPr>
          <p:cNvSpPr txBox="1"/>
          <p:nvPr/>
        </p:nvSpPr>
        <p:spPr>
          <a:xfrm>
            <a:off x="7788181" y="1164677"/>
            <a:ext cx="1212944" cy="369332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README.md</a:t>
            </a:r>
            <a:endParaRPr lang="en-US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  <a:p>
            <a:r>
              <a:rPr lang="zh-TW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train-00000-of-00001.parquet</a:t>
            </a:r>
            <a:br>
              <a:rPr lang="en-US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test-00000-of-00001.parquet</a:t>
            </a:r>
            <a:endParaRPr lang="en-US" altLang="zh-TW" sz="600" dirty="0">
              <a:solidFill>
                <a:srgbClr val="FF0000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47" name="文字方塊 246">
            <a:extLst>
              <a:ext uri="{FF2B5EF4-FFF2-40B4-BE49-F238E27FC236}">
                <a16:creationId xmlns:a16="http://schemas.microsoft.com/office/drawing/2014/main" id="{A5C640EF-71D1-9954-00E7-1DCD265E0930}"/>
              </a:ext>
            </a:extLst>
          </p:cNvPr>
          <p:cNvSpPr txBox="1"/>
          <p:nvPr/>
        </p:nvSpPr>
        <p:spPr>
          <a:xfrm>
            <a:off x="253425" y="926707"/>
            <a:ext cx="1081211" cy="646331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[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直接可使用得微調工具</a:t>
            </a:r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]</a:t>
            </a:r>
            <a:r>
              <a:rPr lang="zh-TW" altLang="zh-TW" sz="600" dirty="0"/>
              <a:t> </a:t>
            </a:r>
            <a:br>
              <a:rPr lang="en-US" altLang="zh-TW" sz="600" dirty="0"/>
            </a:br>
            <a:r>
              <a:rPr lang="zh-TW" altLang="zh-TW" sz="600" dirty="0"/>
              <a:t>Axolotl </a:t>
            </a:r>
            <a:endParaRPr lang="en-US" altLang="zh-TW" sz="600" dirty="0"/>
          </a:p>
          <a:p>
            <a:r>
              <a:rPr lang="zh-TW" altLang="zh-TW" sz="600" dirty="0">
                <a:solidFill>
                  <a:srgbClr val="FF0000"/>
                </a:solidFill>
              </a:rPr>
              <a:t>LLaMA Factory</a:t>
            </a:r>
            <a:endParaRPr lang="en-US" altLang="zh-TW" sz="600" dirty="0">
              <a:solidFill>
                <a:srgbClr val="FF0000"/>
              </a:solidFill>
            </a:endParaRPr>
          </a:p>
          <a:p>
            <a:r>
              <a:rPr lang="zh-TW" altLang="zh-TW" sz="600" dirty="0"/>
              <a:t>Unsloth </a:t>
            </a:r>
            <a:endParaRPr lang="en-US" altLang="zh-TW" sz="600" dirty="0"/>
          </a:p>
          <a:p>
            <a:r>
              <a:rPr lang="zh-TW" altLang="zh-TW" sz="600" dirty="0"/>
              <a:t>Torchtune </a:t>
            </a:r>
            <a:endParaRPr lang="en-US" altLang="zh-TW" sz="600" dirty="0"/>
          </a:p>
          <a:p>
            <a:r>
              <a:rPr lang="zh-TW" altLang="zh-TW" sz="600" dirty="0"/>
              <a:t>ModelScope SWIFT</a:t>
            </a:r>
          </a:p>
        </p:txBody>
      </p:sp>
      <p:sp>
        <p:nvSpPr>
          <p:cNvPr id="252" name="矩形 251">
            <a:extLst>
              <a:ext uri="{FF2B5EF4-FFF2-40B4-BE49-F238E27FC236}">
                <a16:creationId xmlns:a16="http://schemas.microsoft.com/office/drawing/2014/main" id="{9A6FC049-1187-D7E5-0630-C64F63C4816F}"/>
              </a:ext>
            </a:extLst>
          </p:cNvPr>
          <p:cNvSpPr/>
          <p:nvPr/>
        </p:nvSpPr>
        <p:spPr>
          <a:xfrm>
            <a:off x="1990764" y="5143054"/>
            <a:ext cx="852563" cy="11927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en-US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</a:t>
            </a:r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afetensors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58" name="矩形 257">
            <a:extLst>
              <a:ext uri="{FF2B5EF4-FFF2-40B4-BE49-F238E27FC236}">
                <a16:creationId xmlns:a16="http://schemas.microsoft.com/office/drawing/2014/main" id="{1ADAF727-5FDF-2842-C7DB-D8C277D46F95}"/>
              </a:ext>
            </a:extLst>
          </p:cNvPr>
          <p:cNvSpPr/>
          <p:nvPr/>
        </p:nvSpPr>
        <p:spPr>
          <a:xfrm>
            <a:off x="6935619" y="5139160"/>
            <a:ext cx="852563" cy="11927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GGUF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60" name="矩形 259">
            <a:extLst>
              <a:ext uri="{FF2B5EF4-FFF2-40B4-BE49-F238E27FC236}">
                <a16:creationId xmlns:a16="http://schemas.microsoft.com/office/drawing/2014/main" id="{231D6C02-3483-2589-2E13-924E757F37B9}"/>
              </a:ext>
            </a:extLst>
          </p:cNvPr>
          <p:cNvSpPr/>
          <p:nvPr/>
        </p:nvSpPr>
        <p:spPr>
          <a:xfrm>
            <a:off x="5155490" y="5134564"/>
            <a:ext cx="852563" cy="11927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MLX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62" name="矩形 261">
            <a:extLst>
              <a:ext uri="{FF2B5EF4-FFF2-40B4-BE49-F238E27FC236}">
                <a16:creationId xmlns:a16="http://schemas.microsoft.com/office/drawing/2014/main" id="{B2B955B9-2D46-C93F-B50E-EFFFE9188B34}"/>
              </a:ext>
            </a:extLst>
          </p:cNvPr>
          <p:cNvSpPr/>
          <p:nvPr/>
        </p:nvSpPr>
        <p:spPr>
          <a:xfrm>
            <a:off x="3395131" y="5141774"/>
            <a:ext cx="852563" cy="11927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en-US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ONNX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cxnSp>
        <p:nvCxnSpPr>
          <p:cNvPr id="265" name="接點: 肘形 264">
            <a:extLst>
              <a:ext uri="{FF2B5EF4-FFF2-40B4-BE49-F238E27FC236}">
                <a16:creationId xmlns:a16="http://schemas.microsoft.com/office/drawing/2014/main" id="{42D552B2-437C-65F9-520E-189C69CC693A}"/>
              </a:ext>
            </a:extLst>
          </p:cNvPr>
          <p:cNvCxnSpPr>
            <a:cxnSpLocks/>
            <a:stCxn id="26" idx="2"/>
            <a:endCxn id="252" idx="0"/>
          </p:cNvCxnSpPr>
          <p:nvPr/>
        </p:nvCxnSpPr>
        <p:spPr>
          <a:xfrm rot="5400000">
            <a:off x="3428842" y="3610922"/>
            <a:ext cx="520336" cy="2543928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8" name="接點: 肘形 267">
            <a:extLst>
              <a:ext uri="{FF2B5EF4-FFF2-40B4-BE49-F238E27FC236}">
                <a16:creationId xmlns:a16="http://schemas.microsoft.com/office/drawing/2014/main" id="{0D4B1183-3F84-40E9-3BF3-22D2AECBA622}"/>
              </a:ext>
            </a:extLst>
          </p:cNvPr>
          <p:cNvCxnSpPr>
            <a:cxnSpLocks/>
            <a:stCxn id="26" idx="2"/>
            <a:endCxn id="258" idx="0"/>
          </p:cNvCxnSpPr>
          <p:nvPr/>
        </p:nvCxnSpPr>
        <p:spPr>
          <a:xfrm rot="16200000" flipH="1">
            <a:off x="5903217" y="3680476"/>
            <a:ext cx="516442" cy="2400927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2" name="接點: 肘形 271">
            <a:extLst>
              <a:ext uri="{FF2B5EF4-FFF2-40B4-BE49-F238E27FC236}">
                <a16:creationId xmlns:a16="http://schemas.microsoft.com/office/drawing/2014/main" id="{68D0530A-C47E-1270-2FAA-27D23EC81278}"/>
              </a:ext>
            </a:extLst>
          </p:cNvPr>
          <p:cNvCxnSpPr>
            <a:cxnSpLocks/>
            <a:stCxn id="26" idx="2"/>
            <a:endCxn id="260" idx="0"/>
          </p:cNvCxnSpPr>
          <p:nvPr/>
        </p:nvCxnSpPr>
        <p:spPr>
          <a:xfrm rot="16200000" flipH="1">
            <a:off x="5015450" y="4568242"/>
            <a:ext cx="511846" cy="620798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5" name="接點: 肘形 274">
            <a:extLst>
              <a:ext uri="{FF2B5EF4-FFF2-40B4-BE49-F238E27FC236}">
                <a16:creationId xmlns:a16="http://schemas.microsoft.com/office/drawing/2014/main" id="{19DE8891-6873-FDD2-E2BA-E7D41F288E63}"/>
              </a:ext>
            </a:extLst>
          </p:cNvPr>
          <p:cNvCxnSpPr>
            <a:cxnSpLocks/>
            <a:stCxn id="26" idx="2"/>
            <a:endCxn id="262" idx="0"/>
          </p:cNvCxnSpPr>
          <p:nvPr/>
        </p:nvCxnSpPr>
        <p:spPr>
          <a:xfrm rot="5400000">
            <a:off x="4131665" y="4312467"/>
            <a:ext cx="519056" cy="1139561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3" name="文字方塊 282">
            <a:extLst>
              <a:ext uri="{FF2B5EF4-FFF2-40B4-BE49-F238E27FC236}">
                <a16:creationId xmlns:a16="http://schemas.microsoft.com/office/drawing/2014/main" id="{E73DAF14-0EDE-066F-1C03-22F3F7D00913}"/>
              </a:ext>
            </a:extLst>
          </p:cNvPr>
          <p:cNvSpPr txBox="1"/>
          <p:nvPr/>
        </p:nvSpPr>
        <p:spPr>
          <a:xfrm>
            <a:off x="1942286" y="5279398"/>
            <a:ext cx="852563" cy="276999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 vLLM</a:t>
            </a:r>
            <a:b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 TGI 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85" name="文字方塊 284">
            <a:extLst>
              <a:ext uri="{FF2B5EF4-FFF2-40B4-BE49-F238E27FC236}">
                <a16:creationId xmlns:a16="http://schemas.microsoft.com/office/drawing/2014/main" id="{FD0685BF-B94F-4A9B-9E8A-4034E88D406B}"/>
              </a:ext>
            </a:extLst>
          </p:cNvPr>
          <p:cNvSpPr txBox="1"/>
          <p:nvPr/>
        </p:nvSpPr>
        <p:spPr>
          <a:xfrm>
            <a:off x="6952602" y="5249248"/>
            <a:ext cx="852563" cy="276999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 Ollama </a:t>
            </a:r>
            <a:b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 TGI 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87" name="文字方塊 286">
            <a:extLst>
              <a:ext uri="{FF2B5EF4-FFF2-40B4-BE49-F238E27FC236}">
                <a16:creationId xmlns:a16="http://schemas.microsoft.com/office/drawing/2014/main" id="{4B269E56-C728-6787-8E81-1981A87157F9}"/>
              </a:ext>
            </a:extLst>
          </p:cNvPr>
          <p:cNvSpPr txBox="1"/>
          <p:nvPr/>
        </p:nvSpPr>
        <p:spPr>
          <a:xfrm>
            <a:off x="5137010" y="5300545"/>
            <a:ext cx="852563" cy="276999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mlx-lm</a:t>
            </a:r>
          </a:p>
          <a:p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LLM Farm 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89" name="文字方塊 288">
            <a:extLst>
              <a:ext uri="{FF2B5EF4-FFF2-40B4-BE49-F238E27FC236}">
                <a16:creationId xmlns:a16="http://schemas.microsoft.com/office/drawing/2014/main" id="{2941C4EB-ADCA-39E4-0A07-CA423DBA4878}"/>
              </a:ext>
            </a:extLst>
          </p:cNvPr>
          <p:cNvSpPr txBox="1"/>
          <p:nvPr/>
        </p:nvSpPr>
        <p:spPr>
          <a:xfrm>
            <a:off x="3495632" y="5270701"/>
            <a:ext cx="852563" cy="184666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ONNX Runtime 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91" name="文字方塊 290">
            <a:extLst>
              <a:ext uri="{FF2B5EF4-FFF2-40B4-BE49-F238E27FC236}">
                <a16:creationId xmlns:a16="http://schemas.microsoft.com/office/drawing/2014/main" id="{38A2098C-65B1-BAEA-F313-AF7DEA58FB71}"/>
              </a:ext>
            </a:extLst>
          </p:cNvPr>
          <p:cNvSpPr txBox="1"/>
          <p:nvPr/>
        </p:nvSpPr>
        <p:spPr>
          <a:xfrm>
            <a:off x="1980422" y="5506129"/>
            <a:ext cx="852563" cy="184666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雲端、開發階段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93" name="文字方塊 292">
            <a:extLst>
              <a:ext uri="{FF2B5EF4-FFF2-40B4-BE49-F238E27FC236}">
                <a16:creationId xmlns:a16="http://schemas.microsoft.com/office/drawing/2014/main" id="{F156262B-FBDE-F4B9-3888-D43495A0DCCB}"/>
              </a:ext>
            </a:extLst>
          </p:cNvPr>
          <p:cNvSpPr txBox="1"/>
          <p:nvPr/>
        </p:nvSpPr>
        <p:spPr>
          <a:xfrm>
            <a:off x="7056293" y="5489959"/>
            <a:ext cx="852563" cy="184666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pc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邊緣端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95" name="文字方塊 294">
            <a:extLst>
              <a:ext uri="{FF2B5EF4-FFF2-40B4-BE49-F238E27FC236}">
                <a16:creationId xmlns:a16="http://schemas.microsoft.com/office/drawing/2014/main" id="{43DD308C-3610-EE5B-A0AC-865CAC18D067}"/>
              </a:ext>
            </a:extLst>
          </p:cNvPr>
          <p:cNvSpPr txBox="1"/>
          <p:nvPr/>
        </p:nvSpPr>
        <p:spPr>
          <a:xfrm>
            <a:off x="5213282" y="5533312"/>
            <a:ext cx="852563" cy="184666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mac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邊緣端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97" name="文字方塊 296">
            <a:extLst>
              <a:ext uri="{FF2B5EF4-FFF2-40B4-BE49-F238E27FC236}">
                <a16:creationId xmlns:a16="http://schemas.microsoft.com/office/drawing/2014/main" id="{8AB96CAE-778C-04C3-758E-EA80F7D02DEC}"/>
              </a:ext>
            </a:extLst>
          </p:cNvPr>
          <p:cNvSpPr txBox="1"/>
          <p:nvPr/>
        </p:nvSpPr>
        <p:spPr>
          <a:xfrm>
            <a:off x="3648084" y="5510651"/>
            <a:ext cx="852563" cy="184666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zh-TW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跨平台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pic>
        <p:nvPicPr>
          <p:cNvPr id="299" name="圖片 298">
            <a:extLst>
              <a:ext uri="{FF2B5EF4-FFF2-40B4-BE49-F238E27FC236}">
                <a16:creationId xmlns:a16="http://schemas.microsoft.com/office/drawing/2014/main" id="{3068F5DA-67C4-16D0-25EA-B8EC477900A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68385" y="3408287"/>
            <a:ext cx="619157" cy="90492"/>
          </a:xfrm>
          <a:prstGeom prst="rect">
            <a:avLst/>
          </a:prstGeom>
        </p:spPr>
      </p:pic>
      <p:pic>
        <p:nvPicPr>
          <p:cNvPr id="301" name="圖片 300">
            <a:extLst>
              <a:ext uri="{FF2B5EF4-FFF2-40B4-BE49-F238E27FC236}">
                <a16:creationId xmlns:a16="http://schemas.microsoft.com/office/drawing/2014/main" id="{10C7C000-FE46-F822-B7E7-CAB6A732467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47853" y="4182410"/>
            <a:ext cx="519140" cy="133357"/>
          </a:xfrm>
          <a:prstGeom prst="rect">
            <a:avLst/>
          </a:prstGeom>
        </p:spPr>
      </p:pic>
      <p:pic>
        <p:nvPicPr>
          <p:cNvPr id="303" name="圖片 302">
            <a:extLst>
              <a:ext uri="{FF2B5EF4-FFF2-40B4-BE49-F238E27FC236}">
                <a16:creationId xmlns:a16="http://schemas.microsoft.com/office/drawing/2014/main" id="{92A525C8-3860-AAFC-0292-5954D4D603D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4584" y="4582336"/>
            <a:ext cx="1519316" cy="190510"/>
          </a:xfrm>
          <a:prstGeom prst="rect">
            <a:avLst/>
          </a:prstGeom>
        </p:spPr>
      </p:pic>
      <p:pic>
        <p:nvPicPr>
          <p:cNvPr id="309" name="圖片 308">
            <a:extLst>
              <a:ext uri="{FF2B5EF4-FFF2-40B4-BE49-F238E27FC236}">
                <a16:creationId xmlns:a16="http://schemas.microsoft.com/office/drawing/2014/main" id="{53B8548D-F084-A213-2F4D-C298EC54CB4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47244" y="4345355"/>
            <a:ext cx="1761549" cy="463336"/>
          </a:xfrm>
          <a:prstGeom prst="rect">
            <a:avLst/>
          </a:prstGeom>
        </p:spPr>
      </p:pic>
      <p:sp>
        <p:nvSpPr>
          <p:cNvPr id="350" name="文字方塊 349">
            <a:extLst>
              <a:ext uri="{FF2B5EF4-FFF2-40B4-BE49-F238E27FC236}">
                <a16:creationId xmlns:a16="http://schemas.microsoft.com/office/drawing/2014/main" id="{39FF7848-8229-04D6-551E-93C8BD91D235}"/>
              </a:ext>
            </a:extLst>
          </p:cNvPr>
          <p:cNvSpPr txBox="1"/>
          <p:nvPr/>
        </p:nvSpPr>
        <p:spPr>
          <a:xfrm>
            <a:off x="4937155" y="1108277"/>
            <a:ext cx="1217945" cy="363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069"/>
              </a:lnSpc>
            </a:pPr>
            <a:r>
              <a:rPr lang="zh-TW" altLang="zh-TW" sz="750" dirty="0">
                <a:solidFill>
                  <a:srgbClr val="CE9178"/>
                </a:solidFill>
                <a:latin typeface="Consolas" panose="020B0609020204030204" pitchFamily="49" charset="0"/>
              </a:rPr>
              <a:t>gemma-4-E2B-it</a:t>
            </a:r>
            <a:r>
              <a:rPr lang="en-US" altLang="zh-TW" sz="750" dirty="0">
                <a:solidFill>
                  <a:srgbClr val="CE9178"/>
                </a:solidFill>
                <a:latin typeface="Consolas" panose="020B0609020204030204" pitchFamily="49" charset="0"/>
              </a:rPr>
              <a:t> 10.2</a:t>
            </a:r>
            <a:r>
              <a:rPr lang="en-US" altLang="zh-CN" sz="750" dirty="0">
                <a:solidFill>
                  <a:srgbClr val="CE9178"/>
                </a:solidFill>
                <a:latin typeface="Consolas" panose="020B0609020204030204" pitchFamily="49" charset="0"/>
              </a:rPr>
              <a:t>G</a:t>
            </a:r>
            <a:endParaRPr lang="zh-TW" altLang="zh-TW" sz="750" dirty="0">
              <a:solidFill>
                <a:srgbClr val="CCCCCC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906059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theme/theme1.xml><?xml version="1.0" encoding="utf-8"?>
<a:theme xmlns:a="http://schemas.openxmlformats.org/drawingml/2006/main" name="Default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tx1">
            <a:alpha val="70000"/>
          </a:schemeClr>
        </a:solidFill>
        <a:ln w="12700">
          <a:solidFill>
            <a:schemeClr val="bg1">
              <a:lumMod val="75000"/>
            </a:schemeClr>
          </a:solidFill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簡報1" id="{3349570C-DE3B-48BB-8671-1853FC12C45D}" vid="{424F00FA-23EC-402E-8D8B-A6A8EB048657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TM02900688[[fn=多面向]]</Template>
  <TotalTime>5</TotalTime>
  <Words>9267</Words>
  <Application>Microsoft Office PowerPoint</Application>
  <PresentationFormat>如螢幕大小 (4:3)</PresentationFormat>
  <Paragraphs>1286</Paragraphs>
  <Slides>19</Slides>
  <Notes>16</Notes>
  <HiddenSlides>1</HiddenSlides>
  <MMClips>0</MMClips>
  <ScaleCrop>false</ScaleCrop>
  <HeadingPairs>
    <vt:vector size="6" baseType="variant">
      <vt:variant>
        <vt:lpstr>使用字型</vt:lpstr>
      </vt:variant>
      <vt:variant>
        <vt:i4>12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19</vt:i4>
      </vt:variant>
    </vt:vector>
  </HeadingPairs>
  <TitlesOfParts>
    <vt:vector size="32" baseType="lpstr">
      <vt:lpstr>Meiryo</vt:lpstr>
      <vt:lpstr>Noto Sans HK</vt:lpstr>
      <vt:lpstr>微軟正黑體</vt:lpstr>
      <vt:lpstr>微軟正黑體 Light</vt:lpstr>
      <vt:lpstr>ADLaM Display</vt:lpstr>
      <vt:lpstr>Arial</vt:lpstr>
      <vt:lpstr>Calibri</vt:lpstr>
      <vt:lpstr>Cambria Math</vt:lpstr>
      <vt:lpstr>Comic Sans MS</vt:lpstr>
      <vt:lpstr>Consolas</vt:lpstr>
      <vt:lpstr>Gadugi</vt:lpstr>
      <vt:lpstr>Wingdings</vt:lpstr>
      <vt:lpstr>Default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Progress Report</dc:title>
  <dc:creator>Felix Tien(田慶豐)</dc:creator>
  <cp:lastModifiedBy>Allen Ni(倪士凱)</cp:lastModifiedBy>
  <cp:revision>1832</cp:revision>
  <cp:lastPrinted>2024-07-30T01:44:15Z</cp:lastPrinted>
  <dcterms:created xsi:type="dcterms:W3CDTF">2019-11-08T03:01:47Z</dcterms:created>
  <dcterms:modified xsi:type="dcterms:W3CDTF">2026-07-27T07:31:26Z</dcterms:modified>
</cp:coreProperties>
</file>