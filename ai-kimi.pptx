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7"/>
  </p:notesMasterIdLst>
  <p:handoutMasterIdLst>
    <p:handoutMasterId r:id="rId28"/>
  </p:handoutMasterIdLst>
  <p:sldIdLst>
    <p:sldId id="3459" r:id="rId2"/>
    <p:sldId id="3472" r:id="rId3"/>
    <p:sldId id="3465" r:id="rId4"/>
    <p:sldId id="3566" r:id="rId5"/>
    <p:sldId id="3555" r:id="rId6"/>
    <p:sldId id="3559" r:id="rId7"/>
    <p:sldId id="3563" r:id="rId8"/>
    <p:sldId id="3562" r:id="rId9"/>
    <p:sldId id="3556" r:id="rId10"/>
    <p:sldId id="3551" r:id="rId11"/>
    <p:sldId id="3570" r:id="rId12"/>
    <p:sldId id="3571" r:id="rId13"/>
    <p:sldId id="3572" r:id="rId14"/>
    <p:sldId id="3567" r:id="rId15"/>
    <p:sldId id="3568" r:id="rId16"/>
    <p:sldId id="3561" r:id="rId17"/>
    <p:sldId id="3534" r:id="rId18"/>
    <p:sldId id="3565" r:id="rId19"/>
    <p:sldId id="3451" r:id="rId20"/>
    <p:sldId id="3560" r:id="rId21"/>
    <p:sldId id="3564" r:id="rId22"/>
    <p:sldId id="3536" r:id="rId23"/>
    <p:sldId id="3569" r:id="rId24"/>
    <p:sldId id="3535" r:id="rId25"/>
    <p:sldId id="3549" r:id="rId26"/>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LSTM" id="{EE40A592-26E0-44D5-B20C-08484E6740F4}">
          <p14:sldIdLst>
            <p14:sldId id="3465"/>
            <p14:sldId id="3566"/>
            <p14:sldId id="3555"/>
            <p14:sldId id="3559"/>
          </p14:sldIdLst>
        </p14:section>
        <p14:section name="Optimizer-MuON" id="{D96295E3-C59A-456D-AE59-C3D5699A4263}">
          <p14:sldIdLst>
            <p14:sldId id="3563"/>
            <p14:sldId id="3562"/>
            <p14:sldId id="3556"/>
            <p14:sldId id="3551"/>
          </p14:sldIdLst>
        </p14:section>
        <p14:section name="Moonshot-Kimi" id="{7C2BE5B2-C507-46C7-871E-C935EB653EC3}">
          <p14:sldIdLst>
            <p14:sldId id="3570"/>
            <p14:sldId id="3571"/>
            <p14:sldId id="3572"/>
            <p14:sldId id="3567"/>
            <p14:sldId id="3568"/>
            <p14:sldId id="3561"/>
            <p14:sldId id="3534"/>
            <p14:sldId id="3565"/>
            <p14:sldId id="3451"/>
            <p14:sldId id="3560"/>
            <p14:sldId id="3564"/>
            <p14:sldId id="3536"/>
            <p14:sldId id="3569"/>
          </p14:sldIdLst>
        </p14:section>
        <p14:section name="Conclusion" id="{D9E6914C-A73F-4176-B0F8-3F87EAC09119}">
          <p14:sldIdLst>
            <p14:sldId id="3535"/>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59738" autoAdjust="0"/>
  </p:normalViewPr>
  <p:slideViewPr>
    <p:cSldViewPr>
      <p:cViewPr>
        <p:scale>
          <a:sx n="100" d="100"/>
          <a:sy n="100" d="100"/>
        </p:scale>
        <p:origin x="900"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2026/8/28</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2026/8/28</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m.aitntnews.com/newDetail.html?newId=21495" TargetMode="External"/><Relationship Id="rId2" Type="http://schemas.openxmlformats.org/officeDocument/2006/relationships/slide" Target="../slides/slide4.xml"/><Relationship Id="rId1" Type="http://schemas.openxmlformats.org/officeDocument/2006/relationships/notesMaster" Target="../notesMasters/notesMaster1.xml"/><Relationship Id="rId4" Type="http://schemas.openxmlformats.org/officeDocument/2006/relationships/hyperlink" Target="https://hao.cnyes.com/post/262066" TargetMode="Externa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Kimi（月之暗面團隊）的大模型架構與傳統的 </a:t>
            </a:r>
            <a:r>
              <a:rPr lang="zh-TW" altLang="zh-TW" sz="1200" b="1" u="none" strike="noStrike" kern="1200" dirty="0">
                <a:solidFill>
                  <a:schemeClr val="tx1"/>
                </a:solidFill>
                <a:effectLst/>
                <a:latin typeface="+mn-lt"/>
                <a:ea typeface="+mn-ea"/>
                <a:cs typeface="+mn-cs"/>
              </a:rPr>
              <a:t>LSTM（長短期記憶網路）</a:t>
            </a:r>
            <a:r>
              <a:rPr lang="zh-TW" altLang="zh-TW" sz="1200" b="0" u="none" strike="noStrike" kern="1200" dirty="0">
                <a:solidFill>
                  <a:schemeClr val="tx1"/>
                </a:solidFill>
                <a:effectLst/>
                <a:latin typeface="+mn-lt"/>
                <a:ea typeface="+mn-ea"/>
                <a:cs typeface="+mn-cs"/>
              </a:rPr>
              <a:t> 之間，存在著深刻的</a:t>
            </a:r>
            <a:r>
              <a:rPr lang="zh-TW" altLang="zh-TW" sz="1200" b="1" u="none" strike="noStrike" kern="1200" dirty="0">
                <a:solidFill>
                  <a:schemeClr val="tx1"/>
                </a:solidFill>
                <a:effectLst/>
                <a:latin typeface="+mn-lt"/>
                <a:ea typeface="+mn-ea"/>
                <a:cs typeface="+mn-cs"/>
              </a:rPr>
              <a:t>技術演進與「旋轉」概念的傳承</a:t>
            </a:r>
            <a:r>
              <a:rPr lang="zh-TW" altLang="zh-TW" sz="1200" b="0" u="none" strike="noStrike" kern="1200" dirty="0">
                <a:solidFill>
                  <a:schemeClr val="tx1"/>
                </a:solidFill>
                <a:effectLst/>
                <a:latin typeface="+mn-lt"/>
                <a:ea typeface="+mn-ea"/>
                <a:cs typeface="+mn-cs"/>
              </a:rPr>
              <a:t>關係。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在早期，處理序列資料主要依賴像 LSTM 這樣的循環神經網絡</a:t>
            </a:r>
            <a:r>
              <a:rPr lang="en-US" altLang="zh-TW" sz="1200" b="0" u="none" strike="noStrike" kern="1200" dirty="0">
                <a:solidFill>
                  <a:schemeClr val="tx1"/>
                </a:solidFill>
                <a:effectLst/>
                <a:latin typeface="+mn-lt"/>
                <a:ea typeface="+mn-ea"/>
                <a:cs typeface="+mn-cs"/>
              </a:rPr>
              <a:t>(RNN)</a:t>
            </a:r>
            <a:r>
              <a:rPr lang="zh-TW" altLang="zh-TW" sz="1200" b="0" u="none" strike="noStrike" kern="1200" dirty="0">
                <a:solidFill>
                  <a:schemeClr val="tx1"/>
                </a:solidFill>
                <a:effectLst/>
                <a:latin typeface="+mn-lt"/>
                <a:ea typeface="+mn-ea"/>
                <a:cs typeface="+mn-cs"/>
              </a:rPr>
              <a:t>，但它必須像單行道一樣依序排隊處理，速度較慢且容易遺忘長文本。後來以 Transformer 為主的「注意力機制</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Attention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」成為主流。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而 Kimi 團隊在近年</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Kimi Linear 與 KDA 等新架構研究</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對底層技術進行突破時，借鑒並延伸了 LSTM 的核心精神</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pPr lvl="0"/>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將概念「旋轉 90 度」</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OpenAI 創辦人</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Ilya Sutskever 曾提出設想，把按時間序列處理資料的 LSTM「旋轉 90 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將時間軸換成深度軸</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就會變成殘差網路</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ResNet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Kimi 團隊進一步思考：既然時間上的 LSTM 能對應深度上的殘差，那注意力機制也可以如法炮製，推出 </a:t>
            </a:r>
            <a:r>
              <a:rPr lang="zh-TW" altLang="zh-TW" sz="1200" b="1" u="none" strike="noStrike" kern="1200" dirty="0">
                <a:solidFill>
                  <a:schemeClr val="tx1"/>
                </a:solidFill>
                <a:effectLst/>
                <a:latin typeface="+mn-lt"/>
                <a:ea typeface="+mn-ea"/>
                <a:cs typeface="+mn-cs"/>
              </a:rPr>
              <a:t>Attention Residuals（注意力殘差）</a:t>
            </a:r>
            <a:r>
              <a:rPr lang="zh-TW" altLang="zh-TW" sz="1200" b="0" u="none" strike="noStrike" kern="1200" dirty="0">
                <a:solidFill>
                  <a:schemeClr val="tx1"/>
                </a:solidFill>
                <a:effectLst/>
                <a:latin typeface="+mn-lt"/>
                <a:ea typeface="+mn-ea"/>
                <a:cs typeface="+mn-cs"/>
              </a:rPr>
              <a:t> 等技術，讓模型在深度方向也能像 LSTM 處理上下文一樣「回頭看」。 </a:t>
            </a:r>
          </a:p>
          <a:p>
            <a:pPr lvl="0"/>
            <a:endParaRPr lang="en-US" altLang="zh-TW" sz="1200" b="1" u="none" strike="noStrike" kern="1200" dirty="0">
              <a:solidFill>
                <a:schemeClr val="tx1"/>
              </a:solidFill>
              <a:effectLst/>
              <a:latin typeface="+mn-lt"/>
              <a:ea typeface="+mn-ea"/>
              <a:cs typeface="+mn-cs"/>
            </a:endParaRPr>
          </a:p>
          <a:p>
            <a:pPr lvl="0"/>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借鏡遺忘門與記憶衰減</a:t>
            </a:r>
            <a:r>
              <a:rPr lang="zh-TW" altLang="zh-TW" sz="1200" b="0" u="none" strike="noStrike" kern="1200" dirty="0">
                <a:solidFill>
                  <a:schemeClr val="tx1"/>
                </a:solidFill>
                <a:effectLst/>
                <a:latin typeface="+mn-lt"/>
                <a:ea typeface="+mn-ea"/>
                <a:cs typeface="+mn-cs"/>
              </a:rPr>
              <a:t>：在 Kimi 的新型線性注意力機制與記憶架構（如 Kimi Linear/KDA 演算法）中，為了在超長文本（如百萬級上下文）中兼顧速度與記憶能力，他們引入了類似 LSTM「遺忘門（Forget Gate）」的概念，將權重衰減擴展為更精細的對角化矩陣，用來精準控制過去的資訊或記憶要保留多久、何時淡出。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2</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簡單來說，Kimi 並非直接使用古老的 LSTM 來建構現今的千億級大模型，而是</a:t>
            </a:r>
            <a:r>
              <a:rPr lang="zh-TW" altLang="zh-TW" sz="1200" b="1" u="none" strike="noStrike" kern="1200" dirty="0">
                <a:solidFill>
                  <a:schemeClr val="tx1"/>
                </a:solidFill>
                <a:effectLst/>
                <a:latin typeface="+mn-lt"/>
                <a:ea typeface="+mn-ea"/>
                <a:cs typeface="+mn-cs"/>
              </a:rPr>
              <a:t>從 LSTM 的「門控與記憶衰減」機制中汲取靈感</a:t>
            </a:r>
            <a:r>
              <a:rPr lang="zh-TW" altLang="zh-TW" sz="1200" b="0" u="none" strike="noStrike" kern="1200" dirty="0">
                <a:solidFill>
                  <a:schemeClr val="tx1"/>
                </a:solidFill>
                <a:effectLst/>
                <a:latin typeface="+mn-lt"/>
                <a:ea typeface="+mn-ea"/>
                <a:cs typeface="+mn-cs"/>
              </a:rPr>
              <a:t>，將其與現代的注意力機制結合，改良並創造出能高效處理超長文本的新一代線性架構。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7841480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dirty="0"/>
              <a:t>1.</a:t>
            </a:r>
            <a:r>
              <a:rPr lang="zh-TW" altLang="en-US" dirty="0"/>
              <a:t> </a:t>
            </a:r>
            <a:r>
              <a:rPr lang="en-US" altLang="zh-TW" dirty="0"/>
              <a:t>token</a:t>
            </a:r>
            <a:r>
              <a:rPr lang="zh-TW" altLang="en-US" dirty="0"/>
              <a:t>效率</a:t>
            </a:r>
            <a:r>
              <a:rPr lang="en-US" altLang="zh-TW" dirty="0">
                <a:sym typeface="Wingdings" panose="05000000000000000000" pitchFamily="2" charset="2"/>
              </a:rPr>
              <a:t></a:t>
            </a:r>
            <a:r>
              <a:rPr lang="zh-TW" altLang="en-US" dirty="0">
                <a:sym typeface="Wingdings" panose="05000000000000000000" pitchFamily="2" charset="2"/>
              </a:rPr>
              <a:t> </a:t>
            </a:r>
            <a:r>
              <a:rPr lang="zh-TW" altLang="en-US" dirty="0"/>
              <a:t>更強的先驗知識</a:t>
            </a:r>
            <a:r>
              <a:rPr lang="en-US" altLang="zh-TW" dirty="0"/>
              <a:t>,</a:t>
            </a:r>
            <a:r>
              <a:rPr lang="zh-TW" altLang="en-US" dirty="0"/>
              <a:t> 讓智能體在做</a:t>
            </a:r>
            <a:r>
              <a:rPr lang="en-US" altLang="zh-TW" dirty="0"/>
              <a:t>RLHF</a:t>
            </a:r>
            <a:r>
              <a:rPr lang="zh-TW" altLang="en-US" dirty="0"/>
              <a:t>時</a:t>
            </a:r>
            <a:r>
              <a:rPr lang="en-US" altLang="zh-TW" dirty="0"/>
              <a:t>,</a:t>
            </a:r>
            <a:r>
              <a:rPr lang="zh-TW" altLang="en-US" dirty="0"/>
              <a:t>能更有效率的搜尋答案</a:t>
            </a:r>
            <a:endParaRPr lang="en-US" altLang="zh-TW" dirty="0"/>
          </a:p>
          <a:p>
            <a:r>
              <a:rPr lang="en-US" altLang="zh-TW" dirty="0"/>
              <a:t>2.</a:t>
            </a:r>
            <a:r>
              <a:rPr lang="zh-TW" altLang="en-US" dirty="0"/>
              <a:t> 長上下文</a:t>
            </a:r>
            <a:r>
              <a:rPr lang="en-US" altLang="zh-TW" dirty="0">
                <a:sym typeface="Wingdings" panose="05000000000000000000" pitchFamily="2" charset="2"/>
              </a:rPr>
              <a:t></a:t>
            </a:r>
            <a:r>
              <a:rPr lang="zh-TW" altLang="en-US" dirty="0">
                <a:sym typeface="Wingdings" panose="05000000000000000000" pitchFamily="2" charset="2"/>
              </a:rPr>
              <a:t> 能持續運作更久的</a:t>
            </a:r>
            <a:r>
              <a:rPr lang="en-US" altLang="zh-TW" dirty="0">
                <a:sym typeface="Wingdings" panose="05000000000000000000" pitchFamily="2" charset="2"/>
              </a:rPr>
              <a:t>Agent, </a:t>
            </a:r>
            <a:r>
              <a:rPr lang="zh-TW" altLang="en-US" dirty="0">
                <a:sym typeface="Wingdings" panose="05000000000000000000" pitchFamily="2" charset="2"/>
              </a:rPr>
              <a:t>能連續執行幾個月</a:t>
            </a:r>
            <a:r>
              <a:rPr lang="en-US" altLang="zh-TW" dirty="0">
                <a:sym typeface="Wingdings" panose="05000000000000000000" pitchFamily="2" charset="2"/>
              </a:rPr>
              <a:t>,</a:t>
            </a:r>
            <a:r>
              <a:rPr lang="zh-TW" altLang="en-US" dirty="0">
                <a:sym typeface="Wingdings" panose="05000000000000000000" pitchFamily="2" charset="2"/>
              </a:rPr>
              <a:t> 完成複雜任務</a:t>
            </a:r>
            <a:r>
              <a:rPr lang="en-US" altLang="zh-TW" dirty="0">
                <a:sym typeface="Wingdings" panose="05000000000000000000" pitchFamily="2" charset="2"/>
              </a:rPr>
              <a:t>.</a:t>
            </a:r>
          </a:p>
          <a:p>
            <a:r>
              <a:rPr lang="en-US" altLang="zh-TW" dirty="0">
                <a:sym typeface="Wingdings" panose="05000000000000000000" pitchFamily="2" charset="2"/>
              </a:rPr>
              <a:t>3.</a:t>
            </a:r>
            <a:r>
              <a:rPr lang="zh-TW" altLang="en-US" dirty="0">
                <a:sym typeface="Wingdings" panose="05000000000000000000" pitchFamily="2" charset="2"/>
              </a:rPr>
              <a:t> </a:t>
            </a:r>
            <a:r>
              <a:rPr lang="en-US" altLang="zh-TW" dirty="0">
                <a:sym typeface="Wingdings" panose="05000000000000000000" pitchFamily="2" charset="2"/>
              </a:rPr>
              <a:t>Agent</a:t>
            </a:r>
            <a:r>
              <a:rPr lang="zh-TW" altLang="en-US" dirty="0">
                <a:sym typeface="Wingdings" panose="05000000000000000000" pitchFamily="2" charset="2"/>
              </a:rPr>
              <a:t>蜂群</a:t>
            </a:r>
            <a:r>
              <a:rPr lang="en-US" altLang="zh-TW" dirty="0">
                <a:sym typeface="Wingdings" panose="05000000000000000000" pitchFamily="2" charset="2"/>
              </a:rPr>
              <a:t></a:t>
            </a:r>
            <a:r>
              <a:rPr lang="zh-TW" altLang="en-US" dirty="0">
                <a:sym typeface="Wingdings" panose="05000000000000000000" pitchFamily="2" charset="2"/>
              </a:rPr>
              <a:t> 疊加前兩者</a:t>
            </a:r>
            <a:r>
              <a:rPr lang="en-US" altLang="zh-TW" dirty="0">
                <a:sym typeface="Wingdings" panose="05000000000000000000" pitchFamily="2" charset="2"/>
              </a:rPr>
              <a:t>.</a:t>
            </a:r>
          </a:p>
          <a:p>
            <a:endParaRPr lang="en-US" altLang="zh-TW" dirty="0">
              <a:sym typeface="Wingdings" panose="05000000000000000000" pitchFamily="2" charset="2"/>
            </a:endParaRPr>
          </a:p>
          <a:p>
            <a:r>
              <a:rPr lang="zh-TW" altLang="en-US" dirty="0"/>
              <a:t>一、 </a:t>
            </a:r>
            <a:r>
              <a:rPr lang="en-US" altLang="zh-TW" dirty="0"/>
              <a:t>Kimi </a:t>
            </a:r>
            <a:r>
              <a:rPr lang="zh-TW" altLang="en-US" dirty="0"/>
              <a:t>的「三板斧」策略</a:t>
            </a:r>
          </a:p>
          <a:p>
            <a:r>
              <a:rPr lang="zh-TW" altLang="en-US" dirty="0"/>
              <a:t>很多大模型只會硬砸錢、堆機器、瘋狂吞資料。但月之暗面（</a:t>
            </a:r>
            <a:r>
              <a:rPr lang="en-US" altLang="zh-TW" dirty="0"/>
              <a:t>Moonshot</a:t>
            </a:r>
            <a:r>
              <a:rPr lang="zh-TW" altLang="en-US" dirty="0"/>
              <a:t>）創辦人楊植麟認為，光靠硬砸不行，得在三個維度上搞創新：</a:t>
            </a:r>
          </a:p>
          <a:p>
            <a:r>
              <a:rPr lang="zh-TW" altLang="en-US" dirty="0"/>
              <a:t>* 讓每一字（</a:t>
            </a:r>
            <a:r>
              <a:rPr lang="en-US" altLang="zh-TW" dirty="0"/>
              <a:t>Token</a:t>
            </a:r>
            <a:r>
              <a:rPr lang="zh-TW" altLang="en-US" dirty="0"/>
              <a:t>）更值錢：不靠乾嗑數據，而是換更好的“發動機”，用同樣的數據練出更聰明的模型。 </a:t>
            </a:r>
          </a:p>
          <a:p>
            <a:r>
              <a:rPr lang="zh-TW" altLang="en-US" dirty="0"/>
              <a:t>* 把記憶拉得極長：讓 </a:t>
            </a:r>
            <a:r>
              <a:rPr lang="en-US" altLang="zh-TW" dirty="0"/>
              <a:t>AI </a:t>
            </a:r>
            <a:r>
              <a:rPr lang="zh-TW" altLang="en-US" dirty="0"/>
              <a:t>能連續工作幾天甚至幾個月，能一口氣讀懂一整個軟體程式碼庫。 </a:t>
            </a:r>
          </a:p>
          <a:p>
            <a:pPr marL="0" indent="0">
              <a:buFont typeface="Arial" panose="020B0604020202020204" pitchFamily="34" charset="0"/>
              <a:buNone/>
            </a:pPr>
            <a:r>
              <a:rPr lang="en-US" altLang="zh-TW" dirty="0"/>
              <a:t>* </a:t>
            </a:r>
            <a:r>
              <a:rPr lang="zh-TW" altLang="en-US" dirty="0"/>
              <a:t>讓 </a:t>
            </a:r>
            <a:r>
              <a:rPr lang="en-US" altLang="zh-TW" dirty="0"/>
              <a:t>AI</a:t>
            </a:r>
            <a:r>
              <a:rPr lang="zh-TW" altLang="en-US" dirty="0"/>
              <a:t>「組團群毆」：不再靠單一 </a:t>
            </a:r>
            <a:r>
              <a:rPr lang="en-US" altLang="zh-TW" dirty="0"/>
              <a:t>AI </a:t>
            </a:r>
            <a:r>
              <a:rPr lang="zh-TW" altLang="en-US" dirty="0"/>
              <a:t>硬抗，而是成立「</a:t>
            </a:r>
            <a:r>
              <a:rPr lang="en-US" altLang="zh-TW" dirty="0"/>
              <a:t>AI </a:t>
            </a:r>
            <a:r>
              <a:rPr lang="zh-TW" altLang="en-US" dirty="0"/>
              <a:t>小分隊」分工合作。</a:t>
            </a:r>
            <a:endParaRPr lang="en-US" altLang="zh-TW" dirty="0"/>
          </a:p>
          <a:p>
            <a:pPr marL="171450" indent="-171450">
              <a:buFont typeface="Arial" panose="020B0604020202020204" pitchFamily="34" charset="0"/>
              <a:buChar char="•"/>
            </a:pPr>
            <a:endParaRPr lang="zh-TW" altLang="en-US" dirty="0"/>
          </a:p>
          <a:p>
            <a:r>
              <a:rPr lang="zh-TW" altLang="en-US" dirty="0"/>
              <a:t>二、 技術大突破：換引擎與防爆倉</a:t>
            </a:r>
          </a:p>
          <a:p>
            <a:r>
              <a:rPr lang="zh-TW" altLang="en-US" dirty="0"/>
              <a:t>* 換上黑科技引擎（</a:t>
            </a:r>
            <a:r>
              <a:rPr lang="en-US" altLang="zh-TW" dirty="0"/>
              <a:t>Muon </a:t>
            </a:r>
            <a:r>
              <a:rPr lang="zh-TW" altLang="en-US" dirty="0"/>
              <a:t>優化器）：他們是全球第一個把這種高階演算法用到萬億參數模型上的團隊。效果極度拔群</a:t>
            </a:r>
            <a:r>
              <a:rPr lang="en-US" altLang="zh-TW" dirty="0"/>
              <a:t>——</a:t>
            </a:r>
            <a:r>
              <a:rPr lang="zh-TW" altLang="en-US" dirty="0"/>
              <a:t>相當於把手裡現有的高品質資料翻了一倍。 </a:t>
            </a:r>
          </a:p>
          <a:p>
            <a:pPr marL="0" indent="0">
              <a:buFont typeface="Arial" panose="020B0604020202020204" pitchFamily="34" charset="0"/>
              <a:buNone/>
            </a:pPr>
            <a:r>
              <a:rPr lang="en-US" altLang="zh-TW" dirty="0"/>
              <a:t>* </a:t>
            </a:r>
            <a:r>
              <a:rPr lang="zh-TW" altLang="en-US" dirty="0"/>
              <a:t>解決 </a:t>
            </a:r>
            <a:r>
              <a:rPr lang="en-US" altLang="zh-TW" dirty="0"/>
              <a:t>AI </a:t>
            </a:r>
            <a:r>
              <a:rPr lang="zh-TW" altLang="en-US" dirty="0"/>
              <a:t>訓練炸機：模型越大，訓練時越容易「走火入魔」把程式搞崩。他們發明了個叫 </a:t>
            </a:r>
            <a:r>
              <a:rPr lang="en-US" altLang="zh-TW" dirty="0"/>
              <a:t>QK Clip </a:t>
            </a:r>
            <a:r>
              <a:rPr lang="zh-TW" altLang="en-US" dirty="0"/>
              <a:t>的小裝置，成功把訓練風險壓住了，破紀錄地讓模型吃了 </a:t>
            </a:r>
            <a:r>
              <a:rPr lang="en-US" altLang="zh-TW" dirty="0"/>
              <a:t>30 </a:t>
            </a:r>
            <a:r>
              <a:rPr lang="zh-TW" altLang="en-US" dirty="0"/>
              <a:t>兆的數據，全程沒崩過一次。</a:t>
            </a:r>
            <a:endParaRPr lang="en-US" altLang="zh-TW" dirty="0"/>
          </a:p>
          <a:p>
            <a:pPr marL="171450" indent="-171450">
              <a:buFont typeface="Arial" panose="020B0604020202020204" pitchFamily="34" charset="0"/>
              <a:buChar char="•"/>
            </a:pPr>
            <a:endParaRPr lang="zh-TW" altLang="en-US" dirty="0"/>
          </a:p>
          <a:p>
            <a:r>
              <a:rPr lang="zh-TW" altLang="en-US" dirty="0"/>
              <a:t>三、 架構進化：長記憶與“把演算法旋轉</a:t>
            </a:r>
            <a:r>
              <a:rPr lang="en-US" altLang="zh-TW" dirty="0"/>
              <a:t>90</a:t>
            </a:r>
            <a:r>
              <a:rPr lang="zh-TW" altLang="en-US" dirty="0"/>
              <a:t>度”</a:t>
            </a:r>
          </a:p>
          <a:p>
            <a:r>
              <a:rPr lang="zh-TW" altLang="en-US" dirty="0"/>
              <a:t>* </a:t>
            </a:r>
            <a:r>
              <a:rPr lang="en-US" altLang="zh-TW" dirty="0"/>
              <a:t>Kimi Linear </a:t>
            </a:r>
            <a:r>
              <a:rPr lang="zh-TW" altLang="en-US" dirty="0"/>
              <a:t>架構</a:t>
            </a:r>
            <a:r>
              <a:rPr lang="en-US" altLang="zh-TW" dirty="0"/>
              <a:t>:</a:t>
            </a:r>
            <a:r>
              <a:rPr lang="zh-TW" altLang="en-US" dirty="0"/>
              <a:t>以前的 </a:t>
            </a:r>
            <a:r>
              <a:rPr lang="en-US" altLang="zh-TW" dirty="0"/>
              <a:t>AI </a:t>
            </a:r>
            <a:r>
              <a:rPr lang="zh-TW" altLang="en-US" dirty="0"/>
              <a:t>要嘛是個「近視眼」</a:t>
            </a:r>
            <a:r>
              <a:rPr lang="en-US" altLang="zh-TW" dirty="0"/>
              <a:t>(</a:t>
            </a:r>
            <a:r>
              <a:rPr lang="zh-TW" altLang="en-US" dirty="0"/>
              <a:t>長文記不住</a:t>
            </a:r>
            <a:r>
              <a:rPr lang="en-US" altLang="zh-TW" dirty="0"/>
              <a:t>), </a:t>
            </a:r>
            <a:r>
              <a:rPr lang="zh-TW" altLang="en-US" dirty="0"/>
              <a:t>要嘛是個「死記硬背狂」</a:t>
            </a:r>
            <a:r>
              <a:rPr lang="en-US" altLang="zh-TW" dirty="0"/>
              <a:t>(</a:t>
            </a:r>
            <a:r>
              <a:rPr lang="zh-TW" altLang="en-US" dirty="0"/>
              <a:t>啥都記</a:t>
            </a:r>
            <a:r>
              <a:rPr lang="en-US" altLang="zh-TW" dirty="0"/>
              <a:t>,</a:t>
            </a:r>
            <a:r>
              <a:rPr lang="zh-TW" altLang="en-US" dirty="0"/>
              <a:t>腦子亂了</a:t>
            </a:r>
            <a:r>
              <a:rPr lang="en-US" altLang="zh-TW" dirty="0"/>
              <a:t>).</a:t>
            </a:r>
            <a:r>
              <a:rPr lang="zh-TW" altLang="en-US" dirty="0"/>
              <a:t> </a:t>
            </a:r>
            <a:r>
              <a:rPr lang="en-US" altLang="zh-TW" dirty="0"/>
              <a:t>Kimi </a:t>
            </a:r>
            <a:r>
              <a:rPr lang="zh-TW" altLang="en-US" dirty="0"/>
              <a:t>換了新結構，學會了像人一樣有選擇地忘記廢話留下精髓</a:t>
            </a:r>
            <a:r>
              <a:rPr lang="en-US" altLang="zh-TW" dirty="0"/>
              <a:t>, </a:t>
            </a:r>
            <a:r>
              <a:rPr lang="zh-TW" altLang="en-US" dirty="0"/>
              <a:t>而且短任務和超長任務都很強。 </a:t>
            </a:r>
          </a:p>
          <a:p>
            <a:pPr marL="0" indent="0">
              <a:buFont typeface="Arial" panose="020B0604020202020204" pitchFamily="34" charset="0"/>
              <a:buNone/>
            </a:pPr>
            <a:r>
              <a:rPr lang="en-US" altLang="zh-TW" dirty="0"/>
              <a:t>* </a:t>
            </a:r>
            <a:r>
              <a:rPr lang="zh-TW" altLang="en-US" dirty="0"/>
              <a:t>注意力殘差：他們做了一個大膽嘗試，把原來用來做「前後記憶」的演算法旋轉了 </a:t>
            </a:r>
            <a:r>
              <a:rPr lang="en-US" altLang="zh-TW" dirty="0"/>
              <a:t>90 </a:t>
            </a:r>
            <a:r>
              <a:rPr lang="zh-TW" altLang="en-US" dirty="0"/>
              <a:t>度用到「網路深度」上，讓 </a:t>
            </a:r>
            <a:r>
              <a:rPr lang="en-US" altLang="zh-TW" dirty="0"/>
              <a:t>AI </a:t>
            </a:r>
            <a:r>
              <a:rPr lang="zh-TW" altLang="en-US" dirty="0"/>
              <a:t>的學習效率又額外提升了 </a:t>
            </a:r>
            <a:r>
              <a:rPr lang="en-US" altLang="zh-TW" dirty="0"/>
              <a:t>24%</a:t>
            </a:r>
            <a:r>
              <a:rPr lang="zh-TW" altLang="en-US" dirty="0"/>
              <a:t>。</a:t>
            </a:r>
            <a:endParaRPr lang="en-US" altLang="zh-TW" dirty="0"/>
          </a:p>
          <a:p>
            <a:pPr marL="171450" indent="-171450">
              <a:buFont typeface="Arial" panose="020B0604020202020204" pitchFamily="34" charset="0"/>
              <a:buChar char="•"/>
            </a:pPr>
            <a:endParaRPr lang="zh-TW" altLang="en-US" dirty="0"/>
          </a:p>
          <a:p>
            <a:r>
              <a:rPr lang="zh-TW" altLang="en-US" dirty="0"/>
              <a:t>四、 </a:t>
            </a:r>
            <a:r>
              <a:rPr lang="en-US" altLang="zh-TW" dirty="0"/>
              <a:t>AI </a:t>
            </a:r>
            <a:r>
              <a:rPr lang="zh-TW" altLang="en-US" dirty="0"/>
              <a:t>小分隊（智能體蜂群）</a:t>
            </a:r>
          </a:p>
          <a:p>
            <a:r>
              <a:rPr lang="zh-TW" altLang="en-US" dirty="0"/>
              <a:t>*  </a:t>
            </a:r>
            <a:r>
              <a:rPr lang="en-US" altLang="zh-TW" dirty="0"/>
              <a:t>AI </a:t>
            </a:r>
            <a:r>
              <a:rPr lang="zh-TW" altLang="en-US" dirty="0"/>
              <a:t>當 </a:t>
            </a:r>
            <a:r>
              <a:rPr lang="en-US" altLang="zh-TW" dirty="0"/>
              <a:t>CEO</a:t>
            </a:r>
            <a:r>
              <a:rPr lang="zh-TW" altLang="en-US" dirty="0"/>
              <a:t>：以前是你跟一個 </a:t>
            </a:r>
            <a:r>
              <a:rPr lang="en-US" altLang="zh-TW" dirty="0"/>
              <a:t>AI </a:t>
            </a:r>
            <a:r>
              <a:rPr lang="zh-TW" altLang="en-US" dirty="0"/>
              <a:t>對話；現在是一個「主控 </a:t>
            </a:r>
            <a:r>
              <a:rPr lang="en-US" altLang="zh-TW" dirty="0"/>
              <a:t>AI</a:t>
            </a:r>
            <a:r>
              <a:rPr lang="zh-TW" altLang="en-US" dirty="0"/>
              <a:t>」當老闆，自動把大任務拆成好幾個小任務，分發給手下一堆「子 </a:t>
            </a:r>
            <a:r>
              <a:rPr lang="en-US" altLang="zh-TW" dirty="0"/>
              <a:t>AI</a:t>
            </a:r>
            <a:r>
              <a:rPr lang="zh-TW" altLang="en-US" dirty="0"/>
              <a:t>」（例如一個去查資料、一個去寫程式碼、一個去審核）。 </a:t>
            </a:r>
          </a:p>
          <a:p>
            <a:pPr marL="0" indent="0">
              <a:buFont typeface="Arial" panose="020B0604020202020204" pitchFamily="34" charset="0"/>
              <a:buNone/>
            </a:pPr>
            <a:r>
              <a:rPr lang="en-US" altLang="zh-TW" dirty="0"/>
              <a:t>* </a:t>
            </a:r>
            <a:r>
              <a:rPr lang="zh-TW" altLang="en-US" dirty="0"/>
              <a:t>防止 </a:t>
            </a:r>
            <a:r>
              <a:rPr lang="en-US" altLang="zh-TW" dirty="0"/>
              <a:t>AI </a:t>
            </a:r>
            <a:r>
              <a:rPr lang="zh-TW" altLang="en-US" dirty="0"/>
              <a:t>磨洋工：為了防止子 </a:t>
            </a:r>
            <a:r>
              <a:rPr lang="en-US" altLang="zh-TW" dirty="0"/>
              <a:t>AI </a:t>
            </a:r>
            <a:r>
              <a:rPr lang="zh-TW" altLang="en-US" dirty="0"/>
              <a:t>亂造假工時，他們設計了一套極其精細的獎懲機制，幹得好有賞，偷懶不完成任務就扣分，讓整支 </a:t>
            </a:r>
            <a:r>
              <a:rPr lang="en-US" altLang="zh-TW" dirty="0"/>
              <a:t>AI </a:t>
            </a:r>
            <a:r>
              <a:rPr lang="zh-TW" altLang="en-US" dirty="0"/>
              <a:t>團隊幹活又快又準。</a:t>
            </a:r>
            <a:endParaRPr lang="en-US" altLang="zh-TW" dirty="0"/>
          </a:p>
          <a:p>
            <a:pPr marL="171450" indent="-171450">
              <a:buFont typeface="Arial" panose="020B0604020202020204" pitchFamily="34" charset="0"/>
              <a:buChar char="•"/>
            </a:pPr>
            <a:endParaRPr lang="zh-TW" altLang="en-US" dirty="0"/>
          </a:p>
          <a:p>
            <a:r>
              <a:rPr lang="zh-TW" altLang="en-US" dirty="0"/>
              <a:t>五、 圖文同修：打破產業的“老偏見”</a:t>
            </a:r>
          </a:p>
          <a:p>
            <a:r>
              <a:rPr lang="zh-TW" altLang="en-US" dirty="0"/>
              <a:t>* 打娘胎裡就圖文雙修：傳統 </a:t>
            </a:r>
            <a:r>
              <a:rPr lang="en-US" altLang="zh-TW" dirty="0"/>
              <a:t>AI </a:t>
            </a:r>
            <a:r>
              <a:rPr lang="zh-TW" altLang="en-US" dirty="0"/>
              <a:t>是先學完文字，再去補習看圖（效果很差）。 </a:t>
            </a:r>
            <a:r>
              <a:rPr lang="en-US" altLang="zh-TW" dirty="0"/>
              <a:t>Kimi </a:t>
            </a:r>
            <a:r>
              <a:rPr lang="zh-TW" altLang="en-US" dirty="0"/>
              <a:t>是從訓練第一天起就把文字和圖片放在一起學習。 </a:t>
            </a:r>
          </a:p>
          <a:p>
            <a:r>
              <a:rPr lang="zh-TW" altLang="en-US" dirty="0"/>
              <a:t>* 出人意料的互相促進：過去行業裡都覺得“讓 </a:t>
            </a:r>
            <a:r>
              <a:rPr lang="en-US" altLang="zh-TW" dirty="0"/>
              <a:t>AI </a:t>
            </a:r>
            <a:r>
              <a:rPr lang="zh-TW" altLang="en-US" dirty="0"/>
              <a:t>學看圖會把文字變蠢”，但 </a:t>
            </a:r>
            <a:r>
              <a:rPr lang="en-US" altLang="zh-TW" dirty="0"/>
              <a:t>Kimi </a:t>
            </a:r>
            <a:r>
              <a:rPr lang="zh-TW" altLang="en-US" dirty="0"/>
              <a:t>證明了看圖能讓 </a:t>
            </a:r>
            <a:r>
              <a:rPr lang="en-US" altLang="zh-TW" dirty="0"/>
              <a:t>AI </a:t>
            </a:r>
            <a:r>
              <a:rPr lang="zh-TW" altLang="en-US" dirty="0"/>
              <a:t>的邏輯推理更強，而文字功底深了，看圖能力也會被順帶拔高！</a:t>
            </a: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14382478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E1B50-36C2-3AAC-6195-6D6290F49DE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4C3EB0F-8828-273B-A955-F1294176FE8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4844179-B599-DDBE-54BC-B8D96AEF4A45}"/>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EDF9E040-D292-65E0-F09A-F6C500D2C282}"/>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1996536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EB95-4B28-36E7-87CA-1F30261B4E5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C62F1D8-6DF7-73D8-C9BE-87163917B31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B09A24C-06FD-8BD3-CE5A-4D77584C67AC}"/>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C5A4A188-00BE-20FA-2048-87C75C2A4CBE}"/>
              </a:ext>
            </a:extLst>
          </p:cNvPr>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7669987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200" b="1" u="none" strike="noStrike" kern="1200" dirty="0">
                <a:solidFill>
                  <a:schemeClr val="tx1"/>
                </a:solidFill>
                <a:effectLst/>
                <a:latin typeface="+mn-lt"/>
                <a:ea typeface="+mn-ea"/>
                <a:cs typeface="+mn-cs"/>
              </a:rPr>
              <a:t>1. </a:t>
            </a:r>
            <a:r>
              <a:rPr lang="zh-TW" altLang="zh-TW" sz="1200" b="1" u="none" strike="noStrike" kern="1200" dirty="0">
                <a:solidFill>
                  <a:schemeClr val="tx1"/>
                </a:solidFill>
                <a:effectLst/>
                <a:latin typeface="+mn-lt"/>
                <a:ea typeface="+mn-ea"/>
                <a:cs typeface="+mn-cs"/>
              </a:rPr>
              <a:t>理論基礎的奠定者（2022年）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特拉維夫大學（Tel Aviv University）與 Meta AI</a:t>
            </a:r>
            <a:r>
              <a:rPr lang="zh-TW" altLang="zh-TW" sz="1200" b="0" u="none" strike="noStrike" kern="1200" dirty="0">
                <a:solidFill>
                  <a:schemeClr val="tx1"/>
                </a:solidFill>
                <a:effectLst/>
                <a:latin typeface="+mn-lt"/>
                <a:ea typeface="+mn-ea"/>
                <a:cs typeface="+mn-cs"/>
              </a:rPr>
              <a:t>（由 Adi Haviv、Ori Ram、Ofir Press、Peter Izsak 和 Omer Levy 等人組成）。 </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EMNLP 2022 的 </a:t>
            </a:r>
            <a:r>
              <a:rPr lang="zh-TW" altLang="zh-TW" sz="1200" b="0" i="1" u="none" strike="noStrike" kern="1200" dirty="0">
                <a:solidFill>
                  <a:schemeClr val="tx1"/>
                </a:solidFill>
                <a:effectLst/>
                <a:latin typeface="+mn-lt"/>
                <a:ea typeface="+mn-ea"/>
                <a:cs typeface="+mn-cs"/>
              </a:rPr>
              <a:t>《Transformer Language Models without Positional Encodings Still Learn Positional Information》</a:t>
            </a:r>
            <a:r>
              <a:rPr lang="zh-TW" altLang="zh-TW" sz="1200" b="0" u="none" strike="noStrike" kern="1200" dirty="0">
                <a:solidFill>
                  <a:schemeClr val="tx1"/>
                </a:solidFill>
                <a:effectLst/>
                <a:latin typeface="+mn-lt"/>
                <a:ea typeface="+mn-ea"/>
                <a:cs typeface="+mn-cs"/>
              </a:rPr>
              <a:t>。 </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：他們首度證實，自迴歸（Decoder-only）架構中的</a:t>
            </a:r>
            <a:r>
              <a:rPr lang="zh-TW" altLang="zh-TW" sz="1200" b="1" u="none" strike="noStrike" kern="1200" dirty="0">
                <a:solidFill>
                  <a:schemeClr val="tx1"/>
                </a:solidFill>
                <a:effectLst/>
                <a:latin typeface="+mn-lt"/>
                <a:ea typeface="+mn-ea"/>
                <a:cs typeface="+mn-cs"/>
              </a:rPr>
              <a:t>因果遮罩（Causal Mask）本身就會漏出時序訊號</a:t>
            </a:r>
            <a:r>
              <a:rPr lang="zh-TW" altLang="zh-TW" sz="1200" b="0" u="none" strike="noStrike" kern="1200" dirty="0">
                <a:solidFill>
                  <a:schemeClr val="tx1"/>
                </a:solidFill>
                <a:effectLst/>
                <a:latin typeface="+mn-lt"/>
                <a:ea typeface="+mn-ea"/>
                <a:cs typeface="+mn-cs"/>
              </a:rPr>
              <a:t>。即使完全不加位置編碼，模型也能隱式學會絕對位置，打破了「Transformer 必須依賴顯式位置編碼」的傳統工程思維。</a:t>
            </a:r>
          </a:p>
          <a:p>
            <a:r>
              <a:rPr lang="zh-TW" altLang="zh-TW" sz="1200" b="1" u="none" strike="noStrike" kern="1200" dirty="0">
                <a:solidFill>
                  <a:schemeClr val="tx1"/>
                </a:solidFill>
                <a:effectLst/>
                <a:latin typeface="+mn-lt"/>
                <a:ea typeface="+mn-ea"/>
                <a:cs typeface="+mn-cs"/>
              </a:rPr>
              <a:t>2. 「NoPE」縮寫的明確定義與實證（2023年）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阿姆斯特丹大學（University of Amsterdam）</a:t>
            </a:r>
            <a:r>
              <a:rPr lang="zh-TW" altLang="zh-TW" sz="1200" b="0" u="none" strike="noStrike" kern="1200" dirty="0">
                <a:solidFill>
                  <a:schemeClr val="tx1"/>
                </a:solidFill>
                <a:effectLst/>
                <a:latin typeface="+mn-lt"/>
                <a:ea typeface="+mn-ea"/>
                <a:cs typeface="+mn-cs"/>
              </a:rPr>
              <a:t>（Amir Kazemnejad 等人）。</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NeurIPS 2023 的 </a:t>
            </a:r>
            <a:r>
              <a:rPr lang="zh-TW" altLang="zh-TW" sz="1200" b="0" i="1" u="none" strike="noStrike" kern="1200" dirty="0">
                <a:solidFill>
                  <a:schemeClr val="tx1"/>
                </a:solidFill>
                <a:effectLst/>
                <a:latin typeface="+mn-lt"/>
                <a:ea typeface="+mn-ea"/>
                <a:cs typeface="+mn-cs"/>
              </a:rPr>
              <a:t>《The Impact of Positional Encoding on Length Generalization in Transformers》</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：這篇論文在社群中</a:t>
            </a:r>
            <a:r>
              <a:rPr lang="zh-TW" altLang="zh-TW" sz="1200" b="1" u="none" strike="noStrike" kern="1200" dirty="0">
                <a:solidFill>
                  <a:schemeClr val="tx1"/>
                </a:solidFill>
                <a:effectLst/>
                <a:latin typeface="+mn-lt"/>
                <a:ea typeface="+mn-ea"/>
                <a:cs typeface="+mn-cs"/>
              </a:rPr>
              <a:t>正式將此架構命名為「NoPE」</a:t>
            </a:r>
            <a:r>
              <a:rPr lang="zh-TW" altLang="zh-TW" sz="1200" b="0" u="none" strike="noStrike" kern="1200" dirty="0">
                <a:solidFill>
                  <a:schemeClr val="tx1"/>
                </a:solidFill>
                <a:effectLst/>
                <a:latin typeface="+mn-lt"/>
                <a:ea typeface="+mn-ea"/>
                <a:cs typeface="+mn-cs"/>
              </a:rPr>
              <a:t>。研究人員透過嚴格的控制變因實驗發現，NoPE 在長度外推（Length Extrapolation）和長文本泛化上的表現，竟然優於當時主流的 ALiBi 或旋轉位置編碼（RoPE），奠定了今日大模型大規模導入的工程信心。</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總結</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簡單來說，</a:t>
            </a:r>
            <a:r>
              <a:rPr lang="zh-TW" altLang="zh-TW" sz="1200" b="1" u="none" strike="noStrike" kern="1200" dirty="0">
                <a:solidFill>
                  <a:schemeClr val="tx1"/>
                </a:solidFill>
                <a:effectLst/>
                <a:latin typeface="+mn-lt"/>
                <a:ea typeface="+mn-ea"/>
                <a:cs typeface="+mn-cs"/>
              </a:rPr>
              <a:t>Meta AI 與特拉維夫大學</a:t>
            </a:r>
            <a:r>
              <a:rPr lang="zh-TW" altLang="zh-TW" sz="1200" b="0" u="none" strike="noStrike" kern="1200" dirty="0">
                <a:solidFill>
                  <a:schemeClr val="tx1"/>
                </a:solidFill>
                <a:effectLst/>
                <a:latin typeface="+mn-lt"/>
                <a:ea typeface="+mn-ea"/>
                <a:cs typeface="+mn-cs"/>
              </a:rPr>
              <a:t>率先發現了「不加位置編碼模型也能運作」的隱式科學現象，而</a:t>
            </a:r>
            <a:r>
              <a:rPr lang="zh-TW" altLang="zh-TW" sz="1200" b="1" u="none" strike="noStrike" kern="1200" dirty="0">
                <a:solidFill>
                  <a:schemeClr val="tx1"/>
                </a:solidFill>
                <a:effectLst/>
                <a:latin typeface="+mn-lt"/>
                <a:ea typeface="+mn-ea"/>
                <a:cs typeface="+mn-cs"/>
              </a:rPr>
              <a:t>阿姆斯特丹大學</a:t>
            </a:r>
            <a:r>
              <a:rPr lang="zh-TW" altLang="zh-TW" sz="1200" b="0" u="none" strike="noStrike" kern="1200" dirty="0">
                <a:solidFill>
                  <a:schemeClr val="tx1"/>
                </a:solidFill>
                <a:effectLst/>
                <a:latin typeface="+mn-lt"/>
                <a:ea typeface="+mn-ea"/>
                <a:cs typeface="+mn-cs"/>
              </a:rPr>
              <a:t>則正式將其定義為「NoPE」技術，並證明了它在長文本上的驚人潛力，進而引發了 Kimi K3、</a:t>
            </a:r>
            <a:r>
              <a:rPr lang="en-US" altLang="zh-TW" sz="1200" b="0" u="none" strike="noStrike" kern="1200" dirty="0">
                <a:solidFill>
                  <a:schemeClr val="tx1"/>
                </a:solidFill>
                <a:effectLst/>
                <a:latin typeface="+mn-lt"/>
                <a:ea typeface="+mn-ea"/>
                <a:cs typeface="+mn-cs"/>
              </a:rPr>
              <a:t>IBM</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Granite 4.0 等新一代前沿大模型架構的革新。</a:t>
            </a:r>
          </a:p>
          <a:p>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C2ADC-2C95-ABF7-695A-C98BD6E65DB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9C820AD-EC54-39E5-1D26-41BCCC7488E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2C0D158-E6C6-9BA9-5A56-BF3DE1E85E9F}"/>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D41D6B82-61C8-3A08-1F2F-D94DBF3D6EE5}"/>
              </a:ext>
            </a:extLst>
          </p:cNvPr>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2274291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2026/8/28</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51646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 id="2147483664"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vocus.cc/article/6693787dfd89780001ac301a" TargetMode="Externa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4.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hyperlink" Target="https://zhida.zhihu.com/search?content_id=240665807&amp;content_type=Article&amp;match_order=1&amp;q=%E6%A0%87%E5%87%86%E5%8A%A8%E9%87%8FSGD%E7%AE%97%E6%B3%95&amp;zd_token=eyJhbGciOiJIUzI1NiIsInR5cCI6IkpXVCJ9.eyJpc3MiOiJ6aGlkYV9zZXJ2ZXIiLCJleHAiOjE3ODcxOTY4NTgsInEiOiLmoIflh4bliqjph49TR0Tnrpfms5UiLCJ6aGlkYV9zb3VyY2UiOiJlbnRpdHkiLCJjb250ZW50X2lkIjoyNDA2NjU4MDcsImNvbnRlbnRfdHlwZSI6IkFydGljbGUiLCJtYXRjaF9vcmRlciI6MSwiemRfdG9rZW4iOm51bGx9.Sf45ojFVVGocTHv9n7ReJO3xfYKL7Qhnws7r8tZGHms&amp;zhida_source=entity" TargetMode="External"/><Relationship Id="rId2" Type="http://schemas.openxmlformats.org/officeDocument/2006/relationships/image" Target="../media/image14.png"/><Relationship Id="rId16"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6.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5.png"/></Relationships>
</file>

<file path=ppt/slides/_rels/slide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60.png"/><Relationship Id="rId4" Type="http://schemas.openxmlformats.org/officeDocument/2006/relationships/image" Target="../media/image350.png"/></Relationships>
</file>

<file path=ppt/slides/_rels/slide2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40.png"/><Relationship Id="rId7" Type="http://schemas.openxmlformats.org/officeDocument/2006/relationships/image" Target="../media/image44.png"/><Relationship Id="rId12" Type="http://schemas.openxmlformats.org/officeDocument/2006/relationships/image" Target="../media/image48.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3.png"/><Relationship Id="rId11" Type="http://schemas.openxmlformats.org/officeDocument/2006/relationships/image" Target="../media/image47.png"/><Relationship Id="rId5" Type="http://schemas.openxmlformats.org/officeDocument/2006/relationships/image" Target="../media/image42.png"/><Relationship Id="rId10" Type="http://schemas.openxmlformats.org/officeDocument/2006/relationships/image" Target="../media/image46.png"/><Relationship Id="rId4" Type="http://schemas.openxmlformats.org/officeDocument/2006/relationships/image" Target="../media/image41.png"/><Relationship Id="rId9"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2082621"/>
          </a:xfrm>
          <a:prstGeom prst="rect">
            <a:avLst/>
          </a:prstGeom>
          <a:noFill/>
        </p:spPr>
        <p:txBody>
          <a:bodyPr wrap="square" rtlCol="0">
            <a:spAutoFit/>
          </a:bodyPr>
          <a:lstStyle/>
          <a:p>
            <a:pPr algn="ctr"/>
            <a:r>
              <a:rPr lang="en-US" altLang="zh-TW" sz="4000" b="1" dirty="0"/>
              <a:t>Kimi K3:</a:t>
            </a:r>
          </a:p>
          <a:p>
            <a:pPr algn="ctr"/>
            <a:r>
              <a:rPr lang="en-US" altLang="zh-TW" sz="4000" b="1" dirty="0"/>
              <a:t>Open Frontier Intelligence</a:t>
            </a:r>
          </a:p>
          <a:p>
            <a:pPr defTabSz="4689475">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Moonshot	</a:t>
            </a:r>
            <a:r>
              <a:rPr lang="en-US" altLang="zh-TW" sz="1000" dirty="0">
                <a:sym typeface="Wingdings" panose="05000000000000000000" pitchFamily="2" charset="2"/>
              </a:rPr>
              <a:t>	Kimi Team</a:t>
            </a:r>
            <a:endParaRPr lang="zh-TW" altLang="en-US" sz="1000" dirty="0">
              <a:solidFill>
                <a:schemeClr val="accent1">
                  <a:lumMod val="75000"/>
                </a:schemeClr>
              </a:solidFill>
            </a:endParaRPr>
          </a:p>
        </p:txBody>
      </p:sp>
      <p:sp>
        <p:nvSpPr>
          <p:cNvPr id="9" name="文字方塊 8">
            <a:extLst>
              <a:ext uri="{FF2B5EF4-FFF2-40B4-BE49-F238E27FC236}">
                <a16:creationId xmlns:a16="http://schemas.microsoft.com/office/drawing/2014/main" id="{FB98A5CE-C6BF-E5C2-A315-6E118FCEFA4D}"/>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Kimi K2.5</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11" name="箭號: 向下 10">
            <a:extLst>
              <a:ext uri="{FF2B5EF4-FFF2-40B4-BE49-F238E27FC236}">
                <a16:creationId xmlns:a16="http://schemas.microsoft.com/office/drawing/2014/main" id="{95BFB3E6-E9A0-BA95-8A5C-3CBFA1A3A37C}"/>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179512" y="1447616"/>
            <a:ext cx="5877058" cy="1708160"/>
          </a:xfrm>
          <a:prstGeom prst="rect">
            <a:avLst/>
          </a:prstGeom>
          <a:noFill/>
        </p:spPr>
        <p:txBody>
          <a:bodyPr wrap="square">
            <a:spAutoFit/>
          </a:bodyPr>
          <a:lstStyle/>
          <a:p>
            <a:pPr>
              <a:lnSpc>
                <a:spcPts val="1800"/>
              </a:lnSpc>
              <a:spcBef>
                <a:spcPts val="600"/>
              </a:spcBef>
              <a:spcAft>
                <a:spcPts val="600"/>
              </a:spcAft>
            </a:pPr>
            <a:r>
              <a:rPr lang="en-US" altLang="zh-TW" sz="2000" b="1" dirty="0"/>
              <a:t>These Gates</a:t>
            </a:r>
            <a:r>
              <a:rPr lang="zh-TW" altLang="en-US" sz="2000" b="1" dirty="0"/>
              <a:t> </a:t>
            </a:r>
            <a:r>
              <a:rPr lang="en-US" altLang="zh-TW" sz="2000" b="1" dirty="0"/>
              <a:t>regulate how information flows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Forget Gate</a:t>
            </a:r>
            <a:r>
              <a:rPr lang="en-US" altLang="zh-TW" sz="1600" u="none" strike="noStrike" dirty="0">
                <a:effectLst/>
              </a:rPr>
              <a:t>: </a:t>
            </a:r>
            <a:r>
              <a:rPr lang="en-US" altLang="zh-TW" sz="1600" dirty="0"/>
              <a:t>D</a:t>
            </a:r>
            <a:r>
              <a:rPr lang="en-US" altLang="zh-TW" sz="1600" u="none" strike="noStrike" dirty="0">
                <a:effectLst/>
              </a:rPr>
              <a:t>ecides which past information to discard.</a:t>
            </a:r>
          </a:p>
          <a:p>
            <a:pPr marL="285750" indent="-285750">
              <a:lnSpc>
                <a:spcPts val="1800"/>
              </a:lnSpc>
              <a:spcBef>
                <a:spcPts val="600"/>
              </a:spcBef>
              <a:spcAft>
                <a:spcPts val="600"/>
              </a:spcAft>
              <a:buFont typeface="Wingdings" panose="05000000000000000000" pitchFamily="2" charset="2"/>
              <a:buChar char="Ø"/>
            </a:pPr>
            <a:r>
              <a:rPr lang="en-US" altLang="zh-TW" sz="1600" b="1" dirty="0"/>
              <a:t>Input Gate</a:t>
            </a:r>
            <a:r>
              <a:rPr lang="en-US" altLang="zh-TW" sz="1600" dirty="0"/>
              <a:t>: Controls the relevance of new information.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Output Gate</a:t>
            </a:r>
            <a:r>
              <a:rPr lang="en-US" altLang="zh-TW" sz="1600" dirty="0"/>
              <a:t>: Manages what information the LSTM unit should pass to the next time stamp.</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ong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hort-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emory</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LSTM networks operate similarly to RNNs but include specialized mechanisms called gates.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These gates regulate how information flows through the network, allowing it to retain important information over extended periods.</a:t>
            </a:r>
          </a:p>
        </p:txBody>
      </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50436" y="5407653"/>
            <a:ext cx="387816" cy="387816"/>
          </a:xfrm>
          <a:prstGeom prst="rect">
            <a:avLst/>
          </a:prstGeom>
        </p:spPr>
      </p:pic>
      <p:pic>
        <p:nvPicPr>
          <p:cNvPr id="9" name="圖片 8">
            <a:extLst>
              <a:ext uri="{FF2B5EF4-FFF2-40B4-BE49-F238E27FC236}">
                <a16:creationId xmlns:a16="http://schemas.microsoft.com/office/drawing/2014/main" id="{0A251C17-D9A1-5FBF-8E07-DD7E1122850A}"/>
              </a:ext>
            </a:extLst>
          </p:cNvPr>
          <p:cNvPicPr>
            <a:picLocks noChangeAspect="1"/>
          </p:cNvPicPr>
          <p:nvPr/>
        </p:nvPicPr>
        <p:blipFill>
          <a:blip r:embed="rId4"/>
          <a:stretch>
            <a:fillRect/>
          </a:stretch>
        </p:blipFill>
        <p:spPr>
          <a:xfrm>
            <a:off x="127453" y="3591374"/>
            <a:ext cx="5198703" cy="3077986"/>
          </a:xfrm>
          <a:prstGeom prst="rect">
            <a:avLst/>
          </a:prstGeom>
        </p:spPr>
      </p:pic>
      <p:sp>
        <p:nvSpPr>
          <p:cNvPr id="6" name="文字方塊 5">
            <a:hlinkClick r:id="rId5"/>
            <a:extLst>
              <a:ext uri="{FF2B5EF4-FFF2-40B4-BE49-F238E27FC236}">
                <a16:creationId xmlns:a16="http://schemas.microsoft.com/office/drawing/2014/main" id="{70855807-1161-E559-F5A2-B53DEF61F327}"/>
              </a:ext>
            </a:extLst>
          </p:cNvPr>
          <p:cNvSpPr txBox="1"/>
          <p:nvPr/>
        </p:nvSpPr>
        <p:spPr>
          <a:xfrm>
            <a:off x="179512" y="3192617"/>
            <a:ext cx="1195013" cy="369332"/>
          </a:xfrm>
          <a:prstGeom prst="rect">
            <a:avLst/>
          </a:prstGeom>
          <a:noFill/>
        </p:spPr>
        <p:txBody>
          <a:bodyPr wrap="square">
            <a:spAutoFit/>
          </a:bodyPr>
          <a:lstStyle/>
          <a:p>
            <a:r>
              <a:rPr lang="en-US" altLang="zh-TW" dirty="0">
                <a:hlinkClick r:id="rId5"/>
              </a:rPr>
              <a:t>LSTM</a:t>
            </a:r>
            <a:r>
              <a:rPr lang="zh-TW" altLang="en-US" dirty="0">
                <a:hlinkClick r:id="rId5"/>
              </a:rPr>
              <a:t>教學</a:t>
            </a:r>
            <a:endParaRPr lang="zh-TW" altLang="en-US" dirty="0"/>
          </a:p>
        </p:txBody>
      </p:sp>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7B754B0-027A-B652-8298-85EFEE70CADF}"/>
              </a:ext>
            </a:extLst>
          </p:cNvPr>
          <p:cNvPicPr>
            <a:picLocks noChangeAspect="1"/>
          </p:cNvPicPr>
          <p:nvPr/>
        </p:nvPicPr>
        <p:blipFill>
          <a:blip r:embed="rId3"/>
          <a:stretch>
            <a:fillRect/>
          </a:stretch>
        </p:blipFill>
        <p:spPr>
          <a:xfrm>
            <a:off x="0" y="0"/>
            <a:ext cx="6382641" cy="3829584"/>
          </a:xfrm>
          <a:prstGeom prst="rect">
            <a:avLst/>
          </a:prstGeom>
        </p:spPr>
      </p:pic>
      <p:pic>
        <p:nvPicPr>
          <p:cNvPr id="5" name="圖片 4">
            <a:extLst>
              <a:ext uri="{FF2B5EF4-FFF2-40B4-BE49-F238E27FC236}">
                <a16:creationId xmlns:a16="http://schemas.microsoft.com/office/drawing/2014/main" id="{22F1C41D-3687-518E-0C70-4B97661137E2}"/>
              </a:ext>
            </a:extLst>
          </p:cNvPr>
          <p:cNvPicPr>
            <a:picLocks noChangeAspect="1"/>
          </p:cNvPicPr>
          <p:nvPr/>
        </p:nvPicPr>
        <p:blipFill>
          <a:blip r:embed="rId4"/>
          <a:stretch>
            <a:fillRect/>
          </a:stretch>
        </p:blipFill>
        <p:spPr>
          <a:xfrm>
            <a:off x="179512" y="3933056"/>
            <a:ext cx="5496692" cy="1276528"/>
          </a:xfrm>
          <a:prstGeom prst="rect">
            <a:avLst/>
          </a:prstGeom>
        </p:spPr>
      </p:pic>
      <p:pic>
        <p:nvPicPr>
          <p:cNvPr id="7" name="圖片 6">
            <a:extLst>
              <a:ext uri="{FF2B5EF4-FFF2-40B4-BE49-F238E27FC236}">
                <a16:creationId xmlns:a16="http://schemas.microsoft.com/office/drawing/2014/main" id="{296D0F34-BC94-6A8B-1050-24E9A84D2DA9}"/>
              </a:ext>
            </a:extLst>
          </p:cNvPr>
          <p:cNvPicPr>
            <a:picLocks noChangeAspect="1"/>
          </p:cNvPicPr>
          <p:nvPr/>
        </p:nvPicPr>
        <p:blipFill>
          <a:blip r:embed="rId5"/>
          <a:stretch>
            <a:fillRect/>
          </a:stretch>
        </p:blipFill>
        <p:spPr>
          <a:xfrm>
            <a:off x="184845" y="5313056"/>
            <a:ext cx="5944430" cy="1343212"/>
          </a:xfrm>
          <a:prstGeom prst="rect">
            <a:avLst/>
          </a:prstGeom>
        </p:spPr>
      </p:pic>
      <p:pic>
        <p:nvPicPr>
          <p:cNvPr id="9" name="圖片 8">
            <a:extLst>
              <a:ext uri="{FF2B5EF4-FFF2-40B4-BE49-F238E27FC236}">
                <a16:creationId xmlns:a16="http://schemas.microsoft.com/office/drawing/2014/main" id="{C7768AC6-198F-0B95-D652-44F0E96315F3}"/>
              </a:ext>
            </a:extLst>
          </p:cNvPr>
          <p:cNvPicPr>
            <a:picLocks noChangeAspect="1"/>
          </p:cNvPicPr>
          <p:nvPr/>
        </p:nvPicPr>
        <p:blipFill>
          <a:blip r:embed="rId6"/>
          <a:stretch>
            <a:fillRect/>
          </a:stretch>
        </p:blipFill>
        <p:spPr>
          <a:xfrm>
            <a:off x="2904254" y="201757"/>
            <a:ext cx="6239746" cy="1571844"/>
          </a:xfrm>
          <a:prstGeom prst="rect">
            <a:avLst/>
          </a:prstGeom>
        </p:spPr>
      </p:pic>
      <p:pic>
        <p:nvPicPr>
          <p:cNvPr id="11" name="圖片 10">
            <a:extLst>
              <a:ext uri="{FF2B5EF4-FFF2-40B4-BE49-F238E27FC236}">
                <a16:creationId xmlns:a16="http://schemas.microsoft.com/office/drawing/2014/main" id="{31CA6E19-EF8D-DA11-2613-B8697BCC083E}"/>
              </a:ext>
            </a:extLst>
          </p:cNvPr>
          <p:cNvPicPr>
            <a:picLocks noChangeAspect="1"/>
          </p:cNvPicPr>
          <p:nvPr/>
        </p:nvPicPr>
        <p:blipFill>
          <a:blip r:embed="rId7"/>
          <a:stretch>
            <a:fillRect/>
          </a:stretch>
        </p:blipFill>
        <p:spPr>
          <a:xfrm>
            <a:off x="3762900" y="1877073"/>
            <a:ext cx="5239481" cy="1352739"/>
          </a:xfrm>
          <a:prstGeom prst="rect">
            <a:avLst/>
          </a:prstGeom>
        </p:spPr>
      </p:pic>
      <p:sp>
        <p:nvSpPr>
          <p:cNvPr id="15" name="文字方塊 14">
            <a:extLst>
              <a:ext uri="{FF2B5EF4-FFF2-40B4-BE49-F238E27FC236}">
                <a16:creationId xmlns:a16="http://schemas.microsoft.com/office/drawing/2014/main" id="{08DA9942-5A75-91F2-0080-CBB4DCE111B0}"/>
              </a:ext>
            </a:extLst>
          </p:cNvPr>
          <p:cNvSpPr txBox="1"/>
          <p:nvPr/>
        </p:nvSpPr>
        <p:spPr>
          <a:xfrm>
            <a:off x="6684565" y="4101698"/>
            <a:ext cx="2342149" cy="2554545"/>
          </a:xfrm>
          <a:prstGeom prst="rect">
            <a:avLst/>
          </a:prstGeom>
          <a:noFill/>
        </p:spPr>
        <p:txBody>
          <a:bodyPr wrap="square">
            <a:spAutoFit/>
          </a:bodyPr>
          <a:lstStyle/>
          <a:p>
            <a:pPr>
              <a:lnSpc>
                <a:spcPts val="1200"/>
              </a:lnSpc>
            </a:pPr>
            <a:r>
              <a:rPr lang="zh-TW" altLang="en-US" sz="1000" dirty="0">
                <a:latin typeface="微軟正黑體" panose="020B0604030504040204" pitchFamily="34" charset="-120"/>
                <a:ea typeface="微軟正黑體" panose="020B0604030504040204" pitchFamily="34" charset="-120"/>
              </a:rPr>
              <a:t>💡 實務運作的核心痛點（為什麼要排隊？）</a:t>
            </a:r>
          </a:p>
          <a:p>
            <a:pPr>
              <a:lnSpc>
                <a:spcPts val="1200"/>
              </a:lnSpc>
            </a:pPr>
            <a:r>
              <a:rPr lang="zh-TW" altLang="en-US" sz="1000" dirty="0">
                <a:latin typeface="微軟正黑體" panose="020B0604030504040204" pitchFamily="34" charset="-120"/>
                <a:ea typeface="微軟正黑體" panose="020B0604030504040204" pitchFamily="34" charset="-120"/>
              </a:rPr>
              <a:t>從上述的「作法」中你可以發現，計算第 </a:t>
            </a:r>
            <a:r>
              <a:rPr lang="en-US" altLang="zh-TW" sz="1000" dirty="0">
                <a:latin typeface="微軟正黑體" panose="020B0604030504040204" pitchFamily="34" charset="-120"/>
                <a:ea typeface="微軟正黑體" panose="020B0604030504040204" pitchFamily="34" charset="-120"/>
              </a:rPr>
              <a:t>2 </a:t>
            </a:r>
            <a:r>
              <a:rPr lang="zh-TW" altLang="en-US" sz="1000" dirty="0">
                <a:latin typeface="微軟正黑體" panose="020B0604030504040204" pitchFamily="34" charset="-120"/>
                <a:ea typeface="微軟正黑體" panose="020B0604030504040204" pitchFamily="34" charset="-120"/>
              </a:rPr>
              <a:t>個字時，公式裡必須代入上一步的 </a:t>
            </a:r>
            <a:r>
              <a:rPr lang="en-US" altLang="zh-TW" sz="1000" dirty="0">
                <a:latin typeface="微軟正黑體" panose="020B0604030504040204" pitchFamily="34" charset="-120"/>
                <a:ea typeface="微軟正黑體" panose="020B0604030504040204" pitchFamily="34" charset="-120"/>
              </a:rPr>
              <a:t>h{t-1} </a:t>
            </a:r>
            <a:r>
              <a:rPr lang="zh-TW" altLang="en-US" sz="1000" dirty="0">
                <a:latin typeface="微軟正黑體" panose="020B0604030504040204" pitchFamily="34" charset="-120"/>
                <a:ea typeface="微軟正黑體" panose="020B0604030504040204" pitchFamily="34" charset="-120"/>
              </a:rPr>
              <a:t>和 </a:t>
            </a:r>
            <a:r>
              <a:rPr lang="en-US" altLang="zh-TW" sz="1000" dirty="0">
                <a:latin typeface="微軟正黑體" panose="020B0604030504040204" pitchFamily="34" charset="-120"/>
                <a:ea typeface="微軟正黑體" panose="020B0604030504040204" pitchFamily="34" charset="-120"/>
              </a:rPr>
              <a:t>C_{t-1}</a:t>
            </a:r>
            <a:r>
              <a:rPr lang="zh-TW" altLang="en-US" sz="1000" dirty="0">
                <a:latin typeface="微軟正黑體" panose="020B0604030504040204" pitchFamily="34" charset="-120"/>
                <a:ea typeface="微軟正黑體" panose="020B0604030504040204" pitchFamily="34" charset="-120"/>
              </a:rPr>
              <a:t>。</a:t>
            </a:r>
            <a:br>
              <a:rPr lang="zh-TW" altLang="en-US" sz="1000" dirty="0">
                <a:latin typeface="微軟正黑體" panose="020B0604030504040204" pitchFamily="34" charset="-120"/>
                <a:ea typeface="微軟正黑體" panose="020B0604030504040204" pitchFamily="34" charset="-120"/>
              </a:rPr>
            </a:br>
            <a:r>
              <a:rPr lang="zh-TW" altLang="en-US" sz="1000" dirty="0">
                <a:latin typeface="微軟正黑體" panose="020B0604030504040204" pitchFamily="34" charset="-120"/>
                <a:ea typeface="微軟正黑體" panose="020B0604030504040204" pitchFamily="34" charset="-120"/>
              </a:rPr>
              <a:t>這意味著：</a:t>
            </a:r>
          </a:p>
          <a:p>
            <a:pPr>
              <a:lnSpc>
                <a:spcPts val="1200"/>
              </a:lnSpc>
            </a:pPr>
            <a:r>
              <a:rPr lang="zh-TW" altLang="en-US" sz="1000" dirty="0">
                <a:latin typeface="微軟正黑體" panose="020B0604030504040204" pitchFamily="34" charset="-120"/>
                <a:ea typeface="微軟正黑體" panose="020B0604030504040204" pitchFamily="34" charset="-120"/>
              </a:rPr>
              <a:t>你無法同時計算第 </a:t>
            </a:r>
            <a:r>
              <a:rPr lang="en-US" altLang="zh-TW" sz="1000" dirty="0">
                <a:latin typeface="微軟正黑體" panose="020B0604030504040204" pitchFamily="34" charset="-120"/>
                <a:ea typeface="微軟正黑體" panose="020B0604030504040204" pitchFamily="34" charset="-120"/>
              </a:rPr>
              <a:t>1 </a:t>
            </a:r>
            <a:r>
              <a:rPr lang="zh-TW" altLang="en-US" sz="1000" dirty="0">
                <a:latin typeface="微軟正黑體" panose="020B0604030504040204" pitchFamily="34" charset="-120"/>
                <a:ea typeface="微軟正黑體" panose="020B0604030504040204" pitchFamily="34" charset="-120"/>
              </a:rPr>
              <a:t>個字和第 </a:t>
            </a:r>
            <a:r>
              <a:rPr lang="en-US" altLang="zh-TW" sz="1000" dirty="0">
                <a:latin typeface="微軟正黑體" panose="020B0604030504040204" pitchFamily="34" charset="-120"/>
                <a:ea typeface="微軟正黑體" panose="020B0604030504040204" pitchFamily="34" charset="-120"/>
              </a:rPr>
              <a:t>100 </a:t>
            </a:r>
            <a:r>
              <a:rPr lang="zh-TW" altLang="en-US" sz="1000" dirty="0">
                <a:latin typeface="微軟正黑體" panose="020B0604030504040204" pitchFamily="34" charset="-120"/>
                <a:ea typeface="微軟正黑體" panose="020B0604030504040204" pitchFamily="34" charset="-120"/>
              </a:rPr>
              <a:t>個字。</a:t>
            </a:r>
          </a:p>
          <a:p>
            <a:pPr>
              <a:lnSpc>
                <a:spcPts val="1200"/>
              </a:lnSpc>
            </a:pPr>
            <a:r>
              <a:rPr lang="zh-TW" altLang="en-US" sz="1000" dirty="0">
                <a:latin typeface="微軟正黑體" panose="020B0604030504040204" pitchFamily="34" charset="-120"/>
                <a:ea typeface="微軟正黑體" panose="020B0604030504040204" pitchFamily="34" charset="-120"/>
              </a:rPr>
              <a:t>顯示卡（</a:t>
            </a:r>
            <a:r>
              <a:rPr lang="en-US" altLang="zh-TW" sz="1000" dirty="0">
                <a:latin typeface="微軟正黑體" panose="020B0604030504040204" pitchFamily="34" charset="-120"/>
                <a:ea typeface="微軟正黑體" panose="020B0604030504040204" pitchFamily="34" charset="-120"/>
              </a:rPr>
              <a:t>GPU</a:t>
            </a:r>
            <a:r>
              <a:rPr lang="zh-TW" altLang="en-US" sz="1000" dirty="0">
                <a:latin typeface="微軟正黑體" panose="020B0604030504040204" pitchFamily="34" charset="-120"/>
                <a:ea typeface="微軟正黑體" panose="020B0604030504040204" pitchFamily="34" charset="-120"/>
              </a:rPr>
              <a:t>）有幾千個核心可以並行運算，但在跑 </a:t>
            </a:r>
            <a:r>
              <a:rPr lang="en-US" altLang="zh-TW" sz="1000" dirty="0">
                <a:latin typeface="微軟正黑體" panose="020B0604030504040204" pitchFamily="34" charset="-120"/>
                <a:ea typeface="微軟正黑體" panose="020B0604030504040204" pitchFamily="34" charset="-120"/>
              </a:rPr>
              <a:t>LSTM </a:t>
            </a:r>
            <a:r>
              <a:rPr lang="zh-TW" altLang="en-US" sz="1000" dirty="0">
                <a:latin typeface="微軟正黑體" panose="020B0604030504040204" pitchFamily="34" charset="-120"/>
                <a:ea typeface="微軟正黑體" panose="020B0604030504040204" pitchFamily="34" charset="-120"/>
              </a:rPr>
              <a:t>時，只能逼它們乖乖「排隊」等前一個字算完。</a:t>
            </a:r>
          </a:p>
          <a:p>
            <a:pPr>
              <a:lnSpc>
                <a:spcPts val="1200"/>
              </a:lnSpc>
            </a:pPr>
            <a:r>
              <a:rPr lang="zh-TW" altLang="en-US" sz="1000" dirty="0">
                <a:latin typeface="微軟正黑體" panose="020B0604030504040204" pitchFamily="34" charset="-120"/>
                <a:ea typeface="微軟正黑體" panose="020B0604030504040204" pitchFamily="34" charset="-120"/>
              </a:rPr>
              <a:t>這也是為什麼當前 </a:t>
            </a:r>
            <a:r>
              <a:rPr lang="en-US" altLang="zh-TW" sz="1000" dirty="0">
                <a:latin typeface="微軟正黑體" panose="020B0604030504040204" pitchFamily="34" charset="-120"/>
                <a:ea typeface="微軟正黑體" panose="020B0604030504040204" pitchFamily="34" charset="-120"/>
              </a:rPr>
              <a:t>AI </a:t>
            </a:r>
            <a:r>
              <a:rPr lang="zh-TW" altLang="en-US" sz="1000" dirty="0">
                <a:latin typeface="微軟正黑體" panose="020B0604030504040204" pitchFamily="34" charset="-120"/>
                <a:ea typeface="微軟正黑體" panose="020B0604030504040204" pitchFamily="34" charset="-120"/>
              </a:rPr>
              <a:t>業界全面轉向 </a:t>
            </a:r>
            <a:r>
              <a:rPr lang="en-US" altLang="zh-TW" sz="1000" dirty="0">
                <a:latin typeface="微軟正黑體" panose="020B0604030504040204" pitchFamily="34" charset="-120"/>
                <a:ea typeface="微軟正黑體" panose="020B0604030504040204" pitchFamily="34" charset="-120"/>
              </a:rPr>
              <a:t>Transformer</a:t>
            </a:r>
            <a:r>
              <a:rPr lang="zh-TW" altLang="en-US" sz="1000" dirty="0">
                <a:latin typeface="微軟正黑體" panose="020B0604030504040204" pitchFamily="34" charset="-120"/>
                <a:ea typeface="微軟正黑體" panose="020B0604030504040204" pitchFamily="34" charset="-120"/>
              </a:rPr>
              <a:t>，因為 </a:t>
            </a:r>
            <a:r>
              <a:rPr lang="en-US" altLang="zh-TW" sz="1000" dirty="0">
                <a:latin typeface="微軟正黑體" panose="020B0604030504040204" pitchFamily="34" charset="-120"/>
                <a:ea typeface="微軟正黑體" panose="020B0604030504040204" pitchFamily="34" charset="-120"/>
              </a:rPr>
              <a:t>Transformer </a:t>
            </a:r>
            <a:r>
              <a:rPr lang="zh-TW" altLang="en-US" sz="1000" dirty="0">
                <a:latin typeface="微軟正黑體" panose="020B0604030504040204" pitchFamily="34" charset="-120"/>
                <a:ea typeface="微軟正黑體" panose="020B0604030504040204" pitchFamily="34" charset="-120"/>
              </a:rPr>
              <a:t>的作法是把所有字一次全部丟進去算（</a:t>
            </a:r>
            <a:r>
              <a:rPr lang="en-US" altLang="zh-TW" sz="1000" dirty="0">
                <a:latin typeface="微軟正黑體" panose="020B0604030504040204" pitchFamily="34" charset="-120"/>
                <a:ea typeface="微軟正黑體" panose="020B0604030504040204" pitchFamily="34" charset="-120"/>
              </a:rPr>
              <a:t>Self-Attention</a:t>
            </a:r>
            <a:r>
              <a:rPr lang="zh-TW" altLang="en-US" sz="1000" dirty="0">
                <a:latin typeface="微軟正黑體" panose="020B0604030504040204" pitchFamily="34" charset="-120"/>
                <a:ea typeface="微軟正黑體" panose="020B0604030504040204" pitchFamily="34" charset="-120"/>
              </a:rPr>
              <a:t>），徹底解放了 </a:t>
            </a:r>
            <a:r>
              <a:rPr lang="en-US" altLang="zh-TW" sz="1000" dirty="0">
                <a:latin typeface="微軟正黑體" panose="020B0604030504040204" pitchFamily="34" charset="-120"/>
                <a:ea typeface="微軟正黑體" panose="020B0604030504040204" pitchFamily="34" charset="-120"/>
              </a:rPr>
              <a:t>GPU </a:t>
            </a:r>
            <a:r>
              <a:rPr lang="zh-TW" altLang="en-US" sz="1000" dirty="0">
                <a:latin typeface="微軟正黑體" panose="020B0604030504040204" pitchFamily="34" charset="-120"/>
                <a:ea typeface="微軟正黑體" panose="020B0604030504040204" pitchFamily="34" charset="-120"/>
              </a:rPr>
              <a:t>的並行算力。</a:t>
            </a:r>
          </a:p>
        </p:txBody>
      </p:sp>
    </p:spTree>
    <p:extLst>
      <p:ext uri="{BB962C8B-B14F-4D97-AF65-F5344CB8AC3E}">
        <p14:creationId xmlns:p14="http://schemas.microsoft.com/office/powerpoint/2010/main" val="34978532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F3F95152-7A6B-16A4-22A0-4CC9A08A28E2}"/>
              </a:ext>
            </a:extLst>
          </p:cNvPr>
          <p:cNvSpPr txBox="1"/>
          <p:nvPr/>
        </p:nvSpPr>
        <p:spPr>
          <a:xfrm>
            <a:off x="2250420"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MQA</a:t>
            </a:r>
          </a:p>
          <a:p>
            <a:pPr algn="ctr">
              <a:lnSpc>
                <a:spcPts val="1400"/>
              </a:lnSpc>
              <a:buNone/>
            </a:pPr>
            <a:r>
              <a:rPr lang="en-US" altLang="zh-TW" sz="1200" dirty="0"/>
              <a:t>Multi</a:t>
            </a:r>
          </a:p>
          <a:p>
            <a:pPr algn="ctr">
              <a:lnSpc>
                <a:spcPts val="1400"/>
              </a:lnSpc>
              <a:buNone/>
            </a:pPr>
            <a:r>
              <a:rPr lang="en-US" altLang="zh-TW" sz="1200" u="none" strike="noStrike" dirty="0">
                <a:effectLst/>
              </a:rPr>
              <a:t>Query</a:t>
            </a:r>
          </a:p>
          <a:p>
            <a:pPr algn="ctr">
              <a:lnSpc>
                <a:spcPts val="1400"/>
              </a:lnSpc>
              <a:buNone/>
            </a:pPr>
            <a:r>
              <a:rPr lang="en-US" altLang="zh-TW" sz="1200" dirty="0"/>
              <a:t>2019</a:t>
            </a:r>
            <a:endParaRPr lang="en-US" altLang="zh-TW" sz="1200" u="none" strike="noStrike" dirty="0">
              <a:effectLst/>
            </a:endParaRPr>
          </a:p>
        </p:txBody>
      </p:sp>
      <p:sp>
        <p:nvSpPr>
          <p:cNvPr id="8" name="文字方塊 7">
            <a:extLst>
              <a:ext uri="{FF2B5EF4-FFF2-40B4-BE49-F238E27FC236}">
                <a16:creationId xmlns:a16="http://schemas.microsoft.com/office/drawing/2014/main" id="{1240326B-602C-CDBB-C0E5-72CA3E8DB14E}"/>
              </a:ext>
            </a:extLst>
          </p:cNvPr>
          <p:cNvSpPr txBox="1"/>
          <p:nvPr/>
        </p:nvSpPr>
        <p:spPr>
          <a:xfrm>
            <a:off x="4499993"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GQA</a:t>
            </a:r>
          </a:p>
          <a:p>
            <a:pPr algn="ctr">
              <a:lnSpc>
                <a:spcPts val="1400"/>
              </a:lnSpc>
              <a:buNone/>
            </a:pPr>
            <a:r>
              <a:rPr lang="en-US" altLang="zh-TW" sz="1200" dirty="0"/>
              <a:t>Grouped</a:t>
            </a:r>
          </a:p>
          <a:p>
            <a:pPr algn="ctr">
              <a:lnSpc>
                <a:spcPts val="1400"/>
              </a:lnSpc>
              <a:buNone/>
            </a:pPr>
            <a:r>
              <a:rPr lang="en-US" altLang="zh-TW" sz="1200" dirty="0"/>
              <a:t>Query</a:t>
            </a:r>
          </a:p>
          <a:p>
            <a:pPr algn="ctr">
              <a:lnSpc>
                <a:spcPts val="1400"/>
              </a:lnSpc>
              <a:buNone/>
            </a:pPr>
            <a:r>
              <a:rPr lang="en-US" altLang="zh-TW" sz="1200" u="none" strike="noStrike" dirty="0">
                <a:effectLst/>
              </a:rPr>
              <a:t>2023</a:t>
            </a:r>
          </a:p>
        </p:txBody>
      </p:sp>
      <p:sp>
        <p:nvSpPr>
          <p:cNvPr id="9" name="文字方塊 8">
            <a:extLst>
              <a:ext uri="{FF2B5EF4-FFF2-40B4-BE49-F238E27FC236}">
                <a16:creationId xmlns:a16="http://schemas.microsoft.com/office/drawing/2014/main" id="{B13425BD-8E63-0EFC-AD98-38638AC090BD}"/>
              </a:ext>
            </a:extLst>
          </p:cNvPr>
          <p:cNvSpPr txBox="1"/>
          <p:nvPr/>
        </p:nvSpPr>
        <p:spPr>
          <a:xfrm>
            <a:off x="5562789"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MLA</a:t>
            </a:r>
          </a:p>
          <a:p>
            <a:pPr algn="ctr">
              <a:lnSpc>
                <a:spcPts val="1400"/>
              </a:lnSpc>
              <a:buNone/>
            </a:pPr>
            <a:r>
              <a:rPr lang="en-US" altLang="zh-TW" sz="1200" dirty="0"/>
              <a:t>Multi</a:t>
            </a:r>
          </a:p>
          <a:p>
            <a:pPr algn="ctr">
              <a:lnSpc>
                <a:spcPts val="1400"/>
              </a:lnSpc>
              <a:buNone/>
            </a:pPr>
            <a:r>
              <a:rPr lang="en-US" altLang="zh-TW" sz="1200" dirty="0"/>
              <a:t>Latent</a:t>
            </a:r>
          </a:p>
          <a:p>
            <a:pPr algn="ctr">
              <a:lnSpc>
                <a:spcPts val="1400"/>
              </a:lnSpc>
              <a:buNone/>
            </a:pPr>
            <a:r>
              <a:rPr lang="en-US" altLang="zh-TW" sz="1200" dirty="0"/>
              <a:t>2025</a:t>
            </a:r>
          </a:p>
          <a:p>
            <a:pPr algn="ctr">
              <a:lnSpc>
                <a:spcPts val="1400"/>
              </a:lnSpc>
              <a:buNone/>
            </a:pPr>
            <a:endParaRPr lang="en-US" altLang="zh-TW" sz="1200" dirty="0"/>
          </a:p>
          <a:p>
            <a:pPr algn="ctr">
              <a:lnSpc>
                <a:spcPts val="1400"/>
              </a:lnSpc>
              <a:buNone/>
            </a:pPr>
            <a:endParaRPr lang="en-US" altLang="zh-TW" sz="1200" u="none" strike="noStrike" dirty="0">
              <a:effectLst/>
            </a:endParaRPr>
          </a:p>
        </p:txBody>
      </p:sp>
      <p:sp>
        <p:nvSpPr>
          <p:cNvPr id="10" name="文字方塊 9">
            <a:extLst>
              <a:ext uri="{FF2B5EF4-FFF2-40B4-BE49-F238E27FC236}">
                <a16:creationId xmlns:a16="http://schemas.microsoft.com/office/drawing/2014/main" id="{8A849B28-DFA9-FA7E-9B5D-244D9BBAD51A}"/>
              </a:ext>
            </a:extLst>
          </p:cNvPr>
          <p:cNvSpPr txBox="1"/>
          <p:nvPr/>
        </p:nvSpPr>
        <p:spPr>
          <a:xfrm>
            <a:off x="6642909"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KDA</a:t>
            </a:r>
            <a:endParaRPr lang="en-US" altLang="zh-TW" sz="1400" b="1" u="none" strike="noStrike" dirty="0">
              <a:effectLst/>
            </a:endParaRPr>
          </a:p>
          <a:p>
            <a:pPr algn="ctr">
              <a:lnSpc>
                <a:spcPts val="1400"/>
              </a:lnSpc>
              <a:buNone/>
            </a:pPr>
            <a:r>
              <a:rPr lang="en-US" altLang="zh-TW" sz="1200" dirty="0"/>
              <a:t>Kimi Delta</a:t>
            </a:r>
          </a:p>
          <a:p>
            <a:pPr algn="ctr">
              <a:lnSpc>
                <a:spcPts val="1400"/>
              </a:lnSpc>
              <a:buNone/>
            </a:pPr>
            <a:r>
              <a:rPr lang="en-US" altLang="zh-TW" sz="1200" dirty="0"/>
              <a:t>Attention</a:t>
            </a:r>
          </a:p>
          <a:p>
            <a:pPr algn="ctr">
              <a:lnSpc>
                <a:spcPts val="1400"/>
              </a:lnSpc>
              <a:buNone/>
            </a:pPr>
            <a:r>
              <a:rPr lang="en-US" altLang="zh-TW" sz="1200" dirty="0"/>
              <a:t>2026</a:t>
            </a:r>
            <a:endParaRPr lang="en-US" altLang="zh-TW" sz="1200" u="none" strike="noStrike" dirty="0">
              <a:effectLst/>
            </a:endParaRPr>
          </a:p>
          <a:p>
            <a:pPr algn="ctr">
              <a:lnSpc>
                <a:spcPts val="1400"/>
              </a:lnSpc>
              <a:buNone/>
            </a:pPr>
            <a:endParaRPr lang="en-US" altLang="zh-TW" sz="1200" u="none" strike="noStrike" dirty="0">
              <a:effectLst/>
            </a:endParaRPr>
          </a:p>
        </p:txBody>
      </p:sp>
      <p:sp>
        <p:nvSpPr>
          <p:cNvPr id="11" name="文字方塊 10">
            <a:extLst>
              <a:ext uri="{FF2B5EF4-FFF2-40B4-BE49-F238E27FC236}">
                <a16:creationId xmlns:a16="http://schemas.microsoft.com/office/drawing/2014/main" id="{D0A09D4C-6DE8-BDCA-C5C0-FBA86CD4368C}"/>
              </a:ext>
            </a:extLst>
          </p:cNvPr>
          <p:cNvSpPr txBox="1"/>
          <p:nvPr/>
        </p:nvSpPr>
        <p:spPr>
          <a:xfrm>
            <a:off x="1187624" y="2865420"/>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MHA</a:t>
            </a:r>
          </a:p>
          <a:p>
            <a:pPr algn="ctr">
              <a:lnSpc>
                <a:spcPts val="1400"/>
              </a:lnSpc>
              <a:buNone/>
            </a:pPr>
            <a:r>
              <a:rPr lang="en-US" altLang="zh-TW" sz="1200" dirty="0"/>
              <a:t>Multi</a:t>
            </a:r>
          </a:p>
          <a:p>
            <a:pPr algn="ctr">
              <a:lnSpc>
                <a:spcPts val="1400"/>
              </a:lnSpc>
              <a:buNone/>
            </a:pPr>
            <a:r>
              <a:rPr lang="en-US" altLang="zh-TW" sz="1200" dirty="0"/>
              <a:t>Head</a:t>
            </a:r>
          </a:p>
          <a:p>
            <a:pPr algn="ctr">
              <a:lnSpc>
                <a:spcPts val="1400"/>
              </a:lnSpc>
              <a:buNone/>
            </a:pPr>
            <a:r>
              <a:rPr lang="en-US" altLang="zh-TW" sz="1200" dirty="0"/>
              <a:t>2017</a:t>
            </a:r>
          </a:p>
        </p:txBody>
      </p:sp>
      <p:sp>
        <p:nvSpPr>
          <p:cNvPr id="12" name="右大括弧 11">
            <a:extLst>
              <a:ext uri="{FF2B5EF4-FFF2-40B4-BE49-F238E27FC236}">
                <a16:creationId xmlns:a16="http://schemas.microsoft.com/office/drawing/2014/main" id="{F7D623D8-E3EB-A23D-405F-B7C4DC6B3B36}"/>
              </a:ext>
            </a:extLst>
          </p:cNvPr>
          <p:cNvSpPr/>
          <p:nvPr/>
        </p:nvSpPr>
        <p:spPr>
          <a:xfrm rot="16200000">
            <a:off x="3241458" y="1025143"/>
            <a:ext cx="140811" cy="3528390"/>
          </a:xfrm>
          <a:prstGeom prst="rightBrace">
            <a:avLst>
              <a:gd name="adj1" fmla="val 8333"/>
              <a:gd name="adj2" fmla="val 5031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3" name="箭號: 向下 12">
            <a:extLst>
              <a:ext uri="{FF2B5EF4-FFF2-40B4-BE49-F238E27FC236}">
                <a16:creationId xmlns:a16="http://schemas.microsoft.com/office/drawing/2014/main" id="{9FAB91AB-9BC1-A45A-BFFD-61E028EE4A03}"/>
              </a:ext>
            </a:extLst>
          </p:cNvPr>
          <p:cNvSpPr/>
          <p:nvPr/>
        </p:nvSpPr>
        <p:spPr>
          <a:xfrm>
            <a:off x="8244408" y="3095765"/>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4" name="直線單箭頭接點 13">
            <a:extLst>
              <a:ext uri="{FF2B5EF4-FFF2-40B4-BE49-F238E27FC236}">
                <a16:creationId xmlns:a16="http://schemas.microsoft.com/office/drawing/2014/main" id="{B5EDBE07-C935-4285-720A-13592479DA23}"/>
              </a:ext>
            </a:extLst>
          </p:cNvPr>
          <p:cNvCxnSpPr>
            <a:cxnSpLocks/>
            <a:stCxn id="11" idx="3"/>
            <a:endCxn id="7"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15" name="表格 14">
            <a:extLst>
              <a:ext uri="{FF2B5EF4-FFF2-40B4-BE49-F238E27FC236}">
                <a16:creationId xmlns:a16="http://schemas.microsoft.com/office/drawing/2014/main" id="{77D26E76-0878-4BEA-0864-D931E8EE767B}"/>
              </a:ext>
            </a:extLst>
          </p:cNvPr>
          <p:cNvGraphicFramePr>
            <a:graphicFrameLocks noGrp="1"/>
          </p:cNvGraphicFramePr>
          <p:nvPr>
            <p:extLst>
              <p:ext uri="{D42A27DB-BD31-4B8C-83A1-F6EECF244321}">
                <p14:modId xmlns:p14="http://schemas.microsoft.com/office/powerpoint/2010/main" val="3322036250"/>
              </p:ext>
            </p:extLst>
          </p:nvPr>
        </p:nvGraphicFramePr>
        <p:xfrm>
          <a:off x="6534897" y="4519049"/>
          <a:ext cx="1349471" cy="622494"/>
        </p:xfrm>
        <a:graphic>
          <a:graphicData uri="http://schemas.openxmlformats.org/drawingml/2006/table">
            <a:tbl>
              <a:tblPr firstRow="1" bandRow="1">
                <a:tableStyleId>{5C22544A-7EE6-4342-B048-85BDC9FD1C3A}</a:tableStyleId>
              </a:tblPr>
              <a:tblGrid>
                <a:gridCol w="1349471">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Moonshot AI</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LSTM</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NoPE Everywhere</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32382004"/>
                  </a:ext>
                </a:extLst>
              </a:tr>
            </a:tbl>
          </a:graphicData>
        </a:graphic>
      </p:graphicFrame>
      <p:sp>
        <p:nvSpPr>
          <p:cNvPr id="17" name="標題 1">
            <a:extLst>
              <a:ext uri="{FF2B5EF4-FFF2-40B4-BE49-F238E27FC236}">
                <a16:creationId xmlns:a16="http://schemas.microsoft.com/office/drawing/2014/main" id="{D8E85CF9-1642-8F1D-8E65-50C63D95EB53}"/>
              </a:ext>
            </a:extLst>
          </p:cNvPr>
          <p:cNvSpPr txBox="1">
            <a:spLocks/>
          </p:cNvSpPr>
          <p:nvPr/>
        </p:nvSpPr>
        <p:spPr>
          <a:xfrm>
            <a:off x="6534897" y="3840781"/>
            <a:ext cx="1349471"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cxnSp>
        <p:nvCxnSpPr>
          <p:cNvPr id="18" name="直線接點 17">
            <a:extLst>
              <a:ext uri="{FF2B5EF4-FFF2-40B4-BE49-F238E27FC236}">
                <a16:creationId xmlns:a16="http://schemas.microsoft.com/office/drawing/2014/main" id="{FDCA2822-E0DA-5603-D3BF-22B5933F51F7}"/>
              </a:ext>
            </a:extLst>
          </p:cNvPr>
          <p:cNvCxnSpPr>
            <a:cxnSpLocks/>
            <a:stCxn id="17" idx="2"/>
            <a:endCxn id="15" idx="0"/>
          </p:cNvCxnSpPr>
          <p:nvPr/>
        </p:nvCxnSpPr>
        <p:spPr>
          <a:xfrm flipH="1">
            <a:off x="7209632" y="4149080"/>
            <a:ext cx="1" cy="369969"/>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graphicFrame>
        <p:nvGraphicFramePr>
          <p:cNvPr id="21" name="表格 20">
            <a:extLst>
              <a:ext uri="{FF2B5EF4-FFF2-40B4-BE49-F238E27FC236}">
                <a16:creationId xmlns:a16="http://schemas.microsoft.com/office/drawing/2014/main" id="{B63988D1-7A48-56F1-C555-9C16E500FE51}"/>
              </a:ext>
            </a:extLst>
          </p:cNvPr>
          <p:cNvGraphicFramePr>
            <a:graphicFrameLocks noGrp="1"/>
          </p:cNvGraphicFramePr>
          <p:nvPr>
            <p:extLst>
              <p:ext uri="{D42A27DB-BD31-4B8C-83A1-F6EECF244321}">
                <p14:modId xmlns:p14="http://schemas.microsoft.com/office/powerpoint/2010/main" val="2077371752"/>
              </p:ext>
            </p:extLst>
          </p:nvPr>
        </p:nvGraphicFramePr>
        <p:xfrm>
          <a:off x="1079612" y="3933056"/>
          <a:ext cx="1097443" cy="731520"/>
        </p:xfrm>
        <a:graphic>
          <a:graphicData uri="http://schemas.openxmlformats.org/drawingml/2006/table">
            <a:tbl>
              <a:tblPr firstRow="1" bandRow="1">
                <a:tableStyleId>{5C22544A-7EE6-4342-B048-85BDC9FD1C3A}</a:tableStyleId>
              </a:tblPr>
              <a:tblGrid>
                <a:gridCol w="1097443">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Google</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Brain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Original Transformer</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23" name="表格 22">
            <a:extLst>
              <a:ext uri="{FF2B5EF4-FFF2-40B4-BE49-F238E27FC236}">
                <a16:creationId xmlns:a16="http://schemas.microsoft.com/office/drawing/2014/main" id="{B13AF0D5-623C-586B-2A02-62CC38472E6D}"/>
              </a:ext>
            </a:extLst>
          </p:cNvPr>
          <p:cNvGraphicFramePr>
            <a:graphicFrameLocks noGrp="1"/>
          </p:cNvGraphicFramePr>
          <p:nvPr>
            <p:extLst>
              <p:ext uri="{D42A27DB-BD31-4B8C-83A1-F6EECF244321}">
                <p14:modId xmlns:p14="http://schemas.microsoft.com/office/powerpoint/2010/main" val="1004929862"/>
              </p:ext>
            </p:extLst>
          </p:nvPr>
        </p:nvGraphicFramePr>
        <p:xfrm>
          <a:off x="2142408" y="4005064"/>
          <a:ext cx="1232798" cy="551945"/>
        </p:xfrm>
        <a:graphic>
          <a:graphicData uri="http://schemas.openxmlformats.org/drawingml/2006/table">
            <a:tbl>
              <a:tblPr firstRow="1" bandRow="1">
                <a:tableStyleId>{5C22544A-7EE6-4342-B048-85BDC9FD1C3A}</a:tableStyleId>
              </a:tblPr>
              <a:tblGrid>
                <a:gridCol w="1232798">
                  <a:extLst>
                    <a:ext uri="{9D8B030D-6E8A-4147-A177-3AD203B41FA5}">
                      <a16:colId xmlns:a16="http://schemas.microsoft.com/office/drawing/2014/main" val="4512040"/>
                    </a:ext>
                  </a:extLst>
                </a:gridCol>
              </a:tblGrid>
              <a:tr h="186185">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320982">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Share Key-Value</a:t>
                      </a:r>
                    </a:p>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Vector</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25" name="表格 24">
            <a:extLst>
              <a:ext uri="{FF2B5EF4-FFF2-40B4-BE49-F238E27FC236}">
                <a16:creationId xmlns:a16="http://schemas.microsoft.com/office/drawing/2014/main" id="{4510516A-4A11-3856-A1AB-47AA0F81258B}"/>
              </a:ext>
            </a:extLst>
          </p:cNvPr>
          <p:cNvGraphicFramePr>
            <a:graphicFrameLocks noGrp="1"/>
          </p:cNvGraphicFramePr>
          <p:nvPr>
            <p:extLst>
              <p:ext uri="{D42A27DB-BD31-4B8C-83A1-F6EECF244321}">
                <p14:modId xmlns:p14="http://schemas.microsoft.com/office/powerpoint/2010/main" val="418159719"/>
              </p:ext>
            </p:extLst>
          </p:nvPr>
        </p:nvGraphicFramePr>
        <p:xfrm>
          <a:off x="4447065" y="4439918"/>
          <a:ext cx="1097443" cy="573258"/>
        </p:xfrm>
        <a:graphic>
          <a:graphicData uri="http://schemas.openxmlformats.org/drawingml/2006/table">
            <a:tbl>
              <a:tblPr firstRow="1" bandRow="1">
                <a:tableStyleId>{5C22544A-7EE6-4342-B048-85BDC9FD1C3A}</a:tableStyleId>
              </a:tblPr>
              <a:tblGrid>
                <a:gridCol w="1097443">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Google</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Research</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27" name="表格 26">
            <a:extLst>
              <a:ext uri="{FF2B5EF4-FFF2-40B4-BE49-F238E27FC236}">
                <a16:creationId xmlns:a16="http://schemas.microsoft.com/office/drawing/2014/main" id="{BF16B2F9-4384-6B9A-B1E2-A9242FADC75D}"/>
              </a:ext>
            </a:extLst>
          </p:cNvPr>
          <p:cNvGraphicFramePr>
            <a:graphicFrameLocks noGrp="1"/>
          </p:cNvGraphicFramePr>
          <p:nvPr>
            <p:extLst>
              <p:ext uri="{D42A27DB-BD31-4B8C-83A1-F6EECF244321}">
                <p14:modId xmlns:p14="http://schemas.microsoft.com/office/powerpoint/2010/main" val="3000799667"/>
              </p:ext>
            </p:extLst>
          </p:nvPr>
        </p:nvGraphicFramePr>
        <p:xfrm>
          <a:off x="5454777" y="5102236"/>
          <a:ext cx="1097443" cy="622494"/>
        </p:xfrm>
        <a:graphic>
          <a:graphicData uri="http://schemas.openxmlformats.org/drawingml/2006/table">
            <a:tbl>
              <a:tblPr firstRow="1" bandRow="1">
                <a:tableStyleId>{5C22544A-7EE6-4342-B048-85BDC9FD1C3A}</a:tableStyleId>
              </a:tblPr>
              <a:tblGrid>
                <a:gridCol w="1097443">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DeepSeek</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RoPE: </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207498">
                <a:tc>
                  <a:txBody>
                    <a:bodyPr/>
                    <a:lstStyle/>
                    <a:p>
                      <a:pPr algn="l"/>
                      <a:r>
                        <a:rPr lang="en-US" altLang="zh-TW" sz="1200" b="0" cap="none" spc="0" dirty="0">
                          <a:ln w="0"/>
                          <a:solidFill>
                            <a:schemeClr val="tx1"/>
                          </a:solidFill>
                          <a:effectLst/>
                        </a:rPr>
                        <a:t>NoPE: LoRA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429306133"/>
                  </a:ext>
                </a:extLst>
              </a:tr>
            </a:tbl>
          </a:graphicData>
        </a:graphic>
      </p:graphicFrame>
      <p:sp>
        <p:nvSpPr>
          <p:cNvPr id="29" name="文字方塊 28">
            <a:extLst>
              <a:ext uri="{FF2B5EF4-FFF2-40B4-BE49-F238E27FC236}">
                <a16:creationId xmlns:a16="http://schemas.microsoft.com/office/drawing/2014/main" id="{E97EF7E7-0036-D0B1-2B52-088EE420AB3F}"/>
              </a:ext>
            </a:extLst>
          </p:cNvPr>
          <p:cNvSpPr txBox="1"/>
          <p:nvPr/>
        </p:nvSpPr>
        <p:spPr>
          <a:xfrm>
            <a:off x="2843808" y="1871678"/>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RoPE</a:t>
            </a:r>
            <a:endParaRPr lang="en-US" altLang="zh-TW" sz="1400" b="1" u="none" strike="noStrike" dirty="0">
              <a:effectLst/>
            </a:endParaRPr>
          </a:p>
          <a:p>
            <a:pPr algn="ctr">
              <a:lnSpc>
                <a:spcPts val="1400"/>
              </a:lnSpc>
              <a:buNone/>
            </a:pPr>
            <a:r>
              <a:rPr lang="en-US" altLang="zh-TW" sz="1200" dirty="0"/>
              <a:t>Rotary </a:t>
            </a:r>
          </a:p>
          <a:p>
            <a:pPr algn="ctr">
              <a:lnSpc>
                <a:spcPts val="1400"/>
              </a:lnSpc>
              <a:buNone/>
            </a:pPr>
            <a:r>
              <a:rPr lang="en-US" altLang="zh-TW" sz="1200" dirty="0"/>
              <a:t>PE</a:t>
            </a:r>
          </a:p>
          <a:p>
            <a:pPr algn="ctr">
              <a:lnSpc>
                <a:spcPts val="1400"/>
              </a:lnSpc>
              <a:buNone/>
            </a:pPr>
            <a:r>
              <a:rPr lang="en-US" altLang="zh-TW" sz="1200" dirty="0"/>
              <a:t>2021</a:t>
            </a:r>
            <a:endParaRPr lang="en-US" altLang="zh-TW" sz="1200" u="none" strike="noStrike" dirty="0">
              <a:effectLst/>
            </a:endParaRPr>
          </a:p>
          <a:p>
            <a:pPr algn="ctr">
              <a:lnSpc>
                <a:spcPts val="1400"/>
              </a:lnSpc>
              <a:buNone/>
            </a:pPr>
            <a:endParaRPr lang="en-US" altLang="zh-TW" sz="1200" u="none" strike="noStrike" dirty="0">
              <a:effectLst/>
            </a:endParaRPr>
          </a:p>
        </p:txBody>
      </p:sp>
      <p:sp>
        <p:nvSpPr>
          <p:cNvPr id="33" name="文字方塊 32">
            <a:extLst>
              <a:ext uri="{FF2B5EF4-FFF2-40B4-BE49-F238E27FC236}">
                <a16:creationId xmlns:a16="http://schemas.microsoft.com/office/drawing/2014/main" id="{09BF9E0E-BC99-1953-CAB8-AD87D1D61441}"/>
              </a:ext>
            </a:extLst>
          </p:cNvPr>
          <p:cNvSpPr txBox="1"/>
          <p:nvPr/>
        </p:nvSpPr>
        <p:spPr>
          <a:xfrm>
            <a:off x="5436096" y="1873558"/>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NoPE</a:t>
            </a:r>
            <a:endParaRPr lang="en-US" altLang="zh-TW" sz="1400" b="1" u="none" strike="noStrike" dirty="0">
              <a:effectLst/>
            </a:endParaRPr>
          </a:p>
          <a:p>
            <a:pPr algn="ctr">
              <a:lnSpc>
                <a:spcPts val="1400"/>
              </a:lnSpc>
              <a:buNone/>
            </a:pPr>
            <a:r>
              <a:rPr lang="en-US" altLang="zh-TW" sz="1200" dirty="0" err="1"/>
              <a:t>NoPE</a:t>
            </a:r>
            <a:r>
              <a:rPr lang="en-US" altLang="zh-TW" sz="1200" dirty="0"/>
              <a:t> + </a:t>
            </a:r>
            <a:r>
              <a:rPr lang="en-US" altLang="zh-TW" sz="1200" dirty="0" err="1"/>
              <a:t>RoPE</a:t>
            </a:r>
            <a:endParaRPr lang="en-US" altLang="zh-TW" sz="1200" dirty="0"/>
          </a:p>
          <a:p>
            <a:pPr algn="ctr">
              <a:lnSpc>
                <a:spcPts val="1400"/>
              </a:lnSpc>
              <a:buNone/>
            </a:pPr>
            <a:r>
              <a:rPr lang="en-US" altLang="zh-TW" sz="1200" dirty="0"/>
              <a:t>2024</a:t>
            </a:r>
            <a:endParaRPr lang="en-US" altLang="zh-TW" sz="1200" u="none" strike="noStrike" dirty="0">
              <a:effectLst/>
            </a:endParaRPr>
          </a:p>
          <a:p>
            <a:pPr algn="ctr">
              <a:lnSpc>
                <a:spcPts val="1400"/>
              </a:lnSpc>
              <a:buNone/>
            </a:pPr>
            <a:endParaRPr lang="en-US" altLang="zh-TW" sz="1200" u="none" strike="noStrike" dirty="0">
              <a:effectLst/>
            </a:endParaRPr>
          </a:p>
        </p:txBody>
      </p:sp>
      <p:sp>
        <p:nvSpPr>
          <p:cNvPr id="35" name="文字方塊 34">
            <a:extLst>
              <a:ext uri="{FF2B5EF4-FFF2-40B4-BE49-F238E27FC236}">
                <a16:creationId xmlns:a16="http://schemas.microsoft.com/office/drawing/2014/main" id="{9125D1E6-3ED7-7524-C07D-0274C3E500A6}"/>
              </a:ext>
            </a:extLst>
          </p:cNvPr>
          <p:cNvSpPr txBox="1"/>
          <p:nvPr/>
        </p:nvSpPr>
        <p:spPr>
          <a:xfrm>
            <a:off x="1187624" y="1871678"/>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Sinusoidal</a:t>
            </a:r>
            <a:endParaRPr lang="en-US" altLang="zh-TW" sz="1400" b="1" u="none" strike="noStrike" dirty="0">
              <a:effectLst/>
            </a:endParaRPr>
          </a:p>
          <a:p>
            <a:pPr algn="ctr">
              <a:lnSpc>
                <a:spcPts val="1400"/>
              </a:lnSpc>
              <a:buNone/>
            </a:pPr>
            <a:r>
              <a:rPr lang="en-US" altLang="zh-TW" sz="1400" b="1" dirty="0"/>
              <a:t>P</a:t>
            </a:r>
            <a:r>
              <a:rPr lang="en-US" altLang="zh-TW" sz="1200" dirty="0"/>
              <a:t>osition </a:t>
            </a:r>
          </a:p>
          <a:p>
            <a:pPr algn="ctr">
              <a:lnSpc>
                <a:spcPts val="1400"/>
              </a:lnSpc>
              <a:buNone/>
            </a:pPr>
            <a:r>
              <a:rPr lang="en-US" altLang="zh-TW" sz="1400" b="1" dirty="0"/>
              <a:t>E</a:t>
            </a:r>
            <a:r>
              <a:rPr lang="en-US" altLang="zh-TW" sz="1200" dirty="0"/>
              <a:t>ncoding</a:t>
            </a:r>
          </a:p>
          <a:p>
            <a:pPr algn="ctr">
              <a:lnSpc>
                <a:spcPts val="1400"/>
              </a:lnSpc>
              <a:buNone/>
            </a:pPr>
            <a:r>
              <a:rPr lang="en-US" altLang="zh-TW" sz="1200" dirty="0"/>
              <a:t>2017</a:t>
            </a:r>
            <a:endParaRPr lang="en-US" altLang="zh-TW" sz="1200" u="none" strike="noStrike" dirty="0">
              <a:effectLst/>
            </a:endParaRPr>
          </a:p>
          <a:p>
            <a:pPr algn="ctr">
              <a:lnSpc>
                <a:spcPts val="1400"/>
              </a:lnSpc>
              <a:buNone/>
            </a:pPr>
            <a:endParaRPr lang="en-US" altLang="zh-TW" sz="1200" u="none" strike="noStrike" dirty="0">
              <a:effectLst/>
            </a:endParaRPr>
          </a:p>
        </p:txBody>
      </p:sp>
      <p:cxnSp>
        <p:nvCxnSpPr>
          <p:cNvPr id="36" name="直線單箭頭接點 35">
            <a:extLst>
              <a:ext uri="{FF2B5EF4-FFF2-40B4-BE49-F238E27FC236}">
                <a16:creationId xmlns:a16="http://schemas.microsoft.com/office/drawing/2014/main" id="{FC05C6B0-B51A-0EAE-05F6-E09B811FED01}"/>
              </a:ext>
            </a:extLst>
          </p:cNvPr>
          <p:cNvCxnSpPr>
            <a:cxnSpLocks/>
            <a:stCxn id="7" idx="3"/>
            <a:endCxn id="8" idx="1"/>
          </p:cNvCxnSpPr>
          <p:nvPr/>
        </p:nvCxnSpPr>
        <p:spPr>
          <a:xfrm>
            <a:off x="3131840" y="3239781"/>
            <a:ext cx="1368153" cy="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39" name="直線單箭頭接點 38">
            <a:extLst>
              <a:ext uri="{FF2B5EF4-FFF2-40B4-BE49-F238E27FC236}">
                <a16:creationId xmlns:a16="http://schemas.microsoft.com/office/drawing/2014/main" id="{A4078A93-6BBF-2531-A697-45E53782D62D}"/>
              </a:ext>
            </a:extLst>
          </p:cNvPr>
          <p:cNvCxnSpPr>
            <a:cxnSpLocks/>
            <a:stCxn id="35" idx="3"/>
            <a:endCxn id="29" idx="1"/>
          </p:cNvCxnSpPr>
          <p:nvPr/>
        </p:nvCxnSpPr>
        <p:spPr>
          <a:xfrm>
            <a:off x="2069044" y="2249836"/>
            <a:ext cx="774764" cy="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2" name="直線單箭頭接點 41">
            <a:extLst>
              <a:ext uri="{FF2B5EF4-FFF2-40B4-BE49-F238E27FC236}">
                <a16:creationId xmlns:a16="http://schemas.microsoft.com/office/drawing/2014/main" id="{ECF71182-EBAD-25FD-00D5-FB9F48BAE612}"/>
              </a:ext>
            </a:extLst>
          </p:cNvPr>
          <p:cNvCxnSpPr>
            <a:cxnSpLocks/>
            <a:stCxn id="29" idx="3"/>
            <a:endCxn id="33" idx="1"/>
          </p:cNvCxnSpPr>
          <p:nvPr/>
        </p:nvCxnSpPr>
        <p:spPr>
          <a:xfrm>
            <a:off x="3725228" y="2249836"/>
            <a:ext cx="1710868" cy="188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4" name="右大括弧 53">
            <a:extLst>
              <a:ext uri="{FF2B5EF4-FFF2-40B4-BE49-F238E27FC236}">
                <a16:creationId xmlns:a16="http://schemas.microsoft.com/office/drawing/2014/main" id="{7A40391B-3B1E-C2B9-496C-378A6E19E071}"/>
              </a:ext>
            </a:extLst>
          </p:cNvPr>
          <p:cNvSpPr/>
          <p:nvPr/>
        </p:nvSpPr>
        <p:spPr>
          <a:xfrm rot="16200000">
            <a:off x="6309314" y="2061743"/>
            <a:ext cx="140808" cy="1455190"/>
          </a:xfrm>
          <a:prstGeom prst="rightBrace">
            <a:avLst>
              <a:gd name="adj1" fmla="val 8333"/>
              <a:gd name="adj2" fmla="val 16183"/>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 name="文字方塊 3">
            <a:extLst>
              <a:ext uri="{FF2B5EF4-FFF2-40B4-BE49-F238E27FC236}">
                <a16:creationId xmlns:a16="http://schemas.microsoft.com/office/drawing/2014/main" id="{7376A68B-DFF6-9E8D-DCCB-37C57C7124D6}"/>
              </a:ext>
            </a:extLst>
          </p:cNvPr>
          <p:cNvSpPr txBox="1"/>
          <p:nvPr/>
        </p:nvSpPr>
        <p:spPr>
          <a:xfrm>
            <a:off x="1836358" y="1103432"/>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a:effectLst/>
                <a:latin typeface="Gadugi" panose="020B0502040204020203" pitchFamily="34" charset="0"/>
                <a:ea typeface="Gadugi" panose="020B0502040204020203" pitchFamily="34" charset="0"/>
                <a:cs typeface="ADLaM Display" panose="02010000000000000000" pitchFamily="2" charset="0"/>
              </a:rPr>
              <a:t>SPE</a:t>
            </a: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Sinusoidal</a:t>
            </a: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2017</a:t>
            </a:r>
          </a:p>
        </p:txBody>
      </p:sp>
      <p:sp>
        <p:nvSpPr>
          <p:cNvPr id="6" name="文字方塊 5">
            <a:extLst>
              <a:ext uri="{FF2B5EF4-FFF2-40B4-BE49-F238E27FC236}">
                <a16:creationId xmlns:a16="http://schemas.microsoft.com/office/drawing/2014/main" id="{234A8786-467E-5096-5AF7-AE5E4B7FEEE4}"/>
              </a:ext>
            </a:extLst>
          </p:cNvPr>
          <p:cNvSpPr txBox="1"/>
          <p:nvPr/>
        </p:nvSpPr>
        <p:spPr>
          <a:xfrm>
            <a:off x="2980102" y="1098559"/>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Ro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Rotary</a:t>
            </a: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2021</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9" name="文字方塊 18">
            <a:extLst>
              <a:ext uri="{FF2B5EF4-FFF2-40B4-BE49-F238E27FC236}">
                <a16:creationId xmlns:a16="http://schemas.microsoft.com/office/drawing/2014/main" id="{5FCBE4DA-0CFD-2CDE-BA36-197F9991AF22}"/>
              </a:ext>
            </a:extLst>
          </p:cNvPr>
          <p:cNvSpPr txBox="1"/>
          <p:nvPr/>
        </p:nvSpPr>
        <p:spPr>
          <a:xfrm>
            <a:off x="4219058" y="1098559"/>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a:t>
            </a:r>
            <a:r>
              <a:rPr lang="en-US" altLang="zh-TW" sz="1200" u="none" strike="noStrike" dirty="0" err="1">
                <a:effectLst/>
                <a:latin typeface="Gadugi" panose="020B0502040204020203" pitchFamily="34" charset="0"/>
                <a:ea typeface="Gadugi" panose="020B0502040204020203" pitchFamily="34" charset="0"/>
                <a:cs typeface="ADLaM Display" panose="02010000000000000000" pitchFamily="2" charset="0"/>
              </a:rPr>
              <a:t>RoPE</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2024</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682AF460-9834-D366-1A68-75D16128FD92}"/>
              </a:ext>
            </a:extLst>
          </p:cNvPr>
          <p:cNvSpPr txBox="1"/>
          <p:nvPr/>
        </p:nvSpPr>
        <p:spPr>
          <a:xfrm>
            <a:off x="5454777" y="1098559"/>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Everywhere</a:t>
            </a: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2026</a:t>
            </a:r>
          </a:p>
        </p:txBody>
      </p:sp>
    </p:spTree>
    <p:extLst>
      <p:ext uri="{BB962C8B-B14F-4D97-AF65-F5344CB8AC3E}">
        <p14:creationId xmlns:p14="http://schemas.microsoft.com/office/powerpoint/2010/main" val="239060631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vs  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pic>
        <p:nvPicPr>
          <p:cNvPr id="9" name="圖片 8">
            <a:extLst>
              <a:ext uri="{FF2B5EF4-FFF2-40B4-BE49-F238E27FC236}">
                <a16:creationId xmlns:a16="http://schemas.microsoft.com/office/drawing/2014/main" id="{FC192506-A527-E600-5566-4A160003BBDE}"/>
              </a:ext>
            </a:extLst>
          </p:cNvPr>
          <p:cNvPicPr>
            <a:picLocks noChangeAspect="1"/>
          </p:cNvPicPr>
          <p:nvPr/>
        </p:nvPicPr>
        <p:blipFill>
          <a:blip r:embed="rId3"/>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FEBF8933-4E25-6F2E-7F5D-E835ADCF20ED}"/>
              </a:ext>
            </a:extLst>
          </p:cNvPr>
          <p:cNvPicPr>
            <a:picLocks noChangeAspect="1"/>
          </p:cNvPicPr>
          <p:nvPr/>
        </p:nvPicPr>
        <p:blipFill>
          <a:blip r:embed="rId4"/>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6B33F7C6-40D7-FA44-5ADA-47E3C9C99623}"/>
              </a:ext>
            </a:extLst>
          </p:cNvPr>
          <p:cNvPicPr>
            <a:picLocks noChangeAspect="1"/>
          </p:cNvPicPr>
          <p:nvPr/>
        </p:nvPicPr>
        <p:blipFill>
          <a:blip r:embed="rId5"/>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1B588763-430B-C125-9DA4-C1F7BDB448EC}"/>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1011566"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a:t>
            </a:r>
          </a:p>
          <a:p>
            <a:pPr algn="ctr"/>
            <a:r>
              <a:rPr lang="en-US" altLang="zh-TW" sz="1200" b="1" dirty="0">
                <a:solidFill>
                  <a:prstClr val="black"/>
                </a:solidFill>
                <a:ea typeface="Cambria Math" panose="02040503050406030204" pitchFamily="18" charset="0"/>
              </a:rPr>
              <a:t>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67944"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a:t>
            </a:r>
          </a:p>
          <a:p>
            <a:pPr algn="ctr"/>
            <a:r>
              <a:rPr lang="en-US" altLang="zh-TW" sz="1200" b="1" dirty="0">
                <a:solidFill>
                  <a:prstClr val="black"/>
                </a:solidFill>
                <a:ea typeface="Cambria Math" panose="02040503050406030204" pitchFamily="18" charset="0"/>
              </a:rPr>
              <a:t>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7010247" y="3938287"/>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a:t>
            </a:r>
          </a:p>
          <a:p>
            <a:pPr algn="ctr"/>
            <a:r>
              <a:rPr lang="en-US" altLang="zh-TW" sz="1200" b="1" dirty="0">
                <a:solidFill>
                  <a:prstClr val="black"/>
                </a:solidFill>
                <a:ea typeface="Cambria Math" panose="02040503050406030204" pitchFamily="18" charset="0"/>
              </a:rPr>
              <a:t>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743A732-DF87-690E-A27C-B8A037057841}"/>
              </a:ext>
            </a:extLst>
          </p:cNvPr>
          <p:cNvPicPr>
            <a:picLocks noChangeAspect="1"/>
          </p:cNvPicPr>
          <p:nvPr/>
        </p:nvPicPr>
        <p:blipFill>
          <a:blip r:embed="rId6"/>
          <a:stretch>
            <a:fillRect/>
          </a:stretch>
        </p:blipFill>
        <p:spPr>
          <a:xfrm>
            <a:off x="956590" y="4485621"/>
            <a:ext cx="1488127" cy="1065934"/>
          </a:xfrm>
          <a:prstGeom prst="rect">
            <a:avLst/>
          </a:prstGeom>
        </p:spPr>
      </p:pic>
      <p:pic>
        <p:nvPicPr>
          <p:cNvPr id="39" name="圖片 38">
            <a:extLst>
              <a:ext uri="{FF2B5EF4-FFF2-40B4-BE49-F238E27FC236}">
                <a16:creationId xmlns:a16="http://schemas.microsoft.com/office/drawing/2014/main" id="{2CDF102C-618E-0BFC-91B1-F0CF35A10F45}"/>
              </a:ext>
            </a:extLst>
          </p:cNvPr>
          <p:cNvPicPr>
            <a:picLocks noChangeAspect="1"/>
          </p:cNvPicPr>
          <p:nvPr/>
        </p:nvPicPr>
        <p:blipFill>
          <a:blip r:embed="rId7"/>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A23BAC22-BE01-3C4C-27B6-57430D8B18A8}"/>
              </a:ext>
            </a:extLst>
          </p:cNvPr>
          <p:cNvPicPr>
            <a:picLocks noChangeAspect="1"/>
          </p:cNvPicPr>
          <p:nvPr/>
        </p:nvPicPr>
        <p:blipFill>
          <a:blip r:embed="rId8"/>
          <a:stretch>
            <a:fillRect/>
          </a:stretch>
        </p:blipFill>
        <p:spPr>
          <a:xfrm>
            <a:off x="4138615" y="4485620"/>
            <a:ext cx="1444934" cy="1065935"/>
          </a:xfrm>
          <a:prstGeom prst="rect">
            <a:avLst/>
          </a:prstGeom>
        </p:spPr>
      </p:pic>
      <p:sp>
        <p:nvSpPr>
          <p:cNvPr id="43" name="文字方塊 42">
            <a:extLst>
              <a:ext uri="{FF2B5EF4-FFF2-40B4-BE49-F238E27FC236}">
                <a16:creationId xmlns:a16="http://schemas.microsoft.com/office/drawing/2014/main" id="{251222A2-2D00-186D-C92E-8C73EDC6465B}"/>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sym typeface="Wingdings" panose="05000000000000000000" pitchFamily="2" charset="2"/>
              </a:rPr>
              <a:t>MuonClip</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Optimizer</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137E073D-D39F-B978-EDE5-B4E94491B044}"/>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Delta Attention</a:t>
            </a:r>
          </a:p>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604FAE4E-7D66-A107-3F09-9D88E3DAE572}"/>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Paradigm RL for</a:t>
            </a:r>
          </a:p>
          <a:p>
            <a:pPr algn="ctr"/>
            <a:r>
              <a:rPr lang="en-US" altLang="zh-TW" sz="1200" dirty="0">
                <a:solidFill>
                  <a:prstClr val="black"/>
                </a:solidFill>
                <a:ea typeface="Cambria Math" panose="02040503050406030204" pitchFamily="18" charset="0"/>
                <a:sym typeface="Wingdings" panose="05000000000000000000" pitchFamily="2" charset="2"/>
              </a:rPr>
              <a:t>Agents Swarms</a:t>
            </a:r>
            <a:endParaRPr lang="en-US" altLang="zh-TW" sz="1200" dirty="0">
              <a:solidFill>
                <a:prstClr val="black"/>
              </a:solidFill>
              <a:ea typeface="Cambria Math" panose="02040503050406030204" pitchFamily="18" charset="0"/>
            </a:endParaRPr>
          </a:p>
        </p:txBody>
      </p:sp>
    </p:spTree>
    <p:extLst>
      <p:ext uri="{BB962C8B-B14F-4D97-AF65-F5344CB8AC3E}">
        <p14:creationId xmlns:p14="http://schemas.microsoft.com/office/powerpoint/2010/main" val="21249514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F2DBCD-E36C-4249-43A3-591218F550AD}"/>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6AA1F60-58D7-F9B1-6D45-13DD2B5DA90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Optimizer</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sp>
        <p:nvSpPr>
          <p:cNvPr id="3" name="文字方塊 2">
            <a:extLst>
              <a:ext uri="{FF2B5EF4-FFF2-40B4-BE49-F238E27FC236}">
                <a16:creationId xmlns:a16="http://schemas.microsoft.com/office/drawing/2014/main" id="{0EDD6D9C-A978-91F6-3789-64D81D9F0816}"/>
              </a:ext>
            </a:extLst>
          </p:cNvPr>
          <p:cNvSpPr txBox="1"/>
          <p:nvPr/>
        </p:nvSpPr>
        <p:spPr>
          <a:xfrm>
            <a:off x="695839"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Stochastic</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4" name="圖片 3">
            <a:extLst>
              <a:ext uri="{FF2B5EF4-FFF2-40B4-BE49-F238E27FC236}">
                <a16:creationId xmlns:a16="http://schemas.microsoft.com/office/drawing/2014/main" id="{3E42D9D0-95A2-92AF-12D9-F820D97983A1}"/>
              </a:ext>
            </a:extLst>
          </p:cNvPr>
          <p:cNvPicPr>
            <a:picLocks noChangeAspect="1"/>
          </p:cNvPicPr>
          <p:nvPr/>
        </p:nvPicPr>
        <p:blipFill>
          <a:blip r:embed="rId2"/>
          <a:stretch>
            <a:fillRect/>
          </a:stretch>
        </p:blipFill>
        <p:spPr>
          <a:xfrm>
            <a:off x="294470" y="1268760"/>
            <a:ext cx="1159890" cy="1281291"/>
          </a:xfrm>
          <a:prstGeom prst="rect">
            <a:avLst/>
          </a:prstGeom>
        </p:spPr>
      </p:pic>
      <p:sp>
        <p:nvSpPr>
          <p:cNvPr id="7" name="文字方塊 6">
            <a:extLst>
              <a:ext uri="{FF2B5EF4-FFF2-40B4-BE49-F238E27FC236}">
                <a16:creationId xmlns:a16="http://schemas.microsoft.com/office/drawing/2014/main" id="{BCAE0738-5BCF-EDD0-10BD-ADAA203AEF16}"/>
              </a:ext>
            </a:extLst>
          </p:cNvPr>
          <p:cNvSpPr txBox="1"/>
          <p:nvPr/>
        </p:nvSpPr>
        <p:spPr>
          <a:xfrm>
            <a:off x="2063991" y="2781904"/>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 +</a:t>
            </a:r>
          </a:p>
          <a:p>
            <a:pPr algn="ctr"/>
            <a:r>
              <a:rPr lang="en-US" altLang="zh-TW" sz="1200" b="1" dirty="0">
                <a:solidFill>
                  <a:prstClr val="black"/>
                </a:solidFill>
                <a:ea typeface="Cambria Math" panose="02040503050406030204" pitchFamily="18" charset="0"/>
              </a:rPr>
              <a:t>Momentum</a:t>
            </a:r>
          </a:p>
          <a:p>
            <a:pPr algn="ctr"/>
            <a:r>
              <a:rPr lang="en-US" altLang="zh-TW" sz="1000" dirty="0">
                <a:solidFill>
                  <a:prstClr val="black"/>
                </a:solidFill>
                <a:ea typeface="Cambria Math" panose="02040503050406030204" pitchFamily="18" charset="0"/>
              </a:rPr>
              <a:t>-</a:t>
            </a:r>
          </a:p>
        </p:txBody>
      </p:sp>
      <p:sp>
        <p:nvSpPr>
          <p:cNvPr id="10" name="文字方塊 9">
            <a:extLst>
              <a:ext uri="{FF2B5EF4-FFF2-40B4-BE49-F238E27FC236}">
                <a16:creationId xmlns:a16="http://schemas.microsoft.com/office/drawing/2014/main" id="{A15F0577-85FD-1352-E80F-EEAE2E7A4FCB}"/>
              </a:ext>
            </a:extLst>
          </p:cNvPr>
          <p:cNvSpPr txBox="1"/>
          <p:nvPr/>
        </p:nvSpPr>
        <p:spPr>
          <a:xfrm>
            <a:off x="3453022"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NAG</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Nesterov’s</a:t>
            </a:r>
          </a:p>
          <a:p>
            <a:pPr algn="ctr"/>
            <a:r>
              <a:rPr lang="en-US" altLang="zh-TW" sz="1000" dirty="0">
                <a:solidFill>
                  <a:prstClr val="black"/>
                </a:solidFill>
                <a:ea typeface="Cambria Math" panose="02040503050406030204" pitchFamily="18" charset="0"/>
              </a:rPr>
              <a:t>Accelerated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Gradient</a:t>
            </a:r>
          </a:p>
        </p:txBody>
      </p:sp>
      <p:sp>
        <p:nvSpPr>
          <p:cNvPr id="14" name="文字方塊 13">
            <a:extLst>
              <a:ext uri="{FF2B5EF4-FFF2-40B4-BE49-F238E27FC236}">
                <a16:creationId xmlns:a16="http://schemas.microsoft.com/office/drawing/2014/main" id="{E5AD7DEF-5E54-8475-7656-A3A8015053CD}"/>
              </a:ext>
            </a:extLst>
          </p:cNvPr>
          <p:cNvSpPr txBox="1"/>
          <p:nvPr/>
        </p:nvSpPr>
        <p:spPr>
          <a:xfrm>
            <a:off x="4842053" y="2781902"/>
            <a:ext cx="1005212" cy="740351"/>
          </a:xfrm>
          <a:prstGeom prst="rect">
            <a:avLst/>
          </a:prstGeom>
          <a:no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AdaGrad</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Ada</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18" name="圖片 17">
            <a:extLst>
              <a:ext uri="{FF2B5EF4-FFF2-40B4-BE49-F238E27FC236}">
                <a16:creationId xmlns:a16="http://schemas.microsoft.com/office/drawing/2014/main" id="{05C3EA48-29BC-E5B4-BF6D-90570F23564A}"/>
              </a:ext>
            </a:extLst>
          </p:cNvPr>
          <p:cNvPicPr>
            <a:picLocks noChangeAspect="1"/>
          </p:cNvPicPr>
          <p:nvPr/>
        </p:nvPicPr>
        <p:blipFill>
          <a:blip r:embed="rId3"/>
          <a:stretch>
            <a:fillRect/>
          </a:stretch>
        </p:blipFill>
        <p:spPr>
          <a:xfrm>
            <a:off x="123637" y="3701380"/>
            <a:ext cx="2436616" cy="650263"/>
          </a:xfrm>
          <a:prstGeom prst="rect">
            <a:avLst/>
          </a:prstGeom>
          <a:effectLst>
            <a:glow rad="50800">
              <a:schemeClr val="accent4">
                <a:lumMod val="20000"/>
                <a:lumOff val="80000"/>
              </a:schemeClr>
            </a:glow>
          </a:effectLst>
        </p:spPr>
      </p:pic>
      <p:pic>
        <p:nvPicPr>
          <p:cNvPr id="21" name="圖片 20">
            <a:extLst>
              <a:ext uri="{FF2B5EF4-FFF2-40B4-BE49-F238E27FC236}">
                <a16:creationId xmlns:a16="http://schemas.microsoft.com/office/drawing/2014/main" id="{207C12AB-C706-B64E-5657-0ADEEF5902C2}"/>
              </a:ext>
            </a:extLst>
          </p:cNvPr>
          <p:cNvPicPr>
            <a:picLocks noChangeAspect="1"/>
          </p:cNvPicPr>
          <p:nvPr/>
        </p:nvPicPr>
        <p:blipFill>
          <a:blip r:embed="rId4"/>
          <a:stretch>
            <a:fillRect/>
          </a:stretch>
        </p:blipFill>
        <p:spPr>
          <a:xfrm>
            <a:off x="755576" y="5445224"/>
            <a:ext cx="5688632" cy="1060738"/>
          </a:xfrm>
          <a:prstGeom prst="rect">
            <a:avLst/>
          </a:prstGeom>
          <a:effectLst>
            <a:glow rad="50800">
              <a:schemeClr val="bg2">
                <a:lumMod val="50000"/>
              </a:schemeClr>
            </a:glow>
          </a:effectLst>
        </p:spPr>
      </p:pic>
      <p:pic>
        <p:nvPicPr>
          <p:cNvPr id="25" name="圖片 24">
            <a:extLst>
              <a:ext uri="{FF2B5EF4-FFF2-40B4-BE49-F238E27FC236}">
                <a16:creationId xmlns:a16="http://schemas.microsoft.com/office/drawing/2014/main" id="{15A74A9B-470C-3A0B-145A-4C29E8FA6E9D}"/>
              </a:ext>
            </a:extLst>
          </p:cNvPr>
          <p:cNvPicPr>
            <a:picLocks noChangeAspect="1"/>
          </p:cNvPicPr>
          <p:nvPr/>
        </p:nvPicPr>
        <p:blipFill>
          <a:blip r:embed="rId5"/>
          <a:stretch>
            <a:fillRect/>
          </a:stretch>
        </p:blipFill>
        <p:spPr>
          <a:xfrm>
            <a:off x="1682771" y="1916832"/>
            <a:ext cx="2220278" cy="599456"/>
          </a:xfrm>
          <a:prstGeom prst="rect">
            <a:avLst/>
          </a:prstGeom>
        </p:spPr>
      </p:pic>
      <p:pic>
        <p:nvPicPr>
          <p:cNvPr id="27" name="圖片 26">
            <a:extLst>
              <a:ext uri="{FF2B5EF4-FFF2-40B4-BE49-F238E27FC236}">
                <a16:creationId xmlns:a16="http://schemas.microsoft.com/office/drawing/2014/main" id="{0246A359-29ED-A79E-511B-C4123647098C}"/>
              </a:ext>
            </a:extLst>
          </p:cNvPr>
          <p:cNvPicPr>
            <a:picLocks noChangeAspect="1"/>
          </p:cNvPicPr>
          <p:nvPr/>
        </p:nvPicPr>
        <p:blipFill>
          <a:blip r:embed="rId6"/>
          <a:stretch>
            <a:fillRect/>
          </a:stretch>
        </p:blipFill>
        <p:spPr>
          <a:xfrm>
            <a:off x="1660720" y="1215406"/>
            <a:ext cx="2234183" cy="564167"/>
          </a:xfrm>
          <a:prstGeom prst="rect">
            <a:avLst/>
          </a:prstGeom>
        </p:spPr>
      </p:pic>
      <p:pic>
        <p:nvPicPr>
          <p:cNvPr id="31" name="圖片 30">
            <a:extLst>
              <a:ext uri="{FF2B5EF4-FFF2-40B4-BE49-F238E27FC236}">
                <a16:creationId xmlns:a16="http://schemas.microsoft.com/office/drawing/2014/main" id="{DFE4AA7B-4CFB-7F09-610B-22863B264E74}"/>
              </a:ext>
            </a:extLst>
          </p:cNvPr>
          <p:cNvPicPr>
            <a:picLocks noChangeAspect="1"/>
          </p:cNvPicPr>
          <p:nvPr/>
        </p:nvPicPr>
        <p:blipFill>
          <a:blip r:embed="rId7"/>
          <a:stretch>
            <a:fillRect/>
          </a:stretch>
        </p:blipFill>
        <p:spPr>
          <a:xfrm>
            <a:off x="3081665" y="682368"/>
            <a:ext cx="1102126" cy="738983"/>
          </a:xfrm>
          <a:prstGeom prst="rect">
            <a:avLst/>
          </a:prstGeom>
        </p:spPr>
      </p:pic>
      <p:sp>
        <p:nvSpPr>
          <p:cNvPr id="35" name="文字方塊 34">
            <a:extLst>
              <a:ext uri="{FF2B5EF4-FFF2-40B4-BE49-F238E27FC236}">
                <a16:creationId xmlns:a16="http://schemas.microsoft.com/office/drawing/2014/main" id="{E34C2F70-D131-6A71-3D37-111EF670880B}"/>
              </a:ext>
            </a:extLst>
          </p:cNvPr>
          <p:cNvSpPr txBox="1"/>
          <p:nvPr/>
        </p:nvSpPr>
        <p:spPr>
          <a:xfrm>
            <a:off x="6231084" y="2772785"/>
            <a:ext cx="1005212" cy="740351"/>
          </a:xfrm>
          <a:prstGeom prst="rect">
            <a:avLst/>
          </a:prstGeom>
          <a:noFill/>
          <a:effectLst>
            <a:glow rad="114300">
              <a:schemeClr val="accent2"/>
            </a:glow>
            <a:softEdge rad="12700"/>
          </a:effectLst>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RMSProp</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grpSp>
        <p:nvGrpSpPr>
          <p:cNvPr id="2" name="群組 1">
            <a:extLst>
              <a:ext uri="{FF2B5EF4-FFF2-40B4-BE49-F238E27FC236}">
                <a16:creationId xmlns:a16="http://schemas.microsoft.com/office/drawing/2014/main" id="{623281E3-0586-017B-EEF2-B923D492DCC6}"/>
              </a:ext>
            </a:extLst>
          </p:cNvPr>
          <p:cNvGrpSpPr/>
          <p:nvPr/>
        </p:nvGrpSpPr>
        <p:grpSpPr>
          <a:xfrm>
            <a:off x="4507739" y="1714453"/>
            <a:ext cx="2656549" cy="994467"/>
            <a:chOff x="3882858" y="1570437"/>
            <a:chExt cx="2656549" cy="994467"/>
          </a:xfrm>
        </p:grpSpPr>
        <p:pic>
          <p:nvPicPr>
            <p:cNvPr id="41" name="圖片 40">
              <a:extLst>
                <a:ext uri="{FF2B5EF4-FFF2-40B4-BE49-F238E27FC236}">
                  <a16:creationId xmlns:a16="http://schemas.microsoft.com/office/drawing/2014/main" id="{CA62DB9E-1B07-6FA2-475D-6FE65D44AE1B}"/>
                </a:ext>
              </a:extLst>
            </p:cNvPr>
            <p:cNvPicPr>
              <a:picLocks noChangeAspect="1"/>
            </p:cNvPicPr>
            <p:nvPr/>
          </p:nvPicPr>
          <p:blipFill>
            <a:blip r:embed="rId8"/>
            <a:stretch>
              <a:fillRect/>
            </a:stretch>
          </p:blipFill>
          <p:spPr>
            <a:xfrm>
              <a:off x="3882858" y="1570437"/>
              <a:ext cx="2086266" cy="657317"/>
            </a:xfrm>
            <a:prstGeom prst="rect">
              <a:avLst/>
            </a:prstGeom>
            <a:effectLst>
              <a:glow rad="50800">
                <a:schemeClr val="accent1">
                  <a:lumMod val="40000"/>
                  <a:lumOff val="60000"/>
                </a:schemeClr>
              </a:glow>
            </a:effectLst>
          </p:spPr>
        </p:pic>
        <p:pic>
          <p:nvPicPr>
            <p:cNvPr id="43" name="圖片 42">
              <a:extLst>
                <a:ext uri="{FF2B5EF4-FFF2-40B4-BE49-F238E27FC236}">
                  <a16:creationId xmlns:a16="http://schemas.microsoft.com/office/drawing/2014/main" id="{BB19E516-DAFA-8C59-0ABB-7A2317726E1B}"/>
                </a:ext>
              </a:extLst>
            </p:cNvPr>
            <p:cNvPicPr>
              <a:picLocks noChangeAspect="1"/>
            </p:cNvPicPr>
            <p:nvPr/>
          </p:nvPicPr>
          <p:blipFill>
            <a:blip r:embed="rId9"/>
            <a:stretch>
              <a:fillRect/>
            </a:stretch>
          </p:blipFill>
          <p:spPr>
            <a:xfrm>
              <a:off x="3959171" y="2135184"/>
              <a:ext cx="2580236" cy="223125"/>
            </a:xfrm>
            <a:prstGeom prst="rect">
              <a:avLst/>
            </a:prstGeom>
            <a:effectLst>
              <a:glow rad="25400">
                <a:schemeClr val="accent1">
                  <a:lumMod val="40000"/>
                  <a:lumOff val="60000"/>
                </a:schemeClr>
              </a:glow>
            </a:effectLst>
          </p:spPr>
        </p:pic>
        <p:pic>
          <p:nvPicPr>
            <p:cNvPr id="45" name="圖片 44">
              <a:extLst>
                <a:ext uri="{FF2B5EF4-FFF2-40B4-BE49-F238E27FC236}">
                  <a16:creationId xmlns:a16="http://schemas.microsoft.com/office/drawing/2014/main" id="{259262C4-DBA7-66AC-ECCB-064629D7BF0B}"/>
                </a:ext>
              </a:extLst>
            </p:cNvPr>
            <p:cNvPicPr>
              <a:picLocks noChangeAspect="1"/>
            </p:cNvPicPr>
            <p:nvPr/>
          </p:nvPicPr>
          <p:blipFill>
            <a:blip r:embed="rId10"/>
            <a:stretch>
              <a:fillRect/>
            </a:stretch>
          </p:blipFill>
          <p:spPr>
            <a:xfrm>
              <a:off x="3959171" y="2337414"/>
              <a:ext cx="1403775" cy="227490"/>
            </a:xfrm>
            <a:prstGeom prst="rect">
              <a:avLst/>
            </a:prstGeom>
            <a:effectLst>
              <a:glow rad="25400">
                <a:schemeClr val="accent1">
                  <a:lumMod val="40000"/>
                  <a:lumOff val="60000"/>
                </a:schemeClr>
              </a:glow>
            </a:effectLst>
          </p:spPr>
        </p:pic>
      </p:grpSp>
      <p:grpSp>
        <p:nvGrpSpPr>
          <p:cNvPr id="74" name="群組 73">
            <a:extLst>
              <a:ext uri="{FF2B5EF4-FFF2-40B4-BE49-F238E27FC236}">
                <a16:creationId xmlns:a16="http://schemas.microsoft.com/office/drawing/2014/main" id="{618E70F5-F50C-936A-373B-C3ACE643F6B4}"/>
              </a:ext>
            </a:extLst>
          </p:cNvPr>
          <p:cNvGrpSpPr/>
          <p:nvPr/>
        </p:nvGrpSpPr>
        <p:grpSpPr>
          <a:xfrm>
            <a:off x="3045614" y="4005064"/>
            <a:ext cx="3182570" cy="1859444"/>
            <a:chOff x="2542188" y="3873812"/>
            <a:chExt cx="3182570" cy="1859444"/>
          </a:xfrm>
        </p:grpSpPr>
        <p:pic>
          <p:nvPicPr>
            <p:cNvPr id="47" name="圖片 46">
              <a:extLst>
                <a:ext uri="{FF2B5EF4-FFF2-40B4-BE49-F238E27FC236}">
                  <a16:creationId xmlns:a16="http://schemas.microsoft.com/office/drawing/2014/main" id="{B6BC6A13-C1B2-13F1-1B1F-F08A81D19AFB}"/>
                </a:ext>
              </a:extLst>
            </p:cNvPr>
            <p:cNvPicPr>
              <a:picLocks noChangeAspect="1"/>
            </p:cNvPicPr>
            <p:nvPr/>
          </p:nvPicPr>
          <p:blipFill>
            <a:blip r:embed="rId11"/>
            <a:stretch>
              <a:fillRect/>
            </a:stretch>
          </p:blipFill>
          <p:spPr>
            <a:xfrm>
              <a:off x="2542188" y="3873812"/>
              <a:ext cx="1456648" cy="923340"/>
            </a:xfrm>
            <a:prstGeom prst="rect">
              <a:avLst/>
            </a:prstGeom>
            <a:effectLst>
              <a:glow rad="50800">
                <a:schemeClr val="tx2"/>
              </a:glow>
            </a:effectLst>
          </p:spPr>
        </p:pic>
        <p:sp>
          <p:nvSpPr>
            <p:cNvPr id="55" name="文字方塊 54">
              <a:extLst>
                <a:ext uri="{FF2B5EF4-FFF2-40B4-BE49-F238E27FC236}">
                  <a16:creationId xmlns:a16="http://schemas.microsoft.com/office/drawing/2014/main" id="{309BF9B5-128D-C8E7-940F-B15484BA4072}"/>
                </a:ext>
              </a:extLst>
            </p:cNvPr>
            <p:cNvSpPr txBox="1"/>
            <p:nvPr/>
          </p:nvSpPr>
          <p:spPr>
            <a:xfrm>
              <a:off x="2938601" y="4717593"/>
              <a:ext cx="2762111" cy="1015663"/>
            </a:xfrm>
            <a:prstGeom prst="rect">
              <a:avLst/>
            </a:prstGeom>
            <a:solidFill>
              <a:schemeClr val="bg1"/>
            </a:solidFill>
            <a:effectLst>
              <a:glow rad="50800">
                <a:schemeClr val="tx2"/>
              </a:glow>
            </a:effectLst>
          </p:spPr>
          <p:txBody>
            <a:bodyPr wrap="square">
              <a:spAutoFit/>
            </a:bodyPr>
            <a:lstStyle/>
            <a:p>
              <a:pPr marL="0" marR="0" indent="0" algn="l">
                <a:buNone/>
              </a:pPr>
              <a:r>
                <a:rPr lang="zh-TW" altLang="zh-TW" sz="1000" b="0" i="0" dirty="0">
                  <a:solidFill>
                    <a:srgbClr val="191B1F"/>
                  </a:solidFill>
                  <a:effectLst/>
                  <a:latin typeface="微軟正黑體" panose="020B0604030504040204" pitchFamily="34" charset="-120"/>
                  <a:ea typeface="微軟正黑體" panose="020B0604030504040204" pitchFamily="34" charset="-120"/>
                </a:rPr>
                <a:t>就是根据当前梯度方向向前走一步之后再计算出来的梯度。通过这种方式，在接近最优解时，Nesterov优化器比</a:t>
              </a:r>
              <a:r>
                <a:rPr lang="zh-TW" altLang="zh-TW" sz="1000" b="0" i="0" u="none" strike="noStrike" dirty="0">
                  <a:solidFill>
                    <a:srgbClr val="09408E"/>
                  </a:solidFill>
                  <a:effectLst/>
                  <a:latin typeface="微軟正黑體" panose="020B0604030504040204" pitchFamily="34" charset="-120"/>
                  <a:ea typeface="微軟正黑體" panose="020B0604030504040204" pitchFamily="34" charset="-120"/>
                  <a:hlinkClick r:id="rId12"/>
                </a:rPr>
                <a:t>标准动量SGD算法</a:t>
              </a:r>
              <a:r>
                <a:rPr lang="zh-TW" altLang="zh-TW" sz="1000" b="0" i="0" dirty="0">
                  <a:solidFill>
                    <a:srgbClr val="191B1F"/>
                  </a:solidFill>
                  <a:effectLst/>
                  <a:latin typeface="微軟正黑體" panose="020B0604030504040204" pitchFamily="34" charset="-120"/>
                  <a:ea typeface="微軟正黑體" panose="020B0604030504040204" pitchFamily="34" charset="-120"/>
                </a:rPr>
                <a:t>有更快的收敛速度。因为这种“前瞻性”的操作能帮助优化器避免走得太远，就像是提前刹车，所以在接近最优解时更加稳定。</a:t>
              </a:r>
              <a:endParaRPr lang="zh-TW" altLang="en-US" sz="1000" dirty="0">
                <a:latin typeface="微軟正黑體" panose="020B0604030504040204" pitchFamily="34" charset="-120"/>
                <a:ea typeface="微軟正黑體" panose="020B0604030504040204" pitchFamily="34" charset="-120"/>
              </a:endParaRPr>
            </a:p>
          </p:txBody>
        </p:sp>
        <p:pic>
          <p:nvPicPr>
            <p:cNvPr id="49" name="圖片 48">
              <a:extLst>
                <a:ext uri="{FF2B5EF4-FFF2-40B4-BE49-F238E27FC236}">
                  <a16:creationId xmlns:a16="http://schemas.microsoft.com/office/drawing/2014/main" id="{ECC39C6B-9DC2-4CBE-7A6F-36D7F7FF3466}"/>
                </a:ext>
              </a:extLst>
            </p:cNvPr>
            <p:cNvPicPr>
              <a:picLocks noChangeAspect="1"/>
            </p:cNvPicPr>
            <p:nvPr/>
          </p:nvPicPr>
          <p:blipFill>
            <a:blip r:embed="rId13"/>
            <a:stretch>
              <a:fillRect/>
            </a:stretch>
          </p:blipFill>
          <p:spPr>
            <a:xfrm>
              <a:off x="3491880" y="4141529"/>
              <a:ext cx="2232878" cy="292628"/>
            </a:xfrm>
            <a:prstGeom prst="rect">
              <a:avLst/>
            </a:prstGeom>
            <a:effectLst>
              <a:glow rad="50800">
                <a:schemeClr val="tx2"/>
              </a:glow>
            </a:effectLst>
          </p:spPr>
        </p:pic>
        <p:pic>
          <p:nvPicPr>
            <p:cNvPr id="51" name="圖片 50">
              <a:extLst>
                <a:ext uri="{FF2B5EF4-FFF2-40B4-BE49-F238E27FC236}">
                  <a16:creationId xmlns:a16="http://schemas.microsoft.com/office/drawing/2014/main" id="{955E8F71-A2DB-504A-1060-AA7778685E2C}"/>
                </a:ext>
              </a:extLst>
            </p:cNvPr>
            <p:cNvPicPr>
              <a:picLocks noChangeAspect="1"/>
            </p:cNvPicPr>
            <p:nvPr/>
          </p:nvPicPr>
          <p:blipFill>
            <a:blip r:embed="rId14"/>
            <a:stretch>
              <a:fillRect/>
            </a:stretch>
          </p:blipFill>
          <p:spPr>
            <a:xfrm>
              <a:off x="4319656" y="4490511"/>
              <a:ext cx="1260901" cy="227082"/>
            </a:xfrm>
            <a:prstGeom prst="rect">
              <a:avLst/>
            </a:prstGeom>
            <a:effectLst>
              <a:glow rad="50800">
                <a:schemeClr val="tx2"/>
              </a:glow>
            </a:effectLst>
          </p:spPr>
        </p:pic>
      </p:grpSp>
      <p:grpSp>
        <p:nvGrpSpPr>
          <p:cNvPr id="75" name="群組 74">
            <a:extLst>
              <a:ext uri="{FF2B5EF4-FFF2-40B4-BE49-F238E27FC236}">
                <a16:creationId xmlns:a16="http://schemas.microsoft.com/office/drawing/2014/main" id="{25F2D184-8ACE-06F5-AE97-7CCE4C518FB5}"/>
              </a:ext>
            </a:extLst>
          </p:cNvPr>
          <p:cNvGrpSpPr/>
          <p:nvPr/>
        </p:nvGrpSpPr>
        <p:grpSpPr>
          <a:xfrm>
            <a:off x="6090567" y="3348054"/>
            <a:ext cx="2081833" cy="945042"/>
            <a:chOff x="6045578" y="3612225"/>
            <a:chExt cx="2081833" cy="945042"/>
          </a:xfrm>
        </p:grpSpPr>
        <p:pic>
          <p:nvPicPr>
            <p:cNvPr id="61" name="圖片 60">
              <a:extLst>
                <a:ext uri="{FF2B5EF4-FFF2-40B4-BE49-F238E27FC236}">
                  <a16:creationId xmlns:a16="http://schemas.microsoft.com/office/drawing/2014/main" id="{71F1B7E1-0FDA-73E1-BD1C-D3F8AF401885}"/>
                </a:ext>
              </a:extLst>
            </p:cNvPr>
            <p:cNvPicPr>
              <a:picLocks noChangeAspect="1"/>
            </p:cNvPicPr>
            <p:nvPr/>
          </p:nvPicPr>
          <p:blipFill>
            <a:blip r:embed="rId15"/>
            <a:stretch>
              <a:fillRect/>
            </a:stretch>
          </p:blipFill>
          <p:spPr>
            <a:xfrm>
              <a:off x="6102055" y="3612225"/>
              <a:ext cx="1735035" cy="474630"/>
            </a:xfrm>
            <a:prstGeom prst="rect">
              <a:avLst/>
            </a:prstGeom>
            <a:effectLst>
              <a:glow rad="50800">
                <a:schemeClr val="accent2"/>
              </a:glow>
            </a:effectLst>
          </p:spPr>
        </p:pic>
        <p:pic>
          <p:nvPicPr>
            <p:cNvPr id="65" name="圖片 64">
              <a:extLst>
                <a:ext uri="{FF2B5EF4-FFF2-40B4-BE49-F238E27FC236}">
                  <a16:creationId xmlns:a16="http://schemas.microsoft.com/office/drawing/2014/main" id="{ECF615E0-E564-1514-B77E-EE87188502FE}"/>
                </a:ext>
              </a:extLst>
            </p:cNvPr>
            <p:cNvPicPr>
              <a:picLocks noChangeAspect="1"/>
            </p:cNvPicPr>
            <p:nvPr/>
          </p:nvPicPr>
          <p:blipFill>
            <a:blip r:embed="rId16"/>
            <a:stretch>
              <a:fillRect/>
            </a:stretch>
          </p:blipFill>
          <p:spPr>
            <a:xfrm>
              <a:off x="6101996" y="4056156"/>
              <a:ext cx="1854380" cy="276920"/>
            </a:xfrm>
            <a:prstGeom prst="rect">
              <a:avLst/>
            </a:prstGeom>
            <a:effectLst>
              <a:glow rad="25400">
                <a:schemeClr val="accent2"/>
              </a:glow>
            </a:effectLst>
          </p:spPr>
        </p:pic>
        <p:sp>
          <p:nvSpPr>
            <p:cNvPr id="69" name="文字方塊 68">
              <a:extLst>
                <a:ext uri="{FF2B5EF4-FFF2-40B4-BE49-F238E27FC236}">
                  <a16:creationId xmlns:a16="http://schemas.microsoft.com/office/drawing/2014/main" id="{468369E3-85D2-7D82-7ED6-4B8326471153}"/>
                </a:ext>
              </a:extLst>
            </p:cNvPr>
            <p:cNvSpPr txBox="1"/>
            <p:nvPr/>
          </p:nvSpPr>
          <p:spPr>
            <a:xfrm>
              <a:off x="6045578" y="4311046"/>
              <a:ext cx="2081833" cy="246221"/>
            </a:xfrm>
            <a:prstGeom prst="rect">
              <a:avLst/>
            </a:prstGeom>
            <a:solidFill>
              <a:schemeClr val="bg1">
                <a:alpha val="40000"/>
              </a:schemeClr>
            </a:solidFill>
            <a:ln>
              <a:solidFill>
                <a:schemeClr val="accent2"/>
              </a:solidFill>
            </a:ln>
          </p:spPr>
          <p:txBody>
            <a:bodyPr wrap="square">
              <a:spAutoFit/>
            </a:bodyPr>
            <a:lstStyle/>
            <a:p>
              <a:r>
                <a:rPr lang="zh-CN" altLang="en-US" sz="1000" dirty="0">
                  <a:latin typeface="微軟正黑體" panose="020B0604030504040204" pitchFamily="34" charset="-120"/>
                  <a:ea typeface="微軟正黑體" panose="020B0604030504040204" pitchFamily="34" charset="-120"/>
                </a:rPr>
                <a:t>代表着历史中所有梯度的平方和</a:t>
              </a:r>
              <a:endParaRPr lang="zh-TW" altLang="en-US" sz="1000" dirty="0">
                <a:latin typeface="微軟正黑體" panose="020B0604030504040204" pitchFamily="34" charset="-120"/>
                <a:ea typeface="微軟正黑體" panose="020B0604030504040204" pitchFamily="34" charset="-120"/>
              </a:endParaRPr>
            </a:p>
          </p:txBody>
        </p:sp>
      </p:grpSp>
    </p:spTree>
    <p:extLst>
      <p:ext uri="{BB962C8B-B14F-4D97-AF65-F5344CB8AC3E}">
        <p14:creationId xmlns:p14="http://schemas.microsoft.com/office/powerpoint/2010/main" val="242559800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E53AF-4039-27D5-1E16-7BA7DD68C621}"/>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7B7E46A5-10E4-B048-8F53-DB5D36B0BE19}"/>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AdamW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sp>
        <p:nvSpPr>
          <p:cNvPr id="37" name="文字方塊 36">
            <a:extLst>
              <a:ext uri="{FF2B5EF4-FFF2-40B4-BE49-F238E27FC236}">
                <a16:creationId xmlns:a16="http://schemas.microsoft.com/office/drawing/2014/main" id="{A75477C2-792D-52F1-4CA7-1B7180531EB8}"/>
              </a:ext>
            </a:extLst>
          </p:cNvPr>
          <p:cNvSpPr txBox="1"/>
          <p:nvPr/>
        </p:nvSpPr>
        <p:spPr>
          <a:xfrm>
            <a:off x="2771800" y="2772784"/>
            <a:ext cx="1005212" cy="740351"/>
          </a:xfrm>
          <a:prstGeom prst="rect">
            <a:avLst/>
          </a:prstGeom>
          <a:solidFill>
            <a:schemeClr val="accent3">
              <a:lumMod val="20000"/>
              <a:lumOff val="80000"/>
            </a:schemeClr>
          </a:solid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Adam</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SGD</a:t>
            </a:r>
            <a:r>
              <a:rPr kumimoji="0" lang="zh-TW" altLang="en-US" sz="1000" u="none" strike="noStrike" kern="1200" cap="none" spc="0" normalizeH="0" baseline="0" noProof="0" dirty="0">
                <a:ln>
                  <a:noFill/>
                </a:ln>
                <a:solidFill>
                  <a:prstClr val="black"/>
                </a:solidFill>
                <a:effectLst/>
                <a:uLnTx/>
                <a:uFillTx/>
                <a:ea typeface="Cambria Math" panose="02040503050406030204" pitchFamily="18" charset="0"/>
                <a:cs typeface="+mn-cs"/>
              </a:rPr>
              <a:t>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Momentum</a:t>
            </a:r>
          </a:p>
          <a:p>
            <a:pPr algn="ctr"/>
            <a:r>
              <a:rPr lang="en-US" altLang="zh-TW" sz="1000" dirty="0">
                <a:solidFill>
                  <a:prstClr val="black"/>
                </a:solidFill>
                <a:ea typeface="Cambria Math" panose="02040503050406030204" pitchFamily="18" charset="0"/>
              </a:rPr>
              <a:t>+ </a:t>
            </a:r>
            <a:r>
              <a:rPr lang="en-US" altLang="zh-TW" sz="1000" dirty="0" err="1">
                <a:solidFill>
                  <a:prstClr val="black"/>
                </a:solidFill>
                <a:ea typeface="Cambria Math" panose="02040503050406030204" pitchFamily="18" charset="0"/>
              </a:rPr>
              <a:t>RMSProp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71" name="文字方塊 70">
            <a:extLst>
              <a:ext uri="{FF2B5EF4-FFF2-40B4-BE49-F238E27FC236}">
                <a16:creationId xmlns:a16="http://schemas.microsoft.com/office/drawing/2014/main" id="{3EA18BD1-6CA3-B8F0-3C9C-776E7732F598}"/>
              </a:ext>
            </a:extLst>
          </p:cNvPr>
          <p:cNvSpPr txBox="1"/>
          <p:nvPr/>
        </p:nvSpPr>
        <p:spPr>
          <a:xfrm>
            <a:off x="7301833" y="2752702"/>
            <a:ext cx="1005212" cy="740351"/>
          </a:xfrm>
          <a:prstGeom prst="rect">
            <a:avLst/>
          </a:prstGeom>
          <a:solidFill>
            <a:schemeClr val="accent6">
              <a:lumMod val="20000"/>
              <a:lumOff val="80000"/>
            </a:schemeClr>
          </a:solid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AdamW</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pic>
        <p:nvPicPr>
          <p:cNvPr id="73" name="圖片 72">
            <a:extLst>
              <a:ext uri="{FF2B5EF4-FFF2-40B4-BE49-F238E27FC236}">
                <a16:creationId xmlns:a16="http://schemas.microsoft.com/office/drawing/2014/main" id="{847D5CFB-EE93-5B26-ABE6-D0768EBAA04C}"/>
              </a:ext>
            </a:extLst>
          </p:cNvPr>
          <p:cNvPicPr>
            <a:picLocks noChangeAspect="1"/>
          </p:cNvPicPr>
          <p:nvPr/>
        </p:nvPicPr>
        <p:blipFill>
          <a:blip r:embed="rId2"/>
          <a:stretch>
            <a:fillRect/>
          </a:stretch>
        </p:blipFill>
        <p:spPr>
          <a:xfrm>
            <a:off x="5724758" y="2458182"/>
            <a:ext cx="3292206" cy="412866"/>
          </a:xfrm>
          <a:prstGeom prst="rect">
            <a:avLst/>
          </a:prstGeom>
          <a:effectLst>
            <a:glow rad="50800">
              <a:schemeClr val="accent6"/>
            </a:glow>
          </a:effectLst>
        </p:spPr>
      </p:pic>
      <p:pic>
        <p:nvPicPr>
          <p:cNvPr id="77" name="圖片 76">
            <a:extLst>
              <a:ext uri="{FF2B5EF4-FFF2-40B4-BE49-F238E27FC236}">
                <a16:creationId xmlns:a16="http://schemas.microsoft.com/office/drawing/2014/main" id="{B357D767-4994-F193-AAB3-2B7E99909C6F}"/>
              </a:ext>
            </a:extLst>
          </p:cNvPr>
          <p:cNvPicPr>
            <a:picLocks noChangeAspect="1"/>
          </p:cNvPicPr>
          <p:nvPr/>
        </p:nvPicPr>
        <p:blipFill>
          <a:blip r:embed="rId3"/>
          <a:stretch>
            <a:fillRect/>
          </a:stretch>
        </p:blipFill>
        <p:spPr>
          <a:xfrm>
            <a:off x="1223559" y="2027987"/>
            <a:ext cx="3791280" cy="843061"/>
          </a:xfrm>
          <a:prstGeom prst="rect">
            <a:avLst/>
          </a:prstGeom>
          <a:effectLst>
            <a:glow rad="127000">
              <a:schemeClr val="accent3"/>
            </a:glow>
          </a:effectLst>
        </p:spPr>
      </p:pic>
    </p:spTree>
    <p:extLst>
      <p:ext uri="{BB962C8B-B14F-4D97-AF65-F5344CB8AC3E}">
        <p14:creationId xmlns:p14="http://schemas.microsoft.com/office/powerpoint/2010/main" val="2660702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53FB2-FFFD-E6EE-95FE-18E3B114936D}"/>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EF4CF63F-298C-E5F6-65A4-53806A694550}"/>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30B7A68F-2C27-8CD7-3F28-3A6222FAE057}"/>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C9D9E8C0-255B-F8B4-CE7B-95CCB63C99C0}"/>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BCD56B9F-3CB5-4823-F9B1-6960FDBC0FB5}"/>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E91D3EF4-718E-43D3-6A68-4D65ABAEAE94}"/>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F60B48F6-4AD3-FDBE-6D45-BD5090544A0F}"/>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38FFBB7D-B5BC-429C-4E65-9D6DC1233F28}"/>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35A31170-318B-D58C-C215-E0CD0FCD99FE}"/>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9C09900E-1DED-6E3E-EA25-EA3C64BC214D}"/>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FF0E46EC-89B8-24B6-E892-4D08DC3DBAAE}"/>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D585F32F-A502-408B-7DEE-FEA9BA964AF6}"/>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5AB074D7-3E7D-11C6-9321-750F6C36C057}"/>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F1AD2B78-2C9A-A675-387C-88CE3529E05E}"/>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62B6F707-3B3C-CE48-E8BC-1F3EC56750C5}"/>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988AD252-6AAC-12D3-6A54-384E435AB021}"/>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37CCDACD-CE3A-ABBC-7F87-D14425849903}"/>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EBD0AAF9-3F83-3A4B-6993-F26188955CB3}"/>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3B7FA2A-6E1D-8436-2695-AB694CBC01E5}"/>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2DDE61CA-7857-ACD8-4BA5-1837949360DF}"/>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D56AD42F-F5A0-5368-4353-9E57881FA6E5}"/>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CF0AD642-CBF1-EFBA-CC80-09161963EEE7}"/>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963FA891-12E0-B6CB-B4B8-F2D4EA82BC34}"/>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51A8739A-B1BC-CF60-2045-EE0CD80942DE}"/>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C67B062C-DD24-E639-4308-97680E62C416}"/>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10B2BC11-1E5F-41EC-AC1A-D17A516F9D53}"/>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C40958A2-B6F8-C15F-A408-2391FE127946}"/>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8F4C6418-8998-8FE3-6A7B-64FA8F82A6B3}"/>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0373013C-8B67-9741-763C-0B12EBCE06DB}"/>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3D2F62BA-F010-0488-4844-EC55BDB986CD}"/>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45B14785-C6A4-B1C5-24AE-992CFE5659FA}"/>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87CD78A-D1B8-7019-4BA5-AB8D626DB688}"/>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EB942EEC-3934-C852-76CB-1FA43A3AD8B7}"/>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A15CDD8B-AEA9-0B19-BAFF-5F6F8D6D0034}"/>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648AA5D1-F0A1-6492-49D6-AA447F98958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022D2868-93FE-C4EE-F632-DDFE0801E8DA}"/>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A61551E6-B1F1-188D-F847-727557FAC397}"/>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8E9F3E85-D9B1-854A-6767-4576DDCE3A9D}"/>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DA2D575E-21FF-543B-50A3-3F9CBF7C57A0}"/>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00BB627C-9C7B-229D-4348-5243254E944E}"/>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BA04D4F6-4DAA-AB3A-5188-3B18E65B8171}"/>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2D66367A-4E82-77C6-1B8A-1A8EC1990F34}"/>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Newton-Schulz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69C77415-596C-9F0A-13A0-E973BFADAA86}"/>
              </a:ext>
            </a:extLst>
          </p:cNvPr>
          <p:cNvSpPr txBox="1"/>
          <p:nvPr/>
        </p:nvSpPr>
        <p:spPr>
          <a:xfrm>
            <a:off x="236725" y="1440646"/>
            <a:ext cx="8280922"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a:t>
            </a:r>
          </a:p>
        </p:txBody>
      </p:sp>
    </p:spTree>
    <p:extLst>
      <p:ext uri="{BB962C8B-B14F-4D97-AF65-F5344CB8AC3E}">
        <p14:creationId xmlns:p14="http://schemas.microsoft.com/office/powerpoint/2010/main" val="66938635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F4DC-2C5D-1DF8-C13C-2A98212F622C}"/>
            </a:ext>
          </a:extLst>
        </p:cNvPr>
        <p:cNvGrpSpPr/>
        <p:nvPr/>
      </p:nvGrpSpPr>
      <p:grpSpPr>
        <a:xfrm>
          <a:off x="0" y="0"/>
          <a:ext cx="0" cy="0"/>
          <a:chOff x="0" y="0"/>
          <a:chExt cx="0" cy="0"/>
        </a:xfrm>
      </p:grpSpPr>
      <p:sp>
        <p:nvSpPr>
          <p:cNvPr id="31" name="標題 1">
            <a:extLst>
              <a:ext uri="{FF2B5EF4-FFF2-40B4-BE49-F238E27FC236}">
                <a16:creationId xmlns:a16="http://schemas.microsoft.com/office/drawing/2014/main" id="{F34D51B4-CFFC-D6DB-2D03-A832CBED1EFD}"/>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ultra-fast optimizer for 2D matrices that updates exclusively via Newton-Schulz orthogonalized direction while completely discarding gradient scale.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9" name="圖片 38">
            <a:extLst>
              <a:ext uri="{FF2B5EF4-FFF2-40B4-BE49-F238E27FC236}">
                <a16:creationId xmlns:a16="http://schemas.microsoft.com/office/drawing/2014/main" id="{F1A33483-58B1-E17F-DEB4-BB4B30FB8180}"/>
              </a:ext>
            </a:extLst>
          </p:cNvPr>
          <p:cNvPicPr>
            <a:picLocks noChangeAspect="1"/>
          </p:cNvPicPr>
          <p:nvPr/>
        </p:nvPicPr>
        <p:blipFill>
          <a:blip r:embed="rId3"/>
          <a:stretch>
            <a:fillRect/>
          </a:stretch>
        </p:blipFill>
        <p:spPr>
          <a:xfrm>
            <a:off x="0" y="2887754"/>
            <a:ext cx="7596336" cy="3637590"/>
          </a:xfrm>
          <a:prstGeom prst="rect">
            <a:avLst/>
          </a:prstGeom>
        </p:spPr>
      </p:pic>
      <p:pic>
        <p:nvPicPr>
          <p:cNvPr id="43" name="圖片 42">
            <a:extLst>
              <a:ext uri="{FF2B5EF4-FFF2-40B4-BE49-F238E27FC236}">
                <a16:creationId xmlns:a16="http://schemas.microsoft.com/office/drawing/2014/main" id="{94C8EA73-D599-5656-F850-1CFC1A026EED}"/>
              </a:ext>
            </a:extLst>
          </p:cNvPr>
          <p:cNvPicPr>
            <a:picLocks noChangeAspect="1"/>
          </p:cNvPicPr>
          <p:nvPr/>
        </p:nvPicPr>
        <p:blipFill>
          <a:blip r:embed="rId4"/>
          <a:stretch>
            <a:fillRect/>
          </a:stretch>
        </p:blipFill>
        <p:spPr>
          <a:xfrm>
            <a:off x="5486826" y="4315270"/>
            <a:ext cx="3621678" cy="2354090"/>
          </a:xfrm>
          <a:prstGeom prst="rect">
            <a:avLst/>
          </a:prstGeom>
        </p:spPr>
      </p:pic>
    </p:spTree>
    <p:extLst>
      <p:ext uri="{BB962C8B-B14F-4D97-AF65-F5344CB8AC3E}">
        <p14:creationId xmlns:p14="http://schemas.microsoft.com/office/powerpoint/2010/main" val="126055179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B936BAD-3CA1-5A93-68D0-18D4749B896D}"/>
              </a:ext>
            </a:extLst>
          </p:cNvPr>
          <p:cNvPicPr>
            <a:picLocks noChangeAspect="1"/>
          </p:cNvPicPr>
          <p:nvPr/>
        </p:nvPicPr>
        <p:blipFill>
          <a:blip r:embed="rId2"/>
          <a:stretch>
            <a:fillRect/>
          </a:stretch>
        </p:blipFill>
        <p:spPr>
          <a:xfrm>
            <a:off x="445394" y="0"/>
            <a:ext cx="8253211" cy="6858000"/>
          </a:xfrm>
          <a:prstGeom prst="rect">
            <a:avLst/>
          </a:prstGeom>
        </p:spPr>
      </p:pic>
      <p:sp>
        <p:nvSpPr>
          <p:cNvPr id="5" name="標題 1">
            <a:extLst>
              <a:ext uri="{FF2B5EF4-FFF2-40B4-BE49-F238E27FC236}">
                <a16:creationId xmlns:a16="http://schemas.microsoft.com/office/drawing/2014/main" id="{EA642F90-58F9-AC4E-23F9-20D780B8B74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spTree>
    <p:extLst>
      <p:ext uri="{BB962C8B-B14F-4D97-AF65-F5344CB8AC3E}">
        <p14:creationId xmlns:p14="http://schemas.microsoft.com/office/powerpoint/2010/main" val="2211158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505DD-CDA6-FE4C-F217-AF444E3CACAF}"/>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EB04A97-81D2-A052-5744-4D29BE61D10B}"/>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K</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imi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elta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hybrid linear attention technique created to render the context window of 1M tokens feasible instead of quadratic.</a:t>
            </a:r>
          </a:p>
        </p:txBody>
      </p:sp>
      <p:pic>
        <p:nvPicPr>
          <p:cNvPr id="7" name="圖片 6">
            <a:extLst>
              <a:ext uri="{FF2B5EF4-FFF2-40B4-BE49-F238E27FC236}">
                <a16:creationId xmlns:a16="http://schemas.microsoft.com/office/drawing/2014/main" id="{0A39CAF0-2B6E-920B-22F1-4CB97C3BB504}"/>
              </a:ext>
            </a:extLst>
          </p:cNvPr>
          <p:cNvPicPr>
            <a:picLocks noChangeAspect="1"/>
          </p:cNvPicPr>
          <p:nvPr/>
        </p:nvPicPr>
        <p:blipFill>
          <a:blip r:embed="rId2"/>
          <a:stretch>
            <a:fillRect/>
          </a:stretch>
        </p:blipFill>
        <p:spPr>
          <a:xfrm>
            <a:off x="213047" y="1916832"/>
            <a:ext cx="3839111" cy="4496427"/>
          </a:xfrm>
          <a:prstGeom prst="rect">
            <a:avLst/>
          </a:prstGeom>
        </p:spPr>
      </p:pic>
      <p:pic>
        <p:nvPicPr>
          <p:cNvPr id="4" name="圖片 3">
            <a:extLst>
              <a:ext uri="{FF2B5EF4-FFF2-40B4-BE49-F238E27FC236}">
                <a16:creationId xmlns:a16="http://schemas.microsoft.com/office/drawing/2014/main" id="{C7D648D9-ABFB-3579-6CC8-D919C5327F82}"/>
              </a:ext>
            </a:extLst>
          </p:cNvPr>
          <p:cNvPicPr>
            <a:picLocks noChangeAspect="1"/>
          </p:cNvPicPr>
          <p:nvPr/>
        </p:nvPicPr>
        <p:blipFill>
          <a:blip r:embed="rId3"/>
          <a:stretch>
            <a:fillRect/>
          </a:stretch>
        </p:blipFill>
        <p:spPr>
          <a:xfrm>
            <a:off x="2555776" y="980728"/>
            <a:ext cx="4210638" cy="1419423"/>
          </a:xfrm>
          <a:prstGeom prst="rect">
            <a:avLst/>
          </a:prstGeom>
        </p:spPr>
      </p:pic>
      <p:sp>
        <p:nvSpPr>
          <p:cNvPr id="9" name="文字方塊 8">
            <a:extLst>
              <a:ext uri="{FF2B5EF4-FFF2-40B4-BE49-F238E27FC236}">
                <a16:creationId xmlns:a16="http://schemas.microsoft.com/office/drawing/2014/main" id="{C0DFBAC6-426F-03B3-9FFE-A154CE87BBA1}"/>
              </a:ext>
            </a:extLst>
          </p:cNvPr>
          <p:cNvSpPr txBox="1"/>
          <p:nvPr/>
        </p:nvSpPr>
        <p:spPr>
          <a:xfrm>
            <a:off x="899592" y="164266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KDA</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Kimi Delta Attention</a:t>
            </a:r>
          </a:p>
        </p:txBody>
      </p:sp>
      <p:cxnSp>
        <p:nvCxnSpPr>
          <p:cNvPr id="12" name="直線單箭頭接點 11">
            <a:extLst>
              <a:ext uri="{FF2B5EF4-FFF2-40B4-BE49-F238E27FC236}">
                <a16:creationId xmlns:a16="http://schemas.microsoft.com/office/drawing/2014/main" id="{0436543E-3072-40B4-782F-95CFF0F582CB}"/>
              </a:ext>
            </a:extLst>
          </p:cNvPr>
          <p:cNvCxnSpPr>
            <a:cxnSpLocks/>
            <a:stCxn id="16" idx="2"/>
            <a:endCxn id="17"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 name="矩形 12">
            <a:extLst>
              <a:ext uri="{FF2B5EF4-FFF2-40B4-BE49-F238E27FC236}">
                <a16:creationId xmlns:a16="http://schemas.microsoft.com/office/drawing/2014/main" id="{B10808CA-1DF2-8265-C178-CEF922F916DD}"/>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14" name="矩形 13">
            <a:extLst>
              <a:ext uri="{FF2B5EF4-FFF2-40B4-BE49-F238E27FC236}">
                <a16:creationId xmlns:a16="http://schemas.microsoft.com/office/drawing/2014/main" id="{ED887128-0066-C7E3-0AFA-E38FC88A04B6}"/>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MQA</a:t>
            </a:r>
          </a:p>
        </p:txBody>
      </p:sp>
      <p:sp>
        <p:nvSpPr>
          <p:cNvPr id="15" name="矩形 14">
            <a:extLst>
              <a:ext uri="{FF2B5EF4-FFF2-40B4-BE49-F238E27FC236}">
                <a16:creationId xmlns:a16="http://schemas.microsoft.com/office/drawing/2014/main" id="{C33BCE02-7E6C-1470-3C10-7B11AA3BFD50}"/>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16" name="矩形 15">
            <a:extLst>
              <a:ext uri="{FF2B5EF4-FFF2-40B4-BE49-F238E27FC236}">
                <a16:creationId xmlns:a16="http://schemas.microsoft.com/office/drawing/2014/main" id="{EC8518F6-35AB-08B9-2B5E-27F751E4F1A5}"/>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17" name="矩形 16">
            <a:extLst>
              <a:ext uri="{FF2B5EF4-FFF2-40B4-BE49-F238E27FC236}">
                <a16:creationId xmlns:a16="http://schemas.microsoft.com/office/drawing/2014/main" id="{7459CB1D-35A3-2F99-5B4F-5668C50E7067}"/>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40046117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949EC-1316-A85B-5F0E-AEEC5553A7D3}"/>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BF2F72E6-93F4-5D0A-183F-078808B83F1F}"/>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 Residuals</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complete substitute for standard residual connections that Moonshot claims lead to more consistent results as the model grows lager.</a:t>
            </a:r>
          </a:p>
        </p:txBody>
      </p:sp>
    </p:spTree>
    <p:extLst>
      <p:ext uri="{BB962C8B-B14F-4D97-AF65-F5344CB8AC3E}">
        <p14:creationId xmlns:p14="http://schemas.microsoft.com/office/powerpoint/2010/main" val="33605181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vs  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pic>
        <p:nvPicPr>
          <p:cNvPr id="9" name="圖片 8">
            <a:extLst>
              <a:ext uri="{FF2B5EF4-FFF2-40B4-BE49-F238E27FC236}">
                <a16:creationId xmlns:a16="http://schemas.microsoft.com/office/drawing/2014/main" id="{FC192506-A527-E600-5566-4A160003BBDE}"/>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FEBF8933-4E25-6F2E-7F5D-E835ADCF20ED}"/>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6B33F7C6-40D7-FA44-5ADA-47E3C9C99623}"/>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1B588763-430B-C125-9DA4-C1F7BDB448EC}"/>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1011566"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 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67944"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 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7010247" y="407707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 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743A732-DF87-690E-A27C-B8A037057841}"/>
              </a:ext>
            </a:extLst>
          </p:cNvPr>
          <p:cNvPicPr>
            <a:picLocks noChangeAspect="1"/>
          </p:cNvPicPr>
          <p:nvPr/>
        </p:nvPicPr>
        <p:blipFill>
          <a:blip r:embed="rId5"/>
          <a:stretch>
            <a:fillRect/>
          </a:stretch>
        </p:blipFill>
        <p:spPr>
          <a:xfrm>
            <a:off x="251520" y="4485622"/>
            <a:ext cx="1488127" cy="1065934"/>
          </a:xfrm>
          <a:prstGeom prst="rect">
            <a:avLst/>
          </a:prstGeom>
        </p:spPr>
      </p:pic>
      <p:pic>
        <p:nvPicPr>
          <p:cNvPr id="39" name="圖片 38">
            <a:extLst>
              <a:ext uri="{FF2B5EF4-FFF2-40B4-BE49-F238E27FC236}">
                <a16:creationId xmlns:a16="http://schemas.microsoft.com/office/drawing/2014/main" id="{2CDF102C-618E-0BFC-91B1-F0CF35A10F45}"/>
              </a:ext>
            </a:extLst>
          </p:cNvPr>
          <p:cNvPicPr>
            <a:picLocks noChangeAspect="1"/>
          </p:cNvPicPr>
          <p:nvPr/>
        </p:nvPicPr>
        <p:blipFill>
          <a:blip r:embed="rId6"/>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A23BAC22-BE01-3C4C-27B6-57430D8B18A8}"/>
              </a:ext>
            </a:extLst>
          </p:cNvPr>
          <p:cNvPicPr>
            <a:picLocks noChangeAspect="1"/>
          </p:cNvPicPr>
          <p:nvPr/>
        </p:nvPicPr>
        <p:blipFill>
          <a:blip r:embed="rId7"/>
          <a:stretch>
            <a:fillRect/>
          </a:stretch>
        </p:blipFill>
        <p:spPr>
          <a:xfrm>
            <a:off x="3213630" y="4485620"/>
            <a:ext cx="1444934" cy="1065935"/>
          </a:xfrm>
          <a:prstGeom prst="rect">
            <a:avLst/>
          </a:prstGeom>
        </p:spPr>
      </p:pic>
      <p:sp>
        <p:nvSpPr>
          <p:cNvPr id="43" name="文字方塊 42">
            <a:extLst>
              <a:ext uri="{FF2B5EF4-FFF2-40B4-BE49-F238E27FC236}">
                <a16:creationId xmlns:a16="http://schemas.microsoft.com/office/drawing/2014/main" id="{251222A2-2D00-186D-C92E-8C73EDC6465B}"/>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QK-Clip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137E073D-D39F-B978-EDE5-B4E94491B044}"/>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604FAE4E-7D66-A107-3F09-9D88E3DAE572}"/>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f agents</a:t>
            </a:r>
            <a:endParaRPr lang="en-US" altLang="zh-TW" sz="1200" dirty="0">
              <a:solidFill>
                <a:prstClr val="black"/>
              </a:solidFill>
              <a:ea typeface="Cambria Math" panose="02040503050406030204" pitchFamily="18" charset="0"/>
            </a:endParaRPr>
          </a:p>
        </p:txBody>
      </p:sp>
      <p:pic>
        <p:nvPicPr>
          <p:cNvPr id="49" name="圖片 48">
            <a:extLst>
              <a:ext uri="{FF2B5EF4-FFF2-40B4-BE49-F238E27FC236}">
                <a16:creationId xmlns:a16="http://schemas.microsoft.com/office/drawing/2014/main" id="{D3F610A2-6BA4-F8DE-E41D-DA2B1DA00336}"/>
              </a:ext>
            </a:extLst>
          </p:cNvPr>
          <p:cNvPicPr>
            <a:picLocks noChangeAspect="1"/>
          </p:cNvPicPr>
          <p:nvPr/>
        </p:nvPicPr>
        <p:blipFill>
          <a:blip r:embed="rId8"/>
          <a:stretch>
            <a:fillRect/>
          </a:stretch>
        </p:blipFill>
        <p:spPr>
          <a:xfrm>
            <a:off x="1804704" y="4485620"/>
            <a:ext cx="1316743" cy="1065935"/>
          </a:xfrm>
          <a:prstGeom prst="rect">
            <a:avLst/>
          </a:prstGeom>
        </p:spPr>
      </p:pic>
    </p:spTree>
    <p:extLst>
      <p:ext uri="{BB962C8B-B14F-4D97-AF65-F5344CB8AC3E}">
        <p14:creationId xmlns:p14="http://schemas.microsoft.com/office/powerpoint/2010/main" val="834322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40102178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68678-8819-BF86-96FB-0D6B0474C460}"/>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5C2D5DB0-B13E-CC8D-BEAD-3CFE1FC01260}"/>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pic>
        <p:nvPicPr>
          <p:cNvPr id="9" name="圖片 8">
            <a:extLst>
              <a:ext uri="{FF2B5EF4-FFF2-40B4-BE49-F238E27FC236}">
                <a16:creationId xmlns:a16="http://schemas.microsoft.com/office/drawing/2014/main" id="{C89A2E64-CE39-0D5A-90FD-BC77BBEBB409}"/>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41C0F3C9-5B35-EEAA-5410-9C94A52BB987}"/>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22971B65-9602-76A3-B159-4A6787C8241C}"/>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3449EE38-D2F0-6E65-391C-051BDCC290D1}"/>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917CB614-9D91-6082-E732-C1EB9B94CBB2}"/>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873A4A8C-4DB5-C8E4-8137-40158A09AA46}"/>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Tree>
    <p:extLst>
      <p:ext uri="{BB962C8B-B14F-4D97-AF65-F5344CB8AC3E}">
        <p14:creationId xmlns:p14="http://schemas.microsoft.com/office/powerpoint/2010/main" val="1328516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 CEO Kimi(</a:t>
            </a:r>
            <a:r>
              <a:rPr lang="zh-TW" altLang="en-US" sz="1400" dirty="0">
                <a:latin typeface="微軟正黑體" panose="020B0604030504040204" pitchFamily="34" charset="-120"/>
                <a:ea typeface="微軟正黑體" panose="020B0604030504040204" pitchFamily="34" charset="-120"/>
              </a:rPr>
              <a:t>楊植麟</a:t>
            </a:r>
            <a:r>
              <a:rPr lang="en-US" altLang="zh-TW" sz="1400" dirty="0">
                <a:latin typeface="微軟正黑體" panose="020B0604030504040204" pitchFamily="34" charset="-120"/>
                <a:ea typeface="微軟正黑體" panose="020B0604030504040204" pitchFamily="34" charset="-120"/>
              </a:rPr>
              <a:t>1992.</a:t>
            </a:r>
            <a:r>
              <a:rPr lang="zh-TW" altLang="en-US" sz="1400" dirty="0">
                <a:latin typeface="微軟正黑體" panose="020B0604030504040204" pitchFamily="34" charset="-120"/>
                <a:ea typeface="微軟正黑體" panose="020B0604030504040204" pitchFamily="34" charset="-120"/>
              </a:rPr>
              <a:t>清華大學</a:t>
            </a:r>
            <a:r>
              <a:rPr lang="en-US" altLang="zh-TW" sz="1400" dirty="0">
                <a:latin typeface="微軟正黑體" panose="020B0604030504040204" pitchFamily="34" charset="-120"/>
                <a:ea typeface="微軟正黑體" panose="020B0604030504040204" pitchFamily="34" charset="-120"/>
              </a:rPr>
              <a:t>.CMU</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011E9-ADCA-8AD3-5955-8B4CFF50F99D}"/>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E4DF5537-7767-3FE2-DF63-AAEA1B1D639C}"/>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C1B77582-7129-1481-6EC8-8A0D8D78D952}"/>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27EB0C08-FFAC-265A-35FC-9352AF083829}"/>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318276204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461876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4618766"/>
                <a:ext cx="3816421" cy="1018760"/>
              </a:xfrm>
              <a:prstGeom prst="rect">
                <a:avLst/>
              </a:prstGeom>
              <a:blipFill>
                <a:blip r:embed="rId3"/>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450912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4509120"/>
                <a:ext cx="2111120" cy="1018764"/>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567053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5670532"/>
                <a:ext cx="3068084" cy="712549"/>
              </a:xfrm>
              <a:prstGeom prst="rect">
                <a:avLst/>
              </a:prstGeom>
              <a:blipFill>
                <a:blip r:embed="rId5"/>
                <a:stretch>
                  <a:fillRect/>
                </a:stretch>
              </a:blipFill>
            </p:spPr>
            <p:txBody>
              <a:bodyPr/>
              <a:lstStyle/>
              <a:p>
                <a:r>
                  <a:rPr lang="zh-TW" altLang="en-US">
                    <a:noFill/>
                  </a:rPr>
                  <a:t> </a:t>
                </a:r>
              </a:p>
            </p:txBody>
          </p:sp>
        </mc:Fallback>
      </mc:AlternateContent>
      <p:sp>
        <p:nvSpPr>
          <p:cNvPr id="7" name="文字方塊 6">
            <a:extLst>
              <a:ext uri="{FF2B5EF4-FFF2-40B4-BE49-F238E27FC236}">
                <a16:creationId xmlns:a16="http://schemas.microsoft.com/office/drawing/2014/main" id="{406D497E-F14A-9F07-6A01-416E0160ED6A}"/>
              </a:ext>
            </a:extLst>
          </p:cNvPr>
          <p:cNvSpPr txBox="1"/>
          <p:nvPr/>
        </p:nvSpPr>
        <p:spPr>
          <a:xfrm>
            <a:off x="4788024" y="333735"/>
            <a:ext cx="4176461" cy="1107996"/>
          </a:xfrm>
          <a:prstGeom prst="rect">
            <a:avLst/>
          </a:prstGeom>
          <a:solidFill>
            <a:schemeClr val="accent6">
              <a:lumMod val="20000"/>
              <a:lumOff val="80000"/>
            </a:schemeClr>
          </a:solidFill>
        </p:spPr>
        <p:txBody>
          <a:bodyPr wrap="square">
            <a:spAutoFit/>
          </a:bodyPr>
          <a:lstStyle/>
          <a:p>
            <a:r>
              <a:rPr lang="zh-TW" altLang="zh-TW" sz="1100" b="0" u="none" strike="noStrike" dirty="0">
                <a:effectLst/>
                <a:latin typeface="微軟正黑體" panose="020B0604030504040204" pitchFamily="34" charset="-120"/>
                <a:ea typeface="微軟正黑體" panose="020B0604030504040204" pitchFamily="34" charset="-120"/>
              </a:rPr>
              <a:t>NoPE（No Positional Embedding，無位置編碼）技術在近年（2025-2026年）的大型語言模型架構中受到重視，它完全捨棄傳統的 RoPE 旋轉位置編碼，改由因果注意力遮罩（Causal Mask）或混合線性注意力機制的衰減門控來隱式攜帶時序與位置資訊</a:t>
            </a:r>
            <a:r>
              <a:rPr lang="zh-TW" altLang="zh-TW" sz="1100" dirty="0">
                <a:latin typeface="微軟正黑體" panose="020B0604030504040204" pitchFamily="34" charset="-120"/>
                <a:ea typeface="微軟正黑體" panose="020B0604030504040204" pitchFamily="34" charset="-120"/>
              </a:rPr>
              <a:t>。目前採用或實驗 NoPE 技術的知名模型包含：</a:t>
            </a:r>
            <a:endParaRPr lang="en-US" altLang="zh-TW" sz="1100" dirty="0">
              <a:latin typeface="微軟正黑體" panose="020B0604030504040204" pitchFamily="34" charset="-120"/>
              <a:ea typeface="微軟正黑體" panose="020B0604030504040204" pitchFamily="34" charset="-120"/>
            </a:endParaRPr>
          </a:p>
          <a:p>
            <a:r>
              <a:rPr lang="en-US" altLang="zh-TW" sz="1100" dirty="0">
                <a:latin typeface="微軟正黑體" panose="020B0604030504040204" pitchFamily="34" charset="-120"/>
                <a:ea typeface="微軟正黑體" panose="020B0604030504040204" pitchFamily="34" charset="-120"/>
              </a:rPr>
              <a:t>K-EXAONE 2.0, SmolLM3, IBM Granite 4.0 …</a:t>
            </a:r>
            <a:endParaRPr lang="zh-TW" altLang="en-US" sz="1100" dirty="0">
              <a:latin typeface="微軟正黑體" panose="020B0604030504040204" pitchFamily="34" charset="-120"/>
              <a:ea typeface="微軟正黑體" panose="020B0604030504040204" pitchFamily="34" charset="-120"/>
            </a:endParaRPr>
          </a:p>
        </p:txBody>
      </p:sp>
      <p:sp>
        <p:nvSpPr>
          <p:cNvPr id="12" name="文字方塊 11">
            <a:extLst>
              <a:ext uri="{FF2B5EF4-FFF2-40B4-BE49-F238E27FC236}">
                <a16:creationId xmlns:a16="http://schemas.microsoft.com/office/drawing/2014/main" id="{ACF86D5B-7F2D-D2EE-FB5E-D5D9C77FE2AE}"/>
              </a:ext>
            </a:extLst>
          </p:cNvPr>
          <p:cNvSpPr txBox="1"/>
          <p:nvPr/>
        </p:nvSpPr>
        <p:spPr>
          <a:xfrm>
            <a:off x="4788024" y="1551872"/>
            <a:ext cx="4215949" cy="1157048"/>
          </a:xfrm>
          <a:prstGeom prst="rect">
            <a:avLst/>
          </a:prstGeom>
          <a:solidFill>
            <a:schemeClr val="accent6">
              <a:lumMod val="20000"/>
              <a:lumOff val="80000"/>
            </a:schemeClr>
          </a:solidFill>
        </p:spPr>
        <p:txBody>
          <a:bodyPr wrap="square">
            <a:spAutoFit/>
          </a:bodyPr>
          <a:lstStyle/>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記憶體釋放</a:t>
            </a:r>
            <a:r>
              <a:rPr lang="zh-TW" altLang="zh-TW" sz="1100" b="0" u="none" strike="noStrike" dirty="0">
                <a:effectLst/>
                <a:latin typeface="微軟正黑體" panose="020B0604030504040204" pitchFamily="34" charset="-120"/>
                <a:ea typeface="微軟正黑體" panose="020B0604030504040204" pitchFamily="34" charset="-120"/>
              </a:rPr>
              <a:t>：省去 RoPE 的旋轉矩陣運算，KV Cache 的傳輸與儲存成本顯著降低。</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外推上限解鎖</a:t>
            </a:r>
            <a:r>
              <a:rPr lang="zh-TW" altLang="zh-TW" sz="1100" b="0" u="none" strike="noStrike" dirty="0">
                <a:effectLst/>
                <a:latin typeface="微軟正黑體" panose="020B0604030504040204" pitchFamily="34" charset="-120"/>
                <a:ea typeface="微軟正黑體" panose="020B0604030504040204" pitchFamily="34" charset="-120"/>
              </a:rPr>
              <a:t>：不受 RoPE 頻率基底（Base Frequency）的理論限制，突破長文本的硬性天花板。</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訓練吞吐量提升</a:t>
            </a:r>
            <a:r>
              <a:rPr lang="zh-TW" altLang="zh-TW" sz="1100" b="0" u="none" strike="noStrike" dirty="0">
                <a:effectLst/>
                <a:latin typeface="微軟正黑體" panose="020B0604030504040204" pitchFamily="34" charset="-120"/>
                <a:ea typeface="微軟正黑體" panose="020B0604030504040204" pitchFamily="34" charset="-120"/>
              </a:rPr>
              <a:t>：移除序列長度相關的複數運算，硬體算力（FLOPs）利用率更高。</a:t>
            </a:r>
          </a:p>
        </p:txBody>
      </p:sp>
      <p:sp>
        <p:nvSpPr>
          <p:cNvPr id="16" name="文字方塊 15">
            <a:extLst>
              <a:ext uri="{FF2B5EF4-FFF2-40B4-BE49-F238E27FC236}">
                <a16:creationId xmlns:a16="http://schemas.microsoft.com/office/drawing/2014/main" id="{52E62E83-F6E9-D9DC-EA96-D78887ED8270}"/>
              </a:ext>
            </a:extLst>
          </p:cNvPr>
          <p:cNvSpPr txBox="1"/>
          <p:nvPr/>
        </p:nvSpPr>
        <p:spPr>
          <a:xfrm>
            <a:off x="261350" y="2965450"/>
            <a:ext cx="8784971" cy="1329161"/>
          </a:xfrm>
          <a:prstGeom prst="rect">
            <a:avLst/>
          </a:prstGeom>
          <a:solidFill>
            <a:schemeClr val="accent2">
              <a:lumMod val="20000"/>
              <a:lumOff val="80000"/>
            </a:schemeClr>
          </a:solidFill>
        </p:spPr>
        <p:txBody>
          <a:bodyPr wrap="none" lIns="0" tIns="0" rIns="0" bIns="0">
            <a:no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長度外推原理</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RoPE 的外推失敗，是因為測試長度超過訓練長度時，旋轉角度會進入模型</a:t>
            </a:r>
            <a:r>
              <a:rPr lang="zh-TW" altLang="zh-TW" sz="1100" b="1" u="none" strike="noStrike" dirty="0">
                <a:effectLst/>
                <a:latin typeface="微軟正黑體" panose="020B0604030504040204" pitchFamily="34" charset="-120"/>
                <a:ea typeface="微軟正黑體" panose="020B0604030504040204" pitchFamily="34" charset="-120"/>
              </a:rPr>
              <a:t>從未見過的極端頻率區間</a:t>
            </a:r>
            <a:r>
              <a:rPr lang="zh-TW" altLang="zh-TW" sz="1100" b="0" u="none" strike="noStrike" dirty="0">
                <a:effectLst/>
                <a:latin typeface="微軟正黑體" panose="020B0604030504040204" pitchFamily="34" charset="-120"/>
                <a:ea typeface="微軟正黑體" panose="020B0604030504040204" pitchFamily="34" charset="-120"/>
              </a:rPr>
              <a:t>，導致注意力機制崩潰。</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NoPE 能夠成功外推的關鍵在於：</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因果遮罩的邊界效應</a:t>
            </a:r>
            <a:r>
              <a:rPr lang="zh-TW" altLang="zh-TW" sz="1100" b="0" u="none" strike="noStrike" dirty="0">
                <a:effectLst/>
                <a:latin typeface="微軟正黑體" panose="020B0604030504040204" pitchFamily="34" charset="-120"/>
                <a:ea typeface="微軟正黑體" panose="020B0604030504040204" pitchFamily="34" charset="-120"/>
              </a:rPr>
              <a:t>：在自迴歸模型中，第 \(N\) 個 Token 只能看到前 \(N-1\) 個 Token。</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這種 Causal Mask 形成了一個天然的「階梯狀」資訊流。模型透過矩陣乘法，能隱式學會「距離當前 Token 多遠」的相對概念。</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注意力梯度的自然衰減</a:t>
            </a:r>
            <a:r>
              <a:rPr lang="zh-TW" altLang="zh-TW" sz="1100" b="0" u="none" strike="noStrike" dirty="0">
                <a:effectLst/>
                <a:latin typeface="微軟正黑體" panose="020B0604030504040204" pitchFamily="34" charset="-120"/>
                <a:ea typeface="微軟正黑體" panose="020B0604030504040204" pitchFamily="34" charset="-120"/>
              </a:rPr>
              <a:t>：隨着序列變長，Softmax 分配給每個 Token 的權重會隨距離自然攤薄。</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NoPE 轉而依賴這種「距離越遠、影響越弱」的隱式物理規律，而非硬性規定的數學公式，因此在文本無限延伸時，注意力矩陣不會產生突變。</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173597710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4DE73-845E-56B1-338E-79BD8AD2BA71}"/>
            </a:ext>
          </a:extLst>
        </p:cNvPr>
        <p:cNvGrpSpPr/>
        <p:nvPr/>
      </p:nvGrpSpPr>
      <p:grpSpPr>
        <a:xfrm>
          <a:off x="0" y="0"/>
          <a:ext cx="0" cy="0"/>
          <a:chOff x="0" y="0"/>
          <a:chExt cx="0" cy="0"/>
        </a:xfrm>
      </p:grpSpPr>
      <p:sp>
        <p:nvSpPr>
          <p:cNvPr id="16" name="標題 1">
            <a:extLst>
              <a:ext uri="{FF2B5EF4-FFF2-40B4-BE49-F238E27FC236}">
                <a16:creationId xmlns:a16="http://schemas.microsoft.com/office/drawing/2014/main" id="{31387CC2-AA34-BD9A-1D10-662C2C0E7AC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Linear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An Expressive, Efficient Attention, Architecture</a:t>
            </a:r>
          </a:p>
        </p:txBody>
      </p:sp>
      <p:sp>
        <p:nvSpPr>
          <p:cNvPr id="9" name="文字方塊 8">
            <a:extLst>
              <a:ext uri="{FF2B5EF4-FFF2-40B4-BE49-F238E27FC236}">
                <a16:creationId xmlns:a16="http://schemas.microsoft.com/office/drawing/2014/main" id="{9F0C7E82-DA95-DF79-29A5-3FC58C092FFC}"/>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pic>
        <p:nvPicPr>
          <p:cNvPr id="14" name="圖片 13">
            <a:extLst>
              <a:ext uri="{FF2B5EF4-FFF2-40B4-BE49-F238E27FC236}">
                <a16:creationId xmlns:a16="http://schemas.microsoft.com/office/drawing/2014/main" id="{BA39B5A4-81BC-B102-0C1A-F8CFC8E9AE98}"/>
              </a:ext>
            </a:extLst>
          </p:cNvPr>
          <p:cNvPicPr>
            <a:picLocks noChangeAspect="1"/>
          </p:cNvPicPr>
          <p:nvPr/>
        </p:nvPicPr>
        <p:blipFill>
          <a:blip r:embed="rId3"/>
          <a:stretch>
            <a:fillRect/>
          </a:stretch>
        </p:blipFill>
        <p:spPr>
          <a:xfrm>
            <a:off x="0" y="2472698"/>
            <a:ext cx="9144000" cy="1912603"/>
          </a:xfrm>
          <a:prstGeom prst="rect">
            <a:avLst/>
          </a:prstGeom>
        </p:spPr>
      </p:pic>
    </p:spTree>
    <p:extLst>
      <p:ext uri="{BB962C8B-B14F-4D97-AF65-F5344CB8AC3E}">
        <p14:creationId xmlns:p14="http://schemas.microsoft.com/office/powerpoint/2010/main" val="371834071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74146994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4" name="圖片 3">
            <a:extLst>
              <a:ext uri="{FF2B5EF4-FFF2-40B4-BE49-F238E27FC236}">
                <a16:creationId xmlns:a16="http://schemas.microsoft.com/office/drawing/2014/main" id="{DFCF731C-6331-9A7E-69D1-E08908ECDFC7}"/>
              </a:ext>
            </a:extLst>
          </p:cNvPr>
          <p:cNvPicPr>
            <a:picLocks noChangeAspect="1"/>
          </p:cNvPicPr>
          <p:nvPr/>
        </p:nvPicPr>
        <p:blipFill>
          <a:blip r:embed="rId3"/>
          <a:stretch>
            <a:fillRect/>
          </a:stretch>
        </p:blipFill>
        <p:spPr>
          <a:xfrm>
            <a:off x="0" y="1090587"/>
            <a:ext cx="9144000" cy="4676825"/>
          </a:xfrm>
          <a:prstGeom prst="rect">
            <a:avLst/>
          </a:prstGeom>
        </p:spPr>
      </p:pic>
      <p:sp>
        <p:nvSpPr>
          <p:cNvPr id="6" name="標題 1">
            <a:extLst>
              <a:ext uri="{FF2B5EF4-FFF2-40B4-BE49-F238E27FC236}">
                <a16:creationId xmlns:a16="http://schemas.microsoft.com/office/drawing/2014/main" id="{C1DFD697-19B0-D518-76E0-8B069936C6F5}"/>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HW Requirement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873</TotalTime>
  <Words>4648</Words>
  <Application>Microsoft Office PowerPoint</Application>
  <PresentationFormat>如螢幕大小 (4:3)</PresentationFormat>
  <Paragraphs>663</Paragraphs>
  <Slides>25</Slides>
  <Notes>14</Notes>
  <HiddenSlides>0</HiddenSlides>
  <MMClips>0</MMClips>
  <ScaleCrop>false</ScaleCrop>
  <HeadingPairs>
    <vt:vector size="6" baseType="variant">
      <vt:variant>
        <vt:lpstr>使用字型</vt:lpstr>
      </vt:variant>
      <vt:variant>
        <vt:i4>9</vt:i4>
      </vt:variant>
      <vt:variant>
        <vt:lpstr>佈景主題</vt:lpstr>
      </vt:variant>
      <vt:variant>
        <vt:i4>1</vt:i4>
      </vt:variant>
      <vt:variant>
        <vt:lpstr>投影片標題</vt:lpstr>
      </vt:variant>
      <vt:variant>
        <vt:i4>25</vt:i4>
      </vt:variant>
    </vt:vector>
  </HeadingPairs>
  <TitlesOfParts>
    <vt:vector size="35" baseType="lpstr">
      <vt:lpstr>Malgun Gothic</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1878</cp:revision>
  <cp:lastPrinted>2024-07-30T01:44:15Z</cp:lastPrinted>
  <dcterms:created xsi:type="dcterms:W3CDTF">2019-11-08T03:01:47Z</dcterms:created>
  <dcterms:modified xsi:type="dcterms:W3CDTF">2026-08-28T09:29:02Z</dcterms:modified>
</cp:coreProperties>
</file>