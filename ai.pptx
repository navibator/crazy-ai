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4"/>
  </p:notesMasterIdLst>
  <p:handoutMasterIdLst>
    <p:handoutMasterId r:id="rId25"/>
  </p:handoutMasterIdLst>
  <p:sldIdLst>
    <p:sldId id="3459" r:id="rId2"/>
    <p:sldId id="3472" r:id="rId3"/>
    <p:sldId id="3504" r:id="rId4"/>
    <p:sldId id="3486" r:id="rId5"/>
    <p:sldId id="3427" r:id="rId6"/>
    <p:sldId id="3503" r:id="rId7"/>
    <p:sldId id="3470" r:id="rId8"/>
    <p:sldId id="3471" r:id="rId9"/>
    <p:sldId id="3482" r:id="rId10"/>
    <p:sldId id="3483" r:id="rId11"/>
    <p:sldId id="3428" r:id="rId12"/>
    <p:sldId id="3451" r:id="rId13"/>
    <p:sldId id="3465" r:id="rId14"/>
    <p:sldId id="3505" r:id="rId15"/>
    <p:sldId id="3484" r:id="rId16"/>
    <p:sldId id="3485" r:id="rId17"/>
    <p:sldId id="3443" r:id="rId18"/>
    <p:sldId id="3466" r:id="rId19"/>
    <p:sldId id="3476" r:id="rId20"/>
    <p:sldId id="3460" r:id="rId21"/>
    <p:sldId id="3479" r:id="rId22"/>
    <p:sldId id="3467" r:id="rId2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Machine Learning" id="{B661AA10-C3FF-4E46-A114-E951FEA8A6DC}">
          <p14:sldIdLst>
            <p14:sldId id="3504"/>
            <p14:sldId id="3486"/>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505"/>
            <p14:sldId id="3484"/>
            <p14:sldId id="3485"/>
            <p14:sldId id="3443"/>
            <p14:sldId id="3466"/>
            <p14:sldId id="3476"/>
            <p14:sldId id="3460"/>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B7C9E7"/>
    <a:srgbClr val="FF0000"/>
    <a:srgbClr val="9E7800"/>
    <a:srgbClr val="DAA600"/>
    <a:srgbClr val="F8D462"/>
    <a:srgbClr val="FDE7DA"/>
    <a:srgbClr val="DDDDDD"/>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602"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4.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272A9-B1E3-A654-1E00-6053538D43F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425E55-F691-C5E5-9559-41465F1C75C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04D59DA-7B82-1735-3DB2-7DAD014DBCD7}"/>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70E1D4C6-1F65-845C-72C5-3224A5B0239E}"/>
              </a:ext>
            </a:extLst>
          </p:cNvPr>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425109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en-US" altLang="zh-TW" dirty="0">
                <a:sym typeface="Wingdings" panose="05000000000000000000" pitchFamily="2" charset="2"/>
              </a:rPr>
              <a:t>AI Server =  Design(Chip+Server) + Manufacture(TSMC)</a:t>
            </a:r>
            <a:br>
              <a:rPr lang="en-US" altLang="zh-TW" dirty="0"/>
            </a:br>
            <a:r>
              <a:rPr lang="en-US" altLang="zh-TW" dirty="0"/>
              <a:t>[Design]: GPU/HBM</a:t>
            </a:r>
            <a:r>
              <a:rPr lang="zh-TW" altLang="en-US" dirty="0"/>
              <a:t> </a:t>
            </a:r>
            <a:r>
              <a:rPr lang="en-US"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[NV-Link, SerDes]  </a:t>
            </a:r>
            <a:br>
              <a:rPr lang="en-US" altLang="zh-TW" dirty="0"/>
            </a:br>
            <a:r>
              <a:rPr lang="en-US" altLang="zh-TW" dirty="0"/>
              <a:t>[Chip Manufacture]: TSMC </a:t>
            </a:r>
            <a:r>
              <a:rPr lang="en-US" altLang="zh-TW" dirty="0">
                <a:sym typeface="Wingdings" panose="05000000000000000000" pitchFamily="2" charset="2"/>
              </a:rPr>
              <a:t> Package (COWOS/COPOS/CPO)</a:t>
            </a:r>
          </a:p>
          <a:p>
            <a:r>
              <a:rPr lang="en-US" altLang="zh-TW" dirty="0">
                <a:sym typeface="Wingdings" panose="05000000000000000000" pitchFamily="2" charset="2"/>
              </a:rPr>
              <a:t>[Server] (</a:t>
            </a:r>
            <a:r>
              <a:rPr lang="zh-TW" altLang="en-US" dirty="0">
                <a:sym typeface="Wingdings" panose="05000000000000000000" pitchFamily="2" charset="2"/>
              </a:rPr>
              <a:t> 散熱</a:t>
            </a:r>
            <a:r>
              <a:rPr lang="en-US" altLang="zh-TW" dirty="0">
                <a:sym typeface="Wingdings" panose="05000000000000000000" pitchFamily="2" charset="2"/>
              </a:rPr>
              <a:t>/PCB</a:t>
            </a:r>
            <a:r>
              <a:rPr lang="zh-TW" altLang="en-US" dirty="0">
                <a:sym typeface="Wingdings" panose="05000000000000000000" pitchFamily="2" charset="2"/>
              </a:rPr>
              <a:t>多層數</a:t>
            </a:r>
            <a:r>
              <a:rPr lang="en-US" altLang="zh-TW" dirty="0">
                <a:sym typeface="Wingdings" panose="05000000000000000000" pitchFamily="2" charset="2"/>
              </a:rPr>
              <a:t>) </a:t>
            </a:r>
            <a:br>
              <a:rPr lang="en-US" altLang="zh-TW" dirty="0">
                <a:sym typeface="Wingdings" panose="05000000000000000000" pitchFamily="2" charset="2"/>
              </a:rPr>
            </a:br>
            <a:br>
              <a:rPr lang="en-US" altLang="zh-TW" dirty="0"/>
            </a:br>
            <a:br>
              <a:rPr lang="en-US" altLang="zh-TW" dirty="0"/>
            </a:br>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8.png"/><Relationship Id="rId3" Type="http://schemas.openxmlformats.org/officeDocument/2006/relationships/image" Target="../media/image19.png"/><Relationship Id="rId7" Type="http://schemas.openxmlformats.org/officeDocument/2006/relationships/image" Target="../media/image190.png"/><Relationship Id="rId12"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0.png"/><Relationship Id="rId9" Type="http://schemas.openxmlformats.org/officeDocument/2006/relationships/image" Target="../media/image21.png"/><Relationship Id="rId1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42.bmp"/><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8.png"/><Relationship Id="rId4"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51.svg"/><Relationship Id="rId7" Type="http://schemas.openxmlformats.org/officeDocument/2006/relationships/image" Target="../media/image55.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53.svg"/><Relationship Id="rId4" Type="http://schemas.openxmlformats.org/officeDocument/2006/relationships/image" Target="../media/image52.png"/></Relationships>
</file>

<file path=ppt/slides/_rels/slide21.xml.rels><?xml version="1.0" encoding="UTF-8" standalone="yes"?>
<Relationships xmlns="http://schemas.openxmlformats.org/package/2006/relationships"><Relationship Id="rId3" Type="http://schemas.openxmlformats.org/officeDocument/2006/relationships/image" Target="../media/image56.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295636" y="1305341"/>
            <a:ext cx="6552728" cy="3970318"/>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1" nodeType="withEffect">
                                  <p:stCondLst>
                                    <p:cond delay="0"/>
                                  </p:stCondLst>
                                  <p:childTnLst>
                                    <p:animClr clrSpc="rgb" dir="cw">
                                      <p:cBhvr override="childStyle">
                                        <p:cTn id="58" dur="2000" fill="hold"/>
                                        <p:tgtEl>
                                          <p:spTgt spid="2">
                                            <p:txEl>
                                              <p:pRg st="8" end="8"/>
                                            </p:txEl>
                                          </p:spTgt>
                                        </p:tgtEl>
                                        <p:attrNameLst>
                                          <p:attrName>style.color</p:attrName>
                                        </p:attrNameLst>
                                      </p:cBhvr>
                                      <p:to>
                                        <a:srgbClr val="4D4D4D"/>
                                      </p:to>
                                    </p:animClr>
                                  </p:childTnLst>
                                </p:cTn>
                              </p:par>
                              <p:par>
                                <p:cTn id="59" presetID="3" presetClass="emph" presetSubtype="2" fill="hold" grpId="1" nodeType="withEffect">
                                  <p:stCondLst>
                                    <p:cond delay="0"/>
                                  </p:stCondLst>
                                  <p:childTnLst>
                                    <p:animClr clrSpc="rgb" dir="cw">
                                      <p:cBhvr override="childStyle">
                                        <p:cTn id="60" dur="2000" fill="hold"/>
                                        <p:tgtEl>
                                          <p:spTgt spid="2">
                                            <p:txEl>
                                              <p:pRg st="9" end="9"/>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10" end="10"/>
                                            </p:txEl>
                                          </p:spTgt>
                                        </p:tgtEl>
                                        <p:attrNameLst>
                                          <p:attrName>style.color</p:attrName>
                                        </p:attrNameLst>
                                      </p:cBhvr>
                                      <p:to>
                                        <a:srgbClr val="4D4D4D"/>
                                      </p:to>
                                    </p:animClr>
                                  </p:child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par>
                                <p:cTn id="71" presetID="3" presetClass="emph" presetSubtype="2" fill="hold" grpId="1" nodeType="withEffect">
                                  <p:stCondLst>
                                    <p:cond delay="0"/>
                                  </p:stCondLst>
                                  <p:childTnLst>
                                    <p:animClr clrSpc="rgb" dir="cw">
                                      <p:cBhvr override="childStyle">
                                        <p:cTn id="72" dur="2000" fill="hold"/>
                                        <p:tgtEl>
                                          <p:spTgt spid="2">
                                            <p:txEl>
                                              <p:pRg st="11" end="11"/>
                                            </p:txEl>
                                          </p:spTgt>
                                        </p:tgtEl>
                                        <p:attrNameLst>
                                          <p:attrName>style.color</p:attrName>
                                        </p:attrNameLst>
                                      </p:cBhvr>
                                      <p:to>
                                        <a:srgbClr val="4D4D4D"/>
                                      </p:to>
                                    </p:animClr>
                                  </p:childTnLst>
                                </p:cTn>
                              </p:par>
                              <p:par>
                                <p:cTn id="73" presetID="3" presetClass="emph" presetSubtype="2" fill="hold" grpId="1" nodeType="withEffect">
                                  <p:stCondLst>
                                    <p:cond delay="0"/>
                                  </p:stCondLst>
                                  <p:childTnLst>
                                    <p:animClr clrSpc="rgb" dir="cw">
                                      <p:cBhvr override="childStyle">
                                        <p:cTn id="74" dur="2000" fill="hold"/>
                                        <p:tgtEl>
                                          <p:spTgt spid="2">
                                            <p:txEl>
                                              <p:pRg st="12" end="12"/>
                                            </p:txEl>
                                          </p:spTgt>
                                        </p:tgtEl>
                                        <p:attrNameLst>
                                          <p:attrName>style.color</p:attrName>
                                        </p:attrNameLst>
                                      </p:cBhvr>
                                      <p:to>
                                        <a:srgbClr val="4D4D4D"/>
                                      </p:to>
                                    </p:animClr>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2" nodeType="clickEffect">
                                  <p:stCondLst>
                                    <p:cond delay="0"/>
                                  </p:stCondLst>
                                  <p:childTnLst>
                                    <p:set>
                                      <p:cBhvr>
                                        <p:cTn id="78" dur="1" fill="hold">
                                          <p:stCondLst>
                                            <p:cond delay="0"/>
                                          </p:stCondLst>
                                        </p:cTn>
                                        <p:tgtEl>
                                          <p:spTgt spid="2">
                                            <p:bg/>
                                          </p:spTgt>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par>
                                <p:cTn id="87" presetID="3" presetClass="emph" presetSubtype="2" fill="hold" grpId="0" nodeType="withEffect">
                                  <p:stCondLst>
                                    <p:cond delay="0"/>
                                  </p:stCondLst>
                                  <p:childTnLst>
                                    <p:animClr clrSpc="rgb" dir="cw">
                                      <p:cBhvr override="childStyle">
                                        <p:cTn id="88"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1" nodeType="withEffect">
                                  <p:stCondLst>
                                    <p:cond delay="0"/>
                                  </p:stCondLst>
                                  <p:childTnLst>
                                    <p:animClr clrSpc="rgb" dir="cw">
                                      <p:cBhvr override="childStyle">
                                        <p:cTn id="90" dur="2000" fill="hold"/>
                                        <p:tgtEl>
                                          <p:spTgt spid="2">
                                            <p:txEl>
                                              <p:pRg st="12" end="12"/>
                                            </p:txEl>
                                          </p:spTgt>
                                        </p:tgtEl>
                                        <p:attrNameLst>
                                          <p:attrName>style.color</p:attrName>
                                        </p:attrNameLst>
                                      </p:cBhvr>
                                      <p:to>
                                        <a:srgbClr val="4D4D4D"/>
                                      </p:to>
                                    </p:animClr>
                                  </p:childTnLst>
                                </p:cTn>
                              </p:par>
                              <p:par>
                                <p:cTn id="91" presetID="3" presetClass="emph" presetSubtype="2" fill="hold" grpId="1" nodeType="withEffect">
                                  <p:stCondLst>
                                    <p:cond delay="0"/>
                                  </p:stCondLst>
                                  <p:childTnLst>
                                    <p:animClr clrSpc="rgb" dir="cw">
                                      <p:cBhvr override="childStyle">
                                        <p:cTn id="92" dur="2000" fill="hold"/>
                                        <p:tgtEl>
                                          <p:spTgt spid="2">
                                            <p:txEl>
                                              <p:pRg st="7" end="7"/>
                                            </p:txEl>
                                          </p:spTgt>
                                        </p:tgtEl>
                                        <p:attrNameLst>
                                          <p:attrName>style.color</p:attrName>
                                        </p:attrNameLst>
                                      </p:cBhvr>
                                      <p:to>
                                        <a:srgbClr val="4D4D4D"/>
                                      </p:to>
                                    </p:animClr>
                                  </p:childTnLst>
                                </p:cTn>
                              </p:par>
                              <p:par>
                                <p:cTn id="93" presetID="3" presetClass="emph" presetSubtype="2" fill="hold" grpId="1" nodeType="withEffect">
                                  <p:stCondLst>
                                    <p:cond delay="0"/>
                                  </p:stCondLst>
                                  <p:childTnLst>
                                    <p:animClr clrSpc="rgb" dir="cw">
                                      <p:cBhvr override="childStyle">
                                        <p:cTn id="94" dur="2000" fill="hold"/>
                                        <p:tgtEl>
                                          <p:spTgt spid="2">
                                            <p:txEl>
                                              <p:pRg st="9" end="9"/>
                                            </p:txEl>
                                          </p:spTgt>
                                        </p:tgtEl>
                                        <p:attrNameLst>
                                          <p:attrName>style.color</p:attrName>
                                        </p:attrNameLst>
                                      </p:cBhvr>
                                      <p:to>
                                        <a:srgbClr val="4D4D4D"/>
                                      </p:to>
                                    </p:animClr>
                                  </p:childTnLst>
                                </p:cTn>
                              </p:par>
                              <p:par>
                                <p:cTn id="95" presetID="3" presetClass="emph" presetSubtype="2" fill="hold" grpId="1" nodeType="withEffect">
                                  <p:stCondLst>
                                    <p:cond delay="0"/>
                                  </p:stCondLst>
                                  <p:childTnLst>
                                    <p:animClr clrSpc="rgb" dir="cw">
                                      <p:cBhvr override="childStyle">
                                        <p:cTn id="96" dur="2000" fill="hold"/>
                                        <p:tgtEl>
                                          <p:spTgt spid="2">
                                            <p:txEl>
                                              <p:pRg st="10" end="10"/>
                                            </p:txEl>
                                          </p:spTgt>
                                        </p:tgtEl>
                                        <p:attrNameLst>
                                          <p:attrName>style.color</p:attrName>
                                        </p:attrNameLst>
                                      </p:cBhvr>
                                      <p:to>
                                        <a:srgbClr val="4D4D4D"/>
                                      </p:to>
                                    </p:animClr>
                                  </p:childTnLst>
                                </p:cTn>
                              </p:par>
                            </p:childTnLst>
                          </p:cTn>
                        </p:par>
                      </p:childTnLst>
                    </p:cTn>
                  </p:par>
                  <p:par>
                    <p:cTn id="97" fill="hold">
                      <p:stCondLst>
                        <p:cond delay="indefinite"/>
                      </p:stCondLst>
                      <p:childTnLst>
                        <p:par>
                          <p:cTn id="98" fill="hold">
                            <p:stCondLst>
                              <p:cond delay="0"/>
                            </p:stCondLst>
                            <p:childTnLst>
                              <p:par>
                                <p:cTn id="99" presetID="1" presetClass="exit" presetSubtype="0" fill="hold" grpId="2" nodeType="clickEffect">
                                  <p:stCondLst>
                                    <p:cond delay="0"/>
                                  </p:stCondLst>
                                  <p:childTnLst>
                                    <p:set>
                                      <p:cBhvr>
                                        <p:cTn id="10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971843943"/>
              </p:ext>
            </p:extLst>
          </p:nvPr>
        </p:nvGraphicFramePr>
        <p:xfrm>
          <a:off x="863588" y="1052736"/>
          <a:ext cx="7416824" cy="4539853"/>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422491">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6809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576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76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495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1650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57669">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1891560"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655784"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468581"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283968"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079264"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a:picLocks noChangeAspect="1"/>
          </p:cNvPicPr>
          <p:nvPr/>
        </p:nvPicPr>
        <p:blipFill>
          <a:blip r:embed="rId8"/>
          <a:stretch>
            <a:fillRect/>
          </a:stretch>
        </p:blipFill>
        <p:spPr>
          <a:xfrm>
            <a:off x="5676353" y="2492896"/>
            <a:ext cx="354772" cy="354772"/>
          </a:xfrm>
          <a:prstGeom prst="rect">
            <a:avLst/>
          </a:prstGeom>
        </p:spPr>
      </p:pic>
      <p:pic>
        <p:nvPicPr>
          <p:cNvPr id="7" name="圖片 6">
            <a:extLst>
              <a:ext uri="{FF2B5EF4-FFF2-40B4-BE49-F238E27FC236}">
                <a16:creationId xmlns:a16="http://schemas.microsoft.com/office/drawing/2014/main" id="{4CC92E4B-62B0-C53C-B046-1477C4144B5B}"/>
              </a:ext>
            </a:extLst>
          </p:cNvPr>
          <p:cNvPicPr>
            <a:picLocks noChangeAspect="1"/>
          </p:cNvPicPr>
          <p:nvPr/>
        </p:nvPicPr>
        <p:blipFill>
          <a:blip r:embed="rId9"/>
          <a:stretch>
            <a:fillRect/>
          </a:stretch>
        </p:blipFill>
        <p:spPr>
          <a:xfrm>
            <a:off x="5640350" y="1916832"/>
            <a:ext cx="426779" cy="432047"/>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939583"/>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a:picLocks noChangeAspect="1"/>
          </p:cNvPicPr>
          <p:nvPr/>
        </p:nvPicPr>
        <p:blipFill>
          <a:blip r:embed="rId11"/>
          <a:stretch>
            <a:fillRect/>
          </a:stretch>
        </p:blipFill>
        <p:spPr>
          <a:xfrm>
            <a:off x="5676353" y="4365881"/>
            <a:ext cx="354772" cy="359263"/>
          </a:xfrm>
          <a:prstGeom prst="rect">
            <a:avLst/>
          </a:prstGeom>
        </p:spPr>
      </p:pic>
      <p:pic>
        <p:nvPicPr>
          <p:cNvPr id="19" name="圖片 18">
            <a:extLst>
              <a:ext uri="{FF2B5EF4-FFF2-40B4-BE49-F238E27FC236}">
                <a16:creationId xmlns:a16="http://schemas.microsoft.com/office/drawing/2014/main" id="{E2FD6F41-AD98-7CEC-1D2B-AB39C7F5F811}"/>
              </a:ext>
            </a:extLst>
          </p:cNvPr>
          <p:cNvPicPr>
            <a:picLocks noChangeAspect="1"/>
          </p:cNvPicPr>
          <p:nvPr/>
        </p:nvPicPr>
        <p:blipFill>
          <a:blip r:embed="rId12"/>
          <a:stretch>
            <a:fillRect/>
          </a:stretch>
        </p:blipFill>
        <p:spPr>
          <a:xfrm>
            <a:off x="6961978" y="4365880"/>
            <a:ext cx="387580" cy="359263"/>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19AB00-4371-F404-692F-68971E87673F}"/>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26ACEA48-3E4C-5184-DBDE-1CD1E7539829}"/>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pic>
        <p:nvPicPr>
          <p:cNvPr id="6" name="圖片 5">
            <a:extLst>
              <a:ext uri="{FF2B5EF4-FFF2-40B4-BE49-F238E27FC236}">
                <a16:creationId xmlns:a16="http://schemas.microsoft.com/office/drawing/2014/main" id="{3741FF3A-ABA5-67AB-83D1-06985DA790EE}"/>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12160" y="1844824"/>
            <a:ext cx="2367698" cy="1299459"/>
          </a:xfrm>
          <a:prstGeom prst="rect">
            <a:avLst/>
          </a:prstGeom>
          <a:effectLst>
            <a:glow rad="63500">
              <a:schemeClr val="accent1">
                <a:satMod val="175000"/>
                <a:alpha val="40000"/>
              </a:schemeClr>
            </a:glow>
          </a:effectLst>
        </p:spPr>
      </p:pic>
      <p:sp>
        <p:nvSpPr>
          <p:cNvPr id="7" name="標題 1">
            <a:extLst>
              <a:ext uri="{FF2B5EF4-FFF2-40B4-BE49-F238E27FC236}">
                <a16:creationId xmlns:a16="http://schemas.microsoft.com/office/drawing/2014/main" id="{9845D088-7104-5A0D-5F8B-C629102AD07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Tree>
    <p:extLst>
      <p:ext uri="{BB962C8B-B14F-4D97-AF65-F5344CB8AC3E}">
        <p14:creationId xmlns:p14="http://schemas.microsoft.com/office/powerpoint/2010/main" val="29573963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9672"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08325"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633376"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633376"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199216139"/>
              </p:ext>
            </p:extLst>
          </p:nvPr>
        </p:nvGraphicFramePr>
        <p:xfrm>
          <a:off x="3982141"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4177301"/>
              </p:ext>
            </p:extLst>
          </p:nvPr>
        </p:nvGraphicFramePr>
        <p:xfrm>
          <a:off x="7380314" y="3285863"/>
          <a:ext cx="734628" cy="548640"/>
        </p:xfrm>
        <a:graphic>
          <a:graphicData uri="http://schemas.openxmlformats.org/drawingml/2006/table">
            <a:tbl>
              <a:tblPr firstRow="1" bandRow="1">
                <a:tableStyleId>{5C22544A-7EE6-4342-B048-85BDC9FD1C3A}</a:tableStyleId>
              </a:tblPr>
              <a:tblGrid>
                <a:gridCol w="73462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3216491121"/>
              </p:ext>
            </p:extLst>
          </p:nvPr>
        </p:nvGraphicFramePr>
        <p:xfrm>
          <a:off x="539552"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625609498"/>
              </p:ext>
            </p:extLst>
          </p:nvPr>
        </p:nvGraphicFramePr>
        <p:xfrm>
          <a:off x="539553"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265289325"/>
              </p:ext>
            </p:extLst>
          </p:nvPr>
        </p:nvGraphicFramePr>
        <p:xfrm>
          <a:off x="7751068"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91655252"/>
              </p:ext>
            </p:extLst>
          </p:nvPr>
        </p:nvGraphicFramePr>
        <p:xfrm>
          <a:off x="7740354" y="4360834"/>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3324911064"/>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041630638"/>
              </p:ext>
            </p:extLst>
          </p:nvPr>
        </p:nvGraphicFramePr>
        <p:xfrm>
          <a:off x="539553"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1459956919"/>
              </p:ext>
            </p:extLst>
          </p:nvPr>
        </p:nvGraphicFramePr>
        <p:xfrm>
          <a:off x="539552"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a:t>RoPE()</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solidFill>
            <a:schemeClr val="bg1"/>
          </a:solidFill>
          <a:ln w="2540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012160" y="1456910"/>
            <a:ext cx="422451" cy="526736"/>
          </a:xfrm>
          <a:prstGeom prst="rect">
            <a:avLst/>
          </a:prstGeom>
          <a:noFill/>
        </p:spPr>
        <p:txBody>
          <a:bodyPr wrap="none" lIns="0" tIns="0" rIns="0" bIns="0" anchor="ctr" anchorCtr="1">
            <a:noAutofit/>
          </a:bodyPr>
          <a:lstStyle/>
          <a:p>
            <a:pP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SoftMax to obtain the probability-based weights.</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405568978"/>
              </p:ext>
            </p:extLst>
          </p:nvPr>
        </p:nvGraphicFramePr>
        <p:xfrm>
          <a:off x="6485453" y="1124744"/>
          <a:ext cx="2437328" cy="107232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stCxn id="10" idx="3"/>
            <a:endCxn id="122" idx="1"/>
          </p:cNvCxnSpPr>
          <p:nvPr/>
        </p:nvCxnSpPr>
        <p:spPr>
          <a:xfrm>
            <a:off x="5974803" y="3623992"/>
            <a:ext cx="646372" cy="1118461"/>
          </a:xfrm>
          <a:prstGeom prst="bentConnector3">
            <a:avLst/>
          </a:prstGeom>
          <a:ln w="28575">
            <a:solidFill>
              <a:schemeClr val="accent1">
                <a:lumMod val="60000"/>
                <a:lumOff val="40000"/>
              </a:schemeClr>
            </a:solidFill>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BDF14932-8C74-5F1A-4C71-8DA451197583}"/>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pic>
        <p:nvPicPr>
          <p:cNvPr id="6" name="圖片 5">
            <a:extLst>
              <a:ext uri="{FF2B5EF4-FFF2-40B4-BE49-F238E27FC236}">
                <a16:creationId xmlns:a16="http://schemas.microsoft.com/office/drawing/2014/main" id="{5B447E22-5A1E-EF0E-F809-322E50BF51C7}"/>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12160" y="1844824"/>
            <a:ext cx="2367698" cy="1299459"/>
          </a:xfrm>
          <a:prstGeom prst="rect">
            <a:avLst/>
          </a:prstGeom>
          <a:effectLst>
            <a:glow rad="63500">
              <a:schemeClr val="accent1">
                <a:satMod val="175000"/>
                <a:alpha val="40000"/>
              </a:schemeClr>
            </a:glow>
          </a:effectLst>
        </p:spPr>
      </p:pic>
      <p:sp>
        <p:nvSpPr>
          <p:cNvPr id="7" name="標題 1">
            <a:extLst>
              <a:ext uri="{FF2B5EF4-FFF2-40B4-BE49-F238E27FC236}">
                <a16:creationId xmlns:a16="http://schemas.microsoft.com/office/drawing/2014/main" id="{ACF18A52-8D6D-846D-45B8-1A03D18B2B5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pic>
        <p:nvPicPr>
          <p:cNvPr id="3" name="圖片 2">
            <a:extLst>
              <a:ext uri="{FF2B5EF4-FFF2-40B4-BE49-F238E27FC236}">
                <a16:creationId xmlns:a16="http://schemas.microsoft.com/office/drawing/2014/main" id="{4A400AFA-51A1-CF40-84EE-AA519BB9D299}"/>
              </a:ext>
            </a:extLst>
          </p:cNvPr>
          <p:cNvPicPr>
            <a:picLocks noChangeAspect="1"/>
          </p:cNvPicPr>
          <p:nvPr/>
        </p:nvPicPr>
        <p:blipFill>
          <a:blip r:embed="rId4"/>
          <a:stretch>
            <a:fillRect/>
          </a:stretch>
        </p:blipFill>
        <p:spPr>
          <a:xfrm>
            <a:off x="162372" y="2634995"/>
            <a:ext cx="4578946" cy="1591079"/>
          </a:xfrm>
          <a:prstGeom prst="rect">
            <a:avLst/>
          </a:prstGeom>
        </p:spPr>
      </p:pic>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1600" y="0"/>
            <a:ext cx="7992888" cy="3684041"/>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0" y="1515619"/>
            <a:ext cx="9144000" cy="320952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907704" y="4897482"/>
            <a:ext cx="4509946" cy="1087989"/>
          </a:xfrm>
          <a:prstGeom prst="rect">
            <a:avLst/>
          </a:prstGeom>
          <a:effectLst>
            <a:glow rad="76200">
              <a:srgbClr val="FFC000">
                <a:alpha val="40000"/>
              </a:srgbClr>
            </a:glow>
            <a:softEdge rad="12700"/>
          </a:effectLst>
        </p:spPr>
      </p:pic>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13" name="文字方塊 12">
            <a:extLst>
              <a:ext uri="{FF2B5EF4-FFF2-40B4-BE49-F238E27FC236}">
                <a16:creationId xmlns:a16="http://schemas.microsoft.com/office/drawing/2014/main" id="{6AC4EF48-5297-82D5-AB5E-975ED6827326}"/>
              </a:ext>
            </a:extLst>
          </p:cNvPr>
          <p:cNvSpPr txBox="1"/>
          <p:nvPr/>
        </p:nvSpPr>
        <p:spPr>
          <a:xfrm>
            <a:off x="3419872" y="4641731"/>
            <a:ext cx="936104" cy="1523573"/>
          </a:xfrm>
          <a:prstGeom prst="rect">
            <a:avLst/>
          </a:prstGeom>
          <a:noFill/>
          <a:ln w="25400">
            <a:solidFill>
              <a:schemeClr val="accent2">
                <a:lumMod val="60000"/>
                <a:lumOff val="40000"/>
              </a:schemeClr>
            </a:solidFill>
            <a:prstDash val="sysDot"/>
          </a:ln>
        </p:spPr>
        <p:txBody>
          <a:bodyPr wrap="none" lIns="0" tIns="0" rIns="0" bIns="0" anchor="b" anchorCtr="1">
            <a:noAutofit/>
          </a:bodyPr>
          <a:lstStyle/>
          <a:p>
            <a:pPr algn="ctr">
              <a:lnSpc>
                <a:spcPts val="1400"/>
              </a:lnSpc>
              <a:buNone/>
            </a:pPr>
            <a:r>
              <a:rPr lang="en-US" altLang="zh-TW" sz="1400" b="1" u="none" strike="noStrike" dirty="0">
                <a:solidFill>
                  <a:schemeClr val="accent2"/>
                </a:solidFill>
                <a:effectLst/>
              </a:rPr>
              <a:t>AI Server</a:t>
            </a:r>
          </a:p>
        </p:txBody>
      </p:sp>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Cost Structure</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A7D844D1-E62B-BBB6-6D4E-D82EA4049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844824"/>
            <a:ext cx="4369532" cy="2459783"/>
          </a:xfrm>
          <a:prstGeom prst="rect">
            <a:avLst/>
          </a:prstGeom>
        </p:spPr>
      </p:pic>
      <p:sp>
        <p:nvSpPr>
          <p:cNvPr id="4" name="文字方塊 3">
            <a:extLst>
              <a:ext uri="{FF2B5EF4-FFF2-40B4-BE49-F238E27FC236}">
                <a16:creationId xmlns:a16="http://schemas.microsoft.com/office/drawing/2014/main" id="{9643FFB5-2C2F-48A8-5E22-3E982FB04A13}"/>
              </a:ext>
            </a:extLst>
          </p:cNvPr>
          <p:cNvSpPr txBox="1"/>
          <p:nvPr/>
        </p:nvSpPr>
        <p:spPr>
          <a:xfrm>
            <a:off x="3563888" y="5381600"/>
            <a:ext cx="648072" cy="423664"/>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GPU</a:t>
            </a:r>
          </a:p>
          <a:p>
            <a:pPr algn="ctr">
              <a:lnSpc>
                <a:spcPts val="1400"/>
              </a:lnSpc>
              <a:buNone/>
            </a:pPr>
            <a:r>
              <a:rPr lang="en-US" altLang="zh-TW" sz="1000" dirty="0"/>
              <a:t>(x80)</a:t>
            </a:r>
            <a:endParaRPr lang="en-US" altLang="zh-TW" sz="1000" u="none" strike="noStrike" dirty="0">
              <a:effectLst/>
            </a:endParaRPr>
          </a:p>
        </p:txBody>
      </p:sp>
      <p:sp>
        <p:nvSpPr>
          <p:cNvPr id="10" name="文字方塊 9">
            <a:extLst>
              <a:ext uri="{FF2B5EF4-FFF2-40B4-BE49-F238E27FC236}">
                <a16:creationId xmlns:a16="http://schemas.microsoft.com/office/drawing/2014/main" id="{E43D07FD-4BF1-56D5-1E68-5ECFB6C16738}"/>
              </a:ext>
            </a:extLst>
          </p:cNvPr>
          <p:cNvSpPr txBox="1"/>
          <p:nvPr/>
        </p:nvSpPr>
        <p:spPr>
          <a:xfrm>
            <a:off x="80670" y="4581128"/>
            <a:ext cx="2403098"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AI Server =  Design(Chip+Server) + Manufacture(TSMC)</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[Design]: GPU/HBM</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[NV-Link, SerDes] 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[Chip Manufacture]: TSMC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Package (COWOS/COPOS/CPO)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[Server] (</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散熱</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/PCB</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多層數</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br>
            <a:endParaRPr lang="zh-TW" altLang="en-US" dirty="0"/>
          </a:p>
        </p:txBody>
      </p:sp>
      <p:sp>
        <p:nvSpPr>
          <p:cNvPr id="11" name="文字方塊 10">
            <a:extLst>
              <a:ext uri="{FF2B5EF4-FFF2-40B4-BE49-F238E27FC236}">
                <a16:creationId xmlns:a16="http://schemas.microsoft.com/office/drawing/2014/main" id="{3EF71A41-6BDB-2DFD-3FF6-8C6F8F33AD0C}"/>
              </a:ext>
            </a:extLst>
          </p:cNvPr>
          <p:cNvSpPr txBox="1"/>
          <p:nvPr/>
        </p:nvSpPr>
        <p:spPr>
          <a:xfrm>
            <a:off x="3563888" y="4797153"/>
            <a:ext cx="648072" cy="432048"/>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HBM</a:t>
            </a:r>
          </a:p>
        </p:txBody>
      </p:sp>
      <p:sp>
        <p:nvSpPr>
          <p:cNvPr id="12" name="文字方塊 11">
            <a:extLst>
              <a:ext uri="{FF2B5EF4-FFF2-40B4-BE49-F238E27FC236}">
                <a16:creationId xmlns:a16="http://schemas.microsoft.com/office/drawing/2014/main" id="{88606B3C-AD5F-004E-06E9-7CF2D013060F}"/>
              </a:ext>
            </a:extLst>
          </p:cNvPr>
          <p:cNvSpPr txBox="1"/>
          <p:nvPr/>
        </p:nvSpPr>
        <p:spPr>
          <a:xfrm>
            <a:off x="2483768" y="5830899"/>
            <a:ext cx="648072" cy="455049"/>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dirty="0">
                <a:solidFill>
                  <a:schemeClr val="accent2"/>
                </a:solidFill>
              </a:rPr>
              <a:t>N</a:t>
            </a:r>
            <a:r>
              <a:rPr lang="en-US" altLang="zh-TW" sz="1400" b="1" u="none" strike="noStrike" dirty="0">
                <a:solidFill>
                  <a:schemeClr val="accent2"/>
                </a:solidFill>
                <a:effectLst/>
              </a:rPr>
              <a:t>PU</a:t>
            </a:r>
            <a:br>
              <a:rPr lang="en-US" altLang="zh-TW" sz="1400" b="1" u="none" strike="noStrike" dirty="0">
                <a:solidFill>
                  <a:schemeClr val="accent2"/>
                </a:solidFill>
                <a:effectLst/>
              </a:rPr>
            </a:br>
            <a:r>
              <a:rPr lang="en-US" altLang="zh-TW" sz="1200" u="none" strike="noStrike" dirty="0">
                <a:effectLst/>
              </a:rPr>
              <a:t>TPU/LPU</a:t>
            </a:r>
            <a:endParaRPr lang="en-US" altLang="zh-TW" sz="1400" b="1" u="none" strike="noStrike" dirty="0">
              <a:effectLst/>
            </a:endParaRPr>
          </a:p>
        </p:txBody>
      </p:sp>
      <p:sp>
        <p:nvSpPr>
          <p:cNvPr id="14" name="文字方塊 13">
            <a:extLst>
              <a:ext uri="{FF2B5EF4-FFF2-40B4-BE49-F238E27FC236}">
                <a16:creationId xmlns:a16="http://schemas.microsoft.com/office/drawing/2014/main" id="{1802B229-6A59-D68D-4D41-00B5AA0FC4D1}"/>
              </a:ext>
            </a:extLst>
          </p:cNvPr>
          <p:cNvSpPr txBox="1"/>
          <p:nvPr/>
        </p:nvSpPr>
        <p:spPr>
          <a:xfrm>
            <a:off x="3563888" y="5229200"/>
            <a:ext cx="648072" cy="152400"/>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000" b="1" u="none" strike="noStrike" dirty="0">
                <a:effectLst/>
              </a:rPr>
              <a:t>COWOS</a:t>
            </a:r>
          </a:p>
        </p:txBody>
      </p:sp>
      <p:graphicFrame>
        <p:nvGraphicFramePr>
          <p:cNvPr id="15" name="表格 14">
            <a:extLst>
              <a:ext uri="{FF2B5EF4-FFF2-40B4-BE49-F238E27FC236}">
                <a16:creationId xmlns:a16="http://schemas.microsoft.com/office/drawing/2014/main" id="{0D967E37-337C-77DC-563E-364C43929D05}"/>
              </a:ext>
            </a:extLst>
          </p:cNvPr>
          <p:cNvGraphicFramePr>
            <a:graphicFrameLocks noGrp="1"/>
          </p:cNvGraphicFramePr>
          <p:nvPr>
            <p:extLst>
              <p:ext uri="{D42A27DB-BD31-4B8C-83A1-F6EECF244321}">
                <p14:modId xmlns:p14="http://schemas.microsoft.com/office/powerpoint/2010/main" val="2907520796"/>
              </p:ext>
            </p:extLst>
          </p:nvPr>
        </p:nvGraphicFramePr>
        <p:xfrm>
          <a:off x="7166148" y="4480279"/>
          <a:ext cx="1726332" cy="1198820"/>
        </p:xfrm>
        <a:graphic>
          <a:graphicData uri="http://schemas.openxmlformats.org/drawingml/2006/table">
            <a:tbl>
              <a:tblPr firstRow="1" bandRow="1">
                <a:tableStyleId>{5C22544A-7EE6-4342-B048-85BDC9FD1C3A}</a:tableStyleId>
              </a:tblPr>
              <a:tblGrid>
                <a:gridCol w="1016933">
                  <a:extLst>
                    <a:ext uri="{9D8B030D-6E8A-4147-A177-3AD203B41FA5}">
                      <a16:colId xmlns:a16="http://schemas.microsoft.com/office/drawing/2014/main" val="3669842267"/>
                    </a:ext>
                  </a:extLst>
                </a:gridCol>
                <a:gridCol w="709399">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AI Chip</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$300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$1200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CoWoS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$1500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NV</a:t>
                      </a:r>
                      <a:r>
                        <a:rPr lang="zh-TW" altLang="en-US" sz="1200" b="0" dirty="0"/>
                        <a:t> </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10*$3000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bl>
          </a:graphicData>
        </a:graphic>
      </p:graphicFrame>
      <p:graphicFrame>
        <p:nvGraphicFramePr>
          <p:cNvPr id="16" name="表格 15">
            <a:extLst>
              <a:ext uri="{FF2B5EF4-FFF2-40B4-BE49-F238E27FC236}">
                <a16:creationId xmlns:a16="http://schemas.microsoft.com/office/drawing/2014/main" id="{55C7A56F-9C32-25C0-494E-54C7295443EA}"/>
              </a:ext>
            </a:extLst>
          </p:cNvPr>
          <p:cNvGraphicFramePr>
            <a:graphicFrameLocks noGrp="1"/>
          </p:cNvGraphicFramePr>
          <p:nvPr>
            <p:extLst>
              <p:ext uri="{D42A27DB-BD31-4B8C-83A1-F6EECF244321}">
                <p14:modId xmlns:p14="http://schemas.microsoft.com/office/powerpoint/2010/main" val="1656070497"/>
              </p:ext>
            </p:extLst>
          </p:nvPr>
        </p:nvGraphicFramePr>
        <p:xfrm>
          <a:off x="5364088" y="4480279"/>
          <a:ext cx="1440160" cy="1935390"/>
        </p:xfrm>
        <a:graphic>
          <a:graphicData uri="http://schemas.openxmlformats.org/drawingml/2006/table">
            <a:tbl>
              <a:tblPr firstRow="1" bandRow="1">
                <a:tableStyleId>{5C22544A-7EE6-4342-B048-85BDC9FD1C3A}</a:tableStyleId>
              </a:tblPr>
              <a:tblGrid>
                <a:gridCol w="1008112">
                  <a:extLst>
                    <a:ext uri="{9D8B030D-6E8A-4147-A177-3AD203B41FA5}">
                      <a16:colId xmlns:a16="http://schemas.microsoft.com/office/drawing/2014/main" val="3669842267"/>
                    </a:ext>
                  </a:extLst>
                </a:gridCol>
                <a:gridCol w="432048">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Vera Rubin ($7.8M)</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51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25</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3</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PCB</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1</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Other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47291965"/>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MLCC/ABF/Heat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/Power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4069503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1164091"/>
                  </a:ext>
                </a:extLst>
              </a:tr>
            </a:tbl>
          </a:graphicData>
        </a:graphic>
      </p:graphicFrame>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155852898"/>
              </p:ext>
            </p:extLst>
          </p:nvPr>
        </p:nvGraphicFramePr>
        <p:xfrm>
          <a:off x="293763" y="4372727"/>
          <a:ext cx="1782533" cy="1158201"/>
        </p:xfrm>
        <a:graphic>
          <a:graphicData uri="http://schemas.openxmlformats.org/drawingml/2006/table">
            <a:tbl>
              <a:tblPr firstRow="1" bandRow="1">
                <a:tableStyleId>{5C22544A-7EE6-4342-B048-85BDC9FD1C3A}</a:tableStyleId>
              </a:tblPr>
              <a:tblGrid>
                <a:gridCol w="1782533">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14490171"/>
                  </a:ext>
                </a:extLst>
              </a:tr>
            </a:tbl>
          </a:graphicData>
        </a:graphic>
      </p:graphicFrame>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3688914017"/>
              </p:ext>
            </p:extLst>
          </p:nvPr>
        </p:nvGraphicFramePr>
        <p:xfrm>
          <a:off x="295176" y="2543197"/>
          <a:ext cx="1782533" cy="1568191"/>
        </p:xfrm>
        <a:graphic>
          <a:graphicData uri="http://schemas.openxmlformats.org/drawingml/2006/table">
            <a:tbl>
              <a:tblPr firstRow="1" bandRow="1">
                <a:tableStyleId>{5C22544A-7EE6-4342-B048-85BDC9FD1C3A}</a:tableStyleId>
              </a:tblPr>
              <a:tblGrid>
                <a:gridCol w="1782533">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PCB: 20~30</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HBM</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841383449"/>
                  </a:ext>
                </a:extLst>
              </a:tr>
            </a:tbl>
          </a:graphicData>
        </a:graphic>
      </p:graphicFrame>
      <p:grpSp>
        <p:nvGrpSpPr>
          <p:cNvPr id="70" name="群組 69">
            <a:extLst>
              <a:ext uri="{FF2B5EF4-FFF2-40B4-BE49-F238E27FC236}">
                <a16:creationId xmlns:a16="http://schemas.microsoft.com/office/drawing/2014/main" id="{676B16C7-0EFC-2240-FA31-8A4732ED726D}"/>
              </a:ext>
            </a:extLst>
          </p:cNvPr>
          <p:cNvGrpSpPr/>
          <p:nvPr/>
        </p:nvGrpSpPr>
        <p:grpSpPr>
          <a:xfrm>
            <a:off x="2877931" y="2349699"/>
            <a:ext cx="5286649" cy="3924287"/>
            <a:chOff x="2957759" y="2349699"/>
            <a:chExt cx="5286649" cy="3924287"/>
          </a:xfrm>
        </p:grpSpPr>
        <p:grpSp>
          <p:nvGrpSpPr>
            <p:cNvPr id="56" name="群組 55">
              <a:extLst>
                <a:ext uri="{FF2B5EF4-FFF2-40B4-BE49-F238E27FC236}">
                  <a16:creationId xmlns:a16="http://schemas.microsoft.com/office/drawing/2014/main" id="{7E729EF2-1324-CB02-728B-C79D90667E76}"/>
                </a:ext>
              </a:extLst>
            </p:cNvPr>
            <p:cNvGrpSpPr/>
            <p:nvPr/>
          </p:nvGrpSpPr>
          <p:grpSpPr>
            <a:xfrm>
              <a:off x="2957759" y="3904631"/>
              <a:ext cx="5286649" cy="2369355"/>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286649"/>
                  <a:gd name="csY0" fmla="*/ 69612 h 2369355"/>
                  <a:gd name="csX1" fmla="*/ 69612 w 5286649"/>
                  <a:gd name="csY1" fmla="*/ 0 h 2369355"/>
                  <a:gd name="csX2" fmla="*/ 693022 w 5286649"/>
                  <a:gd name="csY2" fmla="*/ 0 h 2369355"/>
                  <a:gd name="csX3" fmla="*/ 1110536 w 5286649"/>
                  <a:gd name="csY3" fmla="*/ 0 h 2369355"/>
                  <a:gd name="csX4" fmla="*/ 1579523 w 5286649"/>
                  <a:gd name="csY4" fmla="*/ 0 h 2369355"/>
                  <a:gd name="csX5" fmla="*/ 2202934 w 5286649"/>
                  <a:gd name="csY5" fmla="*/ 0 h 2369355"/>
                  <a:gd name="csX6" fmla="*/ 2671921 w 5286649"/>
                  <a:gd name="csY6" fmla="*/ 0 h 2369355"/>
                  <a:gd name="csX7" fmla="*/ 3089435 w 5286649"/>
                  <a:gd name="csY7" fmla="*/ 0 h 2369355"/>
                  <a:gd name="csX8" fmla="*/ 3558422 w 5286649"/>
                  <a:gd name="csY8" fmla="*/ 0 h 2369355"/>
                  <a:gd name="csX9" fmla="*/ 4078884 w 5286649"/>
                  <a:gd name="csY9" fmla="*/ 0 h 2369355"/>
                  <a:gd name="csX10" fmla="*/ 4650820 w 5286649"/>
                  <a:gd name="csY10" fmla="*/ 0 h 2369355"/>
                  <a:gd name="csX11" fmla="*/ 5217037 w 5286649"/>
                  <a:gd name="csY11" fmla="*/ 0 h 2369355"/>
                  <a:gd name="csX12" fmla="*/ 5286649 w 5286649"/>
                  <a:gd name="csY12" fmla="*/ 69612 h 2369355"/>
                  <a:gd name="csX13" fmla="*/ 5286649 w 5286649"/>
                  <a:gd name="csY13" fmla="*/ 627145 h 2369355"/>
                  <a:gd name="csX14" fmla="*/ 5286649 w 5286649"/>
                  <a:gd name="csY14" fmla="*/ 1206979 h 2369355"/>
                  <a:gd name="csX15" fmla="*/ 5286649 w 5286649"/>
                  <a:gd name="csY15" fmla="*/ 1742210 h 2369355"/>
                  <a:gd name="csX16" fmla="*/ 5286649 w 5286649"/>
                  <a:gd name="csY16" fmla="*/ 2299743 h 2369355"/>
                  <a:gd name="csX17" fmla="*/ 5217037 w 5286649"/>
                  <a:gd name="csY17" fmla="*/ 2369355 h 2369355"/>
                  <a:gd name="csX18" fmla="*/ 4645101 w 5286649"/>
                  <a:gd name="csY18" fmla="*/ 2369355 h 2369355"/>
                  <a:gd name="csX19" fmla="*/ 3970216 w 5286649"/>
                  <a:gd name="csY19" fmla="*/ 2369355 h 2369355"/>
                  <a:gd name="csX20" fmla="*/ 3398280 w 5286649"/>
                  <a:gd name="csY20" fmla="*/ 2369355 h 2369355"/>
                  <a:gd name="csX21" fmla="*/ 2723396 w 5286649"/>
                  <a:gd name="csY21" fmla="*/ 2369355 h 2369355"/>
                  <a:gd name="csX22" fmla="*/ 2202934 w 5286649"/>
                  <a:gd name="csY22" fmla="*/ 2369355 h 2369355"/>
                  <a:gd name="csX23" fmla="*/ 1733946 w 5286649"/>
                  <a:gd name="csY23" fmla="*/ 2369355 h 2369355"/>
                  <a:gd name="csX24" fmla="*/ 1162010 w 5286649"/>
                  <a:gd name="csY24" fmla="*/ 2369355 h 2369355"/>
                  <a:gd name="csX25" fmla="*/ 69612 w 5286649"/>
                  <a:gd name="csY25" fmla="*/ 2369355 h 2369355"/>
                  <a:gd name="csX26" fmla="*/ 0 w 5286649"/>
                  <a:gd name="csY26" fmla="*/ 2299743 h 2369355"/>
                  <a:gd name="csX27" fmla="*/ 0 w 5286649"/>
                  <a:gd name="csY27" fmla="*/ 1809114 h 2369355"/>
                  <a:gd name="csX28" fmla="*/ 0 w 5286649"/>
                  <a:gd name="csY28" fmla="*/ 1229280 h 2369355"/>
                  <a:gd name="csX29" fmla="*/ 0 w 5286649"/>
                  <a:gd name="csY29" fmla="*/ 716350 h 2369355"/>
                  <a:gd name="csX30" fmla="*/ 0 w 5286649"/>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286649" h="2369355" fill="none" extrusionOk="0">
                    <a:moveTo>
                      <a:pt x="0" y="69612"/>
                    </a:moveTo>
                    <a:cubicBezTo>
                      <a:pt x="-5133" y="36362"/>
                      <a:pt x="28870" y="4914"/>
                      <a:pt x="69612" y="0"/>
                    </a:cubicBezTo>
                    <a:cubicBezTo>
                      <a:pt x="270835" y="-10597"/>
                      <a:pt x="444141" y="40079"/>
                      <a:pt x="693022" y="0"/>
                    </a:cubicBezTo>
                    <a:cubicBezTo>
                      <a:pt x="941903" y="-40079"/>
                      <a:pt x="939823" y="33396"/>
                      <a:pt x="1110536" y="0"/>
                    </a:cubicBezTo>
                    <a:cubicBezTo>
                      <a:pt x="1281249" y="-33396"/>
                      <a:pt x="1453688" y="29738"/>
                      <a:pt x="1579523" y="0"/>
                    </a:cubicBezTo>
                    <a:cubicBezTo>
                      <a:pt x="1705358" y="-29738"/>
                      <a:pt x="2007242" y="67732"/>
                      <a:pt x="2202934" y="0"/>
                    </a:cubicBezTo>
                    <a:cubicBezTo>
                      <a:pt x="2398626" y="-67732"/>
                      <a:pt x="2443860" y="27492"/>
                      <a:pt x="2671921" y="0"/>
                    </a:cubicBezTo>
                    <a:cubicBezTo>
                      <a:pt x="2899982" y="-27492"/>
                      <a:pt x="2928148" y="37800"/>
                      <a:pt x="3089435" y="0"/>
                    </a:cubicBezTo>
                    <a:cubicBezTo>
                      <a:pt x="3250722" y="-37800"/>
                      <a:pt x="3369250" y="5692"/>
                      <a:pt x="3558422" y="0"/>
                    </a:cubicBezTo>
                    <a:cubicBezTo>
                      <a:pt x="3747594" y="-5692"/>
                      <a:pt x="3835220" y="28518"/>
                      <a:pt x="4078884" y="0"/>
                    </a:cubicBezTo>
                    <a:cubicBezTo>
                      <a:pt x="4322548" y="-28518"/>
                      <a:pt x="4367710" y="43783"/>
                      <a:pt x="4650820" y="0"/>
                    </a:cubicBezTo>
                    <a:cubicBezTo>
                      <a:pt x="4933930" y="-43783"/>
                      <a:pt x="5085179" y="18143"/>
                      <a:pt x="5217037" y="0"/>
                    </a:cubicBezTo>
                    <a:cubicBezTo>
                      <a:pt x="5257815" y="5995"/>
                      <a:pt x="5291077" y="33226"/>
                      <a:pt x="5286649" y="69612"/>
                    </a:cubicBezTo>
                    <a:cubicBezTo>
                      <a:pt x="5301432" y="294650"/>
                      <a:pt x="5271965" y="348775"/>
                      <a:pt x="5286649" y="627145"/>
                    </a:cubicBezTo>
                    <a:cubicBezTo>
                      <a:pt x="5301333" y="905515"/>
                      <a:pt x="5276551" y="1070291"/>
                      <a:pt x="5286649" y="1206979"/>
                    </a:cubicBezTo>
                    <a:cubicBezTo>
                      <a:pt x="5296747" y="1343667"/>
                      <a:pt x="5282837" y="1593540"/>
                      <a:pt x="5286649" y="1742210"/>
                    </a:cubicBezTo>
                    <a:cubicBezTo>
                      <a:pt x="5290461" y="1890880"/>
                      <a:pt x="5261629" y="2090074"/>
                      <a:pt x="5286649" y="2299743"/>
                    </a:cubicBezTo>
                    <a:cubicBezTo>
                      <a:pt x="5286760" y="2343237"/>
                      <a:pt x="5256793" y="2368180"/>
                      <a:pt x="5217037" y="2369355"/>
                    </a:cubicBezTo>
                    <a:cubicBezTo>
                      <a:pt x="4937733" y="2436099"/>
                      <a:pt x="4913604" y="2331204"/>
                      <a:pt x="4645101" y="2369355"/>
                    </a:cubicBezTo>
                    <a:cubicBezTo>
                      <a:pt x="4376598" y="2407506"/>
                      <a:pt x="4302533" y="2359005"/>
                      <a:pt x="3970216" y="2369355"/>
                    </a:cubicBezTo>
                    <a:cubicBezTo>
                      <a:pt x="3637899" y="2379705"/>
                      <a:pt x="3660300" y="2322365"/>
                      <a:pt x="3398280" y="2369355"/>
                    </a:cubicBezTo>
                    <a:cubicBezTo>
                      <a:pt x="3136260" y="2416345"/>
                      <a:pt x="2927905" y="2316908"/>
                      <a:pt x="2723396" y="2369355"/>
                    </a:cubicBezTo>
                    <a:cubicBezTo>
                      <a:pt x="2518887" y="2421802"/>
                      <a:pt x="2400117" y="2366229"/>
                      <a:pt x="2202934" y="2369355"/>
                    </a:cubicBezTo>
                    <a:cubicBezTo>
                      <a:pt x="2005751" y="2372481"/>
                      <a:pt x="1953297" y="2321702"/>
                      <a:pt x="1733946" y="2369355"/>
                    </a:cubicBezTo>
                    <a:cubicBezTo>
                      <a:pt x="1514595" y="2417008"/>
                      <a:pt x="1345817" y="2316418"/>
                      <a:pt x="1162010" y="2369355"/>
                    </a:cubicBezTo>
                    <a:cubicBezTo>
                      <a:pt x="978203" y="2422292"/>
                      <a:pt x="396181" y="2352326"/>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286649" h="2369355" stroke="0" extrusionOk="0">
                    <a:moveTo>
                      <a:pt x="0" y="69612"/>
                    </a:moveTo>
                    <a:cubicBezTo>
                      <a:pt x="-2069" y="29889"/>
                      <a:pt x="25248" y="2221"/>
                      <a:pt x="69612" y="0"/>
                    </a:cubicBezTo>
                    <a:cubicBezTo>
                      <a:pt x="209730" y="-35026"/>
                      <a:pt x="470429" y="58412"/>
                      <a:pt x="744497" y="0"/>
                    </a:cubicBezTo>
                    <a:cubicBezTo>
                      <a:pt x="1018565" y="-58412"/>
                      <a:pt x="1028349" y="46178"/>
                      <a:pt x="1264958" y="0"/>
                    </a:cubicBezTo>
                    <a:cubicBezTo>
                      <a:pt x="1501567" y="-46178"/>
                      <a:pt x="1636960" y="15362"/>
                      <a:pt x="1733946" y="0"/>
                    </a:cubicBezTo>
                    <a:cubicBezTo>
                      <a:pt x="1830932" y="-15362"/>
                      <a:pt x="2132564" y="67213"/>
                      <a:pt x="2357356" y="0"/>
                    </a:cubicBezTo>
                    <a:cubicBezTo>
                      <a:pt x="2582148" y="-67213"/>
                      <a:pt x="2711418" y="8547"/>
                      <a:pt x="2877818" y="0"/>
                    </a:cubicBezTo>
                    <a:cubicBezTo>
                      <a:pt x="3044218" y="-8547"/>
                      <a:pt x="3247400" y="13006"/>
                      <a:pt x="3552703" y="0"/>
                    </a:cubicBezTo>
                    <a:cubicBezTo>
                      <a:pt x="3858006" y="-13006"/>
                      <a:pt x="3921314" y="49493"/>
                      <a:pt x="4021691" y="0"/>
                    </a:cubicBezTo>
                    <a:cubicBezTo>
                      <a:pt x="4122068" y="-49493"/>
                      <a:pt x="4449777" y="46856"/>
                      <a:pt x="4696575" y="0"/>
                    </a:cubicBezTo>
                    <a:cubicBezTo>
                      <a:pt x="4943373" y="-46856"/>
                      <a:pt x="5046126" y="28646"/>
                      <a:pt x="5217037" y="0"/>
                    </a:cubicBezTo>
                    <a:cubicBezTo>
                      <a:pt x="5253819" y="-95"/>
                      <a:pt x="5289208" y="24150"/>
                      <a:pt x="5286649" y="69612"/>
                    </a:cubicBezTo>
                    <a:cubicBezTo>
                      <a:pt x="5312771" y="286955"/>
                      <a:pt x="5248867" y="482645"/>
                      <a:pt x="5286649" y="649446"/>
                    </a:cubicBezTo>
                    <a:cubicBezTo>
                      <a:pt x="5324431" y="816247"/>
                      <a:pt x="5222929" y="1127322"/>
                      <a:pt x="5286649" y="1251581"/>
                    </a:cubicBezTo>
                    <a:cubicBezTo>
                      <a:pt x="5350369" y="1375840"/>
                      <a:pt x="5219967" y="1979595"/>
                      <a:pt x="5286649" y="2299743"/>
                    </a:cubicBezTo>
                    <a:cubicBezTo>
                      <a:pt x="5278924" y="2339457"/>
                      <a:pt x="5251536" y="2366632"/>
                      <a:pt x="5217037" y="2369355"/>
                    </a:cubicBezTo>
                    <a:cubicBezTo>
                      <a:pt x="4999376" y="2400704"/>
                      <a:pt x="4828480" y="2327960"/>
                      <a:pt x="4593627" y="2369355"/>
                    </a:cubicBezTo>
                    <a:cubicBezTo>
                      <a:pt x="4358774" y="2410750"/>
                      <a:pt x="4137403" y="2319467"/>
                      <a:pt x="4021691" y="2369355"/>
                    </a:cubicBezTo>
                    <a:cubicBezTo>
                      <a:pt x="3905979" y="2419243"/>
                      <a:pt x="3791978" y="2368725"/>
                      <a:pt x="3604177" y="2369355"/>
                    </a:cubicBezTo>
                    <a:cubicBezTo>
                      <a:pt x="3416376" y="2369985"/>
                      <a:pt x="3280118" y="2341958"/>
                      <a:pt x="3135190" y="2369355"/>
                    </a:cubicBezTo>
                    <a:cubicBezTo>
                      <a:pt x="2990262" y="2396752"/>
                      <a:pt x="2789428" y="2334602"/>
                      <a:pt x="2460305" y="2369355"/>
                    </a:cubicBezTo>
                    <a:cubicBezTo>
                      <a:pt x="2131183" y="2404108"/>
                      <a:pt x="2005695" y="2330301"/>
                      <a:pt x="1888369" y="2369355"/>
                    </a:cubicBezTo>
                    <a:cubicBezTo>
                      <a:pt x="1771043" y="2408409"/>
                      <a:pt x="1632538" y="2323406"/>
                      <a:pt x="1419381" y="2369355"/>
                    </a:cubicBezTo>
                    <a:cubicBezTo>
                      <a:pt x="1206224" y="2415304"/>
                      <a:pt x="1079955" y="2344300"/>
                      <a:pt x="847445" y="2369355"/>
                    </a:cubicBezTo>
                    <a:cubicBezTo>
                      <a:pt x="614935" y="2394410"/>
                      <a:pt x="357206" y="2287888"/>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88150" y="3926593"/>
                <a:ext cx="610952" cy="610952"/>
              </a:xfrm>
              <a:prstGeom prst="rect">
                <a:avLst/>
              </a:prstGeom>
              <a:effectLst>
                <a:glow rad="127000">
                  <a:schemeClr val="bg2">
                    <a:lumMod val="90000"/>
                    <a:alpha val="80000"/>
                  </a:schemeClr>
                </a:glow>
              </a:effectLst>
            </p:spPr>
          </p:pic>
        </p:grpSp>
        <p:sp>
          <p:nvSpPr>
            <p:cNvPr id="68" name="矩形: 圓角 67">
              <a:extLst>
                <a:ext uri="{FF2B5EF4-FFF2-40B4-BE49-F238E27FC236}">
                  <a16:creationId xmlns:a16="http://schemas.microsoft.com/office/drawing/2014/main" id="{3CF66C3D-095F-45C0-1BFF-5916653C570A}"/>
                </a:ext>
              </a:extLst>
            </p:cNvPr>
            <p:cNvSpPr/>
            <p:nvPr/>
          </p:nvSpPr>
          <p:spPr>
            <a:xfrm>
              <a:off x="3131840" y="2349699"/>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600" b="1" i="0" u="none" strike="noStrike" kern="1200" cap="none" spc="0" normalizeH="0" baseline="0" noProof="0" dirty="0">
                  <a:ln>
                    <a:noFill/>
                  </a:ln>
                  <a:solidFill>
                    <a:srgbClr val="4F81BD">
                      <a:lumMod val="75000"/>
                    </a:srgbClr>
                  </a:solidFill>
                  <a:effectLst/>
                  <a:uLnTx/>
                  <a:uFillTx/>
                  <a:latin typeface="Calibri"/>
                  <a:ea typeface="新細明體" panose="02020500000000000000" pitchFamily="18" charset="-120"/>
                  <a:cs typeface="+mn-cs"/>
                </a:rPr>
                <a:t>Rack</a:t>
              </a:r>
              <a:endParaRPr lang="zh-TW" altLang="en-US" dirty="0"/>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275856" y="2730847"/>
              <a:ext cx="2450420" cy="2526109"/>
            </a:xfrm>
            <a:prstGeom prst="rect">
              <a:avLst/>
            </a:prstGeom>
            <a:solidFill>
              <a:schemeClr val="accent1">
                <a:lumMod val="75000"/>
                <a:alpha val="80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275856" y="5301988"/>
              <a:ext cx="2450366" cy="356880"/>
            </a:xfrm>
            <a:prstGeom prst="rect">
              <a:avLst/>
            </a:prstGeom>
            <a:solidFill>
              <a:schemeClr val="accent1">
                <a:lumMod val="75000"/>
                <a:alpha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275856" y="5708605"/>
              <a:ext cx="2450366" cy="356880"/>
            </a:xfrm>
            <a:prstGeom prst="rect">
              <a:avLst/>
            </a:prstGeom>
            <a:solidFill>
              <a:schemeClr val="accent1">
                <a:lumMod val="75000"/>
                <a:alpha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200534" y="2892121"/>
              <a:ext cx="607391" cy="1300542"/>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b="1" dirty="0">
                    <a:solidFill>
                      <a:schemeClr val="accent1">
                        <a:lumMod val="75000"/>
                      </a:schemeClr>
                    </a:solidFill>
                  </a:rPr>
                  <a:t>Cooling</a:t>
                </a:r>
              </a:p>
              <a:p>
                <a:pPr algn="ctr">
                  <a:lnSpc>
                    <a:spcPts val="1600"/>
                  </a:lnSpc>
                  <a:buNone/>
                </a:pPr>
                <a:r>
                  <a:rPr lang="en-US" altLang="zh-TW" sz="1200" b="1" dirty="0">
                    <a:solidFill>
                      <a:schemeClr val="accent1">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18942" y="2664529"/>
                <a:ext cx="453502" cy="457948"/>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24645" y="2760203"/>
              <a:ext cx="457625" cy="457625"/>
            </a:xfrm>
            <a:prstGeom prst="rect">
              <a:avLst/>
            </a:prstGeom>
          </p:spPr>
        </p:pic>
        <p:grpSp>
          <p:nvGrpSpPr>
            <p:cNvPr id="55" name="群組 54">
              <a:extLst>
                <a:ext uri="{FF2B5EF4-FFF2-40B4-BE49-F238E27FC236}">
                  <a16:creationId xmlns:a16="http://schemas.microsoft.com/office/drawing/2014/main" id="{4DE2592A-D604-3D0C-91DE-89E097153AD3}"/>
                </a:ext>
              </a:extLst>
            </p:cNvPr>
            <p:cNvGrpSpPr/>
            <p:nvPr/>
          </p:nvGrpSpPr>
          <p:grpSpPr>
            <a:xfrm>
              <a:off x="6042134"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6"/>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6"/>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6"/>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7" name="群組 66">
              <a:extLst>
                <a:ext uri="{FF2B5EF4-FFF2-40B4-BE49-F238E27FC236}">
                  <a16:creationId xmlns:a16="http://schemas.microsoft.com/office/drawing/2014/main" id="{2ACCFAC3-9F0E-E898-1912-FE609FA239D1}"/>
                </a:ext>
              </a:extLst>
            </p:cNvPr>
            <p:cNvGrpSpPr/>
            <p:nvPr/>
          </p:nvGrpSpPr>
          <p:grpSpPr>
            <a:xfrm>
              <a:off x="3391706" y="3213984"/>
              <a:ext cx="1701655" cy="1948060"/>
              <a:chOff x="2959658" y="3137124"/>
              <a:chExt cx="1701655" cy="1948060"/>
            </a:xfrm>
          </p:grpSpPr>
          <p:sp>
            <p:nvSpPr>
              <p:cNvPr id="10" name="文字方塊 9">
                <a:extLst>
                  <a:ext uri="{FF2B5EF4-FFF2-40B4-BE49-F238E27FC236}">
                    <a16:creationId xmlns:a16="http://schemas.microsoft.com/office/drawing/2014/main" id="{B464E9F5-9B40-75AB-DE0A-F06FADB1761B}"/>
                  </a:ext>
                </a:extLst>
              </p:cNvPr>
              <p:cNvSpPr txBox="1"/>
              <p:nvPr/>
            </p:nvSpPr>
            <p:spPr>
              <a:xfrm>
                <a:off x="2959658" y="3137124"/>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089725" y="4437012"/>
                <a:ext cx="860849" cy="576164"/>
              </a:xfrm>
              <a:prstGeom prst="rect">
                <a:avLst/>
              </a:prstGeom>
              <a:solidFill>
                <a:schemeClr val="accent3">
                  <a:lumMod val="20000"/>
                  <a:lumOff val="80000"/>
                </a:schemeClr>
              </a:solidFill>
              <a:ln w="25400">
                <a:solidFill>
                  <a:schemeClr val="bg1">
                    <a:lumMod val="75000"/>
                    <a:alpha val="60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067944" y="4017614"/>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b="1" dirty="0">
                    <a:solidFill>
                      <a:schemeClr val="accent1">
                        <a:lumMod val="75000"/>
                      </a:schemeClr>
                    </a:solidFill>
                  </a:rPr>
                  <a:t>Power</a:t>
                </a:r>
                <a:br>
                  <a:rPr lang="en-US" altLang="zh-TW" sz="1200" b="1" dirty="0">
                    <a:solidFill>
                      <a:schemeClr val="accent1">
                        <a:lumMod val="75000"/>
                      </a:schemeClr>
                    </a:solidFill>
                  </a:rPr>
                </a:br>
                <a:r>
                  <a:rPr lang="en-US" altLang="zh-TW" sz="1200" b="1"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7"/>
              <a:stretch>
                <a:fillRect/>
              </a:stretch>
            </p:blipFill>
            <p:spPr>
              <a:xfrm>
                <a:off x="4149593" y="4519128"/>
                <a:ext cx="435648"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159605" y="4471437"/>
                <a:ext cx="694443" cy="325715"/>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152605" y="3334721"/>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152605" y="3717478"/>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159604" y="4009156"/>
                <a:ext cx="431789"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678214" y="4004964"/>
                <a:ext cx="333552"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gr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3163548910"/>
              </p:ext>
            </p:extLst>
          </p:nvPr>
        </p:nvGraphicFramePr>
        <p:xfrm>
          <a:off x="5989476" y="908720"/>
          <a:ext cx="2088282" cy="1815483"/>
        </p:xfrm>
        <a:graphic>
          <a:graphicData uri="http://schemas.openxmlformats.org/drawingml/2006/table">
            <a:tbl>
              <a:tblPr firstRow="1" bandRow="1">
                <a:tableStyleId>{5C22544A-7EE6-4342-B048-85BDC9FD1C3A}</a:tableStyleId>
              </a:tblPr>
              <a:tblGrid>
                <a:gridCol w="2088282">
                  <a:extLst>
                    <a:ext uri="{9D8B030D-6E8A-4147-A177-3AD203B41FA5}">
                      <a16:colId xmlns:a16="http://schemas.microsoft.com/office/drawing/2014/main" val="4512040"/>
                    </a:ext>
                  </a:extLst>
                </a:gridCol>
              </a:tblGrid>
              <a:tr h="3024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452236196"/>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132145302"/>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584017267"/>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7108361"/>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65849749"/>
                  </a:ext>
                </a:extLst>
              </a:tr>
            </a:tbl>
          </a:graphicData>
        </a:graphic>
      </p:graphicFrame>
      <p:sp>
        <p:nvSpPr>
          <p:cNvPr id="71" name="圖說文字: 直線 70">
            <a:extLst>
              <a:ext uri="{FF2B5EF4-FFF2-40B4-BE49-F238E27FC236}">
                <a16:creationId xmlns:a16="http://schemas.microsoft.com/office/drawing/2014/main" id="{08C5454B-5544-DF83-0D81-16F49BC3CFC7}"/>
              </a:ext>
            </a:extLst>
          </p:cNvPr>
          <p:cNvSpPr/>
          <p:nvPr/>
        </p:nvSpPr>
        <p:spPr>
          <a:xfrm flipH="1">
            <a:off x="5933156" y="875476"/>
            <a:ext cx="2232248" cy="1915696"/>
          </a:xfrm>
          <a:prstGeom prst="borderCallout1">
            <a:avLst>
              <a:gd name="adj1" fmla="val 51349"/>
              <a:gd name="adj2" fmla="val 97160"/>
              <a:gd name="adj3" fmla="val 87426"/>
              <a:gd name="adj4" fmla="val 130412"/>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178110"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93" name="箭號: 左-右雙向 92">
            <a:extLst>
              <a:ext uri="{FF2B5EF4-FFF2-40B4-BE49-F238E27FC236}">
                <a16:creationId xmlns:a16="http://schemas.microsoft.com/office/drawing/2014/main" id="{3B4E4F7A-91C2-D010-038A-A5232C7206A6}"/>
              </a:ext>
            </a:extLst>
          </p:cNvPr>
          <p:cNvSpPr/>
          <p:nvPr/>
        </p:nvSpPr>
        <p:spPr>
          <a:xfrm rot="5400000">
            <a:off x="3839417" y="4353117"/>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871445" y="5098268"/>
            <a:ext cx="513385" cy="218152"/>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08" name="群組 107">
            <a:extLst>
              <a:ext uri="{FF2B5EF4-FFF2-40B4-BE49-F238E27FC236}">
                <a16:creationId xmlns:a16="http://schemas.microsoft.com/office/drawing/2014/main" id="{8B856D10-59CD-C186-CB30-9D364A137D47}"/>
              </a:ext>
            </a:extLst>
          </p:cNvPr>
          <p:cNvGrpSpPr/>
          <p:nvPr/>
        </p:nvGrpSpPr>
        <p:grpSpPr>
          <a:xfrm>
            <a:off x="7296515" y="2348880"/>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pSp>
        <p:nvGrpSpPr>
          <p:cNvPr id="121" name="群組 120">
            <a:extLst>
              <a:ext uri="{FF2B5EF4-FFF2-40B4-BE49-F238E27FC236}">
                <a16:creationId xmlns:a16="http://schemas.microsoft.com/office/drawing/2014/main" id="{36983A45-DB7C-E93D-5E70-3FFBBB5E9B31}"/>
              </a:ext>
            </a:extLst>
          </p:cNvPr>
          <p:cNvGrpSpPr/>
          <p:nvPr/>
        </p:nvGrpSpPr>
        <p:grpSpPr>
          <a:xfrm>
            <a:off x="107504" y="1285245"/>
            <a:ext cx="2713240" cy="1064454"/>
            <a:chOff x="478913" y="980728"/>
            <a:chExt cx="2713240" cy="1064454"/>
          </a:xfrm>
        </p:grpSpPr>
        <p:sp>
          <p:nvSpPr>
            <p:cNvPr id="119" name="文字方塊 118">
              <a:extLst>
                <a:ext uri="{FF2B5EF4-FFF2-40B4-BE49-F238E27FC236}">
                  <a16:creationId xmlns:a16="http://schemas.microsoft.com/office/drawing/2014/main" id="{CA381C43-436B-65A1-4841-1037CA2C52E4}"/>
                </a:ext>
              </a:extLst>
            </p:cNvPr>
            <p:cNvSpPr txBox="1"/>
            <p:nvPr/>
          </p:nvSpPr>
          <p:spPr>
            <a:xfrm>
              <a:off x="1316001" y="980728"/>
              <a:ext cx="1757294" cy="874985"/>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r>
                <a:rPr lang="en-US" altLang="zh-TW" sz="1000" dirty="0">
                  <a:solidFill>
                    <a:schemeClr val="bg1"/>
                  </a:solidFill>
                </a:rPr>
                <a:t>GPU</a:t>
              </a: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478913" y="187027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r>
                <a:rPr lang="zh-TW" altLang="en-US" sz="1000" b="1" dirty="0">
                  <a:solidFill>
                    <a:schemeClr val="bg1"/>
                  </a:solidFill>
                </a:rPr>
                <a:t> </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599747" y="980729"/>
              <a:ext cx="605575" cy="874984"/>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dirty="0">
                  <a:solidFill>
                    <a:schemeClr val="bg1"/>
                  </a:solidFill>
                </a:rPr>
                <a:t>Chip</a:t>
              </a: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518153" y="1205189"/>
              <a:ext cx="605575" cy="191921"/>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Logic Die</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2238233" y="1198916"/>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403648" y="1637707"/>
              <a:ext cx="1525631" cy="161193"/>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403647" y="1446256"/>
              <a:ext cx="1525631" cy="161193"/>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699206" y="1404934"/>
              <a:ext cx="452972" cy="382866"/>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Logic</a:t>
              </a:r>
            </a:p>
            <a:p>
              <a:pPr algn="ctr">
                <a:lnSpc>
                  <a:spcPts val="1600"/>
                </a:lnSpc>
                <a:buNone/>
              </a:pPr>
              <a:r>
                <a:rPr lang="en-US" altLang="zh-TW" sz="1000" dirty="0">
                  <a:solidFill>
                    <a:schemeClr val="tx2"/>
                  </a:solidFill>
                </a:rPr>
                <a:t>Die</a:t>
              </a:r>
            </a:p>
          </p:txBody>
        </p:sp>
      </p:gr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408</TotalTime>
  <Words>6306</Words>
  <Application>Microsoft Office PowerPoint</Application>
  <PresentationFormat>如螢幕大小 (4:3)</PresentationFormat>
  <Paragraphs>906</Paragraphs>
  <Slides>22</Slides>
  <Notes>20</Notes>
  <HiddenSlides>3</HiddenSlides>
  <MMClips>0</MMClips>
  <ScaleCrop>false</ScaleCrop>
  <HeadingPairs>
    <vt:vector size="6" baseType="variant">
      <vt:variant>
        <vt:lpstr>使用字型</vt:lpstr>
      </vt:variant>
      <vt:variant>
        <vt:i4>12</vt:i4>
      </vt:variant>
      <vt:variant>
        <vt:lpstr>佈景主題</vt:lpstr>
      </vt:variant>
      <vt:variant>
        <vt:i4>1</vt:i4>
      </vt:variant>
      <vt:variant>
        <vt:lpstr>投影片標題</vt:lpstr>
      </vt:variant>
      <vt:variant>
        <vt:i4>22</vt:i4>
      </vt:variant>
    </vt:vector>
  </HeadingPairs>
  <TitlesOfParts>
    <vt:vector size="35"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1655</cp:revision>
  <cp:lastPrinted>2024-07-30T01:44:15Z</cp:lastPrinted>
  <dcterms:created xsi:type="dcterms:W3CDTF">2019-11-08T03:01:47Z</dcterms:created>
  <dcterms:modified xsi:type="dcterms:W3CDTF">2026-07-06T08:07:07Z</dcterms:modified>
</cp:coreProperties>
</file>