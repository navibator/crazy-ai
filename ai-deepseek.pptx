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6"/>
  </p:notesMasterIdLst>
  <p:handoutMasterIdLst>
    <p:handoutMasterId r:id="rId27"/>
  </p:handoutMasterIdLst>
  <p:sldIdLst>
    <p:sldId id="3459" r:id="rId2"/>
    <p:sldId id="3472" r:id="rId3"/>
    <p:sldId id="3555" r:id="rId4"/>
    <p:sldId id="3554" r:id="rId5"/>
    <p:sldId id="3548" r:id="rId6"/>
    <p:sldId id="3547" r:id="rId7"/>
    <p:sldId id="3570" r:id="rId8"/>
    <p:sldId id="3572" r:id="rId9"/>
    <p:sldId id="3571" r:id="rId10"/>
    <p:sldId id="3482" r:id="rId11"/>
    <p:sldId id="3575" r:id="rId12"/>
    <p:sldId id="3573" r:id="rId13"/>
    <p:sldId id="3537" r:id="rId14"/>
    <p:sldId id="3558" r:id="rId15"/>
    <p:sldId id="3564" r:id="rId16"/>
    <p:sldId id="3557" r:id="rId17"/>
    <p:sldId id="3544" r:id="rId18"/>
    <p:sldId id="3540" r:id="rId19"/>
    <p:sldId id="3543" r:id="rId20"/>
    <p:sldId id="3545" r:id="rId21"/>
    <p:sldId id="3539" r:id="rId22"/>
    <p:sldId id="3542" r:id="rId23"/>
    <p:sldId id="3538" r:id="rId24"/>
    <p:sldId id="3549" r:id="rId25"/>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istillation" id="{7EB38C31-A2B8-4354-A21C-A4C807EDE2C4}">
          <p14:sldIdLst>
            <p14:sldId id="3548"/>
            <p14:sldId id="3547"/>
          </p14:sldIdLst>
        </p14:section>
        <p14:section name="Position Encoding" id="{23BF021E-8044-46FD-9989-ED85BB2577B3}">
          <p14:sldIdLst>
            <p14:sldId id="3570"/>
            <p14:sldId id="3572"/>
            <p14:sldId id="3571"/>
          </p14:sldIdLst>
        </p14:section>
        <p14:section name="Attention" id="{F4A70ED6-EB89-4CD0-B015-FE550DC91F1A}">
          <p14:sldIdLst>
            <p14:sldId id="3482"/>
            <p14:sldId id="3575"/>
            <p14:sldId id="3573"/>
          </p14:sldIdLst>
        </p14:section>
        <p14:section name="Deepseek" id="{8CC3907E-2537-4761-B8B4-20CC1D391E20}">
          <p14:sldIdLst>
            <p14:sldId id="3537"/>
            <p14:sldId id="3558"/>
            <p14:sldId id="3564"/>
            <p14:sldId id="3557"/>
            <p14:sldId id="3544"/>
            <p14:sldId id="3540"/>
            <p14:sldId id="3543"/>
            <p14:sldId id="3545"/>
            <p14:sldId id="3539"/>
            <p14:sldId id="3542"/>
            <p14:sldId id="3538"/>
          </p14:sldIdLst>
        </p14:section>
        <p14:section name="Conclusion" id="{D9E6914C-A73F-4176-B0F8-3F87EAC09119}">
          <p14:sldIdLst>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35887" autoAdjust="0"/>
  </p:normalViewPr>
  <p:slideViewPr>
    <p:cSldViewPr>
      <p:cViewPr>
        <p:scale>
          <a:sx n="100" d="100"/>
          <a:sy n="100" d="100"/>
        </p:scale>
        <p:origin x="1584" y="36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模型初始化與蒸餾階段（Initialization / Knowledge Distillation）── </a:t>
            </a:r>
            <a:r>
              <a:rPr lang="zh-TW" altLang="zh-TW" sz="1200" b="1" i="1" u="none" strike="noStrike" kern="1200" dirty="0">
                <a:solidFill>
                  <a:schemeClr val="tx1"/>
                </a:solidFill>
                <a:effectLst/>
                <a:latin typeface="+mn-lt"/>
                <a:ea typeface="+mn-ea"/>
                <a:cs typeface="+mn-cs"/>
              </a:rPr>
              <a:t>非必須，可選</a:t>
            </a:r>
            <a:endParaRPr lang="zh-TW"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當科學家研發出一個像 Kimi Linear 這樣的架構時，如果從頭開始盲目訓練（Train from scratch），會消耗巨額的算力成本。 </a:t>
            </a:r>
          </a:p>
          <a:p>
            <a:pPr lvl="0"/>
            <a:r>
              <a:rPr lang="zh-TW" altLang="zh-TW" sz="1200" b="1" u="none" strike="noStrike" kern="1200" dirty="0">
                <a:solidFill>
                  <a:schemeClr val="tx1"/>
                </a:solidFill>
                <a:effectLst/>
                <a:latin typeface="+mn-lt"/>
                <a:ea typeface="+mn-ea"/>
                <a:cs typeface="+mn-cs"/>
              </a:rPr>
              <a:t>作法</a:t>
            </a:r>
            <a:r>
              <a:rPr lang="zh-TW" altLang="zh-TW" sz="1200" b="0" u="none" strike="noStrike" kern="1200" dirty="0">
                <a:solidFill>
                  <a:schemeClr val="tx1"/>
                </a:solidFill>
                <a:effectLst/>
                <a:latin typeface="+mn-lt"/>
                <a:ea typeface="+mn-ea"/>
                <a:cs typeface="+mn-cs"/>
              </a:rPr>
              <a:t>：工程師會希望把一個現成的、已經訓好的</a:t>
            </a:r>
            <a:r>
              <a:rPr lang="zh-TW" altLang="zh-TW" sz="1200" b="1" u="none" strike="noStrike" kern="1200" dirty="0">
                <a:solidFill>
                  <a:schemeClr val="tx1"/>
                </a:solidFill>
                <a:effectLst/>
                <a:latin typeface="+mn-lt"/>
                <a:ea typeface="+mn-ea"/>
                <a:cs typeface="+mn-cs"/>
              </a:rPr>
              <a:t>標準 Transformer（Full Attention，擁有 </a:t>
            </a:r>
            <a:r>
              <a:rPr lang="zh-TW" altLang="zh-TW" sz="1200" b="0" u="none" strike="noStrike" kern="1200" dirty="0">
                <a:solidFill>
                  <a:schemeClr val="tx1"/>
                </a:solidFill>
                <a:effectLst/>
                <a:latin typeface="+mn-lt"/>
                <a:ea typeface="+mn-ea"/>
                <a:cs typeface="+mn-cs"/>
              </a:rPr>
              <a:t>\(\mathcal{O}(L^2)\)</a:t>
            </a:r>
            <a:r>
              <a:rPr lang="zh-TW" altLang="zh-TW" sz="1200" b="1" u="none" strike="noStrike" kern="1200" dirty="0">
                <a:solidFill>
                  <a:schemeClr val="tx1"/>
                </a:solidFill>
                <a:effectLst/>
                <a:latin typeface="+mn-lt"/>
                <a:ea typeface="+mn-ea"/>
                <a:cs typeface="+mn-cs"/>
              </a:rPr>
              <a:t> 的大權重矩陣 </a:t>
            </a:r>
            <a:r>
              <a:rPr lang="zh-TW" altLang="zh-TW" sz="1200" b="0" u="none" strike="noStrike" kern="1200" dirty="0">
                <a:solidFill>
                  <a:schemeClr val="tx1"/>
                </a:solidFill>
                <a:effectLst/>
                <a:latin typeface="+mn-lt"/>
                <a:ea typeface="+mn-ea"/>
                <a:cs typeface="+mn-cs"/>
              </a:rPr>
              <a:t>\(W\)</a:t>
            </a:r>
            <a:r>
              <a:rPr lang="zh-TW"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直接「瘦身」轉化為線性注意力模型。 </a:t>
            </a:r>
          </a:p>
          <a:p>
            <a:pPr lvl="0"/>
            <a:r>
              <a:rPr lang="zh-TW" altLang="zh-TW" sz="1200" b="1" u="none" strike="noStrike" kern="1200" dirty="0">
                <a:solidFill>
                  <a:schemeClr val="tx1"/>
                </a:solidFill>
                <a:effectLst/>
                <a:latin typeface="+mn-lt"/>
                <a:ea typeface="+mn-ea"/>
                <a:cs typeface="+mn-cs"/>
              </a:rPr>
              <a:t>SVD 登場</a:t>
            </a:r>
            <a:r>
              <a:rPr lang="zh-TW" altLang="zh-TW" sz="1200" b="0" u="none" strike="noStrike" kern="1200" dirty="0">
                <a:solidFill>
                  <a:schemeClr val="tx1"/>
                </a:solidFill>
                <a:effectLst/>
                <a:latin typeface="+mn-lt"/>
                <a:ea typeface="+mn-ea"/>
                <a:cs typeface="+mn-cs"/>
              </a:rPr>
              <a:t>：在這個</a:t>
            </a:r>
            <a:r>
              <a:rPr lang="zh-TW" altLang="zh-TW" sz="1200" b="1" u="none" strike="noStrike" kern="1200" dirty="0">
                <a:solidFill>
                  <a:schemeClr val="tx1"/>
                </a:solidFill>
                <a:effectLst/>
                <a:latin typeface="+mn-lt"/>
                <a:ea typeface="+mn-ea"/>
                <a:cs typeface="+mn-cs"/>
              </a:rPr>
              <a:t>初始化轉換階段</a:t>
            </a:r>
            <a:r>
              <a:rPr lang="zh-TW" altLang="zh-TW" sz="1200" b="0" u="none" strike="noStrike" kern="1200" dirty="0">
                <a:solidFill>
                  <a:schemeClr val="tx1"/>
                </a:solidFill>
                <a:effectLst/>
                <a:latin typeface="+mn-lt"/>
                <a:ea typeface="+mn-ea"/>
                <a:cs typeface="+mn-cs"/>
              </a:rPr>
              <a:t>，會對原始模型的 \(W_q, W_k\) 矩陣執行 </a:t>
            </a:r>
            <a:r>
              <a:rPr lang="zh-TW" altLang="zh-TW" sz="1200" b="1" u="none" strike="noStrike" kern="1200" dirty="0">
                <a:solidFill>
                  <a:schemeClr val="tx1"/>
                </a:solidFill>
                <a:effectLst/>
                <a:latin typeface="+mn-lt"/>
                <a:ea typeface="+mn-ea"/>
                <a:cs typeface="+mn-cs"/>
              </a:rPr>
              <a:t>SVD 分解並進行低秩截斷</a:t>
            </a:r>
            <a:r>
              <a:rPr lang="zh-TW" altLang="zh-TW" sz="1200" b="0" u="none" strike="noStrike" kern="1200" dirty="0">
                <a:solidFill>
                  <a:schemeClr val="tx1"/>
                </a:solidFill>
                <a:effectLst/>
                <a:latin typeface="+mn-lt"/>
                <a:ea typeface="+mn-ea"/>
                <a:cs typeface="+mn-cs"/>
              </a:rPr>
              <a:t>，將提煉出來的正交基底向量（Orthogonal Bases）當作線性注意力層的</a:t>
            </a:r>
            <a:r>
              <a:rPr lang="zh-TW" altLang="zh-TW" sz="1200" b="1" u="none" strike="noStrike" kern="1200" dirty="0">
                <a:solidFill>
                  <a:schemeClr val="tx1"/>
                </a:solidFill>
                <a:effectLst/>
                <a:latin typeface="+mn-lt"/>
                <a:ea typeface="+mn-ea"/>
                <a:cs typeface="+mn-cs"/>
              </a:rPr>
              <a:t>權重初始值</a:t>
            </a:r>
            <a:r>
              <a:rPr lang="zh-TW" altLang="zh-TW" sz="1200" b="0" u="none" strike="noStrike" kern="1200" dirty="0">
                <a:solidFill>
                  <a:schemeClr val="tx1"/>
                </a:solidFill>
                <a:effectLst/>
                <a:latin typeface="+mn-lt"/>
                <a:ea typeface="+mn-ea"/>
                <a:cs typeface="+mn-cs"/>
              </a:rPr>
              <a:t>，讓新模型在起跑點就繼承舊模型的知識。</a:t>
            </a:r>
            <a:br>
              <a:rPr lang="zh-TW" altLang="zh-TW" sz="1200" b="0" u="none" strike="noStrike" kern="1200" dirty="0">
                <a:solidFill>
                  <a:schemeClr val="tx1"/>
                </a:solidFill>
                <a:effectLst/>
                <a:latin typeface="+mn-lt"/>
                <a:ea typeface="+mn-ea"/>
                <a:cs typeface="+mn-cs"/>
              </a:rPr>
            </a:br>
            <a:r>
              <a:rPr lang="zh-TW" altLang="zh-TW" sz="1200" b="0" i="1" u="none" strike="noStrike" kern="1200" dirty="0">
                <a:solidFill>
                  <a:schemeClr val="tx1"/>
                </a:solidFill>
                <a:effectLst/>
                <a:latin typeface="+mn-lt"/>
                <a:ea typeface="+mn-ea"/>
                <a:cs typeface="+mn-cs"/>
              </a:rPr>
              <a:t>(註：有些最新的實驗發現，直接用隨機初始化配合 Warmup 也能達到類似效果，因此這屬於可選方案)。</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94C72-3F7C-A81E-DCEF-653ECFCB864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664BBAE-1168-DF55-9F20-9F753A3525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8F66A29-70F1-323F-DEF0-7A4209ED44EB}"/>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A00D6A9-87C4-54F6-5ADC-206C1A2E6B32}"/>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2754766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C3C77-88E5-55AA-094A-F389F8660C7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88DF128-2C66-7F55-1842-68AEC209BF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462F23B-7F71-0367-8D5F-C3566848B944}"/>
              </a:ext>
            </a:extLst>
          </p:cNvPr>
          <p:cNvSpPr>
            <a:spLocks noGrp="1"/>
          </p:cNvSpPr>
          <p:nvPr>
            <p:ph type="body" idx="1"/>
          </p:nvPr>
        </p:nvSpPr>
        <p:spPr/>
        <p:txBody>
          <a:bodyPr/>
          <a:lstStyle/>
          <a:p>
            <a:pPr marL="0" marR="0">
              <a:lnSpc>
                <a:spcPts val="1400"/>
              </a:lnSpc>
              <a:buNone/>
            </a:pPr>
            <a:r>
              <a:rPr lang="zh-TW" altLang="zh-TW" sz="1200" b="0" u="none" strike="noStrike" dirty="0">
                <a:effectLst/>
                <a:latin typeface="+mn-lt"/>
              </a:rPr>
              <a:t>DeepSeek 的 </a:t>
            </a:r>
            <a:r>
              <a:rPr lang="zh-TW" altLang="zh-TW" sz="1200" b="1" u="none" strike="noStrike" dirty="0">
                <a:effectLst/>
                <a:latin typeface="+mn-lt"/>
              </a:rPr>
              <a:t>NoPE（No Positional Embedding）</a:t>
            </a:r>
            <a:r>
              <a:rPr lang="zh-TW" altLang="zh-TW" sz="1200" b="0" u="none" strike="noStrike" dirty="0">
                <a:effectLst/>
                <a:latin typeface="+mn-lt"/>
              </a:rPr>
              <a:t> 運作原理，核心在於</a:t>
            </a:r>
            <a:r>
              <a:rPr lang="zh-TW" altLang="zh-TW" sz="1200" b="1" u="none" strike="noStrike" dirty="0">
                <a:effectLst/>
                <a:latin typeface="+mn-lt"/>
              </a:rPr>
              <a:t>「解耦（Decoupling）」</a:t>
            </a:r>
            <a:r>
              <a:rPr lang="zh-TW" altLang="zh-TW" sz="1200" b="0" u="none" strike="noStrike" dirty="0">
                <a:effectLst/>
                <a:latin typeface="+mn-lt"/>
              </a:rPr>
              <a:t>。</a:t>
            </a:r>
          </a:p>
          <a:p>
            <a:pPr marL="0" marR="0">
              <a:lnSpc>
                <a:spcPts val="1400"/>
              </a:lnSpc>
              <a:buNone/>
            </a:pPr>
            <a:r>
              <a:rPr lang="zh-TW" altLang="zh-TW" sz="1200" b="0" u="none" strike="noStrike" dirty="0">
                <a:effectLst/>
                <a:latin typeface="+mn-lt"/>
              </a:rPr>
              <a:t>傳統 Transformer（如 LLaMA）會把位置資訊（RoPE）直接融入到 Query（Q）和 Key（K）的每一個維度中。</a:t>
            </a:r>
            <a:endParaRPr lang="en-US" altLang="zh-TW" sz="1200" b="0" u="none" strike="noStrike" dirty="0">
              <a:effectLst/>
              <a:latin typeface="+mn-lt"/>
            </a:endParaRPr>
          </a:p>
          <a:p>
            <a:pPr marL="0" marR="0">
              <a:lnSpc>
                <a:spcPts val="1400"/>
              </a:lnSpc>
              <a:buNone/>
            </a:pPr>
            <a:r>
              <a:rPr lang="zh-TW" altLang="zh-TW" sz="1200" b="0" u="none" strike="noStrike" dirty="0">
                <a:effectLst/>
                <a:latin typeface="+mn-lt"/>
              </a:rPr>
              <a:t>但 DeepSeek 為了大幅壓縮 KV 快取（KV Cache），開發了 MLA</a:t>
            </a:r>
            <a:r>
              <a:rPr lang="en-US" altLang="zh-TW" sz="1200" b="0" u="none" strike="noStrike" dirty="0">
                <a:effectLst/>
                <a:latin typeface="+mn-lt"/>
              </a:rPr>
              <a:t>(</a:t>
            </a:r>
            <a:r>
              <a:rPr lang="zh-TW" altLang="zh-TW" sz="1200" b="0" u="none" strike="noStrike" dirty="0">
                <a:effectLst/>
                <a:latin typeface="+mn-lt"/>
              </a:rPr>
              <a:t>Multi-head Latent Attention</a:t>
            </a:r>
            <a:r>
              <a:rPr lang="en-US" altLang="zh-TW" sz="1200" b="0" u="none" strike="noStrike" dirty="0">
                <a:effectLst/>
                <a:latin typeface="+mn-lt"/>
              </a:rPr>
              <a:t>)</a:t>
            </a:r>
            <a:r>
              <a:rPr lang="zh-TW" altLang="zh-TW" sz="1200" b="0" u="none" strike="noStrike" dirty="0">
                <a:effectLst/>
                <a:latin typeface="+mn-lt"/>
              </a:rPr>
              <a:t>架構。</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在 MLA 中，RoPE 如果與壓縮矩陣混在一起，會破壞矩陣乘法的優化（無法進行吸收）。因此，DeepSeek 選擇將 Q 和 K 的維度</a:t>
            </a:r>
            <a:r>
              <a:rPr lang="zh-TW" altLang="zh-TW" sz="1200" b="1" u="none" strike="noStrike" dirty="0">
                <a:effectLst/>
                <a:latin typeface="+mn-lt"/>
              </a:rPr>
              <a:t>拆成兩部分</a:t>
            </a:r>
            <a:r>
              <a:rPr lang="en-US" altLang="zh-TW" sz="1200" b="1" u="none" strike="noStrike" dirty="0">
                <a:effectLst/>
                <a:latin typeface="+mn-lt"/>
              </a:rPr>
              <a:t>:</a:t>
            </a:r>
          </a:p>
          <a:p>
            <a:pPr marL="0" marR="0">
              <a:lnSpc>
                <a:spcPts val="1400"/>
              </a:lnSpc>
              <a:buNone/>
            </a:pPr>
            <a:r>
              <a:rPr lang="zh-TW" altLang="zh-TW" sz="1200" b="0" u="none" strike="noStrike" dirty="0">
                <a:effectLst/>
                <a:latin typeface="+mn-lt"/>
              </a:rPr>
              <a:t>一部分</a:t>
            </a:r>
            <a:r>
              <a:rPr lang="zh-TW" altLang="zh-TW" sz="1200" b="1" u="none" strike="noStrike" dirty="0">
                <a:effectLst/>
                <a:latin typeface="+mn-lt"/>
              </a:rPr>
              <a:t>完全不帶位置資訊（NoPE）</a:t>
            </a:r>
            <a:r>
              <a:rPr lang="zh-TW" altLang="zh-TW" sz="1200" b="0" u="none" strike="noStrike" dirty="0">
                <a:effectLst/>
                <a:latin typeface="+mn-lt"/>
              </a:rPr>
              <a:t>，另一部分</a:t>
            </a:r>
            <a:r>
              <a:rPr lang="zh-TW" altLang="zh-TW" sz="1200" b="1" u="none" strike="noStrike" dirty="0">
                <a:effectLst/>
                <a:latin typeface="+mn-lt"/>
              </a:rPr>
              <a:t>專門用來帶位置資訊（RoPE）</a:t>
            </a:r>
            <a:r>
              <a:rPr lang="zh-TW" altLang="zh-TW" sz="1200" b="0" u="none" strike="noStrike" dirty="0">
                <a:effectLst/>
                <a:latin typeface="+mn-lt"/>
              </a:rPr>
              <a:t>。</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以下是 NoPE 在注意力機制中的核心運作步驟：</a:t>
            </a:r>
          </a:p>
          <a:p>
            <a:pPr marL="0" marR="0">
              <a:lnSpc>
                <a:spcPts val="1400"/>
              </a:lnSpc>
              <a:buNone/>
            </a:pPr>
            <a:r>
              <a:rPr lang="zh-TW" altLang="zh-TW" sz="1200" b="1" u="none" strike="noStrike" dirty="0">
                <a:effectLst/>
                <a:latin typeface="+mn-lt"/>
              </a:rPr>
              <a:t>1. 維度拆分（Splitting）</a:t>
            </a:r>
          </a:p>
          <a:p>
            <a:pPr marL="0" marR="0">
              <a:lnSpc>
                <a:spcPts val="1400"/>
              </a:lnSpc>
              <a:buNone/>
            </a:pPr>
            <a:r>
              <a:rPr lang="zh-TW" altLang="zh-TW" sz="1200" b="0" u="none" strike="noStrike" dirty="0">
                <a:effectLst/>
                <a:latin typeface="+mn-lt"/>
              </a:rPr>
              <a:t>當模型生成 Query (q) 和 Key (k) 時，它們的向量維度被強制拆分為兩個獨立的口袋：</a:t>
            </a:r>
          </a:p>
          <a:p>
            <a:pPr marL="342900" marR="0" lvl="0" indent="-342900">
              <a:lnSpc>
                <a:spcPts val="1400"/>
              </a:lnSpc>
              <a:buFont typeface="Arial" panose="020B0604020202020204" pitchFamily="34" charset="0"/>
              <a:buChar char="•"/>
            </a:pPr>
            <a:r>
              <a:rPr lang="en-US" altLang="zh-TW" sz="1200" b="1" u="none" strike="noStrike" dirty="0">
                <a:effectLst/>
                <a:latin typeface="+mn-lt"/>
              </a:rPr>
              <a:t>q_</a:t>
            </a:r>
            <a:r>
              <a:rPr lang="zh-TW" altLang="zh-TW" sz="1200" b="1" u="none" strike="noStrike" dirty="0">
                <a:effectLst/>
                <a:latin typeface="+mn-lt"/>
              </a:rPr>
              <a:t>NoPE</a:t>
            </a:r>
            <a:r>
              <a:rPr lang="en-US" altLang="zh-TW" sz="1200" b="1" u="none" strike="noStrike" dirty="0">
                <a:effectLst/>
                <a:latin typeface="+mn-lt"/>
              </a:rPr>
              <a:t>, k_</a:t>
            </a:r>
            <a:r>
              <a:rPr lang="zh-TW" altLang="zh-TW" sz="1200" b="1" u="none" strike="noStrike" dirty="0">
                <a:effectLst/>
                <a:latin typeface="+mn-lt"/>
              </a:rPr>
              <a:t>NoPE</a:t>
            </a:r>
            <a:r>
              <a:rPr lang="zh-TW" altLang="zh-TW" sz="1200" b="0" u="none" strike="noStrike" dirty="0">
                <a:effectLst/>
                <a:latin typeface="+mn-lt"/>
              </a:rPr>
              <a:t>：佔絕大部分維度（例如 128 維中的 64 或 96 維）。這裡</a:t>
            </a:r>
            <a:r>
              <a:rPr lang="zh-TW" altLang="zh-TW" sz="1200" b="1" u="none" strike="noStrike" dirty="0">
                <a:effectLst/>
                <a:latin typeface="+mn-lt"/>
              </a:rPr>
              <a:t>只包含純粹的語義資訊</a:t>
            </a:r>
            <a:r>
              <a:rPr lang="zh-TW" altLang="zh-TW" sz="1200" b="0" u="none" strike="noStrike" dirty="0">
                <a:effectLst/>
                <a:latin typeface="+mn-lt"/>
              </a:rPr>
              <a:t>，完全不注入任何位置編碼。</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r>
              <a:rPr lang="en-US" altLang="zh-TW" sz="1200" b="1" u="none" strike="noStrike" dirty="0">
                <a:effectLst/>
                <a:latin typeface="+mn-lt"/>
              </a:rPr>
              <a:t>Q_R</a:t>
            </a:r>
            <a:r>
              <a:rPr lang="zh-TW" altLang="zh-TW" sz="1200" b="1" u="none" strike="noStrike" dirty="0">
                <a:effectLst/>
                <a:latin typeface="+mn-lt"/>
              </a:rPr>
              <a:t>oPE</a:t>
            </a:r>
            <a:r>
              <a:rPr lang="en-US" altLang="zh-TW" sz="1200" b="1" u="none" strike="noStrike" dirty="0">
                <a:effectLst/>
                <a:latin typeface="+mn-lt"/>
              </a:rPr>
              <a:t>, </a:t>
            </a:r>
            <a:r>
              <a:rPr lang="zh-TW" altLang="zh-TW" sz="1200" b="1" u="none" strike="noStrike" dirty="0">
                <a:effectLst/>
                <a:latin typeface="+mn-lt"/>
              </a:rPr>
              <a:t>k</a:t>
            </a:r>
            <a:r>
              <a:rPr lang="en-US" altLang="zh-TW" sz="1200" b="1" u="none" strike="noStrike" dirty="0">
                <a:effectLst/>
                <a:latin typeface="+mn-lt"/>
              </a:rPr>
              <a:t>_</a:t>
            </a:r>
            <a:r>
              <a:rPr lang="zh-TW" altLang="zh-TW" sz="1200" b="1" u="none" strike="noStrike" dirty="0">
                <a:effectLst/>
                <a:latin typeface="+mn-lt"/>
              </a:rPr>
              <a:t>RoPE</a:t>
            </a:r>
            <a:r>
              <a:rPr lang="zh-TW" altLang="zh-TW" sz="1200" b="0" u="none" strike="noStrike" dirty="0">
                <a:effectLst/>
                <a:latin typeface="+mn-lt"/>
              </a:rPr>
              <a:t>：佔極小的維度（例如 32 維或 64 維）。這裡</a:t>
            </a:r>
            <a:r>
              <a:rPr lang="zh-TW" altLang="zh-TW" sz="1200" b="1" u="none" strike="noStrike" dirty="0">
                <a:effectLst/>
                <a:latin typeface="+mn-lt"/>
              </a:rPr>
              <a:t>專門注入旋轉位置編碼</a:t>
            </a:r>
            <a:r>
              <a:rPr lang="en-US" altLang="zh-TW" sz="1200" b="1" u="none" strike="noStrike" dirty="0">
                <a:effectLst/>
                <a:latin typeface="+mn-lt"/>
              </a:rPr>
              <a:t>(</a:t>
            </a:r>
            <a:r>
              <a:rPr lang="zh-TW" altLang="zh-TW" sz="1200" b="1" u="none" strike="noStrike" dirty="0">
                <a:effectLst/>
                <a:latin typeface="+mn-lt"/>
              </a:rPr>
              <a:t>RoPE</a:t>
            </a:r>
            <a:r>
              <a:rPr lang="en-US" altLang="zh-TW" sz="1200" b="1" u="none" strike="noStrike" dirty="0">
                <a:effectLst/>
                <a:latin typeface="+mn-lt"/>
              </a:rPr>
              <a:t>)</a:t>
            </a:r>
            <a:r>
              <a:rPr lang="zh-TW" altLang="zh-TW" sz="1200" b="0" u="none" strike="noStrike" dirty="0">
                <a:effectLst/>
                <a:latin typeface="+mn-lt"/>
              </a:rPr>
              <a:t>。</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2. 獨立進行 KV 快取壓縮</a:t>
            </a:r>
          </a:p>
          <a:p>
            <a:pPr marL="0" marR="0">
              <a:lnSpc>
                <a:spcPts val="1400"/>
              </a:lnSpc>
              <a:buNone/>
            </a:pPr>
            <a:r>
              <a:rPr lang="zh-TW" altLang="zh-TW" sz="1200" b="0" u="none" strike="noStrike" dirty="0">
                <a:effectLst/>
                <a:latin typeface="+mn-lt"/>
              </a:rPr>
              <a:t>因為</a:t>
            </a:r>
            <a:r>
              <a:rPr lang="en-US" altLang="zh-TW" sz="1200" b="0" u="none" strike="noStrike" dirty="0">
                <a:effectLst/>
                <a:latin typeface="+mn-lt"/>
              </a:rPr>
              <a:t> </a:t>
            </a:r>
            <a:r>
              <a:rPr lang="zh-TW" altLang="zh-TW" sz="1200" b="0" u="none" strike="noStrike" dirty="0">
                <a:effectLst/>
                <a:latin typeface="+mn-lt"/>
              </a:rPr>
              <a:t>k</a:t>
            </a:r>
            <a:r>
              <a:rPr lang="en-US" altLang="zh-TW" sz="1200" b="0" u="none" strike="noStrike" dirty="0">
                <a:effectLst/>
                <a:latin typeface="+mn-lt"/>
              </a:rPr>
              <a:t>_</a:t>
            </a:r>
            <a:r>
              <a:rPr lang="zh-TW" altLang="zh-TW" sz="1200" b="0" u="none" strike="noStrike" dirty="0">
                <a:effectLst/>
                <a:latin typeface="+mn-lt"/>
              </a:rPr>
              <a:t>NoPE 裡面沒有位置干擾，它是純粹的語義特徵，DeepSeek 就可以放心地使用低秩矩陣</a:t>
            </a:r>
            <a:r>
              <a:rPr lang="en-US" altLang="zh-TW" sz="1200" b="0" u="none" strike="noStrike" dirty="0">
                <a:effectLst/>
                <a:latin typeface="+mn-lt"/>
              </a:rPr>
              <a:t>(</a:t>
            </a:r>
            <a:r>
              <a:rPr lang="zh-TW" altLang="zh-TW" sz="1200" b="0" u="none" strike="noStrike" dirty="0">
                <a:effectLst/>
                <a:latin typeface="+mn-lt"/>
              </a:rPr>
              <a:t>Low-rank Projection</a:t>
            </a:r>
            <a:r>
              <a:rPr lang="en-US" altLang="zh-TW" sz="1200" b="0" u="none" strike="noStrike" dirty="0">
                <a:effectLst/>
                <a:latin typeface="+mn-lt"/>
              </a:rPr>
              <a:t>)</a:t>
            </a:r>
            <a:r>
              <a:rPr lang="zh-TW" altLang="zh-TW" sz="1200" b="0" u="none" strike="noStrike" dirty="0">
                <a:effectLst/>
                <a:latin typeface="+mn-lt"/>
              </a:rPr>
              <a:t>將所有 Token 的 NoPE 特徵壓縮成一個極小的潛在向量Latent Vector c_t</a:t>
            </a:r>
            <a:r>
              <a:rPr lang="en-US" altLang="zh-TW" sz="1200" b="0" u="none" strike="noStrike" dirty="0">
                <a:effectLst/>
                <a:latin typeface="+mn-lt"/>
              </a:rPr>
              <a:t> </a:t>
            </a:r>
            <a:r>
              <a:rPr lang="zh-TW" altLang="zh-TW" sz="1200" b="0" u="none" strike="noStrike" dirty="0">
                <a:effectLst/>
                <a:latin typeface="+mn-lt"/>
              </a:rPr>
              <a:t>存入 KV Cache。</a:t>
            </a:r>
          </a:p>
          <a:p>
            <a:pPr marL="342900" marR="0" lvl="0" indent="-342900">
              <a:lnSpc>
                <a:spcPts val="1400"/>
              </a:lnSpc>
              <a:buFont typeface="Arial" panose="020B0604020202020204" pitchFamily="34" charset="0"/>
              <a:buChar char="•"/>
            </a:pPr>
            <a:r>
              <a:rPr lang="zh-TW" altLang="zh-TW" sz="1200" b="1" u="none" strike="noStrike" dirty="0">
                <a:effectLst/>
                <a:latin typeface="+mn-lt"/>
              </a:rPr>
              <a:t>好處</a:t>
            </a:r>
            <a:r>
              <a:rPr lang="zh-TW" altLang="zh-TW" sz="1200" b="0" u="none" strike="noStrike" dirty="0">
                <a:effectLst/>
                <a:latin typeface="+mn-lt"/>
              </a:rPr>
              <a:t>：KV 快取體積暴減至原本的數分之一。</a:t>
            </a:r>
          </a:p>
          <a:p>
            <a:pPr marL="342900" marR="0" lvl="0" indent="-342900">
              <a:lnSpc>
                <a:spcPts val="1400"/>
              </a:lnSpc>
              <a:buFont typeface="Arial" panose="020B0604020202020204" pitchFamily="34" charset="0"/>
              <a:buChar char="•"/>
            </a:pPr>
            <a:r>
              <a:rPr lang="zh-TW" altLang="zh-TW" sz="1200" b="1" u="none" strike="noStrike" dirty="0">
                <a:effectLst/>
                <a:latin typeface="+mn-lt"/>
              </a:rPr>
              <a:t>位置怎麼辦？</a:t>
            </a:r>
            <a:r>
              <a:rPr lang="zh-TW" altLang="zh-TW" sz="1200" b="0" u="none" strike="noStrike" dirty="0">
                <a:effectLst/>
                <a:latin typeface="+mn-lt"/>
              </a:rPr>
              <a:t>：只有那部分小小的 k</a:t>
            </a:r>
            <a:r>
              <a:rPr lang="en-US" altLang="zh-TW" sz="1200" b="0" u="none" strike="noStrike" dirty="0">
                <a:effectLst/>
                <a:latin typeface="+mn-lt"/>
              </a:rPr>
              <a:t>_R</a:t>
            </a:r>
            <a:r>
              <a:rPr lang="zh-TW" altLang="zh-TW" sz="1200" b="0" u="none" strike="noStrike" dirty="0">
                <a:effectLst/>
                <a:latin typeface="+mn-lt"/>
              </a:rPr>
              <a:t>oPE 需要被獨立記錄位置並存下來，兩者互不干擾。</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3. 注意力分數計算（解耦注意力）</a:t>
            </a:r>
          </a:p>
          <a:p>
            <a:pPr marL="0" marR="0">
              <a:lnSpc>
                <a:spcPts val="1400"/>
              </a:lnSpc>
              <a:buNone/>
            </a:pPr>
            <a:r>
              <a:rPr lang="zh-TW" altLang="zh-TW" sz="1200" b="0" u="none" strike="noStrike" dirty="0">
                <a:effectLst/>
                <a:latin typeface="+mn-lt"/>
              </a:rPr>
              <a:t>在計算 Query 和 Key 的點積（Attention Score）時，運作公式變成了</a:t>
            </a:r>
            <a:r>
              <a:rPr lang="zh-TW" altLang="zh-TW" sz="1200" b="1" u="none" strike="noStrike" dirty="0">
                <a:effectLst/>
                <a:latin typeface="+mn-lt"/>
              </a:rPr>
              <a:t>兩部分相加</a:t>
            </a:r>
            <a:r>
              <a:rPr lang="zh-TW" altLang="zh-TW" sz="1200" b="0" u="none" strike="noStrike" dirty="0">
                <a:effectLst/>
                <a:latin typeface="+mn-lt"/>
              </a:rPr>
              <a:t>：Attention</a:t>
            </a:r>
            <a:r>
              <a:rPr lang="en-US" altLang="zh-TW" sz="1200" b="0" u="none" strike="noStrike" dirty="0">
                <a:effectLst/>
                <a:latin typeface="+mn-lt"/>
              </a:rPr>
              <a:t>_</a:t>
            </a:r>
            <a:r>
              <a:rPr lang="zh-TW" altLang="zh-TW" sz="1200" b="0" u="none" strike="noStrike" dirty="0">
                <a:effectLst/>
                <a:latin typeface="+mn-lt"/>
              </a:rPr>
              <a:t>Score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 k</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RoPE</a:t>
            </a:r>
            <a:r>
              <a:rPr lang="en-US" altLang="zh-TW" sz="1200" b="0" u="none" strike="noStrike" dirty="0">
                <a:effectLst/>
                <a:latin typeface="+mn-lt"/>
              </a:rPr>
              <a:t> * k_</a:t>
            </a:r>
            <a:r>
              <a:rPr lang="zh-TW" altLang="zh-TW" sz="1200" b="0" u="none" strike="noStrike" dirty="0">
                <a:effectLst/>
                <a:latin typeface="+mn-lt"/>
              </a:rPr>
              <a:t>RoPE)</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342900" marR="0" lvl="0" indent="-342900">
              <a:lnSpc>
                <a:spcPts val="1400"/>
              </a:lnSpc>
              <a:buFont typeface="+mj-lt"/>
              <a:buAutoNum type="arabicPeriod"/>
            </a:pPr>
            <a:r>
              <a:rPr lang="zh-TW" altLang="zh-TW" sz="1200" b="1" u="none" strike="noStrike" dirty="0">
                <a:effectLst/>
                <a:latin typeface="+mn-lt"/>
              </a:rPr>
              <a:t>語義比對</a:t>
            </a:r>
            <a:r>
              <a:rPr lang="en-US" altLang="zh-TW" sz="1200" b="1" u="none" strike="noStrike" dirty="0">
                <a:effectLst/>
                <a:latin typeface="+mn-lt"/>
              </a:rPr>
              <a:t>(</a:t>
            </a:r>
            <a:r>
              <a:rPr lang="zh-TW" altLang="zh-TW" sz="1200" b="1" u="none" strike="noStrike" dirty="0">
                <a:effectLst/>
                <a:latin typeface="+mn-lt"/>
              </a:rPr>
              <a:t>NoPE 部分</a:t>
            </a:r>
            <a:r>
              <a:rPr lang="en-US" altLang="zh-TW" sz="1200" b="1" u="none" strike="noStrike" dirty="0">
                <a:effectLst/>
                <a:latin typeface="+mn-lt"/>
              </a:rPr>
              <a:t>): </a:t>
            </a:r>
            <a:r>
              <a:rPr lang="zh-TW" altLang="zh-TW" sz="1200" b="0" u="none" strike="noStrike" dirty="0">
                <a:effectLst/>
                <a:latin typeface="+mn-lt"/>
              </a:rPr>
              <a:t>「這兩個字的意思像不像」</a:t>
            </a:r>
            <a:r>
              <a:rPr lang="en-US" altLang="zh-TW" sz="1200" b="0" u="none" strike="noStrike" dirty="0">
                <a:effectLst/>
                <a:latin typeface="+mn-lt"/>
              </a:rPr>
              <a:t>, </a:t>
            </a:r>
            <a:r>
              <a:rPr lang="zh-TW" altLang="zh-TW" sz="1200" b="0" u="none" strike="noStrike" dirty="0">
                <a:effectLst/>
                <a:latin typeface="+mn-lt"/>
              </a:rPr>
              <a:t>並在推理時透過矩陣變換直接與壓縮快取計算，速度極快。</a:t>
            </a:r>
          </a:p>
          <a:p>
            <a:pPr marL="342900" marR="0" lvl="0" indent="-342900">
              <a:lnSpc>
                <a:spcPts val="1400"/>
              </a:lnSpc>
              <a:buFont typeface="+mj-lt"/>
              <a:buAutoNum type="arabicPeriod"/>
            </a:pPr>
            <a:r>
              <a:rPr lang="zh-TW" altLang="zh-TW" sz="1200" b="1" u="none" strike="noStrike" dirty="0">
                <a:effectLst/>
                <a:latin typeface="+mn-lt"/>
              </a:rPr>
              <a:t>位置比對</a:t>
            </a:r>
            <a:r>
              <a:rPr lang="en-US" altLang="zh-TW" sz="1200" b="1" u="none" strike="noStrike" dirty="0">
                <a:effectLst/>
                <a:latin typeface="+mn-lt"/>
              </a:rPr>
              <a:t>(</a:t>
            </a:r>
            <a:r>
              <a:rPr lang="zh-TW" altLang="zh-TW" sz="1200" b="1" u="none" strike="noStrike" dirty="0">
                <a:effectLst/>
                <a:latin typeface="+mn-lt"/>
              </a:rPr>
              <a:t>RoPE 部分</a:t>
            </a:r>
            <a:r>
              <a:rPr lang="en-US" altLang="zh-TW" sz="1200" b="1"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專門計算「這兩個字在空間/時間上的距離與相對關係」。</a:t>
            </a:r>
            <a:endParaRPr lang="zh-TW" altLang="zh-TW" sz="1200" b="0" u="none" strike="noStrike" dirty="0">
              <a:effectLst/>
              <a:latin typeface="Google Sans"/>
            </a:endParaRP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NoPE 的原理就是</a:t>
            </a:r>
            <a:r>
              <a:rPr lang="zh-TW" altLang="zh-TW" sz="1200" b="1" u="none" strike="noStrike" kern="1200" dirty="0">
                <a:solidFill>
                  <a:schemeClr val="tx1"/>
                </a:solidFill>
                <a:effectLst/>
                <a:latin typeface="+mn-lt"/>
                <a:ea typeface="+mn-ea"/>
                <a:cs typeface="+mn-cs"/>
              </a:rPr>
              <a:t>「讓上帝的歸上帝，凱撒的歸凱撒」</a:t>
            </a:r>
            <a:r>
              <a:rPr lang="zh-TW" altLang="zh-TW" sz="1200" b="0" u="none" strike="noStrike" kern="1200" dirty="0">
                <a:solidFill>
                  <a:schemeClr val="tx1"/>
                </a:solidFill>
                <a:effectLst/>
                <a:latin typeface="+mn-lt"/>
                <a:ea typeface="+mn-ea"/>
                <a:cs typeface="+mn-cs"/>
              </a:rPr>
              <a:t>。語義歸語義（NoPE），位置歸位置（RoPE）。</a:t>
            </a:r>
          </a:p>
          <a:p>
            <a:r>
              <a:rPr lang="zh-TW" altLang="zh-TW" sz="1200" b="0" u="none" strike="noStrike" kern="1200" dirty="0">
                <a:solidFill>
                  <a:schemeClr val="tx1"/>
                </a:solidFill>
                <a:effectLst/>
                <a:latin typeface="+mn-lt"/>
                <a:ea typeface="+mn-ea"/>
                <a:cs typeface="+mn-cs"/>
              </a:rPr>
              <a:t>透過這種解耦方式，DeepSeek 既保留了 RoPE 強大的長文本位置感知能力，又成功把語義部分徹底壓縮，達成了極高的推理效率與超低的記憶體佔用。</a:t>
            </a:r>
          </a:p>
        </p:txBody>
      </p:sp>
      <p:sp>
        <p:nvSpPr>
          <p:cNvPr id="4" name="投影片編號版面配置區 3">
            <a:extLst>
              <a:ext uri="{FF2B5EF4-FFF2-40B4-BE49-F238E27FC236}">
                <a16:creationId xmlns:a16="http://schemas.microsoft.com/office/drawing/2014/main" id="{A7B670E2-071D-C48E-BF2C-3BA92B3B94A9}"/>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620491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解耦並存派</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DeepSeek 在 </a:t>
            </a:r>
            <a:r>
              <a:rPr lang="zh-TW" altLang="zh-TW" sz="1200" b="1" u="none" strike="noStrike" kern="1200" dirty="0">
                <a:solidFill>
                  <a:schemeClr val="tx1"/>
                </a:solidFill>
                <a:effectLst/>
                <a:latin typeface="+mn-lt"/>
                <a:ea typeface="+mn-ea"/>
                <a:cs typeface="+mn-cs"/>
              </a:rPr>
              <a:t>2024 年 5 月</a:t>
            </a:r>
            <a:r>
              <a:rPr lang="zh-TW" altLang="zh-TW" sz="1200" b="0" u="none" strike="noStrike" kern="1200" dirty="0">
                <a:solidFill>
                  <a:schemeClr val="tx1"/>
                </a:solidFill>
                <a:effectLst/>
                <a:latin typeface="+mn-lt"/>
                <a:ea typeface="+mn-ea"/>
                <a:cs typeface="+mn-cs"/>
              </a:rPr>
              <a:t> 發表了 </a:t>
            </a:r>
            <a:r>
              <a:rPr lang="zh-TW" altLang="zh-TW" sz="1200" b="1" u="none" strike="noStrike" kern="1200" dirty="0">
                <a:solidFill>
                  <a:schemeClr val="tx1"/>
                </a:solidFill>
                <a:effectLst/>
                <a:latin typeface="+mn-lt"/>
                <a:ea typeface="+mn-ea"/>
                <a:cs typeface="+mn-cs"/>
              </a:rPr>
              <a:t>DeepSeek-V2</a:t>
            </a:r>
            <a:r>
              <a:rPr lang="zh-TW" altLang="zh-TW" sz="1200" b="0" u="none" strike="noStrike" kern="1200" dirty="0">
                <a:solidFill>
                  <a:schemeClr val="tx1"/>
                </a:solidFill>
                <a:effectLst/>
                <a:latin typeface="+mn-lt"/>
                <a:ea typeface="+mn-ea"/>
                <a:cs typeface="+mn-cs"/>
              </a:rPr>
              <a:t> 論文</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首創概念：</a:t>
            </a:r>
            <a:r>
              <a:rPr lang="zh-TW" altLang="zh-TW" sz="1200" b="0" u="none" strike="noStrike" kern="1200" dirty="0">
                <a:solidFill>
                  <a:schemeClr val="tx1"/>
                </a:solidFill>
                <a:effectLst/>
                <a:latin typeface="+mn-lt"/>
                <a:ea typeface="+mn-ea"/>
                <a:cs typeface="+mn-cs"/>
              </a:rPr>
              <a:t> 為了實現革命性的 </a:t>
            </a:r>
            <a:r>
              <a:rPr lang="zh-TW" altLang="zh-TW" sz="1200" b="1" u="none" strike="noStrike" kern="1200" dirty="0">
                <a:solidFill>
                  <a:schemeClr val="tx1"/>
                </a:solidFill>
                <a:effectLst/>
                <a:latin typeface="+mn-lt"/>
                <a:ea typeface="+mn-ea"/>
                <a:cs typeface="+mn-cs"/>
              </a:rPr>
              <a:t>MLA（Multi-head Latent Attention）</a:t>
            </a:r>
            <a:r>
              <a:rPr lang="zh-TW" altLang="zh-TW" sz="1200" b="0" u="none" strike="noStrike" kern="1200" dirty="0">
                <a:solidFill>
                  <a:schemeClr val="tx1"/>
                </a:solidFill>
                <a:effectLst/>
                <a:latin typeface="+mn-lt"/>
                <a:ea typeface="+mn-ea"/>
                <a:cs typeface="+mn-cs"/>
              </a:rPr>
              <a:t> 架構，</a:t>
            </a:r>
            <a:endParaRPr lang="en-US" altLang="zh-TW" sz="1200" b="0" u="none" strike="noStrike" kern="1200" dirty="0">
              <a:solidFill>
                <a:schemeClr val="tx1"/>
              </a:solidFill>
              <a:effectLst/>
              <a:latin typeface="+mn-lt"/>
              <a:ea typeface="+mn-ea"/>
              <a:cs typeface="+mn-cs"/>
            </a:endParaRPr>
          </a:p>
          <a:p>
            <a:pPr lvl="1"/>
            <a:r>
              <a:rPr lang="zh-TW" altLang="zh-TW" sz="1200" b="1" u="none" strike="noStrike" kern="1200" dirty="0">
                <a:solidFill>
                  <a:schemeClr val="tx1"/>
                </a:solidFill>
                <a:effectLst/>
                <a:latin typeface="+mn-lt"/>
                <a:ea typeface="+mn-ea"/>
                <a:cs typeface="+mn-cs"/>
              </a:rPr>
              <a:t>做法：</a:t>
            </a:r>
            <a:r>
              <a:rPr lang="zh-TW" altLang="zh-TW" sz="1200" b="0" u="none" strike="noStrike" kern="1200" dirty="0">
                <a:solidFill>
                  <a:schemeClr val="tx1"/>
                </a:solidFill>
                <a:effectLst/>
                <a:latin typeface="+mn-lt"/>
                <a:ea typeface="+mn-ea"/>
                <a:cs typeface="+mn-cs"/>
              </a:rPr>
              <a:t> 在同一個注意力（Attention）層內，將 Query 和 Key 的維度拆開。</a:t>
            </a:r>
          </a:p>
          <a:p>
            <a:pPr lvl="1"/>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大部分維度是 </a:t>
            </a:r>
            <a:r>
              <a:rPr lang="zh-TW" altLang="zh-TW" sz="1200" b="1" u="none" strike="noStrike" kern="1200" dirty="0">
                <a:solidFill>
                  <a:schemeClr val="tx1"/>
                </a:solidFill>
                <a:effectLst/>
                <a:latin typeface="+mn-lt"/>
                <a:ea typeface="+mn-ea"/>
                <a:cs typeface="+mn-cs"/>
              </a:rPr>
              <a:t>NoPE</a:t>
            </a:r>
            <a:r>
              <a:rPr lang="zh-TW" altLang="zh-TW" sz="1200" b="0" u="none" strike="noStrike" kern="1200" dirty="0">
                <a:solidFill>
                  <a:schemeClr val="tx1"/>
                </a:solidFill>
                <a:effectLst/>
                <a:latin typeface="+mn-lt"/>
                <a:ea typeface="+mn-ea"/>
                <a:cs typeface="+mn-cs"/>
              </a:rPr>
              <a:t>（不帶位置，用來做低秩矩陣壓縮 KV Cache），小部分維度是 </a:t>
            </a:r>
            <a:r>
              <a:rPr lang="zh-TW" altLang="zh-TW" sz="1200" b="1" u="none" strike="noStrike" kern="1200" dirty="0">
                <a:solidFill>
                  <a:schemeClr val="tx1"/>
                </a:solidFill>
                <a:effectLst/>
                <a:latin typeface="+mn-lt"/>
                <a:ea typeface="+mn-ea"/>
                <a:cs typeface="+mn-cs"/>
              </a:rPr>
              <a:t>RoPE</a:t>
            </a:r>
            <a:r>
              <a:rPr lang="zh-TW" altLang="zh-TW" sz="1200" b="0" u="none" strike="noStrike" kern="1200" dirty="0">
                <a:solidFill>
                  <a:schemeClr val="tx1"/>
                </a:solidFill>
                <a:effectLst/>
                <a:latin typeface="+mn-lt"/>
                <a:ea typeface="+mn-ea"/>
                <a:cs typeface="+mn-cs"/>
              </a:rPr>
              <a:t>（專門用來旋轉帶入位置資訊）。兩者在同一層內點積相加。</a:t>
            </a:r>
          </a:p>
          <a:p>
            <a:pPr lvl="1"/>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NoPE 在 DeepSeek 裡是</a:t>
            </a:r>
            <a:r>
              <a:rPr lang="zh-TW" altLang="zh-TW" sz="1200" b="1" u="none" strike="noStrike" kern="1200" dirty="0">
                <a:solidFill>
                  <a:schemeClr val="tx1"/>
                </a:solidFill>
                <a:effectLst/>
                <a:latin typeface="+mn-lt"/>
                <a:ea typeface="+mn-ea"/>
                <a:cs typeface="+mn-cs"/>
              </a:rPr>
              <a:t>為了「輔助 KV 壓縮」而生</a:t>
            </a:r>
            <a:r>
              <a:rPr lang="zh-TW" altLang="zh-TW" sz="1200" b="0" u="none" strike="noStrike" kern="1200" dirty="0">
                <a:solidFill>
                  <a:schemeClr val="tx1"/>
                </a:solidFill>
                <a:effectLst/>
                <a:latin typeface="+mn-lt"/>
                <a:ea typeface="+mn-ea"/>
                <a:cs typeface="+mn-cs"/>
              </a:rPr>
              <a:t>的手段。</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全面替代派</a:t>
            </a:r>
            <a:endParaRPr lang="en-US" altLang="zh-TW" sz="1200" b="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Moonshot 在 </a:t>
            </a:r>
            <a:r>
              <a:rPr lang="zh-TW" altLang="zh-TW" sz="1200" b="1" u="none" strike="noStrike" kern="1200" dirty="0">
                <a:solidFill>
                  <a:schemeClr val="tx1"/>
                </a:solidFill>
                <a:effectLst/>
                <a:latin typeface="+mn-lt"/>
                <a:ea typeface="+mn-ea"/>
                <a:cs typeface="+mn-cs"/>
              </a:rPr>
              <a:t>2025 年 10 月</a:t>
            </a:r>
            <a:r>
              <a:rPr lang="zh-TW" altLang="zh-TW" sz="1200" b="0" u="none" strike="noStrike" kern="1200" dirty="0">
                <a:solidFill>
                  <a:schemeClr val="tx1"/>
                </a:solidFill>
                <a:effectLst/>
                <a:latin typeface="+mn-lt"/>
                <a:ea typeface="+mn-ea"/>
                <a:cs typeface="+mn-cs"/>
              </a:rPr>
              <a:t> 發表關於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的技術論文。</a:t>
            </a:r>
            <a:r>
              <a:rPr lang="zh-TW" altLang="zh-TW" dirty="0"/>
              <a:t>將 NoPE 概念推向了更極致的 Everywhere 階段。</a:t>
            </a:r>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承接與進化：</a:t>
            </a:r>
            <a:r>
              <a:rPr lang="zh-TW" altLang="zh-TW" sz="1200" b="0" u="none" strike="noStrike" kern="1200" dirty="0">
                <a:solidFill>
                  <a:schemeClr val="tx1"/>
                </a:solidFill>
                <a:effectLst/>
                <a:latin typeface="+mn-lt"/>
                <a:ea typeface="+mn-ea"/>
                <a:cs typeface="+mn-cs"/>
              </a:rPr>
              <a:t> Kimi 在設計其線性注意力（Linear Attention）時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Kimi 研發了全新的 KDA</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Kimi Delta 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機制來隱式處理位置資訊，他們在部分層中直接將位置編碼完全剝離，實現了比 DeepSeek 更激進的「全 NoPE」設計（NoPE for MLA layers）。</a:t>
            </a:r>
          </a:p>
          <a:p>
            <a:endParaRPr lang="en-US" altLang="zh-TW" dirty="0"/>
          </a:p>
          <a:p>
            <a:pPr lvl="0"/>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Kimi / Moonshot：做法：</a:t>
            </a:r>
            <a:r>
              <a:rPr lang="zh-TW" altLang="zh-TW" sz="1200" b="0" u="none" strike="noStrike" kern="1200" dirty="0">
                <a:solidFill>
                  <a:schemeClr val="tx1"/>
                </a:solidFill>
                <a:effectLst/>
                <a:latin typeface="+mn-lt"/>
                <a:ea typeface="+mn-ea"/>
                <a:cs typeface="+mn-cs"/>
              </a:rPr>
              <a:t> 在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或最新的旗艦 </a:t>
            </a:r>
            <a:r>
              <a:rPr lang="zh-TW" altLang="zh-TW" sz="1200" b="1" u="none" strike="noStrike" kern="1200" dirty="0">
                <a:solidFill>
                  <a:schemeClr val="tx1"/>
                </a:solidFill>
                <a:effectLst/>
                <a:latin typeface="+mn-lt"/>
                <a:ea typeface="+mn-ea"/>
                <a:cs typeface="+mn-cs"/>
              </a:rPr>
              <a:t>Kimi K3</a:t>
            </a:r>
            <a:r>
              <a:rPr lang="zh-TW" altLang="zh-TW" sz="1200" b="0" u="none" strike="noStrike" kern="1200" dirty="0">
                <a:solidFill>
                  <a:schemeClr val="tx1"/>
                </a:solidFill>
                <a:effectLst/>
                <a:latin typeface="+mn-lt"/>
                <a:ea typeface="+mn-ea"/>
                <a:cs typeface="+mn-cs"/>
              </a:rPr>
              <a:t> 中，直接徹底拔除了傳統的 RoPE 旋轉位置編碼層，大膽做到 </a:t>
            </a:r>
            <a:r>
              <a:rPr lang="zh-TW" altLang="zh-TW" sz="1200" b="1" u="none" strike="noStrike" kern="1200" dirty="0">
                <a:solidFill>
                  <a:schemeClr val="tx1"/>
                </a:solidFill>
                <a:effectLst/>
                <a:latin typeface="+mn-lt"/>
                <a:ea typeface="+mn-ea"/>
                <a:cs typeface="+mn-cs"/>
              </a:rPr>
              <a:t>NoPE Everywhere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全模型或全全域層皆為 NoPE</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既然叫 NoPE，這幾層就真的</a:t>
            </a:r>
            <a:r>
              <a:rPr lang="zh-TW" altLang="zh-TW" sz="1200" b="1" u="none" strike="noStrike" kern="1200" dirty="0">
                <a:solidFill>
                  <a:schemeClr val="tx1"/>
                </a:solidFill>
                <a:effectLst/>
                <a:latin typeface="+mn-lt"/>
                <a:ea typeface="+mn-ea"/>
                <a:cs typeface="+mn-cs"/>
              </a:rPr>
              <a:t>完全沒有任何顯式的位置編碼</a:t>
            </a:r>
            <a:r>
              <a:rPr lang="zh-TW" altLang="zh-TW" sz="1200" b="0" u="none" strike="noStrike" kern="1200" dirty="0">
                <a:solidFill>
                  <a:schemeClr val="tx1"/>
                </a:solidFill>
                <a:effectLst/>
                <a:latin typeface="+mn-lt"/>
                <a:ea typeface="+mn-ea"/>
                <a:cs typeface="+mn-cs"/>
              </a:rPr>
              <a:t>。Kimi 改用自研的 </a:t>
            </a:r>
            <a:r>
              <a:rPr lang="zh-TW" altLang="zh-TW" sz="1200" b="1" u="none" strike="noStrike" kern="1200" dirty="0">
                <a:solidFill>
                  <a:schemeClr val="tx1"/>
                </a:solidFill>
                <a:effectLst/>
                <a:latin typeface="+mn-lt"/>
                <a:ea typeface="+mn-ea"/>
                <a:cs typeface="+mn-cs"/>
              </a:rPr>
              <a:t>KDA（Kimi Delta Attention）</a:t>
            </a:r>
            <a:r>
              <a:rPr lang="zh-TW" altLang="zh-TW" sz="1200" b="0" u="none" strike="noStrike" kern="1200" dirty="0">
                <a:solidFill>
                  <a:schemeClr val="tx1"/>
                </a:solidFill>
                <a:effectLst/>
                <a:latin typeface="+mn-lt"/>
                <a:ea typeface="+mn-ea"/>
                <a:cs typeface="+mn-cs"/>
              </a:rPr>
              <a:t> 機制。KDA 具有種類似循環神經網絡（RNN）的衰減閘門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Decay Gate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會隨著序列長度動態調整時間尺度（Timescales）。</a:t>
            </a:r>
          </a:p>
          <a:p>
            <a:pPr lvl="0"/>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Kimi 的 NoPE 是一場</a:t>
            </a:r>
            <a:r>
              <a:rPr lang="zh-TW" altLang="zh-TW" sz="1200" b="1" u="none" strike="noStrike" kern="1200" dirty="0">
                <a:solidFill>
                  <a:schemeClr val="tx1"/>
                </a:solidFill>
                <a:effectLst/>
                <a:latin typeface="+mn-lt"/>
                <a:ea typeface="+mn-ea"/>
                <a:cs typeface="+mn-cs"/>
              </a:rPr>
              <a:t>對注意力機制的根本性簡化</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3493288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youtu.be/AIRfT41A89s?si=wd8CxmH65YRXOa75"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0.png"/><Relationship Id="rId7" Type="http://schemas.openxmlformats.org/officeDocument/2006/relationships/image" Target="../media/image34.png"/><Relationship Id="rId12" Type="http://schemas.openxmlformats.org/officeDocument/2006/relationships/image" Target="../media/image3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7.png"/><Relationship Id="rId5" Type="http://schemas.openxmlformats.org/officeDocument/2006/relationships/image" Target="../media/image32.png"/><Relationship Id="rId10" Type="http://schemas.openxmlformats.org/officeDocument/2006/relationships/image" Target="../media/image36.png"/><Relationship Id="rId4" Type="http://schemas.openxmlformats.org/officeDocument/2006/relationships/image" Target="../media/image31.png"/><Relationship Id="rId9"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DeepSeek</a:t>
            </a:r>
            <a:r>
              <a:rPr lang="zh-TW" altLang="en-US" sz="4000" b="1" dirty="0"/>
              <a:t> </a:t>
            </a:r>
            <a:r>
              <a:rPr lang="en-US" altLang="zh-TW" sz="4000" b="1" dirty="0" err="1"/>
              <a:t>MoE</a:t>
            </a:r>
            <a:endParaRPr lang="en-US" altLang="zh-TW" sz="4000" b="1" dirty="0"/>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16200000">
            <a:off x="3667387" y="868541"/>
            <a:ext cx="153042" cy="453650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6B827-3C5A-0C6D-82A1-0A51AF39DEC9}"/>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F9FF304-1DDA-660D-42C3-2383214BEC5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25055423-510F-6B54-91E6-4A5C3B12987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111" name="文字方塊 110">
            <a:extLst>
              <a:ext uri="{FF2B5EF4-FFF2-40B4-BE49-F238E27FC236}">
                <a16:creationId xmlns:a16="http://schemas.microsoft.com/office/drawing/2014/main" id="{5F3145DB-2AB6-E48C-CF45-AE37E8439159}"/>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8AD9189E-86F6-F113-C084-DB9CFA1ECEAB}"/>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60D2A9A5-D914-99FD-7230-FE8F481C9B25}"/>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5309D66F-393B-61F1-5ABA-2A95E1A60044}"/>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3C384C9D-E38C-B3F2-5A8E-6CCF9748AC87}"/>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8A9A2003-7F56-318B-5ECA-840E3AEC7CD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9FC26424-CF28-C126-AD62-BD56D03B5BA1}"/>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FABEA046-D813-5AA6-09CC-5A7E08C57319}"/>
              </a:ext>
            </a:extLst>
          </p:cNvPr>
          <p:cNvSpPr txBox="1"/>
          <p:nvPr/>
        </p:nvSpPr>
        <p:spPr>
          <a:xfrm>
            <a:off x="1259632" y="429796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a:effectLst/>
                <a:latin typeface="Gadugi" panose="020B0502040204020203" pitchFamily="34" charset="0"/>
                <a:ea typeface="Gadugi" panose="020B0502040204020203" pitchFamily="34" charset="0"/>
                <a:cs typeface="ADLaM Display" panose="02010000000000000000" pitchFamily="2" charset="0"/>
              </a:rPr>
              <a:t>SPE</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Sinusoidal</a:t>
            </a:r>
          </a:p>
        </p:txBody>
      </p:sp>
      <p:sp>
        <p:nvSpPr>
          <p:cNvPr id="18" name="文字方塊 17">
            <a:extLst>
              <a:ext uri="{FF2B5EF4-FFF2-40B4-BE49-F238E27FC236}">
                <a16:creationId xmlns:a16="http://schemas.microsoft.com/office/drawing/2014/main" id="{5C00EC41-1F49-57EC-70E4-CA737D6660A3}"/>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8B0D5418-C89E-4F45-E00A-61B05D299A5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sp>
        <p:nvSpPr>
          <p:cNvPr id="28" name="文字方塊 27">
            <a:extLst>
              <a:ext uri="{FF2B5EF4-FFF2-40B4-BE49-F238E27FC236}">
                <a16:creationId xmlns:a16="http://schemas.microsoft.com/office/drawing/2014/main" id="{EC39264B-02B4-34B1-88B0-25644E4FEA06}"/>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8D97DBDB-40A5-B54E-3CB7-471311F434C5}"/>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C451E27D-EDC7-6CDC-E068-D8157F0F92AD}"/>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3AAB39FA-7DE5-6A30-EC56-ABE86FDDFD49}"/>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6BFC1626-0B48-FD81-8732-FF7961FAB391}"/>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B2FCB297-A73A-AFE8-8142-1340F17E8ABA}"/>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FF15A0C-BBA2-796B-9446-776B94FC23B4}"/>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8" name="文字方塊 7">
            <a:extLst>
              <a:ext uri="{FF2B5EF4-FFF2-40B4-BE49-F238E27FC236}">
                <a16:creationId xmlns:a16="http://schemas.microsoft.com/office/drawing/2014/main" id="{2BD819E8-714A-ABF7-E8C8-8341CC13E86E}"/>
              </a:ext>
            </a:extLst>
          </p:cNvPr>
          <p:cNvSpPr txBox="1"/>
          <p:nvPr/>
        </p:nvSpPr>
        <p:spPr>
          <a:xfrm>
            <a:off x="2403376"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p:txBody>
      </p:sp>
      <p:sp>
        <p:nvSpPr>
          <p:cNvPr id="3" name="文字方塊 2">
            <a:extLst>
              <a:ext uri="{FF2B5EF4-FFF2-40B4-BE49-F238E27FC236}">
                <a16:creationId xmlns:a16="http://schemas.microsoft.com/office/drawing/2014/main" id="{3A75B14B-45FF-6974-21BD-63E2710FC699}"/>
              </a:ext>
            </a:extLst>
          </p:cNvPr>
          <p:cNvSpPr txBox="1"/>
          <p:nvPr/>
        </p:nvSpPr>
        <p:spPr>
          <a:xfrm>
            <a:off x="3642332"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a:t>
            </a:r>
            <a:r>
              <a:rPr lang="en-US" altLang="zh-TW" sz="1200" u="none" strike="noStrike" dirty="0" err="1">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 name="文字方塊 4">
            <a:extLst>
              <a:ext uri="{FF2B5EF4-FFF2-40B4-BE49-F238E27FC236}">
                <a16:creationId xmlns:a16="http://schemas.microsoft.com/office/drawing/2014/main" id="{F05B033D-66DB-B80C-07C1-053F40DC83E8}"/>
              </a:ext>
            </a:extLst>
          </p:cNvPr>
          <p:cNvSpPr txBox="1"/>
          <p:nvPr/>
        </p:nvSpPr>
        <p:spPr>
          <a:xfrm>
            <a:off x="4878051"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Everywhere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103034474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CC3DF-70C2-522A-0FDF-2582632E1FB9}"/>
            </a:ext>
          </a:extLst>
        </p:cNvPr>
        <p:cNvGrpSpPr/>
        <p:nvPr/>
      </p:nvGrpSpPr>
      <p:grpSpPr>
        <a:xfrm>
          <a:off x="0" y="0"/>
          <a:ext cx="0" cy="0"/>
          <a:chOff x="0" y="0"/>
          <a:chExt cx="0" cy="0"/>
        </a:xfrm>
      </p:grpSpPr>
      <p:sp>
        <p:nvSpPr>
          <p:cNvPr id="11" name="標題 1">
            <a:extLst>
              <a:ext uri="{FF2B5EF4-FFF2-40B4-BE49-F238E27FC236}">
                <a16:creationId xmlns:a16="http://schemas.microsoft.com/office/drawing/2014/main" id="{747548ED-9990-3C5B-8C16-2521E06BE428}"/>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pic>
        <p:nvPicPr>
          <p:cNvPr id="5" name="圖片 4">
            <a:extLst>
              <a:ext uri="{FF2B5EF4-FFF2-40B4-BE49-F238E27FC236}">
                <a16:creationId xmlns:a16="http://schemas.microsoft.com/office/drawing/2014/main" id="{8095A884-8EAC-6F06-810B-C83343A15BDA}"/>
              </a:ext>
            </a:extLst>
          </p:cNvPr>
          <p:cNvPicPr>
            <a:picLocks noChangeAspect="1"/>
          </p:cNvPicPr>
          <p:nvPr/>
        </p:nvPicPr>
        <p:blipFill>
          <a:blip r:embed="rId3"/>
          <a:stretch>
            <a:fillRect/>
          </a:stretch>
        </p:blipFill>
        <p:spPr>
          <a:xfrm>
            <a:off x="0" y="1196752"/>
            <a:ext cx="4956040" cy="2304256"/>
          </a:xfrm>
          <a:prstGeom prst="rect">
            <a:avLst/>
          </a:prstGeom>
        </p:spPr>
      </p:pic>
      <p:pic>
        <p:nvPicPr>
          <p:cNvPr id="10" name="圖片 9">
            <a:extLst>
              <a:ext uri="{FF2B5EF4-FFF2-40B4-BE49-F238E27FC236}">
                <a16:creationId xmlns:a16="http://schemas.microsoft.com/office/drawing/2014/main" id="{DD86CA32-970D-2496-47EF-AAFC418ABEFB}"/>
              </a:ext>
            </a:extLst>
          </p:cNvPr>
          <p:cNvPicPr>
            <a:picLocks noChangeAspect="1"/>
          </p:cNvPicPr>
          <p:nvPr/>
        </p:nvPicPr>
        <p:blipFill>
          <a:blip r:embed="rId4"/>
          <a:stretch>
            <a:fillRect/>
          </a:stretch>
        </p:blipFill>
        <p:spPr>
          <a:xfrm>
            <a:off x="1" y="4331484"/>
            <a:ext cx="4956040" cy="2121852"/>
          </a:xfrm>
          <a:prstGeom prst="rect">
            <a:avLst/>
          </a:prstGeom>
        </p:spPr>
      </p:pic>
      <p:pic>
        <p:nvPicPr>
          <p:cNvPr id="17" name="圖片 16">
            <a:extLst>
              <a:ext uri="{FF2B5EF4-FFF2-40B4-BE49-F238E27FC236}">
                <a16:creationId xmlns:a16="http://schemas.microsoft.com/office/drawing/2014/main" id="{37162C3A-7B4F-0FFF-EF3C-FCB377ACAEDC}"/>
              </a:ext>
            </a:extLst>
          </p:cNvPr>
          <p:cNvPicPr>
            <a:picLocks noChangeAspect="1"/>
          </p:cNvPicPr>
          <p:nvPr/>
        </p:nvPicPr>
        <p:blipFill>
          <a:blip r:embed="rId5"/>
          <a:stretch>
            <a:fillRect/>
          </a:stretch>
        </p:blipFill>
        <p:spPr>
          <a:xfrm>
            <a:off x="4001637" y="24780"/>
            <a:ext cx="5125570" cy="1848950"/>
          </a:xfrm>
          <a:prstGeom prst="rect">
            <a:avLst/>
          </a:prstGeom>
        </p:spPr>
      </p:pic>
      <p:pic>
        <p:nvPicPr>
          <p:cNvPr id="22" name="圖片 21">
            <a:extLst>
              <a:ext uri="{FF2B5EF4-FFF2-40B4-BE49-F238E27FC236}">
                <a16:creationId xmlns:a16="http://schemas.microsoft.com/office/drawing/2014/main" id="{7E69E454-371F-867B-3720-89CEABC1F2BC}"/>
              </a:ext>
            </a:extLst>
          </p:cNvPr>
          <p:cNvPicPr>
            <a:picLocks noChangeAspect="1"/>
          </p:cNvPicPr>
          <p:nvPr/>
        </p:nvPicPr>
        <p:blipFill>
          <a:blip r:embed="rId6"/>
          <a:stretch>
            <a:fillRect/>
          </a:stretch>
        </p:blipFill>
        <p:spPr>
          <a:xfrm>
            <a:off x="4018429" y="3068960"/>
            <a:ext cx="5125571" cy="2215620"/>
          </a:xfrm>
          <a:prstGeom prst="rect">
            <a:avLst/>
          </a:prstGeom>
        </p:spPr>
      </p:pic>
      <p:pic>
        <p:nvPicPr>
          <p:cNvPr id="24" name="圖片 23">
            <a:extLst>
              <a:ext uri="{FF2B5EF4-FFF2-40B4-BE49-F238E27FC236}">
                <a16:creationId xmlns:a16="http://schemas.microsoft.com/office/drawing/2014/main" id="{734FBE87-E2F9-CC6D-45DC-14DA7E8ACD75}"/>
              </a:ext>
            </a:extLst>
          </p:cNvPr>
          <p:cNvPicPr>
            <a:picLocks noChangeAspect="1"/>
          </p:cNvPicPr>
          <p:nvPr/>
        </p:nvPicPr>
        <p:blipFill>
          <a:blip r:embed="rId7"/>
          <a:stretch>
            <a:fillRect/>
          </a:stretch>
        </p:blipFill>
        <p:spPr>
          <a:xfrm>
            <a:off x="3275856" y="6324113"/>
            <a:ext cx="5851351" cy="480202"/>
          </a:xfrm>
          <a:prstGeom prst="rect">
            <a:avLst/>
          </a:prstGeom>
        </p:spPr>
      </p:pic>
    </p:spTree>
    <p:extLst>
      <p:ext uri="{BB962C8B-B14F-4D97-AF65-F5344CB8AC3E}">
        <p14:creationId xmlns:p14="http://schemas.microsoft.com/office/powerpoint/2010/main" val="31877690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6F9624E-C0C3-0C2E-AA84-84A132024A6C}"/>
              </a:ext>
            </a:extLst>
          </p:cNvPr>
          <p:cNvPicPr>
            <a:picLocks noChangeAspect="1"/>
          </p:cNvPicPr>
          <p:nvPr/>
        </p:nvPicPr>
        <p:blipFill>
          <a:blip r:embed="rId3"/>
          <a:stretch>
            <a:fillRect/>
          </a:stretch>
        </p:blipFill>
        <p:spPr>
          <a:xfrm>
            <a:off x="683568" y="3573016"/>
            <a:ext cx="6096851" cy="2724530"/>
          </a:xfrm>
          <a:prstGeom prst="rect">
            <a:avLst/>
          </a:prstGeom>
        </p:spPr>
      </p:pic>
      <p:sp>
        <p:nvSpPr>
          <p:cNvPr id="5" name="文字方塊 4">
            <a:extLst>
              <a:ext uri="{FF2B5EF4-FFF2-40B4-BE49-F238E27FC236}">
                <a16:creationId xmlns:a16="http://schemas.microsoft.com/office/drawing/2014/main" id="{FFEF965C-25D3-1E87-CB7E-E818BAC49D4D}"/>
              </a:ext>
            </a:extLst>
          </p:cNvPr>
          <p:cNvSpPr txBox="1"/>
          <p:nvPr/>
        </p:nvSpPr>
        <p:spPr>
          <a:xfrm>
            <a:off x="467544" y="560454"/>
            <a:ext cx="8424936" cy="553998"/>
          </a:xfrm>
          <a:prstGeom prst="rect">
            <a:avLst/>
          </a:prstGeom>
          <a:noFill/>
        </p:spPr>
        <p:txBody>
          <a:bodyPr wrap="square">
            <a:spAutoFit/>
          </a:bodyPr>
          <a:lstStyle/>
          <a:p>
            <a:r>
              <a:rPr lang="zh-TW" altLang="zh-TW" sz="1200" b="1" u="none" strike="noStrike" dirty="0">
                <a:effectLst/>
                <a:latin typeface="+mn-lt"/>
              </a:rPr>
              <a:t>DeepSeek 是把 NoPE 與 RoPE 做「同層拆分」；而 Kimi 則是走得更極端，在特定層（或全模型）直接全面拔除 RoPE，改用別的機制來遞補位置資訊</a:t>
            </a:r>
            <a:r>
              <a:rPr lang="zh-TW" altLang="zh-TW" dirty="0"/>
              <a:t>。</a:t>
            </a:r>
            <a:endParaRPr lang="zh-TW" altLang="en-US" dirty="0"/>
          </a:p>
        </p:txBody>
      </p:sp>
    </p:spTree>
    <p:extLst>
      <p:ext uri="{BB962C8B-B14F-4D97-AF65-F5344CB8AC3E}">
        <p14:creationId xmlns:p14="http://schemas.microsoft.com/office/powerpoint/2010/main" val="24500021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892899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Hybrid Attention = CSA</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HCA</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Compressed Sparse Attention and Heavily Compressed Attention </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圖片 9">
            <a:extLst>
              <a:ext uri="{FF2B5EF4-FFF2-40B4-BE49-F238E27FC236}">
                <a16:creationId xmlns:a16="http://schemas.microsoft.com/office/drawing/2014/main" id="{A4124255-11F6-026A-F82F-41429326C33C}"/>
              </a:ext>
            </a:extLst>
          </p:cNvPr>
          <p:cNvPicPr>
            <a:picLocks noChangeAspect="1"/>
          </p:cNvPicPr>
          <p:nvPr/>
        </p:nvPicPr>
        <p:blipFill>
          <a:blip r:embed="rId2"/>
          <a:stretch>
            <a:fillRect/>
          </a:stretch>
        </p:blipFill>
        <p:spPr>
          <a:xfrm>
            <a:off x="199415" y="332943"/>
            <a:ext cx="8745170" cy="6192114"/>
          </a:xfrm>
          <a:prstGeom prst="rect">
            <a:avLst/>
          </a:prstGeom>
        </p:spPr>
      </p:pic>
    </p:spTree>
    <p:extLst>
      <p:ext uri="{BB962C8B-B14F-4D97-AF65-F5344CB8AC3E}">
        <p14:creationId xmlns:p14="http://schemas.microsoft.com/office/powerpoint/2010/main" val="25798156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466444"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MQA</a:t>
            </a:r>
          </a:p>
          <a:p>
            <a:pPr algn="ctr">
              <a:lnSpc>
                <a:spcPts val="1400"/>
              </a:lnSpc>
              <a:buNone/>
            </a:pPr>
            <a:r>
              <a:rPr lang="en-US" altLang="zh-TW" sz="1200" dirty="0"/>
              <a:t>Multi-</a:t>
            </a:r>
            <a:r>
              <a:rPr lang="en-US" altLang="zh-TW" sz="1200" dirty="0" err="1"/>
              <a:t>headbi</a:t>
            </a:r>
            <a:endParaRPr lang="en-US" altLang="zh-TW" sz="1200" dirty="0"/>
          </a:p>
          <a:p>
            <a:pPr algn="ctr">
              <a:lnSpc>
                <a:spcPts val="1400"/>
              </a:lnSpc>
              <a:buNone/>
            </a:pPr>
            <a:r>
              <a:rPr lang="en-US" altLang="zh-TW" sz="1200" u="none" strike="noStrike" dirty="0">
                <a:effectLst/>
              </a:rPr>
              <a:t>Query</a:t>
            </a:r>
          </a:p>
          <a:p>
            <a:pPr algn="ctr">
              <a:lnSpc>
                <a:spcPts val="1400"/>
              </a:lnSpc>
              <a:buNone/>
            </a:pPr>
            <a:r>
              <a:rPr lang="en-US" altLang="zh-TW" sz="1200" dirty="0"/>
              <a:t>2019</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707904"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GQA</a:t>
            </a:r>
          </a:p>
          <a:p>
            <a:pPr algn="ctr">
              <a:lnSpc>
                <a:spcPts val="1400"/>
              </a:lnSpc>
              <a:buNone/>
            </a:pPr>
            <a:r>
              <a:rPr lang="en-US" altLang="zh-TW" sz="1200" dirty="0"/>
              <a:t>Grouped</a:t>
            </a:r>
          </a:p>
          <a:p>
            <a:pPr algn="ctr">
              <a:lnSpc>
                <a:spcPts val="1400"/>
              </a:lnSpc>
              <a:buNone/>
            </a:pPr>
            <a:r>
              <a:rPr lang="en-US" altLang="zh-TW" sz="1200" dirty="0"/>
              <a:t>Query</a:t>
            </a:r>
          </a:p>
          <a:p>
            <a:pPr algn="ctr">
              <a:lnSpc>
                <a:spcPts val="1400"/>
              </a:lnSpc>
              <a:buNone/>
            </a:pPr>
            <a:r>
              <a:rPr lang="en-US" altLang="zh-TW" sz="1200" u="none" strike="noStrike" dirty="0">
                <a:effectLst/>
              </a:rPr>
              <a:t>2023</a:t>
            </a:r>
          </a:p>
        </p:txBody>
      </p:sp>
      <p:sp>
        <p:nvSpPr>
          <p:cNvPr id="9" name="文字方塊 8">
            <a:extLst>
              <a:ext uri="{FF2B5EF4-FFF2-40B4-BE49-F238E27FC236}">
                <a16:creationId xmlns:a16="http://schemas.microsoft.com/office/drawing/2014/main" id="{B13425BD-8E63-0EFC-AD98-38638AC090BD}"/>
              </a:ext>
            </a:extLst>
          </p:cNvPr>
          <p:cNvSpPr txBox="1"/>
          <p:nvPr/>
        </p:nvSpPr>
        <p:spPr>
          <a:xfrm>
            <a:off x="556278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MLA</a:t>
            </a:r>
          </a:p>
          <a:p>
            <a:pPr algn="ctr">
              <a:lnSpc>
                <a:spcPts val="1400"/>
              </a:lnSpc>
              <a:buNone/>
            </a:pPr>
            <a:r>
              <a:rPr lang="en-US" altLang="zh-TW" sz="1200" dirty="0"/>
              <a:t>Multi</a:t>
            </a:r>
          </a:p>
          <a:p>
            <a:pPr algn="ctr">
              <a:lnSpc>
                <a:spcPts val="1400"/>
              </a:lnSpc>
              <a:buNone/>
            </a:pPr>
            <a:r>
              <a:rPr lang="en-US" altLang="zh-TW" sz="1200" dirty="0"/>
              <a:t>Latent</a:t>
            </a:r>
          </a:p>
          <a:p>
            <a:pPr algn="ctr">
              <a:lnSpc>
                <a:spcPts val="1400"/>
              </a:lnSpc>
              <a:buNone/>
            </a:pPr>
            <a:r>
              <a:rPr lang="en-US" altLang="zh-TW" sz="1200" dirty="0"/>
              <a:t>2025</a:t>
            </a:r>
          </a:p>
          <a:p>
            <a:pPr algn="ctr">
              <a:lnSpc>
                <a:spcPts val="1400"/>
              </a:lnSpc>
              <a:buNone/>
            </a:pPr>
            <a:endParaRPr lang="en-US" altLang="zh-TW" sz="1200" dirty="0"/>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664290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KDA</a:t>
            </a:r>
            <a:endParaRPr lang="en-US" altLang="zh-TW" sz="1400" b="1" u="none" strike="noStrike" dirty="0">
              <a:effectLst/>
            </a:endParaRPr>
          </a:p>
          <a:p>
            <a:pPr algn="ctr">
              <a:lnSpc>
                <a:spcPts val="1400"/>
              </a:lnSpc>
              <a:buNone/>
            </a:pPr>
            <a:r>
              <a:rPr lang="en-US" altLang="zh-TW" sz="1200" dirty="0"/>
              <a:t>Kimi Delta</a:t>
            </a:r>
          </a:p>
          <a:p>
            <a:pPr algn="ctr">
              <a:lnSpc>
                <a:spcPts val="1400"/>
              </a:lnSpc>
              <a:buNone/>
            </a:pPr>
            <a:r>
              <a:rPr lang="en-US" altLang="zh-TW" sz="1200" dirty="0"/>
              <a:t>Attention</a:t>
            </a:r>
          </a:p>
          <a:p>
            <a:pPr algn="ctr">
              <a:lnSpc>
                <a:spcPts val="1400"/>
              </a:lnSpc>
              <a:buNone/>
            </a:pPr>
            <a:r>
              <a:rPr lang="en-US" altLang="zh-TW" sz="1200" dirty="0"/>
              <a:t>2026</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MHA</a:t>
            </a:r>
          </a:p>
          <a:p>
            <a:pPr algn="ctr">
              <a:lnSpc>
                <a:spcPts val="1400"/>
              </a:lnSpc>
              <a:buNone/>
            </a:pPr>
            <a:r>
              <a:rPr lang="en-US" altLang="zh-TW" sz="1200" dirty="0"/>
              <a:t>Multi</a:t>
            </a:r>
          </a:p>
          <a:p>
            <a:pPr algn="ctr">
              <a:lnSpc>
                <a:spcPts val="1400"/>
              </a:lnSpc>
              <a:buNone/>
            </a:pPr>
            <a:r>
              <a:rPr lang="en-US" altLang="zh-TW" sz="1200" dirty="0"/>
              <a:t>Head</a:t>
            </a:r>
          </a:p>
          <a:p>
            <a:pPr algn="ctr">
              <a:lnSpc>
                <a:spcPts val="1400"/>
              </a:lnSpc>
              <a:buNone/>
            </a:pPr>
            <a:r>
              <a:rPr lang="en-US" altLang="zh-TW" sz="1200" dirty="0"/>
              <a:t>2017</a:t>
            </a:r>
          </a:p>
        </p:txBody>
      </p:sp>
      <p:sp>
        <p:nvSpPr>
          <p:cNvPr id="12" name="右大括弧 11">
            <a:extLst>
              <a:ext uri="{FF2B5EF4-FFF2-40B4-BE49-F238E27FC236}">
                <a16:creationId xmlns:a16="http://schemas.microsoft.com/office/drawing/2014/main" id="{F7D623D8-E3EB-A23D-405F-B7C4DC6B3B36}"/>
              </a:ext>
            </a:extLst>
          </p:cNvPr>
          <p:cNvSpPr/>
          <p:nvPr/>
        </p:nvSpPr>
        <p:spPr>
          <a:xfrm rot="16200000">
            <a:off x="2809239" y="1457362"/>
            <a:ext cx="148250" cy="2671389"/>
          </a:xfrm>
          <a:prstGeom prst="rightBrace">
            <a:avLst>
              <a:gd name="adj1" fmla="val 8333"/>
              <a:gd name="adj2" fmla="val 5031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8244408" y="3095765"/>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397400"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nvGraphicFramePr>
        <p:xfrm>
          <a:off x="6534897" y="4519049"/>
          <a:ext cx="1349471" cy="622494"/>
        </p:xfrm>
        <a:graphic>
          <a:graphicData uri="http://schemas.openxmlformats.org/drawingml/2006/table">
            <a:tbl>
              <a:tblPr firstRow="1" bandRow="1">
                <a:tableStyleId>{5C22544A-7EE6-4342-B048-85BDC9FD1C3A}</a:tableStyleId>
              </a:tblPr>
              <a:tblGrid>
                <a:gridCol w="1349471">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Moonshot AI</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LSTM</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NoPE Everywhere</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32382004"/>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6534897" y="3840781"/>
            <a:ext cx="1349471"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a:endCxn id="15" idx="0"/>
          </p:cNvCxnSpPr>
          <p:nvPr/>
        </p:nvCxnSpPr>
        <p:spPr>
          <a:xfrm flipH="1">
            <a:off x="7209632" y="4149080"/>
            <a:ext cx="1" cy="369969"/>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graphicFrame>
        <p:nvGraphicFramePr>
          <p:cNvPr id="21" name="表格 20">
            <a:extLst>
              <a:ext uri="{FF2B5EF4-FFF2-40B4-BE49-F238E27FC236}">
                <a16:creationId xmlns:a16="http://schemas.microsoft.com/office/drawing/2014/main" id="{B63988D1-7A48-56F1-C555-9C16E500FE51}"/>
              </a:ext>
            </a:extLst>
          </p:cNvPr>
          <p:cNvGraphicFramePr>
            <a:graphicFrameLocks noGrp="1"/>
          </p:cNvGraphicFramePr>
          <p:nvPr/>
        </p:nvGraphicFramePr>
        <p:xfrm>
          <a:off x="1079612" y="3933056"/>
          <a:ext cx="1097443" cy="731520"/>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Brain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Original Transformer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3" name="表格 22">
            <a:extLst>
              <a:ext uri="{FF2B5EF4-FFF2-40B4-BE49-F238E27FC236}">
                <a16:creationId xmlns:a16="http://schemas.microsoft.com/office/drawing/2014/main" id="{B13AF0D5-623C-586B-2A02-62CC38472E6D}"/>
              </a:ext>
            </a:extLst>
          </p:cNvPr>
          <p:cNvGraphicFramePr>
            <a:graphicFrameLocks noGrp="1"/>
          </p:cNvGraphicFramePr>
          <p:nvPr/>
        </p:nvGraphicFramePr>
        <p:xfrm>
          <a:off x="2142408" y="4005064"/>
          <a:ext cx="1232798" cy="551945"/>
        </p:xfrm>
        <a:graphic>
          <a:graphicData uri="http://schemas.openxmlformats.org/drawingml/2006/table">
            <a:tbl>
              <a:tblPr firstRow="1" bandRow="1">
                <a:tableStyleId>{5C22544A-7EE6-4342-B048-85BDC9FD1C3A}</a:tableStyleId>
              </a:tblPr>
              <a:tblGrid>
                <a:gridCol w="1232798">
                  <a:extLst>
                    <a:ext uri="{9D8B030D-6E8A-4147-A177-3AD203B41FA5}">
                      <a16:colId xmlns:a16="http://schemas.microsoft.com/office/drawing/2014/main" val="4512040"/>
                    </a:ext>
                  </a:extLst>
                </a:gridCol>
              </a:tblGrid>
              <a:tr h="186185">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320982">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Share Key-Value</a:t>
                      </a:r>
                    </a:p>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Vector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5" name="表格 24">
            <a:extLst>
              <a:ext uri="{FF2B5EF4-FFF2-40B4-BE49-F238E27FC236}">
                <a16:creationId xmlns:a16="http://schemas.microsoft.com/office/drawing/2014/main" id="{4510516A-4A11-3856-A1AB-47AA0F81258B}"/>
              </a:ext>
            </a:extLst>
          </p:cNvPr>
          <p:cNvGraphicFramePr>
            <a:graphicFrameLocks noGrp="1"/>
          </p:cNvGraphicFramePr>
          <p:nvPr/>
        </p:nvGraphicFramePr>
        <p:xfrm>
          <a:off x="4447065" y="4439918"/>
          <a:ext cx="1097443" cy="573258"/>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Research</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7" name="表格 26">
            <a:extLst>
              <a:ext uri="{FF2B5EF4-FFF2-40B4-BE49-F238E27FC236}">
                <a16:creationId xmlns:a16="http://schemas.microsoft.com/office/drawing/2014/main" id="{BF16B2F9-4384-6B9A-B1E2-A9242FADC75D}"/>
              </a:ext>
            </a:extLst>
          </p:cNvPr>
          <p:cNvGraphicFramePr>
            <a:graphicFrameLocks noGrp="1"/>
          </p:cNvGraphicFramePr>
          <p:nvPr/>
        </p:nvGraphicFramePr>
        <p:xfrm>
          <a:off x="5454777" y="5102236"/>
          <a:ext cx="1097443" cy="622494"/>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DeepSeek</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RoPE: </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lang="en-US" altLang="zh-TW" sz="1200" b="0" cap="none" spc="0" dirty="0">
                          <a:ln w="0"/>
                          <a:solidFill>
                            <a:schemeClr val="tx1"/>
                          </a:solidFill>
                          <a:effectLst/>
                        </a:rPr>
                        <a:t>NoPE: LoRA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29306133"/>
                  </a:ext>
                </a:extLst>
              </a:tr>
            </a:tbl>
          </a:graphicData>
        </a:graphic>
      </p:graphicFrame>
      <p:sp>
        <p:nvSpPr>
          <p:cNvPr id="29" name="文字方塊 28">
            <a:extLst>
              <a:ext uri="{FF2B5EF4-FFF2-40B4-BE49-F238E27FC236}">
                <a16:creationId xmlns:a16="http://schemas.microsoft.com/office/drawing/2014/main" id="{E97EF7E7-0036-D0B1-2B52-088EE420AB3F}"/>
              </a:ext>
            </a:extLst>
          </p:cNvPr>
          <p:cNvSpPr txBox="1"/>
          <p:nvPr/>
        </p:nvSpPr>
        <p:spPr>
          <a:xfrm>
            <a:off x="2843808" y="1518676"/>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RoPE</a:t>
            </a:r>
            <a:endParaRPr lang="en-US" altLang="zh-TW" sz="1400" b="1" u="none" strike="noStrike" dirty="0">
              <a:effectLst/>
            </a:endParaRPr>
          </a:p>
          <a:p>
            <a:pPr algn="ctr">
              <a:lnSpc>
                <a:spcPts val="1400"/>
              </a:lnSpc>
              <a:buNone/>
            </a:pPr>
            <a:r>
              <a:rPr lang="en-US" altLang="zh-TW" sz="1200" dirty="0"/>
              <a:t>Rotary </a:t>
            </a:r>
          </a:p>
          <a:p>
            <a:pPr algn="ctr">
              <a:lnSpc>
                <a:spcPts val="1400"/>
              </a:lnSpc>
              <a:buNone/>
            </a:pPr>
            <a:r>
              <a:rPr lang="en-US" altLang="zh-TW" sz="1200" dirty="0"/>
              <a:t>PE</a:t>
            </a:r>
          </a:p>
          <a:p>
            <a:pPr algn="ctr">
              <a:lnSpc>
                <a:spcPts val="1400"/>
              </a:lnSpc>
              <a:buNone/>
            </a:pPr>
            <a:r>
              <a:rPr lang="en-US" altLang="zh-TW" sz="1200" dirty="0"/>
              <a:t>2021</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3" name="文字方塊 32">
            <a:extLst>
              <a:ext uri="{FF2B5EF4-FFF2-40B4-BE49-F238E27FC236}">
                <a16:creationId xmlns:a16="http://schemas.microsoft.com/office/drawing/2014/main" id="{09BF9E0E-BC99-1953-CAB8-AD87D1D61441}"/>
              </a:ext>
            </a:extLst>
          </p:cNvPr>
          <p:cNvSpPr txBox="1"/>
          <p:nvPr/>
        </p:nvSpPr>
        <p:spPr>
          <a:xfrm>
            <a:off x="5436096" y="1520556"/>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NoPE</a:t>
            </a:r>
            <a:endParaRPr lang="en-US" altLang="zh-TW" sz="1400" b="1" u="none" strike="noStrike" dirty="0">
              <a:effectLst/>
            </a:endParaRPr>
          </a:p>
          <a:p>
            <a:pPr algn="ctr">
              <a:lnSpc>
                <a:spcPts val="1400"/>
              </a:lnSpc>
              <a:buNone/>
            </a:pPr>
            <a:r>
              <a:rPr lang="en-US" altLang="zh-TW" sz="1200" dirty="0" err="1"/>
              <a:t>NoPE</a:t>
            </a:r>
            <a:r>
              <a:rPr lang="en-US" altLang="zh-TW" sz="1200" dirty="0"/>
              <a:t> + </a:t>
            </a:r>
            <a:r>
              <a:rPr lang="en-US" altLang="zh-TW" sz="1200" dirty="0" err="1"/>
              <a:t>RoPE</a:t>
            </a:r>
            <a:endParaRPr lang="en-US" altLang="zh-TW" sz="1200" dirty="0"/>
          </a:p>
          <a:p>
            <a:pPr algn="ctr">
              <a:lnSpc>
                <a:spcPts val="1400"/>
              </a:lnSpc>
              <a:buNone/>
            </a:pPr>
            <a:r>
              <a:rPr lang="en-US" altLang="zh-TW" sz="1200" dirty="0"/>
              <a:t>2024</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5" name="文字方塊 34">
            <a:extLst>
              <a:ext uri="{FF2B5EF4-FFF2-40B4-BE49-F238E27FC236}">
                <a16:creationId xmlns:a16="http://schemas.microsoft.com/office/drawing/2014/main" id="{9125D1E6-3ED7-7524-C07D-0274C3E500A6}"/>
              </a:ext>
            </a:extLst>
          </p:cNvPr>
          <p:cNvSpPr txBox="1"/>
          <p:nvPr/>
        </p:nvSpPr>
        <p:spPr>
          <a:xfrm>
            <a:off x="1187624" y="1518676"/>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Sinusoidal</a:t>
            </a:r>
            <a:endParaRPr lang="en-US" altLang="zh-TW" sz="1400" b="1" u="none" strike="noStrike" dirty="0">
              <a:effectLst/>
            </a:endParaRPr>
          </a:p>
          <a:p>
            <a:pPr algn="ctr">
              <a:lnSpc>
                <a:spcPts val="1400"/>
              </a:lnSpc>
              <a:buNone/>
            </a:pPr>
            <a:r>
              <a:rPr lang="en-US" altLang="zh-TW" sz="1400" b="1" dirty="0"/>
              <a:t>P</a:t>
            </a:r>
            <a:r>
              <a:rPr lang="en-US" altLang="zh-TW" sz="1200" dirty="0"/>
              <a:t>osition </a:t>
            </a:r>
          </a:p>
          <a:p>
            <a:pPr algn="ctr">
              <a:lnSpc>
                <a:spcPts val="1400"/>
              </a:lnSpc>
              <a:buNone/>
            </a:pPr>
            <a:r>
              <a:rPr lang="en-US" altLang="zh-TW" sz="1400" b="1" dirty="0"/>
              <a:t>E</a:t>
            </a:r>
            <a:r>
              <a:rPr lang="en-US" altLang="zh-TW" sz="1200" dirty="0"/>
              <a:t>ncoding</a:t>
            </a:r>
          </a:p>
          <a:p>
            <a:pPr algn="ctr">
              <a:lnSpc>
                <a:spcPts val="1400"/>
              </a:lnSpc>
              <a:buNone/>
            </a:pPr>
            <a:r>
              <a:rPr lang="en-US" altLang="zh-TW" sz="1200" dirty="0"/>
              <a:t>2017</a:t>
            </a:r>
            <a:endParaRPr lang="en-US" altLang="zh-TW" sz="1200" u="none" strike="noStrike" dirty="0">
              <a:effectLst/>
            </a:endParaRPr>
          </a:p>
          <a:p>
            <a:pPr algn="ctr">
              <a:lnSpc>
                <a:spcPts val="1400"/>
              </a:lnSpc>
              <a:buNone/>
            </a:pPr>
            <a:endParaRPr lang="en-US" altLang="zh-TW" sz="1200" u="none" strike="noStrike" dirty="0">
              <a:effectLst/>
            </a:endParaRPr>
          </a:p>
        </p:txBody>
      </p:sp>
      <p:cxnSp>
        <p:nvCxnSpPr>
          <p:cNvPr id="36" name="直線單箭頭接點 35">
            <a:extLst>
              <a:ext uri="{FF2B5EF4-FFF2-40B4-BE49-F238E27FC236}">
                <a16:creationId xmlns:a16="http://schemas.microsoft.com/office/drawing/2014/main" id="{FC05C6B0-B51A-0EAE-05F6-E09B811FED01}"/>
              </a:ext>
            </a:extLst>
          </p:cNvPr>
          <p:cNvCxnSpPr>
            <a:cxnSpLocks/>
            <a:stCxn id="7" idx="3"/>
            <a:endCxn id="8" idx="1"/>
          </p:cNvCxnSpPr>
          <p:nvPr/>
        </p:nvCxnSpPr>
        <p:spPr>
          <a:xfrm>
            <a:off x="3347864" y="3239781"/>
            <a:ext cx="360040"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39" name="直線單箭頭接點 38">
            <a:extLst>
              <a:ext uri="{FF2B5EF4-FFF2-40B4-BE49-F238E27FC236}">
                <a16:creationId xmlns:a16="http://schemas.microsoft.com/office/drawing/2014/main" id="{A4078A93-6BBF-2531-A697-45E53782D62D}"/>
              </a:ext>
            </a:extLst>
          </p:cNvPr>
          <p:cNvCxnSpPr>
            <a:cxnSpLocks/>
            <a:stCxn id="35" idx="3"/>
            <a:endCxn id="29" idx="1"/>
          </p:cNvCxnSpPr>
          <p:nvPr/>
        </p:nvCxnSpPr>
        <p:spPr>
          <a:xfrm>
            <a:off x="2069044" y="1896834"/>
            <a:ext cx="774764"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2" name="直線單箭頭接點 41">
            <a:extLst>
              <a:ext uri="{FF2B5EF4-FFF2-40B4-BE49-F238E27FC236}">
                <a16:creationId xmlns:a16="http://schemas.microsoft.com/office/drawing/2014/main" id="{ECF71182-EBAD-25FD-00D5-FB9F48BAE612}"/>
              </a:ext>
            </a:extLst>
          </p:cNvPr>
          <p:cNvCxnSpPr>
            <a:cxnSpLocks/>
            <a:stCxn id="29" idx="3"/>
            <a:endCxn id="33" idx="1"/>
          </p:cNvCxnSpPr>
          <p:nvPr/>
        </p:nvCxnSpPr>
        <p:spPr>
          <a:xfrm>
            <a:off x="3725228" y="1896834"/>
            <a:ext cx="1710868" cy="188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4" name="右大括弧 53">
            <a:extLst>
              <a:ext uri="{FF2B5EF4-FFF2-40B4-BE49-F238E27FC236}">
                <a16:creationId xmlns:a16="http://schemas.microsoft.com/office/drawing/2014/main" id="{7A40391B-3B1E-C2B9-496C-378A6E19E071}"/>
              </a:ext>
            </a:extLst>
          </p:cNvPr>
          <p:cNvSpPr/>
          <p:nvPr/>
        </p:nvSpPr>
        <p:spPr>
          <a:xfrm rot="16200000">
            <a:off x="6460771" y="1950221"/>
            <a:ext cx="148251" cy="1656183"/>
          </a:xfrm>
          <a:prstGeom prst="rightBrace">
            <a:avLst>
              <a:gd name="adj1" fmla="val 8333"/>
              <a:gd name="adj2" fmla="val 16183"/>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 name="文字方塊 3">
            <a:extLst>
              <a:ext uri="{FF2B5EF4-FFF2-40B4-BE49-F238E27FC236}">
                <a16:creationId xmlns:a16="http://schemas.microsoft.com/office/drawing/2014/main" id="{7376A68B-DFF6-9E8D-DCCB-37C57C7124D6}"/>
              </a:ext>
            </a:extLst>
          </p:cNvPr>
          <p:cNvSpPr txBox="1"/>
          <p:nvPr/>
        </p:nvSpPr>
        <p:spPr>
          <a:xfrm>
            <a:off x="1836358" y="409537"/>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a:effectLst/>
                <a:latin typeface="Gadugi" panose="020B0502040204020203" pitchFamily="34" charset="0"/>
                <a:ea typeface="Gadugi" panose="020B0502040204020203" pitchFamily="34" charset="0"/>
                <a:cs typeface="ADLaM Display" panose="02010000000000000000" pitchFamily="2" charset="0"/>
              </a:rPr>
              <a:t>SPE</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Sinusoidal</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2017</a:t>
            </a:r>
          </a:p>
        </p:txBody>
      </p:sp>
      <p:sp>
        <p:nvSpPr>
          <p:cNvPr id="6" name="文字方塊 5">
            <a:extLst>
              <a:ext uri="{FF2B5EF4-FFF2-40B4-BE49-F238E27FC236}">
                <a16:creationId xmlns:a16="http://schemas.microsoft.com/office/drawing/2014/main" id="{234A8786-467E-5096-5AF7-AE5E4B7FEEE4}"/>
              </a:ext>
            </a:extLst>
          </p:cNvPr>
          <p:cNvSpPr txBox="1"/>
          <p:nvPr/>
        </p:nvSpPr>
        <p:spPr>
          <a:xfrm>
            <a:off x="2980102" y="404664"/>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2021</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5FCBE4DA-0CFD-2CDE-BA36-197F9991AF22}"/>
              </a:ext>
            </a:extLst>
          </p:cNvPr>
          <p:cNvSpPr txBox="1"/>
          <p:nvPr/>
        </p:nvSpPr>
        <p:spPr>
          <a:xfrm>
            <a:off x="4219058" y="404664"/>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2023</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682AF460-9834-D366-1A68-75D16128FD92}"/>
              </a:ext>
            </a:extLst>
          </p:cNvPr>
          <p:cNvSpPr txBox="1"/>
          <p:nvPr/>
        </p:nvSpPr>
        <p:spPr>
          <a:xfrm>
            <a:off x="5454777" y="404664"/>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2024</a:t>
            </a:r>
          </a:p>
        </p:txBody>
      </p:sp>
      <p:sp>
        <p:nvSpPr>
          <p:cNvPr id="5" name="文字方塊 4">
            <a:extLst>
              <a:ext uri="{FF2B5EF4-FFF2-40B4-BE49-F238E27FC236}">
                <a16:creationId xmlns:a16="http://schemas.microsoft.com/office/drawing/2014/main" id="{06191CB3-2960-1654-BF2A-189F3C55FDCD}"/>
              </a:ext>
            </a:extLst>
          </p:cNvPr>
          <p:cNvSpPr txBox="1"/>
          <p:nvPr/>
        </p:nvSpPr>
        <p:spPr>
          <a:xfrm>
            <a:off x="6663475" y="404664"/>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Everywhere</a:t>
            </a: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Tree>
    <p:extLst>
      <p:ext uri="{BB962C8B-B14F-4D97-AF65-F5344CB8AC3E}">
        <p14:creationId xmlns:p14="http://schemas.microsoft.com/office/powerpoint/2010/main" val="34522675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3015175737"/>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837264">
                  <a:extLst>
                    <a:ext uri="{9D8B030D-6E8A-4147-A177-3AD203B41FA5}">
                      <a16:colId xmlns:a16="http://schemas.microsoft.com/office/drawing/2014/main" val="3639967230"/>
                    </a:ext>
                  </a:extLst>
                </a:gridCol>
                <a:gridCol w="937728">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Layer</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FFN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(Lighten Indexer)</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Shared-KV MQA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prstClr val="black">
                              <a:lumMod val="50000"/>
                              <a:lumOff val="50000"/>
                            </a:prstClr>
                          </a:solidFill>
                          <a:effectLst/>
                          <a:uLnTx/>
                          <a:uFillTx/>
                          <a:latin typeface="+mn-lt"/>
                          <a:ea typeface="+mn-ea"/>
                          <a:cs typeface="+mn-cs"/>
                        </a:rPr>
                        <a:t>(HCA+CSA)</a:t>
                      </a:r>
                      <a:endParaRPr kumimoji="0" lang="zh-TW" altLang="en-US" sz="1000" b="0" i="0" u="none" strike="noStrike" kern="1200" cap="none" spc="0" normalizeH="0" baseline="0" noProof="0" dirty="0">
                        <a:ln w="0"/>
                        <a:solidFill>
                          <a:prstClr val="black">
                            <a:lumMod val="50000"/>
                            <a:lumOff val="50000"/>
                          </a:prst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MHC</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H: 1,2,3,5…61</a:t>
                      </a:r>
                    </a:p>
                    <a:p>
                      <a:pPr algn="l"/>
                      <a:r>
                        <a:rPr lang="en-US" altLang="zh-TW" sz="1000" b="0" cap="none" spc="0" dirty="0">
                          <a:ln w="0"/>
                          <a:solidFill>
                            <a:schemeClr val="tx1"/>
                          </a:solidFill>
                          <a:effectLst/>
                        </a:rPr>
                        <a:t>C: 4…60</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H: 1,2,3,5…43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C:  4…42</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 DSpark Architecture</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310743" y="2348880"/>
            <a:ext cx="8311743" cy="424847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hlinkClick r:id="rId2"/>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2"/>
              </a:rPr>
              <a:t>The insane infrastructure design of DeepSeek V4</a:t>
            </a:r>
            <a:endParaRPr lang="zh-TW" altLang="en-US" dirty="0"/>
          </a:p>
        </p:txBody>
      </p:sp>
      <p:pic>
        <p:nvPicPr>
          <p:cNvPr id="4" name="圖片 3">
            <a:extLst>
              <a:ext uri="{FF2B5EF4-FFF2-40B4-BE49-F238E27FC236}">
                <a16:creationId xmlns:a16="http://schemas.microsoft.com/office/drawing/2014/main" id="{8066917F-E514-1635-588D-7BFDEACF72DF}"/>
              </a:ext>
            </a:extLst>
          </p:cNvPr>
          <p:cNvPicPr>
            <a:picLocks noChangeAspect="1"/>
          </p:cNvPicPr>
          <p:nvPr/>
        </p:nvPicPr>
        <p:blipFill>
          <a:blip r:embed="rId3"/>
          <a:stretch>
            <a:fillRect/>
          </a:stretch>
        </p:blipFill>
        <p:spPr>
          <a:xfrm>
            <a:off x="0" y="1100903"/>
            <a:ext cx="9144000" cy="4656193"/>
          </a:xfrm>
          <a:prstGeom prst="rect">
            <a:avLst/>
          </a:prstGeom>
        </p:spPr>
      </p:pic>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72467" y="2072368"/>
            <a:ext cx="4715558" cy="420724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22137" y="332656"/>
            <a:ext cx="1971950" cy="2629267"/>
          </a:xfrm>
          <a:prstGeom prst="rect">
            <a:avLst/>
          </a:prstGeom>
        </p:spPr>
      </p:pic>
      <p:sp>
        <p:nvSpPr>
          <p:cNvPr id="4" name="文字方塊 3">
            <a:extLst>
              <a:ext uri="{FF2B5EF4-FFF2-40B4-BE49-F238E27FC236}">
                <a16:creationId xmlns:a16="http://schemas.microsoft.com/office/drawing/2014/main" id="{8077AF21-1770-2EC5-BA5E-8B86C2DCC98A}"/>
              </a:ext>
            </a:extLst>
          </p:cNvPr>
          <p:cNvSpPr txBox="1"/>
          <p:nvPr/>
        </p:nvSpPr>
        <p:spPr>
          <a:xfrm>
            <a:off x="2771800" y="1099468"/>
            <a:ext cx="6048672" cy="1336584"/>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矩陣維度演變全景總結</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原始多通道資料</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[N,d]</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步驟1: 壓縮</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通道特徵向量</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x_compressed</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rPr>
              <a:t>[</a:t>
            </a:r>
            <a:r>
              <a:rPr lang="zh-TW" altLang="zh-TW" sz="1100" b="0" u="none" strike="noStrike" dirty="0">
                <a:effectLst/>
                <a:latin typeface="微軟正黑體" panose="020B0604030504040204" pitchFamily="34" charset="-120"/>
                <a:ea typeface="微軟正黑體" panose="020B0604030504040204" pitchFamily="34" charset="-120"/>
              </a:rPr>
              <a:t>N,1]</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步驟2: 映射粗糙意圖矩陣</a:t>
            </a:r>
            <a:r>
              <a:rPr lang="zh-TW" altLang="en-US" sz="1100" dirty="0">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步驟3: 非負化</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正能量矩陣</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A</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步驟4: Sinkhorn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動態流形矩陣</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當這 4 個步驟在幾微秒內完成後</a:t>
            </a:r>
          </a:p>
        </p:txBody>
      </p:sp>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1" y="116632"/>
            <a:ext cx="8782669"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 Hybrid Attention</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391258"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1323</TotalTime>
  <Words>4470</Words>
  <Application>Microsoft Office PowerPoint</Application>
  <PresentationFormat>如螢幕大小 (4:3)</PresentationFormat>
  <Paragraphs>939</Paragraphs>
  <Slides>24</Slides>
  <Notes>13</Notes>
  <HiddenSlides>1</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24</vt:i4>
      </vt:variant>
    </vt:vector>
  </HeadingPairs>
  <TitlesOfParts>
    <vt:vector size="34" baseType="lpstr">
      <vt:lpstr>Google Sans</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1876</cp:revision>
  <cp:lastPrinted>2024-07-30T01:44:15Z</cp:lastPrinted>
  <dcterms:created xsi:type="dcterms:W3CDTF">2019-11-08T03:01:47Z</dcterms:created>
  <dcterms:modified xsi:type="dcterms:W3CDTF">2026-09-01T09:38:09Z</dcterms:modified>
</cp:coreProperties>
</file>