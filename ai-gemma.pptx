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3459" r:id="rId2"/>
    <p:sldId id="3472" r:id="rId3"/>
    <p:sldId id="3526" r:id="rId4"/>
    <p:sldId id="3499" r:id="rId5"/>
    <p:sldId id="3444" r:id="rId6"/>
    <p:sldId id="3521" r:id="rId7"/>
    <p:sldId id="3520" r:id="rId8"/>
    <p:sldId id="3518" r:id="rId9"/>
    <p:sldId id="3475" r:id="rId10"/>
    <p:sldId id="3465" r:id="rId11"/>
    <p:sldId id="3515" r:id="rId12"/>
    <p:sldId id="3505" r:id="rId13"/>
    <p:sldId id="3514" r:id="rId14"/>
    <p:sldId id="3482" r:id="rId15"/>
    <p:sldId id="3489" r:id="rId16"/>
    <p:sldId id="3519" r:id="rId17"/>
    <p:sldId id="3523" r:id="rId18"/>
    <p:sldId id="3522" r:id="rId19"/>
    <p:sldId id="3504" r:id="rId20"/>
    <p:sldId id="257" r:id="rId21"/>
    <p:sldId id="265" r:id="rId22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26"/>
            <p14:sldId id="3499"/>
            <p14:sldId id="3444"/>
            <p14:sldId id="3521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523"/>
            <p14:sldId id="3522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CFF66"/>
    <a:srgbClr val="FF0000"/>
    <a:srgbClr val="008000"/>
    <a:srgbClr val="EAEAEA"/>
    <a:srgbClr val="DDDDDD"/>
    <a:srgbClr val="FF99FF"/>
    <a:srgbClr val="DCE6F2"/>
    <a:srgbClr val="FFFF99"/>
    <a:srgbClr val="E3C0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>
        <p:scale>
          <a:sx n="100" d="100"/>
          <a:sy n="100" d="100"/>
        </p:scale>
        <p:origin x="780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4917C-4D70-6475-414F-A7F6D7E95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16150E7-79D9-F597-8A7E-5F858DADF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6616FD-FA3A-4DCF-3433-4918F60C4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44375-662C-F098-7B49-BC0BFB70A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4367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1A17-90A7-9331-3F44-AE3CEE56D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54187F-DC36-B286-6A5E-3E08FF7E4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73D078-FC4B-EEEB-EC56-F89C13CBA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DF597F-45FE-5CE4-D640-6655A5260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275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svg"/><Relationship Id="rId5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9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230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Wiki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(Knowledge base architecture)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Engine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 Engine)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851D-74F1-0D10-E4C1-0D67DB2BF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字方塊 24">
            <a:extLst>
              <a:ext uri="{FF2B5EF4-FFF2-40B4-BE49-F238E27FC236}">
                <a16:creationId xmlns:a16="http://schemas.microsoft.com/office/drawing/2014/main" id="{10EE06B5-09A0-C6B0-AEC5-E978463FBBC2}"/>
              </a:ext>
            </a:extLst>
          </p:cNvPr>
          <p:cNvSpPr txBox="1"/>
          <p:nvPr/>
        </p:nvSpPr>
        <p:spPr>
          <a:xfrm>
            <a:off x="2843808" y="4813260"/>
            <a:ext cx="3245348" cy="1329514"/>
          </a:xfrm>
          <a:prstGeom prst="rect">
            <a:avLst/>
          </a:prstGeom>
          <a:solidFill>
            <a:schemeClr val="accent3">
              <a:lumMod val="20000"/>
              <a:lumOff val="80000"/>
              <a:alpha val="4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  <a:endParaRPr lang="en-US" altLang="zh-TW" sz="1400" b="1" dirty="0">
              <a:solidFill>
                <a:schemeClr val="accent3">
                  <a:lumMod val="50000"/>
                </a:schemeClr>
              </a:solidFill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Environment</a:t>
            </a:r>
            <a:endParaRPr lang="en-US" altLang="zh-TW" sz="1400" u="none" strike="noStrike" dirty="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51D0CA9D-CF00-4E8A-F3C1-7909D642D02E}"/>
              </a:ext>
            </a:extLst>
          </p:cNvPr>
          <p:cNvSpPr txBox="1"/>
          <p:nvPr/>
        </p:nvSpPr>
        <p:spPr>
          <a:xfrm>
            <a:off x="3208771" y="4493143"/>
            <a:ext cx="1497523" cy="495268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AI Agent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(Router)</a:t>
            </a:r>
          </a:p>
        </p:txBody>
      </p:sp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3A2C6091-BB1A-C34C-2A3F-070C6AE9DAD4}"/>
              </a:ext>
            </a:extLst>
          </p:cNvPr>
          <p:cNvCxnSpPr>
            <a:cxnSpLocks/>
            <a:stCxn id="40" idx="2"/>
            <a:endCxn id="85" idx="2"/>
          </p:cNvCxnSpPr>
          <p:nvPr/>
        </p:nvCxnSpPr>
        <p:spPr>
          <a:xfrm rot="5400000" flipH="1" flipV="1">
            <a:off x="3110772" y="3844904"/>
            <a:ext cx="882008" cy="158392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標題 1">
            <a:extLst>
              <a:ext uri="{FF2B5EF4-FFF2-40B4-BE49-F238E27FC236}">
                <a16:creationId xmlns:a16="http://schemas.microsoft.com/office/drawing/2014/main" id="{CEF95E4D-4041-AEF8-1FC6-6369323FE9C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AC317C6-4626-1B2B-AEC6-1890A96EE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9414470"/>
              </p:ext>
            </p:extLst>
          </p:nvPr>
        </p:nvGraphicFramePr>
        <p:xfrm>
          <a:off x="1403648" y="5017192"/>
          <a:ext cx="1070926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D8572D84-C893-C9E6-47D7-75D138C833BF}"/>
              </a:ext>
            </a:extLst>
          </p:cNvPr>
          <p:cNvSpPr txBox="1"/>
          <p:nvPr/>
        </p:nvSpPr>
        <p:spPr>
          <a:xfrm>
            <a:off x="2856955" y="2035739"/>
            <a:ext cx="3232202" cy="893822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Reasoning</a:t>
            </a: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A6F6E1B2-4410-329F-F40B-BF387AFC3185}"/>
              </a:ext>
            </a:extLst>
          </p:cNvPr>
          <p:cNvSpPr txBox="1">
            <a:spLocks/>
          </p:cNvSpPr>
          <p:nvPr/>
        </p:nvSpPr>
        <p:spPr>
          <a:xfrm>
            <a:off x="3733357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3336D256-EDED-4696-A1BB-76862DCD076A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644E5DDD-D891-F4C5-E1BB-EEA8B9117949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4105B411-9718-432D-3492-4CCD58074E49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E4C9916F-526C-2149-B47C-BC4FE91F2F9B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DB8A7D43-44B5-6F11-7DA9-57A063DEE63A}"/>
              </a:ext>
            </a:extLst>
          </p:cNvPr>
          <p:cNvCxnSpPr>
            <a:cxnSpLocks/>
            <a:stCxn id="32" idx="3"/>
            <a:endCxn id="23" idx="1"/>
          </p:cNvCxnSpPr>
          <p:nvPr/>
        </p:nvCxnSpPr>
        <p:spPr>
          <a:xfrm flipV="1">
            <a:off x="1831082" y="2482650"/>
            <a:ext cx="1025873" cy="43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95F20FA0-F44A-3E96-8E3A-E2DBBF81ED21}"/>
              </a:ext>
            </a:extLst>
          </p:cNvPr>
          <p:cNvSpPr/>
          <p:nvPr/>
        </p:nvSpPr>
        <p:spPr>
          <a:xfrm rot="10800000">
            <a:off x="2987824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Prompt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E7D64985-4BBD-322E-CC35-E45F82B3CE7E}"/>
              </a:ext>
            </a:extLst>
          </p:cNvPr>
          <p:cNvCxnSpPr>
            <a:cxnSpLocks/>
            <a:stCxn id="111" idx="1"/>
            <a:endCxn id="10" idx="0"/>
          </p:cNvCxnSpPr>
          <p:nvPr/>
        </p:nvCxnSpPr>
        <p:spPr>
          <a:xfrm rot="10800000" flipV="1">
            <a:off x="1939111" y="4740776"/>
            <a:ext cx="1269660" cy="276415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79337494-4F56-4972-2B00-13C173F0D061}"/>
              </a:ext>
            </a:extLst>
          </p:cNvPr>
          <p:cNvCxnSpPr>
            <a:cxnSpLocks/>
            <a:stCxn id="114" idx="2"/>
            <a:endCxn id="132" idx="0"/>
          </p:cNvCxnSpPr>
          <p:nvPr/>
        </p:nvCxnSpPr>
        <p:spPr>
          <a:xfrm rot="16200000" flipH="1">
            <a:off x="5169812" y="2832182"/>
            <a:ext cx="936105" cy="365722"/>
          </a:xfrm>
          <a:prstGeom prst="bentConnector3">
            <a:avLst>
              <a:gd name="adj1" fmla="val -2442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578988E3-D386-548F-14BC-26F42CB8F679}"/>
              </a:ext>
            </a:extLst>
          </p:cNvPr>
          <p:cNvSpPr/>
          <p:nvPr/>
        </p:nvSpPr>
        <p:spPr>
          <a:xfrm>
            <a:off x="1982019" y="3835641"/>
            <a:ext cx="1219522" cy="547907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DED4096-EC87-5FA0-C284-9B53560B41FE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  <p:sp>
        <p:nvSpPr>
          <p:cNvPr id="40" name="箭號: 向下 39">
            <a:extLst>
              <a:ext uri="{FF2B5EF4-FFF2-40B4-BE49-F238E27FC236}">
                <a16:creationId xmlns:a16="http://schemas.microsoft.com/office/drawing/2014/main" id="{C71631F2-520D-603B-D24A-C6556F32D4F7}"/>
              </a:ext>
            </a:extLst>
          </p:cNvPr>
          <p:cNvSpPr/>
          <p:nvPr/>
        </p:nvSpPr>
        <p:spPr>
          <a:xfrm>
            <a:off x="3381272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MCP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45" name="箭號: 向下 44">
            <a:extLst>
              <a:ext uri="{FF2B5EF4-FFF2-40B4-BE49-F238E27FC236}">
                <a16:creationId xmlns:a16="http://schemas.microsoft.com/office/drawing/2014/main" id="{462AE830-760D-0E59-7995-536C09AC9A34}"/>
              </a:ext>
            </a:extLst>
          </p:cNvPr>
          <p:cNvSpPr/>
          <p:nvPr/>
        </p:nvSpPr>
        <p:spPr>
          <a:xfrm>
            <a:off x="4706295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Final</a:t>
            </a:r>
          </a:p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Answer</a:t>
            </a:r>
          </a:p>
        </p:txBody>
      </p:sp>
      <p:sp>
        <p:nvSpPr>
          <p:cNvPr id="43" name="右大括弧 42">
            <a:extLst>
              <a:ext uri="{FF2B5EF4-FFF2-40B4-BE49-F238E27FC236}">
                <a16:creationId xmlns:a16="http://schemas.microsoft.com/office/drawing/2014/main" id="{CE53BF93-8848-AA12-41EA-7817F672E6AC}"/>
              </a:ext>
            </a:extLst>
          </p:cNvPr>
          <p:cNvSpPr/>
          <p:nvPr/>
        </p:nvSpPr>
        <p:spPr>
          <a:xfrm rot="16200000">
            <a:off x="4396534" y="143068"/>
            <a:ext cx="153045" cy="323220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9CE6EAC-0923-2447-ABF3-98900CC49349}"/>
              </a:ext>
            </a:extLst>
          </p:cNvPr>
          <p:cNvSpPr txBox="1"/>
          <p:nvPr/>
        </p:nvSpPr>
        <p:spPr>
          <a:xfrm>
            <a:off x="2915816" y="5661248"/>
            <a:ext cx="588206" cy="37601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(Tools)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BB8462C-5DC9-5929-62DF-BB7A759AFDE2}"/>
              </a:ext>
            </a:extLst>
          </p:cNvPr>
          <p:cNvSpPr txBox="1"/>
          <p:nvPr/>
        </p:nvSpPr>
        <p:spPr>
          <a:xfrm>
            <a:off x="4343834" y="5669254"/>
            <a:ext cx="588206" cy="376017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20000"/>
                <a:lumOff val="80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/>
                </a:solidFill>
                <a:effectLst/>
              </a:rPr>
              <a:t>Skill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(Scripts)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CF2FCA05-8E66-2B4C-465D-BE76C9EE985A}"/>
              </a:ext>
            </a:extLst>
          </p:cNvPr>
          <p:cNvSpPr/>
          <p:nvPr/>
        </p:nvSpPr>
        <p:spPr>
          <a:xfrm>
            <a:off x="5148064" y="5663897"/>
            <a:ext cx="588206" cy="376017"/>
          </a:xfrm>
          <a:prstGeom prst="roundRect">
            <a:avLst>
              <a:gd name="adj" fmla="val 0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4572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68F3F681-A993-A9DB-2D20-7252C481D779}"/>
              </a:ext>
            </a:extLst>
          </p:cNvPr>
          <p:cNvSpPr txBox="1"/>
          <p:nvPr/>
        </p:nvSpPr>
        <p:spPr>
          <a:xfrm>
            <a:off x="3635896" y="5669254"/>
            <a:ext cx="588206" cy="376017"/>
          </a:xfrm>
          <a:prstGeom prst="rect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Vector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DB</a:t>
            </a:r>
          </a:p>
        </p:txBody>
      </p:sp>
      <p:sp>
        <p:nvSpPr>
          <p:cNvPr id="71" name="箭號: 向下 70">
            <a:extLst>
              <a:ext uri="{FF2B5EF4-FFF2-40B4-BE49-F238E27FC236}">
                <a16:creationId xmlns:a16="http://schemas.microsoft.com/office/drawing/2014/main" id="{9442F65E-5116-38EE-1587-DBACA9C3393E}"/>
              </a:ext>
            </a:extLst>
          </p:cNvPr>
          <p:cNvSpPr/>
          <p:nvPr/>
        </p:nvSpPr>
        <p:spPr>
          <a:xfrm>
            <a:off x="392392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40000"/>
              <a:lumOff val="60000"/>
              <a:alpha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</a:rPr>
              <a:t>VDB</a:t>
            </a:r>
            <a:endParaRPr lang="zh-TW" altLang="en-US" sz="10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85" name="箭號: 向上 84">
            <a:extLst>
              <a:ext uri="{FF2B5EF4-FFF2-40B4-BE49-F238E27FC236}">
                <a16:creationId xmlns:a16="http://schemas.microsoft.com/office/drawing/2014/main" id="{DC4667BB-AB07-7189-91BC-32CA1E5573AE}"/>
              </a:ext>
            </a:extLst>
          </p:cNvPr>
          <p:cNvSpPr/>
          <p:nvPr/>
        </p:nvSpPr>
        <p:spPr>
          <a:xfrm>
            <a:off x="3491880" y="2987668"/>
            <a:ext cx="278184" cy="495428"/>
          </a:xfrm>
          <a:prstGeom prst="upArrow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Result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96" name="箭號: 向上 95">
            <a:extLst>
              <a:ext uri="{FF2B5EF4-FFF2-40B4-BE49-F238E27FC236}">
                <a16:creationId xmlns:a16="http://schemas.microsoft.com/office/drawing/2014/main" id="{6F976072-6E37-DA33-B3EA-65C4240217B7}"/>
              </a:ext>
            </a:extLst>
          </p:cNvPr>
          <p:cNvSpPr/>
          <p:nvPr/>
        </p:nvSpPr>
        <p:spPr>
          <a:xfrm>
            <a:off x="4009483" y="2987668"/>
            <a:ext cx="274485" cy="495428"/>
          </a:xfrm>
          <a:prstGeom prst="upArrow">
            <a:avLst/>
          </a:prstGeom>
          <a:solidFill>
            <a:schemeClr val="accent3">
              <a:lumMod val="40000"/>
              <a:lumOff val="6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</a:rPr>
              <a:t>Result</a:t>
            </a:r>
            <a:endParaRPr lang="zh-TW" altLang="en-US" sz="10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114" name="箭號: 向下 113">
            <a:extLst>
              <a:ext uri="{FF2B5EF4-FFF2-40B4-BE49-F238E27FC236}">
                <a16:creationId xmlns:a16="http://schemas.microsoft.com/office/drawing/2014/main" id="{0E8551EA-8796-9BAB-1CD2-F622FB84A8DB}"/>
              </a:ext>
            </a:extLst>
          </p:cNvPr>
          <p:cNvSpPr/>
          <p:nvPr/>
        </p:nvSpPr>
        <p:spPr>
          <a:xfrm rot="10800000">
            <a:off x="5292080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TW" sz="1400" b="1" dirty="0">
                <a:solidFill>
                  <a:schemeClr val="tx1"/>
                </a:solidFill>
              </a:rPr>
              <a:t>…</a:t>
            </a:r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</a:p>
        </p:txBody>
      </p:sp>
      <p:cxnSp>
        <p:nvCxnSpPr>
          <p:cNvPr id="118" name="接點: 肘形 117">
            <a:extLst>
              <a:ext uri="{FF2B5EF4-FFF2-40B4-BE49-F238E27FC236}">
                <a16:creationId xmlns:a16="http://schemas.microsoft.com/office/drawing/2014/main" id="{E27141A3-132B-596A-F5FC-F68639555662}"/>
              </a:ext>
            </a:extLst>
          </p:cNvPr>
          <p:cNvCxnSpPr>
            <a:cxnSpLocks/>
            <a:stCxn id="71" idx="2"/>
            <a:endCxn id="96" idx="2"/>
          </p:cNvCxnSpPr>
          <p:nvPr/>
        </p:nvCxnSpPr>
        <p:spPr>
          <a:xfrm rot="5400000" flipH="1" flipV="1">
            <a:off x="3635054" y="3853432"/>
            <a:ext cx="882008" cy="141335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3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9099F505-4990-FAA6-06FC-5DD3292E975B}"/>
              </a:ext>
            </a:extLst>
          </p:cNvPr>
          <p:cNvSpPr txBox="1"/>
          <p:nvPr/>
        </p:nvSpPr>
        <p:spPr>
          <a:xfrm>
            <a:off x="3642670" y="5348305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BD99DD98-B721-F06E-F383-798EFDD6D3D4}"/>
              </a:ext>
            </a:extLst>
          </p:cNvPr>
          <p:cNvCxnSpPr>
            <a:cxnSpLocks/>
            <a:stCxn id="122" idx="0"/>
            <a:endCxn id="111" idx="2"/>
          </p:cNvCxnSpPr>
          <p:nvPr/>
        </p:nvCxnSpPr>
        <p:spPr>
          <a:xfrm flipH="1" flipV="1">
            <a:off x="3957533" y="4988411"/>
            <a:ext cx="862" cy="359894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箭號: 向下 131">
            <a:extLst>
              <a:ext uri="{FF2B5EF4-FFF2-40B4-BE49-F238E27FC236}">
                <a16:creationId xmlns:a16="http://schemas.microsoft.com/office/drawing/2014/main" id="{284919E8-0FB5-84A1-D92F-1402DAF25DE6}"/>
              </a:ext>
            </a:extLst>
          </p:cNvPr>
          <p:cNvSpPr/>
          <p:nvPr/>
        </p:nvSpPr>
        <p:spPr>
          <a:xfrm>
            <a:off x="5671849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135" name="接點: 肘形 134">
            <a:extLst>
              <a:ext uri="{FF2B5EF4-FFF2-40B4-BE49-F238E27FC236}">
                <a16:creationId xmlns:a16="http://schemas.microsoft.com/office/drawing/2014/main" id="{0902C794-519F-DC2B-51FE-445A4EFAA5F3}"/>
              </a:ext>
            </a:extLst>
          </p:cNvPr>
          <p:cNvCxnSpPr>
            <a:cxnSpLocks/>
            <a:stCxn id="142" idx="0"/>
            <a:endCxn id="45" idx="0"/>
          </p:cNvCxnSpPr>
          <p:nvPr/>
        </p:nvCxnSpPr>
        <p:spPr>
          <a:xfrm rot="16200000" flipH="1">
            <a:off x="4436972" y="3064896"/>
            <a:ext cx="486144" cy="350256"/>
          </a:xfrm>
          <a:prstGeom prst="bentConnector3">
            <a:avLst>
              <a:gd name="adj1" fmla="val -47023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A3643A1D-79C9-3E68-FB55-1B9D37A913F9}"/>
              </a:ext>
            </a:extLst>
          </p:cNvPr>
          <p:cNvCxnSpPr>
            <a:cxnSpLocks/>
            <a:stCxn id="141" idx="2"/>
            <a:endCxn id="142" idx="2"/>
          </p:cNvCxnSpPr>
          <p:nvPr/>
        </p:nvCxnSpPr>
        <p:spPr>
          <a:xfrm rot="5400000" flipH="1" flipV="1">
            <a:off x="3984716" y="3854188"/>
            <a:ext cx="882008" cy="158392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箭號: 向下 140">
            <a:extLst>
              <a:ext uri="{FF2B5EF4-FFF2-40B4-BE49-F238E27FC236}">
                <a16:creationId xmlns:a16="http://schemas.microsoft.com/office/drawing/2014/main" id="{3C28DCA6-0B63-EEC8-15A7-3073973535EA}"/>
              </a:ext>
            </a:extLst>
          </p:cNvPr>
          <p:cNvSpPr/>
          <p:nvPr/>
        </p:nvSpPr>
        <p:spPr>
          <a:xfrm>
            <a:off x="4255216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/>
                </a:solidFill>
              </a:rPr>
              <a:t>Skill</a:t>
            </a:r>
            <a:endParaRPr lang="zh-TW" altLang="en-US" sz="1000" b="1" dirty="0">
              <a:solidFill>
                <a:schemeClr val="accent4"/>
              </a:solidFill>
            </a:endParaRPr>
          </a:p>
        </p:txBody>
      </p:sp>
      <p:sp>
        <p:nvSpPr>
          <p:cNvPr id="142" name="箭號: 向上 141">
            <a:extLst>
              <a:ext uri="{FF2B5EF4-FFF2-40B4-BE49-F238E27FC236}">
                <a16:creationId xmlns:a16="http://schemas.microsoft.com/office/drawing/2014/main" id="{12EFF3BF-8C1F-06F3-5086-F1AF996CB200}"/>
              </a:ext>
            </a:extLst>
          </p:cNvPr>
          <p:cNvSpPr/>
          <p:nvPr/>
        </p:nvSpPr>
        <p:spPr>
          <a:xfrm>
            <a:off x="4365824" y="2996952"/>
            <a:ext cx="278184" cy="495428"/>
          </a:xfrm>
          <a:prstGeom prst="upArrow">
            <a:avLst/>
          </a:prstGeom>
          <a:solidFill>
            <a:schemeClr val="accent3">
              <a:lumMod val="40000"/>
              <a:lumOff val="60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4"/>
                </a:solidFill>
              </a:rPr>
              <a:t>Report</a:t>
            </a:r>
            <a:endParaRPr lang="zh-TW" altLang="en-US" sz="1000" b="1" dirty="0">
              <a:solidFill>
                <a:schemeClr val="accent4"/>
              </a:solidFill>
            </a:endParaRPr>
          </a:p>
        </p:txBody>
      </p: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E8B0B3F5-0CC1-6272-389E-E91C07607706}"/>
              </a:ext>
            </a:extLst>
          </p:cNvPr>
          <p:cNvCxnSpPr>
            <a:cxnSpLocks/>
            <a:stCxn id="59" idx="2"/>
            <a:endCxn id="40" idx="0"/>
          </p:cNvCxnSpPr>
          <p:nvPr/>
        </p:nvCxnSpPr>
        <p:spPr>
          <a:xfrm rot="16200000" flipH="1">
            <a:off x="2588171" y="3109567"/>
            <a:ext cx="1446985" cy="321832"/>
          </a:xfrm>
          <a:prstGeom prst="bentConnector3">
            <a:avLst>
              <a:gd name="adj1" fmla="val -15798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接點: 肘形 160">
            <a:extLst>
              <a:ext uri="{FF2B5EF4-FFF2-40B4-BE49-F238E27FC236}">
                <a16:creationId xmlns:a16="http://schemas.microsoft.com/office/drawing/2014/main" id="{7FB7F299-EA0D-88C4-EC62-102AA5744D08}"/>
              </a:ext>
            </a:extLst>
          </p:cNvPr>
          <p:cNvCxnSpPr>
            <a:cxnSpLocks/>
            <a:stCxn id="45" idx="2"/>
            <a:endCxn id="122" idx="3"/>
          </p:cNvCxnSpPr>
          <p:nvPr/>
        </p:nvCxnSpPr>
        <p:spPr>
          <a:xfrm rot="5400000">
            <a:off x="3976808" y="4590408"/>
            <a:ext cx="1175677" cy="581052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EC23AE7C-B5C8-B4F7-9E86-055D60AEFBC7}"/>
              </a:ext>
            </a:extLst>
          </p:cNvPr>
          <p:cNvGrpSpPr/>
          <p:nvPr/>
        </p:nvGrpSpPr>
        <p:grpSpPr>
          <a:xfrm>
            <a:off x="6516216" y="4813260"/>
            <a:ext cx="1512168" cy="1273320"/>
            <a:chOff x="5292080" y="1036415"/>
            <a:chExt cx="1512168" cy="1273320"/>
          </a:xfrm>
        </p:grpSpPr>
        <p:sp>
          <p:nvSpPr>
            <p:cNvPr id="184" name="箭號: 圓形 183">
              <a:extLst>
                <a:ext uri="{FF2B5EF4-FFF2-40B4-BE49-F238E27FC236}">
                  <a16:creationId xmlns:a16="http://schemas.microsoft.com/office/drawing/2014/main" id="{3A71D6D5-8EB3-6B9F-72C5-7A6D9DE9D0FF}"/>
                </a:ext>
              </a:extLst>
            </p:cNvPr>
            <p:cNvSpPr/>
            <p:nvPr/>
          </p:nvSpPr>
          <p:spPr>
            <a:xfrm rot="11669204">
              <a:off x="5378796" y="1036415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3">
                <a:lumMod val="20000"/>
                <a:lumOff val="80000"/>
                <a:alpha val="70000"/>
              </a:schemeClr>
            </a:solidFill>
            <a:ln w="25400">
              <a:solidFill>
                <a:schemeClr val="accent3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5" name="箭號: 圓形 184">
              <a:extLst>
                <a:ext uri="{FF2B5EF4-FFF2-40B4-BE49-F238E27FC236}">
                  <a16:creationId xmlns:a16="http://schemas.microsoft.com/office/drawing/2014/main" id="{FEA0BF70-7EBD-A742-8CC9-9C300F2E8553}"/>
                </a:ext>
              </a:extLst>
            </p:cNvPr>
            <p:cNvSpPr/>
            <p:nvPr/>
          </p:nvSpPr>
          <p:spPr>
            <a:xfrm rot="4315882">
              <a:off x="5359936" y="1077213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4">
                <a:lumMod val="20000"/>
                <a:lumOff val="80000"/>
                <a:alpha val="90000"/>
              </a:schemeClr>
            </a:solidFill>
            <a:ln w="25400">
              <a:solidFill>
                <a:schemeClr val="accent4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6" name="標題 1">
              <a:extLst>
                <a:ext uri="{FF2B5EF4-FFF2-40B4-BE49-F238E27FC236}">
                  <a16:creationId xmlns:a16="http://schemas.microsoft.com/office/drawing/2014/main" id="{0FFD7938-CD99-26BD-A957-E32772382223}"/>
                </a:ext>
              </a:extLst>
            </p:cNvPr>
            <p:cNvSpPr txBox="1">
              <a:spLocks/>
            </p:cNvSpPr>
            <p:nvPr/>
          </p:nvSpPr>
          <p:spPr>
            <a:xfrm>
              <a:off x="6139924" y="1628800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7030A0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187" name="標題 1">
              <a:extLst>
                <a:ext uri="{FF2B5EF4-FFF2-40B4-BE49-F238E27FC236}">
                  <a16:creationId xmlns:a16="http://schemas.microsoft.com/office/drawing/2014/main" id="{B6C6F9F4-0E3F-7257-9525-F04F9A2303B1}"/>
                </a:ext>
              </a:extLst>
            </p:cNvPr>
            <p:cNvSpPr txBox="1">
              <a:spLocks/>
            </p:cNvSpPr>
            <p:nvPr/>
          </p:nvSpPr>
          <p:spPr>
            <a:xfrm>
              <a:off x="5292080" y="1916832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chemeClr val="accent3">
                      <a:lumMod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188" name="箭號: 圓形 187">
              <a:extLst>
                <a:ext uri="{FF2B5EF4-FFF2-40B4-BE49-F238E27FC236}">
                  <a16:creationId xmlns:a16="http://schemas.microsoft.com/office/drawing/2014/main" id="{16E113E6-FF08-E353-9086-B083C7EDECBD}"/>
                </a:ext>
              </a:extLst>
            </p:cNvPr>
            <p:cNvSpPr/>
            <p:nvPr/>
          </p:nvSpPr>
          <p:spPr>
            <a:xfrm rot="19383568">
              <a:off x="5393262" y="1082969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25400">
              <a:solidFill>
                <a:schemeClr val="accent1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9" name="標題 1">
              <a:extLst>
                <a:ext uri="{FF2B5EF4-FFF2-40B4-BE49-F238E27FC236}">
                  <a16:creationId xmlns:a16="http://schemas.microsoft.com/office/drawing/2014/main" id="{CC273686-22A7-2490-7447-FE46D2286C97}"/>
                </a:ext>
              </a:extLst>
            </p:cNvPr>
            <p:cNvSpPr txBox="1">
              <a:spLocks/>
            </p:cNvSpPr>
            <p:nvPr/>
          </p:nvSpPr>
          <p:spPr>
            <a:xfrm>
              <a:off x="5437150" y="1225751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chemeClr val="tx2">
                      <a:lumMod val="75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3232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943031" y="2495646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tx1">
              <a:lumMod val="85000"/>
              <a:lumOff val="1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48321" y="1916841"/>
            <a:ext cx="339828" cy="379784"/>
          </a:xfrm>
          <a:prstGeom prst="rect">
            <a:avLst/>
          </a:prstGeom>
          <a:effectLst>
            <a:glow rad="127000">
              <a:schemeClr val="accent5">
                <a:lumMod val="20000"/>
                <a:lumOff val="80000"/>
              </a:schemeClr>
            </a:glow>
          </a:effectLst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68827" y="2545011"/>
            <a:ext cx="361764" cy="379783"/>
          </a:xfrm>
          <a:prstGeom prst="rect">
            <a:avLst/>
          </a:prstGeom>
          <a:effectLst/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8038089" y="3527427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8064179" y="1950975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38" idx="1"/>
            <a:endCxn id="63" idx="3"/>
          </p:cNvCxnSpPr>
          <p:nvPr/>
        </p:nvCxnSpPr>
        <p:spPr>
          <a:xfrm flipH="1">
            <a:off x="7956488" y="2734903"/>
            <a:ext cx="712339" cy="134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8087037" y="2554460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34" idx="3"/>
          </p:cNvCxnSpPr>
          <p:nvPr/>
        </p:nvCxnSpPr>
        <p:spPr>
          <a:xfrm flipH="1" flipV="1">
            <a:off x="7956488" y="2104207"/>
            <a:ext cx="691833" cy="252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5436096" y="3136295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940785" y="2734903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17" idx="1"/>
            <a:endCxn id="92" idx="3"/>
          </p:cNvCxnSpPr>
          <p:nvPr/>
        </p:nvCxnSpPr>
        <p:spPr>
          <a:xfrm flipH="1" flipV="1">
            <a:off x="5940785" y="3380477"/>
            <a:ext cx="1002246" cy="71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43031" y="1908414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43031" y="2539111"/>
            <a:ext cx="379782" cy="379782"/>
          </a:xfrm>
          <a:prstGeom prst="rect">
            <a:avLst/>
          </a:prstGeom>
        </p:spPr>
      </p:pic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452017" y="1844824"/>
            <a:ext cx="1000841" cy="5959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zh-TW" altLang="zh-TW" sz="1200" dirty="0">
                <a:solidFill>
                  <a:schemeClr val="accent1"/>
                </a:solidFill>
              </a:rPr>
              <a:t>➔</a:t>
            </a:r>
            <a:endParaRPr lang="en-US" altLang="zh-TW" sz="1200" dirty="0">
              <a:solidFill>
                <a:schemeClr val="accent1"/>
              </a:solidFill>
            </a:endParaRPr>
          </a:p>
          <a:p>
            <a:pPr algn="r">
              <a:lnSpc>
                <a:spcPts val="1200"/>
              </a:lnSpc>
              <a:buNone/>
            </a:pP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[300]</a:t>
            </a:r>
            <a:endParaRPr lang="en-US" altLang="zh-TW" sz="1200" u="none" strike="noStrike" dirty="0">
              <a:solidFill>
                <a:schemeClr val="accent5">
                  <a:lumMod val="75000"/>
                </a:schemeClr>
              </a:solidFill>
              <a:effectLst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298937" y="1444738"/>
            <a:ext cx="1000842" cy="3818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5669239" y="1262880"/>
            <a:ext cx="1170808" cy="511336"/>
          </a:xfrm>
          <a:prstGeom prst="wedgeRoundRectCallout">
            <a:avLst>
              <a:gd name="adj1" fmla="val -32962"/>
              <a:gd name="adj2" fmla="val 800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0A7B509-BACF-DE64-2CB4-FA944DDECAAF}"/>
              </a:ext>
            </a:extLst>
          </p:cNvPr>
          <p:cNvSpPr txBox="1"/>
          <p:nvPr/>
        </p:nvSpPr>
        <p:spPr>
          <a:xfrm rot="10800000">
            <a:off x="2799359" y="2132856"/>
            <a:ext cx="3090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2535E2FB-B8F7-47F8-662C-1A5AEEF46AF4}"/>
              </a:ext>
            </a:extLst>
          </p:cNvPr>
          <p:cNvSpPr/>
          <p:nvPr/>
        </p:nvSpPr>
        <p:spPr>
          <a:xfrm>
            <a:off x="6943031" y="31470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19" name="圖形 18" descr="伺服器 外框">
            <a:extLst>
              <a:ext uri="{FF2B5EF4-FFF2-40B4-BE49-F238E27FC236}">
                <a16:creationId xmlns:a16="http://schemas.microsoft.com/office/drawing/2014/main" id="{894EBB3F-079C-89AE-5FFE-02DE71A402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43031" y="3190523"/>
            <a:ext cx="379782" cy="379782"/>
          </a:xfrm>
          <a:prstGeom prst="rect">
            <a:avLst/>
          </a:prstGeom>
        </p:spPr>
      </p:pic>
      <p:pic>
        <p:nvPicPr>
          <p:cNvPr id="21" name="圖形 20" descr="放大鏡 以實心填滿">
            <a:extLst>
              <a:ext uri="{FF2B5EF4-FFF2-40B4-BE49-F238E27FC236}">
                <a16:creationId xmlns:a16="http://schemas.microsoft.com/office/drawing/2014/main" id="{5D649994-D339-1C80-8BF8-787A636D2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flipH="1">
            <a:off x="7795244" y="3223025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F42A7713-E02E-4E9D-59E7-AB2551695208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flipH="1">
            <a:off x="2253519" y="2107789"/>
            <a:ext cx="3182577" cy="1056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5435463" y="1860079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50000"/>
                  </a:schemeClr>
                </a:solidFill>
              </a:rPr>
              <a:t>Vector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50000"/>
                  </a:schemeClr>
                </a:solidFill>
              </a:rPr>
              <a:t>DB</a:t>
            </a:r>
            <a:endParaRPr lang="zh-TW" altLang="en-US" sz="12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39154" y="2539770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flipH="1">
            <a:off x="2253519" y="2104262"/>
            <a:ext cx="3181944" cy="1300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291889" y="4301663"/>
            <a:ext cx="1314392" cy="54347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dirty="0">
                <a:ea typeface="Meiryo" panose="020B0604030504040204" pitchFamily="34" charset="-128"/>
              </a:rPr>
              <a:t>Reranking,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>
                <a:ea typeface="Meiryo" panose="020B0604030504040204" pitchFamily="34" charset="-128"/>
              </a:rPr>
              <a:t>Prompt Engineering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>
                <a:ea typeface="Meiryo" panose="020B0604030504040204" pitchFamily="34" charset="-128"/>
              </a:rPr>
              <a:t>Guardrails</a:t>
            </a: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5435463" y="3212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3218143" y="3616769"/>
            <a:ext cx="732560" cy="82280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Generates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TSMC’s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Financial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Report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409915"/>
              </p:ext>
            </p:extLst>
          </p:nvPr>
        </p:nvGraphicFramePr>
        <p:xfrm>
          <a:off x="6010650" y="3212976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3779912" y="1100812"/>
            <a:ext cx="1440160" cy="526073"/>
          </a:xfrm>
          <a:prstGeom prst="wedgeRoundRectCallout">
            <a:avLst>
              <a:gd name="adj1" fmla="val -55437"/>
              <a:gd name="adj2" fmla="val 40302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pull up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 statements.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484979" y="3265862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AB6B6C5F-47FF-04ED-5DB2-50CE7E58319D}"/>
              </a:ext>
            </a:extLst>
          </p:cNvPr>
          <p:cNvSpPr txBox="1"/>
          <p:nvPr/>
        </p:nvSpPr>
        <p:spPr>
          <a:xfrm>
            <a:off x="2298937" y="1444738"/>
            <a:ext cx="1000842" cy="3818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Reasoning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4903E31-3F98-4DF2-4250-FC9A2078D124}"/>
              </a:ext>
            </a:extLst>
          </p:cNvPr>
          <p:cNvSpPr txBox="1"/>
          <p:nvPr/>
        </p:nvSpPr>
        <p:spPr>
          <a:xfrm rot="10800000">
            <a:off x="2379510" y="2142906"/>
            <a:ext cx="3090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FAB82583-FBF0-D02F-ADE9-431725DA2EF0}"/>
              </a:ext>
            </a:extLst>
          </p:cNvPr>
          <p:cNvSpPr txBox="1"/>
          <p:nvPr/>
        </p:nvSpPr>
        <p:spPr>
          <a:xfrm>
            <a:off x="2524583" y="1844824"/>
            <a:ext cx="1255329" cy="5959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zh-TW" altLang="zh-TW" sz="1200" dirty="0">
                <a:solidFill>
                  <a:schemeClr val="accent3">
                    <a:lumMod val="50000"/>
                  </a:schemeClr>
                </a:solidFill>
              </a:rPr>
              <a:t>➔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</a:endParaRPr>
          </a:p>
          <a:p>
            <a:pPr algn="r">
              <a:lnSpc>
                <a:spcPts val="1200"/>
              </a:lnSpc>
              <a:buNone/>
            </a:pPr>
            <a:endParaRPr lang="en-US" altLang="zh-TW" sz="1200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[statements]</a:t>
            </a:r>
            <a:endParaRPr lang="en-US" altLang="zh-TW" sz="1200" u="none" strike="noStrike" dirty="0">
              <a:solidFill>
                <a:schemeClr val="accent3">
                  <a:lumMod val="50000"/>
                </a:schemeClr>
              </a:solidFill>
              <a:effectLst/>
              <a:highlight>
                <a:srgbClr val="CBDCA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E59D2E4D-FED7-E499-36FC-4B36CAA95705}"/>
              </a:ext>
            </a:extLst>
          </p:cNvPr>
          <p:cNvSpPr/>
          <p:nvPr/>
        </p:nvSpPr>
        <p:spPr>
          <a:xfrm>
            <a:off x="5435463" y="249289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50000"/>
                  </a:schemeClr>
                </a:solidFill>
              </a:rPr>
              <a:t>Skill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50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accent3">
                  <a:lumMod val="50000"/>
                </a:schemeClr>
              </a:solidFill>
            </a:endParaRPr>
          </a:p>
        </p:txBody>
      </p:sp>
      <p:pic>
        <p:nvPicPr>
          <p:cNvPr id="46" name="圖形 45" descr="卷軸 以實心填滿">
            <a:extLst>
              <a:ext uri="{FF2B5EF4-FFF2-40B4-BE49-F238E27FC236}">
                <a16:creationId xmlns:a16="http://schemas.microsoft.com/office/drawing/2014/main" id="{57D7CD8C-80CC-F36D-8780-7AF090203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10650" y="2560033"/>
            <a:ext cx="379782" cy="354089"/>
          </a:xfrm>
          <a:prstGeom prst="rect">
            <a:avLst/>
          </a:prstGeom>
        </p:spPr>
      </p:pic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B2792205-3AA0-7B75-C71F-40708CACFAD1}"/>
              </a:ext>
            </a:extLst>
          </p:cNvPr>
          <p:cNvCxnSpPr>
            <a:cxnSpLocks/>
            <a:stCxn id="43" idx="1"/>
            <a:endCxn id="61" idx="3"/>
          </p:cNvCxnSpPr>
          <p:nvPr/>
        </p:nvCxnSpPr>
        <p:spPr>
          <a:xfrm flipH="1" flipV="1">
            <a:off x="2317114" y="2736724"/>
            <a:ext cx="3118349" cy="355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接點: 肘形 55">
            <a:extLst>
              <a:ext uri="{FF2B5EF4-FFF2-40B4-BE49-F238E27FC236}">
                <a16:creationId xmlns:a16="http://schemas.microsoft.com/office/drawing/2014/main" id="{378D8C75-929F-5725-21D0-81990BC9D466}"/>
              </a:ext>
            </a:extLst>
          </p:cNvPr>
          <p:cNvCxnSpPr>
            <a:cxnSpLocks/>
            <a:stCxn id="61" idx="2"/>
            <a:endCxn id="33" idx="0"/>
          </p:cNvCxnSpPr>
          <p:nvPr/>
        </p:nvCxnSpPr>
        <p:spPr>
          <a:xfrm rot="16200000" flipH="1">
            <a:off x="2514732" y="2547078"/>
            <a:ext cx="683092" cy="1456289"/>
          </a:xfrm>
          <a:prstGeom prst="bentConnector3">
            <a:avLst>
              <a:gd name="adj1" fmla="val 50000"/>
            </a:avLst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F2CF-11A7-726A-D27F-288DAEACC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9182C9CB-190C-B5DD-2D63-BF54E7B24615}"/>
              </a:ext>
            </a:extLst>
          </p:cNvPr>
          <p:cNvSpPr/>
          <p:nvPr/>
        </p:nvSpPr>
        <p:spPr>
          <a:xfrm>
            <a:off x="3779912" y="1700809"/>
            <a:ext cx="1224934" cy="1800199"/>
          </a:xfrm>
          <a:prstGeom prst="roundRect">
            <a:avLst>
              <a:gd name="adj" fmla="val 8706"/>
            </a:avLst>
          </a:prstGeom>
          <a:solidFill>
            <a:schemeClr val="accent4">
              <a:lumMod val="5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92D9B42-3B09-1CD3-3E9A-F0CD5AE15C1A}"/>
              </a:ext>
            </a:extLst>
          </p:cNvPr>
          <p:cNvSpPr txBox="1"/>
          <p:nvPr/>
        </p:nvSpPr>
        <p:spPr>
          <a:xfrm>
            <a:off x="512390" y="1653482"/>
            <a:ext cx="1224934" cy="88003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r>
              <a:rPr lang="en-US" altLang="zh-TW" sz="1400" b="1" dirty="0"/>
              <a:t>AI Agent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50211F-8F9D-C9F9-1FDE-5B97D695C1C8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Human-in-the-Loop Framework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Ingest(raw)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/>
              <a:t> Instruct(C/Q/L)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GitHub: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nashsu/llm_wiki</a:t>
            </a:r>
            <a:r>
              <a:rPr lang="en-US" altLang="zh-TW" sz="1600" dirty="0"/>
              <a:t>, </a:t>
            </a:r>
            <a:r>
              <a:rPr lang="en-US" altLang="zh-TW" sz="1600" u="sng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atomicstrata/llm-wiki-compiler</a:t>
            </a:r>
            <a:r>
              <a:rPr lang="en-US" altLang="zh-TW" sz="1600" u="none" strike="noStrike" dirty="0">
                <a:effectLst/>
              </a:rPr>
              <a:t>,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Knowledge-vault</a:t>
            </a:r>
            <a:r>
              <a:rPr lang="en-US" altLang="zh-TW" sz="1600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8" name="標題 1">
            <a:extLst>
              <a:ext uri="{FF2B5EF4-FFF2-40B4-BE49-F238E27FC236}">
                <a16:creationId xmlns:a16="http://schemas.microsoft.com/office/drawing/2014/main" id="{9F314D84-1AAB-B228-251F-99F15D589F7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kumimoji="0" lang="zh-TW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2738DE3-C538-771F-1E0C-B8B7C3311206}"/>
              </a:ext>
            </a:extLst>
          </p:cNvPr>
          <p:cNvSpPr txBox="1"/>
          <p:nvPr/>
        </p:nvSpPr>
        <p:spPr>
          <a:xfrm>
            <a:off x="713958" y="2847964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4F7827C-F186-7D7D-4FA3-D9FA4AE1A51F}"/>
              </a:ext>
            </a:extLst>
          </p:cNvPr>
          <p:cNvSpPr/>
          <p:nvPr/>
        </p:nvSpPr>
        <p:spPr>
          <a:xfrm>
            <a:off x="1475023" y="2356725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407DB130-C749-D9E8-D70D-CEB8209A0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32052"/>
              </p:ext>
            </p:extLst>
          </p:nvPr>
        </p:nvGraphicFramePr>
        <p:xfrm>
          <a:off x="5148064" y="1735012"/>
          <a:ext cx="3266106" cy="1731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A7F2C415-DBCE-468D-EE83-BADC8BFEB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033066" y="2176499"/>
            <a:ext cx="718626" cy="676437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96593FAD-CC06-C829-3F7E-087D4EC457BE}"/>
              </a:ext>
            </a:extLst>
          </p:cNvPr>
          <p:cNvCxnSpPr>
            <a:cxnSpLocks/>
            <a:stCxn id="4" idx="1"/>
            <a:endCxn id="105" idx="3"/>
          </p:cNvCxnSpPr>
          <p:nvPr/>
        </p:nvCxnSpPr>
        <p:spPr>
          <a:xfrm flipH="1" flipV="1">
            <a:off x="1979712" y="2600908"/>
            <a:ext cx="180020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圖形 38" descr="科學思想 以實心填滿">
            <a:extLst>
              <a:ext uri="{FF2B5EF4-FFF2-40B4-BE49-F238E27FC236}">
                <a16:creationId xmlns:a16="http://schemas.microsoft.com/office/drawing/2014/main" id="{EA236300-D8AB-566A-3CE5-C7422D3D16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230" y="1725491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77020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23926"/>
              </p:ext>
            </p:extLst>
          </p:nvPr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b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</a:br>
            <a:r>
              <a:rPr lang="en-US" altLang="zh-TW" sz="12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(SLM)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986763"/>
              </p:ext>
            </p:extLst>
          </p:nvPr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35EA092-B215-BD47-7043-C4AF5B4B4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chemeClr val="bg1">
                <a:alpha val="40000"/>
              </a:schemeClr>
            </a:glow>
          </a:effectLst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29276"/>
              </p:ext>
            </p:extLst>
          </p:nvPr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30" name="圖片 29">
            <a:extLst>
              <a:ext uri="{FF2B5EF4-FFF2-40B4-BE49-F238E27FC236}">
                <a16:creationId xmlns:a16="http://schemas.microsoft.com/office/drawing/2014/main" id="{20DBAEDD-C1F2-2405-DE74-D94FB68D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Throughput,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PEFT</a:t>
            </a:r>
            <a:endParaRPr lang="zh-TW" altLang="en-US" sz="1200" dirty="0"/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ln w="25400">
            <a:solidFill>
              <a:schemeClr val="bg1">
                <a:lumMod val="75000"/>
              </a:schemeClr>
            </a:solidFill>
            <a:headEnd w="med" len="lg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6A19A26D-0595-B833-26F8-539F4EB87F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A9147E-F72B-ADB6-4DA8-0242A9E1BF56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Latency, TTFT,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Operator Fusion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00FAA8A-4147-8B00-9580-A50FE9BFA505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Framework:</a:t>
            </a:r>
            <a:r>
              <a:rPr lang="en-US" altLang="zh-TW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Optimizes</a:t>
            </a:r>
            <a:r>
              <a:rPr lang="en-US" altLang="zh-TW" sz="1600" dirty="0"/>
              <a:t> model weights using gradients.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Inference Engine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Runs</a:t>
            </a:r>
            <a:r>
              <a:rPr lang="en-US" altLang="zh-TW" sz="1600" dirty="0"/>
              <a:t> trained models to generate predictions.</a:t>
            </a:r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4250BB2F-3E2E-142D-8E2C-0C55A2542BDA}"/>
              </a:ext>
            </a:extLst>
          </p:cNvPr>
          <p:cNvCxnSpPr>
            <a:cxnSpLocks/>
            <a:stCxn id="102" idx="2"/>
            <a:endCxn id="9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8CF7F8B-C53A-57E9-4723-186600068448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C75B7D8C-9A37-CC8D-DAA6-3D999E4C7378}"/>
              </a:ext>
            </a:extLst>
          </p:cNvPr>
          <p:cNvCxnSpPr>
            <a:cxnSpLocks/>
            <a:stCxn id="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4291EA9-298A-7ADF-0020-17EE71DA7083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CA014519-788B-AB92-B84F-36E7C69222BC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Cloud</a:t>
            </a:r>
          </a:p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Edge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823281"/>
              </p:ext>
            </p:extLst>
          </p:nvPr>
        </p:nvGraphicFramePr>
        <p:xfrm>
          <a:off x="2411760" y="4034730"/>
          <a:ext cx="1354882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88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(Unsloth,</a:t>
            </a:r>
            <a:r>
              <a:rPr lang="zh-TW" altLang="en-US" sz="1600" dirty="0"/>
              <a:t> </a:t>
            </a:r>
            <a:r>
              <a:rPr lang="en-US" altLang="zh-TW" sz="1600" dirty="0"/>
              <a:t>Ollama)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</a:t>
            </a:r>
            <a:r>
              <a:rPr lang="en-US" altLang="zh-TW" sz="1600" dirty="0"/>
              <a:t>: Gemma 4.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(work with summit spatial)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Designing an agent capable of interpreting genomic data and tissue images.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32599"/>
              </p:ext>
            </p:extLst>
          </p:nvPr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8" idx="2"/>
            <a:endCxn id="46" idx="1"/>
          </p:cNvCxnSpPr>
          <p:nvPr/>
        </p:nvCxnSpPr>
        <p:spPr>
          <a:xfrm rot="16200000" flipH="1">
            <a:off x="3519681" y="3964968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350708" y="3880539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EE719D-AA9B-D04C-EC5E-E63F70E1E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4005064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CFEE7ED-5130-BF6C-2F07-BDC279C36F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2368388"/>
              </p:ext>
            </p:extLst>
          </p:nvPr>
        </p:nvGraphicFramePr>
        <p:xfrm>
          <a:off x="241648" y="4022175"/>
          <a:ext cx="767347" cy="10925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734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695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Summit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Spatial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48328-6D11-A467-2431-8B0B941B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48496AAB-B082-C826-3210-11C9B5962D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Hugging Face TRL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3DFF455-F351-0B33-ECC8-76D9C39A0A4B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torch</a:t>
            </a:r>
          </a:p>
          <a:p>
            <a:pPr>
              <a:lnSpc>
                <a:spcPts val="1200"/>
              </a:lnSpc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transformers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 err="1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AutoModelForCausalLM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 err="1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AutoTokenizer</a:t>
            </a:r>
            <a:r>
              <a:rPr lang="en-US" altLang="zh-TW" sz="1000" dirty="0">
                <a:latin typeface="Consolas" panose="020B0609020204030204" pitchFamily="49" charset="0"/>
              </a:rPr>
              <a:t>, </a:t>
            </a:r>
            <a:r>
              <a:rPr lang="en-US" altLang="zh-TW" sz="10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BitsAndBytesConfig</a:t>
            </a:r>
            <a:r>
              <a:rPr lang="en-US" altLang="zh-TW" sz="1000" dirty="0">
                <a:latin typeface="Consolas" panose="020B0609020204030204" pitchFamily="49" charset="0"/>
              </a:rPr>
              <a:t>, </a:t>
            </a:r>
            <a:endParaRPr lang="zh-TW" altLang="zh-TW" sz="1000" b="0" u="none" strike="noStrike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TrainingArguments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Load Initialized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 and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Tokenizer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ax_seq_length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2048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# Context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Length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tokenizer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FastLanguageModel.from_pretrained(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model_name=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"unsloth/gemma-2-9b-it"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Init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load_in_4bit=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                 # 4-bit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Unsloth PEFT(QLoRA)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FastLanguageModel.get_peft_model(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lora_alpha=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target_modules=[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"k_proj"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"v_proj"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br>
              <a:rPr lang="en-US" altLang="zh-TW" sz="1000" b="0" u="none" strike="noStrike" dirty="0">
                <a:effectLst/>
                <a:latin typeface="Consolas" panose="020B0609020204030204" pitchFamily="49" charset="0"/>
              </a:rPr>
            </a:b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	      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"o_proj"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"gate_proj"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"up_proj"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"down_proj"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],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lora_dropout=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Best performance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bias=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"none"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Ultra-low 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VRAM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random_state=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3407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383D9CD1-A4B4-0B00-EA29-4803A432A8F6}"/>
              </a:ext>
            </a:extLst>
          </p:cNvPr>
          <p:cNvSpPr txBox="1"/>
          <p:nvPr/>
        </p:nvSpPr>
        <p:spPr>
          <a:xfrm>
            <a:off x="5676408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4. Setup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TrainingArguments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output_dir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="./gemma4-qlora-output",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per_device_train_batch_size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gradient_accumulation_steps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learning_rate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logging_steps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=10,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   bf16=True,  #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建議使用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Ampere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架構以上的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GPU (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如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RTX 30/40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系列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max_steps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=100,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optim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="paged_adamw_8bit" #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使用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Paged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優化器防止記憶體溢出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5.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開始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 (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監督式微調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)#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註：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dataset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需預先準備為包涵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text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欄位的 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Hugging Face Dataset </a:t>
            </a:r>
            <a:r>
              <a:rPr lang="zh-TW" altLang="en-US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格式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 =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SFTTrainer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    model=model,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train_dataset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=dataset,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dataset_text_field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="text",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max_seq_length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=1024,    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,)</a:t>
            </a:r>
            <a:r>
              <a:rPr lang="en-US" altLang="zh-TW" sz="1000" b="0" u="none" strike="noStrike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trainer.train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7A54978-3E23-F4D0-B9E6-8B043564925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QLoRA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C7B8B59-256F-3D84-5C43-7187F1D5C7C6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Save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tuned weights into compressed Ollama GGUF format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"my_gemma_model"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"q4_k_m"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9CDBED4-040A-62DF-9D18-A03162C4A6EB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u="none" strike="noStrike" dirty="0">
                <a:effectLst/>
                <a:latin typeface="Consolas" panose="020B0609020204030204" pitchFamily="49" charset="0"/>
              </a:rPr>
              <a:t>Exporting GGUF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283A388-02CA-1B32-10F1-7611E8479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3092" y="180608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630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2FA1-D71C-1571-5DF7-FBBBA438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E7C0B290-8E6D-44B1-6DE3-7FBB5A30523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Unsloth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753B56-4876-526F-D548-E446B615A4E6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torch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FastLanguageModel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transformers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TrainingArguments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SFTTrainer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Load Initialized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 and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Tokenizer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ax_seq_length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2048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# Context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Length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tokenizer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FastLanguageModel.from_pretrained(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model_name=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"unsloth/gemma-2-9b-it"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Init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load_in_4bit=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                 # 4-bit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Unsloth PEFT(QLoRA)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FastLanguageModel.get_peft_model(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lora_alpha=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target_modules=[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"k_proj"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"v_proj"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br>
              <a:rPr lang="en-US" altLang="zh-TW" sz="1000" b="0" u="none" strike="noStrike" dirty="0">
                <a:effectLst/>
                <a:latin typeface="Consolas" panose="020B0609020204030204" pitchFamily="49" charset="0"/>
              </a:rPr>
            </a:b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	      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"o_proj"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"gate_proj"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"up_proj"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"down_proj"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],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lora_dropout=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Best performance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bias=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"none"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Ultra-low 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VRAM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random_state=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3407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8F3D1BD-FEA1-1267-FF02-F5C2BD90F822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3.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 Unsloth Optimizer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output_dir=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"./gemma-unsloth-output"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warmup_steps=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latin typeface="Consolas" panose="020B0609020204030204" pitchFamily="49" charset="0"/>
              </a:rPr>
              <a:t>	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learning_rate=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2e-4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fp16=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bf16=torch.cuda.is_bf16_supported(),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logging_steps=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optim=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"adamw_8bit"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4.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Start Training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SFTTrainer(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model=model,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tokenizer=tokenizer,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Aligned Data!!</a:t>
            </a:r>
            <a:endParaRPr lang="zh-TW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dataset_text_field=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"text"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dataset_num_proc=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args=training_args,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trainer_stats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D23E4A2-AF80-DE45-79B6-3B8FB1C1571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SFT and Quantization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3593BEC-05A3-F409-07AD-D3589DE96DAB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Save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tuned weights into compressed Ollama GGUF format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"my_gemma_model"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"q4_k_m"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F9639B6-9ABE-ADFD-AEF2-698F1687076E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u="none" strike="noStrike" dirty="0">
                <a:effectLst/>
                <a:latin typeface="Consolas" panose="020B0609020204030204" pitchFamily="49" charset="0"/>
              </a:rPr>
              <a:t>Exporting GGUF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7DE70DD2-16BF-ECEA-19B3-80072208A0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179145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2313153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2298</TotalTime>
  <Words>9820</Words>
  <Application>Microsoft Office PowerPoint</Application>
  <PresentationFormat>如螢幕大小 (4:3)</PresentationFormat>
  <Paragraphs>1351</Paragraphs>
  <Slides>21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36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1812</cp:revision>
  <cp:lastPrinted>2024-07-30T01:44:15Z</cp:lastPrinted>
  <dcterms:created xsi:type="dcterms:W3CDTF">2019-11-08T03:01:47Z</dcterms:created>
  <dcterms:modified xsi:type="dcterms:W3CDTF">2026-07-24T09:26:34Z</dcterms:modified>
</cp:coreProperties>
</file>