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3459" r:id="rId2"/>
    <p:sldId id="3472" r:id="rId3"/>
    <p:sldId id="3517" r:id="rId4"/>
    <p:sldId id="3530" r:id="rId5"/>
    <p:sldId id="3529" r:id="rId6"/>
    <p:sldId id="3528" r:id="rId7"/>
    <p:sldId id="3527" r:id="rId8"/>
    <p:sldId id="3518" r:id="rId9"/>
    <p:sldId id="3519" r:id="rId1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7"/>
            <p14:sldId id="3530"/>
            <p14:sldId id="3529"/>
            <p14:sldId id="3528"/>
            <p14:sldId id="3527"/>
            <p14:sldId id="3518"/>
            <p14:sldId id="35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AEAEA"/>
    <a:srgbClr val="339933"/>
    <a:srgbClr val="DCE6F2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gif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573887/" TargetMode="External"/><Relationship Id="rId2" Type="http://schemas.openxmlformats.org/officeDocument/2006/relationships/hyperlink" Target="https://cherrylab.stanford.edu/projects/regulomedb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Centrillion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A47C7B-38D5-FD2B-DAC1-C685C483C02A}"/>
              </a:ext>
            </a:extLst>
          </p:cNvPr>
          <p:cNvSpPr/>
          <p:nvPr/>
        </p:nvSpPr>
        <p:spPr>
          <a:xfrm>
            <a:off x="6228184" y="4800246"/>
            <a:ext cx="2808311" cy="146706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三階段目標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基因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生物資訊關問題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讀取照片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多模態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分析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summit2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取得分型結果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2027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解讀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 spatial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照片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與其空間定序數據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2028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Goal: Bio-IT AI Agent (Dr. Bio-Byte)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A12B706-1D5F-BC8C-6A88-B1F33BE9AA9B}"/>
              </a:ext>
            </a:extLst>
          </p:cNvPr>
          <p:cNvCxnSpPr>
            <a:cxnSpLocks/>
          </p:cNvCxnSpPr>
          <p:nvPr/>
        </p:nvCxnSpPr>
        <p:spPr>
          <a:xfrm flipH="1">
            <a:off x="2900724" y="5634113"/>
            <a:ext cx="5992440" cy="2302705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43E5657-DB10-F6AE-CFC3-017685DF86AD}"/>
              </a:ext>
            </a:extLst>
          </p:cNvPr>
          <p:cNvCxnSpPr>
            <a:cxnSpLocks/>
          </p:cNvCxnSpPr>
          <p:nvPr/>
        </p:nvCxnSpPr>
        <p:spPr>
          <a:xfrm flipV="1">
            <a:off x="1603896" y="2816813"/>
            <a:ext cx="6727184" cy="2669048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大括弧 1">
            <a:extLst>
              <a:ext uri="{FF2B5EF4-FFF2-40B4-BE49-F238E27FC236}">
                <a16:creationId xmlns:a16="http://schemas.microsoft.com/office/drawing/2014/main" id="{07AA5869-7FE2-7031-11DD-D3AEAB9E2592}"/>
              </a:ext>
            </a:extLst>
          </p:cNvPr>
          <p:cNvSpPr/>
          <p:nvPr/>
        </p:nvSpPr>
        <p:spPr>
          <a:xfrm>
            <a:off x="7690340" y="557022"/>
            <a:ext cx="202726" cy="612186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56FA7E-B280-17C1-AEF2-E7F7ED3D4268}"/>
              </a:ext>
            </a:extLst>
          </p:cNvPr>
          <p:cNvSpPr/>
          <p:nvPr/>
        </p:nvSpPr>
        <p:spPr>
          <a:xfrm>
            <a:off x="1205043" y="1289400"/>
            <a:ext cx="3366956" cy="93352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回答醫學或生物資訊相關問題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AE9FCB81-9066-8EE6-AE38-BD08A816BC90}"/>
              </a:ext>
            </a:extLst>
          </p:cNvPr>
          <p:cNvSpPr/>
          <p:nvPr/>
        </p:nvSpPr>
        <p:spPr>
          <a:xfrm>
            <a:off x="7322968" y="555881"/>
            <a:ext cx="202726" cy="612186"/>
          </a:xfrm>
          <a:prstGeom prst="lef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23D2E-C0DA-87BC-131E-A5314F10B11D}"/>
              </a:ext>
            </a:extLst>
          </p:cNvPr>
          <p:cNvSpPr/>
          <p:nvPr/>
        </p:nvSpPr>
        <p:spPr>
          <a:xfrm>
            <a:off x="1205042" y="2345187"/>
            <a:ext cx="3366957" cy="63276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選擇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Ollama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Gemma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微調工具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HF-TRL,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6E7FE-E181-D3B4-CC38-DAC92F2D7E0B}"/>
              </a:ext>
            </a:extLst>
          </p:cNvPr>
          <p:cNvSpPr/>
          <p:nvPr/>
        </p:nvSpPr>
        <p:spPr>
          <a:xfrm>
            <a:off x="1205042" y="3043728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架設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Server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並與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Biomedical-MCP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呼叫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MyVariant.info API: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解讀檔案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VCF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gonoAD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GraphQL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010BDAA-C79D-DF37-3CE2-38ECB3D7A907}"/>
              </a:ext>
            </a:extLst>
          </p:cNvPr>
          <p:cNvSpPr/>
          <p:nvPr/>
        </p:nvSpPr>
        <p:spPr>
          <a:xfrm>
            <a:off x="1205042" y="4238603"/>
            <a:ext cx="3366957" cy="91217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針對基因分型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強化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調用公開資料庫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遠端數據與資料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EEA5AB-EC13-074E-E90C-7ED275610B8B}"/>
              </a:ext>
            </a:extLst>
          </p:cNvPr>
          <p:cNvSpPr txBox="1"/>
          <p:nvPr/>
        </p:nvSpPr>
        <p:spPr>
          <a:xfrm>
            <a:off x="5021516" y="3344585"/>
            <a:ext cx="250417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zh-TW" sz="12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使用 Python / LangChain 自己架設一個可以連線 API 的 BIO-IT Agent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08A3BE-FAA8-D069-BE58-7E4850445FDF}"/>
              </a:ext>
            </a:extLst>
          </p:cNvPr>
          <p:cNvSpPr/>
          <p:nvPr/>
        </p:nvSpPr>
        <p:spPr>
          <a:xfrm>
            <a:off x="1217246" y="5426220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67FEAAE-5A60-5228-EC62-6C07AE54F497}"/>
              </a:ext>
            </a:extLst>
          </p:cNvPr>
          <p:cNvSpPr txBox="1"/>
          <p:nvPr/>
        </p:nvSpPr>
        <p:spPr>
          <a:xfrm>
            <a:off x="3635896" y="4817421"/>
            <a:ext cx="1512168" cy="4837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Apollo-Corpus:</a:t>
            </a:r>
          </a:p>
          <a:p>
            <a:pPr>
              <a:lnSpc>
                <a:spcPts val="1600"/>
              </a:lnSpc>
            </a:pPr>
            <a:r>
              <a:rPr lang="en-US" altLang="zh-TW" sz="11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MedQA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/ USMLE: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6956821-88D8-CAE9-C436-B01965649CF4}"/>
              </a:ext>
            </a:extLst>
          </p:cNvPr>
          <p:cNvSpPr/>
          <p:nvPr/>
        </p:nvSpPr>
        <p:spPr>
          <a:xfrm>
            <a:off x="4835732" y="1603184"/>
            <a:ext cx="581422" cy="72008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MCP 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Server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33EB4AF-4853-9400-B2B9-C3FC20DF31C7}"/>
              </a:ext>
            </a:extLst>
          </p:cNvPr>
          <p:cNvSpPr/>
          <p:nvPr/>
        </p:nvSpPr>
        <p:spPr>
          <a:xfrm>
            <a:off x="2281896" y="4424279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0FCB7C8-D55B-C23C-EBA3-E4239EBFE3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DB1F8FA5-669F-FAFF-FA6E-54EBC5D8B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64047"/>
              </p:ext>
            </p:extLst>
          </p:nvPr>
        </p:nvGraphicFramePr>
        <p:xfrm>
          <a:off x="910206" y="1929586"/>
          <a:ext cx="1432386" cy="142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08993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A6737D-2318-2B46-8BAC-55963F25B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52209"/>
              </p:ext>
            </p:extLst>
          </p:nvPr>
        </p:nvGraphicFramePr>
        <p:xfrm>
          <a:off x="3402369" y="1914444"/>
          <a:ext cx="1217339" cy="140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167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907366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1AE1465A-57AB-C852-BB9C-E6ADA5CC7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401" y="174055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1B2BDD8-0CDC-7F98-2502-AA1B5489ED3F}"/>
              </a:ext>
            </a:extLst>
          </p:cNvPr>
          <p:cNvCxnSpPr>
            <a:cxnSpLocks/>
            <a:stCxn id="20" idx="2"/>
            <a:endCxn id="8" idx="1"/>
          </p:cNvCxnSpPr>
          <p:nvPr/>
        </p:nvCxnSpPr>
        <p:spPr>
          <a:xfrm rot="16200000" flipH="1">
            <a:off x="2095631" y="1859824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7A5C6EA7-6D54-4902-EDE7-26C790AFF4B4}"/>
              </a:ext>
            </a:extLst>
          </p:cNvPr>
          <p:cNvSpPr/>
          <p:nvPr/>
        </p:nvSpPr>
        <p:spPr>
          <a:xfrm>
            <a:off x="2830482" y="244068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5C52DA3A-73E2-5C45-B124-B126F7341A19}"/>
              </a:ext>
            </a:extLst>
          </p:cNvPr>
          <p:cNvGrpSpPr/>
          <p:nvPr/>
        </p:nvGrpSpPr>
        <p:grpSpPr>
          <a:xfrm>
            <a:off x="3060717" y="2676658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BF06599-2BD0-1813-4939-5A5A4C75B9B4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E5876E1-2AD1-481F-0AE7-98C9C92AE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ADE032-C306-9696-54D2-4EA4994F6034}"/>
              </a:ext>
            </a:extLst>
          </p:cNvPr>
          <p:cNvSpPr txBox="1"/>
          <p:nvPr/>
        </p:nvSpPr>
        <p:spPr>
          <a:xfrm>
            <a:off x="3583344" y="1318481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AA31234-478F-6B09-B023-CBC177553873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3906425" y="1603184"/>
            <a:ext cx="0" cy="13737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C6F0AE6-D1A7-B1CE-B27E-05D7A3EEA827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>
          <a:xfrm flipV="1">
            <a:off x="4122449" y="1956577"/>
            <a:ext cx="28803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7D0722E7-3E2B-E75E-AA03-7172B9D76EBA}"/>
              </a:ext>
            </a:extLst>
          </p:cNvPr>
          <p:cNvSpPr/>
          <p:nvPr/>
        </p:nvSpPr>
        <p:spPr>
          <a:xfrm rot="16200000">
            <a:off x="4477494" y="172664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3FF0AA03-13D7-FC95-EC01-D24C42965E41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587377" y="2275626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0BB06E71-32EA-03E7-346A-AEB63F3F28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64" y="1899920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01BE5B7-93B4-6DCE-D32E-FA5623F11642}"/>
              </a:ext>
            </a:extLst>
          </p:cNvPr>
          <p:cNvSpPr txBox="1"/>
          <p:nvPr/>
        </p:nvSpPr>
        <p:spPr>
          <a:xfrm>
            <a:off x="1419758" y="2372632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1823606-DE97-1F54-9BDE-7AE26A6C4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052" y="2706564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279E747-9DBA-AD9F-63D2-8B62A2813FB7}"/>
              </a:ext>
            </a:extLst>
          </p:cNvPr>
          <p:cNvSpPr/>
          <p:nvPr/>
        </p:nvSpPr>
        <p:spPr>
          <a:xfrm>
            <a:off x="904601" y="851724"/>
            <a:ext cx="1437774" cy="786305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Bio-Medical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and Geomatics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Q&amp;A</a:t>
            </a: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B85E4695-C665-7B6B-CC37-C916F94A44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59888" y="1699852"/>
            <a:ext cx="513450" cy="513450"/>
          </a:xfrm>
          <a:prstGeom prst="rect">
            <a:avLst/>
          </a:prstGeom>
        </p:spPr>
      </p:pic>
      <p:sp>
        <p:nvSpPr>
          <p:cNvPr id="26" name="右大括弧 25">
            <a:extLst>
              <a:ext uri="{FF2B5EF4-FFF2-40B4-BE49-F238E27FC236}">
                <a16:creationId xmlns:a16="http://schemas.microsoft.com/office/drawing/2014/main" id="{7EE880E3-65D9-4BC5-9BF9-44D219BEE23E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1079-BD53-8815-A72F-FDC0CB2B7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6A0EE13-83C7-A75B-B783-29616C77D97D}"/>
              </a:ext>
            </a:extLst>
          </p:cNvPr>
          <p:cNvSpPr/>
          <p:nvPr/>
        </p:nvSpPr>
        <p:spPr>
          <a:xfrm>
            <a:off x="4204321" y="755419"/>
            <a:ext cx="1844242" cy="27467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Apollo-Corpus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0C3C4DC-8B4F-7148-E009-134858223D4E}"/>
              </a:ext>
            </a:extLst>
          </p:cNvPr>
          <p:cNvSpPr/>
          <p:nvPr/>
        </p:nvSpPr>
        <p:spPr>
          <a:xfrm>
            <a:off x="2281896" y="4424279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50FD3551-DEE5-3094-BB6E-B7F9B42C5F4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Fine-Tunning</a:t>
            </a:r>
          </a:p>
          <a:p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E1DE9328-A7AA-C920-A428-9EA723534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7095" y="1827319"/>
            <a:ext cx="513450" cy="513450"/>
          </a:xfrm>
          <a:prstGeom prst="rect">
            <a:avLst/>
          </a:prstGeom>
        </p:spPr>
      </p:pic>
      <p:sp>
        <p:nvSpPr>
          <p:cNvPr id="27" name="矩形 26">
            <a:extLst>
              <a:ext uri="{FF2B5EF4-FFF2-40B4-BE49-F238E27FC236}">
                <a16:creationId xmlns:a16="http://schemas.microsoft.com/office/drawing/2014/main" id="{E39DE903-A55C-8698-235D-E9279F6AC1C0}"/>
              </a:ext>
            </a:extLst>
          </p:cNvPr>
          <p:cNvSpPr/>
          <p:nvPr/>
        </p:nvSpPr>
        <p:spPr>
          <a:xfrm>
            <a:off x="6189500" y="3850777"/>
            <a:ext cx="1229495" cy="72008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Apollo-Corpus</a:t>
            </a:r>
          </a:p>
          <a:p>
            <a:pPr>
              <a:lnSpc>
                <a:spcPts val="1600"/>
              </a:lnSpc>
            </a:pPr>
            <a:r>
              <a:rPr lang="en-US" altLang="zh-TW" sz="1200" dirty="0" err="1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MedQA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/USMLE</a:t>
            </a:r>
          </a:p>
        </p:txBody>
      </p:sp>
      <p:sp>
        <p:nvSpPr>
          <p:cNvPr id="30" name="右大括弧 29">
            <a:extLst>
              <a:ext uri="{FF2B5EF4-FFF2-40B4-BE49-F238E27FC236}">
                <a16:creationId xmlns:a16="http://schemas.microsoft.com/office/drawing/2014/main" id="{20607DF1-B775-F356-AAE2-424FB0B3FE4C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97F3F11-5054-FCE8-0CBC-0AF4564FB2CD}"/>
              </a:ext>
            </a:extLst>
          </p:cNvPr>
          <p:cNvSpPr/>
          <p:nvPr/>
        </p:nvSpPr>
        <p:spPr>
          <a:xfrm>
            <a:off x="3649100" y="3288783"/>
            <a:ext cx="1845800" cy="27467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Genomic Variants</a:t>
            </a:r>
            <a:r>
              <a:rPr lang="zh-TW" altLang="en-US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API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784ABEE-3F74-DE7B-31A6-83D584C0A7FF}"/>
              </a:ext>
            </a:extLst>
          </p:cNvPr>
          <p:cNvSpPr/>
          <p:nvPr/>
        </p:nvSpPr>
        <p:spPr>
          <a:xfrm>
            <a:off x="3649100" y="3593845"/>
            <a:ext cx="1845800" cy="27467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Research Articles</a:t>
            </a:r>
            <a:r>
              <a:rPr lang="zh-TW" altLang="en-US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543ABFA-F7AA-406F-B195-6B4AC3E3305A}"/>
              </a:ext>
            </a:extLst>
          </p:cNvPr>
          <p:cNvSpPr/>
          <p:nvPr/>
        </p:nvSpPr>
        <p:spPr>
          <a:xfrm>
            <a:off x="1444872" y="1570781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3C9E5A5-1A4C-E1DD-BA22-A7EADD80F137}"/>
              </a:ext>
            </a:extLst>
          </p:cNvPr>
          <p:cNvSpPr/>
          <p:nvPr/>
        </p:nvSpPr>
        <p:spPr>
          <a:xfrm>
            <a:off x="2557864" y="2708920"/>
            <a:ext cx="645984" cy="30798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Unsloth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9698038-0D96-CDF9-A56E-0536E5A4ED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9792" y="2393250"/>
            <a:ext cx="432048" cy="36659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pic>
        <p:nvPicPr>
          <p:cNvPr id="4" name="圖片 3" descr="python™">
            <a:extLst>
              <a:ext uri="{FF2B5EF4-FFF2-40B4-BE49-F238E27FC236}">
                <a16:creationId xmlns:a16="http://schemas.microsoft.com/office/drawing/2014/main" id="{8EB164CC-EC9D-9D61-72C6-9F751510B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6839" y="1853553"/>
            <a:ext cx="1691952" cy="478414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bg1">
                <a:lumMod val="95000"/>
                <a:alpha val="40000"/>
              </a:schemeClr>
            </a:glow>
            <a:softEdge rad="25400"/>
          </a:effectLst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380A6DDE-81A5-EF82-8AD5-62E65A1B384D}"/>
              </a:ext>
            </a:extLst>
          </p:cNvPr>
          <p:cNvSpPr/>
          <p:nvPr/>
        </p:nvSpPr>
        <p:spPr>
          <a:xfrm>
            <a:off x="3121969" y="924383"/>
            <a:ext cx="645984" cy="30798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</a:t>
            </a:r>
            <a:r>
              <a:rPr lang="en-US" altLang="zh-TW" sz="14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json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8" name="圖片 7" descr="json logo">
            <a:extLst>
              <a:ext uri="{FF2B5EF4-FFF2-40B4-BE49-F238E27FC236}">
                <a16:creationId xmlns:a16="http://schemas.microsoft.com/office/drawing/2014/main" id="{614D0D0A-8724-C2C7-40B5-DA4C7CF33C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068" y="558318"/>
            <a:ext cx="394321" cy="39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417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97438-C8B0-5673-4C5F-AC6EEF8F1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036C336-3A04-69B3-A47E-AB6B16758771}"/>
              </a:ext>
            </a:extLst>
          </p:cNvPr>
          <p:cNvSpPr/>
          <p:nvPr/>
        </p:nvSpPr>
        <p:spPr>
          <a:xfrm>
            <a:off x="2699792" y="1451645"/>
            <a:ext cx="3700753" cy="1257275"/>
          </a:xfrm>
          <a:prstGeom prst="rect">
            <a:avLst/>
          </a:prstGeom>
          <a:noFill/>
          <a:ln w="6350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2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E2EA1A-CCAE-DEFA-2A4D-6F6BEF5AE898}"/>
              </a:ext>
            </a:extLst>
          </p:cNvPr>
          <p:cNvSpPr/>
          <p:nvPr/>
        </p:nvSpPr>
        <p:spPr>
          <a:xfrm>
            <a:off x="3858745" y="1620476"/>
            <a:ext cx="1844242" cy="27467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Clinical Trials</a:t>
            </a:r>
            <a:r>
              <a:rPr lang="zh-TW" altLang="en-US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API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8B5B681-38D2-12B5-DB86-61F191452B61}"/>
              </a:ext>
            </a:extLst>
          </p:cNvPr>
          <p:cNvSpPr/>
          <p:nvPr/>
        </p:nvSpPr>
        <p:spPr>
          <a:xfrm>
            <a:off x="2281896" y="4424279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BCD88C0B-1ECB-A061-55F5-5BBF6F58DD7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Biomedical MCP Server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In Runtime, Agent could access public database by BioMCP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1EF39786-3014-9BC9-B7AD-358326E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87095" y="1827319"/>
            <a:ext cx="513450" cy="513450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65C09A8E-2299-066D-21A0-8B4DBD865351}"/>
              </a:ext>
            </a:extLst>
          </p:cNvPr>
          <p:cNvGrpSpPr/>
          <p:nvPr/>
        </p:nvGrpSpPr>
        <p:grpSpPr>
          <a:xfrm>
            <a:off x="2880991" y="1603184"/>
            <a:ext cx="792088" cy="961721"/>
            <a:chOff x="5796136" y="2249217"/>
            <a:chExt cx="792088" cy="823167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DE400132-0809-AF72-370C-AFEFA6E6B6FC}"/>
                </a:ext>
              </a:extLst>
            </p:cNvPr>
            <p:cNvSpPr/>
            <p:nvPr/>
          </p:nvSpPr>
          <p:spPr>
            <a:xfrm>
              <a:off x="5796136" y="2249217"/>
              <a:ext cx="792088" cy="823167"/>
            </a:xfrm>
            <a:prstGeom prst="rect">
              <a:avLst/>
            </a:prstGeom>
            <a:grp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b" anchorCtr="1"/>
            <a:lstStyle/>
            <a:p>
              <a:pPr algn="r">
                <a:lnSpc>
                  <a:spcPts val="1600"/>
                </a:lnSpc>
              </a:pPr>
              <a:r>
                <a:rPr lang="en-US" altLang="zh-TW" sz="1400" dirty="0">
                  <a:solidFill>
                    <a:schemeClr val="tx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BioMCP</a:t>
              </a:r>
            </a:p>
          </p:txBody>
        </p:sp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42E9BC1C-BFC1-372E-BF18-851CBE7059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80244" y="2394410"/>
              <a:ext cx="457200" cy="391332"/>
            </a:xfrm>
            <a:prstGeom prst="rect">
              <a:avLst/>
            </a:prstGeom>
            <a:grpFill/>
            <a:ln w="19050">
              <a:solidFill>
                <a:schemeClr val="bg1">
                  <a:lumMod val="95000"/>
                </a:schemeClr>
              </a:solidFill>
            </a:ln>
            <a:effectLst>
              <a:glow rad="50800">
                <a:schemeClr val="bg1">
                  <a:lumMod val="95000"/>
                  <a:alpha val="60000"/>
                </a:schemeClr>
              </a:glow>
              <a:softEdge rad="25400"/>
            </a:effectLst>
          </p:spPr>
        </p:pic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03EFD41-8FE5-076E-644D-A0755BFD1A56}"/>
              </a:ext>
            </a:extLst>
          </p:cNvPr>
          <p:cNvSpPr/>
          <p:nvPr/>
        </p:nvSpPr>
        <p:spPr>
          <a:xfrm>
            <a:off x="6189500" y="3850777"/>
            <a:ext cx="1229495" cy="72008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Apollo-Corpus</a:t>
            </a:r>
          </a:p>
          <a:p>
            <a:pPr>
              <a:lnSpc>
                <a:spcPts val="1600"/>
              </a:lnSpc>
            </a:pPr>
            <a:r>
              <a:rPr lang="en-US" altLang="zh-TW" sz="1200" dirty="0" err="1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MedQA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/USMLE</a:t>
            </a:r>
          </a:p>
        </p:txBody>
      </p:sp>
      <p:sp>
        <p:nvSpPr>
          <p:cNvPr id="30" name="右大括弧 29">
            <a:extLst>
              <a:ext uri="{FF2B5EF4-FFF2-40B4-BE49-F238E27FC236}">
                <a16:creationId xmlns:a16="http://schemas.microsoft.com/office/drawing/2014/main" id="{B83A3D07-2AFA-2CE6-EE68-6D15A90882C1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BC3F41-8024-C908-8ADC-35F66696A3CD}"/>
              </a:ext>
            </a:extLst>
          </p:cNvPr>
          <p:cNvSpPr/>
          <p:nvPr/>
        </p:nvSpPr>
        <p:spPr>
          <a:xfrm>
            <a:off x="3857187" y="1925538"/>
            <a:ext cx="1845800" cy="27467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Genomic Variants</a:t>
            </a:r>
            <a:r>
              <a:rPr lang="zh-TW" altLang="en-US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API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B95387A-8982-D2B1-AFA9-0B75FF57F2F8}"/>
              </a:ext>
            </a:extLst>
          </p:cNvPr>
          <p:cNvSpPr/>
          <p:nvPr/>
        </p:nvSpPr>
        <p:spPr>
          <a:xfrm>
            <a:off x="3857187" y="2230600"/>
            <a:ext cx="1845800" cy="27467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Research Articles</a:t>
            </a:r>
            <a:r>
              <a:rPr lang="zh-TW" altLang="en-US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API</a:t>
            </a:r>
          </a:p>
        </p:txBody>
      </p: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215D1878-B489-AFE3-A8C3-A6B0443A3968}"/>
              </a:ext>
            </a:extLst>
          </p:cNvPr>
          <p:cNvSpPr/>
          <p:nvPr/>
        </p:nvSpPr>
        <p:spPr>
          <a:xfrm rot="16200000">
            <a:off x="2522781" y="188401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70D2D0B-D65D-A699-AC91-D431E8C49B8D}"/>
              </a:ext>
            </a:extLst>
          </p:cNvPr>
          <p:cNvSpPr/>
          <p:nvPr/>
        </p:nvSpPr>
        <p:spPr>
          <a:xfrm>
            <a:off x="1444872" y="1570781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2F10185-96A3-36BA-42B0-0C7A06A7673D}"/>
              </a:ext>
            </a:extLst>
          </p:cNvPr>
          <p:cNvSpPr/>
          <p:nvPr/>
        </p:nvSpPr>
        <p:spPr>
          <a:xfrm>
            <a:off x="1445069" y="1958534"/>
            <a:ext cx="859919" cy="307983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>
                <a:lumMod val="75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Agent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9404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DA888E0-E178-CA85-DA6A-537E21CE214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VCF Example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Variant Call Format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D4A5CD-D275-F3CD-78FF-2A57763D2B22}"/>
              </a:ext>
            </a:extLst>
          </p:cNvPr>
          <p:cNvSpPr txBox="1"/>
          <p:nvPr/>
        </p:nvSpPr>
        <p:spPr>
          <a:xfrm>
            <a:off x="179512" y="913944"/>
            <a:ext cx="8184624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Consolas" panose="020B0609020204030204" pitchFamily="49" charset="0"/>
              </a:rPr>
              <a:t>text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##fileformat=VCFv4.2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##FILTER=&lt;ID=PASS,Description="All filters passed"&gt;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##INFO=&lt;ID=DP,Number=1,Type=Integer,Description="Total Depth"&gt;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##FORMAT=&lt;ID=GT,Number=1,Type=String,Description="Genotype"&gt;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#CHROM   POS       ID         REF  ALT  QUAL  FILTER  INFO    FORMAT  SAMPLE_001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10177     rs20177    A    G    60    PASS    DP=25   GT      0/1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10352     rs11221    T    C    58    PASS    DP=32   GT      1/1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chr2     24194     .          C    T    50    PASS    DP=18   GT      0/0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952942-4FE4-5020-2256-165B3E4BFAFA}"/>
              </a:ext>
            </a:extLst>
          </p:cNvPr>
          <p:cNvSpPr txBox="1"/>
          <p:nvPr/>
        </p:nvSpPr>
        <p:spPr>
          <a:xfrm>
            <a:off x="323528" y="2846546"/>
            <a:ext cx="8040608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🔍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核心欄位白話拆解（表格每列代表一個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#CHROM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染色體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：變異位在第幾號染色體（例如：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chr1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POS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基因座標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：該變異在染色體上的精確位置（例如：第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10177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個鹼基）。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ID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識別碼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：通常是國際標準的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編號（例如：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rs20177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）。如果是尚未被記錄的全新突變，則顯示為一個點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參考鹼基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：正常人類基因組在該位置的標準英文字母（例如：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ALT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變異鹼基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：這個病患在該位置發生的突變英文字母（例如：變成了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QUAL &amp; FILTER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品質與過濾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：代表這次定序或晶片檢測的精確度。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PASS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代表這是一個高可信度、沒有雜訊的真實變異。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INFO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附加資訊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：記錄檢測時的技術參數。例如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DP=25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代表這個點位被反覆讀取、覆蓋了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次。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FORMAT &amp; SAMPLE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基因型結果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：這是解讀最重要的核心！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0/0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：代表病患兩個染色體都是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（未突變，如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：代表異型合子（雜合突變，一個正常一個突變，如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319549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33158-F686-671C-2ABD-1B9BF719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A4ABE55-8661-AC59-3A83-3125F3D55BD9}"/>
              </a:ext>
            </a:extLst>
          </p:cNvPr>
          <p:cNvSpPr txBox="1"/>
          <p:nvPr/>
        </p:nvSpPr>
        <p:spPr>
          <a:xfrm>
            <a:off x="179512" y="1196752"/>
            <a:ext cx="8184624" cy="4248472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requests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query_regulatory_features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rsid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: str):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Input the rsID of an SNP to query its regulatory feature score and details in RegulomeDB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b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Using public API of MyVariant.info</a:t>
            </a:r>
            <a:endParaRPr lang="en-US" altLang="zh-TW" sz="1000" b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url</a:t>
            </a:r>
            <a:r>
              <a:rPr lang="en-US" altLang="zh-TW" sz="1000" dirty="0">
                <a:latin typeface="Consolas" panose="020B0609020204030204" pitchFamily="49" charset="0"/>
              </a:rPr>
              <a:t> =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f"https://myvariant.info</a:t>
            </a:r>
            <a:r>
              <a:rPr lang="en-US" altLang="zh-TW" sz="1000" dirty="0">
                <a:latin typeface="Consolas" panose="020B0609020204030204" pitchFamily="49" charset="0"/>
              </a:rPr>
              <a:t>{rsid}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response</a:t>
            </a:r>
            <a:r>
              <a:rPr lang="en-US" altLang="zh-TW" sz="1000" dirty="0">
                <a:latin typeface="Consolas" panose="020B0609020204030204" pitchFamily="49" charset="0"/>
              </a:rPr>
              <a:t>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000" dirty="0">
                <a:latin typeface="Consolas" panose="020B0609020204030204" pitchFamily="49" charset="0"/>
              </a:rPr>
              <a:t> response.status_code ==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200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zh-TW" sz="1000" dirty="0">
                <a:latin typeface="Consolas" panose="020B0609020204030204" pitchFamily="49" charset="0"/>
              </a:rPr>
              <a:t>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Extract the regulatory gene data from RegulomeDB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regulomedb_info</a:t>
            </a:r>
            <a:r>
              <a:rPr lang="en-US" altLang="zh-TW" sz="1000" dirty="0">
                <a:latin typeface="Consolas" panose="020B0609020204030204" pitchFamily="49" charset="0"/>
              </a:rPr>
              <a:t> = data.get(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"regulomedb"</a:t>
            </a:r>
            <a:r>
              <a:rPr lang="en-US" altLang="zh-TW" sz="1000" dirty="0">
                <a:latin typeface="Consolas" panose="020B0609020204030204" pitchFamily="49" charset="0"/>
              </a:rPr>
              <a:t>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score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regulomedb_info.get("score",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"None"</a:t>
            </a:r>
            <a:r>
              <a:rPr lang="en-US" altLang="zh-TW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evidence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"rsID"</a:t>
            </a:r>
            <a:r>
              <a:rPr lang="en-US" altLang="zh-TW" sz="1000" dirty="0">
                <a:latin typeface="Consolas" panose="020B0609020204030204" pitchFamily="49" charset="0"/>
              </a:rPr>
              <a:t>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"RegulomeDB_Score"</a:t>
            </a:r>
            <a:r>
              <a:rPr lang="en-US" altLang="zh-TW" sz="1000" dirty="0">
                <a:latin typeface="Consolas" panose="020B0609020204030204" pitchFamily="49" charset="0"/>
              </a:rPr>
              <a:t>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"Description"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f"The regulatory potential score of an SNP is</a:t>
            </a:r>
            <a:r>
              <a:rPr lang="zh-TW" altLang="en-US" sz="1000" dirty="0">
                <a:solidFill>
                  <a:srgbClr val="339933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."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else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"error"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"Unable to connect to the database or SNP not found."</a:t>
            </a:r>
            <a:r>
              <a:rPr lang="en-US" altLang="zh-TW" sz="1000" dirty="0">
                <a:latin typeface="Consolas" panose="020B0609020204030204" pitchFamily="49" charset="0"/>
              </a:rPr>
              <a:t>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If Agent detects a user asking, "What regulatory function does the rs334 mutation have?".</a:t>
            </a: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it will automatically execute: query_regulatory_features("rs334")</a:t>
            </a:r>
            <a:endParaRPr lang="zh-TW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9FB3898-6948-1341-6B2F-D89FBC6C275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Python and MyVariant.info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80D9B33-C9E6-CBAA-8212-FEA78ABD82F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Database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RegulomeDB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755CC4A-AA49-61B7-EA2B-71166C67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483" y="501948"/>
            <a:ext cx="609653" cy="586791"/>
          </a:xfrm>
          <a:prstGeom prst="rect">
            <a:avLst/>
          </a:prstGeom>
          <a:effectLst>
            <a:glow rad="50800">
              <a:schemeClr val="accent1">
                <a:alpha val="60000"/>
              </a:schemeClr>
            </a:glow>
            <a:softEdge rad="254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43F1054-967A-E1AF-34F4-8AFB34BC6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403" y="501949"/>
            <a:ext cx="540897" cy="586791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22792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9AE59F5-230E-F0C8-13CE-F4C0D87C0A57}"/>
              </a:ext>
            </a:extLst>
          </p:cNvPr>
          <p:cNvSpPr txBox="1"/>
          <p:nvPr/>
        </p:nvSpPr>
        <p:spPr>
          <a:xfrm>
            <a:off x="270892" y="2062879"/>
            <a:ext cx="871296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最核心的公開調控特徵資料庫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您可以將以下三個權威資料庫作為您 AI Agent 的後端查詢工具：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None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RegulomeDB (史丹佛大學)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：這是專門用來查詢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SNP 對調控元件影響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的黃金標準。它整合了 ENCODE 計畫的大量數據，能告訴您某個 SNP 是否位於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轉錄因子結合位點（TFBS）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DNA 敏感位點（DNase I）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或特定的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組蛋白修飾（Histone modifications）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區域，並給出一個預測影響力的評分（Score）。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GTEx Portal (型態組織基因表達計畫)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：提供最強大的 eQTL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表達量定量性狀基因座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數據。輸入一個 SNP，它能直接告訴您這個變異在哪些特定人體組織中（如心臟、肝臟、大腦），會顯著調控哪個鄰近基因的表達量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Expression level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Ensembl Regulation (EBI/Sanger)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：收錄了豐富的「啟動子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romoters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」和「增強子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Enhancers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」基因體座標，支援 programmatic 批量查詢。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EB9EF8-8E47-D338-AE6B-F8AC1522266E}"/>
              </a:ext>
            </a:extLst>
          </p:cNvPr>
          <p:cNvSpPr txBox="1"/>
          <p:nvPr/>
        </p:nvSpPr>
        <p:spPr>
          <a:xfrm>
            <a:off x="251520" y="764704"/>
            <a:ext cx="871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現今國際上有非常豐富且完全公開的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非編碼區（Non-coding region）與功能基因體學資料庫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由於絕大多數的 SNP 都位於不直接轉譯成蛋白質的非編碼區，它們主要是透過影響「轉錄因子結合」、「染色質結構」或「基因表達量」等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調控特徵（Regulatory Features）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來影響人體生理。</a:t>
            </a:r>
          </a:p>
          <a:p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以下為您盤點如何利用公開資訊與 API，將您的「基因分型資料（SNP/VCF）」與「調控特徵」無縫串接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E3A784-11F7-84EA-DB38-617A15DD03FA}"/>
              </a:ext>
            </a:extLst>
          </p:cNvPr>
          <p:cNvSpPr txBox="1"/>
          <p:nvPr/>
        </p:nvSpPr>
        <p:spPr>
          <a:xfrm>
            <a:off x="251520" y="4315162"/>
            <a:ext cx="8640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AI Agent 如何自動化串接？（程式碼與 API 實作）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您不需要下載幾百 GB 的原始檔，這些資料庫多數提供免費的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REST API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或專門的 MyVariant.info 整合介面。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以下是訓練 AI Agent 時，您可以寫成 Python Tool（函式）供 Agent 自行呼叫的範例（以 MyVariant.info 查詢 RegulomeDB 調控分數為例）：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783C646-7188-2C96-2E02-2B55441A6242}"/>
              </a:ext>
            </a:extLst>
          </p:cNvPr>
          <p:cNvSpPr txBox="1"/>
          <p:nvPr/>
        </p:nvSpPr>
        <p:spPr>
          <a:xfrm>
            <a:off x="539552" y="980728"/>
            <a:ext cx="842493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latin typeface="Consolas" panose="020B0609020204030204" pitchFamily="49" charset="0"/>
              </a:rPr>
              <a:t>Python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import requests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def query_regulatory_features(rsid: str):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""“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zh-TW" altLang="en-US" sz="1000" dirty="0">
                <a:latin typeface="Consolas" panose="020B0609020204030204" pitchFamily="49" charset="0"/>
              </a:rPr>
              <a:t>透過公開 </a:t>
            </a:r>
            <a:r>
              <a:rPr lang="en-US" altLang="zh-TW" sz="1000" dirty="0">
                <a:latin typeface="Consolas" panose="020B0609020204030204" pitchFamily="49" charset="0"/>
              </a:rPr>
              <a:t>API</a:t>
            </a:r>
            <a:r>
              <a:rPr lang="zh-TW" altLang="en-US" sz="1000" dirty="0">
                <a:latin typeface="Consolas" panose="020B0609020204030204" pitchFamily="49" charset="0"/>
              </a:rPr>
              <a:t>，輸入 </a:t>
            </a:r>
            <a:r>
              <a:rPr lang="en-US" altLang="zh-TW" sz="1000" dirty="0">
                <a:latin typeface="Consolas" panose="020B0609020204030204" pitchFamily="49" charset="0"/>
              </a:rPr>
              <a:t>SNP </a:t>
            </a:r>
            <a:r>
              <a:rPr lang="zh-TW" altLang="en-US" sz="1000" dirty="0">
                <a:latin typeface="Consolas" panose="020B0609020204030204" pitchFamily="49" charset="0"/>
              </a:rPr>
              <a:t>的 </a:t>
            </a:r>
            <a:r>
              <a:rPr lang="en-US" altLang="zh-TW" sz="1000" dirty="0">
                <a:latin typeface="Consolas" panose="020B0609020204030204" pitchFamily="49" charset="0"/>
              </a:rPr>
              <a:t>rsID</a:t>
            </a:r>
            <a:r>
              <a:rPr lang="zh-TW" altLang="en-US" sz="1000" dirty="0">
                <a:latin typeface="Consolas" panose="020B0609020204030204" pitchFamily="49" charset="0"/>
              </a:rPr>
              <a:t>，查詢其在 </a:t>
            </a:r>
            <a:r>
              <a:rPr lang="en-US" altLang="zh-TW" sz="1000" dirty="0">
                <a:latin typeface="Consolas" panose="020B0609020204030204" pitchFamily="49" charset="0"/>
              </a:rPr>
              <a:t>RegulomeDB </a:t>
            </a:r>
            <a:r>
              <a:rPr lang="zh-TW" altLang="en-US" sz="1000" dirty="0">
                <a:latin typeface="Consolas" panose="020B0609020204030204" pitchFamily="49" charset="0"/>
              </a:rPr>
              <a:t>的調控特徵評分與細節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latin typeface="Consolas" panose="020B0609020204030204" pitchFamily="49" charset="0"/>
              </a:rPr>
              <a:t>"""    # </a:t>
            </a:r>
            <a:r>
              <a:rPr lang="zh-TW" altLang="en-US" sz="1000" dirty="0">
                <a:latin typeface="Consolas" panose="020B0609020204030204" pitchFamily="49" charset="0"/>
              </a:rPr>
              <a:t>使用 </a:t>
            </a:r>
            <a:r>
              <a:rPr lang="en-US" altLang="zh-TW" sz="1000" dirty="0">
                <a:latin typeface="Consolas" panose="020B0609020204030204" pitchFamily="49" charset="0"/>
              </a:rPr>
              <a:t>MyVariant.info </a:t>
            </a:r>
            <a:r>
              <a:rPr lang="zh-TW" altLang="en-US" sz="1000" dirty="0">
                <a:latin typeface="Consolas" panose="020B0609020204030204" pitchFamily="49" charset="0"/>
              </a:rPr>
              <a:t>的公開 </a:t>
            </a:r>
            <a:r>
              <a:rPr lang="en-US" altLang="zh-TW" sz="1000" dirty="0">
                <a:latin typeface="Consolas" panose="020B0609020204030204" pitchFamily="49" charset="0"/>
              </a:rPr>
              <a:t>API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url = f"https://myvariant.info{rsid}“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response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if response.status_code == 200: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data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# </a:t>
            </a:r>
            <a:r>
              <a:rPr lang="zh-TW" altLang="en-US" sz="1000" dirty="0">
                <a:latin typeface="Consolas" panose="020B0609020204030204" pitchFamily="49" charset="0"/>
              </a:rPr>
              <a:t>提取 </a:t>
            </a:r>
            <a:r>
              <a:rPr lang="en-US" altLang="zh-TW" sz="1000" dirty="0">
                <a:latin typeface="Consolas" panose="020B0609020204030204" pitchFamily="49" charset="0"/>
              </a:rPr>
              <a:t>RegulomeDB </a:t>
            </a:r>
            <a:r>
              <a:rPr lang="zh-TW" altLang="en-US" sz="1000" dirty="0">
                <a:latin typeface="Consolas" panose="020B0609020204030204" pitchFamily="49" charset="0"/>
              </a:rPr>
              <a:t>的調控特徵數據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latin typeface="Consolas" panose="020B0609020204030204" pitchFamily="49" charset="0"/>
              </a:rPr>
              <a:t>regulomedb_info = data.get("regulomedb",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score = regulomedb_info.get("score", "</a:t>
            </a:r>
            <a:r>
              <a:rPr lang="zh-TW" altLang="en-US" sz="1000" dirty="0">
                <a:latin typeface="Consolas" panose="020B0609020204030204" pitchFamily="49" charset="0"/>
              </a:rPr>
              <a:t>無評分</a:t>
            </a:r>
            <a:r>
              <a:rPr lang="en-US" altLang="zh-TW" sz="1000" dirty="0">
                <a:latin typeface="Consolas" panose="020B0609020204030204" pitchFamily="49" charset="0"/>
              </a:rPr>
              <a:t>")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evidence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return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"rsID":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"RegulomeDB_Score":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"Description": f"</a:t>
            </a:r>
            <a:r>
              <a:rPr lang="zh-TW" altLang="en-US" sz="1000" dirty="0">
                <a:latin typeface="Consolas" panose="020B0609020204030204" pitchFamily="49" charset="0"/>
              </a:rPr>
              <a:t>該 </a:t>
            </a:r>
            <a:r>
              <a:rPr lang="en-US" altLang="zh-TW" sz="1000" dirty="0">
                <a:latin typeface="Consolas" panose="020B0609020204030204" pitchFamily="49" charset="0"/>
              </a:rPr>
              <a:t>SNP </a:t>
            </a:r>
            <a:r>
              <a:rPr lang="zh-TW" altLang="en-US" sz="1000" dirty="0">
                <a:latin typeface="Consolas" panose="020B0609020204030204" pitchFamily="49" charset="0"/>
              </a:rPr>
              <a:t>的調控潛力分數為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zh-TW" altLang="en-US" sz="1000" dirty="0">
                <a:latin typeface="Consolas" panose="020B0609020204030204" pitchFamily="49" charset="0"/>
              </a:rPr>
              <a:t>。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		</a:t>
            </a:r>
            <a:r>
              <a:rPr lang="zh-TW" altLang="en-US" sz="1000" dirty="0">
                <a:latin typeface="Consolas" panose="020B0609020204030204" pitchFamily="49" charset="0"/>
              </a:rPr>
              <a:t>分數越低（如 </a:t>
            </a:r>
            <a:r>
              <a:rPr lang="en-US" altLang="zh-TW" sz="1000" dirty="0">
                <a:latin typeface="Consolas" panose="020B0609020204030204" pitchFamily="49" charset="0"/>
              </a:rPr>
              <a:t>1a, 1b</a:t>
            </a:r>
            <a:r>
              <a:rPr lang="zh-TW" altLang="en-US" sz="1000" dirty="0">
                <a:latin typeface="Consolas" panose="020B0609020204030204" pitchFamily="49" charset="0"/>
              </a:rPr>
              <a:t>）代表有越強的轉錄因子結合或 </a:t>
            </a:r>
            <a:r>
              <a:rPr lang="en-US" altLang="zh-TW" sz="1000" dirty="0">
                <a:latin typeface="Consolas" panose="020B0609020204030204" pitchFamily="49" charset="0"/>
              </a:rPr>
              <a:t>eQTL </a:t>
            </a:r>
            <a:r>
              <a:rPr lang="zh-TW" altLang="en-US" sz="1000" dirty="0">
                <a:latin typeface="Consolas" panose="020B0609020204030204" pitchFamily="49" charset="0"/>
              </a:rPr>
              <a:t>實驗證據支撑。</a:t>
            </a:r>
            <a:r>
              <a:rPr lang="en-US" altLang="zh-TW" sz="1000" dirty="0">
                <a:latin typeface="Consolas" panose="020B0609020204030204" pitchFamily="49" charset="0"/>
              </a:rPr>
              <a:t>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else: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return {"error": "</a:t>
            </a:r>
            <a:r>
              <a:rPr lang="zh-TW" altLang="en-US" sz="1000" dirty="0">
                <a:latin typeface="Consolas" panose="020B0609020204030204" pitchFamily="49" charset="0"/>
              </a:rPr>
              <a:t>無法連線至公開資料庫或找不到該 </a:t>
            </a:r>
            <a:r>
              <a:rPr lang="en-US" altLang="zh-TW" sz="1000" dirty="0">
                <a:latin typeface="Consolas" panose="020B0609020204030204" pitchFamily="49" charset="0"/>
              </a:rPr>
              <a:t>SNP"}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# AI Agent </a:t>
            </a:r>
            <a:r>
              <a:rPr lang="zh-TW" altLang="en-US" sz="1000" dirty="0">
                <a:latin typeface="Consolas" panose="020B0609020204030204" pitchFamily="49" charset="0"/>
              </a:rPr>
              <a:t>在思考時，若發現使用者問：「</a:t>
            </a:r>
            <a:r>
              <a:rPr lang="en-US" altLang="zh-TW" sz="1000" dirty="0">
                <a:latin typeface="Consolas" panose="020B0609020204030204" pitchFamily="49" charset="0"/>
              </a:rPr>
              <a:t>rs334 </a:t>
            </a:r>
            <a:r>
              <a:rPr lang="zh-TW" altLang="en-US" sz="1000" dirty="0">
                <a:latin typeface="Consolas" panose="020B0609020204030204" pitchFamily="49" charset="0"/>
              </a:rPr>
              <a:t>這個突變有什麼調控功能？」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# </a:t>
            </a:r>
            <a:r>
              <a:rPr lang="zh-TW" altLang="en-US" sz="1000" dirty="0">
                <a:latin typeface="Consolas" panose="020B0609020204030204" pitchFamily="49" charset="0"/>
              </a:rPr>
              <a:t>就會自動執行：</a:t>
            </a:r>
            <a:r>
              <a:rPr lang="en-US" altLang="zh-TW" sz="1000" dirty="0">
                <a:latin typeface="Consolas" panose="020B0609020204030204" pitchFamily="49" charset="0"/>
              </a:rPr>
              <a:t>query_regulatory_features("rs334")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1416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846</TotalTime>
  <Words>1681</Words>
  <Application>Microsoft Office PowerPoint</Application>
  <PresentationFormat>如螢幕大小 (4:3)</PresentationFormat>
  <Paragraphs>182</Paragraphs>
  <Slides>9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7" baseType="lpstr">
      <vt:lpstr>Noto Sans HK</vt:lpstr>
      <vt:lpstr>微軟正黑體</vt:lpstr>
      <vt:lpstr>ADLaM Display</vt:lpstr>
      <vt:lpstr>Arial</vt:lpstr>
      <vt:lpstr>Calibri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1798</cp:revision>
  <cp:lastPrinted>2024-07-30T01:44:15Z</cp:lastPrinted>
  <dcterms:created xsi:type="dcterms:W3CDTF">2019-11-08T03:01:47Z</dcterms:created>
  <dcterms:modified xsi:type="dcterms:W3CDTF">2026-07-28T09:26:57Z</dcterms:modified>
</cp:coreProperties>
</file>