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511" r:id="rId12"/>
    <p:sldId id="3512" r:id="rId13"/>
    <p:sldId id="3513" r:id="rId14"/>
    <p:sldId id="3496" r:id="rId15"/>
    <p:sldId id="3508" r:id="rId16"/>
    <p:sldId id="3505" r:id="rId17"/>
    <p:sldId id="3482" r:id="rId18"/>
    <p:sldId id="3507" r:id="rId19"/>
    <p:sldId id="3510" r:id="rId20"/>
    <p:sldId id="3489" r:id="rId21"/>
    <p:sldId id="3495" r:id="rId22"/>
    <p:sldId id="3503" r:id="rId23"/>
    <p:sldId id="3460" r:id="rId24"/>
    <p:sldId id="3504" r:id="rId25"/>
    <p:sldId id="257" r:id="rId26"/>
    <p:sldId id="265" r:id="rId2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1"/>
            <p14:sldId id="3512"/>
            <p14:sldId id="3513"/>
            <p14:sldId id="3496"/>
            <p14:sldId id="3508"/>
            <p14:sldId id="3505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BDCA8"/>
    <a:srgbClr val="C5D8A0"/>
    <a:srgbClr val="CCFF66"/>
    <a:srgbClr val="DBFF94"/>
    <a:srgbClr val="DCE6F2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72485" autoAdjust="0"/>
  </p:normalViewPr>
  <p:slideViewPr>
    <p:cSldViewPr>
      <p:cViewPr>
        <p:scale>
          <a:sx n="100" d="100"/>
          <a:sy n="100" d="100"/>
        </p:scale>
        <p:origin x="76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5A63-1F05-BE35-5E13-B3A3999C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46AC000-B44B-7302-0955-04C9F1765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B94F7D-E714-7BBA-99A5-DED233F4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2914AF-2576-0CFB-E0DF-B86101C5A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1781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6FAF2-1A46-CEF0-E2BB-D0CC27EB0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CCB1260-8FF3-487B-6D1C-E2CD8DFC3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CC8F22-6BDB-E906-4576-3211F0FB76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DA66C0-B0B0-3065-045C-625385189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029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Pre-Training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是為了學語言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是為了懂目的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人類意圖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5243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QAD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(Quantization-Aware Distillation)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(Quantized Low-Rank Adaptation)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98EEB6DF-D293-889C-F982-3D3F650CB3BC}"/>
              </a:ext>
            </a:extLst>
          </p:cNvPr>
          <p:cNvSpPr txBox="1">
            <a:spLocks/>
          </p:cNvSpPr>
          <p:nvPr/>
        </p:nvSpPr>
        <p:spPr>
          <a:xfrm>
            <a:off x="1835696" y="389386"/>
            <a:ext cx="3654406" cy="360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146515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128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CoT,  &lt;|think|&gt;, multi-token prediction and PLE (Per Layer Embedding).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under Apache 2.0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標題 1">
            <a:extLst>
              <a:ext uri="{FF2B5EF4-FFF2-40B4-BE49-F238E27FC236}">
                <a16:creationId xmlns:a16="http://schemas.microsoft.com/office/drawing/2014/main" id="{DB2403C2-8AB7-1C2F-B66B-4630703C634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1E0DA05-D7C8-8917-0DD7-EBA3DF6E580E}"/>
              </a:ext>
            </a:extLst>
          </p:cNvPr>
          <p:cNvSpPr txBox="1"/>
          <p:nvPr/>
        </p:nvSpPr>
        <p:spPr>
          <a:xfrm>
            <a:off x="213023" y="980728"/>
            <a:ext cx="5583113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dirty="0"/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Quantization-Aware Distillation (QAD)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Parameter Efficient FT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Adaptor: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LoRA, QLoRA,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DoRA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dirty="0"/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Optimizer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xx: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LoRA, QLoRA,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DoRA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0B1351F-8EA5-066A-FAEC-8EB4AC2DE28D}"/>
              </a:ext>
            </a:extLst>
          </p:cNvPr>
          <p:cNvSpPr txBox="1"/>
          <p:nvPr/>
        </p:nvSpPr>
        <p:spPr>
          <a:xfrm>
            <a:off x="7011484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E88BF026-A293-65F8-A86C-7C3F0D9A5C90}"/>
              </a:ext>
            </a:extLst>
          </p:cNvPr>
          <p:cNvSpPr/>
          <p:nvPr/>
        </p:nvSpPr>
        <p:spPr>
          <a:xfrm>
            <a:off x="6725803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414CA2E-A806-B858-9462-9212AFC24974}"/>
              </a:ext>
            </a:extLst>
          </p:cNvPr>
          <p:cNvSpPr txBox="1"/>
          <p:nvPr/>
        </p:nvSpPr>
        <p:spPr>
          <a:xfrm>
            <a:off x="6869819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86D8B02-3645-01FE-0A98-943E453527CD}"/>
              </a:ext>
            </a:extLst>
          </p:cNvPr>
          <p:cNvSpPr txBox="1"/>
          <p:nvPr/>
        </p:nvSpPr>
        <p:spPr>
          <a:xfrm>
            <a:off x="6869819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8F3D7DD-281C-03DE-C320-6B5D5BAC1FFC}"/>
              </a:ext>
            </a:extLst>
          </p:cNvPr>
          <p:cNvSpPr txBox="1"/>
          <p:nvPr/>
        </p:nvSpPr>
        <p:spPr>
          <a:xfrm>
            <a:off x="6869819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AEF7DA-B651-1DC1-6911-00B866288297}"/>
              </a:ext>
            </a:extLst>
          </p:cNvPr>
          <p:cNvSpPr txBox="1"/>
          <p:nvPr/>
        </p:nvSpPr>
        <p:spPr>
          <a:xfrm>
            <a:off x="6869819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F4C463F-DDB3-71AA-781D-C5CED941D4EA}"/>
              </a:ext>
            </a:extLst>
          </p:cNvPr>
          <p:cNvSpPr txBox="1"/>
          <p:nvPr/>
        </p:nvSpPr>
        <p:spPr>
          <a:xfrm>
            <a:off x="6560625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B034BED-F1B9-2490-2DE5-CDF1F21DAEDE}"/>
              </a:ext>
            </a:extLst>
          </p:cNvPr>
          <p:cNvGrpSpPr/>
          <p:nvPr/>
        </p:nvGrpSpPr>
        <p:grpSpPr>
          <a:xfrm>
            <a:off x="6516216" y="3167464"/>
            <a:ext cx="1871696" cy="549568"/>
            <a:chOff x="6804248" y="2996952"/>
            <a:chExt cx="1871696" cy="549568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3418876-0589-3D00-4087-B134D695BCDF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1C5FC9D-F2E3-561A-9741-583155335EB0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AA09506-5D35-3006-8D81-C9FAD3F74F82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9B4358C9-994E-2A39-A5C9-7C67E7B2543E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sp>
        <p:nvSpPr>
          <p:cNvPr id="35" name="箭號: 向下 34">
            <a:extLst>
              <a:ext uri="{FF2B5EF4-FFF2-40B4-BE49-F238E27FC236}">
                <a16:creationId xmlns:a16="http://schemas.microsoft.com/office/drawing/2014/main" id="{E2348ED6-9D82-70E0-F517-B98373AF949F}"/>
              </a:ext>
            </a:extLst>
          </p:cNvPr>
          <p:cNvSpPr/>
          <p:nvPr/>
        </p:nvSpPr>
        <p:spPr>
          <a:xfrm rot="10800000">
            <a:off x="8532440" y="332654"/>
            <a:ext cx="203915" cy="3790688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9523F54-C8CA-E9AB-1526-17D61B1F3099}"/>
              </a:ext>
            </a:extLst>
          </p:cNvPr>
          <p:cNvSpPr txBox="1"/>
          <p:nvPr/>
        </p:nvSpPr>
        <p:spPr>
          <a:xfrm>
            <a:off x="5643736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0768F3CB-34B6-2A62-76F0-04D3471D2B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969552"/>
              </p:ext>
            </p:extLst>
          </p:nvPr>
        </p:nvGraphicFramePr>
        <p:xfrm>
          <a:off x="5706950" y="1097982"/>
          <a:ext cx="610509" cy="838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Q&amp;A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9" name="箭號: 向下 8">
            <a:extLst>
              <a:ext uri="{FF2B5EF4-FFF2-40B4-BE49-F238E27FC236}">
                <a16:creationId xmlns:a16="http://schemas.microsoft.com/office/drawing/2014/main" id="{BCEA4E71-1DE0-67B3-C732-86109E09CC85}"/>
              </a:ext>
            </a:extLst>
          </p:cNvPr>
          <p:cNvSpPr/>
          <p:nvPr/>
        </p:nvSpPr>
        <p:spPr>
          <a:xfrm>
            <a:off x="5892548" y="206084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4EF2130B-9794-DCAE-5B95-9865923D1E31}"/>
              </a:ext>
            </a:extLst>
          </p:cNvPr>
          <p:cNvCxnSpPr>
            <a:cxnSpLocks/>
            <a:stCxn id="9" idx="2"/>
            <a:endCxn id="34" idx="0"/>
          </p:cNvCxnSpPr>
          <p:nvPr/>
        </p:nvCxnSpPr>
        <p:spPr>
          <a:xfrm rot="16200000" flipH="1">
            <a:off x="5962829" y="2323630"/>
            <a:ext cx="1837444" cy="1761984"/>
          </a:xfrm>
          <a:prstGeom prst="bentConnector3">
            <a:avLst>
              <a:gd name="adj1" fmla="val 112441"/>
            </a:avLst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CF4EAEAB-B986-8AD9-CB48-1A13A5849CB9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7445883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5EE3CCEB-C693-DD56-6D52-D6F5C9026029}"/>
              </a:ext>
            </a:extLst>
          </p:cNvPr>
          <p:cNvCxnSpPr>
            <a:cxnSpLocks/>
            <a:stCxn id="18" idx="0"/>
            <a:endCxn id="20" idx="2"/>
          </p:cNvCxnSpPr>
          <p:nvPr/>
        </p:nvCxnSpPr>
        <p:spPr>
          <a:xfrm flipV="1">
            <a:off x="7445883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6B8EAE95-E205-E1A8-8A59-DC125880E945}"/>
              </a:ext>
            </a:extLst>
          </p:cNvPr>
          <p:cNvCxnSpPr>
            <a:cxnSpLocks/>
            <a:stCxn id="16" idx="0"/>
            <a:endCxn id="19" idx="2"/>
          </p:cNvCxnSpPr>
          <p:nvPr/>
        </p:nvCxnSpPr>
        <p:spPr>
          <a:xfrm flipH="1" flipV="1">
            <a:off x="7445883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D8F9D123-E5B7-3393-9616-885B3CD60B37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7445883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接點: 肘形 25">
            <a:extLst>
              <a:ext uri="{FF2B5EF4-FFF2-40B4-BE49-F238E27FC236}">
                <a16:creationId xmlns:a16="http://schemas.microsoft.com/office/drawing/2014/main" id="{13875869-5766-182A-2277-731C47CADBEC}"/>
              </a:ext>
            </a:extLst>
          </p:cNvPr>
          <p:cNvCxnSpPr>
            <a:cxnSpLocks/>
            <a:stCxn id="21" idx="3"/>
            <a:endCxn id="16" idx="3"/>
          </p:cNvCxnSpPr>
          <p:nvPr/>
        </p:nvCxnSpPr>
        <p:spPr>
          <a:xfrm flipH="1">
            <a:off x="7883964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1EB1596F-8089-5794-EF74-D672411B993B}"/>
              </a:ext>
            </a:extLst>
          </p:cNvPr>
          <p:cNvCxnSpPr>
            <a:cxnSpLocks/>
            <a:stCxn id="29" idx="0"/>
            <a:endCxn id="16" idx="2"/>
          </p:cNvCxnSpPr>
          <p:nvPr/>
        </p:nvCxnSpPr>
        <p:spPr>
          <a:xfrm flipH="1" flipV="1">
            <a:off x="7447724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FAC33CB5-CD76-B631-4DED-0A3D08E26402}"/>
              </a:ext>
            </a:extLst>
          </p:cNvPr>
          <p:cNvSpPr/>
          <p:nvPr/>
        </p:nvSpPr>
        <p:spPr>
          <a:xfrm rot="10800000">
            <a:off x="7452320" y="332655"/>
            <a:ext cx="620447" cy="379068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2FB6DBE9-646E-21F1-07E8-F0EBDF5EC3EF}"/>
              </a:ext>
            </a:extLst>
          </p:cNvPr>
          <p:cNvSpPr/>
          <p:nvPr/>
        </p:nvSpPr>
        <p:spPr>
          <a:xfrm rot="10800000">
            <a:off x="6732240" y="214374"/>
            <a:ext cx="1433722" cy="3908967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B0FE409-202E-6C6D-C8AC-991D45D9AAAB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214158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3F4B-F6D5-D6A8-3D63-B5B2B052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4928086E-C57B-CFD8-E24B-4BEE16E549AE}"/>
              </a:ext>
            </a:extLst>
          </p:cNvPr>
          <p:cNvSpPr/>
          <p:nvPr/>
        </p:nvSpPr>
        <p:spPr>
          <a:xfrm>
            <a:off x="423624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72903F4-D607-00C2-0B79-CD7810E0E4C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Quantization-Aware Distillation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1C7F93-BED0-BD63-3058-B9779172DA67}"/>
              </a:ext>
            </a:extLst>
          </p:cNvPr>
          <p:cNvSpPr txBox="1"/>
          <p:nvPr/>
        </p:nvSpPr>
        <p:spPr>
          <a:xfrm>
            <a:off x="491018" y="1793758"/>
            <a:ext cx="1086557" cy="70110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FE2DAF5-F4B3-4E3C-D9A4-186F750E2771}"/>
              </a:ext>
            </a:extLst>
          </p:cNvPr>
          <p:cNvSpPr txBox="1"/>
          <p:nvPr/>
        </p:nvSpPr>
        <p:spPr>
          <a:xfrm>
            <a:off x="491018" y="2657854"/>
            <a:ext cx="1086557" cy="70110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7CB97D8A-008F-A17E-ABCD-A5F03CC103EE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033385" y="1513424"/>
            <a:ext cx="912" cy="2803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2168BB19-0CE7-C14B-A0E9-DE6B080FA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033386" y="3358956"/>
            <a:ext cx="911" cy="2047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976AB3B6-6FB0-A420-1C88-B1C5B9652D4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034297" y="2494860"/>
            <a:ext cx="0" cy="16299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1287831C-AAC6-B144-F934-4DDED9377865}"/>
              </a:ext>
            </a:extLst>
          </p:cNvPr>
          <p:cNvSpPr/>
          <p:nvPr/>
        </p:nvSpPr>
        <p:spPr>
          <a:xfrm>
            <a:off x="246531" y="4706021"/>
            <a:ext cx="966116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FDA8E433-97A8-C4B3-1C45-A4128343FB5A}"/>
              </a:ext>
            </a:extLst>
          </p:cNvPr>
          <p:cNvSpPr/>
          <p:nvPr/>
        </p:nvSpPr>
        <p:spPr>
          <a:xfrm rot="10800000">
            <a:off x="8537044" y="4450625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FADC140-BE18-324D-6246-471A05E14FFF}"/>
              </a:ext>
            </a:extLst>
          </p:cNvPr>
          <p:cNvSpPr txBox="1"/>
          <p:nvPr/>
        </p:nvSpPr>
        <p:spPr>
          <a:xfrm>
            <a:off x="4413132" y="4561926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Pruning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Dimension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7B28C10D-F33A-2FB8-0EC5-F2D5F5FA7ED7}"/>
              </a:ext>
            </a:extLst>
          </p:cNvPr>
          <p:cNvSpPr txBox="1"/>
          <p:nvPr/>
        </p:nvSpPr>
        <p:spPr>
          <a:xfrm>
            <a:off x="2180884" y="4561926"/>
            <a:ext cx="881420" cy="756316"/>
          </a:xfrm>
          <a:prstGeom prst="rect">
            <a:avLst/>
          </a:prstGeom>
          <a:gradFill flip="none" rotWithShape="1">
            <a:gsLst>
              <a:gs pos="20000">
                <a:schemeClr val="accent6">
                  <a:lumMod val="20000"/>
                  <a:lumOff val="80000"/>
                </a:schemeClr>
              </a:gs>
              <a:gs pos="0">
                <a:schemeClr val="accent2">
                  <a:lumMod val="20000"/>
                  <a:lumOff val="80000"/>
                </a:schemeClr>
              </a:gs>
              <a:gs pos="0">
                <a:schemeClr val="accent2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0"/>
            <a:tileRect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Architecture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Compression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8D127292-9175-6140-4CC9-143E4EB241F6}"/>
              </a:ext>
            </a:extLst>
          </p:cNvPr>
          <p:cNvSpPr txBox="1"/>
          <p:nvPr/>
        </p:nvSpPr>
        <p:spPr>
          <a:xfrm>
            <a:off x="5547936" y="4564580"/>
            <a:ext cx="881420" cy="756316"/>
          </a:xfrm>
          <a:prstGeom prst="rect">
            <a:avLst/>
          </a:prstGeom>
          <a:gradFill>
            <a:gsLst>
              <a:gs pos="8000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6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Precision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FF8C18B-D73E-DCE0-5CDE-D8FB9917F0FF}"/>
              </a:ext>
            </a:extLst>
          </p:cNvPr>
          <p:cNvSpPr txBox="1"/>
          <p:nvPr/>
        </p:nvSpPr>
        <p:spPr>
          <a:xfrm>
            <a:off x="3287851" y="4561926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Alignment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3" name="右大括弧 62">
            <a:extLst>
              <a:ext uri="{FF2B5EF4-FFF2-40B4-BE49-F238E27FC236}">
                <a16:creationId xmlns:a16="http://schemas.microsoft.com/office/drawing/2014/main" id="{6A58D8F3-AFC6-162E-71A8-49026DA9507F}"/>
              </a:ext>
            </a:extLst>
          </p:cNvPr>
          <p:cNvSpPr/>
          <p:nvPr/>
        </p:nvSpPr>
        <p:spPr>
          <a:xfrm rot="5400000">
            <a:off x="3098558" y="4436341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F74CB01C-9F08-B1BF-0C74-E0CAA51A8EC6}"/>
              </a:ext>
            </a:extLst>
          </p:cNvPr>
          <p:cNvSpPr txBox="1">
            <a:spLocks/>
          </p:cNvSpPr>
          <p:nvPr/>
        </p:nvSpPr>
        <p:spPr>
          <a:xfrm>
            <a:off x="2565317" y="5507055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F55F07FA-0178-637C-C21A-E7E010B31F8C}"/>
              </a:ext>
            </a:extLst>
          </p:cNvPr>
          <p:cNvSpPr txBox="1"/>
          <p:nvPr/>
        </p:nvSpPr>
        <p:spPr>
          <a:xfrm>
            <a:off x="423625" y="3563703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9" name="右大括弧 78">
            <a:extLst>
              <a:ext uri="{FF2B5EF4-FFF2-40B4-BE49-F238E27FC236}">
                <a16:creationId xmlns:a16="http://schemas.microsoft.com/office/drawing/2014/main" id="{03D290D0-9CC3-42E3-CACC-43D163244A88}"/>
              </a:ext>
            </a:extLst>
          </p:cNvPr>
          <p:cNvSpPr/>
          <p:nvPr/>
        </p:nvSpPr>
        <p:spPr>
          <a:xfrm rot="5400000">
            <a:off x="5345657" y="4442943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1" name="標題 1">
            <a:extLst>
              <a:ext uri="{FF2B5EF4-FFF2-40B4-BE49-F238E27FC236}">
                <a16:creationId xmlns:a16="http://schemas.microsoft.com/office/drawing/2014/main" id="{553FA8C6-5FDE-0FFE-68CE-C944098F9112}"/>
              </a:ext>
            </a:extLst>
          </p:cNvPr>
          <p:cNvSpPr txBox="1">
            <a:spLocks/>
          </p:cNvSpPr>
          <p:nvPr/>
        </p:nvSpPr>
        <p:spPr>
          <a:xfrm>
            <a:off x="4812416" y="5513657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Reduction</a:t>
            </a: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8E195F4-AC8C-9656-0261-19089CDFC37A}"/>
              </a:ext>
            </a:extLst>
          </p:cNvPr>
          <p:cNvSpPr/>
          <p:nvPr/>
        </p:nvSpPr>
        <p:spPr>
          <a:xfrm rot="5400000">
            <a:off x="4029891" y="2012041"/>
            <a:ext cx="153040" cy="385105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E9A03960-058B-2CB8-2C60-45E910202458}"/>
              </a:ext>
            </a:extLst>
          </p:cNvPr>
          <p:cNvSpPr txBox="1">
            <a:spLocks/>
          </p:cNvSpPr>
          <p:nvPr/>
        </p:nvSpPr>
        <p:spPr>
          <a:xfrm>
            <a:off x="3510502" y="3969214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Optimization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BP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4B59C877-B523-3595-7DC8-BF6CE185AA2E}"/>
              </a:ext>
            </a:extLst>
          </p:cNvPr>
          <p:cNvSpPr/>
          <p:nvPr/>
        </p:nvSpPr>
        <p:spPr>
          <a:xfrm>
            <a:off x="2183691" y="217179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6893B6E1-7D78-7FC0-5CF9-80CE7CCC3F9D}"/>
              </a:ext>
            </a:extLst>
          </p:cNvPr>
          <p:cNvSpPr txBox="1"/>
          <p:nvPr/>
        </p:nvSpPr>
        <p:spPr>
          <a:xfrm>
            <a:off x="2251085" y="223552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2AEDE1F3-B28E-D40E-7AAE-184448BD5887}"/>
              </a:ext>
            </a:extLst>
          </p:cNvPr>
          <p:cNvSpPr txBox="1"/>
          <p:nvPr/>
        </p:nvSpPr>
        <p:spPr>
          <a:xfrm>
            <a:off x="2251085" y="270696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33D1A3B3-6E0C-56F1-303D-64C258B2A34D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2716877" y="1864664"/>
            <a:ext cx="2" cy="3708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9D3BDDE6-9F86-9B08-A3E0-E1B6FEF50B9B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V="1">
            <a:off x="2716879" y="3077822"/>
            <a:ext cx="0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08F38121-E97B-5C72-59F8-584A1DACE066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2716879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AC6F89D-9DDE-C6B1-B8D4-091FD6E91DE4}"/>
              </a:ext>
            </a:extLst>
          </p:cNvPr>
          <p:cNvSpPr txBox="1"/>
          <p:nvPr/>
        </p:nvSpPr>
        <p:spPr>
          <a:xfrm>
            <a:off x="2500855" y="329872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CAA15A2-2C82-7EC5-D818-A6325C0C4EB8}"/>
              </a:ext>
            </a:extLst>
          </p:cNvPr>
          <p:cNvSpPr txBox="1"/>
          <p:nvPr/>
        </p:nvSpPr>
        <p:spPr>
          <a:xfrm>
            <a:off x="423624" y="1126708"/>
            <a:ext cx="1219522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EEBD5D0-F0A5-4D13-81E1-6F52D5F64607}"/>
              </a:ext>
            </a:extLst>
          </p:cNvPr>
          <p:cNvSpPr txBox="1"/>
          <p:nvPr/>
        </p:nvSpPr>
        <p:spPr>
          <a:xfrm>
            <a:off x="2251085" y="1486748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144" name="接點: 肘形 143">
            <a:extLst>
              <a:ext uri="{FF2B5EF4-FFF2-40B4-BE49-F238E27FC236}">
                <a16:creationId xmlns:a16="http://schemas.microsoft.com/office/drawing/2014/main" id="{93F4892F-BD86-06A2-4D59-865B71745F2D}"/>
              </a:ext>
            </a:extLst>
          </p:cNvPr>
          <p:cNvCxnSpPr>
            <a:cxnSpLocks/>
            <a:stCxn id="139" idx="3"/>
            <a:endCxn id="125" idx="3"/>
          </p:cNvCxnSpPr>
          <p:nvPr/>
        </p:nvCxnSpPr>
        <p:spPr>
          <a:xfrm flipH="1">
            <a:off x="2932903" y="1675706"/>
            <a:ext cx="249765" cy="1853086"/>
          </a:xfrm>
          <a:prstGeom prst="bentConnector3">
            <a:avLst>
              <a:gd name="adj1" fmla="val -91526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418D1EB1-3D02-619E-CCD1-EFA2AFDEA83D}"/>
              </a:ext>
            </a:extLst>
          </p:cNvPr>
          <p:cNvCxnSpPr>
            <a:cxnSpLocks/>
            <a:stCxn id="137" idx="3"/>
            <a:endCxn id="73" idx="3"/>
          </p:cNvCxnSpPr>
          <p:nvPr/>
        </p:nvCxnSpPr>
        <p:spPr>
          <a:xfrm>
            <a:off x="1643146" y="1320066"/>
            <a:ext cx="1" cy="2537308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接點: 肘形 75">
            <a:extLst>
              <a:ext uri="{FF2B5EF4-FFF2-40B4-BE49-F238E27FC236}">
                <a16:creationId xmlns:a16="http://schemas.microsoft.com/office/drawing/2014/main" id="{2DBFE408-68EC-CE74-2763-4EA760D34186}"/>
              </a:ext>
            </a:extLst>
          </p:cNvPr>
          <p:cNvCxnSpPr>
            <a:cxnSpLocks/>
          </p:cNvCxnSpPr>
          <p:nvPr/>
        </p:nvCxnSpPr>
        <p:spPr>
          <a:xfrm>
            <a:off x="7143125" y="5705328"/>
            <a:ext cx="1754344" cy="339015"/>
          </a:xfrm>
          <a:prstGeom prst="bentConnector3">
            <a:avLst>
              <a:gd name="adj1" fmla="val 50000"/>
            </a:avLst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矩形: 圓角 230">
            <a:extLst>
              <a:ext uri="{FF2B5EF4-FFF2-40B4-BE49-F238E27FC236}">
                <a16:creationId xmlns:a16="http://schemas.microsoft.com/office/drawing/2014/main" id="{A2518113-6553-AA3F-2F21-6672C01DB5A5}"/>
              </a:ext>
            </a:extLst>
          </p:cNvPr>
          <p:cNvSpPr/>
          <p:nvPr/>
        </p:nvSpPr>
        <p:spPr>
          <a:xfrm>
            <a:off x="3679554" y="217179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8238E81A-BF63-7018-BB35-37510B2097A2}"/>
              </a:ext>
            </a:extLst>
          </p:cNvPr>
          <p:cNvSpPr txBox="1"/>
          <p:nvPr/>
        </p:nvSpPr>
        <p:spPr>
          <a:xfrm>
            <a:off x="3746948" y="223552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D8AA9854-6650-14F6-7194-1F2BA46C15AA}"/>
              </a:ext>
            </a:extLst>
          </p:cNvPr>
          <p:cNvSpPr txBox="1"/>
          <p:nvPr/>
        </p:nvSpPr>
        <p:spPr>
          <a:xfrm>
            <a:off x="3746948" y="270696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4" name="直線單箭頭接點 233">
            <a:extLst>
              <a:ext uri="{FF2B5EF4-FFF2-40B4-BE49-F238E27FC236}">
                <a16:creationId xmlns:a16="http://schemas.microsoft.com/office/drawing/2014/main" id="{1CE1F568-9AF0-FDD0-8BDC-B0404C25ABFD}"/>
              </a:ext>
            </a:extLst>
          </p:cNvPr>
          <p:cNvCxnSpPr>
            <a:cxnSpLocks/>
            <a:stCxn id="232" idx="0"/>
            <a:endCxn id="238" idx="2"/>
          </p:cNvCxnSpPr>
          <p:nvPr/>
        </p:nvCxnSpPr>
        <p:spPr>
          <a:xfrm flipH="1" flipV="1">
            <a:off x="4008491" y="1874865"/>
            <a:ext cx="1" cy="3606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78555B27-050E-6D09-9209-95456926B4E8}"/>
              </a:ext>
            </a:extLst>
          </p:cNvPr>
          <p:cNvCxnSpPr>
            <a:cxnSpLocks/>
            <a:stCxn id="237" idx="0"/>
            <a:endCxn id="233" idx="2"/>
          </p:cNvCxnSpPr>
          <p:nvPr/>
        </p:nvCxnSpPr>
        <p:spPr>
          <a:xfrm flipV="1">
            <a:off x="4006635" y="307782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線單箭頭接點 235">
            <a:extLst>
              <a:ext uri="{FF2B5EF4-FFF2-40B4-BE49-F238E27FC236}">
                <a16:creationId xmlns:a16="http://schemas.microsoft.com/office/drawing/2014/main" id="{F52FCB81-009B-A3DE-6E4C-EA1C22CED224}"/>
              </a:ext>
            </a:extLst>
          </p:cNvPr>
          <p:cNvCxnSpPr>
            <a:cxnSpLocks/>
            <a:stCxn id="233" idx="0"/>
            <a:endCxn id="232" idx="2"/>
          </p:cNvCxnSpPr>
          <p:nvPr/>
        </p:nvCxnSpPr>
        <p:spPr>
          <a:xfrm flipV="1">
            <a:off x="4008492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447FA1F8-2B57-5506-DA2A-EA056337303C}"/>
              </a:ext>
            </a:extLst>
          </p:cNvPr>
          <p:cNvSpPr txBox="1"/>
          <p:nvPr/>
        </p:nvSpPr>
        <p:spPr>
          <a:xfrm>
            <a:off x="3790611" y="329872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8" name="文字方塊 237">
            <a:extLst>
              <a:ext uri="{FF2B5EF4-FFF2-40B4-BE49-F238E27FC236}">
                <a16:creationId xmlns:a16="http://schemas.microsoft.com/office/drawing/2014/main" id="{09077A5C-56B1-48A7-B132-39266F22E51F}"/>
              </a:ext>
            </a:extLst>
          </p:cNvPr>
          <p:cNvSpPr txBox="1"/>
          <p:nvPr/>
        </p:nvSpPr>
        <p:spPr>
          <a:xfrm>
            <a:off x="3611007" y="1496949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239" name="接點: 肘形 238">
            <a:extLst>
              <a:ext uri="{FF2B5EF4-FFF2-40B4-BE49-F238E27FC236}">
                <a16:creationId xmlns:a16="http://schemas.microsoft.com/office/drawing/2014/main" id="{5E43A6DC-032E-5EDA-92AE-19A6DC7665B4}"/>
              </a:ext>
            </a:extLst>
          </p:cNvPr>
          <p:cNvCxnSpPr>
            <a:cxnSpLocks/>
            <a:stCxn id="238" idx="3"/>
            <a:endCxn id="237" idx="3"/>
          </p:cNvCxnSpPr>
          <p:nvPr/>
        </p:nvCxnSpPr>
        <p:spPr>
          <a:xfrm flipH="1">
            <a:off x="4222659" y="1685907"/>
            <a:ext cx="183316" cy="1842885"/>
          </a:xfrm>
          <a:prstGeom prst="bentConnector3">
            <a:avLst>
              <a:gd name="adj1" fmla="val -124703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矩形: 圓角 299">
            <a:extLst>
              <a:ext uri="{FF2B5EF4-FFF2-40B4-BE49-F238E27FC236}">
                <a16:creationId xmlns:a16="http://schemas.microsoft.com/office/drawing/2014/main" id="{71E57E49-05C6-FC3D-E7B0-E01D33C9B182}"/>
              </a:ext>
            </a:extLst>
          </p:cNvPr>
          <p:cNvSpPr/>
          <p:nvPr/>
        </p:nvSpPr>
        <p:spPr>
          <a:xfrm>
            <a:off x="3663984" y="2062812"/>
            <a:ext cx="654273" cy="1133929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2" name="矩形: 圓角 301">
            <a:extLst>
              <a:ext uri="{FF2B5EF4-FFF2-40B4-BE49-F238E27FC236}">
                <a16:creationId xmlns:a16="http://schemas.microsoft.com/office/drawing/2014/main" id="{67507D36-27AF-C54E-BDF6-10439FAA49D6}"/>
              </a:ext>
            </a:extLst>
          </p:cNvPr>
          <p:cNvSpPr/>
          <p:nvPr/>
        </p:nvSpPr>
        <p:spPr>
          <a:xfrm>
            <a:off x="664077" y="4507369"/>
            <a:ext cx="608117" cy="1133929"/>
          </a:xfrm>
          <a:prstGeom prst="roundRect">
            <a:avLst>
              <a:gd name="adj" fmla="val 0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3" name="矩形: 圓角 302">
            <a:extLst>
              <a:ext uri="{FF2B5EF4-FFF2-40B4-BE49-F238E27FC236}">
                <a16:creationId xmlns:a16="http://schemas.microsoft.com/office/drawing/2014/main" id="{E56FF762-98A6-05A5-C664-098F47F03575}"/>
              </a:ext>
            </a:extLst>
          </p:cNvPr>
          <p:cNvSpPr/>
          <p:nvPr/>
        </p:nvSpPr>
        <p:spPr>
          <a:xfrm>
            <a:off x="5058180" y="217082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4" name="文字方塊 303">
            <a:extLst>
              <a:ext uri="{FF2B5EF4-FFF2-40B4-BE49-F238E27FC236}">
                <a16:creationId xmlns:a16="http://schemas.microsoft.com/office/drawing/2014/main" id="{03C040A2-8548-6161-7FA9-A766B9DB7A7B}"/>
              </a:ext>
            </a:extLst>
          </p:cNvPr>
          <p:cNvSpPr txBox="1"/>
          <p:nvPr/>
        </p:nvSpPr>
        <p:spPr>
          <a:xfrm>
            <a:off x="5125574" y="223455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C44D0204-C2D8-698D-5A2F-359E1DBFD495}"/>
              </a:ext>
            </a:extLst>
          </p:cNvPr>
          <p:cNvSpPr txBox="1"/>
          <p:nvPr/>
        </p:nvSpPr>
        <p:spPr>
          <a:xfrm>
            <a:off x="5125574" y="270599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6" name="直線單箭頭接點 305">
            <a:extLst>
              <a:ext uri="{FF2B5EF4-FFF2-40B4-BE49-F238E27FC236}">
                <a16:creationId xmlns:a16="http://schemas.microsoft.com/office/drawing/2014/main" id="{BBB80449-19F8-1466-7D83-E56ADE739BB9}"/>
              </a:ext>
            </a:extLst>
          </p:cNvPr>
          <p:cNvCxnSpPr>
            <a:cxnSpLocks/>
            <a:stCxn id="304" idx="0"/>
            <a:endCxn id="310" idx="2"/>
          </p:cNvCxnSpPr>
          <p:nvPr/>
        </p:nvCxnSpPr>
        <p:spPr>
          <a:xfrm flipH="1" flipV="1">
            <a:off x="5387117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線單箭頭接點 306">
            <a:extLst>
              <a:ext uri="{FF2B5EF4-FFF2-40B4-BE49-F238E27FC236}">
                <a16:creationId xmlns:a16="http://schemas.microsoft.com/office/drawing/2014/main" id="{8891154A-4E2A-C42E-E97C-6967CF03D0C2}"/>
              </a:ext>
            </a:extLst>
          </p:cNvPr>
          <p:cNvCxnSpPr>
            <a:cxnSpLocks/>
            <a:stCxn id="309" idx="0"/>
            <a:endCxn id="305" idx="2"/>
          </p:cNvCxnSpPr>
          <p:nvPr/>
        </p:nvCxnSpPr>
        <p:spPr>
          <a:xfrm flipV="1">
            <a:off x="5385261" y="307685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線單箭頭接點 307">
            <a:extLst>
              <a:ext uri="{FF2B5EF4-FFF2-40B4-BE49-F238E27FC236}">
                <a16:creationId xmlns:a16="http://schemas.microsoft.com/office/drawing/2014/main" id="{664FE641-7A4B-43C0-571D-60C3357A6F56}"/>
              </a:ext>
            </a:extLst>
          </p:cNvPr>
          <p:cNvCxnSpPr>
            <a:cxnSpLocks/>
            <a:stCxn id="305" idx="0"/>
            <a:endCxn id="304" idx="2"/>
          </p:cNvCxnSpPr>
          <p:nvPr/>
        </p:nvCxnSpPr>
        <p:spPr>
          <a:xfrm flipV="1">
            <a:off x="5387118" y="260541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文字方塊 308">
            <a:extLst>
              <a:ext uri="{FF2B5EF4-FFF2-40B4-BE49-F238E27FC236}">
                <a16:creationId xmlns:a16="http://schemas.microsoft.com/office/drawing/2014/main" id="{1B7EEA07-5236-B0CB-DF53-EBDAD1352252}"/>
              </a:ext>
            </a:extLst>
          </p:cNvPr>
          <p:cNvSpPr txBox="1"/>
          <p:nvPr/>
        </p:nvSpPr>
        <p:spPr>
          <a:xfrm>
            <a:off x="5169237" y="329775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86FD164C-4839-ECC6-D3B2-828B5EC3E5DA}"/>
              </a:ext>
            </a:extLst>
          </p:cNvPr>
          <p:cNvSpPr txBox="1"/>
          <p:nvPr/>
        </p:nvSpPr>
        <p:spPr>
          <a:xfrm>
            <a:off x="4989633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11" name="接點: 肘形 310">
            <a:extLst>
              <a:ext uri="{FF2B5EF4-FFF2-40B4-BE49-F238E27FC236}">
                <a16:creationId xmlns:a16="http://schemas.microsoft.com/office/drawing/2014/main" id="{ED60DC25-DDD7-2411-38C4-366D7CBDFF4B}"/>
              </a:ext>
            </a:extLst>
          </p:cNvPr>
          <p:cNvCxnSpPr>
            <a:cxnSpLocks/>
            <a:stCxn id="310" idx="3"/>
            <a:endCxn id="309" idx="3"/>
          </p:cNvCxnSpPr>
          <p:nvPr/>
        </p:nvCxnSpPr>
        <p:spPr>
          <a:xfrm flipH="1">
            <a:off x="5601285" y="1945862"/>
            <a:ext cx="183316" cy="1581960"/>
          </a:xfrm>
          <a:prstGeom prst="bentConnector3">
            <a:avLst>
              <a:gd name="adj1" fmla="val -124703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文字方塊 311">
            <a:extLst>
              <a:ext uri="{FF2B5EF4-FFF2-40B4-BE49-F238E27FC236}">
                <a16:creationId xmlns:a16="http://schemas.microsoft.com/office/drawing/2014/main" id="{A8B9269E-7FBF-3E42-97B2-335290142724}"/>
              </a:ext>
            </a:extLst>
          </p:cNvPr>
          <p:cNvSpPr txBox="1"/>
          <p:nvPr/>
        </p:nvSpPr>
        <p:spPr>
          <a:xfrm>
            <a:off x="5707939" y="2234552"/>
            <a:ext cx="189751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3" name="文字方塊 312">
            <a:extLst>
              <a:ext uri="{FF2B5EF4-FFF2-40B4-BE49-F238E27FC236}">
                <a16:creationId xmlns:a16="http://schemas.microsoft.com/office/drawing/2014/main" id="{1085CC75-5575-6210-66EA-84D9B0F6D001}"/>
              </a:ext>
            </a:extLst>
          </p:cNvPr>
          <p:cNvSpPr txBox="1"/>
          <p:nvPr/>
        </p:nvSpPr>
        <p:spPr>
          <a:xfrm>
            <a:off x="5707939" y="2705994"/>
            <a:ext cx="19876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4" name="矩形: 圓角 313">
            <a:extLst>
              <a:ext uri="{FF2B5EF4-FFF2-40B4-BE49-F238E27FC236}">
                <a16:creationId xmlns:a16="http://schemas.microsoft.com/office/drawing/2014/main" id="{802CC4AE-7A3A-BB48-2FEE-0B3EF73F2D66}"/>
              </a:ext>
            </a:extLst>
          </p:cNvPr>
          <p:cNvSpPr/>
          <p:nvPr/>
        </p:nvSpPr>
        <p:spPr>
          <a:xfrm>
            <a:off x="5646804" y="2134820"/>
            <a:ext cx="293347" cy="106095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2B7827D6-EC5A-7D11-B6E2-F17E4B871D68}"/>
              </a:ext>
            </a:extLst>
          </p:cNvPr>
          <p:cNvSpPr/>
          <p:nvPr/>
        </p:nvSpPr>
        <p:spPr>
          <a:xfrm>
            <a:off x="2143497" y="2056764"/>
            <a:ext cx="1157348" cy="113900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AB38B9BB-4AC4-B112-A435-4F9A60610A38}"/>
              </a:ext>
            </a:extLst>
          </p:cNvPr>
          <p:cNvSpPr/>
          <p:nvPr/>
        </p:nvSpPr>
        <p:spPr>
          <a:xfrm>
            <a:off x="6585344" y="2170828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ECA351F7-1427-FEFB-C8AA-E5FBD7A4090F}"/>
              </a:ext>
            </a:extLst>
          </p:cNvPr>
          <p:cNvSpPr txBox="1"/>
          <p:nvPr/>
        </p:nvSpPr>
        <p:spPr>
          <a:xfrm>
            <a:off x="6662442" y="2234552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1CD1F429-5C8E-E739-47FB-816E10B6C5DC}"/>
              </a:ext>
            </a:extLst>
          </p:cNvPr>
          <p:cNvSpPr txBox="1"/>
          <p:nvPr/>
        </p:nvSpPr>
        <p:spPr>
          <a:xfrm>
            <a:off x="6662442" y="2705994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04C496F6-ABD8-EFF6-C621-DDF60E6942D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870658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EA38E3ED-AE34-7105-5ED2-00698176F1A4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870658" y="3076852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9CA200CA-E02A-A925-2198-43CACB2AC030}"/>
              </a:ext>
            </a:extLst>
          </p:cNvPr>
          <p:cNvSpPr txBox="1"/>
          <p:nvPr/>
        </p:nvSpPr>
        <p:spPr>
          <a:xfrm>
            <a:off x="6654634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1FECA35E-3096-BFA2-1F7E-A7FFCE7DDE3A}"/>
              </a:ext>
            </a:extLst>
          </p:cNvPr>
          <p:cNvSpPr txBox="1"/>
          <p:nvPr/>
        </p:nvSpPr>
        <p:spPr>
          <a:xfrm>
            <a:off x="6473174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23" name="接點: 肘形 322">
            <a:extLst>
              <a:ext uri="{FF2B5EF4-FFF2-40B4-BE49-F238E27FC236}">
                <a16:creationId xmlns:a16="http://schemas.microsoft.com/office/drawing/2014/main" id="{3C9A6F9E-2242-8242-1500-B0F9F11006FB}"/>
              </a:ext>
            </a:extLst>
          </p:cNvPr>
          <p:cNvCxnSpPr>
            <a:cxnSpLocks/>
            <a:stCxn id="322" idx="3"/>
            <a:endCxn id="321" idx="3"/>
          </p:cNvCxnSpPr>
          <p:nvPr/>
        </p:nvCxnSpPr>
        <p:spPr>
          <a:xfrm flipH="1">
            <a:off x="7086682" y="1945862"/>
            <a:ext cx="181460" cy="1445395"/>
          </a:xfrm>
          <a:prstGeom prst="bentConnector3">
            <a:avLst>
              <a:gd name="adj1" fmla="val -125978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988D470B-5B31-AF94-45D7-CB5C8933B818}"/>
              </a:ext>
            </a:extLst>
          </p:cNvPr>
          <p:cNvSpPr txBox="1"/>
          <p:nvPr/>
        </p:nvSpPr>
        <p:spPr>
          <a:xfrm>
            <a:off x="7112482" y="2234552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71813641-9200-346F-AD71-EED07E9F1993}"/>
              </a:ext>
            </a:extLst>
          </p:cNvPr>
          <p:cNvSpPr txBox="1"/>
          <p:nvPr/>
        </p:nvSpPr>
        <p:spPr>
          <a:xfrm>
            <a:off x="7112482" y="2705994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C04A9F6E-8A3F-0D84-60DF-6A02C063D7AB}"/>
              </a:ext>
            </a:extLst>
          </p:cNvPr>
          <p:cNvSpPr/>
          <p:nvPr/>
        </p:nvSpPr>
        <p:spPr>
          <a:xfrm>
            <a:off x="48067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VRAM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278B883E-9F6A-A28A-B853-98CA5AE0DE0D}"/>
              </a:ext>
            </a:extLst>
          </p:cNvPr>
          <p:cNvSpPr/>
          <p:nvPr/>
        </p:nvSpPr>
        <p:spPr>
          <a:xfrm>
            <a:off x="7737472" y="2170744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1728371D-45C5-71FE-1F03-2EDCD1376F78}"/>
              </a:ext>
            </a:extLst>
          </p:cNvPr>
          <p:cNvSpPr txBox="1"/>
          <p:nvPr/>
        </p:nvSpPr>
        <p:spPr>
          <a:xfrm>
            <a:off x="7814570" y="2234468"/>
            <a:ext cx="416433" cy="433924"/>
          </a:xfrm>
          <a:prstGeom prst="rect">
            <a:avLst/>
          </a:prstGeom>
          <a:solidFill>
            <a:srgbClr val="B7C9E7">
              <a:alpha val="2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9CF4E00-6200-A5E8-4AE1-660018F85101}"/>
              </a:ext>
            </a:extLst>
          </p:cNvPr>
          <p:cNvSpPr txBox="1"/>
          <p:nvPr/>
        </p:nvSpPr>
        <p:spPr>
          <a:xfrm>
            <a:off x="7814570" y="2705910"/>
            <a:ext cx="416433" cy="370858"/>
          </a:xfrm>
          <a:prstGeom prst="rect">
            <a:avLst/>
          </a:prstGeom>
          <a:solidFill>
            <a:srgbClr val="FEC203">
              <a:alpha val="2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90F8056D-85C2-E8CB-6386-B2EADCC38127}"/>
              </a:ext>
            </a:extLst>
          </p:cNvPr>
          <p:cNvCxnSpPr>
            <a:cxnSpLocks/>
            <a:stCxn id="369" idx="0"/>
          </p:cNvCxnSpPr>
          <p:nvPr/>
        </p:nvCxnSpPr>
        <p:spPr>
          <a:xfrm flipH="1" flipV="1">
            <a:off x="8022786" y="2134736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65FE4540-4158-04B3-E5DA-5E74A5863289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8022786" y="3076768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6FE43CFD-FA01-02F3-77F5-A953F48DE1FE}"/>
              </a:ext>
            </a:extLst>
          </p:cNvPr>
          <p:cNvSpPr txBox="1"/>
          <p:nvPr/>
        </p:nvSpPr>
        <p:spPr>
          <a:xfrm>
            <a:off x="7806762" y="3214856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4" name="文字方塊 373">
            <a:extLst>
              <a:ext uri="{FF2B5EF4-FFF2-40B4-BE49-F238E27FC236}">
                <a16:creationId xmlns:a16="http://schemas.microsoft.com/office/drawing/2014/main" id="{1C8A42CB-D046-0296-42A8-42A3D7B76D47}"/>
              </a:ext>
            </a:extLst>
          </p:cNvPr>
          <p:cNvSpPr txBox="1"/>
          <p:nvPr/>
        </p:nvSpPr>
        <p:spPr>
          <a:xfrm>
            <a:off x="7625302" y="1774780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75" name="接點: 肘形 374">
            <a:extLst>
              <a:ext uri="{FF2B5EF4-FFF2-40B4-BE49-F238E27FC236}">
                <a16:creationId xmlns:a16="http://schemas.microsoft.com/office/drawing/2014/main" id="{AE95A251-8FAC-0876-3013-CA3D679BA4CD}"/>
              </a:ext>
            </a:extLst>
          </p:cNvPr>
          <p:cNvCxnSpPr>
            <a:cxnSpLocks/>
            <a:endCxn id="373" idx="3"/>
          </p:cNvCxnSpPr>
          <p:nvPr/>
        </p:nvCxnSpPr>
        <p:spPr>
          <a:xfrm flipH="1">
            <a:off x="8238810" y="1945778"/>
            <a:ext cx="181460" cy="1445395"/>
          </a:xfrm>
          <a:prstGeom prst="bentConnector3">
            <a:avLst>
              <a:gd name="adj1" fmla="val -125978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BC219423-8993-03DA-30F1-AFCD25DA716A}"/>
              </a:ext>
            </a:extLst>
          </p:cNvPr>
          <p:cNvSpPr txBox="1"/>
          <p:nvPr/>
        </p:nvSpPr>
        <p:spPr>
          <a:xfrm>
            <a:off x="8264610" y="2234468"/>
            <a:ext cx="190225" cy="433924"/>
          </a:xfrm>
          <a:prstGeom prst="rect">
            <a:avLst/>
          </a:prstGeom>
          <a:solidFill>
            <a:srgbClr val="B7C9E7">
              <a:alpha val="2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A57E7F44-94F8-2AC6-C74C-6FA17FD3EDD8}"/>
              </a:ext>
            </a:extLst>
          </p:cNvPr>
          <p:cNvSpPr txBox="1"/>
          <p:nvPr/>
        </p:nvSpPr>
        <p:spPr>
          <a:xfrm>
            <a:off x="8264610" y="2705910"/>
            <a:ext cx="190225" cy="370858"/>
          </a:xfrm>
          <a:prstGeom prst="rect">
            <a:avLst/>
          </a:prstGeom>
          <a:solidFill>
            <a:srgbClr val="FEC203">
              <a:alpha val="2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8DFDE55-4F92-32C8-8BE9-BB08A270C399}"/>
              </a:ext>
            </a:extLst>
          </p:cNvPr>
          <p:cNvSpPr/>
          <p:nvPr/>
        </p:nvSpPr>
        <p:spPr>
          <a:xfrm>
            <a:off x="323528" y="1607424"/>
            <a:ext cx="1422683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440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DDD2C-50AB-5904-75A0-BC05B1D6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F6203B7-0088-4F6C-0087-F04A78125CF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Quantization-Aware Distillation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50F5F82-EACE-E75E-D74A-047E1933201D}"/>
              </a:ext>
            </a:extLst>
          </p:cNvPr>
          <p:cNvSpPr txBox="1"/>
          <p:nvPr/>
        </p:nvSpPr>
        <p:spPr>
          <a:xfrm>
            <a:off x="7299516" y="3026390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51F6370-D566-4225-366F-783F4558FBA2}"/>
              </a:ext>
            </a:extLst>
          </p:cNvPr>
          <p:cNvSpPr txBox="1"/>
          <p:nvPr/>
        </p:nvSpPr>
        <p:spPr>
          <a:xfrm>
            <a:off x="7157851" y="1628054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3B74934E-7E4E-1496-C1C5-0733B4801BB6}"/>
              </a:ext>
            </a:extLst>
          </p:cNvPr>
          <p:cNvSpPr txBox="1"/>
          <p:nvPr/>
        </p:nvSpPr>
        <p:spPr>
          <a:xfrm>
            <a:off x="7157851" y="2185616"/>
            <a:ext cx="1152128" cy="389743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B0E4A46-163C-977D-0FC0-85620C0D06C0}"/>
              </a:ext>
            </a:extLst>
          </p:cNvPr>
          <p:cNvSpPr txBox="1"/>
          <p:nvPr/>
        </p:nvSpPr>
        <p:spPr>
          <a:xfrm>
            <a:off x="7157851" y="93815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EF66B95E-7632-FAED-127D-CB6C34F34FE7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298198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B2FCB28A-47B3-B5AC-FD9B-46D8030E5395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575359"/>
            <a:ext cx="1841" cy="451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CC7C2651-EA21-18D5-A6D0-9611585DE9BB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2073564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A9E7A18F-A593-5DBF-58D9-886FF07572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1118178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A486105-65F1-F450-FD8D-1B77AF672DAD}"/>
              </a:ext>
            </a:extLst>
          </p:cNvPr>
          <p:cNvSpPr txBox="1"/>
          <p:nvPr/>
        </p:nvSpPr>
        <p:spPr>
          <a:xfrm>
            <a:off x="6848657" y="2398069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179D428D-5A69-63DD-174E-5FBD8BB1EB46}"/>
              </a:ext>
            </a:extLst>
          </p:cNvPr>
          <p:cNvSpPr/>
          <p:nvPr/>
        </p:nvSpPr>
        <p:spPr>
          <a:xfrm>
            <a:off x="7013835" y="1478218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058DF8D1-B5C0-8023-855B-8C95E84BA84D}"/>
              </a:ext>
            </a:extLst>
          </p:cNvPr>
          <p:cNvSpPr/>
          <p:nvPr/>
        </p:nvSpPr>
        <p:spPr>
          <a:xfrm rot="10800000">
            <a:off x="7810771" y="1418255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28E302A9-56AE-BB4C-D019-E23C03D9D14A}"/>
              </a:ext>
            </a:extLst>
          </p:cNvPr>
          <p:cNvSpPr txBox="1"/>
          <p:nvPr/>
        </p:nvSpPr>
        <p:spPr>
          <a:xfrm>
            <a:off x="3563888" y="3143405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Pruning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Dimension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D609865-B19F-36F5-124C-5B8ED6139E22}"/>
              </a:ext>
            </a:extLst>
          </p:cNvPr>
          <p:cNvSpPr txBox="1"/>
          <p:nvPr/>
        </p:nvSpPr>
        <p:spPr>
          <a:xfrm>
            <a:off x="1331640" y="3143405"/>
            <a:ext cx="881420" cy="756316"/>
          </a:xfrm>
          <a:prstGeom prst="rect">
            <a:avLst/>
          </a:prstGeom>
          <a:gradFill flip="none" rotWithShape="1">
            <a:gsLst>
              <a:gs pos="20000">
                <a:schemeClr val="accent6">
                  <a:lumMod val="20000"/>
                  <a:lumOff val="80000"/>
                </a:schemeClr>
              </a:gs>
              <a:gs pos="0">
                <a:schemeClr val="accent2">
                  <a:lumMod val="20000"/>
                  <a:lumOff val="80000"/>
                </a:schemeClr>
              </a:gs>
              <a:gs pos="0">
                <a:schemeClr val="accent2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0"/>
            <a:tileRect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Architecture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Compression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ABF9FEE4-2A80-24B9-D8F1-5E4312BCBA03}"/>
              </a:ext>
            </a:extLst>
          </p:cNvPr>
          <p:cNvSpPr txBox="1"/>
          <p:nvPr/>
        </p:nvSpPr>
        <p:spPr>
          <a:xfrm>
            <a:off x="4698692" y="3146059"/>
            <a:ext cx="881420" cy="756316"/>
          </a:xfrm>
          <a:prstGeom prst="rect">
            <a:avLst/>
          </a:prstGeom>
          <a:gradFill>
            <a:gsLst>
              <a:gs pos="8000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6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Precision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C808547-142C-07BE-33AC-8274A46E1610}"/>
              </a:ext>
            </a:extLst>
          </p:cNvPr>
          <p:cNvSpPr txBox="1"/>
          <p:nvPr/>
        </p:nvSpPr>
        <p:spPr>
          <a:xfrm>
            <a:off x="2438607" y="3143405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Alignment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A9813FC4-037E-CA39-7E03-BD4C639F9FD9}"/>
              </a:ext>
            </a:extLst>
          </p:cNvPr>
          <p:cNvGraphicFramePr>
            <a:graphicFrameLocks noGrp="1"/>
          </p:cNvGraphicFramePr>
          <p:nvPr/>
        </p:nvGraphicFramePr>
        <p:xfrm>
          <a:off x="4475768" y="4509296"/>
          <a:ext cx="1575643" cy="806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64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Pruning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Structured Pruning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Sparse Pruning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➔</a:t>
                      </a:r>
                      <a:r>
                        <a:rPr lang="en-US" altLang="zh-TW" sz="1200" dirty="0"/>
                        <a:t>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970525"/>
                  </a:ext>
                </a:extLst>
              </a:tr>
            </a:tbl>
          </a:graphicData>
        </a:graphic>
      </p:graphicFrame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7D569E3B-62B5-6018-C81E-7027D6451B1A}"/>
              </a:ext>
            </a:extLst>
          </p:cNvPr>
          <p:cNvGraphicFramePr>
            <a:graphicFrameLocks noGrp="1"/>
          </p:cNvGraphicFramePr>
          <p:nvPr/>
        </p:nvGraphicFramePr>
        <p:xfrm>
          <a:off x="1853020" y="4511557"/>
          <a:ext cx="2249569" cy="75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89079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Training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89079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FP16/32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zh-TW" altLang="zh-TW" sz="1200" dirty="0"/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INT4/INT8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90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890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4613FB0A-B9C2-D786-6076-4A0A7FA569EA}"/>
              </a:ext>
            </a:extLst>
          </p:cNvPr>
          <p:cNvGraphicFramePr>
            <a:graphicFrameLocks noGrp="1"/>
          </p:cNvGraphicFramePr>
          <p:nvPr/>
        </p:nvGraphicFramePr>
        <p:xfrm>
          <a:off x="1940965" y="5375653"/>
          <a:ext cx="2360327" cy="9441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32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Freeze backbone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13630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Adapter: Just 1% of total parameters.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QAD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 QAT when Distillation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7E559F4-AD93-FD48-874F-C5C4B76B039B}"/>
              </a:ext>
            </a:extLst>
          </p:cNvPr>
          <p:cNvGraphicFramePr>
            <a:graphicFrameLocks noGrp="1"/>
          </p:cNvGraphicFramePr>
          <p:nvPr/>
        </p:nvGraphicFramePr>
        <p:xfrm>
          <a:off x="620674" y="4515242"/>
          <a:ext cx="1575643" cy="6121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64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Paged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AdamW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Sparse Pruning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3" name="右大括弧 62">
            <a:extLst>
              <a:ext uri="{FF2B5EF4-FFF2-40B4-BE49-F238E27FC236}">
                <a16:creationId xmlns:a16="http://schemas.microsoft.com/office/drawing/2014/main" id="{01E9E84E-2C79-2783-E3FB-C45EA23D0908}"/>
              </a:ext>
            </a:extLst>
          </p:cNvPr>
          <p:cNvSpPr/>
          <p:nvPr/>
        </p:nvSpPr>
        <p:spPr>
          <a:xfrm rot="5400000">
            <a:off x="2249314" y="3017820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00E42BB-6FC5-4FBD-FB52-43757EC4A1E5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5562500"/>
          <a:ext cx="1575643" cy="962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64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Post-Training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 (PTQ)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909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AWQ,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GPTQ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872838"/>
                  </a:ext>
                </a:extLst>
              </a:tr>
              <a:tr h="19399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7" name="標題 1">
            <a:extLst>
              <a:ext uri="{FF2B5EF4-FFF2-40B4-BE49-F238E27FC236}">
                <a16:creationId xmlns:a16="http://schemas.microsoft.com/office/drawing/2014/main" id="{C4FF9F22-CF14-D9AD-E183-3242304E6B29}"/>
              </a:ext>
            </a:extLst>
          </p:cNvPr>
          <p:cNvSpPr txBox="1">
            <a:spLocks/>
          </p:cNvSpPr>
          <p:nvPr/>
        </p:nvSpPr>
        <p:spPr>
          <a:xfrm>
            <a:off x="1716073" y="4088534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73E146EC-462D-2039-B36D-4FC6F33E63E3}"/>
              </a:ext>
            </a:extLst>
          </p:cNvPr>
          <p:cNvSpPr txBox="1"/>
          <p:nvPr/>
        </p:nvSpPr>
        <p:spPr>
          <a:xfrm>
            <a:off x="6071253" y="1475258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68755521-9450-A8BB-460E-BC297EB0F5FB}"/>
              </a:ext>
            </a:extLst>
          </p:cNvPr>
          <p:cNvGraphicFramePr>
            <a:graphicFrameLocks noGrp="1"/>
          </p:cNvGraphicFramePr>
          <p:nvPr/>
        </p:nvGraphicFramePr>
        <p:xfrm>
          <a:off x="6134467" y="1497384"/>
          <a:ext cx="610509" cy="838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Q&amp;A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76" name="接點: 肘形 75">
            <a:extLst>
              <a:ext uri="{FF2B5EF4-FFF2-40B4-BE49-F238E27FC236}">
                <a16:creationId xmlns:a16="http://schemas.microsoft.com/office/drawing/2014/main" id="{D79F101B-AE50-F29E-5BAE-E56FB30B07FE}"/>
              </a:ext>
            </a:extLst>
          </p:cNvPr>
          <p:cNvCxnSpPr>
            <a:cxnSpLocks/>
          </p:cNvCxnSpPr>
          <p:nvPr/>
        </p:nvCxnSpPr>
        <p:spPr>
          <a:xfrm>
            <a:off x="7143125" y="5705328"/>
            <a:ext cx="1754344" cy="339015"/>
          </a:xfrm>
          <a:prstGeom prst="bentConnector3">
            <a:avLst>
              <a:gd name="adj1" fmla="val 50000"/>
            </a:avLst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右大括弧 78">
            <a:extLst>
              <a:ext uri="{FF2B5EF4-FFF2-40B4-BE49-F238E27FC236}">
                <a16:creationId xmlns:a16="http://schemas.microsoft.com/office/drawing/2014/main" id="{8008D76B-CDB3-47F8-FCF5-503FCBF76AB0}"/>
              </a:ext>
            </a:extLst>
          </p:cNvPr>
          <p:cNvSpPr/>
          <p:nvPr/>
        </p:nvSpPr>
        <p:spPr>
          <a:xfrm rot="5400000">
            <a:off x="4496413" y="3024422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1" name="標題 1">
            <a:extLst>
              <a:ext uri="{FF2B5EF4-FFF2-40B4-BE49-F238E27FC236}">
                <a16:creationId xmlns:a16="http://schemas.microsoft.com/office/drawing/2014/main" id="{B21A7645-09A7-E234-A534-3C3246109F0E}"/>
              </a:ext>
            </a:extLst>
          </p:cNvPr>
          <p:cNvSpPr txBox="1">
            <a:spLocks/>
          </p:cNvSpPr>
          <p:nvPr/>
        </p:nvSpPr>
        <p:spPr>
          <a:xfrm>
            <a:off x="3963172" y="4095136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Reduction</a:t>
            </a: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C027CA7-A0B6-E8E3-3E2C-BAFE9EF44575}"/>
              </a:ext>
            </a:extLst>
          </p:cNvPr>
          <p:cNvSpPr/>
          <p:nvPr/>
        </p:nvSpPr>
        <p:spPr>
          <a:xfrm rot="5400000">
            <a:off x="7623698" y="3184182"/>
            <a:ext cx="153040" cy="198838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A8E1FB0C-0D45-B6B0-586A-360C8FE713CA}"/>
              </a:ext>
            </a:extLst>
          </p:cNvPr>
          <p:cNvSpPr txBox="1">
            <a:spLocks/>
          </p:cNvSpPr>
          <p:nvPr/>
        </p:nvSpPr>
        <p:spPr>
          <a:xfrm>
            <a:off x="7090457" y="4254896"/>
            <a:ext cx="1219522" cy="25226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</a:t>
            </a:r>
          </a:p>
        </p:txBody>
      </p:sp>
    </p:spTree>
    <p:extLst>
      <p:ext uri="{BB962C8B-B14F-4D97-AF65-F5344CB8AC3E}">
        <p14:creationId xmlns:p14="http://schemas.microsoft.com/office/powerpoint/2010/main" val="143626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---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719832"/>
              </p:ext>
            </p:extLst>
          </p:nvPr>
        </p:nvGraphicFramePr>
        <p:xfrm>
          <a:off x="247794" y="5266243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9875080-20D6-683B-AD13-714D3996B7F0}"/>
              </a:ext>
            </a:extLst>
          </p:cNvPr>
          <p:cNvSpPr txBox="1"/>
          <p:nvPr/>
        </p:nvSpPr>
        <p:spPr>
          <a:xfrm>
            <a:off x="226393" y="2325245"/>
            <a:ext cx="55831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FT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:</a:t>
            </a:r>
            <a:r>
              <a:rPr lang="en-US" altLang="zh-TW" sz="1600" dirty="0"/>
              <a:t> LoRA, QLoRA, DoRA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36617E0-4A67-83DD-FEE4-BE38F33F526E}"/>
              </a:ext>
            </a:extLst>
          </p:cNvPr>
          <p:cNvSpPr txBox="1"/>
          <p:nvPr/>
        </p:nvSpPr>
        <p:spPr>
          <a:xfrm>
            <a:off x="3987552" y="4123346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B56030E-188C-DD71-70D4-C19589965500}"/>
              </a:ext>
            </a:extLst>
          </p:cNvPr>
          <p:cNvSpPr txBox="1"/>
          <p:nvPr/>
        </p:nvSpPr>
        <p:spPr>
          <a:xfrm>
            <a:off x="3845887" y="2725010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81EEC4E-0BBA-CF4F-69B4-1DB6E6B60456}"/>
              </a:ext>
            </a:extLst>
          </p:cNvPr>
          <p:cNvSpPr txBox="1"/>
          <p:nvPr/>
        </p:nvSpPr>
        <p:spPr>
          <a:xfrm>
            <a:off x="3845887" y="328257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F87BC20-FC0D-C9B6-3573-94620F5A2D37}"/>
              </a:ext>
            </a:extLst>
          </p:cNvPr>
          <p:cNvSpPr txBox="1"/>
          <p:nvPr/>
        </p:nvSpPr>
        <p:spPr>
          <a:xfrm>
            <a:off x="3845887" y="2035114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A12C24F6-823E-4624-BFBB-27668484B3EC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4421951" y="2395154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43292677-53C3-A391-7FAF-584C00F71527}"/>
              </a:ext>
            </a:extLst>
          </p:cNvPr>
          <p:cNvCxnSpPr>
            <a:cxnSpLocks/>
            <a:stCxn id="48" idx="0"/>
            <a:endCxn id="51" idx="2"/>
          </p:cNvCxnSpPr>
          <p:nvPr/>
        </p:nvCxnSpPr>
        <p:spPr>
          <a:xfrm flipH="1" flipV="1">
            <a:off x="4421951" y="3805794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0AB2EEA-8250-A822-E1DB-F5469F5C921E}"/>
              </a:ext>
            </a:extLst>
          </p:cNvPr>
          <p:cNvCxnSpPr>
            <a:cxnSpLocks/>
            <a:stCxn id="51" idx="0"/>
            <a:endCxn id="50" idx="2"/>
          </p:cNvCxnSpPr>
          <p:nvPr/>
        </p:nvCxnSpPr>
        <p:spPr>
          <a:xfrm flipV="1">
            <a:off x="4421951" y="3170520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接點: 肘形 57">
            <a:extLst>
              <a:ext uri="{FF2B5EF4-FFF2-40B4-BE49-F238E27FC236}">
                <a16:creationId xmlns:a16="http://schemas.microsoft.com/office/drawing/2014/main" id="{2FB4D62A-61B8-C63B-BB55-9CA89DFCE7D6}"/>
              </a:ext>
            </a:extLst>
          </p:cNvPr>
          <p:cNvCxnSpPr>
            <a:cxnSpLocks/>
            <a:stCxn id="53" idx="3"/>
            <a:endCxn id="48" idx="3"/>
          </p:cNvCxnSpPr>
          <p:nvPr/>
        </p:nvCxnSpPr>
        <p:spPr>
          <a:xfrm flipH="1">
            <a:off x="4860032" y="2215134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03BF5193-2B39-BE10-E247-BBEC3F812208}"/>
              </a:ext>
            </a:extLst>
          </p:cNvPr>
          <p:cNvSpPr txBox="1"/>
          <p:nvPr/>
        </p:nvSpPr>
        <p:spPr>
          <a:xfrm>
            <a:off x="3536693" y="349502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533F08BF-9748-A1E4-6F1C-CFF916DB1525}"/>
              </a:ext>
            </a:extLst>
          </p:cNvPr>
          <p:cNvSpPr/>
          <p:nvPr/>
        </p:nvSpPr>
        <p:spPr>
          <a:xfrm>
            <a:off x="2574523" y="3194970"/>
            <a:ext cx="1464538" cy="1512168"/>
          </a:xfrm>
          <a:prstGeom prst="roundRect">
            <a:avLst>
              <a:gd name="adj" fmla="val 10053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F2706C8A-B99C-81CE-5063-6DA30E370359}"/>
              </a:ext>
            </a:extLst>
          </p:cNvPr>
          <p:cNvSpPr/>
          <p:nvPr/>
        </p:nvSpPr>
        <p:spPr>
          <a:xfrm>
            <a:off x="3701871" y="2575174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06C9076E-FB3C-0041-7435-E4C4115B85A9}"/>
              </a:ext>
            </a:extLst>
          </p:cNvPr>
          <p:cNvSpPr txBox="1"/>
          <p:nvPr/>
        </p:nvSpPr>
        <p:spPr>
          <a:xfrm>
            <a:off x="7299516" y="2702530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2E7C3A3A-A52A-EC27-A4C2-637E989567BC}"/>
              </a:ext>
            </a:extLst>
          </p:cNvPr>
          <p:cNvSpPr/>
          <p:nvPr/>
        </p:nvSpPr>
        <p:spPr>
          <a:xfrm>
            <a:off x="7013835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8341FC4B-B783-8B62-FD71-09F4FA2505D0}"/>
              </a:ext>
            </a:extLst>
          </p:cNvPr>
          <p:cNvSpPr txBox="1"/>
          <p:nvPr/>
        </p:nvSpPr>
        <p:spPr>
          <a:xfrm>
            <a:off x="7157851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7AA1420A-F6FA-6FBA-AB42-174928F69B88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D10AF3BD-969F-012C-B59E-DDAFB2A053FC}"/>
              </a:ext>
            </a:extLst>
          </p:cNvPr>
          <p:cNvSpPr txBox="1"/>
          <p:nvPr/>
        </p:nvSpPr>
        <p:spPr>
          <a:xfrm>
            <a:off x="7157851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63251D2-D298-2201-A842-83D1BFD46044}"/>
              </a:ext>
            </a:extLst>
          </p:cNvPr>
          <p:cNvSpPr txBox="1"/>
          <p:nvPr/>
        </p:nvSpPr>
        <p:spPr>
          <a:xfrm>
            <a:off x="7157851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4ABECF00-0C44-36BF-DB3C-AB8198355FC6}"/>
              </a:ext>
            </a:extLst>
          </p:cNvPr>
          <p:cNvCxnSpPr>
            <a:cxnSpLocks/>
            <a:stCxn id="109" idx="0"/>
            <a:endCxn id="110" idx="2"/>
          </p:cNvCxnSpPr>
          <p:nvPr/>
        </p:nvCxnSpPr>
        <p:spPr>
          <a:xfrm flipV="1">
            <a:off x="7733915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43A0A9C-C633-50EA-CD22-AA6B770B59B6}"/>
              </a:ext>
            </a:extLst>
          </p:cNvPr>
          <p:cNvCxnSpPr>
            <a:cxnSpLocks/>
            <a:stCxn id="107" idx="0"/>
            <a:endCxn id="109" idx="2"/>
          </p:cNvCxnSpPr>
          <p:nvPr/>
        </p:nvCxnSpPr>
        <p:spPr>
          <a:xfrm flipV="1">
            <a:off x="7733915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B5C3E654-7C4E-9345-F47D-31CBD3E2AD04}"/>
              </a:ext>
            </a:extLst>
          </p:cNvPr>
          <p:cNvCxnSpPr>
            <a:cxnSpLocks/>
            <a:stCxn id="105" idx="0"/>
            <a:endCxn id="108" idx="2"/>
          </p:cNvCxnSpPr>
          <p:nvPr/>
        </p:nvCxnSpPr>
        <p:spPr>
          <a:xfrm flipH="1" flipV="1">
            <a:off x="7733915" y="2463376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16A1D77D-1ECA-ADC7-27B2-8B4FF84E7CDA}"/>
              </a:ext>
            </a:extLst>
          </p:cNvPr>
          <p:cNvCxnSpPr>
            <a:cxnSpLocks/>
            <a:stCxn id="108" idx="0"/>
            <a:endCxn id="107" idx="2"/>
          </p:cNvCxnSpPr>
          <p:nvPr/>
        </p:nvCxnSpPr>
        <p:spPr>
          <a:xfrm flipV="1">
            <a:off x="7733915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接點: 肘形 114">
            <a:extLst>
              <a:ext uri="{FF2B5EF4-FFF2-40B4-BE49-F238E27FC236}">
                <a16:creationId xmlns:a16="http://schemas.microsoft.com/office/drawing/2014/main" id="{7776C5A4-4B6A-12FB-8259-75B9AD6EE2D4}"/>
              </a:ext>
            </a:extLst>
          </p:cNvPr>
          <p:cNvCxnSpPr>
            <a:cxnSpLocks/>
            <a:stCxn id="110" idx="3"/>
            <a:endCxn id="105" idx="3"/>
          </p:cNvCxnSpPr>
          <p:nvPr/>
        </p:nvCxnSpPr>
        <p:spPr>
          <a:xfrm flipH="1">
            <a:off x="8171996" y="656692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AFC95E08-84BB-29F4-74F1-37AFDF69A1D8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7" name="群組 116">
            <a:extLst>
              <a:ext uri="{FF2B5EF4-FFF2-40B4-BE49-F238E27FC236}">
                <a16:creationId xmlns:a16="http://schemas.microsoft.com/office/drawing/2014/main" id="{695CC539-B00C-996D-C817-E1CCB0E8B44C}"/>
              </a:ext>
            </a:extLst>
          </p:cNvPr>
          <p:cNvGrpSpPr/>
          <p:nvPr/>
        </p:nvGrpSpPr>
        <p:grpSpPr>
          <a:xfrm>
            <a:off x="6804248" y="3167464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A8F57A45-9C5F-E502-A914-ADCEA87876FD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23562B40-47BA-9A31-61BE-87AF074D317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4097F1C0-C540-BBED-14F3-7C1A71B69672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515ED81-7E3E-98B4-D8D9-14B110FAFC23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8BADC09C-D0ED-8C40-E254-FDB2B658198E}"/>
              </a:ext>
            </a:extLst>
          </p:cNvPr>
          <p:cNvCxnSpPr>
            <a:cxnSpLocks/>
            <a:stCxn id="119" idx="0"/>
            <a:endCxn id="105" idx="2"/>
          </p:cNvCxnSpPr>
          <p:nvPr/>
        </p:nvCxnSpPr>
        <p:spPr>
          <a:xfrm flipH="1" flipV="1">
            <a:off x="7735756" y="2924944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箭號: 向下 123">
            <a:extLst>
              <a:ext uri="{FF2B5EF4-FFF2-40B4-BE49-F238E27FC236}">
                <a16:creationId xmlns:a16="http://schemas.microsoft.com/office/drawing/2014/main" id="{461C5070-2FA5-BBB8-6FD8-1326CA8E0764}"/>
              </a:ext>
            </a:extLst>
          </p:cNvPr>
          <p:cNvSpPr/>
          <p:nvPr/>
        </p:nvSpPr>
        <p:spPr>
          <a:xfrm rot="10800000">
            <a:off x="7733911" y="332655"/>
            <a:ext cx="620447" cy="379068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6" name="箭號: 向下 125">
            <a:extLst>
              <a:ext uri="{FF2B5EF4-FFF2-40B4-BE49-F238E27FC236}">
                <a16:creationId xmlns:a16="http://schemas.microsoft.com/office/drawing/2014/main" id="{E0C06F27-0D34-95D9-C9E3-99A1C278D9A0}"/>
              </a:ext>
            </a:extLst>
          </p:cNvPr>
          <p:cNvSpPr/>
          <p:nvPr/>
        </p:nvSpPr>
        <p:spPr>
          <a:xfrm rot="10800000">
            <a:off x="6516217" y="332654"/>
            <a:ext cx="203915" cy="3790688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lumMod val="50000"/>
              <a:alpha val="6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E811FF5-84F4-15CE-BC55-CD103BF82807}"/>
              </a:ext>
            </a:extLst>
          </p:cNvPr>
          <p:cNvSpPr txBox="1"/>
          <p:nvPr/>
        </p:nvSpPr>
        <p:spPr>
          <a:xfrm>
            <a:off x="3897446" y="5652235"/>
            <a:ext cx="51149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u="none" strike="noStrike" dirty="0">
                <a:effectLst/>
                <a:latin typeface="Google Sans"/>
              </a:rPr>
              <a:t>Technical Substrate</a:t>
            </a:r>
            <a:r>
              <a:rPr lang="zh-TW" altLang="zh-TW" dirty="0"/>
              <a:t>: All 4 frameworks natively support advanced </a:t>
            </a:r>
            <a:r>
              <a:rPr lang="zh-TW" altLang="zh-TW" sz="1200" b="1" u="none" strike="noStrike" dirty="0">
                <a:effectLst/>
                <a:latin typeface="Google Sans"/>
              </a:rPr>
              <a:t>8-bit Optimizers</a:t>
            </a:r>
            <a:r>
              <a:rPr lang="zh-TW" altLang="zh-TW" dirty="0"/>
              <a:t> (e.g., PagedAdamW) and </a:t>
            </a:r>
            <a:r>
              <a:rPr lang="zh-TW" altLang="zh-TW" sz="1200" b="1" u="none" strike="noStrike" dirty="0">
                <a:effectLst/>
                <a:latin typeface="Google Sans"/>
              </a:rPr>
              <a:t>4-bit/8-bit Quantization (QLoRA)</a:t>
            </a:r>
            <a:r>
              <a:rPr lang="zh-TW" altLang="zh-TW" dirty="0"/>
              <a:t> to minimize VRAM footprints.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D8B23D8-7D4E-D23F-6184-63C20203A191}"/>
              </a:ext>
            </a:extLst>
          </p:cNvPr>
          <p:cNvSpPr txBox="1"/>
          <p:nvPr/>
        </p:nvSpPr>
        <p:spPr>
          <a:xfrm>
            <a:off x="4711114" y="4506426"/>
            <a:ext cx="200901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1" u="none" strike="noStrike" dirty="0">
                <a:effectLst/>
                <a:latin typeface="Google Sans"/>
              </a:rPr>
              <a:t>Attention</a:t>
            </a:r>
            <a:br>
              <a:rPr lang="en-US" altLang="zh-TW" sz="1200" b="1" u="none" strike="noStrike" dirty="0">
                <a:effectLst/>
                <a:latin typeface="Google Sans"/>
              </a:rPr>
            </a:br>
            <a:r>
              <a:rPr lang="en-US" altLang="zh-TW" sz="1200" b="1" u="none" strike="noStrike" dirty="0">
                <a:effectLst/>
                <a:latin typeface="Google Sans"/>
              </a:rPr>
              <a:t>Model Weights</a:t>
            </a:r>
            <a:br>
              <a:rPr lang="en-US" altLang="zh-TW" sz="1200" b="1" u="none" strike="noStrike" dirty="0">
                <a:effectLst/>
                <a:latin typeface="Google Sans"/>
              </a:rPr>
            </a:br>
            <a:r>
              <a:rPr lang="en-US" altLang="zh-TW" sz="1200" b="1" u="none" strike="noStrike" dirty="0">
                <a:effectLst/>
                <a:latin typeface="Google Sans"/>
              </a:rPr>
              <a:t>8K * 32 bit </a:t>
            </a: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 2K * 8 bit</a:t>
            </a:r>
            <a:b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</a:b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Freeze</a:t>
            </a:r>
            <a:b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</a:br>
            <a:r>
              <a:rPr lang="en-US" altLang="zh-TW" sz="1200" b="1" u="none" strike="noStrike" dirty="0">
                <a:effectLst/>
                <a:latin typeface="Google Sans"/>
                <a:sym typeface="Wingdings" panose="05000000000000000000" pitchFamily="2" charset="2"/>
              </a:rPr>
              <a:t>+ Adapter (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33164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399593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28396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46873"/>
              </p:ext>
            </p:extLst>
          </p:nvPr>
        </p:nvGraphicFramePr>
        <p:xfrm>
          <a:off x="141041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894271"/>
              </p:ext>
            </p:extLst>
          </p:nvPr>
        </p:nvGraphicFramePr>
        <p:xfrm>
          <a:off x="407341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58001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150"/>
              </p:ext>
            </p:extLst>
          </p:nvPr>
        </p:nvGraphicFramePr>
        <p:xfrm>
          <a:off x="220250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009156"/>
              </p:ext>
            </p:extLst>
          </p:nvPr>
        </p:nvGraphicFramePr>
        <p:xfrm>
          <a:off x="407022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78877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584666"/>
              </p:ext>
            </p:extLst>
          </p:nvPr>
        </p:nvGraphicFramePr>
        <p:xfrm>
          <a:off x="249566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0900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882247"/>
              </p:ext>
            </p:extLst>
          </p:nvPr>
        </p:nvGraphicFramePr>
        <p:xfrm>
          <a:off x="550810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57200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0992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28889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0144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0992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35587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20430"/>
              </p:ext>
            </p:extLst>
          </p:nvPr>
        </p:nvGraphicFramePr>
        <p:xfrm>
          <a:off x="157207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58000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622841"/>
              </p:ext>
            </p:extLst>
          </p:nvPr>
        </p:nvGraphicFramePr>
        <p:xfrm>
          <a:off x="220250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197971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684713"/>
              </p:ext>
            </p:extLst>
          </p:nvPr>
        </p:nvGraphicFramePr>
        <p:xfrm>
          <a:off x="25152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530113"/>
              </p:ext>
            </p:extLst>
          </p:nvPr>
        </p:nvGraphicFramePr>
        <p:xfrm>
          <a:off x="102953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33508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63474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49257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28134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06556BE-6C77-8C64-CA3B-47626D0D68AA}"/>
              </a:ext>
            </a:extLst>
          </p:cNvPr>
          <p:cNvSpPr txBox="1"/>
          <p:nvPr/>
        </p:nvSpPr>
        <p:spPr>
          <a:xfrm>
            <a:off x="7299516" y="2780928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F2A9BE-A453-8694-6FB6-FA663B38DCF1}"/>
              </a:ext>
            </a:extLst>
          </p:cNvPr>
          <p:cNvSpPr txBox="1"/>
          <p:nvPr/>
        </p:nvSpPr>
        <p:spPr>
          <a:xfrm>
            <a:off x="7157851" y="1382592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5A894-317F-F418-C66B-25E99094EC7C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218A202-D8A9-E81D-D989-7EA0A7693460}"/>
              </a:ext>
            </a:extLst>
          </p:cNvPr>
          <p:cNvSpPr txBox="1"/>
          <p:nvPr/>
        </p:nvSpPr>
        <p:spPr>
          <a:xfrm>
            <a:off x="7157851" y="692696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4C81268E-6D02-2E21-2099-2D9284747145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052736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628AED58-A894-F9EE-4ADD-7A8CD059F12E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463376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0296C0FB-7FBD-436A-F516-A708FFF9A4D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1828102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6B7CFA7A-FA55-912B-F440-4C225065F6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872716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337CCDC4-6B01-916C-B04F-8DE18F9395AD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3B48FC1C-1FEA-BEEB-5CDB-15C096C56975}"/>
              </a:ext>
            </a:extLst>
          </p:cNvPr>
          <p:cNvSpPr/>
          <p:nvPr/>
        </p:nvSpPr>
        <p:spPr>
          <a:xfrm>
            <a:off x="7013835" y="1232756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1CE27FA2-16E2-7291-793C-CE1CBFB5CB2F}"/>
              </a:ext>
            </a:extLst>
          </p:cNvPr>
          <p:cNvSpPr/>
          <p:nvPr/>
        </p:nvSpPr>
        <p:spPr>
          <a:xfrm rot="10800000">
            <a:off x="7810771" y="1172793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AA4945-2C8E-774A-F078-6625D4682F88}"/>
              </a:ext>
            </a:extLst>
          </p:cNvPr>
          <p:cNvSpPr/>
          <p:nvPr/>
        </p:nvSpPr>
        <p:spPr>
          <a:xfrm>
            <a:off x="897399" y="4551232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1378B491-B328-13C1-1642-B3B7C2E1D06F}"/>
              </a:ext>
            </a:extLst>
          </p:cNvPr>
          <p:cNvSpPr/>
          <p:nvPr/>
        </p:nvSpPr>
        <p:spPr>
          <a:xfrm>
            <a:off x="1106986" y="2576464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4CA5A69E-CA91-C5FB-67FF-CA0D2D0DBB79}"/>
              </a:ext>
            </a:extLst>
          </p:cNvPr>
          <p:cNvSpPr txBox="1"/>
          <p:nvPr/>
        </p:nvSpPr>
        <p:spPr>
          <a:xfrm>
            <a:off x="1251002" y="2734774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EBF70A-413B-B804-E4B9-502872F48CD8}"/>
              </a:ext>
            </a:extLst>
          </p:cNvPr>
          <p:cNvSpPr txBox="1"/>
          <p:nvPr/>
        </p:nvSpPr>
        <p:spPr>
          <a:xfrm>
            <a:off x="1251002" y="310384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0B9D44E-3A43-1104-5410-DFA0A526E05D}"/>
              </a:ext>
            </a:extLst>
          </p:cNvPr>
          <p:cNvSpPr txBox="1"/>
          <p:nvPr/>
        </p:nvSpPr>
        <p:spPr>
          <a:xfrm>
            <a:off x="1392667" y="3872608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A8DE3FC8-7817-619D-FDEB-06030E5F4381}"/>
              </a:ext>
            </a:extLst>
          </p:cNvPr>
          <p:cNvSpPr txBox="1"/>
          <p:nvPr/>
        </p:nvSpPr>
        <p:spPr>
          <a:xfrm>
            <a:off x="1251002" y="1640360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229010F8-5327-3448-8549-E76CFAA4D5C0}"/>
              </a:ext>
            </a:extLst>
          </p:cNvPr>
          <p:cNvCxnSpPr>
            <a:cxnSpLocks/>
            <a:stCxn id="44" idx="0"/>
            <a:endCxn id="48" idx="2"/>
          </p:cNvCxnSpPr>
          <p:nvPr/>
        </p:nvCxnSpPr>
        <p:spPr>
          <a:xfrm flipV="1">
            <a:off x="1827066" y="2000400"/>
            <a:ext cx="0" cy="7343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211F78E1-8A23-5A54-4595-2F4D992764BE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1827066" y="3627064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E2F5296-A0E4-FF11-A7B9-A5D5F7C1203F}"/>
              </a:ext>
            </a:extLst>
          </p:cNvPr>
          <p:cNvCxnSpPr>
            <a:cxnSpLocks/>
            <a:stCxn id="45" idx="0"/>
            <a:endCxn id="44" idx="2"/>
          </p:cNvCxnSpPr>
          <p:nvPr/>
        </p:nvCxnSpPr>
        <p:spPr>
          <a:xfrm flipV="1">
            <a:off x="1827066" y="2959826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62F66B81-F252-937F-AB6E-078A1672D168}"/>
              </a:ext>
            </a:extLst>
          </p:cNvPr>
          <p:cNvCxnSpPr>
            <a:cxnSpLocks/>
            <a:stCxn id="48" idx="3"/>
            <a:endCxn id="46" idx="3"/>
          </p:cNvCxnSpPr>
          <p:nvPr/>
        </p:nvCxnSpPr>
        <p:spPr>
          <a:xfrm flipH="1">
            <a:off x="2265147" y="1820380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DAB17A7-CEC1-42C1-B9A6-C33B9D111C6C}"/>
              </a:ext>
            </a:extLst>
          </p:cNvPr>
          <p:cNvSpPr txBox="1"/>
          <p:nvPr/>
        </p:nvSpPr>
        <p:spPr>
          <a:xfrm>
            <a:off x="941808" y="33162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26C0AAB-D17C-4A7B-87E8-AC15F85B7C79}"/>
              </a:ext>
            </a:extLst>
          </p:cNvPr>
          <p:cNvSpPr/>
          <p:nvPr/>
        </p:nvSpPr>
        <p:spPr>
          <a:xfrm>
            <a:off x="969406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E13554E-E43E-1888-820B-E303E4149CDF}"/>
              </a:ext>
            </a:extLst>
          </p:cNvPr>
          <p:cNvSpPr/>
          <p:nvPr/>
        </p:nvSpPr>
        <p:spPr>
          <a:xfrm>
            <a:off x="1575038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0629A8E-D1FA-995B-C7BE-C53ECF5DACD3}"/>
              </a:ext>
            </a:extLst>
          </p:cNvPr>
          <p:cNvSpPr/>
          <p:nvPr/>
        </p:nvSpPr>
        <p:spPr>
          <a:xfrm>
            <a:off x="2176988" y="4742035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0BF80CF-6201-D1A4-16BD-1A5443CE3F85}"/>
              </a:ext>
            </a:extLst>
          </p:cNvPr>
          <p:cNvSpPr/>
          <p:nvPr/>
        </p:nvSpPr>
        <p:spPr>
          <a:xfrm>
            <a:off x="1575038" y="4427944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35FD393D-DCD5-647B-B17E-3F99EED73466}"/>
              </a:ext>
            </a:extLst>
          </p:cNvPr>
          <p:cNvCxnSpPr>
            <a:cxnSpLocks/>
            <a:stCxn id="59" idx="0"/>
            <a:endCxn id="46" idx="2"/>
          </p:cNvCxnSpPr>
          <p:nvPr/>
        </p:nvCxnSpPr>
        <p:spPr>
          <a:xfrm flipV="1">
            <a:off x="1827066" y="4232648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471</TotalTime>
  <Words>10781</Words>
  <Application>Microsoft Office PowerPoint</Application>
  <PresentationFormat>如螢幕大小 (4:3)</PresentationFormat>
  <Paragraphs>1422</Paragraphs>
  <Slides>26</Slides>
  <Notes>23</Notes>
  <HiddenSlides>6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42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1726</cp:revision>
  <cp:lastPrinted>2024-07-30T01:44:15Z</cp:lastPrinted>
  <dcterms:created xsi:type="dcterms:W3CDTF">2019-11-08T03:01:47Z</dcterms:created>
  <dcterms:modified xsi:type="dcterms:W3CDTF">2026-07-13T10:28:58Z</dcterms:modified>
</cp:coreProperties>
</file>