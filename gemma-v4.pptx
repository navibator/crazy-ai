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146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BE91B-0542-428C-92C0-10BB71C0FBDE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C71A00-ED74-4642-921C-4EAB5BFF2BF4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D6A39-34A8-4A3F-8F60-20DA7C74A4AC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A6FC8-8876-4170-A548-4CF98634AB6C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70438-3457-4809-8EDC-73560B763C0C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B85A-F541-4FB6-9CD9-A989F934C3B5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E33B3-3F28-4FC7-8BA6-0C3E308D7951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B2ADB-703B-443D-A2A8-63FFF26D9E0F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877D1-A444-406A-919B-E85B33565EE9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0527-A8D0-4AC7-8E16-1D9FE6756611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DD0D6-A76F-4842-B340-5BACCB9809C7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388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D8E57D-B5E8-4589-B838-0EAEE63D88A2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8" Type="http://schemas.openxmlformats.org/officeDocument/2006/relationships/image" Target="../media/image37.png"/><Relationship Id="rId3" Type="http://schemas.openxmlformats.org/officeDocument/2006/relationships/image" Target="../media/image21.png"/><Relationship Id="rId21" Type="http://schemas.openxmlformats.org/officeDocument/2006/relationships/image" Target="../media/image32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6.png"/><Relationship Id="rId2" Type="http://schemas.openxmlformats.org/officeDocument/2006/relationships/image" Target="../media/image20.png"/><Relationship Id="rId16" Type="http://schemas.openxmlformats.org/officeDocument/2006/relationships/image" Target="../media/image35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4.png"/><Relationship Id="rId10" Type="http://schemas.openxmlformats.org/officeDocument/2006/relationships/image" Target="../media/image28.png"/><Relationship Id="rId19" Type="http://schemas.openxmlformats.org/officeDocument/2006/relationships/image" Target="../media/image3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22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00.png"/><Relationship Id="rId4" Type="http://schemas.openxmlformats.org/officeDocument/2006/relationships/image" Target="../media/image41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svg"/><Relationship Id="rId5" Type="http://schemas.openxmlformats.org/officeDocument/2006/relationships/image" Target="../media/image65.svg"/><Relationship Id="rId4" Type="http://schemas.openxmlformats.org/officeDocument/2006/relationships/image" Target="../media/image6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svg"/><Relationship Id="rId2" Type="http://schemas.openxmlformats.org/officeDocument/2006/relationships/image" Target="../media/image67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svg"/><Relationship Id="rId3" Type="http://schemas.openxmlformats.org/officeDocument/2006/relationships/image" Target="../media/image70.svg"/><Relationship Id="rId7" Type="http://schemas.openxmlformats.org/officeDocument/2006/relationships/image" Target="../media/image74.svg"/><Relationship Id="rId2" Type="http://schemas.openxmlformats.org/officeDocument/2006/relationships/image" Target="../media/image6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71.png"/><Relationship Id="rId9" Type="http://schemas.openxmlformats.org/officeDocument/2006/relationships/image" Target="../media/image7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svg"/><Relationship Id="rId5" Type="http://schemas.openxmlformats.org/officeDocument/2006/relationships/image" Target="../media/image77.svg"/><Relationship Id="rId4" Type="http://schemas.openxmlformats.org/officeDocument/2006/relationships/image" Target="../media/image7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sv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image" Target="../media/image83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ena.ai/leaderboard/text/pareto" TargetMode="External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95.png"/><Relationship Id="rId5" Type="http://schemas.openxmlformats.org/officeDocument/2006/relationships/image" Target="../media/image4.png"/><Relationship Id="rId10" Type="http://schemas.openxmlformats.org/officeDocument/2006/relationships/image" Target="../media/image94.png"/><Relationship Id="rId4" Type="http://schemas.openxmlformats.org/officeDocument/2006/relationships/image" Target="../media/image3.png"/><Relationship Id="rId9" Type="http://schemas.openxmlformats.org/officeDocument/2006/relationships/image" Target="../media/image9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81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jpeg"/><Relationship Id="rId5" Type="http://schemas.openxmlformats.org/officeDocument/2006/relationships/image" Target="../media/image71.png"/><Relationship Id="rId4" Type="http://schemas.openxmlformats.org/officeDocument/2006/relationships/image" Target="../media/image98.png"/><Relationship Id="rId9" Type="http://schemas.openxmlformats.org/officeDocument/2006/relationships/image" Target="../media/image10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09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5" Type="http://schemas.openxmlformats.org/officeDocument/2006/relationships/image" Target="../media/image2300.png"/><Relationship Id="rId4" Type="http://schemas.openxmlformats.org/officeDocument/2006/relationships/image" Target="../media/image11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Allen &amp; Felix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2026/08/03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2" name="投影片編號版面配置區 21">
            <a:extLst>
              <a:ext uri="{FF2B5EF4-FFF2-40B4-BE49-F238E27FC236}">
                <a16:creationId xmlns:a16="http://schemas.microsoft.com/office/drawing/2014/main" id="{13645ED8-E398-647C-D046-0F20011B0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Practice: Unsloth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730467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814" y="2353072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9814" y="1924412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472" y="4321671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7472" y="4622845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prstClr val="black"/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prstClr val="white">
                  <a:lumMod val="75000"/>
                </a:prst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GPT-Pretraining</a:t>
            </a:r>
            <a:endParaRPr lang="en-US" altLang="zh-TW" sz="1600" dirty="0">
              <a:solidFill>
                <a:prstClr val="white">
                  <a:lumMod val="75000"/>
                </a:prst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 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dirty="0">
              <a:solidFill>
                <a:prstClr val="white">
                  <a:lumMod val="75000"/>
                </a:prst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308304" y="207686"/>
            <a:ext cx="1440160" cy="144016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43717" y="520631"/>
            <a:ext cx="1012726" cy="103502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749831" y="891742"/>
            <a:ext cx="600497" cy="557005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7927114" y="117024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6973" y="9807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0683" y="9807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417352" y="41490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352" y="4149080"/>
                <a:ext cx="456605" cy="360040"/>
              </a:xfrm>
              <a:prstGeom prst="rect">
                <a:avLst/>
              </a:prstGeom>
              <a:blipFill>
                <a:blip r:embed="rId4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695115"/>
              </p:ext>
            </p:extLst>
          </p:nvPr>
        </p:nvGraphicFramePr>
        <p:xfrm>
          <a:off x="7070261" y="43754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4596061"/>
              </p:ext>
            </p:extLst>
          </p:nvPr>
        </p:nvGraphicFramePr>
        <p:xfrm>
          <a:off x="323528" y="2031948"/>
          <a:ext cx="1222398" cy="432048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803201"/>
              </p:ext>
            </p:extLst>
          </p:nvPr>
        </p:nvGraphicFramePr>
        <p:xfrm>
          <a:off x="323529" y="43791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379481"/>
              </p:ext>
            </p:extLst>
          </p:nvPr>
        </p:nvGraphicFramePr>
        <p:xfrm>
          <a:off x="323527" y="30400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A55E9A07-9129-E5AD-0032-D66991C29544}"/>
              </a:ext>
            </a:extLst>
          </p:cNvPr>
          <p:cNvSpPr/>
          <p:nvPr/>
        </p:nvSpPr>
        <p:spPr>
          <a:xfrm>
            <a:off x="9612560" y="4725666"/>
            <a:ext cx="914400" cy="914400"/>
          </a:xfrm>
          <a:prstGeom prst="roundRect">
            <a:avLst/>
          </a:prstGeom>
          <a:solidFill>
            <a:sysClr val="windowText" lastClr="000000">
              <a:alpha val="70000"/>
            </a:sysClr>
          </a:solidFill>
          <a:ln w="127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10424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Ꙩ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84FD1DC1-2D3B-A81D-FDF6-1A28BF3F300C}"/>
              </a:ext>
            </a:extLst>
          </p:cNvPr>
          <p:cNvSpPr/>
          <p:nvPr/>
        </p:nvSpPr>
        <p:spPr>
          <a:xfrm>
            <a:off x="1076622" y="3550823"/>
            <a:ext cx="1629729" cy="220600"/>
          </a:xfrm>
          <a:prstGeom prst="roundRect">
            <a:avLst/>
          </a:prstGeom>
          <a:solidFill>
            <a:sysClr val="window" lastClr="FFFFFF">
              <a:lumMod val="95000"/>
              <a:alpha val="60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E2A7B1E-BEEA-FD5E-52E6-6D1453518977}"/>
              </a:ext>
            </a:extLst>
          </p:cNvPr>
          <p:cNvSpPr/>
          <p:nvPr/>
        </p:nvSpPr>
        <p:spPr>
          <a:xfrm>
            <a:off x="733816" y="1699829"/>
            <a:ext cx="1083130" cy="1153107"/>
          </a:xfrm>
          <a:prstGeom prst="rect">
            <a:avLst/>
          </a:prstGeom>
          <a:noFill/>
          <a:ln w="381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7C0717BA-C566-7170-25DF-70CE085075CE}"/>
              </a:ext>
            </a:extLst>
          </p:cNvPr>
          <p:cNvSpPr/>
          <p:nvPr/>
        </p:nvSpPr>
        <p:spPr>
          <a:xfrm>
            <a:off x="728122" y="2454114"/>
            <a:ext cx="1099830" cy="107391"/>
          </a:xfrm>
          <a:prstGeom prst="roundRect">
            <a:avLst/>
          </a:prstGeom>
          <a:solidFill>
            <a:sysClr val="window" lastClr="FFFFFF">
              <a:lumMod val="95000"/>
              <a:alpha val="40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2455712"/>
            <a:ext cx="214615" cy="107149"/>
          </a:xfrm>
          <a:prstGeom prst="roundRect">
            <a:avLst/>
          </a:prstGeom>
          <a:solidFill>
            <a:sysClr val="window" lastClr="FFFFFF">
              <a:lumMod val="75000"/>
              <a:alpha val="40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endCxn id="53" idx="0"/>
          </p:cNvCxnSpPr>
          <p:nvPr/>
        </p:nvCxnSpPr>
        <p:spPr>
          <a:xfrm flipH="1">
            <a:off x="1568244" y="1562987"/>
            <a:ext cx="4833" cy="892725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65EEE632-15DF-4B55-BBC3-ED16173DD349}"/>
              </a:ext>
            </a:extLst>
          </p:cNvPr>
          <p:cNvSpPr/>
          <p:nvPr/>
        </p:nvSpPr>
        <p:spPr>
          <a:xfrm>
            <a:off x="399059" y="1992134"/>
            <a:ext cx="161836" cy="216022"/>
          </a:xfrm>
          <a:prstGeom prst="rect">
            <a:avLst/>
          </a:prstGeom>
          <a:noFill/>
          <a:ln w="3175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F81BD"/>
                </a:solidFill>
                <a:effectLst/>
                <a:uLnTx/>
                <a:uFillTx/>
                <a:latin typeface="Calibri"/>
                <a:ea typeface="STXingkai" panose="020B0503020204020204" pitchFamily="2" charset="-122"/>
                <a:cs typeface="+mn-cs"/>
              </a:rPr>
              <a:t>l</a:t>
            </a:r>
          </a:p>
        </p:txBody>
      </p: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571987" y="1699745"/>
            <a:ext cx="145042" cy="808186"/>
          </a:xfrm>
          <a:prstGeom prst="leftBrace">
            <a:avLst/>
          </a:prstGeom>
          <a:noFill/>
          <a:ln w="15875" cap="flat" cmpd="sng" algn="ctr">
            <a:solidFill>
              <a:srgbClr val="4F81B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891575" y="2175738"/>
                <a:ext cx="2016225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575" y="2175738"/>
                <a:ext cx="2016225" cy="4478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51C76AC-F96B-81DB-067E-B2688241137B}"/>
                  </a:ext>
                </a:extLst>
              </p:cNvPr>
              <p:cNvSpPr txBox="1"/>
              <p:nvPr/>
            </p:nvSpPr>
            <p:spPr>
              <a:xfrm>
                <a:off x="5004048" y="4934972"/>
                <a:ext cx="2376264" cy="1518364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0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func>
                                      <m:funcPr>
                                        <m:ctrl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  <m:brk m:alnAt="7"/>
                                          </m:r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c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os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  <m:e>
                                    <m:func>
                                      <m:funcPr>
                                        <m:ctrl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altLang="zh-TW" sz="1200" i="1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𝑖𝑛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TW" sz="120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altLang="zh-TW" sz="120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c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os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TW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𝑙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altLang="zh-TW" sz="1200" i="1" smtClean="0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func>
                                      </m:e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TW" sz="120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s</m:t>
                                            </m:r>
                                            <m:r>
                                              <a:rPr lang="en-US" altLang="zh-TW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𝑖𝑛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TW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𝑙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altLang="zh-TW" sz="1200" i="1" smtClean="0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func>
                                      </m:e>
                                    </m:eqArr>
                                  </m:e>
                                </m:eqArr>
                              </m:e>
                              <m:e>
                                <m:r>
                                  <a:rPr lang="en-US" altLang="zh-TW" sz="1200" i="1" smtClean="0">
                                    <a:solidFill>
                                      <a:prstClr val="whit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func>
                                      <m:funcPr>
                                        <m:ctrlPr>
                                          <a:rPr lang="en-US" altLang="zh-TW" sz="1200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in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  <m:e>
                                    <m:func>
                                      <m:funcPr>
                                        <m:ctrl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  <m:brk m:alnAt="7"/>
                                          </m:r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c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os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TW" sz="1200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a:rPr lang="en-US" altLang="zh-TW" sz="1200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sin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TW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𝑙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altLang="zh-TW" sz="1200" i="1" smtClean="0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func>
                                      </m:e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TW" sz="1200" i="1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a:rPr lang="en-US" altLang="zh-TW" sz="1200" i="1" smtClean="0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𝑐𝑜𝑠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TW" sz="1200" i="1">
                                                <a:solidFill>
                                                  <a:prstClr val="black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𝑙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zh-TW" altLang="en-US" sz="1200" i="1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altLang="zh-TW" sz="1200" i="1" smtClean="0">
                                                    <a:solidFill>
                                                      <a:prstClr val="black"/>
                                                    </a:solidFill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func>
                                      </m:e>
                                    </m:eqArr>
                                  </m:e>
                                </m:eqAr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func>
                                      <m:funcPr>
                                        <m:ctrl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  <m:brk m:alnAt="7"/>
                                          </m:r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c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os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</m:eqArr>
                              </m:e>
                              <m:e>
                                <m:r>
                                  <a:rPr lang="en-US" altLang="zh-TW" sz="1200" i="1" smtClean="0">
                                    <a:solidFill>
                                      <a:prstClr val="whit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eqArr>
                                  <m:eqArr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func>
                                      <m:funcPr>
                                        <m:ctrlPr>
                                          <a:rPr lang="en-US" altLang="zh-TW" sz="1200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in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</m:eqAr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func>
                                      <m:funcPr>
                                        <m:ctrl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in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  <m:e>
                                <m:r>
                                  <a:rPr lang="en-US" altLang="zh-TW" sz="1200" i="1" smtClean="0">
                                    <a:solidFill>
                                      <a:prstClr val="whit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func>
                                      <m:funcPr>
                                        <m:ctrl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  <m:brk m:alnAt="7"/>
                                          </m:r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c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os</m:t>
                                        </m:r>
                                      </m:fName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TW" altLang="en-US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func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51C76AC-F96B-81DB-067E-B26882411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4048" y="4934972"/>
                <a:ext cx="2376264" cy="15183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1891575" y="1735632"/>
                <a:ext cx="2016225" cy="47667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, 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</m:t>
                      </m:r>
                      <m:f>
                        <m:f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575" y="1735632"/>
                <a:ext cx="2016225" cy="4766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38FAF7A-4BC7-7782-DC2B-6C7548D2FD7D}"/>
                  </a:ext>
                </a:extLst>
              </p:cNvPr>
              <p:cNvSpPr txBox="1"/>
              <p:nvPr/>
            </p:nvSpPr>
            <p:spPr>
              <a:xfrm>
                <a:off x="539552" y="3140968"/>
                <a:ext cx="3672405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ctr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algn="ctr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                      </m:t>
                          </m:r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,…</m:t>
                          </m:r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z-Cyrl-AZ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az-Cyrl-AZ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az-Cyrl-AZ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38FAF7A-4BC7-7782-DC2B-6C7548D2F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140968"/>
                <a:ext cx="3672405" cy="1018760"/>
              </a:xfrm>
              <a:prstGeom prst="rect">
                <a:avLst/>
              </a:prstGeom>
              <a:blipFill>
                <a:blip r:embed="rId5"/>
                <a:stretch>
                  <a:fillRect l="-149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9C3642E-2648-03A6-5317-54E725570A7F}"/>
                  </a:ext>
                </a:extLst>
              </p:cNvPr>
              <p:cNvSpPr txBox="1"/>
              <p:nvPr/>
            </p:nvSpPr>
            <p:spPr>
              <a:xfrm>
                <a:off x="3059832" y="4928993"/>
                <a:ext cx="1872208" cy="1518364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0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brk m:alnAt="7"/>
                                    </m:r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9C3642E-2648-03A6-5317-54E725570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4928993"/>
                <a:ext cx="1872208" cy="15183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C211A094-CFB3-AA5D-95D2-B0C7015D5232}"/>
                  </a:ext>
                </a:extLst>
              </p:cNvPr>
              <p:cNvSpPr txBox="1"/>
              <p:nvPr/>
            </p:nvSpPr>
            <p:spPr>
              <a:xfrm>
                <a:off x="930730" y="4935189"/>
                <a:ext cx="1781018" cy="48535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0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white">
                              <a:lumMod val="50000"/>
                            </a:prst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brk m:alnAt="7"/>
                                    </m:r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C211A094-CFB3-AA5D-95D2-B0C7015D5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730" y="4935189"/>
                <a:ext cx="1781018" cy="485356"/>
              </a:xfrm>
              <a:prstGeom prst="rect">
                <a:avLst/>
              </a:prstGeom>
              <a:blipFill>
                <a:blip r:embed="rId7"/>
                <a:stretch>
                  <a:fillRect l="-20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24EBF6B-75C3-EA74-816C-7AD9E7D12E28}"/>
                  </a:ext>
                </a:extLst>
              </p:cNvPr>
              <p:cNvSpPr txBox="1"/>
              <p:nvPr/>
            </p:nvSpPr>
            <p:spPr>
              <a:xfrm>
                <a:off x="925334" y="5276529"/>
                <a:ext cx="1781018" cy="48535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0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white">
                              <a:lumMod val="50000"/>
                            </a:prst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TW" sz="12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24EBF6B-75C3-EA74-816C-7AD9E7D12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334" y="5276529"/>
                <a:ext cx="1781018" cy="485356"/>
              </a:xfrm>
              <a:prstGeom prst="rect">
                <a:avLst/>
              </a:prstGeom>
              <a:blipFill>
                <a:blip r:embed="rId8"/>
                <a:stretch>
                  <a:fillRect l="-20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83234E5-53A2-2DBE-6921-B3DA763B90F1}"/>
                  </a:ext>
                </a:extLst>
              </p:cNvPr>
              <p:cNvSpPr txBox="1"/>
              <p:nvPr/>
            </p:nvSpPr>
            <p:spPr>
              <a:xfrm>
                <a:off x="1780653" y="6309320"/>
                <a:ext cx="91440" cy="216024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>
                <a:noAutofit/>
              </a:bodyPr>
              <a:lstStyle/>
              <a:p>
                <a:pPr algn="ctr" defTabSz="914400"/>
                <a:r>
                  <a: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⋮</m:t>
                    </m:r>
                  </m:oMath>
                </a14:m>
                <a:endParaRPr lang="en-US" altLang="zh-TW" sz="1200" dirty="0">
                  <a:solidFill>
                    <a:prstClr val="black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83234E5-53A2-2DBE-6921-B3DA763B9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653" y="6309320"/>
                <a:ext cx="91440" cy="216024"/>
              </a:xfrm>
              <a:prstGeom prst="rect">
                <a:avLst/>
              </a:prstGeom>
              <a:blipFill>
                <a:blip r:embed="rId9"/>
                <a:stretch>
                  <a:fillRect l="-13333" r="-4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93809B6D-A856-CD67-745B-5E863DFA90E6}"/>
                  </a:ext>
                </a:extLst>
              </p:cNvPr>
              <p:cNvSpPr txBox="1"/>
              <p:nvPr/>
            </p:nvSpPr>
            <p:spPr>
              <a:xfrm>
                <a:off x="925334" y="5852593"/>
                <a:ext cx="1781018" cy="48535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0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white">
                              <a:lumMod val="50000"/>
                            </a:prst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𝑠𝑖𝑛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𝑐𝑜𝑠</m:t>
                                  </m:r>
                                </m:fName>
                                <m:e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sSub>
                                    <m:sSubPr>
                                      <m:ctrlP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93809B6D-A856-CD67-745B-5E863DFA9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334" y="5852593"/>
                <a:ext cx="1781018" cy="485356"/>
              </a:xfrm>
              <a:prstGeom prst="rect">
                <a:avLst/>
              </a:prstGeom>
              <a:blipFill>
                <a:blip r:embed="rId10"/>
                <a:stretch>
                  <a:fillRect l="-2055" r="-23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09EA2F45-702B-17C1-C010-CAAF56EAD161}"/>
                  </a:ext>
                </a:extLst>
              </p:cNvPr>
              <p:cNvSpPr txBox="1"/>
              <p:nvPr/>
            </p:nvSpPr>
            <p:spPr>
              <a:xfrm>
                <a:off x="1763688" y="5733256"/>
                <a:ext cx="91440" cy="216024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>
                <a:noAutofit/>
              </a:bodyPr>
              <a:lstStyle/>
              <a:p>
                <a:pPr algn="ctr" defTabSz="914400"/>
                <a14:m>
                  <m:oMath xmlns:m="http://schemas.openxmlformats.org/officeDocument/2006/math"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⋮</m:t>
                    </m:r>
                  </m:oMath>
                </a14:m>
                <a:endParaRPr lang="en-US" altLang="zh-TW" sz="1200" dirty="0">
                  <a:solidFill>
                    <a:prstClr val="black"/>
                  </a:solidFill>
                  <a:latin typeface="Calibri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09EA2F45-702B-17C1-C010-CAAF56EAD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3688" y="5733256"/>
                <a:ext cx="91440" cy="216024"/>
              </a:xfrm>
              <a:prstGeom prst="rect">
                <a:avLst/>
              </a:prstGeom>
              <a:blipFill>
                <a:blip r:embed="rId11"/>
                <a:stretch>
                  <a:fillRect l="-20000" r="-6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左大括弧 67">
            <a:extLst>
              <a:ext uri="{FF2B5EF4-FFF2-40B4-BE49-F238E27FC236}">
                <a16:creationId xmlns:a16="http://schemas.microsoft.com/office/drawing/2014/main" id="{9BC0EFBC-BFC6-1121-6261-A400FA847B75}"/>
              </a:ext>
            </a:extLst>
          </p:cNvPr>
          <p:cNvSpPr/>
          <p:nvPr/>
        </p:nvSpPr>
        <p:spPr>
          <a:xfrm rot="16200000">
            <a:off x="3419134" y="1905361"/>
            <a:ext cx="133284" cy="5628834"/>
          </a:xfrm>
          <a:prstGeom prst="leftBrace">
            <a:avLst>
              <a:gd name="adj1" fmla="val 13879"/>
              <a:gd name="adj2" fmla="val 7406"/>
            </a:avLst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48576FDC-4016-262E-49CF-43311C4BECA5}"/>
                  </a:ext>
                </a:extLst>
              </p:cNvPr>
              <p:cNvSpPr txBox="1"/>
              <p:nvPr/>
            </p:nvSpPr>
            <p:spPr>
              <a:xfrm>
                <a:off x="323528" y="2353798"/>
                <a:ext cx="214997" cy="196235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altLang="zh-TW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0" lang="en-US" altLang="zh-TW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kumimoji="0" lang="en-US" altLang="zh-TW" sz="1800" b="0" i="0" u="none" strike="noStrike" kern="0" cap="none" spc="0" normalizeH="0" baseline="-25000" noProof="0" dirty="0">
                  <a:ln>
                    <a:noFill/>
                  </a:ln>
                  <a:solidFill>
                    <a:srgbClr val="4F81BD"/>
                  </a:solidFill>
                  <a:effectLst/>
                  <a:uLnTx/>
                  <a:uFillTx/>
                  <a:latin typeface="STXingkai" panose="020B0503020204020204" pitchFamily="2" charset="-122"/>
                  <a:ea typeface="STXingkai" panose="020B0503020204020204" pitchFamily="2" charset="-122"/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48576FDC-4016-262E-49CF-43311C4BE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353798"/>
                <a:ext cx="214997" cy="196235"/>
              </a:xfrm>
              <a:prstGeom prst="rect">
                <a:avLst/>
              </a:prstGeom>
              <a:blipFill>
                <a:blip r:embed="rId12"/>
                <a:stretch>
                  <a:fillRect l="-31429" r="-11429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左大括弧 69">
            <a:extLst>
              <a:ext uri="{FF2B5EF4-FFF2-40B4-BE49-F238E27FC236}">
                <a16:creationId xmlns:a16="http://schemas.microsoft.com/office/drawing/2014/main" id="{BB9F6C45-4058-E908-91C8-11D656917B70}"/>
              </a:ext>
            </a:extLst>
          </p:cNvPr>
          <p:cNvSpPr/>
          <p:nvPr/>
        </p:nvSpPr>
        <p:spPr>
          <a:xfrm>
            <a:off x="784490" y="5097457"/>
            <a:ext cx="135448" cy="1295665"/>
          </a:xfrm>
          <a:prstGeom prst="leftBrace">
            <a:avLst>
              <a:gd name="adj1" fmla="val 13879"/>
              <a:gd name="adj2" fmla="val 47568"/>
            </a:avLst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01BCC2C4-E393-C086-98CF-D1A9EFDAB41D}"/>
              </a:ext>
            </a:extLst>
          </p:cNvPr>
          <p:cNvGrpSpPr/>
          <p:nvPr/>
        </p:nvGrpSpPr>
        <p:grpSpPr>
          <a:xfrm>
            <a:off x="539552" y="4018020"/>
            <a:ext cx="5715350" cy="539765"/>
            <a:chOff x="2195736" y="2502079"/>
            <a:chExt cx="5715350" cy="5397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7CE032-9F8E-024D-6363-BE1BAD23C73A}"/>
                    </a:ext>
                  </a:extLst>
                </p:cNvPr>
                <p:cNvSpPr txBox="1"/>
                <p:nvPr/>
              </p:nvSpPr>
              <p:spPr>
                <a:xfrm>
                  <a:off x="2195736" y="2502079"/>
                  <a:ext cx="1693176" cy="5397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2E507043-57B8-FE60-7B87-8DA1FE6021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5736" y="2502079"/>
                  <a:ext cx="1693176" cy="53976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字方塊 72">
                  <a:extLst>
                    <a:ext uri="{FF2B5EF4-FFF2-40B4-BE49-F238E27FC236}">
                      <a16:creationId xmlns:a16="http://schemas.microsoft.com/office/drawing/2014/main" id="{F6E63478-18F0-6A75-B792-786B79A32053}"/>
                    </a:ext>
                  </a:extLst>
                </p:cNvPr>
                <p:cNvSpPr txBox="1"/>
                <p:nvPr/>
              </p:nvSpPr>
              <p:spPr>
                <a:xfrm>
                  <a:off x="4067944" y="2502079"/>
                  <a:ext cx="1552651" cy="5397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6CCF481D-D445-2CC3-F70B-BF29361BC9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7944" y="2502079"/>
                  <a:ext cx="1552651" cy="53976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字方塊 73">
                  <a:extLst>
                    <a:ext uri="{FF2B5EF4-FFF2-40B4-BE49-F238E27FC236}">
                      <a16:creationId xmlns:a16="http://schemas.microsoft.com/office/drawing/2014/main" id="{62907125-6B5F-3BB1-5B91-B669238D3375}"/>
                    </a:ext>
                  </a:extLst>
                </p:cNvPr>
                <p:cNvSpPr txBox="1"/>
                <p:nvPr/>
              </p:nvSpPr>
              <p:spPr>
                <a:xfrm>
                  <a:off x="5887766" y="2502079"/>
                  <a:ext cx="1792440" cy="5397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DB0A07EF-8C6D-421E-750F-D9F271AB6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7766" y="2502079"/>
                  <a:ext cx="1792440" cy="539765"/>
                </a:xfrm>
                <a:prstGeom prst="rect">
                  <a:avLst/>
                </a:prstGeom>
                <a:blipFill>
                  <a:blip r:embed="rId17"/>
                  <a:stretch>
                    <a:fillRect b="-11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036DD539-101B-576F-18DE-6A3DCB387A15}"/>
                    </a:ext>
                  </a:extLst>
                </p:cNvPr>
                <p:cNvSpPr txBox="1"/>
                <p:nvPr/>
              </p:nvSpPr>
              <p:spPr>
                <a:xfrm>
                  <a:off x="3906625" y="2660357"/>
                  <a:ext cx="21148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1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az-Cyrl-AZ" altLang="zh-TW" sz="1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ꚛ</m:t>
                        </m:r>
                      </m:oMath>
                    </m:oMathPara>
                  </a14:m>
                  <a:endParaRPr lang="zh-TW" altLang="en-US" sz="14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87104EDB-3AA3-9E42-67EE-AB4142DBF3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625" y="2660357"/>
                  <a:ext cx="211482" cy="307777"/>
                </a:xfrm>
                <a:prstGeom prst="rect">
                  <a:avLst/>
                </a:prstGeom>
                <a:blipFill>
                  <a:blip r:embed="rId18"/>
                  <a:stretch>
                    <a:fillRect l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9A3570A0-642C-0B06-4610-EC7E671E922F}"/>
                    </a:ext>
                  </a:extLst>
                </p:cNvPr>
                <p:cNvSpPr txBox="1"/>
                <p:nvPr/>
              </p:nvSpPr>
              <p:spPr>
                <a:xfrm>
                  <a:off x="5600284" y="2660357"/>
                  <a:ext cx="283490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1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az-Cyrl-AZ" altLang="zh-TW" sz="1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r>
                        <a:rPr lang="zh-TW" altLang="en-US" sz="1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TW" sz="1400" dirty="0">
                      <a:solidFill>
                        <a:prstClr val="black"/>
                      </a:solidFill>
                      <a:latin typeface="Calibri"/>
                    </a:rPr>
                    <a:t>…</a:t>
                  </a:r>
                  <a:endParaRPr lang="zh-TW" altLang="en-US" sz="14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7F23FC21-3B90-5E5B-3F64-0847FB4CB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0284" y="2660357"/>
                  <a:ext cx="283490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14894" t="-1961" r="-34043" b="-196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BDAEC88B-A6DB-8BF7-EA3C-9C2C3ACD672D}"/>
                    </a:ext>
                  </a:extLst>
                </p:cNvPr>
                <p:cNvSpPr txBox="1"/>
                <p:nvPr/>
              </p:nvSpPr>
              <p:spPr>
                <a:xfrm>
                  <a:off x="7627596" y="2660357"/>
                  <a:ext cx="283490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1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az-Cyrl-AZ" altLang="zh-TW" sz="1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r>
                        <a:rPr lang="zh-TW" altLang="en-US" sz="1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TW" sz="1400" dirty="0">
                      <a:solidFill>
                        <a:prstClr val="black"/>
                      </a:solidFill>
                      <a:latin typeface="Calibri"/>
                    </a:rPr>
                    <a:t>…</a:t>
                  </a:r>
                  <a:endParaRPr lang="zh-TW" altLang="en-US" sz="14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CC116A41-F6DB-0BA0-76A7-74952D593C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7596" y="2660357"/>
                  <a:ext cx="283490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15217" t="-1961" r="-36957" b="-196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2"/>
            <a:endCxn id="53" idx="1"/>
          </p:cNvCxnSpPr>
          <p:nvPr/>
        </p:nvCxnSpPr>
        <p:spPr>
          <a:xfrm>
            <a:off x="717029" y="2507931"/>
            <a:ext cx="743907" cy="1356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矩形: 圓角 78">
                <a:extLst>
                  <a:ext uri="{FF2B5EF4-FFF2-40B4-BE49-F238E27FC236}">
                    <a16:creationId xmlns:a16="http://schemas.microsoft.com/office/drawing/2014/main" id="{0B7A772A-E021-96DD-E893-F9FE8769923B}"/>
                  </a:ext>
                </a:extLst>
              </p:cNvPr>
              <p:cNvSpPr/>
              <p:nvPr/>
            </p:nvSpPr>
            <p:spPr>
              <a:xfrm>
                <a:off x="1835696" y="3557386"/>
                <a:ext cx="648072" cy="201657"/>
              </a:xfrm>
              <a:prstGeom prst="roundRect">
                <a:avLst/>
              </a:prstGeom>
              <a:solidFill>
                <a:sysClr val="window" lastClr="FFFFFF">
                  <a:lumMod val="75000"/>
                  <a:alpha val="40000"/>
                </a:sysClr>
              </a:solidFill>
              <a:ln w="12700" cap="flat" cmpd="sng" algn="ctr">
                <a:solidFill>
                  <a:sysClr val="windowText" lastClr="000000">
                    <a:lumMod val="50000"/>
                    <a:lumOff val="50000"/>
                  </a:sysClr>
                </a:solidFill>
                <a:prstDash val="sysDash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𝑣</m:t>
                          </m:r>
                        </m:e>
                        <m:sub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2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𝑣</m:t>
                          </m:r>
                        </m:e>
                        <m:sub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2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kumimoji="0" lang="zh-TW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9" name="矩形: 圓角 78">
                <a:extLst>
                  <a:ext uri="{FF2B5EF4-FFF2-40B4-BE49-F238E27FC236}">
                    <a16:creationId xmlns:a16="http://schemas.microsoft.com/office/drawing/2014/main" id="{0B7A772A-E021-96DD-E893-F9FE876992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696" y="3557386"/>
                <a:ext cx="648072" cy="201657"/>
              </a:xfrm>
              <a:prstGeom prst="roundRect">
                <a:avLst/>
              </a:prstGeom>
              <a:blipFill>
                <a:blip r:embed="rId20"/>
                <a:stretch>
                  <a:fillRect l="-3704" b="-5714"/>
                </a:stretch>
              </a:blipFill>
              <a:ln w="12700" cap="flat" cmpd="sng" algn="ctr">
                <a:solidFill>
                  <a:sysClr val="windowText" lastClr="000000">
                    <a:lumMod val="50000"/>
                    <a:lumOff val="50000"/>
                  </a:sysClr>
                </a:solidFill>
                <a:prstDash val="sysDash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矩形 79">
            <a:extLst>
              <a:ext uri="{FF2B5EF4-FFF2-40B4-BE49-F238E27FC236}">
                <a16:creationId xmlns:a16="http://schemas.microsoft.com/office/drawing/2014/main" id="{FB270C6C-4764-6F01-33B2-178B8A13C8C8}"/>
              </a:ext>
            </a:extLst>
          </p:cNvPr>
          <p:cNvSpPr/>
          <p:nvPr/>
        </p:nvSpPr>
        <p:spPr>
          <a:xfrm>
            <a:off x="1459527" y="1339707"/>
            <a:ext cx="161836" cy="216022"/>
          </a:xfrm>
          <a:prstGeom prst="rect">
            <a:avLst/>
          </a:prstGeom>
          <a:noFill/>
          <a:ln w="3175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i</a:t>
            </a:r>
          </a:p>
        </p:txBody>
      </p: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203416" y="1050094"/>
            <a:ext cx="143930" cy="1083129"/>
          </a:xfrm>
          <a:prstGeom prst="leftBrace">
            <a:avLst>
              <a:gd name="adj1" fmla="val 8333"/>
              <a:gd name="adj2" fmla="val 21426"/>
            </a:avLst>
          </a:prstGeom>
          <a:noFill/>
          <a:ln w="9525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AA5B0D1-50D6-0791-8EA4-104F8DB8703A}"/>
              </a:ext>
            </a:extLst>
          </p:cNvPr>
          <p:cNvSpPr/>
          <p:nvPr/>
        </p:nvSpPr>
        <p:spPr>
          <a:xfrm>
            <a:off x="883463" y="1089456"/>
            <a:ext cx="1353050" cy="286136"/>
          </a:xfrm>
          <a:prstGeom prst="rect">
            <a:avLst/>
          </a:prstGeom>
          <a:noFill/>
          <a:ln w="3175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0 1</a:t>
            </a:r>
            <a:r>
              <a: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   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TXingkai" panose="02010800040101010101" pitchFamily="2" charset="-122"/>
                <a:ea typeface="STXingkai" panose="02010800040101010101" pitchFamily="2" charset="-122"/>
                <a:cs typeface="+mn-cs"/>
              </a:rPr>
              <a:t>i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… d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/2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-1</a:t>
            </a: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stCxn id="53" idx="3"/>
            <a:endCxn id="79" idx="0"/>
          </p:cNvCxnSpPr>
          <p:nvPr/>
        </p:nvCxnSpPr>
        <p:spPr>
          <a:xfrm>
            <a:off x="1675551" y="2509287"/>
            <a:ext cx="484181" cy="1048099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cxnSp>
        <p:nvCxnSpPr>
          <p:cNvPr id="84" name="接點: 弧形 83">
            <a:extLst>
              <a:ext uri="{FF2B5EF4-FFF2-40B4-BE49-F238E27FC236}">
                <a16:creationId xmlns:a16="http://schemas.microsoft.com/office/drawing/2014/main" id="{DD45BD64-6273-24A1-9A3D-CCBC0407C958}"/>
              </a:ext>
            </a:extLst>
          </p:cNvPr>
          <p:cNvCxnSpPr>
            <a:cxnSpLocks/>
            <a:stCxn id="79" idx="3"/>
            <a:endCxn id="74" idx="0"/>
          </p:cNvCxnSpPr>
          <p:nvPr/>
        </p:nvCxnSpPr>
        <p:spPr>
          <a:xfrm>
            <a:off x="2483768" y="3658215"/>
            <a:ext cx="2644034" cy="359805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85" name="局部圓 84">
            <a:extLst>
              <a:ext uri="{FF2B5EF4-FFF2-40B4-BE49-F238E27FC236}">
                <a16:creationId xmlns:a16="http://schemas.microsoft.com/office/drawing/2014/main" id="{C6CD428F-B2F6-A928-0DBE-6A9A1C2ECB8A}"/>
              </a:ext>
            </a:extLst>
          </p:cNvPr>
          <p:cNvSpPr/>
          <p:nvPr/>
        </p:nvSpPr>
        <p:spPr>
          <a:xfrm>
            <a:off x="3779912" y="2859805"/>
            <a:ext cx="1409161" cy="1344172"/>
          </a:xfrm>
          <a:prstGeom prst="pie">
            <a:avLst>
              <a:gd name="adj1" fmla="val 17363646"/>
              <a:gd name="adj2" fmla="val 19855348"/>
            </a:avLst>
          </a:prstGeom>
          <a:solidFill>
            <a:srgbClr val="C0504D">
              <a:lumMod val="20000"/>
              <a:lumOff val="80000"/>
              <a:alpha val="70000"/>
            </a:srgbClr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D0FBCDB7-5085-CB2F-D2D9-6F3C082F63DB}"/>
              </a:ext>
            </a:extLst>
          </p:cNvPr>
          <p:cNvCxnSpPr/>
          <p:nvPr/>
        </p:nvCxnSpPr>
        <p:spPr>
          <a:xfrm flipV="1">
            <a:off x="4473744" y="2472114"/>
            <a:ext cx="0" cy="126646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345C2EA0-9244-7BF6-DE37-475D078F99EB}"/>
              </a:ext>
            </a:extLst>
          </p:cNvPr>
          <p:cNvCxnSpPr>
            <a:cxnSpLocks/>
          </p:cNvCxnSpPr>
          <p:nvPr/>
        </p:nvCxnSpPr>
        <p:spPr>
          <a:xfrm>
            <a:off x="4226176" y="3520962"/>
            <a:ext cx="103443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tailEnd type="triangle"/>
          </a:ln>
          <a:effectLst/>
        </p:spPr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BAFFA66A-29AA-5D5F-4F8A-2576480B362D}"/>
              </a:ext>
            </a:extLst>
          </p:cNvPr>
          <p:cNvCxnSpPr/>
          <p:nvPr/>
        </p:nvCxnSpPr>
        <p:spPr>
          <a:xfrm flipV="1">
            <a:off x="4483269" y="2882415"/>
            <a:ext cx="572263" cy="627738"/>
          </a:xfrm>
          <a:prstGeom prst="straightConnector1">
            <a:avLst/>
          </a:prstGeom>
          <a:noFill/>
          <a:ln w="952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 w="med" len="lg"/>
          </a:ln>
          <a:effectLst/>
        </p:spPr>
      </p:cxn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10C6A10A-2B1F-D515-156E-BE493B5750A0}"/>
              </a:ext>
            </a:extLst>
          </p:cNvPr>
          <p:cNvCxnSpPr>
            <a:cxnSpLocks/>
          </p:cNvCxnSpPr>
          <p:nvPr/>
        </p:nvCxnSpPr>
        <p:spPr>
          <a:xfrm flipV="1">
            <a:off x="4473744" y="2722234"/>
            <a:ext cx="302150" cy="797832"/>
          </a:xfrm>
          <a:prstGeom prst="line">
            <a:avLst/>
          </a:prstGeom>
          <a:noFill/>
          <a:ln w="9525" cap="flat" cmpd="sng" algn="ctr">
            <a:solidFill>
              <a:srgbClr val="C0504D">
                <a:lumMod val="40000"/>
                <a:lumOff val="60000"/>
              </a:srgbClr>
            </a:solidFill>
            <a:prstDash val="dash"/>
          </a:ln>
          <a:effectLst/>
        </p:spPr>
      </p:cxnSp>
      <p:cxnSp>
        <p:nvCxnSpPr>
          <p:cNvPr id="90" name="直線接點 89">
            <a:extLst>
              <a:ext uri="{FF2B5EF4-FFF2-40B4-BE49-F238E27FC236}">
                <a16:creationId xmlns:a16="http://schemas.microsoft.com/office/drawing/2014/main" id="{FF4A2F32-3FCF-137D-F62E-B7CC3E3419DE}"/>
              </a:ext>
            </a:extLst>
          </p:cNvPr>
          <p:cNvCxnSpPr>
            <a:cxnSpLocks/>
          </p:cNvCxnSpPr>
          <p:nvPr/>
        </p:nvCxnSpPr>
        <p:spPr>
          <a:xfrm flipV="1">
            <a:off x="4483266" y="3076644"/>
            <a:ext cx="786864" cy="455247"/>
          </a:xfrm>
          <a:prstGeom prst="line">
            <a:avLst/>
          </a:prstGeom>
          <a:noFill/>
          <a:ln w="9525" cap="flat" cmpd="sng" algn="ctr">
            <a:solidFill>
              <a:srgbClr val="C0504D">
                <a:lumMod val="40000"/>
                <a:lumOff val="60000"/>
              </a:srgbClr>
            </a:solidFill>
            <a:prstDash val="dash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2921B102-36C0-62B7-CDAB-2532A5850233}"/>
                  </a:ext>
                </a:extLst>
              </p:cNvPr>
              <p:cNvSpPr txBox="1"/>
              <p:nvPr/>
            </p:nvSpPr>
            <p:spPr>
              <a:xfrm>
                <a:off x="4808446" y="3068960"/>
                <a:ext cx="69972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zh-TW" altLang="en-US" sz="16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zh-TW" alt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sz="16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2921B102-36C0-62B7-CDAB-2532A58502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8446" y="3068960"/>
                <a:ext cx="69972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48800" y="2555612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8800" y="2555612"/>
                <a:ext cx="271272" cy="369332"/>
              </a:xfrm>
              <a:prstGeom prst="rect">
                <a:avLst/>
              </a:prstGeom>
              <a:blipFill>
                <a:blip r:embed="rId22"/>
                <a:stretch>
                  <a:fillRect l="-6818" t="-49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弧形 92">
            <a:extLst>
              <a:ext uri="{FF2B5EF4-FFF2-40B4-BE49-F238E27FC236}">
                <a16:creationId xmlns:a16="http://schemas.microsoft.com/office/drawing/2014/main" id="{4941D9EB-0827-5D7E-0E4D-3E3329E75BDA}"/>
              </a:ext>
            </a:extLst>
          </p:cNvPr>
          <p:cNvSpPr/>
          <p:nvPr/>
        </p:nvSpPr>
        <p:spPr>
          <a:xfrm>
            <a:off x="4556444" y="3272028"/>
            <a:ext cx="353745" cy="421056"/>
          </a:xfrm>
          <a:prstGeom prst="arc">
            <a:avLst>
              <a:gd name="adj1" fmla="val 16200000"/>
              <a:gd name="adj2" fmla="val 20363557"/>
            </a:avLst>
          </a:prstGeom>
          <a:noFill/>
          <a:ln w="952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4" name="直線單箭頭接點 93">
            <a:extLst>
              <a:ext uri="{FF2B5EF4-FFF2-40B4-BE49-F238E27FC236}">
                <a16:creationId xmlns:a16="http://schemas.microsoft.com/office/drawing/2014/main" id="{09BDE4F4-F313-8D1F-8637-3AC373DE3E1D}"/>
              </a:ext>
            </a:extLst>
          </p:cNvPr>
          <p:cNvCxnSpPr>
            <a:cxnSpLocks/>
          </p:cNvCxnSpPr>
          <p:nvPr/>
        </p:nvCxnSpPr>
        <p:spPr>
          <a:xfrm flipV="1">
            <a:off x="4472586" y="3438292"/>
            <a:ext cx="694090" cy="93599"/>
          </a:xfrm>
          <a:prstGeom prst="straightConnector1">
            <a:avLst/>
          </a:prstGeom>
          <a:noFill/>
          <a:ln w="952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 w="med" len="lg"/>
          </a:ln>
          <a:effectLst/>
        </p:spPr>
      </p:cxnSp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6569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6525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p:pic>
        <p:nvPicPr>
          <p:cNvPr id="84" name="圖片 83">
            <a:extLst>
              <a:ext uri="{FF2B5EF4-FFF2-40B4-BE49-F238E27FC236}">
                <a16:creationId xmlns:a16="http://schemas.microsoft.com/office/drawing/2014/main" id="{35095C3B-4DBB-69F6-D3DA-91CA6C5B9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844" y="1146853"/>
            <a:ext cx="3067282" cy="16122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907704" y="5812536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7704" y="5812536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4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584634"/>
                <a:ext cx="4076197" cy="11486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i="1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584634"/>
                <a:ext cx="4076197" cy="1148622"/>
              </a:xfrm>
              <a:prstGeom prst="rect">
                <a:avLst/>
              </a:prstGeom>
              <a:blipFill>
                <a:blip r:embed="rId5"/>
                <a:stretch>
                  <a:fillRect l="-2242" b="-5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82680" y="98979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64694" y="4149080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153762" y="3223386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762" y="3223386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" name="矩形 119">
            <a:extLst>
              <a:ext uri="{FF2B5EF4-FFF2-40B4-BE49-F238E27FC236}">
                <a16:creationId xmlns:a16="http://schemas.microsoft.com/office/drawing/2014/main" id="{BE60204A-4B6A-BD3F-CBE9-D146E105750A}"/>
              </a:ext>
            </a:extLst>
          </p:cNvPr>
          <p:cNvSpPr/>
          <p:nvPr/>
        </p:nvSpPr>
        <p:spPr>
          <a:xfrm>
            <a:off x="4355973" y="547690"/>
            <a:ext cx="1153109" cy="793196"/>
          </a:xfrm>
          <a:prstGeom prst="rect">
            <a:avLst/>
          </a:prstGeom>
          <a:noFill/>
          <a:ln w="381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K</a:t>
            </a:r>
            <a:r>
              <a:rPr kumimoji="0" lang="en-US" altLang="zh-TW" sz="1400" b="0" i="0" u="none" strike="noStrike" kern="0" cap="none" spc="0" normalizeH="0" baseline="8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T</a:t>
            </a:r>
          </a:p>
        </p:txBody>
      </p:sp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19529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83768" y="1789888"/>
            <a:ext cx="504056" cy="313929"/>
          </a:xfrm>
          <a:prstGeom prst="rect">
            <a:avLst/>
          </a:prstGeom>
          <a:solidFill>
            <a:srgbClr val="FF99CC">
              <a:alpha val="40000"/>
            </a:srgb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6649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46768" y="2169728"/>
            <a:ext cx="539695" cy="298931"/>
          </a:xfrm>
          <a:prstGeom prst="rect">
            <a:avLst/>
          </a:prstGeom>
          <a:solidFill>
            <a:schemeClr val="tx2">
              <a:lumMod val="10000"/>
              <a:lumOff val="90000"/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47F76B1D-22BD-5222-7302-A45BAA293DB8}"/>
              </a:ext>
            </a:extLst>
          </p:cNvPr>
          <p:cNvSpPr/>
          <p:nvPr/>
        </p:nvSpPr>
        <p:spPr>
          <a:xfrm>
            <a:off x="677937" y="1665005"/>
            <a:ext cx="1083130" cy="1153107"/>
          </a:xfrm>
          <a:prstGeom prst="rect">
            <a:avLst/>
          </a:prstGeom>
          <a:noFill/>
          <a:ln w="381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292565" y="1448898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520265" y="1661358"/>
            <a:ext cx="156542" cy="1017009"/>
          </a:xfrm>
          <a:prstGeom prst="leftBrace">
            <a:avLst>
              <a:gd name="adj1" fmla="val 8333"/>
              <a:gd name="adj2" fmla="val 91608"/>
            </a:avLst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682461" y="1952954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343180" y="1688229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516108" y="1664922"/>
            <a:ext cx="166354" cy="288032"/>
          </a:xfrm>
          <a:prstGeom prst="leftBrac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209359" y="1257258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020584" y="1178261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83568" y="2678367"/>
            <a:ext cx="607876" cy="0"/>
          </a:xfrm>
          <a:prstGeom prst="line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矩形 151">
            <a:extLst>
              <a:ext uri="{FF2B5EF4-FFF2-40B4-BE49-F238E27FC236}">
                <a16:creationId xmlns:a16="http://schemas.microsoft.com/office/drawing/2014/main" id="{F7ABF044-43FF-B5F3-5A64-F0691AC5D191}"/>
              </a:ext>
            </a:extLst>
          </p:cNvPr>
          <p:cNvSpPr/>
          <p:nvPr/>
        </p:nvSpPr>
        <p:spPr>
          <a:xfrm>
            <a:off x="1169098" y="2555462"/>
            <a:ext cx="258617" cy="217575"/>
          </a:xfrm>
          <a:prstGeom prst="rect">
            <a:avLst/>
          </a:prstGeom>
          <a:solidFill>
            <a:schemeClr val="tx2">
              <a:lumMod val="10000"/>
              <a:lumOff val="90000"/>
              <a:alpha val="7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(k)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54271" y="260102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</a:rPr>
              <a:t>n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0467BADF-D7AA-8DB1-A04B-23E7A0A73B75}"/>
              </a:ext>
            </a:extLst>
          </p:cNvPr>
          <p:cNvSpPr/>
          <p:nvPr/>
        </p:nvSpPr>
        <p:spPr>
          <a:xfrm>
            <a:off x="1169098" y="1808938"/>
            <a:ext cx="258617" cy="235948"/>
          </a:xfrm>
          <a:prstGeom prst="rect">
            <a:avLst/>
          </a:prstGeom>
          <a:solidFill>
            <a:srgbClr val="C0504D">
              <a:lumMod val="20000"/>
              <a:lumOff val="80000"/>
              <a:alpha val="70000"/>
            </a:srgbClr>
          </a:solidFill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F66CC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(q)</a:t>
            </a: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rgbClr val="FF66CC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551230" y="2826034"/>
            <a:ext cx="1016966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2126094"/>
            <a:ext cx="1598892" cy="3055568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3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7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800371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B7A4E6F-EC5A-4C2B-24A5-6EC95945E4A6}"/>
              </a:ext>
            </a:extLst>
          </p:cNvPr>
          <p:cNvCxnSpPr>
            <a:cxnSpLocks/>
            <a:stCxn id="86" idx="2"/>
            <a:endCxn id="84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F8C568B-B032-1D69-D877-4B1B8E063DE9}"/>
              </a:ext>
            </a:extLst>
          </p:cNvPr>
          <p:cNvSpPr txBox="1"/>
          <p:nvPr/>
        </p:nvSpPr>
        <p:spPr>
          <a:xfrm>
            <a:off x="179510" y="5889466"/>
            <a:ext cx="8784976" cy="707886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Next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Gemma 4 + Gemini Diffusion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: Generate sequentially 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sym typeface="Wingdings" panose="05000000000000000000" pitchFamily="2" charset="2"/>
              </a:rPr>
              <a:t>  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</a:rPr>
              <a:t>Parallel block refinement. 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6C2AE5E1-8F0E-AB2C-1A0B-0CDBA9F106FA}"/>
              </a:ext>
            </a:extLst>
          </p:cNvPr>
          <p:cNvSpPr txBox="1"/>
          <p:nvPr/>
        </p:nvSpPr>
        <p:spPr>
          <a:xfrm>
            <a:off x="4922168" y="6340961"/>
            <a:ext cx="153888" cy="184666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endParaRPr lang="zh-TW" altLang="en-US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78" name="圖形 77" descr="藍圖 以實心填滿">
            <a:extLst>
              <a:ext uri="{FF2B5EF4-FFF2-40B4-BE49-F238E27FC236}">
                <a16:creationId xmlns:a16="http://schemas.microsoft.com/office/drawing/2014/main" id="{5E571471-0501-3E72-51D8-E0578664B6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0152" y="5877272"/>
            <a:ext cx="432048" cy="432048"/>
          </a:xfrm>
          <a:prstGeom prst="rect">
            <a:avLst/>
          </a:prstGeom>
        </p:spPr>
      </p:pic>
      <p:pic>
        <p:nvPicPr>
          <p:cNvPr id="79" name="圖形 78" descr="打字機 外框">
            <a:extLst>
              <a:ext uri="{FF2B5EF4-FFF2-40B4-BE49-F238E27FC236}">
                <a16:creationId xmlns:a16="http://schemas.microsoft.com/office/drawing/2014/main" id="{D029842D-657A-6C19-926D-527F9642DD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9912" y="5889466"/>
            <a:ext cx="432048" cy="432048"/>
          </a:xfrm>
          <a:prstGeom prst="rect">
            <a:avLst/>
          </a:prstGeom>
        </p:spPr>
      </p:pic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5372430"/>
              </p:ext>
            </p:extLst>
          </p:nvPr>
        </p:nvGraphicFramePr>
        <p:xfrm>
          <a:off x="446679" y="5769446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810821"/>
              </p:ext>
            </p:extLst>
          </p:nvPr>
        </p:nvGraphicFramePr>
        <p:xfrm>
          <a:off x="446679" y="5085184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16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/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/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/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/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/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/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/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/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/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/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3010438F-8853-8ADB-69C4-2FBF7878510A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6B887460-B07B-A8B3-FD1A-F98E8609534F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/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/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/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4406953" y="4233895"/>
            <a:ext cx="92261" cy="2264998"/>
          </a:xfrm>
          <a:prstGeom prst="rightBrace">
            <a:avLst>
              <a:gd name="adj1" fmla="val 19145"/>
              <a:gd name="adj2" fmla="val 50440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/>
              </a:rPr>
              <a:t>Agent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Text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A055B43-7964-9E9D-424B-724FBBA1FC78}"/>
              </a:ext>
            </a:extLst>
          </p:cNvPr>
          <p:cNvSpPr txBox="1"/>
          <p:nvPr/>
        </p:nvSpPr>
        <p:spPr>
          <a:xfrm>
            <a:off x="8460432" y="6608230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$0.05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7980" y="2396734"/>
            <a:ext cx="1184904" cy="528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74E382E-8463-3FA5-C6AE-27688864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6" y="1526047"/>
            <a:ext cx="4770416" cy="44081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90169FB-75A6-2D94-5957-D0CCC655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113" y="3123411"/>
            <a:ext cx="3379206" cy="1334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07AF6-603A-629B-A06B-2CD59422F789}"/>
              </a:ext>
            </a:extLst>
          </p:cNvPr>
          <p:cNvSpPr/>
          <p:nvPr/>
        </p:nvSpPr>
        <p:spPr>
          <a:xfrm>
            <a:off x="1093866" y="2299698"/>
            <a:ext cx="2811213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C7F387-EE91-5D4B-E5AC-0E1E77536445}"/>
              </a:ext>
            </a:extLst>
          </p:cNvPr>
          <p:cNvSpPr/>
          <p:nvPr/>
        </p:nvSpPr>
        <p:spPr>
          <a:xfrm>
            <a:off x="1091173" y="1980201"/>
            <a:ext cx="4461299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6754D68A-EB7F-2542-2C66-96A76E5D917E}"/>
              </a:ext>
            </a:extLst>
          </p:cNvPr>
          <p:cNvCxnSpPr>
            <a:cxnSpLocks/>
            <a:stCxn id="6" idx="1"/>
            <a:endCxn id="15" idx="1"/>
          </p:cNvCxnSpPr>
          <p:nvPr/>
        </p:nvCxnSpPr>
        <p:spPr>
          <a:xfrm rot="10800000" flipV="1">
            <a:off x="858692" y="2121895"/>
            <a:ext cx="232483" cy="2835586"/>
          </a:xfrm>
          <a:prstGeom prst="bentConnector3">
            <a:avLst>
              <a:gd name="adj1" fmla="val 17374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4154CAD-822E-9E5F-F445-E88460BEDF4E}"/>
              </a:ext>
            </a:extLst>
          </p:cNvPr>
          <p:cNvSpPr/>
          <p:nvPr/>
        </p:nvSpPr>
        <p:spPr>
          <a:xfrm>
            <a:off x="858691" y="3980809"/>
            <a:ext cx="4610420" cy="195334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F2C084-1F28-FEEC-1632-B2048A615545}"/>
              </a:ext>
            </a:extLst>
          </p:cNvPr>
          <p:cNvSpPr/>
          <p:nvPr/>
        </p:nvSpPr>
        <p:spPr>
          <a:xfrm>
            <a:off x="1166817" y="3247351"/>
            <a:ext cx="3905836" cy="40241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8C543-AF30-55F2-D518-30A35928F329}"/>
              </a:ext>
            </a:extLst>
          </p:cNvPr>
          <p:cNvSpPr/>
          <p:nvPr/>
        </p:nvSpPr>
        <p:spPr>
          <a:xfrm>
            <a:off x="5824057" y="3623554"/>
            <a:ext cx="3183263" cy="521282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3FF24D6-C98B-AED6-E8B3-C355AE7C4946}"/>
              </a:ext>
            </a:extLst>
          </p:cNvPr>
          <p:cNvSpPr txBox="1"/>
          <p:nvPr/>
        </p:nvSpPr>
        <p:spPr>
          <a:xfrm>
            <a:off x="247843" y="1316969"/>
            <a:ext cx="52709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傳出使用者的問話（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）包含工具的資訊給大模型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7EC669B-7AE9-2B92-0DD9-2197E6373F03}"/>
              </a:ext>
            </a:extLst>
          </p:cNvPr>
          <p:cNvSpPr txBox="1"/>
          <p:nvPr/>
        </p:nvSpPr>
        <p:spPr>
          <a:xfrm>
            <a:off x="321382" y="906789"/>
            <a:ext cx="25651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Agent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如何操作工具（</a:t>
            </a:r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具體實例）</a:t>
            </a:r>
            <a:endParaRPr lang="zh-TW" altLang="en-US" sz="900" dirty="0">
              <a:solidFill>
                <a:schemeClr val="accent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5473FF9-5F65-496C-3E4D-6739B7ACC249}"/>
              </a:ext>
            </a:extLst>
          </p:cNvPr>
          <p:cNvSpPr txBox="1"/>
          <p:nvPr/>
        </p:nvSpPr>
        <p:spPr>
          <a:xfrm>
            <a:off x="2945361" y="4263294"/>
            <a:ext cx="1627369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系統提示詞中也有工具的使用提示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41F81F-5AC4-0B8A-5FA4-F469FCBDE7ED}"/>
              </a:ext>
            </a:extLst>
          </p:cNvPr>
          <p:cNvSpPr/>
          <p:nvPr/>
        </p:nvSpPr>
        <p:spPr>
          <a:xfrm>
            <a:off x="929514" y="4450616"/>
            <a:ext cx="3865418" cy="10594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0A6F5C07-5BDE-1968-4F1C-A6163A18180A}"/>
              </a:ext>
            </a:extLst>
          </p:cNvPr>
          <p:cNvSpPr txBox="1"/>
          <p:nvPr/>
        </p:nvSpPr>
        <p:spPr>
          <a:xfrm>
            <a:off x="2814048" y="3325125"/>
            <a:ext cx="1106393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有工具的使用説明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19F0917-D6D2-0663-28D0-87F98AF03E1A}"/>
              </a:ext>
            </a:extLst>
          </p:cNvPr>
          <p:cNvSpPr txBox="1"/>
          <p:nvPr/>
        </p:nvSpPr>
        <p:spPr>
          <a:xfrm>
            <a:off x="5809130" y="1789052"/>
            <a:ext cx="30492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收到大模型要求執行工具調用，本地執行這個工具指令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99635CC-FB5F-D773-BB77-E2A84660D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272" y="934820"/>
            <a:ext cx="2014380" cy="358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5E224571-6F7C-786B-B247-433971A9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186" y="2121895"/>
            <a:ext cx="3488703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8" name="文字方塊 47">
            <a:extLst>
              <a:ext uri="{FF2B5EF4-FFF2-40B4-BE49-F238E27FC236}">
                <a16:creationId xmlns:a16="http://schemas.microsoft.com/office/drawing/2014/main" id="{D323B715-0111-E94B-9337-93E4D794CF1E}"/>
              </a:ext>
            </a:extLst>
          </p:cNvPr>
          <p:cNvSpPr txBox="1"/>
          <p:nvPr/>
        </p:nvSpPr>
        <p:spPr>
          <a:xfrm>
            <a:off x="3862664" y="2356299"/>
            <a:ext cx="744114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2F09A1-E287-B0DF-2A9D-D0B4BD7C336A}"/>
              </a:ext>
            </a:extLst>
          </p:cNvPr>
          <p:cNvSpPr txBox="1"/>
          <p:nvPr/>
        </p:nvSpPr>
        <p:spPr>
          <a:xfrm>
            <a:off x="3446766" y="1794207"/>
            <a:ext cx="867545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524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856B6AA2-2CF4-DEEE-F773-18D1F3B9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3" y="2627209"/>
            <a:ext cx="4663905" cy="3181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39014E0-7321-A89C-6FF8-1E27C5ABD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07" y="3429001"/>
            <a:ext cx="3894900" cy="615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14DD395C-3F44-7ADF-58F1-CEF8AC2ECA22}"/>
              </a:ext>
            </a:extLst>
          </p:cNvPr>
          <p:cNvSpPr txBox="1"/>
          <p:nvPr/>
        </p:nvSpPr>
        <p:spPr>
          <a:xfrm>
            <a:off x="391945" y="1011600"/>
            <a:ext cx="25074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3.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傳出歷史記錄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工具執行的結果給大模型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B4FDFE-4508-79C3-B679-B1C07E9802C0}"/>
              </a:ext>
            </a:extLst>
          </p:cNvPr>
          <p:cNvSpPr/>
          <p:nvPr/>
        </p:nvSpPr>
        <p:spPr>
          <a:xfrm>
            <a:off x="368475" y="4090928"/>
            <a:ext cx="4514483" cy="16712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ED081B-26E6-2AE6-20BF-EE441A86696D}"/>
              </a:ext>
            </a:extLst>
          </p:cNvPr>
          <p:cNvSpPr/>
          <p:nvPr/>
        </p:nvSpPr>
        <p:spPr>
          <a:xfrm>
            <a:off x="368475" y="4712751"/>
            <a:ext cx="1901738" cy="1176241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9819C47E-C4F2-31B0-EC48-456E95AB83F6}"/>
              </a:ext>
            </a:extLst>
          </p:cNvPr>
          <p:cNvCxnSpPr>
            <a:cxnSpLocks/>
            <a:stCxn id="12" idx="1"/>
            <a:endCxn id="18" idx="1"/>
          </p:cNvCxnSpPr>
          <p:nvPr/>
        </p:nvCxnSpPr>
        <p:spPr>
          <a:xfrm rot="10800000" flipV="1">
            <a:off x="368474" y="4174492"/>
            <a:ext cx="9525" cy="1126379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7B9993-F344-4E09-33FE-02603F8D4814}"/>
              </a:ext>
            </a:extLst>
          </p:cNvPr>
          <p:cNvSpPr txBox="1"/>
          <p:nvPr/>
        </p:nvSpPr>
        <p:spPr>
          <a:xfrm>
            <a:off x="5454386" y="1392913"/>
            <a:ext cx="1433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收到大模型最後的回答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93D411A-A3F0-8EA7-33DA-7D7C47F26E44}"/>
              </a:ext>
            </a:extLst>
          </p:cNvPr>
          <p:cNvSpPr/>
          <p:nvPr/>
        </p:nvSpPr>
        <p:spPr>
          <a:xfrm>
            <a:off x="5306845" y="3774343"/>
            <a:ext cx="3758393" cy="1718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DDB4C16D-8CD8-AF4E-9E8D-79BAC465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73" y="1196537"/>
            <a:ext cx="2996696" cy="1350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EF825C6-2C65-FED4-92C7-EAC8092EE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7678" y="1705413"/>
            <a:ext cx="3553078" cy="15509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906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Hash(Block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SHA256</m:t>
                      </m:r>
                      <m:d>
                        <m:dPr>
                          <m:ctrl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Hash(Block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 1 的內容</m:t>
                          </m:r>
                        </m:e>
                      </m:d>
                    </m:oMath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4549DA9B-39B4-7A51-A4AA-F9B9E6C6D9F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7851</Words>
  <Application>Microsoft Office PowerPoint</Application>
  <PresentationFormat>如螢幕大小 (4:3)</PresentationFormat>
  <Paragraphs>2373</Paragraphs>
  <Slides>40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57" baseType="lpstr">
      <vt:lpstr>Microsoft GothicNeo</vt:lpstr>
      <vt:lpstr>Microsoft YaHei Mono</vt:lpstr>
      <vt:lpstr>Noto Sans HK</vt:lpstr>
      <vt:lpstr>STXingkai</vt:lpstr>
      <vt:lpstr>微軟正黑體</vt:lpstr>
      <vt:lpstr>微軟正黑體 Light</vt:lpstr>
      <vt:lpstr>ADLaM Display</vt:lpstr>
      <vt:lpstr>Aptos</vt:lpstr>
      <vt:lpstr>Aptos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9</cp:revision>
  <dcterms:created xsi:type="dcterms:W3CDTF">2026-09-14T11:47:03Z</dcterms:created>
  <dcterms:modified xsi:type="dcterms:W3CDTF">2026-09-14T13:15:52Z</dcterms:modified>
</cp:coreProperties>
</file>