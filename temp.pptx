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3561" r:id="rId2"/>
    <p:sldId id="3560" r:id="rId3"/>
    <p:sldId id="3563" r:id="rId4"/>
    <p:sldId id="3565" r:id="rId5"/>
    <p:sldId id="3572" r:id="rId6"/>
    <p:sldId id="3574" r:id="rId7"/>
    <p:sldId id="3567" r:id="rId8"/>
    <p:sldId id="3566" r:id="rId9"/>
    <p:sldId id="3571" r:id="rId10"/>
    <p:sldId id="3564" r:id="rId11"/>
    <p:sldId id="3573" r:id="rId12"/>
    <p:sldId id="3570" r:id="rId13"/>
    <p:sldId id="3569" r:id="rId14"/>
    <p:sldId id="3568" r:id="rId15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 varScale="1">
        <p:scale>
          <a:sx n="120" d="100"/>
          <a:sy n="120" d="100"/>
        </p:scale>
        <p:origin x="1014" y="10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2026/10/18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2026/10/18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346DD-3495-D146-7FF7-F33893297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E3875CB-58BA-075C-55BB-5FA9A35E9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513316A-3D7F-E97A-D122-E1ACB60E6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9223C-1F05-4634-F98B-5887B80B03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6709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7363-197C-7B45-FA55-45B9238D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9CEA96C-8D1D-7C80-76B8-FC279CEAF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5491E57-7AA1-6217-1528-27FAD567A3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C0B9E17-8A5B-7323-A004-9838D9EEC3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07117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8A68-C786-DDA4-580D-BDB5B6068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383C802-581D-506E-B8A8-07C5D0D17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AAD8AAD-CC60-79F5-5718-88FA70E2A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60AAEB-7AFE-DD6B-F79D-5BA8B62DB8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05288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AAAE-5853-E855-D26E-097677ADF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B295FC2-5C6D-5267-F6CD-000B94FBA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868EA4-188D-1C46-852C-B9BAB6751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1D34A-083C-0AF6-A112-8E99BDCC08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38864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56FB-322B-36BC-0638-44F8E8DA0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F9DA01F-1167-ED2C-D7A9-871372758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A8EB89-B341-773E-2E3C-8ED8F938A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AC4C7F-8220-2109-8D1B-872C435E93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2413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A090-B544-FF9B-E97A-8098CD07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CC0B598-0BE9-8DB3-1BD0-4ECF83D5D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3ED7304-B2CF-7A66-7C30-810D61A1E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狀態空間模型與線性注意力是「一體兩面」</a:t>
            </a:r>
            <a:r>
              <a:rPr lang="zh-TW" altLang="zh-TW" dirty="0"/>
              <a:t>。</a:t>
            </a:r>
            <a:br>
              <a:rPr lang="en-US" altLang="zh-TW" dirty="0"/>
            </a:br>
            <a:r>
              <a:rPr lang="zh-TW" altLang="zh-TW" dirty="0"/>
              <a:t>SSM 是從「控制工程與時間序列微分」出發的連續視角；線性注意力是從「矩陣乘法與關聯檢索」出發的離散視角。</a:t>
            </a:r>
            <a:br>
              <a:rPr lang="en-US" altLang="zh-TW" dirty="0"/>
            </a:br>
            <a:r>
              <a:rPr lang="zh-TW" altLang="zh-TW" dirty="0"/>
              <a:t>前沿</a:t>
            </a:r>
            <a:r>
              <a:rPr lang="zh-TW" altLang="en-US" dirty="0"/>
              <a:t>模型</a:t>
            </a:r>
            <a:r>
              <a:rPr lang="en-US" altLang="zh-TW" dirty="0"/>
              <a:t>(</a:t>
            </a:r>
            <a:r>
              <a:rPr lang="zh-TW" altLang="zh-TW" dirty="0"/>
              <a:t>如GDN2與Mamba-3</a:t>
            </a:r>
            <a:r>
              <a:rPr lang="en-US" altLang="zh-TW" dirty="0"/>
              <a:t>)</a:t>
            </a:r>
            <a:r>
              <a:rPr lang="zh-TW" altLang="zh-TW" dirty="0"/>
              <a:t>已將兩者融合成同一個高速</a:t>
            </a:r>
            <a:r>
              <a:rPr lang="en-US" altLang="zh-TW" dirty="0"/>
              <a:t>,</a:t>
            </a:r>
            <a:r>
              <a:rPr lang="zh-TW" altLang="zh-TW" dirty="0"/>
              <a:t> subquadratic 的線性矩陣家族。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987CC0-EDAB-F27A-94DD-109144DAA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1327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3" Type="http://schemas.openxmlformats.org/officeDocument/2006/relationships/image" Target="../media/image180.png"/><Relationship Id="rId7" Type="http://schemas.openxmlformats.org/officeDocument/2006/relationships/image" Target="../media/image141.png"/><Relationship Id="rId12" Type="http://schemas.openxmlformats.org/officeDocument/2006/relationships/image" Target="../media/image140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27.png"/><Relationship Id="rId10" Type="http://schemas.openxmlformats.org/officeDocument/2006/relationships/image" Target="../media/image25.png"/><Relationship Id="rId9" Type="http://schemas.openxmlformats.org/officeDocument/2006/relationships/image" Target="../media/image24.png"/><Relationship Id="rId14" Type="http://schemas.openxmlformats.org/officeDocument/2006/relationships/image" Target="../media/image19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9.png"/><Relationship Id="rId7" Type="http://schemas.openxmlformats.org/officeDocument/2006/relationships/image" Target="../media/image32.png"/><Relationship Id="rId12" Type="http://schemas.openxmlformats.org/officeDocument/2006/relationships/hyperlink" Target="https://www.google.com/search?q=GDN%E8%88%87EDA%2C+%E8%AA%B0%E6%8F%90%E5%87%BA%E7%9A%84%3F&amp;sca_esv=ff747ee1c8df38fc&amp;rlz=1C1KNTJ_zh-TWTW1073TW1073&amp;sxsrf=APpeQnsN9efzRGuJ9OiPcwrgCmELj7BtSQ%3A1792310514629&amp;ei=wXvUauOpFfDQ2roPmKfusQY&amp;biw=1920&amp;bih=945&amp;uact=5&amp;sclient=gws-wiz-serp&amp;fbs=ABfTbFVyMZGZf1hfvX9uKjN_-G8cxpBkeIeqYwoCbfNVc4vKEzfJsZm6euHh2bPtNTAJBYD8HI5K-4_bUf9wsDMuQjv_7v17u85a9_mhuoivOS3lJjYQdwryKQmWssk3Jx4oB_xB3o8hZ4Zcq7a0DP4PBYIT3hoTUUQh4vqswNlUUmqqw8N3uHGGoAVi-dqcUFMTkZA7evE0Aku_K1wTnxr-Qpeza8qFUw&amp;aep=10&amp;ntc=1&amp;mstk=AUtExfC0wt-io3zoro_1-_uiMnkmtMi9-Ut7UbEWV1Q-oYKvvJpHHZ0XxClwltyxY6iC4XAEgDcMjX1sIkcLjdrA20gexSF0-GK-fw1KkuHYR61meP7lIJrkLonaY3a-5kphqorPPOJhLQBC3e7loXDoTqo5fNlH3hMWmlHzKM8-uXCjrpHck7PjazJ3nyt3MoapCnYIFijfP_1W9plfsN98KsVQKwEHq9EqPiuMrkGFWWBv48fwzOZeXuj6M2TU0dta09A38mEdASRVJ7e9-fBw-0Kb-huvFwV2Mq0ivzFkN9eRzysTg9X7RtO-EdyFM0LyBQf3o99R6md1hg&amp;aioh=3&amp;csuir=1&amp;cs=0&amp;mtid=83zUavr3C_jZ1e8PzLmn0QY&amp;udm=50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3.png"/><Relationship Id="rId9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29B29A71-614F-BAFE-0BC7-F9097650DC03}"/>
              </a:ext>
            </a:extLst>
          </p:cNvPr>
          <p:cNvSpPr/>
          <p:nvPr/>
        </p:nvSpPr>
        <p:spPr>
          <a:xfrm>
            <a:off x="3904505" y="5817866"/>
            <a:ext cx="477458" cy="457534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3E4A8E9F-2D9E-D70F-5FE5-FFCCFEC917BA}"/>
              </a:ext>
            </a:extLst>
          </p:cNvPr>
          <p:cNvSpPr/>
          <p:nvPr/>
        </p:nvSpPr>
        <p:spPr>
          <a:xfrm>
            <a:off x="4036289" y="6228284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FE47362E-A28D-E845-DD39-9A485DD23645}"/>
              </a:ext>
            </a:extLst>
          </p:cNvPr>
          <p:cNvCxnSpPr>
            <a:cxnSpLocks/>
            <a:stCxn id="11" idx="2"/>
            <a:endCxn id="17" idx="2"/>
          </p:cNvCxnSpPr>
          <p:nvPr/>
        </p:nvCxnSpPr>
        <p:spPr>
          <a:xfrm rot="5400000" flipH="1">
            <a:off x="2334271" y="4643307"/>
            <a:ext cx="177936" cy="3442123"/>
          </a:xfrm>
          <a:prstGeom prst="bentConnector3">
            <a:avLst>
              <a:gd name="adj1" fmla="val -128473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2F46EE7F-90EE-073A-BFC3-A6CF1F6DE881}"/>
              </a:ext>
            </a:extLst>
          </p:cNvPr>
          <p:cNvSpPr/>
          <p:nvPr/>
        </p:nvSpPr>
        <p:spPr>
          <a:xfrm>
            <a:off x="565017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Tokenizer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035B068-1459-234D-A969-D8B5B7156E50}"/>
              </a:ext>
            </a:extLst>
          </p:cNvPr>
          <p:cNvSpPr txBox="1"/>
          <p:nvPr/>
        </p:nvSpPr>
        <p:spPr>
          <a:xfrm>
            <a:off x="1789863" y="6503285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ym typeface="Wingdings" panose="05000000000000000000" pitchFamily="2" charset="2"/>
              </a:rPr>
              <a:t>A</a:t>
            </a:r>
            <a:r>
              <a:rPr lang="en-US" altLang="zh-TW" sz="1200" dirty="0">
                <a:sym typeface="Wingdings" panose="05000000000000000000" pitchFamily="2" charset="2"/>
              </a:rPr>
              <a:t>uto-</a:t>
            </a:r>
            <a:r>
              <a:rPr lang="en-US" altLang="zh-TW" sz="1200" b="1" dirty="0">
                <a:sym typeface="Wingdings" panose="05000000000000000000" pitchFamily="2" charset="2"/>
              </a:rPr>
              <a:t>R</a:t>
            </a:r>
            <a:r>
              <a:rPr lang="en-US" altLang="zh-TW" sz="1200" dirty="0">
                <a:sym typeface="Wingdings" panose="05000000000000000000" pitchFamily="2" charset="2"/>
              </a:rPr>
              <a:t>egressive model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A8B9D399-18EA-2438-0644-69D112C1EAFB}"/>
              </a:ext>
            </a:extLst>
          </p:cNvPr>
          <p:cNvSpPr/>
          <p:nvPr/>
        </p:nvSpPr>
        <p:spPr>
          <a:xfrm>
            <a:off x="5680907" y="4266237"/>
            <a:ext cx="547277" cy="70883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54F19F-3CB2-C8C7-CD09-C9D9C6962E05}"/>
              </a:ext>
            </a:extLst>
          </p:cNvPr>
          <p:cNvSpPr/>
          <p:nvPr/>
        </p:nvSpPr>
        <p:spPr>
          <a:xfrm>
            <a:off x="5693702" y="4267363"/>
            <a:ext cx="114638" cy="707713"/>
          </a:xfrm>
          <a:prstGeom prst="rect">
            <a:avLst/>
          </a:prstGeom>
          <a:solidFill>
            <a:schemeClr val="accent6">
              <a:lumMod val="40000"/>
              <a:lumOff val="60000"/>
              <a:alpha val="20000"/>
            </a:schemeClr>
          </a:solidFill>
          <a:ln w="15875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996401"/>
              </p:ext>
            </p:extLst>
          </p:nvPr>
        </p:nvGraphicFramePr>
        <p:xfrm>
          <a:off x="1623654" y="2633783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533952" y="4938637"/>
            <a:ext cx="1089818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10016" y="5496182"/>
            <a:ext cx="411214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73992"/>
              </p:ext>
            </p:extLst>
          </p:nvPr>
        </p:nvGraphicFramePr>
        <p:xfrm>
          <a:off x="2612067" y="2657773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32341"/>
              </p:ext>
            </p:extLst>
          </p:nvPr>
        </p:nvGraphicFramePr>
        <p:xfrm>
          <a:off x="4406696" y="2649659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596911"/>
              </p:ext>
            </p:extLst>
          </p:nvPr>
        </p:nvGraphicFramePr>
        <p:xfrm>
          <a:off x="5131117" y="2649660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328938"/>
              </p:ext>
            </p:extLst>
          </p:nvPr>
        </p:nvGraphicFramePr>
        <p:xfrm>
          <a:off x="1917886" y="2649660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140968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772291"/>
              </p:ext>
            </p:extLst>
          </p:nvPr>
        </p:nvGraphicFramePr>
        <p:xfrm>
          <a:off x="2604277" y="1962499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735137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1825697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292494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182176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688537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55679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77520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63691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779075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224386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192593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1825697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551497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140968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45050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322637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345510" y="5772876"/>
            <a:ext cx="351439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400" b="1" baseline="30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7730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01476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10016" y="6001476"/>
            <a:ext cx="235494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835696" y="567807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10016" y="5815234"/>
            <a:ext cx="235494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496182"/>
            <a:ext cx="373752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835696" y="598967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835696" y="5359022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01476"/>
            <a:ext cx="373752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082627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2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382031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53866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01601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01476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 rot="5400000">
            <a:off x="2446343" y="5362476"/>
            <a:ext cx="281269" cy="81612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869160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1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48093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15234"/>
            <a:ext cx="373752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4428299" y="4149080"/>
            <a:ext cx="1079805" cy="356236"/>
          </a:xfrm>
          <a:prstGeom prst="wedgeRoundRectCallout">
            <a:avLst>
              <a:gd name="adj1" fmla="val 63247"/>
              <a:gd name="adj2" fmla="val -336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62610" y="2628037"/>
            <a:ext cx="887712" cy="1338375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020507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C1C481B-F75F-26CC-D936-72C1D2D9564C}"/>
              </a:ext>
            </a:extLst>
          </p:cNvPr>
          <p:cNvSpPr txBox="1"/>
          <p:nvPr/>
        </p:nvSpPr>
        <p:spPr>
          <a:xfrm>
            <a:off x="5508104" y="4517766"/>
            <a:ext cx="171771" cy="220483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endParaRPr lang="zh-TW" altLang="en-US" sz="1200" b="1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E0AE20F-63C4-0DB4-012F-885E957120E2}"/>
              </a:ext>
            </a:extLst>
          </p:cNvPr>
          <p:cNvSpPr txBox="1"/>
          <p:nvPr/>
        </p:nvSpPr>
        <p:spPr>
          <a:xfrm>
            <a:off x="5632418" y="4328293"/>
            <a:ext cx="238841" cy="12733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d</a:t>
            </a:r>
            <a:r>
              <a:rPr lang="en-US" altLang="zh-TW" sz="1200" b="1" baseline="-25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zh-TW" altLang="en-US" sz="1200" b="1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317D5D7-B142-A685-7C9E-D51FCF2A63B0}"/>
              </a:ext>
            </a:extLst>
          </p:cNvPr>
          <p:cNvSpPr txBox="1"/>
          <p:nvPr/>
        </p:nvSpPr>
        <p:spPr>
          <a:xfrm>
            <a:off x="6677178" y="3628549"/>
            <a:ext cx="555712" cy="23448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 = d</a:t>
            </a:r>
            <a:r>
              <a:rPr lang="en-US" altLang="zh-TW" sz="1200" baseline="-25000" dirty="0"/>
              <a:t>h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新細明體" panose="02020500000000000000" pitchFamily="18" charset="-120"/>
                <a:cs typeface="+mn-cs"/>
              </a:rPr>
              <a:t>* h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CA776DA-54DC-E50C-3134-7435E0E3C642}"/>
              </a:ext>
            </a:extLst>
          </p:cNvPr>
          <p:cNvSpPr txBox="1"/>
          <p:nvPr/>
        </p:nvSpPr>
        <p:spPr>
          <a:xfrm>
            <a:off x="5311496" y="2428245"/>
            <a:ext cx="320922" cy="17792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r>
              <a:rPr lang="zh-TW" altLang="en-US" sz="1200" b="1" dirty="0"/>
              <a:t>*</a:t>
            </a:r>
            <a:r>
              <a:rPr lang="en-US" altLang="zh-TW" sz="1200" b="1" dirty="0"/>
              <a:t>d</a:t>
            </a:r>
            <a:r>
              <a:rPr lang="en-US" altLang="zh-TW" sz="1200" b="1" baseline="-25000" dirty="0"/>
              <a:t>h</a:t>
            </a:r>
            <a:endParaRPr lang="zh-TW" altLang="en-US" sz="1200" b="1" dirty="0"/>
          </a:p>
        </p:txBody>
      </p: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B6A6983-A428-5828-1191-4BD17EBCD169}"/>
              </a:ext>
            </a:extLst>
          </p:cNvPr>
          <p:cNvCxnSpPr>
            <a:cxnSpLocks/>
            <a:stCxn id="20" idx="2"/>
            <a:endCxn id="29" idx="0"/>
          </p:cNvCxnSpPr>
          <p:nvPr/>
        </p:nvCxnSpPr>
        <p:spPr>
          <a:xfrm rot="16200000" flipH="1">
            <a:off x="5436613" y="3952954"/>
            <a:ext cx="341421" cy="2873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0F805D0-5DA8-0A88-5752-A074216163C4}"/>
              </a:ext>
            </a:extLst>
          </p:cNvPr>
          <p:cNvSpPr txBox="1"/>
          <p:nvPr/>
        </p:nvSpPr>
        <p:spPr>
          <a:xfrm flipH="1">
            <a:off x="5811738" y="4058607"/>
            <a:ext cx="249352" cy="207547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</a:t>
            </a:r>
            <a:endParaRPr lang="zh-TW" altLang="en-US" sz="1200" b="1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B532574-8CED-E976-9B16-86AEF8A21C82}"/>
              </a:ext>
            </a:extLst>
          </p:cNvPr>
          <p:cNvSpPr/>
          <p:nvPr/>
        </p:nvSpPr>
        <p:spPr>
          <a:xfrm>
            <a:off x="5679875" y="4800388"/>
            <a:ext cx="547276" cy="194173"/>
          </a:xfrm>
          <a:prstGeom prst="rect">
            <a:avLst/>
          </a:prstGeom>
          <a:solidFill>
            <a:schemeClr val="accent2">
              <a:lumMod val="20000"/>
              <a:lumOff val="80000"/>
              <a:alpha val="6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36576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200" baseline="-25000" dirty="0">
                <a:solidFill>
                  <a:schemeClr val="accent2">
                    <a:lumMod val="50000"/>
                  </a:schemeClr>
                </a:solidFill>
                <a:ea typeface="微軟正黑體" panose="020B0604030504040204" pitchFamily="34" charset="-120"/>
              </a:rPr>
              <a:t>t=4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D0D644A-4AE2-53D9-93B8-057864169286}"/>
                  </a:ext>
                </a:extLst>
              </p:cNvPr>
              <p:cNvSpPr/>
              <p:nvPr/>
            </p:nvSpPr>
            <p:spPr>
              <a:xfrm>
                <a:off x="5679875" y="5074936"/>
                <a:ext cx="2826864" cy="4779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6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200" b="0" dirty="0">
                    <a:solidFill>
                      <a:prstClr val="black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eqArr>
                      </m:e>
                    </m:d>
                    <m:r>
                      <a:rPr lang="en-US" altLang="zh-TW" sz="12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altLang="zh-TW" sz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  <m:r>
                              <m:rPr>
                                <m:nor/>
                              </m:rPr>
                              <a:rPr lang="en-US" altLang="zh-TW" sz="120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  <m:r>
                              <a:rPr lang="en-US" altLang="zh-TW" sz="1200" b="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⋯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eqArr>
                      </m:e>
                    </m:d>
                    <m:r>
                      <a:rPr lang="en-US" altLang="zh-TW" sz="12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zh-TW" sz="12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zh-TW" sz="1200" baseline="-25000" dirty="0">
                  <a:solidFill>
                    <a:schemeClr val="tx1"/>
                  </a:solidFill>
                  <a:ea typeface="微軟正黑體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D0D644A-4AE2-53D9-93B8-0578641692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75" y="5074936"/>
                <a:ext cx="2826864" cy="4779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17F0A3EF-803B-A445-7AEA-19E56F5C407D}"/>
                  </a:ext>
                </a:extLst>
              </p:cNvPr>
              <p:cNvSpPr txBox="1"/>
              <p:nvPr/>
            </p:nvSpPr>
            <p:spPr>
              <a:xfrm>
                <a:off x="6023140" y="5598911"/>
                <a:ext cx="1658916" cy="309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zh-TW" altLang="en-US" sz="1200" dirty="0"/>
                  <a:t> </a:t>
                </a:r>
                <a14:m>
                  <m:oMath xmlns:m="http://schemas.openxmlformats.org/officeDocument/2006/math">
                    <m:r>
                      <a:rPr lang="zh-TW" altLang="en-US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borderBox>
                      <m:borderBox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borderBox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25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  <m:e>
                            <m:r>
                              <a:rPr lang="zh-TW" altLang="en-US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⋅</m:t>
                            </m:r>
                            <m:sSubSup>
                              <m:sSubSupPr>
                                <m:ctrl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nary>
                        <m:r>
                          <a:rPr lang="en-US" altLang="zh-TW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zh-TW" altLang="en-US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e>
                    </m:borderBox>
                  </m:oMath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17F0A3EF-803B-A445-7AEA-19E56F5C4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140" y="5598911"/>
                <a:ext cx="1658916" cy="309444"/>
              </a:xfrm>
              <a:prstGeom prst="rect">
                <a:avLst/>
              </a:prstGeom>
              <a:blipFill>
                <a:blip r:embed="rId7"/>
                <a:stretch>
                  <a:fillRect t="-82353" r="-2206" b="-1352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2051720" y="2636912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52C71AD2-F34A-155E-DCB3-D6AA561DB6C0}"/>
              </a:ext>
            </a:extLst>
          </p:cNvPr>
          <p:cNvSpPr txBox="1"/>
          <p:nvPr/>
        </p:nvSpPr>
        <p:spPr>
          <a:xfrm>
            <a:off x="3923928" y="2710920"/>
            <a:ext cx="169036" cy="1070619"/>
          </a:xfrm>
          <a:prstGeom prst="rect">
            <a:avLst/>
          </a:prstGeom>
          <a:noFill/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800"/>
              </a:lnSpc>
            </a:pPr>
            <a:endParaRPr lang="en-US" altLang="zh-TW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574AAF17-08E3-E85E-4388-3CF2AEDEC8E0}"/>
              </a:ext>
            </a:extLst>
          </p:cNvPr>
          <p:cNvSpPr/>
          <p:nvPr/>
        </p:nvSpPr>
        <p:spPr>
          <a:xfrm>
            <a:off x="6660232" y="2636912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56414"/>
              </p:ext>
            </p:extLst>
          </p:nvPr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inear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81694"/>
              </p:ext>
            </p:extLst>
          </p:nvPr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554917"/>
              </p:ext>
            </p:extLst>
          </p:nvPr>
        </p:nvGraphicFramePr>
        <p:xfrm>
          <a:off x="4249808" y="271597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7039322" y="2715979"/>
            <a:ext cx="166216" cy="1058435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accent4">
                  <a:lumMod val="20000"/>
                  <a:lumOff val="80000"/>
                  <a:alpha val="80000"/>
                </a:schemeClr>
              </a:gs>
              <a:gs pos="79000">
                <a:schemeClr val="accent2">
                  <a:lumMod val="20000"/>
                  <a:lumOff val="80000"/>
                  <a:alpha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0" scaled="1"/>
            <a:tileRect/>
          </a:gra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2862087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691680" y="2636912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12900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25" idx="1"/>
          </p:cNvCxnSpPr>
          <p:nvPr/>
        </p:nvCxnSpPr>
        <p:spPr>
          <a:xfrm>
            <a:off x="1043608" y="3332301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691680" y="2060872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EFE9418-3F87-2D63-B3F8-01D5AAD30AD0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 E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606531" y="2125325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259632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259632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259632" y="2704562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267583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6290667" y="2715979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249808" y="2404839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1 .  .  . </a:t>
            </a: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8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. . . d</a:t>
            </a:r>
            <a:endParaRPr lang="zh-TW" altLang="en-US" sz="8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573746"/>
              </p:ext>
            </p:extLst>
          </p:nvPr>
        </p:nvGraphicFramePr>
        <p:xfrm>
          <a:off x="2608707" y="271473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8" name="文字方塊 47">
            <a:extLst>
              <a:ext uri="{FF2B5EF4-FFF2-40B4-BE49-F238E27FC236}">
                <a16:creationId xmlns:a16="http://schemas.microsoft.com/office/drawing/2014/main" id="{C2C0D4A3-0879-169C-DC6D-4E54480E7AA0}"/>
              </a:ext>
            </a:extLst>
          </p:cNvPr>
          <p:cNvSpPr txBox="1"/>
          <p:nvPr/>
        </p:nvSpPr>
        <p:spPr>
          <a:xfrm>
            <a:off x="6714360" y="3125921"/>
            <a:ext cx="256577" cy="256577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3012944" y="3080827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4C7011C-9573-98B5-6E4F-C4A09925CFE7}"/>
              </a:ext>
            </a:extLst>
          </p:cNvPr>
          <p:cNvSpPr txBox="1"/>
          <p:nvPr/>
        </p:nvSpPr>
        <p:spPr>
          <a:xfrm>
            <a:off x="3707904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AE370-2446-F8F9-549F-3C81FCC7B84E}"/>
              </a:ext>
            </a:extLst>
          </p:cNvPr>
          <p:cNvSpPr txBox="1"/>
          <p:nvPr/>
        </p:nvSpPr>
        <p:spPr>
          <a:xfrm>
            <a:off x="4630688" y="218881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0CC66E9-7DA2-0873-0BFA-38B0B8634B1F}"/>
              </a:ext>
            </a:extLst>
          </p:cNvPr>
          <p:cNvSpPr txBox="1"/>
          <p:nvPr/>
        </p:nvSpPr>
        <p:spPr>
          <a:xfrm>
            <a:off x="5364088" y="311057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3851920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E71C0DD-090D-0C5D-8B29-5F1008F2BE52}"/>
              </a:ext>
            </a:extLst>
          </p:cNvPr>
          <p:cNvSpPr txBox="1"/>
          <p:nvPr/>
        </p:nvSpPr>
        <p:spPr>
          <a:xfrm>
            <a:off x="6228184" y="278868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4B91F377-18D9-5791-17BE-B09E92872A85}"/>
              </a:ext>
            </a:extLst>
          </p:cNvPr>
          <p:cNvSpPr txBox="1"/>
          <p:nvPr/>
        </p:nvSpPr>
        <p:spPr>
          <a:xfrm>
            <a:off x="6142932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ED4306E-4437-F861-2472-666AB03DE50D}"/>
              </a:ext>
            </a:extLst>
          </p:cNvPr>
          <p:cNvSpPr txBox="1"/>
          <p:nvPr/>
        </p:nvSpPr>
        <p:spPr>
          <a:xfrm>
            <a:off x="698044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1F68BF-C9C7-FBE1-E39B-D7D61EAE2F38}"/>
              </a:ext>
            </a:extLst>
          </p:cNvPr>
          <p:cNvSpPr/>
          <p:nvPr/>
        </p:nvSpPr>
        <p:spPr>
          <a:xfrm>
            <a:off x="5580112" y="2986385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2853EBE-75AA-D759-1348-75BC5C0A9161}"/>
              </a:ext>
            </a:extLst>
          </p:cNvPr>
          <p:cNvSpPr txBox="1"/>
          <p:nvPr/>
        </p:nvSpPr>
        <p:spPr>
          <a:xfrm>
            <a:off x="5729741" y="308082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F02CB56F-B943-37D7-491F-290799C4EB90}"/>
              </a:ext>
            </a:extLst>
          </p:cNvPr>
          <p:cNvSpPr txBox="1"/>
          <p:nvPr/>
        </p:nvSpPr>
        <p:spPr>
          <a:xfrm>
            <a:off x="6444208" y="3118872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D6AF6EB-46DF-2AAB-9802-B1F91980105E}"/>
              </a:ext>
            </a:extLst>
          </p:cNvPr>
          <p:cNvSpPr txBox="1"/>
          <p:nvPr/>
        </p:nvSpPr>
        <p:spPr>
          <a:xfrm>
            <a:off x="587996" y="302274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2720B544-1ADE-8344-0687-97A43A385634}"/>
              </a:ext>
            </a:extLst>
          </p:cNvPr>
          <p:cNvSpPr txBox="1"/>
          <p:nvPr/>
        </p:nvSpPr>
        <p:spPr>
          <a:xfrm>
            <a:off x="216322" y="3754028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BDEA65CA-2B77-AAAD-7AA4-F4B8E56914C8}"/>
              </a:ext>
            </a:extLst>
          </p:cNvPr>
          <p:cNvSpPr txBox="1"/>
          <p:nvPr/>
        </p:nvSpPr>
        <p:spPr>
          <a:xfrm>
            <a:off x="784363" y="3755098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6B30739F-019F-610D-D34A-BD648B573F15}"/>
              </a:ext>
            </a:extLst>
          </p:cNvPr>
          <p:cNvSpPr txBox="1"/>
          <p:nvPr/>
        </p:nvSpPr>
        <p:spPr>
          <a:xfrm>
            <a:off x="496094" y="3755099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D4CF599F-7BA3-DD2E-6B61-DA3CF692686D}"/>
              </a:ext>
            </a:extLst>
          </p:cNvPr>
          <p:cNvSpPr/>
          <p:nvPr/>
        </p:nvSpPr>
        <p:spPr>
          <a:xfrm rot="5400000">
            <a:off x="6017552" y="2210257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3278F48-015A-FBB9-486E-E61D3F359B8B}"/>
              </a:ext>
            </a:extLst>
          </p:cNvPr>
          <p:cNvSpPr/>
          <p:nvPr/>
        </p:nvSpPr>
        <p:spPr>
          <a:xfrm>
            <a:off x="7560800" y="301913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83BF8D9-C46E-EDAD-9917-7CDA8B01D372}"/>
              </a:ext>
            </a:extLst>
          </p:cNvPr>
          <p:cNvSpPr txBox="1"/>
          <p:nvPr/>
        </p:nvSpPr>
        <p:spPr>
          <a:xfrm>
            <a:off x="7249636" y="3332301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F7D632E7-B637-5716-7870-69FF45BDC6B4}"/>
              </a:ext>
            </a:extLst>
          </p:cNvPr>
          <p:cNvSpPr txBox="1"/>
          <p:nvPr/>
        </p:nvSpPr>
        <p:spPr>
          <a:xfrm>
            <a:off x="6701937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15A7CD0-FF5B-A6A4-3921-B153DCC92F47}"/>
              </a:ext>
            </a:extLst>
          </p:cNvPr>
          <p:cNvSpPr/>
          <p:nvPr/>
        </p:nvSpPr>
        <p:spPr>
          <a:xfrm>
            <a:off x="7528550" y="3382130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01CB805E-09AF-7F2F-493E-7446C07FC8F7}"/>
              </a:ext>
            </a:extLst>
          </p:cNvPr>
          <p:cNvSpPr/>
          <p:nvPr/>
        </p:nvSpPr>
        <p:spPr>
          <a:xfrm>
            <a:off x="8001706" y="3028822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151AC1-6C17-F335-192B-2035423C282F}"/>
              </a:ext>
            </a:extLst>
          </p:cNvPr>
          <p:cNvSpPr/>
          <p:nvPr/>
        </p:nvSpPr>
        <p:spPr>
          <a:xfrm>
            <a:off x="8604448" y="2512936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BC648232-1BFD-98BC-8131-A17F45D0A5FE}"/>
              </a:ext>
            </a:extLst>
          </p:cNvPr>
          <p:cNvSpPr txBox="1"/>
          <p:nvPr/>
        </p:nvSpPr>
        <p:spPr>
          <a:xfrm>
            <a:off x="8452577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9A39323-DC75-773F-C973-F1D568AA2C20}"/>
              </a:ext>
            </a:extLst>
          </p:cNvPr>
          <p:cNvSpPr txBox="1"/>
          <p:nvPr/>
        </p:nvSpPr>
        <p:spPr>
          <a:xfrm>
            <a:off x="8639211" y="243588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AFD61BA-F63B-E589-9534-8B42A7DD896B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2129733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97BD2BE8-49E6-3CA9-1409-65F8EEAB8785}"/>
              </a:ext>
            </a:extLst>
          </p:cNvPr>
          <p:cNvSpPr txBox="1"/>
          <p:nvPr/>
        </p:nvSpPr>
        <p:spPr>
          <a:xfrm>
            <a:off x="5724128" y="278960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8FB0B030-47E7-E02B-27F4-5674E5F085B8}"/>
              </a:ext>
            </a:extLst>
          </p:cNvPr>
          <p:cNvSpPr txBox="1"/>
          <p:nvPr/>
        </p:nvSpPr>
        <p:spPr>
          <a:xfrm>
            <a:off x="7542059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5C26082-1DCC-69F2-393B-F249260C9727}"/>
              </a:ext>
            </a:extLst>
          </p:cNvPr>
          <p:cNvSpPr txBox="1"/>
          <p:nvPr/>
        </p:nvSpPr>
        <p:spPr>
          <a:xfrm>
            <a:off x="5364088" y="1873642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889345C5-2C05-B6E5-B93E-90E9864DE35C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3254210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BAB49609-D5C5-6E57-8FA9-14CC4A001C1D}"/>
              </a:ext>
            </a:extLst>
          </p:cNvPr>
          <p:cNvSpPr txBox="1"/>
          <p:nvPr/>
        </p:nvSpPr>
        <p:spPr>
          <a:xfrm>
            <a:off x="7380312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68B8CCC0-27E7-7A72-C64A-A4D2C75F7EE0}"/>
              </a:ext>
            </a:extLst>
          </p:cNvPr>
          <p:cNvCxnSpPr>
            <a:cxnSpLocks/>
            <a:stCxn id="25" idx="2"/>
            <a:endCxn id="3" idx="2"/>
          </p:cNvCxnSpPr>
          <p:nvPr/>
        </p:nvCxnSpPr>
        <p:spPr>
          <a:xfrm rot="5400000" flipH="1" flipV="1">
            <a:off x="4039022" y="1526295"/>
            <a:ext cx="81548" cy="4587958"/>
          </a:xfrm>
          <a:prstGeom prst="curvedConnector3">
            <a:avLst>
              <a:gd name="adj1" fmla="val -493908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ACAA3A5E-3B1F-7DFF-3961-201D69AFEF96}"/>
              </a:ext>
            </a:extLst>
          </p:cNvPr>
          <p:cNvSpPr txBox="1"/>
          <p:nvPr/>
        </p:nvSpPr>
        <p:spPr>
          <a:xfrm>
            <a:off x="3001699" y="242088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9881FD1-E89A-69B3-F9B4-C70476E930ED}"/>
              </a:ext>
            </a:extLst>
          </p:cNvPr>
          <p:cNvSpPr txBox="1"/>
          <p:nvPr/>
        </p:nvSpPr>
        <p:spPr>
          <a:xfrm>
            <a:off x="1691680" y="3462897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FB4C9D0F-A566-8346-FFDA-82BBFE2D7B42}"/>
                  </a:ext>
                </a:extLst>
              </p:cNvPr>
              <p:cNvSpPr txBox="1"/>
              <p:nvPr/>
            </p:nvSpPr>
            <p:spPr>
              <a:xfrm>
                <a:off x="4953616" y="4609368"/>
                <a:ext cx="3932892" cy="4921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1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dxd</m:t>
                        </m:r>
                      </m:sup>
                    </m:sSup>
                  </m:oMath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FB4C9D0F-A566-8346-FFDA-82BBFE2D7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616" y="4609368"/>
                <a:ext cx="3932892" cy="492141"/>
              </a:xfrm>
              <a:prstGeom prst="rect">
                <a:avLst/>
              </a:prstGeom>
              <a:blipFill>
                <a:blip r:embed="rId3"/>
                <a:stretch>
                  <a:fillRect l="-1395" t="-59259" b="-876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矩形 61">
            <a:extLst>
              <a:ext uri="{FF2B5EF4-FFF2-40B4-BE49-F238E27FC236}">
                <a16:creationId xmlns:a16="http://schemas.microsoft.com/office/drawing/2014/main" id="{D77D4486-0911-BBB9-DD84-082FB2A0B81D}"/>
              </a:ext>
            </a:extLst>
          </p:cNvPr>
          <p:cNvSpPr/>
          <p:nvPr/>
        </p:nvSpPr>
        <p:spPr>
          <a:xfrm>
            <a:off x="2695365" y="5940427"/>
            <a:ext cx="777293" cy="653833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S</a:t>
            </a:r>
            <a:r>
              <a:rPr lang="en-US" altLang="zh-TW" sz="1400" b="1" baseline="-25000" dirty="0">
                <a:solidFill>
                  <a:schemeClr val="accent4"/>
                </a:solidFill>
                <a:ea typeface="微軟正黑體" panose="020B0604030504040204" pitchFamily="34" charset="-120"/>
              </a:rPr>
              <a:t> i-1</a:t>
            </a: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A0F8FDBD-F57F-A85D-E887-212C105A5BEE}"/>
              </a:ext>
            </a:extLst>
          </p:cNvPr>
          <p:cNvSpPr txBox="1"/>
          <p:nvPr/>
        </p:nvSpPr>
        <p:spPr>
          <a:xfrm>
            <a:off x="2536554" y="5395359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50ED34C-CD37-4726-B581-98340B559A15}"/>
              </a:ext>
            </a:extLst>
          </p:cNvPr>
          <p:cNvSpPr txBox="1"/>
          <p:nvPr/>
        </p:nvSpPr>
        <p:spPr>
          <a:xfrm>
            <a:off x="2536554" y="5177985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A1CB3067-926E-43EE-A7D2-0AAF1FE29619}"/>
              </a:ext>
            </a:extLst>
          </p:cNvPr>
          <p:cNvSpPr txBox="1"/>
          <p:nvPr/>
        </p:nvSpPr>
        <p:spPr>
          <a:xfrm>
            <a:off x="2536554" y="4608304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936C4F10-1350-71AF-E355-A3194B83A5A5}"/>
              </a:ext>
            </a:extLst>
          </p:cNvPr>
          <p:cNvSpPr txBox="1"/>
          <p:nvPr/>
        </p:nvSpPr>
        <p:spPr>
          <a:xfrm>
            <a:off x="2536554" y="4855439"/>
            <a:ext cx="766847" cy="290927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vert="eaVert" wrap="none" lIns="9144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C929511A-9EEF-4E59-FC85-21E1E8FFD538}"/>
              </a:ext>
            </a:extLst>
          </p:cNvPr>
          <p:cNvSpPr/>
          <p:nvPr/>
        </p:nvSpPr>
        <p:spPr>
          <a:xfrm>
            <a:off x="2536553" y="5734155"/>
            <a:ext cx="766847" cy="653834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18288" rIns="0" bIns="0" rtlCol="0" anchor="t" anchorCtr="0"/>
          <a:lstStyle/>
          <a:p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</a:t>
            </a:r>
            <a:r>
              <a:rPr lang="en-US" altLang="zh-TW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0</a:t>
            </a:r>
            <a:endParaRPr lang="zh-TW" altLang="en-US" sz="12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95BCDCC0-1EC4-EC48-7E06-12F7ABA306ED}"/>
              </a:ext>
            </a:extLst>
          </p:cNvPr>
          <p:cNvSpPr txBox="1"/>
          <p:nvPr/>
        </p:nvSpPr>
        <p:spPr>
          <a:xfrm>
            <a:off x="2269990" y="5743635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06946514-7903-83FC-A8FA-A378C60078E9}"/>
              </a:ext>
            </a:extLst>
          </p:cNvPr>
          <p:cNvSpPr txBox="1"/>
          <p:nvPr/>
        </p:nvSpPr>
        <p:spPr>
          <a:xfrm>
            <a:off x="1477902" y="5743635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0EA98BAB-419A-D12B-443B-3EB91CDBB4C7}"/>
              </a:ext>
            </a:extLst>
          </p:cNvPr>
          <p:cNvSpPr txBox="1"/>
          <p:nvPr/>
        </p:nvSpPr>
        <p:spPr>
          <a:xfrm>
            <a:off x="2053966" y="5743635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E306870E-E58D-441E-4790-80588ADAC3EC}"/>
              </a:ext>
            </a:extLst>
          </p:cNvPr>
          <p:cNvSpPr txBox="1"/>
          <p:nvPr/>
        </p:nvSpPr>
        <p:spPr>
          <a:xfrm>
            <a:off x="1693926" y="5743635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2AAEC48-A8AA-BD3F-42CA-F2D7F66955D9}"/>
              </a:ext>
            </a:extLst>
          </p:cNvPr>
          <p:cNvSpPr txBox="1"/>
          <p:nvPr/>
        </p:nvSpPr>
        <p:spPr>
          <a:xfrm>
            <a:off x="4575642" y="5734155"/>
            <a:ext cx="140374" cy="653834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3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3F53D7D-C928-788A-5689-52502A87547D}"/>
              </a:ext>
            </a:extLst>
          </p:cNvPr>
          <p:cNvSpPr txBox="1"/>
          <p:nvPr/>
        </p:nvSpPr>
        <p:spPr>
          <a:xfrm>
            <a:off x="3783554" y="5734155"/>
            <a:ext cx="140374" cy="653834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3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7D25203-FF07-FCEA-FCEA-6EA0D7A6F874}"/>
              </a:ext>
            </a:extLst>
          </p:cNvPr>
          <p:cNvSpPr txBox="1"/>
          <p:nvPr/>
        </p:nvSpPr>
        <p:spPr>
          <a:xfrm>
            <a:off x="4359618" y="5734155"/>
            <a:ext cx="140374" cy="653834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3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70B9120-8E23-F7E8-9975-39A719DFDAB7}"/>
              </a:ext>
            </a:extLst>
          </p:cNvPr>
          <p:cNvSpPr txBox="1"/>
          <p:nvPr/>
        </p:nvSpPr>
        <p:spPr>
          <a:xfrm>
            <a:off x="3999578" y="5734155"/>
            <a:ext cx="293061" cy="653834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3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左大括弧 17">
            <a:extLst>
              <a:ext uri="{FF2B5EF4-FFF2-40B4-BE49-F238E27FC236}">
                <a16:creationId xmlns:a16="http://schemas.microsoft.com/office/drawing/2014/main" id="{BD2D487F-8694-12BA-6A0F-CE48B2D9B58F}"/>
              </a:ext>
            </a:extLst>
          </p:cNvPr>
          <p:cNvSpPr/>
          <p:nvPr/>
        </p:nvSpPr>
        <p:spPr>
          <a:xfrm rot="5400000">
            <a:off x="4189252" y="5199406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左大括弧 26">
            <a:extLst>
              <a:ext uri="{FF2B5EF4-FFF2-40B4-BE49-F238E27FC236}">
                <a16:creationId xmlns:a16="http://schemas.microsoft.com/office/drawing/2014/main" id="{7070120A-63D2-CE04-2ABF-CACAFD3E2566}"/>
              </a:ext>
            </a:extLst>
          </p:cNvPr>
          <p:cNvSpPr/>
          <p:nvPr/>
        </p:nvSpPr>
        <p:spPr>
          <a:xfrm rot="5400000">
            <a:off x="1866434" y="5199405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左大括弧 30">
            <a:extLst>
              <a:ext uri="{FF2B5EF4-FFF2-40B4-BE49-F238E27FC236}">
                <a16:creationId xmlns:a16="http://schemas.microsoft.com/office/drawing/2014/main" id="{4696DE85-35DA-91CB-C34C-6B704A325891}"/>
              </a:ext>
            </a:extLst>
          </p:cNvPr>
          <p:cNvSpPr/>
          <p:nvPr/>
        </p:nvSpPr>
        <p:spPr>
          <a:xfrm rot="10800000">
            <a:off x="3344714" y="4663401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A4C3D2F-6006-C780-5829-C4650EA12BE4}"/>
              </a:ext>
            </a:extLst>
          </p:cNvPr>
          <p:cNvSpPr txBox="1"/>
          <p:nvPr/>
        </p:nvSpPr>
        <p:spPr>
          <a:xfrm>
            <a:off x="3518639" y="502474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</a:t>
            </a:r>
            <a:r>
              <a:rPr lang="en-US" altLang="zh-TW" sz="1200" b="1" dirty="0">
                <a:solidFill>
                  <a:schemeClr val="bg1">
                    <a:lumMod val="50000"/>
                  </a:schemeClr>
                </a:solidFill>
              </a:rPr>
              <a:t>*d</a:t>
            </a:r>
            <a:endParaRPr lang="zh-TW" altLang="en-US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85D614CC-C572-DAD0-9E53-4E132793B495}"/>
              </a:ext>
            </a:extLst>
          </p:cNvPr>
          <p:cNvSpPr txBox="1"/>
          <p:nvPr/>
        </p:nvSpPr>
        <p:spPr>
          <a:xfrm>
            <a:off x="1785817" y="543198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</a:t>
            </a:r>
            <a:r>
              <a:rPr lang="en-US" altLang="zh-TW" sz="1200" b="1" dirty="0">
                <a:solidFill>
                  <a:schemeClr val="bg1">
                    <a:lumMod val="50000"/>
                  </a:schemeClr>
                </a:solidFill>
              </a:rPr>
              <a:t>*d</a:t>
            </a:r>
            <a:endParaRPr lang="zh-TW" altLang="en-US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1A30A3FF-0319-21ED-4919-8A1BB2258875}"/>
              </a:ext>
            </a:extLst>
          </p:cNvPr>
          <p:cNvSpPr txBox="1"/>
          <p:nvPr/>
        </p:nvSpPr>
        <p:spPr>
          <a:xfrm>
            <a:off x="4103276" y="541394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</a:t>
            </a:r>
            <a:r>
              <a:rPr lang="en-US" altLang="zh-TW" sz="1200" b="1" dirty="0">
                <a:solidFill>
                  <a:schemeClr val="bg1">
                    <a:lumMod val="50000"/>
                  </a:schemeClr>
                </a:solidFill>
              </a:rPr>
              <a:t>*d</a:t>
            </a:r>
            <a:endParaRPr lang="zh-TW" altLang="en-US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00502-3DFC-76C8-A27F-69B9B0495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AEA4271A-A72C-2E4E-C5B6-4DBF7492B6A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 err="1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Chunkwise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Chunkwise GDN boosts hardware efficiency during prefill and pre-training stages.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3E69C0E3-FBFD-1737-3B98-1709BE220234}"/>
              </a:ext>
            </a:extLst>
          </p:cNvPr>
          <p:cNvSpPr txBox="1"/>
          <p:nvPr/>
        </p:nvSpPr>
        <p:spPr>
          <a:xfrm>
            <a:off x="287524" y="980728"/>
            <a:ext cx="5868652" cy="697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Intra-chunk</a:t>
            </a:r>
            <a:r>
              <a:rPr lang="en-US" altLang="zh-TW" sz="1600" dirty="0"/>
              <a:t>: ... Attention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Inter-chuck</a:t>
            </a:r>
            <a:r>
              <a:rPr lang="en-US" altLang="zh-TW" sz="1400" dirty="0"/>
              <a:t>: .. RNN</a:t>
            </a:r>
            <a:endParaRPr lang="zh-TW" altLang="en-US" sz="12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DCE2929A-897D-C3D6-B2C2-1F4F80A78D78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C930CF9C-144B-DB12-807B-F6CBA739BBBA}"/>
              </a:ext>
            </a:extLst>
          </p:cNvPr>
          <p:cNvSpPr/>
          <p:nvPr/>
        </p:nvSpPr>
        <p:spPr>
          <a:xfrm>
            <a:off x="718142" y="2687201"/>
            <a:ext cx="648072" cy="1698565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51B0C24-3919-2826-A76F-0BF22E377F92}"/>
              </a:ext>
            </a:extLst>
          </p:cNvPr>
          <p:cNvSpPr txBox="1"/>
          <p:nvPr/>
        </p:nvSpPr>
        <p:spPr>
          <a:xfrm>
            <a:off x="744644" y="2522530"/>
            <a:ext cx="601913" cy="1526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 x (c*d)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B07C54D-A621-67C6-795C-D473B0B2891A}"/>
              </a:ext>
            </a:extLst>
          </p:cNvPr>
          <p:cNvSpPr/>
          <p:nvPr/>
        </p:nvSpPr>
        <p:spPr>
          <a:xfrm>
            <a:off x="721906" y="4018750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7CB98988-07A9-45F4-0CD8-38B00EFF1E03}"/>
              </a:ext>
            </a:extLst>
          </p:cNvPr>
          <p:cNvSpPr txBox="1"/>
          <p:nvPr/>
        </p:nvSpPr>
        <p:spPr>
          <a:xfrm>
            <a:off x="904816" y="395018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4"/>
                </a:solidFill>
              </a:rPr>
              <a:t>c*d</a:t>
            </a:r>
            <a:endParaRPr lang="zh-TW" altLang="en-US" sz="1200" b="1" dirty="0">
              <a:solidFill>
                <a:schemeClr val="accent4"/>
              </a:solidFill>
            </a:endParaRPr>
          </a:p>
        </p:txBody>
      </p:sp>
      <p:sp>
        <p:nvSpPr>
          <p:cNvPr id="8" name="左大括弧 7">
            <a:extLst>
              <a:ext uri="{FF2B5EF4-FFF2-40B4-BE49-F238E27FC236}">
                <a16:creationId xmlns:a16="http://schemas.microsoft.com/office/drawing/2014/main" id="{6C32B8F0-B153-841A-C510-8909313A9A32}"/>
              </a:ext>
            </a:extLst>
          </p:cNvPr>
          <p:cNvSpPr/>
          <p:nvPr/>
        </p:nvSpPr>
        <p:spPr>
          <a:xfrm>
            <a:off x="529278" y="2687200"/>
            <a:ext cx="132975" cy="1707538"/>
          </a:xfrm>
          <a:prstGeom prst="leftBrac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E9B5BDB-9057-0CE5-11D2-F0F8765C5D4E}"/>
              </a:ext>
            </a:extLst>
          </p:cNvPr>
          <p:cNvSpPr txBox="1"/>
          <p:nvPr/>
        </p:nvSpPr>
        <p:spPr>
          <a:xfrm>
            <a:off x="327580" y="3242610"/>
            <a:ext cx="163822" cy="59311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1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38A6E0C-6F2E-C039-77CA-8E4F083ADDD3}"/>
              </a:ext>
            </a:extLst>
          </p:cNvPr>
          <p:cNvSpPr txBox="1"/>
          <p:nvPr/>
        </p:nvSpPr>
        <p:spPr>
          <a:xfrm>
            <a:off x="6857414" y="4117506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C28BB96A-E1CD-5A75-8DBC-5CF184AD12F6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50C9228-FA7E-E532-D2C1-5BBD82FB946D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2F4EB874-6783-9814-4BF8-9ED50298F19B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F1976F8F-589A-C3CF-FC65-EF3F5D57D6DB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316DDAC5-D58F-2060-E584-02D7F56FFF4C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D2D134FB-B8F6-8458-3291-6A88AFFCD8B9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2B06660B-7125-B656-4DC7-BEABA3843DC9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DF5D6B57-C618-257C-3F86-EA2B9EE9F7A0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105" name="矩形 104">
            <a:extLst>
              <a:ext uri="{FF2B5EF4-FFF2-40B4-BE49-F238E27FC236}">
                <a16:creationId xmlns:a16="http://schemas.microsoft.com/office/drawing/2014/main" id="{67777655-6D20-A5FA-6628-BF3490CD9BCD}"/>
              </a:ext>
            </a:extLst>
          </p:cNvPr>
          <p:cNvSpPr/>
          <p:nvPr/>
        </p:nvSpPr>
        <p:spPr>
          <a:xfrm>
            <a:off x="3362659" y="3351231"/>
            <a:ext cx="777293" cy="653833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S</a:t>
            </a:r>
            <a:r>
              <a:rPr lang="en-US" altLang="zh-TW" sz="1400" b="1" baseline="-25000" dirty="0">
                <a:solidFill>
                  <a:schemeClr val="accent4"/>
                </a:solidFill>
                <a:ea typeface="微軟正黑體" panose="020B0604030504040204" pitchFamily="34" charset="-120"/>
              </a:rPr>
              <a:t> i-1</a:t>
            </a: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1D80986B-97EA-E875-925F-981EF8730858}"/>
              </a:ext>
            </a:extLst>
          </p:cNvPr>
          <p:cNvCxnSpPr/>
          <p:nvPr/>
        </p:nvCxnSpPr>
        <p:spPr>
          <a:xfrm>
            <a:off x="196439" y="6741368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51DC33A3-32D7-86B9-31E1-563D943AA79C}"/>
              </a:ext>
            </a:extLst>
          </p:cNvPr>
          <p:cNvSpPr txBox="1"/>
          <p:nvPr/>
        </p:nvSpPr>
        <p:spPr>
          <a:xfrm>
            <a:off x="3203848" y="2806163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F8AC103-62CE-19F9-C7F2-A5616E34FE80}"/>
              </a:ext>
            </a:extLst>
          </p:cNvPr>
          <p:cNvSpPr txBox="1"/>
          <p:nvPr/>
        </p:nvSpPr>
        <p:spPr>
          <a:xfrm>
            <a:off x="5646742" y="1192056"/>
            <a:ext cx="3027602" cy="719679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Attention</a:t>
            </a:r>
            <a:r>
              <a:rPr lang="zh-TW" altLang="en-US" sz="1200" dirty="0"/>
              <a:t> </a:t>
            </a:r>
            <a:r>
              <a:rPr lang="en-US" altLang="zh-TW" sz="1200" dirty="0"/>
              <a:t>View: </a:t>
            </a:r>
            <a:br>
              <a:rPr lang="en-US" altLang="zh-TW" sz="1200" dirty="0"/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Out =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softmax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)V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  <a:sym typeface="Wingdings" panose="05000000000000000000" pitchFamily="2" charset="2"/>
              </a:rPr>
              <a:t>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az-Cyrl-AZ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Ꙩ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M) •V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Global 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因果性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,Training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與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Prefill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階段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全部資料一起來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</a:p>
          <a:p>
            <a:pPr lvl="0"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Chunk</a:t>
            </a:r>
            <a:r>
              <a:rPr lang="zh-TW" altLang="en-US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處理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.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3A055BD-0CF7-9CEB-3436-625131266067}"/>
              </a:ext>
            </a:extLst>
          </p:cNvPr>
          <p:cNvSpPr txBox="1"/>
          <p:nvPr/>
        </p:nvSpPr>
        <p:spPr>
          <a:xfrm>
            <a:off x="5643476" y="1990820"/>
            <a:ext cx="3027602" cy="1137685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RNN: (Hidden State), favor inference</a:t>
            </a:r>
          </a:p>
          <a:p>
            <a:r>
              <a:rPr lang="en-US" altLang="zh-TW" sz="1200" dirty="0"/>
              <a:t>Out = Q </a:t>
            </a:r>
            <a:r>
              <a:rPr lang="en-US" altLang="zh-TW" sz="1200" dirty="0">
                <a:sym typeface="Wingdings" panose="05000000000000000000" pitchFamily="2" charset="2"/>
              </a:rPr>
              <a:t>• 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 </a:t>
            </a:r>
            <a:r>
              <a:rPr lang="en-US" altLang="zh-TW" sz="1200" dirty="0">
                <a:sym typeface="Wingdings" panose="05000000000000000000" pitchFamily="2" charset="2"/>
              </a:rPr>
              <a:t>• </a:t>
            </a:r>
            <a:r>
              <a:rPr lang="en-US" altLang="zh-TW" sz="1200" dirty="0"/>
              <a:t>V) </a:t>
            </a:r>
          </a:p>
          <a:p>
            <a:r>
              <a:rPr lang="en-US" altLang="zh-TW" sz="1200" dirty="0"/>
              <a:t>O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 =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0~i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0~i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i~1</a:t>
            </a:r>
            <a:r>
              <a:rPr lang="en-US" altLang="zh-TW" sz="1200" dirty="0"/>
              <a:t>+k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i-1 </a:t>
            </a:r>
            <a:r>
              <a:rPr lang="en-US" altLang="zh-TW" sz="1200" dirty="0"/>
              <a:t>+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lang="zh-TW" altLang="en-US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  <a:sym typeface="Wingdings" panose="05000000000000000000" pitchFamily="2" charset="2"/>
              </a:rPr>
              <a:t>隱藏矩陣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有利於平行的實作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</a:t>
            </a:r>
            <a:endParaRPr kumimoji="0" lang="zh-TW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endParaRPr lang="zh-TW" altLang="en-US" sz="12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99A17F-C8FA-144C-9746-5C544BFA7C47}"/>
              </a:ext>
            </a:extLst>
          </p:cNvPr>
          <p:cNvSpPr/>
          <p:nvPr/>
        </p:nvSpPr>
        <p:spPr>
          <a:xfrm rot="5400000">
            <a:off x="117192" y="4613737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C659C00-F108-9AFF-93AA-64D303674647}"/>
              </a:ext>
            </a:extLst>
          </p:cNvPr>
          <p:cNvSpPr txBox="1"/>
          <p:nvPr/>
        </p:nvSpPr>
        <p:spPr>
          <a:xfrm>
            <a:off x="5849302" y="4117506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7919357-781A-4363-AEE4-4A142848CFFD}"/>
              </a:ext>
            </a:extLst>
          </p:cNvPr>
          <p:cNvSpPr txBox="1"/>
          <p:nvPr/>
        </p:nvSpPr>
        <p:spPr>
          <a:xfrm>
            <a:off x="6065326" y="4117506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ECCD530-EE31-4059-40A4-64FF6A8BA373}"/>
              </a:ext>
            </a:extLst>
          </p:cNvPr>
          <p:cNvSpPr txBox="1"/>
          <p:nvPr/>
        </p:nvSpPr>
        <p:spPr>
          <a:xfrm>
            <a:off x="6641390" y="4117506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E6695D2-14C9-BD74-576C-191B351E01E4}"/>
              </a:ext>
            </a:extLst>
          </p:cNvPr>
          <p:cNvSpPr txBox="1"/>
          <p:nvPr/>
        </p:nvSpPr>
        <p:spPr>
          <a:xfrm>
            <a:off x="6281350" y="4117506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7327894-7D03-DC97-9449-110F3F216AEC}"/>
              </a:ext>
            </a:extLst>
          </p:cNvPr>
          <p:cNvSpPr txBox="1"/>
          <p:nvPr/>
        </p:nvSpPr>
        <p:spPr>
          <a:xfrm>
            <a:off x="3203848" y="2588789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604C9EC5-ACB6-5CA5-504E-076AD25DC2E4}"/>
              </a:ext>
            </a:extLst>
          </p:cNvPr>
          <p:cNvSpPr txBox="1"/>
          <p:nvPr/>
        </p:nvSpPr>
        <p:spPr>
          <a:xfrm>
            <a:off x="3203848" y="2019108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457F0FE-0D05-4334-2253-0FD86D2712D9}"/>
              </a:ext>
            </a:extLst>
          </p:cNvPr>
          <p:cNvSpPr txBox="1"/>
          <p:nvPr/>
        </p:nvSpPr>
        <p:spPr>
          <a:xfrm>
            <a:off x="3203848" y="1772816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0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242CE2F6-4EAD-400B-3677-3E345C0F98B0}"/>
              </a:ext>
            </a:extLst>
          </p:cNvPr>
          <p:cNvSpPr txBox="1"/>
          <p:nvPr/>
        </p:nvSpPr>
        <p:spPr>
          <a:xfrm>
            <a:off x="3203848" y="2266243"/>
            <a:ext cx="766847" cy="290927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vert="eaVert" wrap="none" lIns="9144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1330E8D-B35C-0E13-12F9-6DFAD187509D}"/>
              </a:ext>
            </a:extLst>
          </p:cNvPr>
          <p:cNvSpPr/>
          <p:nvPr/>
        </p:nvSpPr>
        <p:spPr>
          <a:xfrm>
            <a:off x="3203847" y="3144959"/>
            <a:ext cx="766847" cy="653834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18288" rIns="0" bIns="0" rtlCol="0" anchor="t" anchorCtr="0"/>
          <a:lstStyle/>
          <a:p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</a:t>
            </a:r>
            <a:r>
              <a:rPr lang="en-US" altLang="zh-TW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0</a:t>
            </a:r>
            <a:endParaRPr lang="zh-TW" altLang="en-US" sz="12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58C3CB-BE98-507A-8DCA-1128F0830A74}"/>
              </a:ext>
            </a:extLst>
          </p:cNvPr>
          <p:cNvSpPr txBox="1"/>
          <p:nvPr/>
        </p:nvSpPr>
        <p:spPr>
          <a:xfrm>
            <a:off x="2937284" y="3154439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435D4F89-AF7E-D4D6-CE1A-46A116B6140D}"/>
              </a:ext>
            </a:extLst>
          </p:cNvPr>
          <p:cNvSpPr txBox="1"/>
          <p:nvPr/>
        </p:nvSpPr>
        <p:spPr>
          <a:xfrm>
            <a:off x="1929172" y="3154439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D3ABE5F-7B99-9445-FC9F-9D806AEEAF1D}"/>
              </a:ext>
            </a:extLst>
          </p:cNvPr>
          <p:cNvSpPr txBox="1"/>
          <p:nvPr/>
        </p:nvSpPr>
        <p:spPr>
          <a:xfrm>
            <a:off x="2145196" y="3154439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B6B5E85D-4894-24C5-F987-2FB0578D9B7C}"/>
              </a:ext>
            </a:extLst>
          </p:cNvPr>
          <p:cNvSpPr txBox="1"/>
          <p:nvPr/>
        </p:nvSpPr>
        <p:spPr>
          <a:xfrm>
            <a:off x="2721260" y="3154439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A4A2CE79-2392-418F-7FE2-5A84DA2405CD}"/>
              </a:ext>
            </a:extLst>
          </p:cNvPr>
          <p:cNvSpPr txBox="1"/>
          <p:nvPr/>
        </p:nvSpPr>
        <p:spPr>
          <a:xfrm>
            <a:off x="2361220" y="3154439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D844FCB-6A4C-BB81-B39F-153A9A9DFC8E}"/>
              </a:ext>
            </a:extLst>
          </p:cNvPr>
          <p:cNvSpPr txBox="1"/>
          <p:nvPr/>
        </p:nvSpPr>
        <p:spPr>
          <a:xfrm>
            <a:off x="7505715" y="3418421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18F84F-6A9D-10A9-2342-7913D9335F86}"/>
              </a:ext>
            </a:extLst>
          </p:cNvPr>
          <p:cNvSpPr/>
          <p:nvPr/>
        </p:nvSpPr>
        <p:spPr>
          <a:xfrm>
            <a:off x="1366214" y="538806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FFF3627-5BF4-5688-C389-6C75579C4BF9}"/>
              </a:ext>
            </a:extLst>
          </p:cNvPr>
          <p:cNvSpPr/>
          <p:nvPr/>
        </p:nvSpPr>
        <p:spPr>
          <a:xfrm>
            <a:off x="1447081" y="546959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CA43EF8-ECB5-B5C0-09B8-280B541B2CDC}"/>
              </a:ext>
            </a:extLst>
          </p:cNvPr>
          <p:cNvSpPr/>
          <p:nvPr/>
        </p:nvSpPr>
        <p:spPr>
          <a:xfrm>
            <a:off x="1547664" y="558922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4B90B7F-4E7C-40A9-68BF-658D47030760}"/>
              </a:ext>
            </a:extLst>
          </p:cNvPr>
          <p:cNvSpPr/>
          <p:nvPr/>
        </p:nvSpPr>
        <p:spPr>
          <a:xfrm>
            <a:off x="3635896" y="554273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0EBC2C99-051D-1A8C-FA89-789E91051686}"/>
              </a:ext>
            </a:extLst>
          </p:cNvPr>
          <p:cNvGrpSpPr/>
          <p:nvPr/>
        </p:nvGrpSpPr>
        <p:grpSpPr>
          <a:xfrm>
            <a:off x="208087" y="5369426"/>
            <a:ext cx="981422" cy="1155918"/>
            <a:chOff x="1223839" y="4497831"/>
            <a:chExt cx="981422" cy="1155918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E53F2F20-3538-8EF5-E325-625A87CFF3B1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A755035E-797B-724F-F97D-1AA44912DFE5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B469E8D9-6E60-D809-5379-6EF9DC8A0FBC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0BCF83CC-C0FC-A6D4-4327-CD423B0FB698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43" name="左大括弧 42">
              <a:extLst>
                <a:ext uri="{FF2B5EF4-FFF2-40B4-BE49-F238E27FC236}">
                  <a16:creationId xmlns:a16="http://schemas.microsoft.com/office/drawing/2014/main" id="{5B3F2960-F063-1E79-30D7-2D331DC30912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614600A7-895C-4B9E-2086-6C164134CC75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41F2D5E6-BB46-8AE0-20A8-7D731FE881BA}"/>
              </a:ext>
            </a:extLst>
          </p:cNvPr>
          <p:cNvSpPr txBox="1"/>
          <p:nvPr/>
        </p:nvSpPr>
        <p:spPr>
          <a:xfrm>
            <a:off x="510028" y="612250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67716BF-F2E0-7A2B-46C8-97B004720FBB}"/>
              </a:ext>
            </a:extLst>
          </p:cNvPr>
          <p:cNvSpPr/>
          <p:nvPr/>
        </p:nvSpPr>
        <p:spPr>
          <a:xfrm>
            <a:off x="1889320" y="572216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DE3C29B2-04B4-6AF9-33D5-2FBCD439807A}"/>
              </a:ext>
            </a:extLst>
          </p:cNvPr>
          <p:cNvSpPr txBox="1"/>
          <p:nvPr/>
        </p:nvSpPr>
        <p:spPr>
          <a:xfrm>
            <a:off x="1662274" y="573169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43B6497-6F2C-5FF6-9544-41D9076E4A82}"/>
              </a:ext>
            </a:extLst>
          </p:cNvPr>
          <p:cNvSpPr/>
          <p:nvPr/>
        </p:nvSpPr>
        <p:spPr>
          <a:xfrm>
            <a:off x="2478048" y="572216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1E3D73A-E6E9-6CD7-24FB-B00AF9BA3832}"/>
              </a:ext>
            </a:extLst>
          </p:cNvPr>
          <p:cNvSpPr txBox="1"/>
          <p:nvPr/>
        </p:nvSpPr>
        <p:spPr>
          <a:xfrm>
            <a:off x="3131840" y="575377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3CDE3740-12D7-09A6-BC28-5ED6F1768D24}"/>
              </a:ext>
            </a:extLst>
          </p:cNvPr>
          <p:cNvSpPr txBox="1"/>
          <p:nvPr/>
        </p:nvSpPr>
        <p:spPr>
          <a:xfrm>
            <a:off x="2514397" y="551616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BBA056B1-20F1-344F-9FE5-8636BF9D8326}"/>
              </a:ext>
            </a:extLst>
          </p:cNvPr>
          <p:cNvSpPr txBox="1"/>
          <p:nvPr/>
        </p:nvSpPr>
        <p:spPr>
          <a:xfrm>
            <a:off x="2909659" y="572216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C16A4CB-87D0-3861-6C7C-634471DF07E0}"/>
              </a:ext>
            </a:extLst>
          </p:cNvPr>
          <p:cNvSpPr txBox="1"/>
          <p:nvPr/>
        </p:nvSpPr>
        <p:spPr>
          <a:xfrm>
            <a:off x="2838779" y="551684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2E72AB-F1E4-FCF8-1C57-6D61AB29F17B}"/>
              </a:ext>
            </a:extLst>
          </p:cNvPr>
          <p:cNvSpPr/>
          <p:nvPr/>
        </p:nvSpPr>
        <p:spPr>
          <a:xfrm>
            <a:off x="3635896" y="573043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3B49A473-C327-E2A0-84CF-6F37B6507BF1}"/>
              </a:ext>
            </a:extLst>
          </p:cNvPr>
          <p:cNvSpPr txBox="1"/>
          <p:nvPr/>
        </p:nvSpPr>
        <p:spPr>
          <a:xfrm>
            <a:off x="3818316" y="537226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79EA3860-1F69-2D79-602B-BA8D9B745B75}"/>
              </a:ext>
            </a:extLst>
          </p:cNvPr>
          <p:cNvSpPr txBox="1"/>
          <p:nvPr/>
        </p:nvSpPr>
        <p:spPr>
          <a:xfrm>
            <a:off x="3433425" y="549418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77001742-9F31-1689-2B00-3009AFD6C1BB}"/>
              </a:ext>
            </a:extLst>
          </p:cNvPr>
          <p:cNvSpPr txBox="1"/>
          <p:nvPr/>
        </p:nvSpPr>
        <p:spPr>
          <a:xfrm>
            <a:off x="3056969" y="621045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44F5A235-A599-CEE0-F402-1F6833A02B0B}"/>
              </a:ext>
            </a:extLst>
          </p:cNvPr>
          <p:cNvSpPr/>
          <p:nvPr/>
        </p:nvSpPr>
        <p:spPr>
          <a:xfrm rot="16200000">
            <a:off x="2100226" y="581234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1EB94B7-A142-4A8C-82A9-669902EDF512}"/>
              </a:ext>
            </a:extLst>
          </p:cNvPr>
          <p:cNvSpPr txBox="1"/>
          <p:nvPr/>
        </p:nvSpPr>
        <p:spPr>
          <a:xfrm>
            <a:off x="1916398" y="535486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894392B3-EA04-CA6F-4077-045635A3D3A2}"/>
              </a:ext>
            </a:extLst>
          </p:cNvPr>
          <p:cNvSpPr txBox="1"/>
          <p:nvPr/>
        </p:nvSpPr>
        <p:spPr>
          <a:xfrm>
            <a:off x="1890357" y="550840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895FF8EC-88B3-E494-CEBF-56740BDE2C50}"/>
              </a:ext>
            </a:extLst>
          </p:cNvPr>
          <p:cNvSpPr txBox="1"/>
          <p:nvPr/>
        </p:nvSpPr>
        <p:spPr>
          <a:xfrm>
            <a:off x="1595289" y="557719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3733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397A0-28F3-C545-90BC-B9066CC0E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FC6BB0AA-E243-AB5E-7020-6022AB0E0C78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464EECA0-4B2C-B328-327A-D6C4E66DC950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ECAC7AF0-6430-FA05-50C0-393AAA34F4F6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094E3A0B-B187-41A3-C357-27FDCED9F1B5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70C13C3-4F53-0D40-AB0D-B4B2A906CEA4}"/>
              </a:ext>
            </a:extLst>
          </p:cNvPr>
          <p:cNvSpPr/>
          <p:nvPr/>
        </p:nvSpPr>
        <p:spPr>
          <a:xfrm>
            <a:off x="6660232" y="2636912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19368FA4-FF3F-3CBB-2B90-9559B1A45B1E}"/>
              </a:ext>
            </a:extLst>
          </p:cNvPr>
          <p:cNvSpPr/>
          <p:nvPr/>
        </p:nvSpPr>
        <p:spPr>
          <a:xfrm>
            <a:off x="2051720" y="2636912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BBA5D83-4938-06D5-7142-BC46FB851ECC}"/>
              </a:ext>
            </a:extLst>
          </p:cNvPr>
          <p:cNvSpPr/>
          <p:nvPr/>
        </p:nvSpPr>
        <p:spPr>
          <a:xfrm>
            <a:off x="2187708" y="1772816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CDEE627-19C9-7F63-65C2-1D351E16DB3D}"/>
              </a:ext>
            </a:extLst>
          </p:cNvPr>
          <p:cNvSpPr/>
          <p:nvPr/>
        </p:nvSpPr>
        <p:spPr>
          <a:xfrm>
            <a:off x="2259716" y="198884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S1</a:t>
            </a:r>
            <a:r>
              <a:rPr lang="en-US" altLang="zh-TW" sz="1400" b="1" dirty="0">
                <a:solidFill>
                  <a:schemeClr val="accent4"/>
                </a:solidFill>
              </a:rPr>
              <a:t> …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96A6520-FE1A-1476-18E3-06EDB3D6160D}"/>
              </a:ext>
            </a:extLst>
          </p:cNvPr>
          <p:cNvSpPr/>
          <p:nvPr/>
        </p:nvSpPr>
        <p:spPr>
          <a:xfrm>
            <a:off x="2348745" y="235179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6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sz="1600" baseline="-250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t-2</a:t>
            </a:r>
            <a:endParaRPr lang="zh-TW" altLang="en-US" sz="1600" baseline="-250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93CCE9CC-BD77-2393-88AC-2CE00E753A0C}"/>
              </a:ext>
            </a:extLst>
          </p:cNvPr>
          <p:cNvGraphicFramePr>
            <a:graphicFrameLocks noGrp="1"/>
          </p:cNvGraphicFramePr>
          <p:nvPr/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219E3951-A155-82A0-EF3F-87F7523243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Gated DeltaNet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2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743C1426-C8B3-482C-F83B-CCFC7BF6CA57}"/>
              </a:ext>
            </a:extLst>
          </p:cNvPr>
          <p:cNvGraphicFramePr>
            <a:graphicFrameLocks noGrp="1"/>
          </p:cNvGraphicFramePr>
          <p:nvPr/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3753FD0D-7D0C-DAC9-DE3B-C018299A34A2}"/>
              </a:ext>
            </a:extLst>
          </p:cNvPr>
          <p:cNvGraphicFramePr>
            <a:graphicFrameLocks noGrp="1"/>
          </p:cNvGraphicFramePr>
          <p:nvPr/>
        </p:nvGraphicFramePr>
        <p:xfrm>
          <a:off x="4249808" y="271597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A1CC36B1-33FB-16EC-6B3A-26F7CF527A74}"/>
              </a:ext>
            </a:extLst>
          </p:cNvPr>
          <p:cNvSpPr txBox="1"/>
          <p:nvPr/>
        </p:nvSpPr>
        <p:spPr>
          <a:xfrm>
            <a:off x="7039322" y="2715979"/>
            <a:ext cx="166216" cy="1058435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1452E5E1-0C35-25F0-A6A7-ABD271DB255D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2862087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0CEFA7EE-5497-94A9-2020-4BE775ED908E}"/>
              </a:ext>
            </a:extLst>
          </p:cNvPr>
          <p:cNvSpPr txBox="1"/>
          <p:nvPr/>
        </p:nvSpPr>
        <p:spPr>
          <a:xfrm>
            <a:off x="1691680" y="2636912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39D6BFAD-F720-96CA-2BB7-D1F32BACF903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12900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60CE527C-60DA-3848-06F6-E7F1A50108B2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3332301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1FCC3AB7-02D0-1DC7-7170-0038B380363E}"/>
              </a:ext>
            </a:extLst>
          </p:cNvPr>
          <p:cNvSpPr txBox="1"/>
          <p:nvPr/>
        </p:nvSpPr>
        <p:spPr>
          <a:xfrm>
            <a:off x="1691680" y="3462897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9B089005-579F-B52D-0BD8-D82ADD1C39FB}"/>
              </a:ext>
            </a:extLst>
          </p:cNvPr>
          <p:cNvSpPr txBox="1"/>
          <p:nvPr/>
        </p:nvSpPr>
        <p:spPr>
          <a:xfrm>
            <a:off x="1691680" y="2060872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1518A7D2-C707-D25D-960C-223F12A7938A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5852B7B4-971C-41B3-0CFF-B456A7A76F17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B8D5DD5F-B59F-0023-E08D-9F5807E0E3A4}"/>
              </a:ext>
            </a:extLst>
          </p:cNvPr>
          <p:cNvSpPr txBox="1"/>
          <p:nvPr/>
        </p:nvSpPr>
        <p:spPr>
          <a:xfrm>
            <a:off x="606531" y="2125325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2D531FB2-FBED-EFAD-951E-13EBF6D13D04}"/>
              </a:ext>
            </a:extLst>
          </p:cNvPr>
          <p:cNvSpPr/>
          <p:nvPr/>
        </p:nvSpPr>
        <p:spPr>
          <a:xfrm>
            <a:off x="1259632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04F57C63-4357-E3F6-792A-3D1892716F7A}"/>
              </a:ext>
            </a:extLst>
          </p:cNvPr>
          <p:cNvSpPr/>
          <p:nvPr/>
        </p:nvSpPr>
        <p:spPr>
          <a:xfrm>
            <a:off x="1259632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B6D9817B-AE03-9A73-C85A-64E982CAD0A6}"/>
              </a:ext>
            </a:extLst>
          </p:cNvPr>
          <p:cNvSpPr/>
          <p:nvPr/>
        </p:nvSpPr>
        <p:spPr>
          <a:xfrm>
            <a:off x="1259632" y="2704562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5CCA7BC3-CA2D-32B8-11E3-040F2B786F36}"/>
              </a:ext>
            </a:extLst>
          </p:cNvPr>
          <p:cNvSpPr txBox="1"/>
          <p:nvPr/>
        </p:nvSpPr>
        <p:spPr>
          <a:xfrm>
            <a:off x="1267583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D8BA48A-A36E-22D6-3594-4DBA9A2CE849}"/>
              </a:ext>
            </a:extLst>
          </p:cNvPr>
          <p:cNvSpPr txBox="1"/>
          <p:nvPr/>
        </p:nvSpPr>
        <p:spPr>
          <a:xfrm>
            <a:off x="6290667" y="2715979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0A83373-45E9-0E21-9420-6AA33D96F122}"/>
              </a:ext>
            </a:extLst>
          </p:cNvPr>
          <p:cNvSpPr txBox="1"/>
          <p:nvPr/>
        </p:nvSpPr>
        <p:spPr>
          <a:xfrm>
            <a:off x="4249808" y="2404839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A63C6278-ED76-AA86-A35C-9E164B9DB005}"/>
              </a:ext>
            </a:extLst>
          </p:cNvPr>
          <p:cNvSpPr txBox="1"/>
          <p:nvPr/>
        </p:nvSpPr>
        <p:spPr>
          <a:xfrm>
            <a:off x="3906361" y="2710920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68CA0E81-DA85-7B38-2DB1-4D83E5BC1980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465865D7-CA8A-ED69-645E-FEF83FC8165E}"/>
              </a:ext>
            </a:extLst>
          </p:cNvPr>
          <p:cNvGraphicFramePr>
            <a:graphicFrameLocks noGrp="1"/>
          </p:cNvGraphicFramePr>
          <p:nvPr/>
        </p:nvGraphicFramePr>
        <p:xfrm>
          <a:off x="2608707" y="271473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8" name="文字方塊 47">
            <a:extLst>
              <a:ext uri="{FF2B5EF4-FFF2-40B4-BE49-F238E27FC236}">
                <a16:creationId xmlns:a16="http://schemas.microsoft.com/office/drawing/2014/main" id="{70D35E03-0EDB-F23E-F57E-C8CF2EDF02C5}"/>
              </a:ext>
            </a:extLst>
          </p:cNvPr>
          <p:cNvSpPr txBox="1"/>
          <p:nvPr/>
        </p:nvSpPr>
        <p:spPr>
          <a:xfrm>
            <a:off x="6714360" y="3125921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B7549BB-5995-7878-EA55-0B07B2BE1321}"/>
              </a:ext>
            </a:extLst>
          </p:cNvPr>
          <p:cNvSpPr txBox="1"/>
          <p:nvPr/>
        </p:nvSpPr>
        <p:spPr>
          <a:xfrm>
            <a:off x="3012944" y="3080827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AFC255B-C247-B818-B7B8-C1F38080796D}"/>
              </a:ext>
            </a:extLst>
          </p:cNvPr>
          <p:cNvSpPr txBox="1"/>
          <p:nvPr/>
        </p:nvSpPr>
        <p:spPr>
          <a:xfrm>
            <a:off x="3707904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9D29AC25-DBFD-23EC-4DDF-A5E902757FD4}"/>
              </a:ext>
            </a:extLst>
          </p:cNvPr>
          <p:cNvSpPr txBox="1"/>
          <p:nvPr/>
        </p:nvSpPr>
        <p:spPr>
          <a:xfrm>
            <a:off x="4630688" y="218881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9DBB9D24-FF1A-AB42-22B8-03A0C529FB88}"/>
              </a:ext>
            </a:extLst>
          </p:cNvPr>
          <p:cNvGrpSpPr/>
          <p:nvPr/>
        </p:nvGrpSpPr>
        <p:grpSpPr>
          <a:xfrm>
            <a:off x="2869925" y="1556792"/>
            <a:ext cx="1018303" cy="1129282"/>
            <a:chOff x="3109697" y="1617872"/>
            <a:chExt cx="1018303" cy="1129282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8E9E5F58-0691-8D79-433B-90A504486B95}"/>
                </a:ext>
              </a:extLst>
            </p:cNvPr>
            <p:cNvSpPr/>
            <p:nvPr/>
          </p:nvSpPr>
          <p:spPr>
            <a:xfrm rot="10800000">
              <a:off x="3358741" y="1988840"/>
              <a:ext cx="493177" cy="758314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4A6DBCD8-60B7-8013-79F3-352440183DC2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50C87664-0831-93CA-935E-0571475991DF}"/>
                </a:ext>
              </a:extLst>
            </p:cNvPr>
            <p:cNvSpPr txBox="1"/>
            <p:nvPr/>
          </p:nvSpPr>
          <p:spPr>
            <a:xfrm>
              <a:off x="3109697" y="1617872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46A8B5E8-2899-7FC4-B029-B48FAB870F67}"/>
              </a:ext>
            </a:extLst>
          </p:cNvPr>
          <p:cNvSpPr txBox="1"/>
          <p:nvPr/>
        </p:nvSpPr>
        <p:spPr>
          <a:xfrm>
            <a:off x="5364088" y="311057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58AC86B4-9D7E-6FCB-02BE-A765F0CC84A1}"/>
              </a:ext>
            </a:extLst>
          </p:cNvPr>
          <p:cNvSpPr txBox="1"/>
          <p:nvPr/>
        </p:nvSpPr>
        <p:spPr>
          <a:xfrm>
            <a:off x="3851920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A29A16A-94B5-839F-02A1-26D44EB30F2B}"/>
              </a:ext>
            </a:extLst>
          </p:cNvPr>
          <p:cNvSpPr txBox="1"/>
          <p:nvPr/>
        </p:nvSpPr>
        <p:spPr>
          <a:xfrm>
            <a:off x="622818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79F0D78E-BF6F-E510-248D-8CB3141253AC}"/>
              </a:ext>
            </a:extLst>
          </p:cNvPr>
          <p:cNvSpPr txBox="1"/>
          <p:nvPr/>
        </p:nvSpPr>
        <p:spPr>
          <a:xfrm>
            <a:off x="6142932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1ABCBE7-6616-EF0B-20CB-22972B0B65C5}"/>
              </a:ext>
            </a:extLst>
          </p:cNvPr>
          <p:cNvSpPr txBox="1"/>
          <p:nvPr/>
        </p:nvSpPr>
        <p:spPr>
          <a:xfrm>
            <a:off x="698044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419F4B-D0B2-8146-DDC3-6367C0589CCE}"/>
              </a:ext>
            </a:extLst>
          </p:cNvPr>
          <p:cNvSpPr/>
          <p:nvPr/>
        </p:nvSpPr>
        <p:spPr>
          <a:xfrm>
            <a:off x="5580112" y="2986385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48FC0356-1209-EB19-D8A9-D9B750931C42}"/>
              </a:ext>
            </a:extLst>
          </p:cNvPr>
          <p:cNvSpPr txBox="1"/>
          <p:nvPr/>
        </p:nvSpPr>
        <p:spPr>
          <a:xfrm>
            <a:off x="5729741" y="308082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CE87676-8C58-9F50-E973-42FD610B2DB8}"/>
              </a:ext>
            </a:extLst>
          </p:cNvPr>
          <p:cNvSpPr txBox="1"/>
          <p:nvPr/>
        </p:nvSpPr>
        <p:spPr>
          <a:xfrm>
            <a:off x="6444208" y="3118872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E69513A8-D04A-BC6C-4070-879925140462}"/>
              </a:ext>
            </a:extLst>
          </p:cNvPr>
          <p:cNvSpPr txBox="1"/>
          <p:nvPr/>
        </p:nvSpPr>
        <p:spPr>
          <a:xfrm>
            <a:off x="587996" y="302274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C6CA91EA-4CF3-B2E9-3CF1-FCBB091FE395}"/>
              </a:ext>
            </a:extLst>
          </p:cNvPr>
          <p:cNvSpPr txBox="1"/>
          <p:nvPr/>
        </p:nvSpPr>
        <p:spPr>
          <a:xfrm>
            <a:off x="216322" y="3754028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D5A9AE44-8E64-4952-DD2D-7E81E5FDE260}"/>
              </a:ext>
            </a:extLst>
          </p:cNvPr>
          <p:cNvSpPr txBox="1"/>
          <p:nvPr/>
        </p:nvSpPr>
        <p:spPr>
          <a:xfrm>
            <a:off x="784363" y="3755098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80289058-F5AE-C7A1-1624-76DCA8940BDD}"/>
              </a:ext>
            </a:extLst>
          </p:cNvPr>
          <p:cNvSpPr txBox="1"/>
          <p:nvPr/>
        </p:nvSpPr>
        <p:spPr>
          <a:xfrm>
            <a:off x="496094" y="3755099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CA9DAA0E-0A6F-D3D9-30C9-3878A6ADA34D}"/>
              </a:ext>
            </a:extLst>
          </p:cNvPr>
          <p:cNvGrpSpPr/>
          <p:nvPr/>
        </p:nvGrpSpPr>
        <p:grpSpPr>
          <a:xfrm>
            <a:off x="208087" y="5009386"/>
            <a:ext cx="981422" cy="1155918"/>
            <a:chOff x="1223839" y="4497831"/>
            <a:chExt cx="981422" cy="1155918"/>
          </a:xfrm>
        </p:grpSpPr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2DA41433-A20B-AE1B-1507-12E8FCE8E319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1A075305-1E21-300E-6DCB-BB2FE8FF52B7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54F198EF-F40E-C333-6AD5-174194E34BE1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B3BFFB55-3254-6308-00AA-2F8798156457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8" name="左大括弧 7">
              <a:extLst>
                <a:ext uri="{FF2B5EF4-FFF2-40B4-BE49-F238E27FC236}">
                  <a16:creationId xmlns:a16="http://schemas.microsoft.com/office/drawing/2014/main" id="{C9BB9107-A959-BB7F-1CD4-B3050CA28531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A84A4C7E-FA12-B61E-CEC2-024F6174FB26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8322BB64-1B5E-24A8-1D4A-5BCC52DAD338}"/>
              </a:ext>
            </a:extLst>
          </p:cNvPr>
          <p:cNvSpPr txBox="1"/>
          <p:nvPr/>
        </p:nvSpPr>
        <p:spPr>
          <a:xfrm>
            <a:off x="510028" y="576246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475D7470-C934-3ECA-96A6-437D7CA43208}"/>
              </a:ext>
            </a:extLst>
          </p:cNvPr>
          <p:cNvSpPr/>
          <p:nvPr/>
        </p:nvSpPr>
        <p:spPr>
          <a:xfrm rot="5400000">
            <a:off x="6017552" y="2210257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500717E-3F44-1E49-756C-0A6D9A208A6E}"/>
              </a:ext>
            </a:extLst>
          </p:cNvPr>
          <p:cNvSpPr/>
          <p:nvPr/>
        </p:nvSpPr>
        <p:spPr>
          <a:xfrm>
            <a:off x="7560800" y="301913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A52A7F7D-DA3E-6812-FEDF-8A9AFB93DA42}"/>
              </a:ext>
            </a:extLst>
          </p:cNvPr>
          <p:cNvSpPr txBox="1"/>
          <p:nvPr/>
        </p:nvSpPr>
        <p:spPr>
          <a:xfrm>
            <a:off x="7249636" y="3332301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482CF50-A79E-3412-5B80-5C71F8336E28}"/>
              </a:ext>
            </a:extLst>
          </p:cNvPr>
          <p:cNvSpPr txBox="1"/>
          <p:nvPr/>
        </p:nvSpPr>
        <p:spPr>
          <a:xfrm>
            <a:off x="6701937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D0CD3FF-BDB8-9750-232E-435BBD1AC01D}"/>
              </a:ext>
            </a:extLst>
          </p:cNvPr>
          <p:cNvSpPr/>
          <p:nvPr/>
        </p:nvSpPr>
        <p:spPr>
          <a:xfrm>
            <a:off x="7528550" y="3382130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BFB4FD20-7267-0614-994D-7D4875B9F739}"/>
              </a:ext>
            </a:extLst>
          </p:cNvPr>
          <p:cNvSpPr/>
          <p:nvPr/>
        </p:nvSpPr>
        <p:spPr>
          <a:xfrm>
            <a:off x="8001706" y="3028822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B94A779D-C343-88C4-F6C6-21F83E43D5AC}"/>
              </a:ext>
            </a:extLst>
          </p:cNvPr>
          <p:cNvSpPr/>
          <p:nvPr/>
        </p:nvSpPr>
        <p:spPr>
          <a:xfrm>
            <a:off x="8604448" y="2512936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83A5632D-A468-45CA-A32C-3A6B37AFA430}"/>
              </a:ext>
            </a:extLst>
          </p:cNvPr>
          <p:cNvSpPr txBox="1"/>
          <p:nvPr/>
        </p:nvSpPr>
        <p:spPr>
          <a:xfrm>
            <a:off x="8452577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41329472-5BCF-F575-AE27-046F2384853A}"/>
              </a:ext>
            </a:extLst>
          </p:cNvPr>
          <p:cNvSpPr txBox="1"/>
          <p:nvPr/>
        </p:nvSpPr>
        <p:spPr>
          <a:xfrm>
            <a:off x="8639211" y="243588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8ACAD3D-9784-2A78-73B9-462F892C7D0B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2129733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2CBE9CD1-26F5-C55F-757D-9DCF8CADBDD5}"/>
              </a:ext>
            </a:extLst>
          </p:cNvPr>
          <p:cNvSpPr txBox="1"/>
          <p:nvPr/>
        </p:nvSpPr>
        <p:spPr>
          <a:xfrm>
            <a:off x="5724128" y="278960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F93EEC02-E882-A1CC-6B28-CF08CCCB6A00}"/>
              </a:ext>
            </a:extLst>
          </p:cNvPr>
          <p:cNvSpPr txBox="1"/>
          <p:nvPr/>
        </p:nvSpPr>
        <p:spPr>
          <a:xfrm>
            <a:off x="7542059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88369D4C-0200-18C6-8000-368BD55B56A8}"/>
              </a:ext>
            </a:extLst>
          </p:cNvPr>
          <p:cNvSpPr txBox="1"/>
          <p:nvPr/>
        </p:nvSpPr>
        <p:spPr>
          <a:xfrm>
            <a:off x="5364088" y="1873642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78B84A22-2361-294B-DB09-260698E785BE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71BAC99-A13E-2428-D208-AE05560EBAA2}"/>
              </a:ext>
            </a:extLst>
          </p:cNvPr>
          <p:cNvSpPr txBox="1"/>
          <p:nvPr/>
        </p:nvSpPr>
        <p:spPr>
          <a:xfrm>
            <a:off x="1662274" y="537165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848A4B4B-8541-5AF9-C0F6-8FBDFE2A5A76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A5BA3CF-EC4B-72B3-5728-B967654A1F2E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EBD249-DE12-7C54-F392-47773F9A7F60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A78D349-60C7-C110-9DBF-FD4000232F1C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B4AD385F-9221-902C-6456-A135E9642BF2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74D9BA7D-49D4-2A04-7317-7CBF7491A3E9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1023FA07-069A-1AA6-F3EC-6D438F165700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B66D1CEC-58C4-02CE-7815-5EB3B69FAE53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FE78BF0-EE6B-7548-B58D-C48CA2DF738B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AE5131CD-2300-CBA9-CD43-679F9EBB7FB3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B44D23D8-C4DA-27DE-16C9-6FA9510AECF0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42893BF3-61D7-4986-9F62-F3EB4C1F15E1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D4FF48C3-6600-5624-3370-E3B242159EB6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9ECECF0D-0EBA-ECCD-71EA-F1DA5D9D4124}"/>
              </a:ext>
            </a:extLst>
          </p:cNvPr>
          <p:cNvSpPr/>
          <p:nvPr/>
        </p:nvSpPr>
        <p:spPr>
          <a:xfrm>
            <a:off x="3635896" y="537039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A60B9B31-89AE-8198-75D2-2C8AE96D4CEE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15AA0210-756F-9586-38A2-CD4B0BB41304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8C53DB90-EFA7-F026-DF01-F94A8CD56E25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491318D1-A0C3-13AF-AD25-F7EC4B4AEEC5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1958B989-83EF-5819-5017-26F792DB1E0A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0FE43EB-5A25-C18C-A5B5-76880D82E86F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F06C0042-9FF6-2F6D-3F04-831C1A30668E}"/>
              </a:ext>
            </a:extLst>
          </p:cNvPr>
          <p:cNvSpPr txBox="1"/>
          <p:nvPr/>
        </p:nvSpPr>
        <p:spPr>
          <a:xfrm>
            <a:off x="1890357" y="514836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4377FE-F6FF-3028-5495-493062971939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665B2513-16AC-5394-43A5-9A25E81704AD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3254210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37E306FF-E185-9F7E-EB7A-B005FFC8BE53}"/>
              </a:ext>
            </a:extLst>
          </p:cNvPr>
          <p:cNvSpPr txBox="1"/>
          <p:nvPr/>
        </p:nvSpPr>
        <p:spPr>
          <a:xfrm>
            <a:off x="7380312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4FD21E6C-3EE1-402C-FA1E-8155BF9AB05B}"/>
              </a:ext>
            </a:extLst>
          </p:cNvPr>
          <p:cNvCxnSpPr>
            <a:cxnSpLocks/>
            <a:stCxn id="142" idx="2"/>
            <a:endCxn id="3" idx="2"/>
          </p:cNvCxnSpPr>
          <p:nvPr/>
        </p:nvCxnSpPr>
        <p:spPr>
          <a:xfrm rot="5400000" flipH="1" flipV="1">
            <a:off x="4039022" y="1526295"/>
            <a:ext cx="81548" cy="4587958"/>
          </a:xfrm>
          <a:prstGeom prst="curvedConnector3">
            <a:avLst>
              <a:gd name="adj1" fmla="val -876018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4588FCA2-C0A8-92EE-765B-A6C1833BD17A}"/>
              </a:ext>
            </a:extLst>
          </p:cNvPr>
          <p:cNvSpPr txBox="1"/>
          <p:nvPr/>
        </p:nvSpPr>
        <p:spPr>
          <a:xfrm>
            <a:off x="2211585" y="1699730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328602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D437-3C76-C591-7CF1-841A2C28F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5C8EE5EC-B4ED-842F-54A5-CAADA1D614FD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ECE50E8F-18BC-4A99-0A80-95D96FBD9B47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A1AF868A-49A7-0B57-4D73-B2F7F6E3F6EB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62AE3943-39B4-0D20-4C61-371210C77652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B8FF37-3AB9-9F66-BED3-D1FD580A06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Chunkwise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Mechanism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Chunkwise GDN boosts hardware efficiency during prefill and pre-training stages.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5D208872-97A7-7D68-2132-2E106E847313}"/>
              </a:ext>
            </a:extLst>
          </p:cNvPr>
          <p:cNvSpPr txBox="1"/>
          <p:nvPr/>
        </p:nvSpPr>
        <p:spPr>
          <a:xfrm>
            <a:off x="287524" y="980728"/>
            <a:ext cx="5868652" cy="697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Intra-chunk</a:t>
            </a:r>
            <a:r>
              <a:rPr lang="en-US" altLang="zh-TW" sz="1600" dirty="0"/>
              <a:t>: ... Attention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Inter-chuck</a:t>
            </a:r>
            <a:r>
              <a:rPr lang="en-US" altLang="zh-TW" sz="1400" dirty="0"/>
              <a:t>: .. RNN</a:t>
            </a:r>
            <a:endParaRPr lang="zh-TW" altLang="en-US" sz="12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3416AFE7-17ED-C0CC-E006-21FD81852D4E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8116506C-1ECA-9909-8924-1CB967069F0F}"/>
              </a:ext>
            </a:extLst>
          </p:cNvPr>
          <p:cNvSpPr/>
          <p:nvPr/>
        </p:nvSpPr>
        <p:spPr>
          <a:xfrm>
            <a:off x="718142" y="2687201"/>
            <a:ext cx="648072" cy="1698565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D9326B5-BC1E-1F9A-5224-0C52D7CD359E}"/>
              </a:ext>
            </a:extLst>
          </p:cNvPr>
          <p:cNvSpPr txBox="1"/>
          <p:nvPr/>
        </p:nvSpPr>
        <p:spPr>
          <a:xfrm>
            <a:off x="744644" y="2522530"/>
            <a:ext cx="601913" cy="1526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 x (c*d)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F74C320-0F4F-CC93-2437-A43B0EFCEF3D}"/>
              </a:ext>
            </a:extLst>
          </p:cNvPr>
          <p:cNvSpPr/>
          <p:nvPr/>
        </p:nvSpPr>
        <p:spPr>
          <a:xfrm>
            <a:off x="721906" y="4018750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E46D75E7-9677-E4C5-C4DB-3F03B99B3957}"/>
              </a:ext>
            </a:extLst>
          </p:cNvPr>
          <p:cNvSpPr txBox="1"/>
          <p:nvPr/>
        </p:nvSpPr>
        <p:spPr>
          <a:xfrm>
            <a:off x="904816" y="395018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4"/>
                </a:solidFill>
              </a:rPr>
              <a:t>c*d</a:t>
            </a:r>
            <a:endParaRPr lang="zh-TW" altLang="en-US" sz="1200" b="1" dirty="0">
              <a:solidFill>
                <a:schemeClr val="accent4"/>
              </a:solidFill>
            </a:endParaRPr>
          </a:p>
        </p:txBody>
      </p:sp>
      <p:sp>
        <p:nvSpPr>
          <p:cNvPr id="8" name="左大括弧 7">
            <a:extLst>
              <a:ext uri="{FF2B5EF4-FFF2-40B4-BE49-F238E27FC236}">
                <a16:creationId xmlns:a16="http://schemas.microsoft.com/office/drawing/2014/main" id="{BD927372-E06E-B1E4-0159-93AE14B01E67}"/>
              </a:ext>
            </a:extLst>
          </p:cNvPr>
          <p:cNvSpPr/>
          <p:nvPr/>
        </p:nvSpPr>
        <p:spPr>
          <a:xfrm>
            <a:off x="529278" y="2687200"/>
            <a:ext cx="132975" cy="1707538"/>
          </a:xfrm>
          <a:prstGeom prst="leftBrac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F278D05-1E42-D60F-69F9-93A578F46EFD}"/>
              </a:ext>
            </a:extLst>
          </p:cNvPr>
          <p:cNvSpPr txBox="1"/>
          <p:nvPr/>
        </p:nvSpPr>
        <p:spPr>
          <a:xfrm>
            <a:off x="327580" y="3242610"/>
            <a:ext cx="163822" cy="59311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1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76CE8D1-47AB-1033-6F33-6C6767AEE9ED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876256-578A-3C04-334E-64B4FF21DBC2}"/>
              </a:ext>
            </a:extLst>
          </p:cNvPr>
          <p:cNvSpPr txBox="1"/>
          <p:nvPr/>
        </p:nvSpPr>
        <p:spPr>
          <a:xfrm>
            <a:off x="3275856" y="3741835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4664F800-3950-0BC7-C1B9-F3F981D06D1E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BB9682FA-100A-D008-1D69-B394B854A297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F0705B5F-B936-B184-1971-A5099C6922C0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6443B15-FAC4-0EB6-6087-6C7A493EC840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B0292509-BD7D-1EB0-7084-DD74459ECB0B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2831F-9053-2F14-7907-E542F9ACB972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AE298AA8-3E41-8E79-605D-A9A1FDF8C15B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DA3EC63F-FAC1-FD80-EA79-E95902906D8C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4B560591-AEB2-ED93-A84F-608A8B872C47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4A2EEC93-F90B-3F66-E578-B88B34E63EEF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2A5512E9-BDF4-8003-1990-643C5AB4CE4F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9D9F04C7-F83B-86BA-D248-553EECE2E3AB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68821E0C-E34E-3598-D560-1A42FC6735D2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B228F63D-6B6C-31B2-F544-85CFC2F3308C}"/>
              </a:ext>
            </a:extLst>
          </p:cNvPr>
          <p:cNvSpPr/>
          <p:nvPr/>
        </p:nvSpPr>
        <p:spPr>
          <a:xfrm>
            <a:off x="6606832" y="364894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S</a:t>
            </a:r>
            <a:r>
              <a:rPr lang="en-US" altLang="zh-TW" sz="1400" b="1" baseline="-25000" dirty="0">
                <a:solidFill>
                  <a:schemeClr val="accent4"/>
                </a:solidFill>
                <a:ea typeface="微軟正黑體" panose="020B0604030504040204" pitchFamily="34" charset="-120"/>
              </a:rPr>
              <a:t> i-1</a:t>
            </a: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F1C30F33-2B7B-368A-0E57-8C30E74C7B3F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6C2B70E-97E2-BADD-161A-3E711F967DB3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2DCB25AA-2849-AD90-5BF1-64B77915B995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A68ED41B-2352-6E16-9085-E0FCE3CBB671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0A9DC567-1935-C37A-26DF-16331489FAD4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1722E73-9C71-51AA-EB3E-8B190B5FC766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E8C9AE7-866E-3929-C541-3D4DA8C659DC}"/>
              </a:ext>
            </a:extLst>
          </p:cNvPr>
          <p:cNvSpPr txBox="1"/>
          <p:nvPr/>
        </p:nvSpPr>
        <p:spPr>
          <a:xfrm>
            <a:off x="3589129" y="3454235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96DEBC7-D7DB-F5E2-299A-3E2EAED6E06F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855B046-544C-B9A5-FD8F-9AE53D74428E}"/>
              </a:ext>
            </a:extLst>
          </p:cNvPr>
          <p:cNvSpPr txBox="1"/>
          <p:nvPr/>
        </p:nvSpPr>
        <p:spPr>
          <a:xfrm>
            <a:off x="5646742" y="1192056"/>
            <a:ext cx="3027602" cy="719679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Attention</a:t>
            </a:r>
            <a:r>
              <a:rPr lang="zh-TW" altLang="en-US" sz="1200" dirty="0"/>
              <a:t> </a:t>
            </a:r>
            <a:r>
              <a:rPr lang="en-US" altLang="zh-TW" sz="1200" dirty="0"/>
              <a:t>View: </a:t>
            </a:r>
            <a:br>
              <a:rPr lang="en-US" altLang="zh-TW" sz="1200" dirty="0"/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Out =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softmax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)V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  <a:sym typeface="Wingdings" panose="05000000000000000000" pitchFamily="2" charset="2"/>
              </a:rPr>
              <a:t>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az-Cyrl-AZ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Ꙩ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M) •V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Global 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因果性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,Training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與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Prefill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階段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全部資料一起來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</a:p>
          <a:p>
            <a:pPr lvl="0"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Chunk</a:t>
            </a:r>
            <a:r>
              <a:rPr lang="zh-TW" altLang="en-US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處理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.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BD0FFEF-69EB-601E-F9D3-7FA5BF44B4F0}"/>
              </a:ext>
            </a:extLst>
          </p:cNvPr>
          <p:cNvSpPr txBox="1"/>
          <p:nvPr/>
        </p:nvSpPr>
        <p:spPr>
          <a:xfrm>
            <a:off x="5643476" y="1990820"/>
            <a:ext cx="3027602" cy="1137685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RNN: (Hidden State), favor inference</a:t>
            </a:r>
          </a:p>
          <a:p>
            <a:r>
              <a:rPr lang="en-US" altLang="zh-TW" sz="1200" dirty="0"/>
              <a:t>Out = Q </a:t>
            </a:r>
            <a:r>
              <a:rPr lang="en-US" altLang="zh-TW" sz="1200" dirty="0">
                <a:sym typeface="Wingdings" panose="05000000000000000000" pitchFamily="2" charset="2"/>
              </a:rPr>
              <a:t>• 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 </a:t>
            </a:r>
            <a:r>
              <a:rPr lang="en-US" altLang="zh-TW" sz="1200" dirty="0">
                <a:sym typeface="Wingdings" panose="05000000000000000000" pitchFamily="2" charset="2"/>
              </a:rPr>
              <a:t>• </a:t>
            </a:r>
            <a:r>
              <a:rPr lang="en-US" altLang="zh-TW" sz="1200" dirty="0"/>
              <a:t>V) </a:t>
            </a:r>
          </a:p>
          <a:p>
            <a:r>
              <a:rPr lang="en-US" altLang="zh-TW" sz="1200" dirty="0"/>
              <a:t>O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 =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0~i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0~i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i~1</a:t>
            </a:r>
            <a:r>
              <a:rPr lang="en-US" altLang="zh-TW" sz="1200" dirty="0"/>
              <a:t>+k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i-1 </a:t>
            </a:r>
            <a:r>
              <a:rPr lang="en-US" altLang="zh-TW" sz="1200" dirty="0"/>
              <a:t>+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lang="zh-TW" altLang="en-US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  <a:sym typeface="Wingdings" panose="05000000000000000000" pitchFamily="2" charset="2"/>
              </a:rPr>
              <a:t>隱藏矩陣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有利於平行的實作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</a:t>
            </a:r>
            <a:endParaRPr kumimoji="0" lang="zh-TW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endParaRPr lang="zh-TW" altLang="en-US" sz="12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FE5C9A-323F-8D9A-BE17-C1F6E669DC11}"/>
              </a:ext>
            </a:extLst>
          </p:cNvPr>
          <p:cNvSpPr/>
          <p:nvPr/>
        </p:nvSpPr>
        <p:spPr>
          <a:xfrm rot="5400000">
            <a:off x="117192" y="4613737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6BE58DE-6244-0B5C-1236-9EBBB12FE59E}"/>
              </a:ext>
            </a:extLst>
          </p:cNvPr>
          <p:cNvSpPr txBox="1"/>
          <p:nvPr/>
        </p:nvSpPr>
        <p:spPr>
          <a:xfrm>
            <a:off x="2267744" y="3731932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866CF53-7024-277C-0B2C-FCD061141AC0}"/>
              </a:ext>
            </a:extLst>
          </p:cNvPr>
          <p:cNvSpPr txBox="1"/>
          <p:nvPr/>
        </p:nvSpPr>
        <p:spPr>
          <a:xfrm>
            <a:off x="2483768" y="3731932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B04DA75-09FE-CAF1-124A-C525451EEEDE}"/>
              </a:ext>
            </a:extLst>
          </p:cNvPr>
          <p:cNvSpPr txBox="1"/>
          <p:nvPr/>
        </p:nvSpPr>
        <p:spPr>
          <a:xfrm>
            <a:off x="3059832" y="3731932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569D456-66CE-A8A1-0CC5-B2F58A468851}"/>
              </a:ext>
            </a:extLst>
          </p:cNvPr>
          <p:cNvSpPr txBox="1"/>
          <p:nvPr/>
        </p:nvSpPr>
        <p:spPr>
          <a:xfrm>
            <a:off x="2699792" y="3731932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B6BCA70-F39F-888A-C164-EB1DFE5A797B}"/>
              </a:ext>
            </a:extLst>
          </p:cNvPr>
          <p:cNvSpPr txBox="1"/>
          <p:nvPr/>
        </p:nvSpPr>
        <p:spPr>
          <a:xfrm>
            <a:off x="3589129" y="3236861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9B29351-EB1A-C761-6CEE-430643976781}"/>
              </a:ext>
            </a:extLst>
          </p:cNvPr>
          <p:cNvSpPr txBox="1"/>
          <p:nvPr/>
        </p:nvSpPr>
        <p:spPr>
          <a:xfrm>
            <a:off x="3589129" y="2667180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DFB1639-2077-D60D-32B2-87AEF2A88558}"/>
              </a:ext>
            </a:extLst>
          </p:cNvPr>
          <p:cNvSpPr txBox="1"/>
          <p:nvPr/>
        </p:nvSpPr>
        <p:spPr>
          <a:xfrm>
            <a:off x="3589129" y="2420888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0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62C9692A-4482-75A1-4A69-BF69CBE4A29A}"/>
              </a:ext>
            </a:extLst>
          </p:cNvPr>
          <p:cNvSpPr txBox="1"/>
          <p:nvPr/>
        </p:nvSpPr>
        <p:spPr>
          <a:xfrm>
            <a:off x="3589128" y="2914315"/>
            <a:ext cx="766847" cy="290927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vert="eaVert" wrap="none" lIns="9144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A3618A2-953A-7F23-E7B3-EF426D16B5E1}"/>
              </a:ext>
            </a:extLst>
          </p:cNvPr>
          <p:cNvSpPr/>
          <p:nvPr/>
        </p:nvSpPr>
        <p:spPr>
          <a:xfrm>
            <a:off x="3585106" y="3733095"/>
            <a:ext cx="766847" cy="66164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2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5F3423B-9872-DC35-B9F5-6737D8645FA7}"/>
              </a:ext>
            </a:extLst>
          </p:cNvPr>
          <p:cNvSpPr/>
          <p:nvPr/>
        </p:nvSpPr>
        <p:spPr>
          <a:xfrm>
            <a:off x="7487299" y="3591091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4FA0F17-9FC3-3EB8-677C-3BA114A33108}"/>
              </a:ext>
            </a:extLst>
          </p:cNvPr>
          <p:cNvSpPr/>
          <p:nvPr/>
        </p:nvSpPr>
        <p:spPr>
          <a:xfrm>
            <a:off x="7559307" y="3807115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S1</a:t>
            </a:r>
            <a:r>
              <a:rPr lang="en-US" altLang="zh-TW" sz="1400" b="1" dirty="0">
                <a:solidFill>
                  <a:schemeClr val="accent4"/>
                </a:solidFill>
              </a:rPr>
              <a:t> …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C1E98EC-CBAC-B471-ABFE-D09C63FB015D}"/>
              </a:ext>
            </a:extLst>
          </p:cNvPr>
          <p:cNvSpPr/>
          <p:nvPr/>
        </p:nvSpPr>
        <p:spPr>
          <a:xfrm>
            <a:off x="7648336" y="4170065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6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sz="1600" baseline="-250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t-2</a:t>
            </a:r>
            <a:endParaRPr lang="zh-TW" altLang="en-US" sz="1600" baseline="-250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12EC0C70-D215-232D-C287-AFCB5CC25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086735"/>
              </p:ext>
            </p:extLst>
          </p:nvPr>
        </p:nvGraphicFramePr>
        <p:xfrm>
          <a:off x="7908298" y="4533014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29" name="文字方塊 28">
            <a:extLst>
              <a:ext uri="{FF2B5EF4-FFF2-40B4-BE49-F238E27FC236}">
                <a16:creationId xmlns:a16="http://schemas.microsoft.com/office/drawing/2014/main" id="{653DD206-5ACE-40AE-397A-58155BF40390}"/>
              </a:ext>
            </a:extLst>
          </p:cNvPr>
          <p:cNvSpPr txBox="1"/>
          <p:nvPr/>
        </p:nvSpPr>
        <p:spPr>
          <a:xfrm>
            <a:off x="8312535" y="4899102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564DB07-ABEC-86FE-D056-548AED0F5E8A}"/>
              </a:ext>
            </a:extLst>
          </p:cNvPr>
          <p:cNvSpPr txBox="1"/>
          <p:nvPr/>
        </p:nvSpPr>
        <p:spPr>
          <a:xfrm>
            <a:off x="7511176" y="351800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76484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/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sub>
                    </m:sSub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TW" sz="12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blipFill>
                <a:blip r:embed="rId3"/>
                <a:stretch>
                  <a:fillRect l="-4348" t="-9449" r="-978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矩形 47">
            <a:extLst>
              <a:ext uri="{FF2B5EF4-FFF2-40B4-BE49-F238E27FC236}">
                <a16:creationId xmlns:a16="http://schemas.microsoft.com/office/drawing/2014/main" id="{53738325-0B54-231E-E74D-B3F86F7A3B6F}"/>
              </a:ext>
            </a:extLst>
          </p:cNvPr>
          <p:cNvSpPr/>
          <p:nvPr/>
        </p:nvSpPr>
        <p:spPr>
          <a:xfrm>
            <a:off x="4483107" y="283890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/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blipFill>
                <a:blip r:embed="rId5"/>
                <a:stretch>
                  <a:fillRect l="-2302" t="-152941" r="-512" b="-22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/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blipFill>
                <a:blip r:embed="rId6"/>
                <a:stretch>
                  <a:fillRect l="-1395" t="-128947" b="-19736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群組 15">
            <a:extLst>
              <a:ext uri="{FF2B5EF4-FFF2-40B4-BE49-F238E27FC236}">
                <a16:creationId xmlns:a16="http://schemas.microsoft.com/office/drawing/2014/main" id="{2015DB44-9A01-49F0-904E-7442EE3F5734}"/>
              </a:ext>
            </a:extLst>
          </p:cNvPr>
          <p:cNvGrpSpPr/>
          <p:nvPr/>
        </p:nvGrpSpPr>
        <p:grpSpPr>
          <a:xfrm>
            <a:off x="4502131" y="3114334"/>
            <a:ext cx="4219379" cy="2119880"/>
            <a:chOff x="92667" y="1607972"/>
            <a:chExt cx="3923392" cy="21198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/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limUpp>
                        <m:limUppPr>
                          <m:ctrl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1200" b="0" i="1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dxd</m:t>
                          </m:r>
                        </m:lim>
                      </m:limUp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b="0" i="0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b="0" i="1" dirty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ts val="1000"/>
                    </a:lnSpc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>
                          <a:lumMod val="65000"/>
                        </a:schemeClr>
                      </a:solidFill>
                      <a:effectLst/>
                      <a:uLnTx/>
                      <a:uFillTx/>
                      <a:latin typeface="Calibri"/>
                      <a:ea typeface="新細明體" panose="02020500000000000000" pitchFamily="18" charset="-120"/>
                      <a:cs typeface="+mn-cs"/>
                    </a:rPr>
                    <a:t> … </a:t>
                  </a:r>
                  <a:r>
                    <a:rPr lang="zh-TW" altLang="en-US" sz="1200" dirty="0">
                      <a:solidFill>
                        <a:schemeClr val="bg1">
                          <a:lumMod val="65000"/>
                        </a:schemeClr>
                      </a:solidFill>
                      <a:sym typeface="Wingdings" panose="05000000000000000000" pitchFamily="2" charset="2"/>
                    </a:rPr>
                    <a:t> 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blipFill>
                  <a:blip r:embed="rId7"/>
                  <a:stretch>
                    <a:fillRect l="-1608" t="-7576"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/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sSub>
                          <m:sSub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QK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a:rPr lang="el-GR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𝚪</m:t>
                            </m:r>
                          </m:e>
                        </m:d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blipFill>
                  <a:blip r:embed="rId10"/>
                  <a:stretch>
                    <a:fillRect l="-2632" b="-22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" name="矩形 41">
            <a:extLst>
              <a:ext uri="{FF2B5EF4-FFF2-40B4-BE49-F238E27FC236}">
                <a16:creationId xmlns:a16="http://schemas.microsoft.com/office/drawing/2014/main" id="{7BB58FC8-2AE0-E996-2872-D8CF5B30E2C9}"/>
              </a:ext>
            </a:extLst>
          </p:cNvPr>
          <p:cNvSpPr/>
          <p:nvPr/>
        </p:nvSpPr>
        <p:spPr>
          <a:xfrm>
            <a:off x="4470216" y="108910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Linear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/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blipFill>
                <a:blip r:embed="rId12"/>
                <a:stretch>
                  <a:fillRect l="-1724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2E0126CD-C3E3-1EA8-1F9C-A54B7CFE201E}"/>
              </a:ext>
            </a:extLst>
          </p:cNvPr>
          <p:cNvSpPr/>
          <p:nvPr/>
        </p:nvSpPr>
        <p:spPr>
          <a:xfrm>
            <a:off x="4483107" y="540457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/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blipFill>
                <a:blip r:embed="rId13"/>
                <a:stretch>
                  <a:fillRect l="-1331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63B74FCF-AF97-DC5E-D9B0-234CBF97545B}"/>
              </a:ext>
            </a:extLst>
          </p:cNvPr>
          <p:cNvSpPr/>
          <p:nvPr/>
        </p:nvSpPr>
        <p:spPr>
          <a:xfrm>
            <a:off x="358318" y="382039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/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 </a:t>
                </a:r>
              </a:p>
              <a:p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blipFill>
                <a:blip r:embed="rId14"/>
                <a:stretch>
                  <a:fillRect l="-1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6FA136D-9401-A6D7-7D1B-9FAA375CB6E5}"/>
              </a:ext>
            </a:extLst>
          </p:cNvPr>
          <p:cNvSpPr/>
          <p:nvPr/>
        </p:nvSpPr>
        <p:spPr>
          <a:xfrm>
            <a:off x="358318" y="261402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Inter-chunk: Recurrent Scan Serially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/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blipFill>
                <a:blip r:embed="rId15"/>
                <a:stretch>
                  <a:fillRect l="-1639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816DC84B-8288-C92C-0488-C3FE5B59284D}"/>
              </a:ext>
            </a:extLst>
          </p:cNvPr>
          <p:cNvSpPr/>
          <p:nvPr/>
        </p:nvSpPr>
        <p:spPr>
          <a:xfrm>
            <a:off x="358318" y="200831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Intra-chunk: Training and Prefill Parallelly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/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altLang="zh-TW" sz="1200" dirty="0">
                    <a:latin typeface="Cambria Math" panose="02040503050406030204" pitchFamily="18" charset="0"/>
                  </a:rPr>
                  <a:t>B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blipFill>
                <a:blip r:embed="rId16"/>
                <a:stretch>
                  <a:fillRect l="-2914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421618EA-E23F-597C-4315-0DE47907302C}"/>
              </a:ext>
            </a:extLst>
          </p:cNvPr>
          <p:cNvSpPr txBox="1"/>
          <p:nvPr/>
        </p:nvSpPr>
        <p:spPr>
          <a:xfrm>
            <a:off x="624334" y="5220677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8D61-2B6F-C5C7-F5AE-29A4CB22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9F4D0FA-4C8B-C31E-3460-A7062B25E091}"/>
                  </a:ext>
                </a:extLst>
              </p:cNvPr>
              <p:cNvSpPr txBox="1"/>
              <p:nvPr/>
            </p:nvSpPr>
            <p:spPr>
              <a:xfrm>
                <a:off x="442078" y="1055142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9F4D0FA-4C8B-C31E-3460-A7062B25E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1055142"/>
                <a:ext cx="2016224" cy="568059"/>
              </a:xfrm>
              <a:prstGeom prst="rect">
                <a:avLst/>
              </a:prstGeom>
              <a:blipFill>
                <a:blip r:embed="rId3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4F312939-F2E5-D791-649A-58DE06372C26}"/>
                  </a:ext>
                </a:extLst>
              </p:cNvPr>
              <p:cNvSpPr txBox="1"/>
              <p:nvPr/>
            </p:nvSpPr>
            <p:spPr>
              <a:xfrm>
                <a:off x="449931" y="336908"/>
                <a:ext cx="4052200" cy="6183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m:rPr>
                            <m:brk m:alnAt="25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𝑥𝑑</m:t>
                        </m:r>
                      </m:sup>
                    </m:sSup>
                  </m:oMath>
                </a14:m>
                <a:endParaRPr lang="en-US" altLang="zh-TW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TW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=(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m:rPr>
                            <m:brk m:alnAt="25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</m:e>
                    </m:nary>
                    <m:r>
                      <a:rPr lang="en-US" altLang="zh-TW" sz="1200" i="1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m:rPr>
                            <m:brk m:alnAt="25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i="1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m:rPr>
                            <m:brk m:alnAt="25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4F312939-F2E5-D791-649A-58DE06372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336908"/>
                <a:ext cx="4052200" cy="618311"/>
              </a:xfrm>
              <a:prstGeom prst="rect">
                <a:avLst/>
              </a:prstGeom>
              <a:blipFill>
                <a:blip r:embed="rId4"/>
                <a:stretch>
                  <a:fillRect l="-1955" t="-17647" r="-150" b="-7451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矩形 41">
            <a:extLst>
              <a:ext uri="{FF2B5EF4-FFF2-40B4-BE49-F238E27FC236}">
                <a16:creationId xmlns:a16="http://schemas.microsoft.com/office/drawing/2014/main" id="{184EE171-6838-20C2-9B6F-346922E99C5B}"/>
              </a:ext>
            </a:extLst>
          </p:cNvPr>
          <p:cNvSpPr/>
          <p:nvPr/>
        </p:nvSpPr>
        <p:spPr>
          <a:xfrm>
            <a:off x="361536" y="188640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Vanilla Linear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28E42758-333E-CA75-84E7-C000FE0DFA02}"/>
                  </a:ext>
                </a:extLst>
              </p:cNvPr>
              <p:cNvSpPr txBox="1"/>
              <p:nvPr/>
            </p:nvSpPr>
            <p:spPr>
              <a:xfrm>
                <a:off x="4940957" y="6154871"/>
                <a:ext cx="1734864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28E42758-333E-CA75-84E7-C000FE0DFA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0957" y="6154871"/>
                <a:ext cx="1734864" cy="504056"/>
              </a:xfrm>
              <a:prstGeom prst="rect">
                <a:avLst/>
              </a:prstGeom>
              <a:blipFill>
                <a:blip r:embed="rId5"/>
                <a:stretch>
                  <a:fillRect l="-2817" t="-62195" b="-3536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EDAC2B7E-BFEA-4AB8-64F6-1FF1E0424D16}"/>
              </a:ext>
            </a:extLst>
          </p:cNvPr>
          <p:cNvSpPr/>
          <p:nvPr/>
        </p:nvSpPr>
        <p:spPr>
          <a:xfrm>
            <a:off x="4886664" y="5970204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D57AF0D-A40B-516B-E475-DA7E3A2D338F}"/>
                  </a:ext>
                </a:extLst>
              </p:cNvPr>
              <p:cNvSpPr txBox="1"/>
              <p:nvPr/>
            </p:nvSpPr>
            <p:spPr>
              <a:xfrm>
                <a:off x="5152679" y="5699192"/>
                <a:ext cx="1285241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D57AF0D-A40B-516B-E475-DA7E3A2D3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679" y="5699192"/>
                <a:ext cx="1285241" cy="184666"/>
              </a:xfrm>
              <a:prstGeom prst="rect">
                <a:avLst/>
              </a:prstGeom>
              <a:blipFill>
                <a:blip r:embed="rId6"/>
                <a:stretch>
                  <a:fillRect l="-4265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EF1F9D10-D41F-6AE3-4161-10453FCEBAEF}"/>
              </a:ext>
            </a:extLst>
          </p:cNvPr>
          <p:cNvSpPr txBox="1"/>
          <p:nvPr/>
        </p:nvSpPr>
        <p:spPr>
          <a:xfrm>
            <a:off x="4950836" y="6469599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CCCBE07E-79C2-A256-C397-276D086B60B7}"/>
                  </a:ext>
                </a:extLst>
              </p:cNvPr>
              <p:cNvSpPr txBox="1"/>
              <p:nvPr/>
            </p:nvSpPr>
            <p:spPr>
              <a:xfrm>
                <a:off x="442078" y="2572909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CCCBE07E-79C2-A256-C397-276D086B6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2572909"/>
                <a:ext cx="2016224" cy="568059"/>
              </a:xfrm>
              <a:prstGeom prst="rect">
                <a:avLst/>
              </a:prstGeom>
              <a:blipFill>
                <a:blip r:embed="rId7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FCC3E4A-1A59-156F-2671-C5738CE6C17B}"/>
                  </a:ext>
                </a:extLst>
              </p:cNvPr>
              <p:cNvSpPr txBox="1"/>
              <p:nvPr/>
            </p:nvSpPr>
            <p:spPr>
              <a:xfrm>
                <a:off x="449931" y="1921084"/>
                <a:ext cx="2119426" cy="6186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zh-TW" alt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TW" altLang="en-US" sz="120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FCC3E4A-1A59-156F-2671-C5738CE6C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1921084"/>
                <a:ext cx="2119426" cy="618696"/>
              </a:xfrm>
              <a:prstGeom prst="rect">
                <a:avLst/>
              </a:prstGeom>
              <a:blipFill>
                <a:blip r:embed="rId8"/>
                <a:stretch>
                  <a:fillRect l="-3746" t="-1961" b="-7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矩形 32">
            <a:extLst>
              <a:ext uri="{FF2B5EF4-FFF2-40B4-BE49-F238E27FC236}">
                <a16:creationId xmlns:a16="http://schemas.microsoft.com/office/drawing/2014/main" id="{6F04665F-DD3A-5194-0FC8-B3E35F120982}"/>
              </a:ext>
            </a:extLst>
          </p:cNvPr>
          <p:cNvSpPr/>
          <p:nvPr/>
        </p:nvSpPr>
        <p:spPr>
          <a:xfrm>
            <a:off x="361536" y="1772816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DeltaNet (Delta Rule + WY)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1FFFB4E8-DFD9-5E58-3E0D-C49215AA0565}"/>
                  </a:ext>
                </a:extLst>
              </p:cNvPr>
              <p:cNvSpPr txBox="1"/>
              <p:nvPr/>
            </p:nvSpPr>
            <p:spPr>
              <a:xfrm>
                <a:off x="4730264" y="476672"/>
                <a:ext cx="3917354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𝑑𝑖𝑎𝑔</m:t>
                      </m:r>
                      <m:d>
                        <m:dPr>
                          <m:ctrlP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Sup>
                        <m:sSub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i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1FFFB4E8-DFD9-5E58-3E0D-C49215AA0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0264" y="476672"/>
                <a:ext cx="3917354" cy="461665"/>
              </a:xfrm>
              <a:prstGeom prst="rect">
                <a:avLst/>
              </a:prstGeom>
              <a:blipFill>
                <a:blip r:embed="rId9"/>
                <a:stretch>
                  <a:fillRect l="-1400" t="-13158" r="-311" b="-10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矩形 39">
            <a:extLst>
              <a:ext uri="{FF2B5EF4-FFF2-40B4-BE49-F238E27FC236}">
                <a16:creationId xmlns:a16="http://schemas.microsoft.com/office/drawing/2014/main" id="{E7F3C27E-59F6-DEE3-6C91-C32B992F19B7}"/>
              </a:ext>
            </a:extLst>
          </p:cNvPr>
          <p:cNvSpPr/>
          <p:nvPr/>
        </p:nvSpPr>
        <p:spPr>
          <a:xfrm>
            <a:off x="4641869" y="258916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Kimi Delta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FECE94B-DB48-92B1-1865-D97151C8F762}"/>
                  </a:ext>
                </a:extLst>
              </p:cNvPr>
              <p:cNvSpPr txBox="1"/>
              <p:nvPr/>
            </p:nvSpPr>
            <p:spPr>
              <a:xfrm>
                <a:off x="4722411" y="2609308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FECE94B-DB48-92B1-1865-D97151C8F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2411" y="2609308"/>
                <a:ext cx="2016224" cy="568059"/>
              </a:xfrm>
              <a:prstGeom prst="rect">
                <a:avLst/>
              </a:prstGeom>
              <a:blipFill>
                <a:blip r:embed="rId10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3A9EF764-E2CF-A1D3-DDC8-392EACE41A26}"/>
                  </a:ext>
                </a:extLst>
              </p:cNvPr>
              <p:cNvSpPr txBox="1"/>
              <p:nvPr/>
            </p:nvSpPr>
            <p:spPr>
              <a:xfrm>
                <a:off x="4730264" y="1957483"/>
                <a:ext cx="4052200" cy="6183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:r>
                  <a:rPr lang="zh-TW" altLang="en-US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zh-TW" altLang="en-US" sz="12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–</m:t>
                        </m:r>
                        <m:sSub>
                          <m:sSubPr>
                            <m:ctrlPr>
                              <a:rPr lang="zh-TW" altLang="en-US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sz="1200" i="0">
                                <a:latin typeface="Cambria Math" panose="02040503050406030204" pitchFamily="18" charset="0"/>
                              </a:rPr>
                              <m:t>η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j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 i="0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i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3A9EF764-E2CF-A1D3-DDC8-392EACE41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0264" y="1957483"/>
                <a:ext cx="4052200" cy="618311"/>
              </a:xfrm>
              <a:prstGeom prst="rect">
                <a:avLst/>
              </a:prstGeom>
              <a:blipFill>
                <a:blip r:embed="rId11"/>
                <a:stretch>
                  <a:fillRect l="-1955" t="-1961" b="-7451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矩形 46">
            <a:extLst>
              <a:ext uri="{FF2B5EF4-FFF2-40B4-BE49-F238E27FC236}">
                <a16:creationId xmlns:a16="http://schemas.microsoft.com/office/drawing/2014/main" id="{D1B5BCC7-AA46-CF82-1E3F-2D3458745856}"/>
              </a:ext>
            </a:extLst>
          </p:cNvPr>
          <p:cNvSpPr/>
          <p:nvPr/>
        </p:nvSpPr>
        <p:spPr>
          <a:xfrm>
            <a:off x="4641869" y="1809215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Gated </a:t>
            </a:r>
            <a:r>
              <a:rPr lang="en-US" altLang="zh-TW" sz="1200" b="1" dirty="0" err="1">
                <a:solidFill>
                  <a:schemeClr val="tx2"/>
                </a:solidFill>
                <a:ea typeface="微軟正黑體" panose="020B0604030504040204" pitchFamily="34" charset="-120"/>
              </a:rPr>
              <a:t>DeltaNet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2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75E2888-0C2C-A246-C97C-6CB2BB1BBB13}"/>
              </a:ext>
            </a:extLst>
          </p:cNvPr>
          <p:cNvSpPr txBox="1"/>
          <p:nvPr/>
        </p:nvSpPr>
        <p:spPr>
          <a:xfrm>
            <a:off x="899592" y="3118249"/>
            <a:ext cx="636161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/>
              <a:t>https://www.google.com/search?q=GDN%E8%88%87EDA%2C+%E8%AA%B0%E6%8F%90%E5%87%BA%E7%9A%84%3F&amp;sca_esv=ff747ee1c8df38fc&amp;rlz=1C1KNTJ_zh-TWTW1073TW1073&amp;sxsrf=APpeQnsN9efzRGuJ9OiPcwrgCmELj7BtSQ%3A1792310514629&amp;ei=wXvUauOpFfDQ2roPmKfusQY&amp;biw=1920&amp;bih=945&amp;uact=5&amp;sclient=gws-wiz-serp&amp;fbs=ABfTbFVyMZGZf1hfvX9uKjN_-G8cxpBkeIeqYwoCbfNVc4vKEzfJsZm6euHh2bPtNTAJBYD8HI5K-4_bUf9wsDMuQjv_7v17u85a9_mhuoivOS3lJjYQdwryKQmWssk3Jx4oB_xB3o8hZ4Zcq7a0DP4PBYIT3hoTUUQh4vqswNlUUmqqw8N3uHGGoAVi-dqcUFMTkZA7evE0Aku_K1wTnxr-Qpeza8qFUw&amp;aep=10&amp;ntc=1&amp;mstk=AUtExfC0wt-io3zoro_1-_uiMnkmtMi9-Ut7UbEWV1Q-oYKvvJpHHZ0XxClwltyxY6iC4XAEgDcMjX1sIkcLjdrA20gexSF0-GK-fw1KkuHYR61meP7lIJrkLonaY3a-5kphqorPPOJhLQBC3e7loXDoTqo5fNlH3hMWmlHzKM8-uXCjrpHck7PjazJ3nyt3MoapCnYIFijfP_1W9plfsN98KsVQKwEHq9EqPiuMrkGFWWBv48fwzOZeXuj6M2TU0dta09A38mEdASRVJ7e9-fBw-0Kb-huvFwV2Mq0ivzFkN9eRzysTg9X7RtO-EdyFM0LyBQf3o99R6md1hg&amp;aioh=3&amp;csuir=1&amp;cs=0&amp;mtid=83zUavr3C_jZ1e8PzLmn0QY&amp;udm=50</a:t>
            </a:r>
          </a:p>
        </p:txBody>
      </p:sp>
      <p:sp>
        <p:nvSpPr>
          <p:cNvPr id="6" name="文字方塊 5">
            <a:hlinkClick r:id="rId12"/>
            <a:extLst>
              <a:ext uri="{FF2B5EF4-FFF2-40B4-BE49-F238E27FC236}">
                <a16:creationId xmlns:a16="http://schemas.microsoft.com/office/drawing/2014/main" id="{4084258E-8A70-76CB-0D86-91C8E30521EB}"/>
              </a:ext>
            </a:extLst>
          </p:cNvPr>
          <p:cNvSpPr txBox="1"/>
          <p:nvPr/>
        </p:nvSpPr>
        <p:spPr>
          <a:xfrm>
            <a:off x="1516540" y="5841339"/>
            <a:ext cx="1111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15712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7BEDA60-6B1C-859C-DD10-ADC54BBDF626}"/>
              </a:ext>
            </a:extLst>
          </p:cNvPr>
          <p:cNvSpPr txBox="1"/>
          <p:nvPr/>
        </p:nvSpPr>
        <p:spPr>
          <a:xfrm>
            <a:off x="287523" y="980728"/>
            <a:ext cx="8351687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KDA</a:t>
            </a:r>
            <a:r>
              <a:rPr lang="en-US" altLang="zh-TW" sz="1600" dirty="0">
                <a:sym typeface="Wingdings" panose="05000000000000000000" pitchFamily="2" charset="2"/>
              </a:rPr>
              <a:t> (Doubly Fine-Grained GDN):</a:t>
            </a:r>
            <a:r>
              <a:rPr lang="en-US" altLang="zh-TW" sz="1600" dirty="0"/>
              <a:t> </a:t>
            </a:r>
            <a:r>
              <a:rPr lang="en-US" altLang="zh-TW" sz="1600" dirty="0">
                <a:sym typeface="Wingdings" panose="05000000000000000000" pitchFamily="2" charset="2"/>
              </a:rPr>
              <a:t>Decouple erase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k</a:t>
            </a:r>
            <a:r>
              <a:rPr lang="en-US" altLang="zh-TW" sz="1600" dirty="0">
                <a:sym typeface="Wingdings" panose="05000000000000000000" pitchFamily="2" charset="2"/>
              </a:rPr>
              <a:t> and write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v</a:t>
            </a:r>
            <a:r>
              <a:rPr lang="en-US" altLang="zh-TW" sz="1600" dirty="0">
                <a:sym typeface="Wingdings" panose="05000000000000000000" pitchFamily="2" charset="2"/>
              </a:rPr>
              <a:t>., Linear-MLA Hybrid model. (2025.10)</a:t>
            </a:r>
          </a:p>
          <a:p>
            <a:pPr marL="285750" marR="0" lvl="0" indent="-285750" algn="l" defTabSz="19431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Gated MLA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Channel-wise Erase Gate b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and Write Gate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Symbol" panose="05050102010706020507" pitchFamily="18" charset="2"/>
              </a:rPr>
              <a:t>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 (2026.05) 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3CD9D972-0E87-11D8-6CCA-7E36C37F8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56" y="2171358"/>
            <a:ext cx="3928769" cy="1006344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AC8C8A99-36EA-6D05-C955-3C1042A676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733" y="3445371"/>
            <a:ext cx="4748778" cy="1501939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B6431161-30AA-2373-11F7-4229E8B4CC2B}"/>
              </a:ext>
            </a:extLst>
          </p:cNvPr>
          <p:cNvSpPr txBox="1"/>
          <p:nvPr/>
        </p:nvSpPr>
        <p:spPr>
          <a:xfrm>
            <a:off x="4067210" y="5085184"/>
            <a:ext cx="4572000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zh-TW" sz="1350" b="1" u="none" strike="noStrike" dirty="0">
                <a:effectLst/>
                <a:latin typeface="Google Sans"/>
              </a:rPr>
              <a:t>GDN 的痛點：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因為 \(\alpha _{t}\) 是一個純量，它與整個矩陣相乘時，</a:t>
            </a:r>
            <a:r>
              <a:rPr lang="zh-TW" altLang="zh-TW" sz="1200" b="1" u="none" strike="noStrike" dirty="0">
                <a:effectLst/>
                <a:latin typeface="Google Sans"/>
              </a:rPr>
              <a:t>等同於讓該注意力頭（Head）內的所有通道（Channels / 特徵維度）以完全相同的速度衰減</a:t>
            </a:r>
            <a:r>
              <a:rPr lang="zh-TW" altLang="zh-TW" sz="1200" b="0" u="none" strike="noStrike" dirty="0">
                <a:effectLst/>
                <a:latin typeface="Google Sans"/>
              </a:rPr>
              <a:t>。模型無法做到「有些特徵需要長久記憶、有些特徵可以快速忘記」的細粒度控制。</a:t>
            </a: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C4D344F2-CD82-F94C-5814-6D5BB9DC0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244076"/>
            <a:ext cx="3999731" cy="1177309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1F9B6543-A053-ECFA-3FA4-1F2654C85E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680297"/>
            <a:ext cx="4628962" cy="126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F2DED-E7D5-6A45-E442-1298FC8C1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E757B763-16AC-F21D-51D6-AE05A2B11719}"/>
              </a:ext>
            </a:extLst>
          </p:cNvPr>
          <p:cNvSpPr/>
          <p:nvPr/>
        </p:nvSpPr>
        <p:spPr>
          <a:xfrm>
            <a:off x="6660232" y="3559790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F3EF2503-35EB-AB1F-F9EA-33BACB394A3A}"/>
              </a:ext>
            </a:extLst>
          </p:cNvPr>
          <p:cNvSpPr/>
          <p:nvPr/>
        </p:nvSpPr>
        <p:spPr>
          <a:xfrm>
            <a:off x="2051720" y="3559790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92BE0006-40DE-14FE-A0E1-9223CBC5F8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1223853"/>
              </p:ext>
            </p:extLst>
          </p:nvPr>
        </p:nvGraphicFramePr>
        <p:xfrm>
          <a:off x="470843" y="3197676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17E62560-AC5B-64FA-A122-9AC8808D60C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06489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 and RNN in 2026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Based on KDA 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935AA3A3-C412-61B5-7F59-59220544E0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8473796"/>
              </p:ext>
            </p:extLst>
          </p:nvPr>
        </p:nvGraphicFramePr>
        <p:xfrm>
          <a:off x="161230" y="3197676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312641E0-2BEB-3E1C-DAEB-A57A92616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490995"/>
              </p:ext>
            </p:extLst>
          </p:nvPr>
        </p:nvGraphicFramePr>
        <p:xfrm>
          <a:off x="4249808" y="3638857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11483B9-A137-4554-7851-950C16A9B7B8}"/>
              </a:ext>
            </a:extLst>
          </p:cNvPr>
          <p:cNvSpPr txBox="1"/>
          <p:nvPr/>
        </p:nvSpPr>
        <p:spPr>
          <a:xfrm>
            <a:off x="7039322" y="3638857"/>
            <a:ext cx="166216" cy="1058435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8270337D-4B76-A9DA-E873-77B298EC505B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3784965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4EC77D9-9815-2C8F-AC1D-DEF420788CEB}"/>
              </a:ext>
            </a:extLst>
          </p:cNvPr>
          <p:cNvSpPr txBox="1"/>
          <p:nvPr/>
        </p:nvSpPr>
        <p:spPr>
          <a:xfrm>
            <a:off x="1691680" y="3559790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7493A031-A7F4-3ED0-13C2-35217B6C6E82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3235778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D751BE36-6980-BBE7-F0D9-B196F557AAFF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4255179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2F0F6D2E-613A-4EA7-D47B-E97626E9059B}"/>
              </a:ext>
            </a:extLst>
          </p:cNvPr>
          <p:cNvSpPr txBox="1"/>
          <p:nvPr/>
        </p:nvSpPr>
        <p:spPr>
          <a:xfrm>
            <a:off x="1691680" y="4385775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7D9B53C4-CEF2-170C-9696-48E3B2753DA8}"/>
              </a:ext>
            </a:extLst>
          </p:cNvPr>
          <p:cNvSpPr txBox="1"/>
          <p:nvPr/>
        </p:nvSpPr>
        <p:spPr>
          <a:xfrm>
            <a:off x="1691680" y="2983750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7211C77C-3C75-8FEC-AA32-131B35F9456B}"/>
              </a:ext>
            </a:extLst>
          </p:cNvPr>
          <p:cNvSpPr/>
          <p:nvPr/>
        </p:nvSpPr>
        <p:spPr>
          <a:xfrm>
            <a:off x="427469" y="4112223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F646805A-3CF1-5252-0507-B6EB0A11186E}"/>
              </a:ext>
            </a:extLst>
          </p:cNvPr>
          <p:cNvSpPr txBox="1"/>
          <p:nvPr/>
        </p:nvSpPr>
        <p:spPr>
          <a:xfrm>
            <a:off x="287523" y="980728"/>
            <a:ext cx="835168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FG</a:t>
            </a:r>
            <a:r>
              <a:rPr lang="en-US" altLang="zh-TW" sz="1600" b="1" baseline="30000" dirty="0"/>
              <a:t>2</a:t>
            </a:r>
            <a:r>
              <a:rPr lang="en-US" altLang="zh-TW" sz="1600" b="1" dirty="0"/>
              <a:t>-GDN</a:t>
            </a:r>
            <a:r>
              <a:rPr lang="en-US" altLang="zh-TW" sz="1600" dirty="0">
                <a:sym typeface="Wingdings" panose="05000000000000000000" pitchFamily="2" charset="2"/>
              </a:rPr>
              <a:t> (Doubly Fine-Grained GDN):</a:t>
            </a:r>
            <a:r>
              <a:rPr lang="en-US" altLang="zh-TW" sz="1600" dirty="0"/>
              <a:t> </a:t>
            </a:r>
            <a:r>
              <a:rPr lang="en-US" altLang="zh-TW" sz="1600" dirty="0">
                <a:sym typeface="Wingdings" panose="05000000000000000000" pitchFamily="2" charset="2"/>
              </a:rPr>
              <a:t>Decouple erase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k</a:t>
            </a:r>
            <a:r>
              <a:rPr lang="en-US" altLang="zh-TW" sz="1600" dirty="0">
                <a:sym typeface="Wingdings" panose="05000000000000000000" pitchFamily="2" charset="2"/>
              </a:rPr>
              <a:t> and write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v</a:t>
            </a:r>
            <a:r>
              <a:rPr lang="en-US" altLang="zh-TW" sz="1600" dirty="0">
                <a:sym typeface="Wingdings" panose="05000000000000000000" pitchFamily="2" charset="2"/>
              </a:rPr>
              <a:t>., Linear-MLA Hybrid model. (2026.04)</a:t>
            </a:r>
          </a:p>
          <a:p>
            <a:pPr marL="285750" marR="0" lvl="0" indent="-285750" algn="l" defTabSz="19431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GDN-2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Channel-wise Erase Gate b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and Write Gate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Symbol" panose="05050102010706020507" pitchFamily="18" charset="2"/>
              </a:rPr>
              <a:t>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 (2026.05) </a:t>
            </a:r>
          </a:p>
          <a:p>
            <a:pPr marL="285750" lvl="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Kimi-K3</a:t>
            </a:r>
            <a:r>
              <a:rPr lang="en-US" altLang="zh-TW" sz="1600" dirty="0">
                <a:solidFill>
                  <a:prstClr val="black"/>
                </a:solidFill>
              </a:rPr>
              <a:t>: Channel-wise Erase Gate b</a:t>
            </a:r>
            <a:r>
              <a:rPr lang="en-US" altLang="zh-TW" sz="1600" baseline="-25000" dirty="0">
                <a:solidFill>
                  <a:prstClr val="black"/>
                </a:solidFill>
              </a:rPr>
              <a:t>t</a:t>
            </a:r>
            <a:r>
              <a:rPr lang="en-US" altLang="zh-TW" sz="1600" dirty="0">
                <a:solidFill>
                  <a:prstClr val="black"/>
                </a:solidFill>
              </a:rPr>
              <a:t> and Write Gate </a:t>
            </a:r>
            <a:r>
              <a:rPr lang="en-US" altLang="zh-TW" sz="1600" dirty="0">
                <a:solidFill>
                  <a:prstClr val="black"/>
                </a:solidFill>
                <a:sym typeface="Symbol" panose="05050102010706020507" pitchFamily="18" charset="2"/>
              </a:rPr>
              <a:t></a:t>
            </a:r>
            <a:r>
              <a:rPr lang="en-US" altLang="zh-TW" sz="1600" baseline="-25000" dirty="0">
                <a:solidFill>
                  <a:prstClr val="black"/>
                </a:solidFill>
              </a:rPr>
              <a:t>t</a:t>
            </a:r>
            <a:r>
              <a:rPr lang="en-US" altLang="zh-TW" sz="1600" dirty="0">
                <a:solidFill>
                  <a:prstClr val="black"/>
                </a:solidFill>
              </a:rPr>
              <a:t>. (2026.05)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73269E64-4DAB-F9B0-D39D-98EC34292F66}"/>
              </a:ext>
            </a:extLst>
          </p:cNvPr>
          <p:cNvSpPr txBox="1"/>
          <p:nvPr/>
        </p:nvSpPr>
        <p:spPr>
          <a:xfrm>
            <a:off x="606531" y="304820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3C8AA34-72E2-942D-C1D0-8EACE97596CE}"/>
              </a:ext>
            </a:extLst>
          </p:cNvPr>
          <p:cNvSpPr/>
          <p:nvPr/>
        </p:nvSpPr>
        <p:spPr>
          <a:xfrm>
            <a:off x="1259632" y="3130188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F5CA989-9467-8B18-7881-1A86F4CB1E24}"/>
              </a:ext>
            </a:extLst>
          </p:cNvPr>
          <p:cNvSpPr/>
          <p:nvPr/>
        </p:nvSpPr>
        <p:spPr>
          <a:xfrm>
            <a:off x="1259632" y="450960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1EFF8956-AA92-6FD9-4696-76A44437D67E}"/>
              </a:ext>
            </a:extLst>
          </p:cNvPr>
          <p:cNvSpPr/>
          <p:nvPr/>
        </p:nvSpPr>
        <p:spPr>
          <a:xfrm>
            <a:off x="1259632" y="3627440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E091F4B-CFB7-4FAE-6C91-B4C1B3B441F3}"/>
              </a:ext>
            </a:extLst>
          </p:cNvPr>
          <p:cNvSpPr txBox="1"/>
          <p:nvPr/>
        </p:nvSpPr>
        <p:spPr>
          <a:xfrm>
            <a:off x="1267583" y="2983726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8CE5689-4D05-5866-D652-B626E7214014}"/>
              </a:ext>
            </a:extLst>
          </p:cNvPr>
          <p:cNvSpPr txBox="1"/>
          <p:nvPr/>
        </p:nvSpPr>
        <p:spPr>
          <a:xfrm>
            <a:off x="6290667" y="3638857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60590A6-315F-2B69-A3BC-EC0825049283}"/>
              </a:ext>
            </a:extLst>
          </p:cNvPr>
          <p:cNvSpPr txBox="1"/>
          <p:nvPr/>
        </p:nvSpPr>
        <p:spPr>
          <a:xfrm>
            <a:off x="4249808" y="3327717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C23B103-F9B2-8401-BCAB-25C144FE6B3F}"/>
              </a:ext>
            </a:extLst>
          </p:cNvPr>
          <p:cNvSpPr txBox="1"/>
          <p:nvPr/>
        </p:nvSpPr>
        <p:spPr>
          <a:xfrm>
            <a:off x="3906361" y="3633798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9F012C4F-74F5-A581-9183-EB270F473A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229768"/>
              </p:ext>
            </p:extLst>
          </p:nvPr>
        </p:nvGraphicFramePr>
        <p:xfrm>
          <a:off x="2608707" y="3637617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6" name="文字方塊 45">
            <a:extLst>
              <a:ext uri="{FF2B5EF4-FFF2-40B4-BE49-F238E27FC236}">
                <a16:creationId xmlns:a16="http://schemas.microsoft.com/office/drawing/2014/main" id="{1782A8A3-32FE-DC9E-7EDC-6AA3A5314CA5}"/>
              </a:ext>
            </a:extLst>
          </p:cNvPr>
          <p:cNvSpPr txBox="1"/>
          <p:nvPr/>
        </p:nvSpPr>
        <p:spPr>
          <a:xfrm>
            <a:off x="2987824" y="4743372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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5D5612E-CEFD-A0E7-193F-29E88E7B9845}"/>
              </a:ext>
            </a:extLst>
          </p:cNvPr>
          <p:cNvSpPr txBox="1"/>
          <p:nvPr/>
        </p:nvSpPr>
        <p:spPr>
          <a:xfrm>
            <a:off x="6714360" y="4048799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CD6921EB-F303-3E59-4E77-FDBFF1BC0725}"/>
              </a:ext>
            </a:extLst>
          </p:cNvPr>
          <p:cNvSpPr txBox="1"/>
          <p:nvPr/>
        </p:nvSpPr>
        <p:spPr>
          <a:xfrm>
            <a:off x="3012944" y="400370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DEB85648-EF5C-7D16-7B6F-206D50AD9293}"/>
              </a:ext>
            </a:extLst>
          </p:cNvPr>
          <p:cNvSpPr txBox="1"/>
          <p:nvPr/>
        </p:nvSpPr>
        <p:spPr>
          <a:xfrm>
            <a:off x="3285381" y="4734531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D826CB9-4693-DAF4-279D-BDB832543829}"/>
              </a:ext>
            </a:extLst>
          </p:cNvPr>
          <p:cNvSpPr txBox="1"/>
          <p:nvPr/>
        </p:nvSpPr>
        <p:spPr>
          <a:xfrm>
            <a:off x="3707904" y="403285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A26A112-7548-3BB4-4281-891C94A10A88}"/>
              </a:ext>
            </a:extLst>
          </p:cNvPr>
          <p:cNvSpPr txBox="1"/>
          <p:nvPr/>
        </p:nvSpPr>
        <p:spPr>
          <a:xfrm>
            <a:off x="4630688" y="311169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BD10F79C-096C-BBD6-87A7-2FF2BC04CFBB}"/>
              </a:ext>
            </a:extLst>
          </p:cNvPr>
          <p:cNvGrpSpPr/>
          <p:nvPr/>
        </p:nvGrpSpPr>
        <p:grpSpPr>
          <a:xfrm>
            <a:off x="6694790" y="4957482"/>
            <a:ext cx="1018303" cy="1417314"/>
            <a:chOff x="3109697" y="1329840"/>
            <a:chExt cx="1018303" cy="1417314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A1F37310-C3AB-B938-7891-8DB392B9E945}"/>
                </a:ext>
              </a:extLst>
            </p:cNvPr>
            <p:cNvSpPr/>
            <p:nvPr/>
          </p:nvSpPr>
          <p:spPr>
            <a:xfrm rot="10800000">
              <a:off x="3358740" y="1901351"/>
              <a:ext cx="493177" cy="845803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10B45F94-15F0-49E2-EE39-78ED3F3C6B60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456FDB3A-F91D-5A3A-45E7-CF6B6E6ECA98}"/>
                </a:ext>
              </a:extLst>
            </p:cNvPr>
            <p:cNvSpPr txBox="1"/>
            <p:nvPr/>
          </p:nvSpPr>
          <p:spPr>
            <a:xfrm>
              <a:off x="3109697" y="1329840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7545AE5E-4676-8B70-9C32-93BEA8F7FB49}"/>
              </a:ext>
            </a:extLst>
          </p:cNvPr>
          <p:cNvSpPr txBox="1"/>
          <p:nvPr/>
        </p:nvSpPr>
        <p:spPr>
          <a:xfrm>
            <a:off x="5364088" y="4033454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98A72DC2-00F3-1E75-1995-110D8F3F5536}"/>
              </a:ext>
            </a:extLst>
          </p:cNvPr>
          <p:cNvSpPr txBox="1"/>
          <p:nvPr/>
        </p:nvSpPr>
        <p:spPr>
          <a:xfrm>
            <a:off x="3851920" y="370285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443BE9F-5ECF-018A-BBEF-8947BAD3F500}"/>
              </a:ext>
            </a:extLst>
          </p:cNvPr>
          <p:cNvSpPr txBox="1"/>
          <p:nvPr/>
        </p:nvSpPr>
        <p:spPr>
          <a:xfrm>
            <a:off x="6228184" y="370285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0BF89DB0-539D-BF87-763B-CD62C76C3F69}"/>
              </a:ext>
            </a:extLst>
          </p:cNvPr>
          <p:cNvSpPr txBox="1"/>
          <p:nvPr/>
        </p:nvSpPr>
        <p:spPr>
          <a:xfrm>
            <a:off x="6142932" y="403285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E41F54C6-444A-BC31-224D-4F7D0B2F7058}"/>
              </a:ext>
            </a:extLst>
          </p:cNvPr>
          <p:cNvSpPr txBox="1"/>
          <p:nvPr/>
        </p:nvSpPr>
        <p:spPr>
          <a:xfrm>
            <a:off x="6980444" y="370285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7F1C693-CACD-91D3-6257-7D4108D7AD90}"/>
              </a:ext>
            </a:extLst>
          </p:cNvPr>
          <p:cNvSpPr/>
          <p:nvPr/>
        </p:nvSpPr>
        <p:spPr>
          <a:xfrm>
            <a:off x="5580112" y="3909263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B2BBC152-9B1D-FE4E-4B25-BE82677DD778}"/>
              </a:ext>
            </a:extLst>
          </p:cNvPr>
          <p:cNvSpPr txBox="1"/>
          <p:nvPr/>
        </p:nvSpPr>
        <p:spPr>
          <a:xfrm>
            <a:off x="5729741" y="4003703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D3CC4048-0E71-FA16-5DDF-C85B7CFB313C}"/>
              </a:ext>
            </a:extLst>
          </p:cNvPr>
          <p:cNvSpPr txBox="1"/>
          <p:nvPr/>
        </p:nvSpPr>
        <p:spPr>
          <a:xfrm>
            <a:off x="6444208" y="4041750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809A1E33-61AA-7D8D-A36D-C89E775F0E7F}"/>
              </a:ext>
            </a:extLst>
          </p:cNvPr>
          <p:cNvSpPr txBox="1"/>
          <p:nvPr/>
        </p:nvSpPr>
        <p:spPr>
          <a:xfrm>
            <a:off x="587996" y="39456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817757FC-C276-A860-7CE0-BB1B7FCEBDAF}"/>
              </a:ext>
            </a:extLst>
          </p:cNvPr>
          <p:cNvSpPr txBox="1"/>
          <p:nvPr/>
        </p:nvSpPr>
        <p:spPr>
          <a:xfrm>
            <a:off x="216322" y="4676906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46A86253-E28B-B50C-1480-A6134715218F}"/>
              </a:ext>
            </a:extLst>
          </p:cNvPr>
          <p:cNvSpPr txBox="1"/>
          <p:nvPr/>
        </p:nvSpPr>
        <p:spPr>
          <a:xfrm>
            <a:off x="784363" y="4677976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CA6125A2-5C46-3F09-26F3-9056D7CBFAFE}"/>
              </a:ext>
            </a:extLst>
          </p:cNvPr>
          <p:cNvSpPr txBox="1"/>
          <p:nvPr/>
        </p:nvSpPr>
        <p:spPr>
          <a:xfrm>
            <a:off x="496094" y="4677977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EF84F864-E32D-61F0-9B6E-1C16F9615E8C}"/>
              </a:ext>
            </a:extLst>
          </p:cNvPr>
          <p:cNvSpPr/>
          <p:nvPr/>
        </p:nvSpPr>
        <p:spPr>
          <a:xfrm rot="5400000">
            <a:off x="6017552" y="3133135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CED70A0-0DFF-0742-3A30-053D1CB5D131}"/>
              </a:ext>
            </a:extLst>
          </p:cNvPr>
          <p:cNvSpPr/>
          <p:nvPr/>
        </p:nvSpPr>
        <p:spPr>
          <a:xfrm>
            <a:off x="7560800" y="394201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14D66DB-FBD0-C700-74E3-1E435484F3AA}"/>
              </a:ext>
            </a:extLst>
          </p:cNvPr>
          <p:cNvSpPr txBox="1"/>
          <p:nvPr/>
        </p:nvSpPr>
        <p:spPr>
          <a:xfrm>
            <a:off x="7249636" y="4255179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7D3B520-412A-2425-0093-698C2510D46D}"/>
              </a:ext>
            </a:extLst>
          </p:cNvPr>
          <p:cNvSpPr txBox="1"/>
          <p:nvPr/>
        </p:nvSpPr>
        <p:spPr>
          <a:xfrm>
            <a:off x="6701937" y="370380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D42BE59-5156-3DD0-8025-1EB88D45FB3A}"/>
              </a:ext>
            </a:extLst>
          </p:cNvPr>
          <p:cNvSpPr/>
          <p:nvPr/>
        </p:nvSpPr>
        <p:spPr>
          <a:xfrm>
            <a:off x="7528550" y="4305008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C5347614-7FDD-5EBC-A92D-A144E4592844}"/>
              </a:ext>
            </a:extLst>
          </p:cNvPr>
          <p:cNvSpPr/>
          <p:nvPr/>
        </p:nvSpPr>
        <p:spPr>
          <a:xfrm>
            <a:off x="8001706" y="3951700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0D351E8-DD5D-45EC-3D68-1DB03C468311}"/>
              </a:ext>
            </a:extLst>
          </p:cNvPr>
          <p:cNvSpPr/>
          <p:nvPr/>
        </p:nvSpPr>
        <p:spPr>
          <a:xfrm>
            <a:off x="8604448" y="3435814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09448ACD-5DAA-22A4-DFC2-E62C5D0F9C1A}"/>
              </a:ext>
            </a:extLst>
          </p:cNvPr>
          <p:cNvSpPr txBox="1"/>
          <p:nvPr/>
        </p:nvSpPr>
        <p:spPr>
          <a:xfrm>
            <a:off x="8452577" y="2911718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98779BDC-1D93-71FE-F256-50DC84E4ED11}"/>
              </a:ext>
            </a:extLst>
          </p:cNvPr>
          <p:cNvSpPr txBox="1"/>
          <p:nvPr/>
        </p:nvSpPr>
        <p:spPr>
          <a:xfrm>
            <a:off x="8639211" y="335876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F614B991-D199-C540-CBFA-88B519E4D84D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3052611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6B3F63C2-17F9-29AE-391A-D9D9C2850533}"/>
              </a:ext>
            </a:extLst>
          </p:cNvPr>
          <p:cNvSpPr txBox="1"/>
          <p:nvPr/>
        </p:nvSpPr>
        <p:spPr>
          <a:xfrm>
            <a:off x="5724128" y="3712479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998D3486-2A70-9920-8ECF-08D75483C498}"/>
              </a:ext>
            </a:extLst>
          </p:cNvPr>
          <p:cNvSpPr txBox="1"/>
          <p:nvPr/>
        </p:nvSpPr>
        <p:spPr>
          <a:xfrm>
            <a:off x="7542059" y="370380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87B933BE-BF09-ED6C-6EBD-12DEC1D0BFA9}"/>
              </a:ext>
            </a:extLst>
          </p:cNvPr>
          <p:cNvSpPr txBox="1"/>
          <p:nvPr/>
        </p:nvSpPr>
        <p:spPr>
          <a:xfrm>
            <a:off x="5364088" y="2796520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F3449CCA-134C-8FF7-188C-2DE2B5FC05EB}"/>
              </a:ext>
            </a:extLst>
          </p:cNvPr>
          <p:cNvSpPr txBox="1"/>
          <p:nvPr/>
        </p:nvSpPr>
        <p:spPr>
          <a:xfrm>
            <a:off x="2865741" y="5030465"/>
            <a:ext cx="514298" cy="14497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Decay</a:t>
            </a:r>
            <a:r>
              <a:rPr lang="zh-TW" altLang="en-US" sz="1000" dirty="0"/>
              <a:t> </a:t>
            </a:r>
            <a:r>
              <a:rPr lang="en-US" altLang="zh-TW" sz="1000" dirty="0"/>
              <a:t>Factor</a:t>
            </a:r>
            <a:endParaRPr lang="zh-TW" altLang="en-US" sz="1000" dirty="0"/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13C6E0BF-586E-B0B2-9386-F9E9E698D407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4177088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43545698-DA0B-E5EE-B245-4ACA40131387}"/>
              </a:ext>
            </a:extLst>
          </p:cNvPr>
          <p:cNvSpPr txBox="1"/>
          <p:nvPr/>
        </p:nvSpPr>
        <p:spPr>
          <a:xfrm>
            <a:off x="7380312" y="2911718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1C0759E9-DBA1-83B9-2D84-045743A5A19F}"/>
              </a:ext>
            </a:extLst>
          </p:cNvPr>
          <p:cNvSpPr txBox="1"/>
          <p:nvPr/>
        </p:nvSpPr>
        <p:spPr>
          <a:xfrm>
            <a:off x="4623181" y="4743372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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EC11669D-5816-29F7-FBBC-2969E292762F}"/>
              </a:ext>
            </a:extLst>
          </p:cNvPr>
          <p:cNvSpPr txBox="1"/>
          <p:nvPr/>
        </p:nvSpPr>
        <p:spPr>
          <a:xfrm>
            <a:off x="4911168" y="4734531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6983CA2-2580-42A5-47DA-A1410471C3D8}"/>
              </a:ext>
            </a:extLst>
          </p:cNvPr>
          <p:cNvSpPr txBox="1"/>
          <p:nvPr/>
        </p:nvSpPr>
        <p:spPr>
          <a:xfrm>
            <a:off x="4447034" y="5026888"/>
            <a:ext cx="606383" cy="27432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Delta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/>
              <a:t>Learning</a:t>
            </a:r>
            <a:r>
              <a:rPr lang="zh-TW" altLang="en-US" sz="1000" dirty="0"/>
              <a:t> </a:t>
            </a:r>
            <a:r>
              <a:rPr lang="en-US" altLang="zh-TW" sz="1000" dirty="0"/>
              <a:t>Rate</a:t>
            </a:r>
            <a:endParaRPr lang="zh-TW" altLang="en-US" sz="1000" dirty="0"/>
          </a:p>
        </p:txBody>
      </p: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5B9A9A62-1AC6-514A-113F-63EB23177700}"/>
              </a:ext>
            </a:extLst>
          </p:cNvPr>
          <p:cNvCxnSpPr>
            <a:cxnSpLocks/>
            <a:stCxn id="142" idx="2"/>
            <a:endCxn id="3" idx="2"/>
          </p:cNvCxnSpPr>
          <p:nvPr/>
        </p:nvCxnSpPr>
        <p:spPr>
          <a:xfrm rot="5400000" flipH="1" flipV="1">
            <a:off x="4039022" y="2449173"/>
            <a:ext cx="81548" cy="4587958"/>
          </a:xfrm>
          <a:prstGeom prst="curvedConnector3">
            <a:avLst>
              <a:gd name="adj1" fmla="val -876018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828394B9-085C-B958-FAB6-FFD7C984566B}"/>
              </a:ext>
            </a:extLst>
          </p:cNvPr>
          <p:cNvSpPr txBox="1"/>
          <p:nvPr/>
        </p:nvSpPr>
        <p:spPr>
          <a:xfrm>
            <a:off x="3001699" y="3349701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300298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1224B-D8AA-1D9C-BF65-B35BD876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47CCB39C-DFAD-9BC5-B593-19C3ECEDB7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14B2C0E-7F3C-155A-7876-071172E5D492}"/>
              </a:ext>
            </a:extLst>
          </p:cNvPr>
          <p:cNvSpPr txBox="1"/>
          <p:nvPr/>
        </p:nvSpPr>
        <p:spPr>
          <a:xfrm>
            <a:off x="287524" y="980728"/>
            <a:ext cx="58686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Remember</a:t>
            </a:r>
            <a:r>
              <a:rPr lang="en-US" altLang="zh-TW" sz="1600" dirty="0"/>
              <a:t>: ..M.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Memory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Prediction</a:t>
            </a:r>
            <a:r>
              <a:rPr lang="en-US" altLang="zh-TW" sz="1600" dirty="0"/>
              <a:t>: ...Combine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B583711-98AF-84F5-8544-F1F62F881A13}"/>
              </a:ext>
            </a:extLst>
          </p:cNvPr>
          <p:cNvSpPr txBox="1"/>
          <p:nvPr/>
        </p:nvSpPr>
        <p:spPr>
          <a:xfrm>
            <a:off x="4139952" y="1196752"/>
            <a:ext cx="1944216" cy="5040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State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Xt</a:t>
            </a:r>
            <a:r>
              <a:rPr lang="en-US" altLang="zh-TW" sz="1200" b="1" dirty="0"/>
              <a:t> = f(xt-1,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*Observation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= </a:t>
            </a:r>
            <a:r>
              <a:rPr lang="en-US" altLang="zh-TW" sz="1200" b="1" dirty="0" err="1"/>
              <a:t>cxt+Dut+Vt</a:t>
            </a: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 = g(xt-1,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668559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BB172B29-1067-BD51-7EBC-508E7351ECB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elective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tructured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3ABDFFC-7552-D861-A1AC-525C9525963B}"/>
              </a:ext>
            </a:extLst>
          </p:cNvPr>
          <p:cNvSpPr txBox="1"/>
          <p:nvPr/>
        </p:nvSpPr>
        <p:spPr>
          <a:xfrm>
            <a:off x="199331" y="3429000"/>
            <a:ext cx="7108229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Mamba-1 (2023)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：正式名稱就是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(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elective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tructured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tate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pace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odels)。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Mamba-2 (2024)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：依然是 S6 家族。它為了在硬體上實現矩陣化並行，提出了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SSD (State Space Duality)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理論。它將 Mamba-1 的 S6 算子進行了結構精簡（將矩陣 \(A\) 限制為實數標量），以便完美適配 Tensor Core。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Mamba-3 (2026)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：是 S6 家族的最新終極進化。它修正了 Mamba-2 的缺點，將狀態轉移矩陣重新引入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複數域旋轉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MIMO（多輸入多輸出）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架構，在學術界有時也被延伸稱為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算子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學界在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2024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年底也推出了加入穩定度控制的 </a:t>
            </a:r>
            <a:r>
              <a:rPr lang="en-US" altLang="zh-TW" sz="1200" b="1" u="none" strike="noStrike" dirty="0">
                <a:solidFill>
                  <a:schemeClr val="accent6">
                    <a:lumMod val="75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模型，不過目前工業界落地仍以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系列）最為知名</a:t>
            </a:r>
            <a:endParaRPr lang="zh-TW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01278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E1BD-9A28-4CF4-A676-F921C4A6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66252BDC-D8F3-149B-4858-565D740498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Mamba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S5M.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8FA7AB6D-F9AE-636C-C663-CA346BEE3260}"/>
              </a:ext>
            </a:extLst>
          </p:cNvPr>
          <p:cNvSpPr txBox="1"/>
          <p:nvPr/>
        </p:nvSpPr>
        <p:spPr>
          <a:xfrm>
            <a:off x="287524" y="980728"/>
            <a:ext cx="5868652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Selective Mechanism</a:t>
            </a:r>
            <a:r>
              <a:rPr lang="en-US" altLang="zh-TW" sz="1600" dirty="0"/>
              <a:t>: ...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Hardware-Aware Parallel Scan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State Space Duality</a:t>
            </a:r>
            <a:r>
              <a:rPr lang="en-US" altLang="zh-TW" sz="1400" dirty="0"/>
              <a:t> ...</a:t>
            </a:r>
            <a:endParaRPr lang="en-US" altLang="zh-TW" sz="1200" dirty="0"/>
          </a:p>
          <a:p>
            <a:pPr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endParaRPr lang="en-US" altLang="zh-TW" sz="14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66D38D8-E0F8-D747-DE60-25643E0E8340}"/>
              </a:ext>
            </a:extLst>
          </p:cNvPr>
          <p:cNvSpPr txBox="1"/>
          <p:nvPr/>
        </p:nvSpPr>
        <p:spPr>
          <a:xfrm>
            <a:off x="287524" y="3111343"/>
            <a:ext cx="7236804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State Space Models</a:t>
            </a:r>
            <a:r>
              <a:rPr lang="en-US" altLang="zh-TW" sz="1600" dirty="0"/>
              <a:t>: SSD(State Space Duality) is equivalent  to Linear Attention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SSM: 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600" b="1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/>
              <a:t>Flash Attention</a:t>
            </a:r>
            <a:endParaRPr lang="en-US" altLang="zh-TW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/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zh-TW" altLang="en-US" sz="12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blipFill>
                <a:blip r:embed="rId3"/>
                <a:stretch>
                  <a:fillRect l="-2137" r="-855"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/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SSM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blipFill>
                <a:blip r:embed="rId4"/>
                <a:stretch>
                  <a:fillRect l="-1859" r="-372"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577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3462</Words>
  <Application>Microsoft Office PowerPoint</Application>
  <PresentationFormat>如螢幕大小 (4:3)</PresentationFormat>
  <Paragraphs>995</Paragraphs>
  <Slides>14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5" baseType="lpstr">
      <vt:lpstr>Google Sans</vt:lpstr>
      <vt:lpstr>Noto Sans HK</vt:lpstr>
      <vt:lpstr>微軟正黑體</vt:lpstr>
      <vt:lpstr>新細明體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2041</cp:revision>
  <cp:lastPrinted>2024-07-30T01:44:15Z</cp:lastPrinted>
  <dcterms:created xsi:type="dcterms:W3CDTF">2019-11-08T03:01:47Z</dcterms:created>
  <dcterms:modified xsi:type="dcterms:W3CDTF">2026-10-18T13:17:16Z</dcterms:modified>
</cp:coreProperties>
</file>